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664" r:id="rId2"/>
    <p:sldId id="665" r:id="rId3"/>
    <p:sldId id="675" r:id="rId4"/>
    <p:sldId id="676" r:id="rId5"/>
    <p:sldId id="677" r:id="rId6"/>
    <p:sldId id="360" r:id="rId7"/>
    <p:sldId id="678" r:id="rId8"/>
    <p:sldId id="679" r:id="rId9"/>
    <p:sldId id="680" r:id="rId10"/>
    <p:sldId id="681" r:id="rId11"/>
    <p:sldId id="682" r:id="rId12"/>
    <p:sldId id="361" r:id="rId13"/>
    <p:sldId id="683" r:id="rId14"/>
    <p:sldId id="684" r:id="rId15"/>
    <p:sldId id="685" r:id="rId16"/>
    <p:sldId id="686" r:id="rId17"/>
    <p:sldId id="687" r:id="rId18"/>
    <p:sldId id="688" r:id="rId19"/>
    <p:sldId id="689" r:id="rId20"/>
    <p:sldId id="690" r:id="rId21"/>
    <p:sldId id="691" r:id="rId22"/>
    <p:sldId id="692" r:id="rId23"/>
    <p:sldId id="693" r:id="rId24"/>
    <p:sldId id="657" r:id="rId25"/>
    <p:sldId id="658" r:id="rId26"/>
    <p:sldId id="659" r:id="rId27"/>
    <p:sldId id="660" r:id="rId28"/>
    <p:sldId id="662" r:id="rId29"/>
    <p:sldId id="674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8000"/>
    <a:srgbClr val="CC0000"/>
    <a:srgbClr val="CCCCFF"/>
    <a:srgbClr val="0000FF"/>
    <a:srgbClr val="00CC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46" autoAdjust="0"/>
    <p:restoredTop sz="76265" autoAdjust="0"/>
  </p:normalViewPr>
  <p:slideViewPr>
    <p:cSldViewPr snapToGrid="0">
      <p:cViewPr varScale="1">
        <p:scale>
          <a:sx n="70" d="100"/>
          <a:sy n="70" d="100"/>
        </p:scale>
        <p:origin x="161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-17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F815407-1E49-4376-AB7C-2D15708DFB4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376ADFC-07FE-4DE5-B8BB-06006E891A6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4CB35903-B38D-48F4-A7EF-36D7B2A910D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E19B9881-FE86-44C8-8DF4-692DE97F242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3AC3DC78-E5C8-414C-980B-A1B8484574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3EB7A4B-F4EA-4E91-95BB-68E553458E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53A950EF-1A33-497C-B558-E69D820A5F5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659435F0-A266-4CDA-9ED8-7DA908FA968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D03E6892-61A6-48CC-9D8C-943BEB4CE79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4824" name="Rectangle 8">
            <a:extLst>
              <a:ext uri="{FF2B5EF4-FFF2-40B4-BE49-F238E27FC236}">
                <a16:creationId xmlns:a16="http://schemas.microsoft.com/office/drawing/2014/main" id="{0941B27F-E969-43EB-9326-DFD543DCE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86868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/>
          <a:p>
            <a:pPr algn="r"/>
            <a:r>
              <a:rPr lang="en-US" altLang="en-US" sz="1200" b="1"/>
              <a:t>©A+ Computer Science     www.apluscompsci.com                 </a:t>
            </a:r>
            <a:fld id="{5D7796AD-AC2A-49DB-88C3-2A1E7C748D11}" type="slidenum">
              <a:rPr lang="en-US" altLang="en-US" sz="1200" b="1"/>
              <a:pPr algn="r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ultiple_inheritance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ultiple_inheritance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Abadi" panose="020B0604020104020204" pitchFamily="34" charset="0"/>
              </a:rPr>
              <a:t>Both are public by default. The normal method is also abstract by default.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752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7DC07-D50A-72F7-86B0-81B05E59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87759-7475-0A50-7415-2B83D95C1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487AEC-22DF-E82F-B4E5-F79BBEB43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72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7746E-E4AD-0A98-139E-9969524B6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4A65A-D758-F275-CB25-0BAD49C5E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8B74C-5A79-39E4-7E96-4142874EA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Backward compatibility is neatly preserved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without having to refactor the implementers.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07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0F2F869D-2ADA-451D-8EC2-52F82AA38C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257662D4-20A5-4480-A932-B090A1D76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0897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F7467-3294-087F-98BE-9EA6E3EFD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FA3CC0D-D54C-9D0F-B5AB-6F8B44A815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1F225CFA-44ED-56DA-DB55-DBB65772B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Methods MUST be public because they were public in the interface, and you can’t make the access level more restrict when overriding.</a:t>
            </a:r>
          </a:p>
        </p:txBody>
      </p:sp>
    </p:spTree>
    <p:extLst>
      <p:ext uri="{BB962C8B-B14F-4D97-AF65-F5344CB8AC3E}">
        <p14:creationId xmlns:p14="http://schemas.microsoft.com/office/powerpoint/2010/main" val="861682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40A84-4C8B-EECE-2825-5926824CB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E41DB30D-FFBE-28E9-6EE2-363AAD330A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788BA52A-287E-5A5C-D20A-09366F6384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Methods MUST be public because they were public in the interface, and you can’t make the access level more restrict when overriding.</a:t>
            </a:r>
          </a:p>
        </p:txBody>
      </p:sp>
    </p:spTree>
    <p:extLst>
      <p:ext uri="{BB962C8B-B14F-4D97-AF65-F5344CB8AC3E}">
        <p14:creationId xmlns:p14="http://schemas.microsoft.com/office/powerpoint/2010/main" val="174190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D5CF6-45D0-03BD-CDD3-D16B720C7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3F741C6C-D1FC-6BDE-5DA2-8AA8A4BECE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E34AF503-A3EA-17FB-05BD-338DB2E52C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What it means to implement the Vehicle interface has changed.</a:t>
            </a:r>
          </a:p>
        </p:txBody>
      </p:sp>
    </p:spTree>
    <p:extLst>
      <p:ext uri="{BB962C8B-B14F-4D97-AF65-F5344CB8AC3E}">
        <p14:creationId xmlns:p14="http://schemas.microsoft.com/office/powerpoint/2010/main" val="3358981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126BA-49B0-C5D0-4177-87EFFC31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79CCEFA1-5F1D-0E23-B381-5FAF5E03F4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ADA1A22D-E522-3BBC-39DC-239F3DF5A0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Please notice how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default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methods,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turnAlarmOn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()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and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turnAlarmOff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(),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from our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Vehicle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interface are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automatically available in the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Car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class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3698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D123-A310-A256-FE18-8A64B92DF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C356D991-4EA8-5D66-1ADF-7A479E64F1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C650BEC0-B649-AD47-5811-AA6B8B1E08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28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0F2F869D-2ADA-451D-8EC2-52F82AA38C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257662D4-20A5-4480-A932-B090A1D76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403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3AC7B-5C8D-B53E-C2AD-0CB6B078D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BF58AF3D-95AB-40DD-44F2-99BE86221F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AA9E6E5D-5B60-E8B7-895B-40AADC0C6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08722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12213-B8A3-6BF9-B3E5-0F40B84E2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AE166AAE-CB2E-77CA-49E5-1B37C43B88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63A27AAD-6942-1844-3AE6-2B8CF050BC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91723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FC613-8BAC-BDA3-F606-1F4EC34A0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0878210-B2E6-1D70-E82A-9647A2BE5A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14193DC4-69FE-79D2-D5CF-6A69DA0124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In this case,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the code simply won’t compile, as there’s a conflict caused by multiple interface inheritance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a.k.a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the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  <a:hlinkClick r:id="rId3"/>
              </a:rPr>
              <a:t>Diamond Problem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).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Car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class would inherit both sets of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default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methods. So which ones should we call?</a:t>
            </a:r>
          </a:p>
        </p:txBody>
      </p:sp>
    </p:spTree>
    <p:extLst>
      <p:ext uri="{BB962C8B-B14F-4D97-AF65-F5344CB8AC3E}">
        <p14:creationId xmlns:p14="http://schemas.microsoft.com/office/powerpoint/2010/main" val="23759732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625FE-4D91-1F53-3B38-20A4C00A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10750440-C740-3CD5-87FF-99B22DBBCB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FEE7ED86-E97C-08F3-F319-26F6430699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In this case,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the code simply won’t compile, as there’s a conflict caused by multiple interface inheritance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a.k.a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 the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  <a:hlinkClick r:id="rId3"/>
              </a:rPr>
              <a:t>Diamond Problem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).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Car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class would inherit both sets of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default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methods. So which ones should we call?</a:t>
            </a:r>
          </a:p>
        </p:txBody>
      </p:sp>
    </p:spTree>
    <p:extLst>
      <p:ext uri="{BB962C8B-B14F-4D97-AF65-F5344CB8AC3E}">
        <p14:creationId xmlns:p14="http://schemas.microsoft.com/office/powerpoint/2010/main" val="6773878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4EF31-7885-2DBA-C97D-DF8C458AC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92F9D4CC-91DB-8C8A-1096-EF9005D542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BB6E0C31-86DC-CCA3-448D-B035F2D37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16969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681B3-6D82-8B45-9618-10A9867C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AF8A3962-24E2-F2DE-68B5-5413C774E9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0F19862C-FF54-FB74-CAB8-A8E302454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InterfaceName.super.defaultMethodName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99215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5EEDF-A0CD-0F07-8ADB-0F66366F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1C13C5C5-DDAB-80D4-0D66-465369A8DC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0EEAFE85-F427-5849-6124-D43995071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28010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F7D79-A219-29C6-4E3B-F944F1B7D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56658193-7E2D-8FD2-4D93-F9A5E9B993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E758FFF0-2706-58BE-B56D-AB18F1BDFD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Defining a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static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 within an interface is identical to defining one in a class.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Moreover, a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static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 can be invoked within other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static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and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default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methods.</a:t>
            </a:r>
          </a:p>
        </p:txBody>
      </p:sp>
    </p:spTree>
    <p:extLst>
      <p:ext uri="{BB962C8B-B14F-4D97-AF65-F5344CB8AC3E}">
        <p14:creationId xmlns:p14="http://schemas.microsoft.com/office/powerpoint/2010/main" val="21545072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8E7F5-F3E1-20D3-6B40-3C4BA72E6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4E1B66A0-3667-594B-B2CF-F0C13922F4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8628A2D1-6321-B268-A38A-6DE74B6267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Static methods must be </a:t>
            </a:r>
            <a:r>
              <a:rPr lang="en-US" sz="1200" b="1" dirty="0"/>
              <a:t>called by using the interface name preceding the method name</a:t>
            </a:r>
            <a:r>
              <a:rPr lang="en-US" sz="1200" dirty="0"/>
              <a:t>.</a:t>
            </a:r>
            <a:endParaRPr 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98789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66772-740C-02F7-328D-9685EFA60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8B604E58-F276-9688-43B5-D7D91922C4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767A4B0A-3209-4377-61C8-60AABD9C3C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9340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37DA0-D7C4-E2F9-08A1-6546B9995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E98A2093-B646-C249-7BDF-A3034A295B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B7AA2B35-4501-0508-0304-B4E5993A4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cohesion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refers to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degree to which the elements inside a class belong together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 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I.e., it is a measure of the strength of relationship between a class's methods and data.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Or slightly differently, it is a measure of the strength of relationship between the methods and data of a class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and some unifying purpose or concept served by that class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.</a:t>
            </a:r>
          </a:p>
          <a:p>
            <a:br>
              <a:rPr 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619051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“Abstract” means it has no implementation, and “final” means it can’t be overridden in a subclass. So, the useless method can never be fixed!</a:t>
            </a:r>
          </a:p>
        </p:txBody>
      </p:sp>
    </p:spTree>
    <p:extLst>
      <p:ext uri="{BB962C8B-B14F-4D97-AF65-F5344CB8AC3E}">
        <p14:creationId xmlns:p14="http://schemas.microsoft.com/office/powerpoint/2010/main" val="4081789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5C64-87B5-45EC-8800-5548194A4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E92FF-1295-4BA5-A977-81DE887F0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E6A6F-73C6-492C-905C-B64F3B65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71FBC-3207-4E50-B9F1-DD1979E2F4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D35CD04-A742-40F5-98D2-34F7E88B02B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7C7B7-A504-4385-931E-E47475FB082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595474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D504D-3687-4D3F-BD72-A8FD7F87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C72F4-A9B1-46AC-8AD0-C9233E83E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80FD2-8DC5-42C9-A173-A533DAE9F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BE66B-901B-4AC1-8E92-AF14AC0BAB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6FF23BB-C5F3-4169-8CED-04304C0F477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99344-8481-450E-B425-D9551B2CE8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800342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CBCB4-6E38-43C4-9921-93103D6E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9420E-F4A8-4AC8-8EC2-E20C01C51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87E4B-A067-4E8D-94B3-2188D2AFE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DA12D-0594-436B-9138-BA786B45C4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BCD0480-CE55-448A-9631-3C72E4857B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85C44-2CC4-414E-9BDC-4AF25F21E7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83478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2D3C4-CC81-4638-A376-84C3A078D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33C26-F75C-4EEA-9E4D-5CCADB9FD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47126-E3AA-4217-892E-309FA9B3B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3B8D1-F43F-460D-A811-42716909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165C4-5CC5-465E-810F-DF15D187F6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53B78E-F85F-4B51-9BC1-4A3D1BEFF76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1309C2B-7732-4E0A-B57D-137789B049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37447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82BAD-72A2-41C1-8A78-E22CBB18F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21D4D-53BC-4DBB-84EB-2AABC370E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3BC23F-B304-4032-8807-88F6352AD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20129-D346-4195-8994-704EF8B1C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E60DE5-02B6-406C-A96C-D6B744BAE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5B4000-8200-4477-BBCB-081B7C51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04A8FDB-2B4C-4D41-8611-B98E270EA5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64D0588-9D7A-4D0C-82DB-AF434FCC7F4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042C709-772B-4C1B-B0E7-C17AAFEB9AB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77758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8732F-C397-4707-8D20-35C9DCE6C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32989-F540-4127-B8A1-25E42D01B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21AD8-0D92-4FC9-917E-DEF1A5CDBD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C087E4-2C53-4EB3-9F91-7B3CAF6D90E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6AEAE-6212-429A-B4E8-E14254BB95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825346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A3E29-640D-4CCB-801B-BC10F87BF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6B8C62-BD17-4994-A304-6E26695BA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BA53652-5EC9-4BFF-9B18-4AE23DEA856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65639-4179-47AB-9E5F-14D208106A1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8103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007D-5F73-40AD-9281-ED3ACC861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105D1-AA8E-4AF6-8AA9-7233901DE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D1596-D40F-45F5-B922-EC891F1C9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3C964-FD6F-4266-8C64-98572671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04783-D625-489D-956A-5709A8130A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3BD152A-AB58-4CFA-963E-D8F8104849B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8B06BFB-38CD-4ED1-A45D-3DC1A81AA6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35760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D0510-4C13-4B69-A1FA-0EBB0702D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ABC7F2-1E1A-4422-B5AC-284289062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0E81C-0E79-46F3-A0BB-472DC38E0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B7246-8994-4E2E-B358-C5130E696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5F288-4A3D-46E0-93BB-BF384D6110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206F42B-5442-4398-A9F4-6CA010D0CF6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5BC27E-D61D-4884-B06B-8CA66193A7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896144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D4472-EC5C-477A-93B1-022E4528A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81608-C4E0-48A4-93F1-37AA99DE5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9BAFD-B394-46DF-907A-3FF17287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14554-B930-485A-98C8-ADC8713528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BE15174-5903-4E96-831C-4B01590BD9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5DC8C-6EF6-4CBF-8968-547E25CE054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70109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6F299F-E3B3-4D88-8493-3F9217538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4B9A3-D4CB-45BE-BCF4-574E4EF68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C499A-13AD-43F3-80CE-5B6D5217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4931-7244-4A55-943A-F1F4B7E932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C9BCF1D-322C-4F09-87F4-20B4B3BF905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2D200-6BEE-4CEC-821E-8E6499C7C1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>
                <a:latin typeface="Tahoma" panose="020B0604030504040204" pitchFamily="34" charset="0"/>
              </a:defRPr>
            </a:lvl1pPr>
          </a:lstStyle>
          <a:p>
            <a:endParaRPr lang="en-US" altLang="en-US" b="1">
              <a:latin typeface="+mn-lt"/>
            </a:endParaRPr>
          </a:p>
          <a:p>
            <a:endParaRPr lang="en-US" altLang="en-US"/>
          </a:p>
          <a:p>
            <a:endParaRPr lang="en-US" altLang="en-US" b="1"/>
          </a:p>
          <a:p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38975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45AECFC-27A2-4290-95CC-0B9AC6AAA1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79FCCAF-2A01-4FDC-870A-A4198DB920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6A84978-95EE-4BC4-97C2-E62EDBAA601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4DB3F5C-E8A6-4B9F-8B77-7B49F77321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13CB3114-C76D-4197-BAB3-C0227B6868E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0484AF92-3B09-4A7D-AB7A-5D2E2578F1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1">
                <a:latin typeface="+mn-lt"/>
              </a:defRPr>
            </a:lvl1pPr>
          </a:lstStyle>
          <a:p>
            <a:endParaRPr lang="en-US" altLang="en-US"/>
          </a:p>
          <a:p>
            <a:endParaRPr lang="en-US" altLang="en-US" b="0">
              <a:latin typeface="Tahoma" panose="020B0604030504040204" pitchFamily="34" charset="0"/>
            </a:endParaRPr>
          </a:p>
          <a:p>
            <a:endParaRPr lang="en-US" altLang="en-US">
              <a:latin typeface="Tahoma" panose="020B0604030504040204" pitchFamily="34" charset="0"/>
            </a:endParaRPr>
          </a:p>
          <a:p>
            <a:r>
              <a:rPr lang="en-US" altLang="en-US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FF">
            <a:alpha val="43922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44CF3-A39D-AE9D-5F91-B71E9C989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0" y="1865376"/>
            <a:ext cx="7159752" cy="1911096"/>
          </a:xfrm>
        </p:spPr>
        <p:txBody>
          <a:bodyPr/>
          <a:lstStyle/>
          <a:p>
            <a:r>
              <a:rPr lang="en-US" b="1" dirty="0">
                <a:latin typeface="Impact" panose="020B0806030902050204" pitchFamily="34" charset="0"/>
              </a:rPr>
              <a:t>Default and Static Methods in Interfaces</a:t>
            </a:r>
          </a:p>
        </p:txBody>
      </p:sp>
    </p:spTree>
    <p:extLst>
      <p:ext uri="{BB962C8B-B14F-4D97-AF65-F5344CB8AC3E}">
        <p14:creationId xmlns:p14="http://schemas.microsoft.com/office/powerpoint/2010/main" val="172172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5FEB3-E622-8BD0-3AD5-F0E987214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401501">
            <a:off x="692017" y="296482"/>
            <a:ext cx="10197282" cy="1143000"/>
          </a:xfr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r>
              <a:rPr lang="en-US" sz="6600" dirty="0">
                <a:latin typeface="Abadi" panose="020B0604020104020204" pitchFamily="34" charset="0"/>
              </a:rPr>
              <a:t>Default and Static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DDD92-C2C9-7E53-9E9B-876FD013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260" y="2029716"/>
            <a:ext cx="7269480" cy="4059936"/>
          </a:xfrm>
        </p:spPr>
        <p:txBody>
          <a:bodyPr/>
          <a:lstStyle/>
          <a:p>
            <a:r>
              <a:rPr lang="en-US" sz="4400" b="1" dirty="0">
                <a:latin typeface="Abadi" panose="020B0604020104020204" pitchFamily="34" charset="0"/>
              </a:rPr>
              <a:t>Default and static methods are implicitly public</a:t>
            </a:r>
            <a:r>
              <a:rPr lang="en-US" sz="4400" dirty="0">
                <a:latin typeface="Abadi" panose="020B0604020104020204" pitchFamily="34" charset="0"/>
              </a:rPr>
              <a:t> like regular interface methods</a:t>
            </a:r>
            <a:r>
              <a:rPr lang="en-US" sz="4400" b="1" dirty="0">
                <a:latin typeface="Abadi" panose="020B0604020104020204" pitchFamily="34" charset="0"/>
              </a:rPr>
              <a:t>.</a:t>
            </a:r>
          </a:p>
          <a:p>
            <a:r>
              <a:rPr lang="en-US" sz="4400" dirty="0">
                <a:latin typeface="Abadi" panose="020B0604020104020204" pitchFamily="34" charset="0"/>
              </a:rPr>
              <a:t>There’s no need to specify the </a:t>
            </a:r>
            <a:r>
              <a:rPr lang="en-US" sz="4400" i="1" dirty="0">
                <a:latin typeface="Abadi" panose="020B0604020104020204" pitchFamily="34" charset="0"/>
              </a:rPr>
              <a:t>public</a:t>
            </a:r>
            <a:r>
              <a:rPr lang="en-US" sz="4400" dirty="0">
                <a:latin typeface="Abadi" panose="020B0604020104020204" pitchFamily="34" charset="0"/>
              </a:rPr>
              <a:t> modifier.</a:t>
            </a:r>
          </a:p>
        </p:txBody>
      </p:sp>
    </p:spTree>
    <p:extLst>
      <p:ext uri="{BB962C8B-B14F-4D97-AF65-F5344CB8AC3E}">
        <p14:creationId xmlns:p14="http://schemas.microsoft.com/office/powerpoint/2010/main" val="365097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C6B5-0D84-6D71-EB88-6D07F7A4D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171FB-C547-8257-6123-EA269E9E7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401501">
            <a:off x="214497" y="296482"/>
            <a:ext cx="10197282" cy="1143000"/>
          </a:xfr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r>
              <a:rPr lang="en-US" sz="6600" dirty="0">
                <a:latin typeface="Abadi" panose="020B0604020104020204" pitchFamily="34" charset="0"/>
              </a:rPr>
              <a:t>Default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D83E1-BAAD-CD9C-2C84-5F2309979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933196"/>
            <a:ext cx="8209280" cy="1495804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latin typeface="Abadi" panose="020B0604020104020204" pitchFamily="34" charset="0"/>
              </a:rPr>
              <a:t>We declare them with the </a:t>
            </a:r>
            <a:r>
              <a:rPr lang="en-US" sz="3600" dirty="0">
                <a:latin typeface="Cascadia Code" panose="020B0609020000020004" pitchFamily="49" charset="0"/>
                <a:cs typeface="Cascadia Code" panose="020B0609020000020004" pitchFamily="49" charset="0"/>
              </a:rPr>
              <a:t>default</a:t>
            </a:r>
            <a:r>
              <a:rPr lang="en-US" sz="3600" dirty="0">
                <a:latin typeface="Abadi" panose="020B0604020104020204" pitchFamily="34" charset="0"/>
              </a:rPr>
              <a:t> modifier and provide an implementation: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8CD9FA-A17D-9B10-5992-74A152AB94E9}"/>
              </a:ext>
            </a:extLst>
          </p:cNvPr>
          <p:cNvSpPr txBox="1"/>
          <p:nvPr/>
        </p:nvSpPr>
        <p:spPr>
          <a:xfrm>
            <a:off x="416560" y="3521968"/>
            <a:ext cx="85648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effectLst/>
                <a:latin typeface="Source Code Pro" panose="020B0509030403020204" pitchFamily="49" charset="0"/>
              </a:rPr>
              <a:t>public</a:t>
            </a:r>
            <a:r>
              <a:rPr lang="en-US" sz="2400" b="0" i="0" dirty="0">
                <a:effectLst/>
                <a:latin typeface="Source Code Pro" panose="020B0509030403020204" pitchFamily="49" charset="0"/>
              </a:rPr>
              <a:t> </a:t>
            </a:r>
            <a:r>
              <a:rPr lang="en-US" sz="2400" b="1" i="0" dirty="0">
                <a:effectLst/>
                <a:latin typeface="Source Code Pro" panose="020B0509030403020204" pitchFamily="49" charset="0"/>
              </a:rPr>
              <a:t>interface</a:t>
            </a:r>
            <a:r>
              <a:rPr lang="en-US" sz="2400" b="0" i="0" dirty="0">
                <a:effectLst/>
                <a:latin typeface="Source Code Pro" panose="020B0509030403020204" pitchFamily="49" charset="0"/>
              </a:rPr>
              <a:t> </a:t>
            </a:r>
            <a:r>
              <a:rPr lang="en-US" sz="2400" b="1" i="0" dirty="0" err="1">
                <a:effectLst/>
                <a:latin typeface="Source Code Pro" panose="020B0509030403020204" pitchFamily="49" charset="0"/>
              </a:rPr>
              <a:t>MyInterface</a:t>
            </a:r>
            <a:r>
              <a:rPr lang="en-US" sz="2400" b="0" i="0" dirty="0">
                <a:effectLst/>
                <a:latin typeface="Source Code Pro" panose="020B0509030403020204" pitchFamily="49" charset="0"/>
              </a:rPr>
              <a:t> { </a:t>
            </a:r>
            <a:br>
              <a:rPr lang="en-US" sz="2400" b="0" i="0" dirty="0">
                <a:effectLst/>
                <a:latin typeface="Source Code Pro" panose="020B0509030403020204" pitchFamily="49" charset="0"/>
              </a:rPr>
            </a:br>
            <a:r>
              <a:rPr lang="en-US" sz="2400" b="0" i="0" dirty="0">
                <a:effectLst/>
                <a:latin typeface="Source Code Pro" panose="020B0509030403020204" pitchFamily="49" charset="0"/>
              </a:rPr>
              <a:t>  // regular interface method</a:t>
            </a:r>
          </a:p>
          <a:p>
            <a:r>
              <a:rPr lang="en-US" sz="2400" dirty="0">
                <a:latin typeface="Source Code Pro" panose="020B0509030403020204" pitchFamily="49" charset="0"/>
              </a:rPr>
              <a:t>  </a:t>
            </a:r>
            <a:r>
              <a:rPr lang="en-US" sz="2400" b="1" dirty="0">
                <a:latin typeface="Source Code Pro" panose="020B0509030403020204" pitchFamily="49" charset="0"/>
              </a:rPr>
              <a:t>void </a:t>
            </a:r>
            <a:r>
              <a:rPr lang="en-US" sz="2400" b="1" dirty="0" err="1">
                <a:latin typeface="Source Code Pro" panose="020B0509030403020204" pitchFamily="49" charset="0"/>
              </a:rPr>
              <a:t>normalMethod</a:t>
            </a:r>
            <a:r>
              <a:rPr lang="en-US" sz="2400" b="1" dirty="0">
                <a:latin typeface="Source Code Pro" panose="020B0509030403020204" pitchFamily="49" charset="0"/>
              </a:rPr>
              <a:t>()</a:t>
            </a:r>
            <a:r>
              <a:rPr lang="en-US" sz="2400" b="1" dirty="0">
                <a:highlight>
                  <a:srgbClr val="FFFF00"/>
                </a:highlight>
                <a:latin typeface="Source Code Pro" panose="020B0509030403020204" pitchFamily="49" charset="0"/>
              </a:rPr>
              <a:t>;</a:t>
            </a:r>
            <a:r>
              <a:rPr lang="en-US" sz="2400" b="1" dirty="0">
                <a:latin typeface="Source Code Pro" panose="020B0509030403020204" pitchFamily="49" charset="0"/>
              </a:rPr>
              <a:t>  </a:t>
            </a:r>
            <a:r>
              <a:rPr lang="en-US" sz="2400" b="1" dirty="0">
                <a:solidFill>
                  <a:srgbClr val="008000"/>
                </a:solidFill>
                <a:latin typeface="Source Code Pro" panose="020B0509030403020204" pitchFamily="49" charset="0"/>
                <a:sym typeface="Wingdings" panose="05000000000000000000" pitchFamily="2" charset="2"/>
              </a:rPr>
              <a:t></a:t>
            </a:r>
            <a:r>
              <a:rPr lang="en-US" sz="2400" b="1" dirty="0">
                <a:solidFill>
                  <a:srgbClr val="008000"/>
                </a:solidFill>
                <a:latin typeface="Source Code Pro" panose="020B0509030403020204" pitchFamily="49" charset="0"/>
              </a:rPr>
              <a:t> no implementation</a:t>
            </a:r>
            <a:b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</a:br>
            <a:endParaRPr lang="en-US" sz="2400" b="0" i="0" dirty="0">
              <a:solidFill>
                <a:schemeClr val="accent6">
                  <a:lumMod val="75000"/>
                </a:schemeClr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ource Code Pro" panose="020B0509030403020204" pitchFamily="49" charset="0"/>
              </a:rPr>
              <a:t>  </a:t>
            </a:r>
            <a:r>
              <a:rPr lang="en-US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default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400" b="1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void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400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defaultMethod</a:t>
            </a: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() { </a:t>
            </a:r>
            <a:b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</a:b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    // implementation </a:t>
            </a:r>
            <a:b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</a:br>
            <a: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  <a:t>  } </a:t>
            </a:r>
            <a:br>
              <a:rPr lang="en-US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Source Code Pro" panose="020B0509030403020204" pitchFamily="49" charset="0"/>
              </a:rPr>
            </a:br>
            <a:r>
              <a:rPr lang="en-US" sz="2400" b="0" i="0" dirty="0">
                <a:effectLst/>
                <a:latin typeface="Source Code Pro" panose="020B0509030403020204" pitchFamily="49" charset="0"/>
              </a:rPr>
              <a:t>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303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09EA-8EA9-6E04-9D9E-4AD4A1B04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64AB5-774F-65B3-C769-785229B51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401501">
            <a:off x="214497" y="296482"/>
            <a:ext cx="10197282" cy="1143000"/>
          </a:xfr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r>
              <a:rPr lang="en-US" sz="6000" dirty="0">
                <a:latin typeface="Abadi" panose="020B0604020104020204" pitchFamily="34" charset="0"/>
              </a:rPr>
              <a:t>Why have Default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5E740-53F4-43CC-7157-1FA980850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357120"/>
            <a:ext cx="8209280" cy="3688080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>
                <a:latin typeface="Abadi" panose="020B0604020104020204" pitchFamily="34" charset="0"/>
              </a:rPr>
              <a:t>If one or more methods are added to an interface after classes are already using it, those classes would not compile unless they implemented the new methods.</a:t>
            </a:r>
          </a:p>
        </p:txBody>
      </p:sp>
    </p:spTree>
    <p:extLst>
      <p:ext uri="{BB962C8B-B14F-4D97-AF65-F5344CB8AC3E}">
        <p14:creationId xmlns:p14="http://schemas.microsoft.com/office/powerpoint/2010/main" val="284178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29801-6EB3-3857-2F6C-F8E55814D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39FF-D16A-763B-72C3-D956CE52B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401501">
            <a:off x="214497" y="296482"/>
            <a:ext cx="10197282" cy="1143000"/>
          </a:xfr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r>
              <a:rPr lang="en-US" sz="6000" dirty="0">
                <a:latin typeface="Abadi" panose="020B0604020104020204" pitchFamily="34" charset="0"/>
              </a:rPr>
              <a:t>Why have Default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C5224-E761-9539-EF1D-3D75B2079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2336800"/>
            <a:ext cx="7904480" cy="3637280"/>
          </a:xfrm>
        </p:spPr>
        <p:txBody>
          <a:bodyPr/>
          <a:lstStyle/>
          <a:p>
            <a:r>
              <a:rPr lang="en-US" sz="3600" dirty="0">
                <a:latin typeface="Abadi" panose="020B0604020104020204" pitchFamily="34" charset="0"/>
              </a:rPr>
              <a:t>Since a </a:t>
            </a:r>
            <a:r>
              <a:rPr lang="en-US" sz="3600" dirty="0">
                <a:latin typeface="Consolas" panose="020B0609020204030204" pitchFamily="49" charset="0"/>
              </a:rPr>
              <a:t>default</a:t>
            </a:r>
            <a:r>
              <a:rPr lang="en-US" sz="3600" dirty="0">
                <a:latin typeface="Abadi" panose="020B0604020104020204" pitchFamily="34" charset="0"/>
              </a:rPr>
              <a:t> method’s implementation is automatically available, we don’t need to modify the implementing classes. </a:t>
            </a:r>
          </a:p>
          <a:p>
            <a:r>
              <a:rPr lang="en-US" sz="3600" dirty="0">
                <a:latin typeface="Abadi" panose="020B0604020104020204" pitchFamily="34" charset="0"/>
              </a:rPr>
              <a:t>Backward compatibility is preserved.</a:t>
            </a:r>
          </a:p>
        </p:txBody>
      </p:sp>
    </p:spTree>
    <p:extLst>
      <p:ext uri="{BB962C8B-B14F-4D97-AF65-F5344CB8AC3E}">
        <p14:creationId xmlns:p14="http://schemas.microsoft.com/office/powerpoint/2010/main" val="2651382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2BFE4B27-D12C-4C9E-9CF1-9C9C17C12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840" y="2931160"/>
            <a:ext cx="781431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interface Vehicle {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getBrand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speedUp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slowDown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8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4A89D9-3B32-32B1-56D6-14D1F54C2945}"/>
              </a:ext>
            </a:extLst>
          </p:cNvPr>
          <p:cNvSpPr txBox="1"/>
          <p:nvPr/>
        </p:nvSpPr>
        <p:spPr>
          <a:xfrm>
            <a:off x="528320" y="1581304"/>
            <a:ext cx="802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Suppose we have a </a:t>
            </a:r>
            <a:r>
              <a:rPr lang="en-US" sz="3600" b="0" i="1" dirty="0">
                <a:solidFill>
                  <a:srgbClr val="000000"/>
                </a:solidFill>
                <a:effectLst/>
                <a:latin typeface="Raleway" pitchFamily="2" charset="0"/>
              </a:rPr>
              <a:t>Vehicle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 interface: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50814-44A7-6791-1FC0-00184F6FE123}"/>
              </a:ext>
            </a:extLst>
          </p:cNvPr>
          <p:cNvSpPr txBox="1"/>
          <p:nvPr/>
        </p:nvSpPr>
        <p:spPr>
          <a:xfrm>
            <a:off x="528320" y="23144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00000"/>
                </a:solidFill>
                <a:effectLst/>
                <a:latin typeface="Raleway" pitchFamily="2" charset="0"/>
              </a:rPr>
              <a:t>Example 1: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822404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D86E0-6337-C20F-EF71-F1D444C0D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06DE260E-6E09-CE7B-4161-F4B0E0568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00760"/>
            <a:ext cx="8515350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class Car implements Vehicle {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private String brand;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// constructors/getters 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getBrand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brand;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speedUp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"The car is speeding up.";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slowDown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"The car is slowing down.";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328CAF-580E-EDD3-9470-95CDCF4D8840}"/>
              </a:ext>
            </a:extLst>
          </p:cNvPr>
          <p:cNvSpPr txBox="1"/>
          <p:nvPr/>
        </p:nvSpPr>
        <p:spPr>
          <a:xfrm>
            <a:off x="6786880" y="2539722"/>
            <a:ext cx="2194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00000"/>
                </a:solidFill>
                <a:effectLst/>
                <a:latin typeface="Raleway" pitchFamily="2" charset="0"/>
              </a:rPr>
              <a:t>Example 1</a:t>
            </a:r>
            <a:endParaRPr lang="en-US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236FFE-D6B5-AD03-B23E-4FEF475B951B}"/>
              </a:ext>
            </a:extLst>
          </p:cNvPr>
          <p:cNvSpPr txBox="1"/>
          <p:nvPr/>
        </p:nvSpPr>
        <p:spPr>
          <a:xfrm>
            <a:off x="528320" y="93841"/>
            <a:ext cx="802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… and an implementing class: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4892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42923-12CC-D0EC-D3D1-4C8956B5C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8E774392-B169-DE46-265D-0D4F669A3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844" y="2118360"/>
            <a:ext cx="869759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static void main(String[] 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args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{ </a:t>
            </a: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Vehicle car = new Car("BMW");</a:t>
            </a: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out.println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car.getBrand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out.println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car.speedUp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spcBef>
                <a:spcPts val="0"/>
              </a:spcBef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out.println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car.slowDown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spcBef>
                <a:spcPts val="0"/>
              </a:spcBef>
            </a:pPr>
            <a:r>
              <a:rPr lang="en-US" altLang="en-US" sz="3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8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29F1D-28C6-7228-3122-539612D6EAD5}"/>
              </a:ext>
            </a:extLst>
          </p:cNvPr>
          <p:cNvSpPr txBox="1"/>
          <p:nvPr/>
        </p:nvSpPr>
        <p:spPr>
          <a:xfrm>
            <a:off x="6786880" y="155397"/>
            <a:ext cx="2194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00000"/>
                </a:solidFill>
                <a:effectLst/>
                <a:latin typeface="Raleway" pitchFamily="2" charset="0"/>
              </a:rPr>
              <a:t>Example 1</a:t>
            </a:r>
            <a:endParaRPr lang="en-US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080F9-E49D-8FF1-78D8-8346CA4DA2CD}"/>
              </a:ext>
            </a:extLst>
          </p:cNvPr>
          <p:cNvSpPr txBox="1"/>
          <p:nvPr/>
        </p:nvSpPr>
        <p:spPr>
          <a:xfrm>
            <a:off x="558800" y="1074112"/>
            <a:ext cx="802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… and a main method: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29901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BF12-D887-E6F2-1EED-C11C3B14C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CE9E6C2E-7B48-9989-CCC4-35EC2B06F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840" y="1651000"/>
            <a:ext cx="781431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interface Vehicle {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getBrand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speedUp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slowDown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rgbClr val="C00000"/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turnAlarmOn</a:t>
            </a:r>
            <a:r>
              <a:rPr lang="en-US" sz="3200" b="1" dirty="0">
                <a:solidFill>
                  <a:srgbClr val="C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rgbClr val="C00000"/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turnAlarmOff</a:t>
            </a:r>
            <a:r>
              <a:rPr lang="en-US" sz="3200" b="1" dirty="0">
                <a:solidFill>
                  <a:srgbClr val="C00000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8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2419B-F882-59B0-BBA4-AE014A7A523C}"/>
              </a:ext>
            </a:extLst>
          </p:cNvPr>
          <p:cNvSpPr txBox="1"/>
          <p:nvPr/>
        </p:nvSpPr>
        <p:spPr>
          <a:xfrm>
            <a:off x="558800" y="311304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If we wanted to add new methods, this wouldn’t work: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D859A-CD4B-6056-1382-835569A428AE}"/>
              </a:ext>
            </a:extLst>
          </p:cNvPr>
          <p:cNvSpPr txBox="1"/>
          <p:nvPr/>
        </p:nvSpPr>
        <p:spPr>
          <a:xfrm>
            <a:off x="1168400" y="6027003"/>
            <a:ext cx="78143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class Car </a:t>
            </a:r>
            <a:r>
              <a:rPr lang="en-US" sz="3200" b="1" dirty="0">
                <a:solidFill>
                  <a:srgbClr val="CC0000"/>
                </a:solidFill>
                <a:latin typeface="Consolas" panose="020B0609020204030204" pitchFamily="49" charset="0"/>
              </a:rPr>
              <a:t>implements Vehicle </a:t>
            </a:r>
            <a:endParaRPr lang="en-US" sz="2800" dirty="0">
              <a:solidFill>
                <a:srgbClr val="CC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191755-2DFA-A230-4DC4-3D7ED28C2979}"/>
              </a:ext>
            </a:extLst>
          </p:cNvPr>
          <p:cNvSpPr txBox="1"/>
          <p:nvPr/>
        </p:nvSpPr>
        <p:spPr>
          <a:xfrm>
            <a:off x="558800" y="5289232"/>
            <a:ext cx="8512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Our Car class would no longer compile.</a:t>
            </a:r>
          </a:p>
        </p:txBody>
      </p:sp>
    </p:spTree>
    <p:extLst>
      <p:ext uri="{BB962C8B-B14F-4D97-AF65-F5344CB8AC3E}">
        <p14:creationId xmlns:p14="http://schemas.microsoft.com/office/powerpoint/2010/main" val="2283721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9DC-29D0-E4D4-5C69-00E319362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92D9D93B-D0FC-BD86-11C6-F6E89F99AC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410" y="1173480"/>
            <a:ext cx="7814310" cy="5586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interface Vehicle {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getBrand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speedUp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String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slowDown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default String </a:t>
            </a:r>
            <a:r>
              <a:rPr lang="en-US" altLang="en-US" sz="3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turnAlarmOn</a:t>
            </a: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return “Alarm on.";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} 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default String </a:t>
            </a:r>
            <a:r>
              <a:rPr lang="en-US" altLang="en-US" sz="3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turnAlarmOff</a:t>
            </a: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return “Alarm off.";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   }</a:t>
            </a:r>
          </a:p>
          <a:p>
            <a:pPr>
              <a:spcBef>
                <a:spcPts val="0"/>
              </a:spcBef>
            </a:pPr>
            <a:r>
              <a:rPr lang="en-US" alt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8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345DBC-256F-9FEF-D948-B0F77ADFDE97}"/>
              </a:ext>
            </a:extLst>
          </p:cNvPr>
          <p:cNvSpPr txBox="1"/>
          <p:nvPr/>
        </p:nvSpPr>
        <p:spPr>
          <a:xfrm>
            <a:off x="528320" y="392584"/>
            <a:ext cx="802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Add them as default methods: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7771D7-6A10-A723-FE61-AA3E4A74D5C1}"/>
              </a:ext>
            </a:extLst>
          </p:cNvPr>
          <p:cNvSpPr txBox="1"/>
          <p:nvPr/>
        </p:nvSpPr>
        <p:spPr>
          <a:xfrm>
            <a:off x="6400800" y="6036349"/>
            <a:ext cx="25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00000"/>
                </a:solidFill>
                <a:effectLst/>
                <a:latin typeface="Raleway" pitchFamily="2" charset="0"/>
              </a:rPr>
              <a:t>Example 1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706323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0B152-716B-16AA-DEB9-ECA41227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C7A0A9E1-2ED7-1903-D69D-738F7DC8D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00760"/>
            <a:ext cx="8515350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class Car </a:t>
            </a:r>
            <a:r>
              <a:rPr lang="en-US" sz="2800" b="1" dirty="0">
                <a:solidFill>
                  <a:srgbClr val="008000"/>
                </a:solidFill>
                <a:latin typeface="Consolas" panose="020B0609020204030204" pitchFamily="49" charset="0"/>
              </a:rPr>
              <a:t>implements Vehicle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private String brand;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// constructors/getters 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getBrand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brand;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speedUp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"The car is speeding up.";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slowDown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return "The car is slowing down.";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C876A5-9FD4-B0B4-F299-3E6341904995}"/>
              </a:ext>
            </a:extLst>
          </p:cNvPr>
          <p:cNvSpPr txBox="1"/>
          <p:nvPr/>
        </p:nvSpPr>
        <p:spPr>
          <a:xfrm>
            <a:off x="528320" y="93841"/>
            <a:ext cx="802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Now this compiles without change: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01085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30356C-6ED7-49AD-DBCF-304E0AEAB8BB}"/>
              </a:ext>
            </a:extLst>
          </p:cNvPr>
          <p:cNvSpPr txBox="1"/>
          <p:nvPr/>
        </p:nvSpPr>
        <p:spPr>
          <a:xfrm>
            <a:off x="731520" y="1977321"/>
            <a:ext cx="78638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  <a:buNone/>
            </a:pPr>
            <a:r>
              <a:rPr lang="en-US" sz="4000" b="0" i="0" dirty="0">
                <a:solidFill>
                  <a:srgbClr val="000000"/>
                </a:solidFill>
                <a:effectLst/>
                <a:latin typeface="Raleway" pitchFamily="2" charset="0"/>
              </a:rPr>
              <a:t>The most common use of default methods is </a:t>
            </a:r>
            <a:br>
              <a:rPr lang="en-US" sz="4000" b="0" i="0" dirty="0">
                <a:solidFill>
                  <a:srgbClr val="000000"/>
                </a:solidFill>
                <a:effectLst/>
                <a:latin typeface="Raleway" pitchFamily="2" charset="0"/>
              </a:rPr>
            </a:br>
            <a:r>
              <a:rPr lang="en-US" sz="4000" b="1" i="0" dirty="0">
                <a:solidFill>
                  <a:srgbClr val="000000"/>
                </a:solidFill>
                <a:effectLst/>
                <a:latin typeface="Raleway" pitchFamily="2" charset="0"/>
              </a:rPr>
              <a:t>to incrementally add functionality to a given type without breaking the implementing classes.</a:t>
            </a:r>
            <a:endParaRPr lang="en-US" sz="4000" b="0" i="0" dirty="0">
              <a:solidFill>
                <a:srgbClr val="000000"/>
              </a:solidFill>
              <a:effectLst/>
              <a:latin typeface="Raleway" pitchFamily="2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9EE940-6C50-A469-B5A1-0EADA23C8B4F}"/>
              </a:ext>
            </a:extLst>
          </p:cNvPr>
          <p:cNvSpPr txBox="1">
            <a:spLocks/>
          </p:cNvSpPr>
          <p:nvPr/>
        </p:nvSpPr>
        <p:spPr>
          <a:xfrm rot="401501">
            <a:off x="214497" y="296482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6600">
                <a:latin typeface="Abadi" panose="020B0604020104020204" pitchFamily="34" charset="0"/>
              </a:rPr>
              <a:t>Default Methods</a:t>
            </a:r>
            <a:endParaRPr lang="en-US" sz="66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594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2B0F5-E02C-1CAC-FC09-35243BF86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51F294-59F7-4FA0-731D-D423319A59B1}"/>
              </a:ext>
            </a:extLst>
          </p:cNvPr>
          <p:cNvSpPr txBox="1"/>
          <p:nvPr/>
        </p:nvSpPr>
        <p:spPr>
          <a:xfrm>
            <a:off x="731520" y="1977321"/>
            <a:ext cx="786384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50"/>
              </a:spcAft>
              <a:buNone/>
            </a:pPr>
            <a:r>
              <a:rPr lang="en-US" sz="3600" dirty="0"/>
              <a:t>Java allows classes to implement multiple interfaces, </a:t>
            </a:r>
          </a:p>
          <a:p>
            <a:pPr algn="ctr">
              <a:spcAft>
                <a:spcPts val="750"/>
              </a:spcAft>
              <a:buNone/>
            </a:pPr>
            <a:r>
              <a:rPr lang="en-US" sz="3600" dirty="0"/>
              <a:t>so what happens when a class implements several interfaces that define the same </a:t>
            </a:r>
            <a:r>
              <a:rPr lang="en-US" sz="4000" dirty="0">
                <a:latin typeface="Consolas" panose="020B0609020204030204" pitchFamily="49" charset="0"/>
              </a:rPr>
              <a:t>default</a:t>
            </a:r>
            <a:r>
              <a:rPr lang="en-US" sz="3600" dirty="0"/>
              <a:t> method?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4F96290-D192-6FF3-0426-72EA9628B1F5}"/>
              </a:ext>
            </a:extLst>
          </p:cNvPr>
          <p:cNvSpPr txBox="1">
            <a:spLocks/>
          </p:cNvSpPr>
          <p:nvPr/>
        </p:nvSpPr>
        <p:spPr>
          <a:xfrm rot="401501">
            <a:off x="214497" y="296482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4800" dirty="0">
                <a:latin typeface="Abadi" panose="020B0604020104020204" pitchFamily="34" charset="0"/>
              </a:rPr>
              <a:t>Implementing Multiple Interfaces</a:t>
            </a:r>
          </a:p>
        </p:txBody>
      </p:sp>
    </p:spTree>
    <p:extLst>
      <p:ext uri="{BB962C8B-B14F-4D97-AF65-F5344CB8AC3E}">
        <p14:creationId xmlns:p14="http://schemas.microsoft.com/office/powerpoint/2010/main" val="3649985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55783-97C5-C6C5-2149-D6B59724B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2928E2EC-0B7B-3DAC-4848-8FC6991F9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45" y="1935480"/>
            <a:ext cx="851535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interface Alarm {</a:t>
            </a:r>
          </a:p>
          <a:p>
            <a:pPr>
              <a:spcBef>
                <a:spcPts val="0"/>
              </a:spcBef>
            </a:pPr>
            <a:endParaRPr lang="en-US" sz="28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default String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turnAlarmOn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  return "Turning the alarm on.";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default String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turnAlarmOff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  return "Turning the alarm off.";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A6EC7B-9792-140D-4E35-E774BA8B6575}"/>
              </a:ext>
            </a:extLst>
          </p:cNvPr>
          <p:cNvSpPr txBox="1"/>
          <p:nvPr/>
        </p:nvSpPr>
        <p:spPr>
          <a:xfrm>
            <a:off x="558800" y="307201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Let’s define a new Alarm interface and refactor the Car class:</a:t>
            </a:r>
          </a:p>
        </p:txBody>
      </p:sp>
    </p:spTree>
    <p:extLst>
      <p:ext uri="{BB962C8B-B14F-4D97-AF65-F5344CB8AC3E}">
        <p14:creationId xmlns:p14="http://schemas.microsoft.com/office/powerpoint/2010/main" val="3268594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CC251-4A03-229D-9505-D6D7CE41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9" name="Text Box 19">
            <a:extLst>
              <a:ext uri="{FF2B5EF4-FFF2-40B4-BE49-F238E27FC236}">
                <a16:creationId xmlns:a16="http://schemas.microsoft.com/office/drawing/2014/main" id="{096109F6-3482-FD30-AED6-AFBBD06FB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45" y="1691640"/>
            <a:ext cx="851535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interface Alarm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default String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turnAlarmOn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  return "Turning the alarm on.";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default String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turnAlarmOff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  return "Turning the alarm off.";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 sz="4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B7FF4C-AD5C-41ED-42C4-1B6837BA8BD1}"/>
              </a:ext>
            </a:extLst>
          </p:cNvPr>
          <p:cNvSpPr txBox="1"/>
          <p:nvPr/>
        </p:nvSpPr>
        <p:spPr>
          <a:xfrm>
            <a:off x="558800" y="307201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Let’s define a new Alarm interface and refactor the Car class: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6BAC9A-05A4-29F3-91FF-2F5A97B0F13A}"/>
              </a:ext>
            </a:extLst>
          </p:cNvPr>
          <p:cNvSpPr txBox="1"/>
          <p:nvPr/>
        </p:nvSpPr>
        <p:spPr>
          <a:xfrm>
            <a:off x="223520" y="5962630"/>
            <a:ext cx="904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public</a:t>
            </a:r>
            <a:r>
              <a:rPr lang="en-US" sz="2600" b="1" i="0" dirty="0">
                <a:solidFill>
                  <a:srgbClr val="0A0A0A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6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class</a:t>
            </a:r>
            <a:r>
              <a:rPr lang="en-US" sz="2600" b="1" i="0" dirty="0">
                <a:solidFill>
                  <a:srgbClr val="0A0A0A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6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Car</a:t>
            </a:r>
            <a:r>
              <a:rPr lang="en-US" sz="2600" b="1" i="0" dirty="0">
                <a:solidFill>
                  <a:srgbClr val="0A0A0A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6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implements</a:t>
            </a:r>
            <a:r>
              <a:rPr lang="en-US" sz="2600" b="1" i="0" dirty="0">
                <a:solidFill>
                  <a:srgbClr val="0A0A0A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2600" b="1" i="0" dirty="0">
                <a:solidFill>
                  <a:srgbClr val="63B175"/>
                </a:solidFill>
                <a:effectLst/>
                <a:latin typeface="Source Code Pro" panose="020B0509030403020204" pitchFamily="49" charset="0"/>
              </a:rPr>
              <a:t>Vehicle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, Alarm</a:t>
            </a:r>
          </a:p>
        </p:txBody>
      </p:sp>
    </p:spTree>
    <p:extLst>
      <p:ext uri="{BB962C8B-B14F-4D97-AF65-F5344CB8AC3E}">
        <p14:creationId xmlns:p14="http://schemas.microsoft.com/office/powerpoint/2010/main" val="1040324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6BA3E-CDAA-2A2D-8EA5-D0971CFD4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817543-8876-0440-1C0E-DB4EAD84E97F}"/>
              </a:ext>
            </a:extLst>
          </p:cNvPr>
          <p:cNvSpPr txBox="1"/>
          <p:nvPr/>
        </p:nvSpPr>
        <p:spPr>
          <a:xfrm>
            <a:off x="558800" y="307201"/>
            <a:ext cx="8026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To solve this ambiguity, we must explicitly provide an implementation for the methods: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67A43-E3F0-6DB8-A841-795C1B6A62FB}"/>
              </a:ext>
            </a:extLst>
          </p:cNvPr>
          <p:cNvSpPr txBox="1"/>
          <p:nvPr/>
        </p:nvSpPr>
        <p:spPr>
          <a:xfrm>
            <a:off x="274320" y="2416790"/>
            <a:ext cx="9042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class Car implements Vehicle, Alarm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// custom implementation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turnAlarmOff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// custom implementation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7404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93849-CB02-1C3E-7C6C-34403342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6A43D5-4148-7DD8-69CB-7D90EFAF8158}"/>
              </a:ext>
            </a:extLst>
          </p:cNvPr>
          <p:cNvSpPr txBox="1"/>
          <p:nvPr/>
        </p:nvSpPr>
        <p:spPr>
          <a:xfrm>
            <a:off x="558800" y="307201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We could simply call on of the existing implementations: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AF6203-74B1-00A6-D91E-9204393A40C5}"/>
              </a:ext>
            </a:extLst>
          </p:cNvPr>
          <p:cNvSpPr txBox="1"/>
          <p:nvPr/>
        </p:nvSpPr>
        <p:spPr>
          <a:xfrm>
            <a:off x="274320" y="2122150"/>
            <a:ext cx="9042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class Car implements Vehicle, Alarm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return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Vehicle.super.turnAlarmOn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public String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turnAlarmOff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return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Vehicle.super.turnAlarmOff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61231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16B2F-A83C-CE93-DA2F-1FB4B4451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574A2B-7BDB-B795-04CD-CE938522B7FD}"/>
              </a:ext>
            </a:extLst>
          </p:cNvPr>
          <p:cNvSpPr txBox="1"/>
          <p:nvPr/>
        </p:nvSpPr>
        <p:spPr>
          <a:xfrm>
            <a:off x="558800" y="307201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Raleway" pitchFamily="2" charset="0"/>
              </a:rPr>
              <a:t>Explicitly calling a default method from an implementing class: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F270A-6983-C060-226E-379AF95663C3}"/>
              </a:ext>
            </a:extLst>
          </p:cNvPr>
          <p:cNvSpPr txBox="1"/>
          <p:nvPr/>
        </p:nvSpPr>
        <p:spPr>
          <a:xfrm>
            <a:off x="574040" y="2061190"/>
            <a:ext cx="8168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Vehicle.super.turnAlarmOn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8C1C3-3BCE-D1E4-9E7B-2B1BB1A0D32E}"/>
              </a:ext>
            </a:extLst>
          </p:cNvPr>
          <p:cNvSpPr txBox="1"/>
          <p:nvPr/>
        </p:nvSpPr>
        <p:spPr>
          <a:xfrm>
            <a:off x="574040" y="3615016"/>
            <a:ext cx="816864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The </a:t>
            </a:r>
            <a:r>
              <a:rPr lang="en-US" sz="3200" b="1" dirty="0">
                <a:latin typeface="Consolas" panose="020B0609020204030204" pitchFamily="49" charset="0"/>
              </a:rPr>
              <a:t>super</a:t>
            </a:r>
            <a:r>
              <a:rPr lang="en-US" sz="3200" dirty="0"/>
              <a:t> keyword refers to the supertype's implementation of the method. </a:t>
            </a:r>
          </a:p>
          <a:p>
            <a:r>
              <a:rPr lang="en-US" sz="3200" dirty="0"/>
              <a:t>Here, it targets the default implementation provided by the interface.</a:t>
            </a:r>
            <a:endParaRPr lang="en-US" sz="4800" dirty="0">
              <a:solidFill>
                <a:srgbClr val="000000"/>
              </a:solidFill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88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3C40E-9DB4-756D-8E56-48146478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7907D6-D542-1252-3C4C-9AEB32968C99}"/>
              </a:ext>
            </a:extLst>
          </p:cNvPr>
          <p:cNvSpPr txBox="1"/>
          <p:nvPr/>
        </p:nvSpPr>
        <p:spPr>
          <a:xfrm>
            <a:off x="904240" y="2271961"/>
            <a:ext cx="73355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Since </a:t>
            </a:r>
            <a:r>
              <a:rPr lang="en-US" sz="4000" dirty="0">
                <a:latin typeface="Consolas" panose="020B0609020204030204" pitchFamily="49" charset="0"/>
              </a:rPr>
              <a:t>static</a:t>
            </a:r>
            <a:r>
              <a:rPr lang="en-US" sz="4000" dirty="0"/>
              <a:t> methods don’t belong to a particular object, they’re not part of the API of the classes implementing the interface.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A405C16-486C-8CD0-7318-604485F0E95B}"/>
              </a:ext>
            </a:extLst>
          </p:cNvPr>
          <p:cNvSpPr txBox="1">
            <a:spLocks/>
          </p:cNvSpPr>
          <p:nvPr/>
        </p:nvSpPr>
        <p:spPr>
          <a:xfrm rot="401501">
            <a:off x="51937" y="296482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6600" dirty="0">
                <a:solidFill>
                  <a:srgbClr val="7030A0"/>
                </a:solidFill>
                <a:latin typeface="Abadi" panose="020B0604020104020204" pitchFamily="34" charset="0"/>
              </a:rPr>
              <a:t>Static Methods</a:t>
            </a:r>
          </a:p>
        </p:txBody>
      </p:sp>
    </p:spTree>
    <p:extLst>
      <p:ext uri="{BB962C8B-B14F-4D97-AF65-F5344CB8AC3E}">
        <p14:creationId xmlns:p14="http://schemas.microsoft.com/office/powerpoint/2010/main" val="2660184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597A0-9865-FB88-DEAE-289E372F6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55DCFE-87C1-7675-4C66-4ECFE941AFB7}"/>
              </a:ext>
            </a:extLst>
          </p:cNvPr>
          <p:cNvSpPr txBox="1"/>
          <p:nvPr/>
        </p:nvSpPr>
        <p:spPr>
          <a:xfrm>
            <a:off x="558800" y="307201"/>
            <a:ext cx="8026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Let’s refactor the 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Vehicle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 interface and add a static utility method: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66C3B-21A4-FBE2-6E2A-F64886397917}"/>
              </a:ext>
            </a:extLst>
          </p:cNvPr>
          <p:cNvSpPr txBox="1"/>
          <p:nvPr/>
        </p:nvSpPr>
        <p:spPr>
          <a:xfrm>
            <a:off x="274320" y="2122150"/>
            <a:ext cx="9042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public interface Vehicle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// regular / default interface methods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int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getHorsePower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(int rpm, 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                     int torque) {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    return (rpm * torque) / 5252;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9210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2802B-B75B-0563-3BDE-0D626C3CF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0D2BA8-D756-9497-881B-377F24E0CF59}"/>
              </a:ext>
            </a:extLst>
          </p:cNvPr>
          <p:cNvSpPr txBox="1"/>
          <p:nvPr/>
        </p:nvSpPr>
        <p:spPr>
          <a:xfrm>
            <a:off x="558800" y="307201"/>
            <a:ext cx="8026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Let’s suppose that we want to calculate the horsepower of a given vehicle’s engine. We just call the </a:t>
            </a:r>
            <a:r>
              <a:rPr lang="en-US" sz="3600" b="0" i="0" dirty="0" err="1">
                <a:solidFill>
                  <a:srgbClr val="000000"/>
                </a:solidFill>
                <a:effectLst/>
                <a:latin typeface="Raleway" pitchFamily="2" charset="0"/>
              </a:rPr>
              <a:t>getHorsePower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Raleway" pitchFamily="2" charset="0"/>
              </a:rPr>
              <a:t>() method: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51785-A023-37E5-3D1A-72A624772118}"/>
              </a:ext>
            </a:extLst>
          </p:cNvPr>
          <p:cNvSpPr txBox="1"/>
          <p:nvPr/>
        </p:nvSpPr>
        <p:spPr>
          <a:xfrm>
            <a:off x="558800" y="3719256"/>
            <a:ext cx="8493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Vehicle.getHorsePower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(2500, 480));</a:t>
            </a:r>
          </a:p>
        </p:txBody>
      </p:sp>
    </p:spTree>
    <p:extLst>
      <p:ext uri="{BB962C8B-B14F-4D97-AF65-F5344CB8AC3E}">
        <p14:creationId xmlns:p14="http://schemas.microsoft.com/office/powerpoint/2010/main" val="2846831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E54E2-FA74-3D1D-2643-09E4DA3B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1D44B1-8EC6-AC34-4336-FF1148B198ED}"/>
              </a:ext>
            </a:extLst>
          </p:cNvPr>
          <p:cNvSpPr txBox="1"/>
          <p:nvPr/>
        </p:nvSpPr>
        <p:spPr>
          <a:xfrm>
            <a:off x="904240" y="2271961"/>
            <a:ext cx="73355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Static methods in interfaces make it possible to group related utility methods, without having to create artificial utility classes that simply store static methods.</a:t>
            </a:r>
            <a:endParaRPr lang="en-US" sz="6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F6661E9-7065-3CD0-0782-D4870AFD5FA1}"/>
              </a:ext>
            </a:extLst>
          </p:cNvPr>
          <p:cNvSpPr txBox="1">
            <a:spLocks/>
          </p:cNvSpPr>
          <p:nvPr/>
        </p:nvSpPr>
        <p:spPr>
          <a:xfrm rot="401501">
            <a:off x="194177" y="296482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6000" dirty="0">
                <a:solidFill>
                  <a:srgbClr val="7030A0"/>
                </a:solidFill>
                <a:latin typeface="Abadi" panose="020B0604020104020204" pitchFamily="34" charset="0"/>
              </a:rPr>
              <a:t>Why have Static Methods</a:t>
            </a:r>
          </a:p>
        </p:txBody>
      </p:sp>
    </p:spTree>
    <p:extLst>
      <p:ext uri="{BB962C8B-B14F-4D97-AF65-F5344CB8AC3E}">
        <p14:creationId xmlns:p14="http://schemas.microsoft.com/office/powerpoint/2010/main" val="3476664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9AF54-D691-1FAF-3966-7DF481E3D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10BBEC-B3D5-F493-C4F3-606E8F40F736}"/>
              </a:ext>
            </a:extLst>
          </p:cNvPr>
          <p:cNvSpPr txBox="1"/>
          <p:nvPr/>
        </p:nvSpPr>
        <p:spPr>
          <a:xfrm>
            <a:off x="807720" y="2190681"/>
            <a:ext cx="73101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Static methods allow us to </a:t>
            </a:r>
            <a:r>
              <a:rPr lang="en-US" sz="3600" b="1" dirty="0"/>
              <a:t>increase the cohesion*</a:t>
            </a:r>
            <a:r>
              <a:rPr lang="en-US" sz="3600" dirty="0"/>
              <a:t> of a design by putting together related methods in one single place without having to create an object.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6B99659-EC99-9001-486D-F08B096AEB62}"/>
              </a:ext>
            </a:extLst>
          </p:cNvPr>
          <p:cNvSpPr txBox="1">
            <a:spLocks/>
          </p:cNvSpPr>
          <p:nvPr/>
        </p:nvSpPr>
        <p:spPr>
          <a:xfrm rot="401501">
            <a:off x="194177" y="296482"/>
            <a:ext cx="10197282" cy="1143000"/>
          </a:xfrm>
          <a:prstGeom prst="rect">
            <a:avLst/>
          </a:prstGeom>
          <a:ln>
            <a:noFill/>
          </a:ln>
          <a:effectLst>
            <a:outerShdw blurRad="225425" dist="50800" dir="5220000" algn="ctr">
              <a:srgbClr val="000000">
                <a:alpha val="33000"/>
              </a:srgbClr>
            </a:outerShdw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6000" dirty="0">
                <a:solidFill>
                  <a:srgbClr val="7030A0"/>
                </a:solidFill>
                <a:latin typeface="Abadi" panose="020B0604020104020204" pitchFamily="34" charset="0"/>
              </a:rPr>
              <a:t>Why have Static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66C95-B0B5-627D-66C4-2CF5262227DE}"/>
              </a:ext>
            </a:extLst>
          </p:cNvPr>
          <p:cNvSpPr txBox="1"/>
          <p:nvPr/>
        </p:nvSpPr>
        <p:spPr>
          <a:xfrm>
            <a:off x="261620" y="5517942"/>
            <a:ext cx="8402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* </a:t>
            </a:r>
            <a:r>
              <a:rPr lang="en-US" sz="36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the</a:t>
            </a:r>
            <a:r>
              <a:rPr lang="en-US" sz="36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r>
              <a:rPr lang="en-US" sz="3600" b="0" i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+mn-cs"/>
              </a:rPr>
              <a:t>degree to which the elements of a class belong together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37086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5334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1752600"/>
            <a:ext cx="5410200" cy="2667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calcAnswer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isWise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9C385-2491-A4BB-452D-7E71F31EFC69}"/>
              </a:ext>
            </a:extLst>
          </p:cNvPr>
          <p:cNvSpPr txBox="1"/>
          <p:nvPr/>
        </p:nvSpPr>
        <p:spPr>
          <a:xfrm>
            <a:off x="457200" y="4495800"/>
            <a:ext cx="8153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6600"/>
                </a:solidFill>
              </a:rPr>
              <a:t>Valid – both methods are implicitly public and abstract, and neither has code.</a:t>
            </a:r>
          </a:p>
        </p:txBody>
      </p:sp>
    </p:spTree>
    <p:extLst>
      <p:ext uri="{BB962C8B-B14F-4D97-AF65-F5344CB8AC3E}">
        <p14:creationId xmlns:p14="http://schemas.microsoft.com/office/powerpoint/2010/main" val="328540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3810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491340"/>
            <a:ext cx="7772400" cy="2667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default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calcAnswer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 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</a:t>
            </a:r>
            <a:r>
              <a:rPr lang="fr-FR" sz="3200" b="1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&lt;&lt; code not </a:t>
            </a:r>
            <a:r>
              <a:rPr lang="fr-FR" sz="3200" b="1" i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shown</a:t>
            </a:r>
            <a:r>
              <a:rPr lang="fr-FR" sz="3200" b="1" i="1" dirty="0">
                <a:latin typeface="Courier New" panose="02070309020205020404" pitchFamily="49" charset="0"/>
                <a:ea typeface="Times New Roman" panose="02020603050405020304" pitchFamily="18" charset="0"/>
              </a:rPr>
              <a:t> &gt;&gt;</a:t>
            </a:r>
            <a:b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</a:b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abstract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isWise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73D00E-E626-3B10-A61C-0E2E228EA8F3}"/>
              </a:ext>
            </a:extLst>
          </p:cNvPr>
          <p:cNvSpPr txBox="1"/>
          <p:nvPr/>
        </p:nvSpPr>
        <p:spPr>
          <a:xfrm>
            <a:off x="1240971" y="4811486"/>
            <a:ext cx="7772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6600"/>
                </a:solidFill>
              </a:rPr>
              <a:t>Valid – </a:t>
            </a:r>
            <a:r>
              <a:rPr lang="en-US" sz="4000" dirty="0" err="1">
                <a:solidFill>
                  <a:srgbClr val="006600"/>
                </a:solidFill>
              </a:rPr>
              <a:t>calcAnswer</a:t>
            </a:r>
            <a:r>
              <a:rPr lang="en-US" sz="4000" dirty="0">
                <a:solidFill>
                  <a:srgbClr val="006600"/>
                </a:solidFill>
              </a:rPr>
              <a:t> is default and has code, and </a:t>
            </a:r>
            <a:r>
              <a:rPr lang="en-US" sz="4000" dirty="0" err="1">
                <a:solidFill>
                  <a:srgbClr val="006600"/>
                </a:solidFill>
              </a:rPr>
              <a:t>isWise</a:t>
            </a:r>
            <a:r>
              <a:rPr lang="en-US" sz="4000" dirty="0">
                <a:solidFill>
                  <a:srgbClr val="006600"/>
                </a:solidFill>
              </a:rPr>
              <a:t> is abstract and doesn’t have code.</a:t>
            </a:r>
          </a:p>
        </p:txBody>
      </p:sp>
    </p:spTree>
    <p:extLst>
      <p:ext uri="{BB962C8B-B14F-4D97-AF65-F5344CB8AC3E}">
        <p14:creationId xmlns:p14="http://schemas.microsoft.com/office/powerpoint/2010/main" val="251642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3810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600200"/>
            <a:ext cx="7772400" cy="2667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public A();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abstract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boolean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isWise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9C385-2491-A4BB-452D-7E71F31EFC69}"/>
              </a:ext>
            </a:extLst>
          </p:cNvPr>
          <p:cNvSpPr txBox="1"/>
          <p:nvPr/>
        </p:nvSpPr>
        <p:spPr>
          <a:xfrm>
            <a:off x="609600" y="4572000"/>
            <a:ext cx="8153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Invalid – Interfaces can’t have constructors.</a:t>
            </a:r>
          </a:p>
        </p:txBody>
      </p:sp>
    </p:spTree>
    <p:extLst>
      <p:ext uri="{BB962C8B-B14F-4D97-AF65-F5344CB8AC3E}">
        <p14:creationId xmlns:p14="http://schemas.microsoft.com/office/powerpoint/2010/main" val="315995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5334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752600"/>
            <a:ext cx="8382000" cy="2667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static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calcAnswer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();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en-US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public static final int n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9C385-2491-A4BB-452D-7E71F31EFC69}"/>
              </a:ext>
            </a:extLst>
          </p:cNvPr>
          <p:cNvSpPr txBox="1"/>
          <p:nvPr/>
        </p:nvSpPr>
        <p:spPr>
          <a:xfrm>
            <a:off x="381000" y="4495800"/>
            <a:ext cx="8610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Invalid – static methods must be implemented. Also, the final variable wasn’t initialized.</a:t>
            </a:r>
          </a:p>
        </p:txBody>
      </p:sp>
    </p:spTree>
    <p:extLst>
      <p:ext uri="{BB962C8B-B14F-4D97-AF65-F5344CB8AC3E}">
        <p14:creationId xmlns:p14="http://schemas.microsoft.com/office/powerpoint/2010/main" val="21896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50" y="5334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1160" y="1712774"/>
            <a:ext cx="7410269" cy="3429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method1();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default </a:t>
            </a:r>
            <a:r>
              <a:rPr lang="fr-FR" sz="32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void</a:t>
            </a: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method2() {}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static</a:t>
            </a: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void</a:t>
            </a: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 method3() {}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int </a:t>
            </a:r>
            <a:r>
              <a:rPr lang="en-US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n = 7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168C9C-7FDB-DDEE-A8E4-0AF082962AF4}"/>
              </a:ext>
            </a:extLst>
          </p:cNvPr>
          <p:cNvSpPr txBox="1"/>
          <p:nvPr/>
        </p:nvSpPr>
        <p:spPr>
          <a:xfrm>
            <a:off x="1342571" y="4904377"/>
            <a:ext cx="78014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6600"/>
                </a:solidFill>
              </a:rPr>
              <a:t>Valid – abstract method has no code, concrete methods do, </a:t>
            </a:r>
            <a:r>
              <a:rPr lang="en-US" sz="3600">
                <a:solidFill>
                  <a:srgbClr val="006600"/>
                </a:solidFill>
              </a:rPr>
              <a:t>and </a:t>
            </a:r>
            <a:br>
              <a:rPr lang="en-US" sz="3600">
                <a:solidFill>
                  <a:srgbClr val="006600"/>
                </a:solidFill>
              </a:rPr>
            </a:br>
            <a:r>
              <a:rPr lang="en-US" sz="3600">
                <a:solidFill>
                  <a:srgbClr val="006600"/>
                </a:solidFill>
              </a:rPr>
              <a:t>final </a:t>
            </a:r>
            <a:r>
              <a:rPr lang="en-US" sz="3600" dirty="0">
                <a:solidFill>
                  <a:srgbClr val="006600"/>
                </a:solidFill>
              </a:rPr>
              <a:t>variable was initialized.</a:t>
            </a:r>
          </a:p>
        </p:txBody>
      </p:sp>
    </p:spTree>
    <p:extLst>
      <p:ext uri="{BB962C8B-B14F-4D97-AF65-F5344CB8AC3E}">
        <p14:creationId xmlns:p14="http://schemas.microsoft.com/office/powerpoint/2010/main" val="230163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A1EA1-09D6-71C4-7140-C9F02460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50" y="533400"/>
            <a:ext cx="6858000" cy="858837"/>
          </a:xfrm>
        </p:spPr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Valid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Invalid</a:t>
            </a:r>
            <a:r>
              <a:rPr lang="en-US" dirty="0"/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3AAA4C-6A59-F701-99BF-AC021892A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60" y="1752600"/>
            <a:ext cx="8999220" cy="2667000"/>
          </a:xfrm>
        </p:spPr>
        <p:txBody>
          <a:bodyPr/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public interface A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{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</a:t>
            </a:r>
            <a:r>
              <a:rPr lang="fr-FR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default 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final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sz="3200" b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calcAnswer</a:t>
            </a:r>
            <a:r>
              <a:rPr lang="fr-FR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() {}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int </a:t>
            </a:r>
            <a:r>
              <a:rPr lang="en-US" sz="32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n = 7</a:t>
            </a: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;   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en-US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9C385-2491-A4BB-452D-7E71F31EFC69}"/>
              </a:ext>
            </a:extLst>
          </p:cNvPr>
          <p:cNvSpPr txBox="1"/>
          <p:nvPr/>
        </p:nvSpPr>
        <p:spPr>
          <a:xfrm>
            <a:off x="723900" y="4495800"/>
            <a:ext cx="75819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Invalid – Methods in an interface shouldn’t specify how their methods are implemented.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64D6D1-F03B-AD2E-8761-11B8B5FB2F2B}"/>
              </a:ext>
            </a:extLst>
          </p:cNvPr>
          <p:cNvSpPr txBox="1"/>
          <p:nvPr/>
        </p:nvSpPr>
        <p:spPr>
          <a:xfrm>
            <a:off x="2762071" y="2719327"/>
            <a:ext cx="155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+mn-cs"/>
              </a:rPr>
              <a:t>final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2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1763</TotalTime>
  <Words>1527</Words>
  <Application>Microsoft Office PowerPoint</Application>
  <PresentationFormat>On-screen Show (4:3)</PresentationFormat>
  <Paragraphs>215</Paragraphs>
  <Slides>29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Abadi</vt:lpstr>
      <vt:lpstr>Arial</vt:lpstr>
      <vt:lpstr>Cascadia Code</vt:lpstr>
      <vt:lpstr>Consolas</vt:lpstr>
      <vt:lpstr>Courier New</vt:lpstr>
      <vt:lpstr>Impact</vt:lpstr>
      <vt:lpstr>Raleway</vt:lpstr>
      <vt:lpstr>Source Code Pro</vt:lpstr>
      <vt:lpstr>Tahoma</vt:lpstr>
      <vt:lpstr>Times New Roman</vt:lpstr>
      <vt:lpstr>Default Design</vt:lpstr>
      <vt:lpstr>Default and Static Methods in Interfaces</vt:lpstr>
      <vt:lpstr>Default and Static Methods</vt:lpstr>
      <vt:lpstr>Default Methods</vt:lpstr>
      <vt:lpstr>Why have Default Methods</vt:lpstr>
      <vt:lpstr>Why have Default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Valid or Invalid?</vt:lpstr>
      <vt:lpstr>Valid or Invalid?</vt:lpstr>
      <vt:lpstr>Valid or Invalid?</vt:lpstr>
      <vt:lpstr>Valid or Invalid?</vt:lpstr>
      <vt:lpstr>Valid or Invalid?</vt:lpstr>
      <vt:lpstr>Valid or Invalid?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Interfaces</dc:title>
  <dc:subject>Interfaces</dc:subject>
  <dc:creator>A+ Computer Science</dc:creator>
  <cp:keywords>www.apluscompsci.com</cp:keywords>
  <dc:description>Interfaces_x000d_
©A+ Computer Science_x000d_
www.apluscompsci.com</dc:description>
  <cp:lastModifiedBy>Weldon Jasik</cp:lastModifiedBy>
  <cp:revision>310</cp:revision>
  <dcterms:created xsi:type="dcterms:W3CDTF">2002-06-22T16:18:29Z</dcterms:created>
  <dcterms:modified xsi:type="dcterms:W3CDTF">2025-09-29T15:25:09Z</dcterms:modified>
  <cp:category>www.apluscompsci.com</cp:category>
</cp:coreProperties>
</file>