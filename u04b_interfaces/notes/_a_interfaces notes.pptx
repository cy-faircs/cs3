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2" r:id="rId67"/>
    <p:sldId id="323" r:id="rId68"/>
    <p:sldId id="324" r:id="rId69"/>
    <p:sldId id="325" r:id="rId70"/>
    <p:sldId id="326" r:id="rId71"/>
    <p:sldId id="327" r:id="rId72"/>
  </p:sldIdLst>
  <p:sldSz cx="9144000" cy="6858000" type="screen4x3"/>
  <p:notesSz cx="6858000" cy="9144000"/>
  <p:embeddedFontLst>
    <p:embeddedFont>
      <p:font typeface="Arial Black" panose="020B0A04020102020204" pitchFamily="34" charset="0"/>
      <p:bold r:id="rId74"/>
    </p:embeddedFont>
    <p:embeddedFont>
      <p:font typeface="Arimo" panose="020B0604020202020204" charset="0"/>
      <p:regular r:id="rId75"/>
      <p:bold r:id="rId76"/>
      <p:italic r:id="rId77"/>
      <p:boldItalic r:id="rId78"/>
    </p:embeddedFont>
    <p:embeddedFont>
      <p:font typeface="Consolas" panose="020B0609020204030204" pitchFamily="49" charset="0"/>
      <p:regular r:id="rId79"/>
      <p:bold r:id="rId80"/>
      <p:italic r:id="rId81"/>
      <p:boldItalic r:id="rId82"/>
    </p:embeddedFont>
    <p:embeddedFont>
      <p:font typeface="Helvetica Neue" panose="020B0604020202020204" charset="0"/>
      <p:regular r:id="rId83"/>
      <p:bold r:id="rId84"/>
      <p:italic r:id="rId85"/>
      <p:boldItalic r:id="rId86"/>
    </p:embeddedFont>
    <p:embeddedFont>
      <p:font typeface="Impact" panose="020B0806030902050204" pitchFamily="34" charset="0"/>
      <p:regular r:id="rId87"/>
    </p:embeddedFont>
    <p:embeddedFont>
      <p:font typeface="Inter" panose="020B0604020202020204" charset="0"/>
      <p:regular r:id="rId88"/>
      <p:bold r:id="rId89"/>
      <p:italic r:id="rId90"/>
      <p:boldItalic r:id="rId91"/>
    </p:embeddedFont>
    <p:embeddedFont>
      <p:font typeface="Tahoma" panose="020B0604030504040204" pitchFamily="34" charset="0"/>
      <p:regular r:id="rId92"/>
      <p:bold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5" roundtripDataSignature="AMtx7mg9AiIrNojjfxCeqwdglHVc1bZt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F4C27B-FA1E-4730-9A34-B8ED315A9ECD}">
  <a:tblStyle styleId="{1FF4C27B-FA1E-4730-9A34-B8ED315A9EC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1.fntdata"/><Relationship Id="rId89" Type="http://schemas.openxmlformats.org/officeDocument/2006/relationships/font" Target="fonts/font1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font" Target="fonts/font17.fntdata"/><Relationship Id="rId95" Type="http://customschemas.google.com/relationships/presentationmetadata" Target="meta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7.fntdata"/><Relationship Id="rId85"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font" Target="fonts/font18.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20.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2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2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p:nvPr/>
        </p:nvSpPr>
        <p:spPr>
          <a:xfrm>
            <a:off x="1371600" y="8686800"/>
            <a:ext cx="5486400" cy="457200"/>
          </a:xfrm>
          <a:prstGeom prst="rect">
            <a:avLst/>
          </a:prstGeom>
          <a:noFill/>
          <a:ln>
            <a:noFill/>
          </a:ln>
        </p:spPr>
        <p:txBody>
          <a:bodyPr spcFirstLastPara="1" wrap="square" lIns="92075" tIns="46025" rIns="92075" bIns="46025" anchor="b" anchorCtr="0">
            <a:noAutofit/>
          </a:bodyPr>
          <a:lstStyle/>
          <a:p>
            <a:pPr marL="0" marR="0" lvl="0" indent="0" algn="r" rtl="0">
              <a:spcBef>
                <a:spcPts val="0"/>
              </a:spcBef>
              <a:spcAft>
                <a:spcPts val="0"/>
              </a:spcAft>
              <a:buNone/>
            </a:pPr>
            <a:r>
              <a:rPr lang="en-US" sz="1200" b="1" i="0" u="none" strike="noStrike" cap="none">
                <a:solidFill>
                  <a:schemeClr val="dk1"/>
                </a:solidFill>
                <a:latin typeface="Tahoma"/>
                <a:ea typeface="Tahoma"/>
                <a:cs typeface="Tahoma"/>
                <a:sym typeface="Tahoma"/>
              </a:rPr>
              <a:t>©A+ Computer Science     www.apluscompsci.com                 </a:t>
            </a:r>
            <a:fld id="{00000000-1234-1234-1234-123412341234}" type="slidenum">
              <a:rPr lang="en-US" sz="1200" b="1" i="0" u="none" strike="noStrike" cap="none">
                <a:solidFill>
                  <a:schemeClr val="dk1"/>
                </a:solidFill>
                <a:latin typeface="Tahoma"/>
                <a:ea typeface="Tahoma"/>
                <a:cs typeface="Tahoma"/>
                <a:sym typeface="Tahoma"/>
              </a:rPr>
              <a:t>‹#›</a:t>
            </a:fld>
            <a:endParaRPr sz="2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oracle.com/en/java/javase/17/docs/api/java.base/java/lang/Double.html#longBitsToDouble(long)"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Interfaces are used to detail what things an Object should do.</a:t>
            </a:r>
            <a:br>
              <a:rPr lang="en-US" sz="1600"/>
            </a:br>
            <a:r>
              <a:rPr lang="en-US" sz="1600"/>
              <a:t>Interfaces are used typically when the way an Object will do things is unknown.</a:t>
            </a:r>
            <a:br>
              <a:rPr lang="en-US" sz="1600"/>
            </a:br>
            <a:r>
              <a:rPr 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All methods listed in an interface are public abstract.   Abstract methods have no code.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Each abstract method listed in an interface must be implemented in the class that implements the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All variables listed in an interface are public static final, making them final class variables.  </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Interfaces cannot contain implemented methods, constructors, or instance variables.</a:t>
            </a:r>
            <a:endParaRPr/>
          </a:p>
          <a:p>
            <a:pPr marL="0" lvl="0" indent="0" algn="l" rtl="0">
              <a:spcBef>
                <a:spcPts val="36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4" name="Google Shape;144;p9: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0" name="Google Shape;150;p10: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6" name="Google Shape;156;p11: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r>
              <a:rPr lang="en-US" sz="1600"/>
              <a:t>When methods or data are labeled public, they can be accessed in the super class, sub class, or any other class.   </a:t>
            </a:r>
            <a:endParaRPr/>
          </a:p>
          <a:p>
            <a:pPr marL="0" lvl="0" indent="0" algn="l" rtl="0">
              <a:spcBef>
                <a:spcPts val="480"/>
              </a:spcBef>
              <a:spcAft>
                <a:spcPts val="0"/>
              </a:spcAft>
              <a:buNone/>
            </a:pPr>
            <a:r>
              <a:rPr lang="en-US" sz="1600"/>
              <a:t>When a sub class inherits public parts, those parts can be accessed directly by the sub class.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 name="Google Shape;16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0" name="Google Shape;180;p13: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r>
              <a:rPr lang="en-US" sz="1600"/>
              <a:t>When methods or data are labeled private, they can be accessed in the super class.   </a:t>
            </a:r>
            <a:endParaRPr/>
          </a:p>
          <a:p>
            <a:pPr marL="0" lvl="0" indent="0" algn="l" rtl="0">
              <a:spcBef>
                <a:spcPts val="480"/>
              </a:spcBef>
              <a:spcAft>
                <a:spcPts val="0"/>
              </a:spcAft>
              <a:buNone/>
            </a:pPr>
            <a:r>
              <a:rPr lang="en-US" sz="1600"/>
              <a:t>When a sub class inherits private parts, those parts cannot be accessed directly by the sub class or any other class.</a:t>
            </a:r>
            <a:endParaRPr/>
          </a:p>
          <a:p>
            <a:pPr marL="0" lvl="0" indent="0" algn="l" rtl="0">
              <a:spcBef>
                <a:spcPts val="36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15: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r>
              <a:rPr lang="en-US" sz="1600"/>
              <a:t>When methods or data are labeled protected, they can be accessed in the super class and sub class only.   </a:t>
            </a:r>
            <a:endParaRPr/>
          </a:p>
          <a:p>
            <a:pPr marL="0" lvl="0" indent="0" algn="l" rtl="0">
              <a:spcBef>
                <a:spcPts val="480"/>
              </a:spcBef>
              <a:spcAft>
                <a:spcPts val="0"/>
              </a:spcAft>
              <a:buNone/>
            </a:pPr>
            <a:r>
              <a:rPr lang="en-US" sz="1600"/>
              <a:t>When a sub class inherits protected parts, those parts can be accessed directly by the sub class.</a:t>
            </a:r>
            <a:endParaRPr/>
          </a:p>
          <a:p>
            <a:pPr marL="0" lvl="0" indent="0" algn="l" rtl="0">
              <a:spcBef>
                <a:spcPts val="36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3" name="Google Shape;223;p17: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r>
              <a:rPr lang="en-US" sz="1600"/>
              <a:t>When methods or data are labeled protected, they can be accessed in the super class and sub class only.   </a:t>
            </a:r>
            <a:endParaRPr/>
          </a:p>
          <a:p>
            <a:pPr marL="0" lvl="0" indent="0" algn="l" rtl="0">
              <a:spcBef>
                <a:spcPts val="480"/>
              </a:spcBef>
              <a:spcAft>
                <a:spcPts val="0"/>
              </a:spcAft>
              <a:buNone/>
            </a:pPr>
            <a:r>
              <a:rPr lang="en-US" sz="1600"/>
              <a:t>When a sub class inherits protected parts, those parts can be accessed directly by the sub class.</a:t>
            </a:r>
            <a:endParaRPr/>
          </a:p>
          <a:p>
            <a:pPr marL="0" lvl="0" indent="0" algn="l" rtl="0">
              <a:spcBef>
                <a:spcPts val="360"/>
              </a:spcBef>
              <a:spcAft>
                <a:spcPts val="0"/>
              </a:spcAft>
              <a:buNone/>
            </a:pPr>
            <a:r>
              <a:rPr lang="en-US"/>
              <a:t>?Protected is commonly referred to as package public?</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0" name="Google Shape;23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a:spLocks noGrp="1" noRot="1" noChangeAspect="1"/>
          </p:cNvSpPr>
          <p:nvPr>
            <p:ph type="sldImg" idx="2"/>
          </p:nvPr>
        </p:nvSpPr>
        <p:spPr>
          <a:xfrm>
            <a:off x="1123950" y="679450"/>
            <a:ext cx="4535488" cy="3400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53" name="Google Shape;253;p20:notes"/>
          <p:cNvSpPr txBox="1">
            <a:spLocks noGrp="1"/>
          </p:cNvSpPr>
          <p:nvPr>
            <p:ph type="body" idx="1"/>
          </p:nvPr>
        </p:nvSpPr>
        <p:spPr>
          <a:xfrm>
            <a:off x="679450" y="4308475"/>
            <a:ext cx="5424488" cy="4079875"/>
          </a:xfrm>
          <a:prstGeom prst="rect">
            <a:avLst/>
          </a:prstGeom>
          <a:noFill/>
          <a:ln>
            <a:noFill/>
          </a:ln>
        </p:spPr>
        <p:txBody>
          <a:bodyPr spcFirstLastPara="1" wrap="square" lIns="90550" tIns="45275" rIns="90550" bIns="452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9" name="Google Shape;25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5" name="Google Shape;27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a class, members are non-static, non-final, and package access unless declared to be otherwise using a MODIFIER.</a:t>
            </a:r>
            <a:endParaRPr/>
          </a:p>
          <a:p>
            <a:pPr marL="0" lvl="0" indent="0" algn="l" rtl="0">
              <a:spcBef>
                <a:spcPts val="360"/>
              </a:spcBef>
              <a:spcAft>
                <a:spcPts val="0"/>
              </a:spcAft>
              <a:buNone/>
            </a:pPr>
            <a:r>
              <a:rPr lang="en-US"/>
              <a:t>Methods are concrete unless declared to be otherwise.</a:t>
            </a:r>
            <a:endParaRPr/>
          </a:p>
          <a:p>
            <a:pPr marL="0" lvl="0" indent="0" algn="l" rtl="0">
              <a:spcBef>
                <a:spcPts val="36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1" name="Google Shape;29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a class, members are non-static, non-final, and package access unless declared to be otherwise using a MODIFIER.</a:t>
            </a:r>
            <a:endParaRPr/>
          </a:p>
          <a:p>
            <a:pPr marL="0" lvl="0" indent="0" algn="l" rtl="0">
              <a:spcBef>
                <a:spcPts val="360"/>
              </a:spcBef>
              <a:spcAft>
                <a:spcPts val="0"/>
              </a:spcAft>
              <a:buNone/>
            </a:pPr>
            <a:r>
              <a:rPr lang="en-US"/>
              <a:t>Methods are concrete unless declared to be otherwise.</a:t>
            </a:r>
            <a:endParaRPr/>
          </a:p>
          <a:p>
            <a:pPr marL="0" lvl="0" indent="0" algn="l" rtl="0">
              <a:spcBef>
                <a:spcPts val="36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0" name="Google Shape;310;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a class, members are non-static, non-final, and package access unless declared to be otherwise using a MODIFIER.</a:t>
            </a:r>
            <a:endParaRPr/>
          </a:p>
          <a:p>
            <a:pPr marL="0" lvl="0" indent="0" algn="l" rtl="0">
              <a:spcBef>
                <a:spcPts val="360"/>
              </a:spcBef>
              <a:spcAft>
                <a:spcPts val="0"/>
              </a:spcAft>
              <a:buNone/>
            </a:pPr>
            <a:r>
              <a:rPr lang="en-US"/>
              <a:t>Methods are concrete unless declared to be otherwise.</a:t>
            </a:r>
            <a:endParaRPr/>
          </a:p>
          <a:p>
            <a:pPr marL="0" lvl="0" indent="0" algn="l" rtl="0">
              <a:spcBef>
                <a:spcPts val="36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6" name="Google Shape;31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a class, members are non-static, non-final, and package access unless declared to be otherwise using a MODIFIER.</a:t>
            </a:r>
            <a:endParaRPr/>
          </a:p>
          <a:p>
            <a:pPr marL="0" lvl="0" indent="0" algn="l" rtl="0">
              <a:spcBef>
                <a:spcPts val="360"/>
              </a:spcBef>
              <a:spcAft>
                <a:spcPts val="0"/>
              </a:spcAft>
              <a:buNone/>
            </a:pPr>
            <a:r>
              <a:rPr lang="en-US"/>
              <a:t>Methods are concrete unless declared to be otherwise.</a:t>
            </a:r>
            <a:endParaRPr/>
          </a:p>
          <a:p>
            <a:pPr marL="0" lvl="0" indent="0" algn="l" rtl="0">
              <a:spcBef>
                <a:spcPts val="36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2" name="Google Shape;32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8" name="Google Shape;358;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8" name="Google Shape;37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1" name="Google Shape;3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x and y are </a:t>
            </a:r>
            <a:r>
              <a:rPr lang="en-US" sz="1600">
                <a:latin typeface="Courier New"/>
                <a:ea typeface="Courier New"/>
                <a:cs typeface="Courier New"/>
                <a:sym typeface="Courier New"/>
              </a:rPr>
              <a:t>Comparable</a:t>
            </a:r>
            <a:r>
              <a:rPr lang="en-US" sz="1600"/>
              <a:t> references that can refer to any class that implements the </a:t>
            </a:r>
            <a:r>
              <a:rPr lang="en-US" sz="1600">
                <a:latin typeface="Courier New"/>
                <a:ea typeface="Courier New"/>
                <a:cs typeface="Courier New"/>
                <a:sym typeface="Courier New"/>
              </a:rPr>
              <a:t>Comparable</a:t>
            </a:r>
            <a:r>
              <a:rPr lang="en-US" sz="1600"/>
              <a:t>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54 and 67 are integers.   Java instantiates </a:t>
            </a:r>
            <a:r>
              <a:rPr lang="en-US" sz="1600">
                <a:latin typeface="Courier New"/>
                <a:ea typeface="Courier New"/>
                <a:cs typeface="Courier New"/>
                <a:sym typeface="Courier New"/>
              </a:rPr>
              <a:t>Integer</a:t>
            </a:r>
            <a:r>
              <a:rPr lang="en-US" sz="1600"/>
              <a:t> objects using 54 and 67.  </a:t>
            </a:r>
            <a:endParaRPr/>
          </a:p>
          <a:p>
            <a:pPr marL="0" lvl="0" indent="0" algn="l" rtl="0">
              <a:spcBef>
                <a:spcPts val="480"/>
              </a:spcBef>
              <a:spcAft>
                <a:spcPts val="0"/>
              </a:spcAft>
              <a:buNone/>
            </a:pPr>
            <a:r>
              <a:rPr lang="en-US" sz="1600">
                <a:latin typeface="Courier New"/>
                <a:ea typeface="Courier New"/>
                <a:cs typeface="Courier New"/>
                <a:sym typeface="Courier New"/>
              </a:rPr>
              <a:t>x = 54</a:t>
            </a:r>
            <a:r>
              <a:rPr lang="en-US" sz="1600"/>
              <a:t> is essentially the same as </a:t>
            </a:r>
            <a:r>
              <a:rPr lang="en-US" sz="1600">
                <a:latin typeface="Courier New"/>
                <a:ea typeface="Courier New"/>
                <a:cs typeface="Courier New"/>
                <a:sym typeface="Courier New"/>
              </a:rPr>
              <a:t>x = new Integer(54)</a:t>
            </a:r>
            <a:r>
              <a:rPr lang="en-US" sz="1600"/>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9" name="Google Shape;399;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941EDF"/>
                </a:solidFill>
                <a:latin typeface="Courier New"/>
                <a:ea typeface="Courier New"/>
                <a:cs typeface="Courier New"/>
                <a:sym typeface="Courier New"/>
              </a:rPr>
              <a:t>public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static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int</a:t>
            </a:r>
            <a:r>
              <a:rPr lang="en-US" sz="1200">
                <a:solidFill>
                  <a:srgbClr val="000000"/>
                </a:solidFill>
                <a:latin typeface="Courier New"/>
                <a:ea typeface="Courier New"/>
                <a:cs typeface="Courier New"/>
                <a:sym typeface="Courier New"/>
              </a:rPr>
              <a:t> compare(</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d1, </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d2) {</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&lt;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smaller</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&gt;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larger</a:t>
            </a:r>
            <a:br>
              <a:rPr lang="en-US" sz="1200">
                <a:solidFill>
                  <a:srgbClr val="E65D00"/>
                </a:solidFill>
                <a:latin typeface="Courier New"/>
                <a:ea typeface="Courier New"/>
                <a:cs typeface="Courier New"/>
                <a:sym typeface="Courier New"/>
              </a:rPr>
            </a:b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thisBits = Double.doubleToLongBits(d1);</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otherBits = Double.doubleToLongBits(d2);</a:t>
            </a:r>
            <a:br>
              <a:rPr lang="en-US" sz="1200">
                <a:solidFill>
                  <a:srgbClr val="000000"/>
                </a:solidFill>
                <a:latin typeface="Courier New"/>
                <a:ea typeface="Courier New"/>
                <a:cs typeface="Courier New"/>
                <a:sym typeface="Courier New"/>
              </a:rPr>
            </a:b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(thisBits == otherBits ?  0 : </a:t>
            </a:r>
            <a:r>
              <a:rPr lang="en-US" sz="1200">
                <a:solidFill>
                  <a:srgbClr val="E65D00"/>
                </a:solidFill>
                <a:latin typeface="Courier New"/>
                <a:ea typeface="Courier New"/>
                <a:cs typeface="Courier New"/>
                <a:sym typeface="Courier New"/>
              </a:rPr>
              <a:t>// Values are = l</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(thisBits &lt; otherBits ? -1 : </a:t>
            </a:r>
            <a:r>
              <a:rPr lang="en-US" sz="1200">
                <a:solidFill>
                  <a:srgbClr val="E65D00"/>
                </a:solidFill>
                <a:latin typeface="Courier New"/>
                <a:ea typeface="Courier New"/>
                <a:cs typeface="Courier New"/>
                <a:sym typeface="Courier New"/>
              </a:rPr>
              <a:t>// (-0.0, 0.0) or (!NaN, NaN)</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(0.0, -0.0) or (NaN, !NaN)</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5" name="Google Shape;405;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Times New Roman"/>
                <a:ea typeface="Times New Roman"/>
                <a:cs typeface="Times New Roman"/>
                <a:sym typeface="Times New Roman"/>
              </a:rPr>
              <a:t>public static long doubleToLongBits(double value)</a:t>
            </a:r>
            <a:endParaRPr/>
          </a:p>
          <a:p>
            <a:pPr marL="0" lvl="0" indent="0" algn="l" rtl="0">
              <a:spcBef>
                <a:spcPts val="360"/>
              </a:spcBef>
              <a:spcAft>
                <a:spcPts val="0"/>
              </a:spcAft>
              <a:buNone/>
            </a:pPr>
            <a:r>
              <a:rPr lang="en-US" sz="1200" b="0" i="0">
                <a:solidFill>
                  <a:schemeClr val="dk1"/>
                </a:solidFill>
                <a:latin typeface="Times New Roman"/>
                <a:ea typeface="Times New Roman"/>
                <a:cs typeface="Times New Roman"/>
                <a:sym typeface="Times New Roman"/>
              </a:rPr>
              <a:t>Returns a representation of the specified floating-point value according to the IEEE 754 floating-point "double format" bit layout.Bit 63 (the bit that is selected by the mask 0x8000000000000000L) represents the sign of the floating-point number. Bits 62-52 (the bits that are selected by the mask 0x7ff0000000000000L) represent the exponent. Bits 51-0 (the bits that are selected by the mask 0x000fffffffffffffL) represent the significand (sometimes called the mantissa) of the floating-point number.</a:t>
            </a:r>
            <a:endParaRPr/>
          </a:p>
          <a:p>
            <a:pPr marL="0" lvl="0" indent="0" algn="l" rtl="0">
              <a:spcBef>
                <a:spcPts val="360"/>
              </a:spcBef>
              <a:spcAft>
                <a:spcPts val="0"/>
              </a:spcAft>
              <a:buNone/>
            </a:pPr>
            <a:r>
              <a:rPr lang="en-US" sz="1200" b="0" i="0">
                <a:solidFill>
                  <a:schemeClr val="dk1"/>
                </a:solidFill>
                <a:latin typeface="Times New Roman"/>
                <a:ea typeface="Times New Roman"/>
                <a:cs typeface="Times New Roman"/>
                <a:sym typeface="Times New Roman"/>
              </a:rPr>
              <a:t>If the argument is positive infinity, the result is 0x7ff0000000000000L.</a:t>
            </a:r>
            <a:endParaRPr/>
          </a:p>
          <a:p>
            <a:pPr marL="0" lvl="0" indent="0" algn="l" rtl="0">
              <a:spcBef>
                <a:spcPts val="360"/>
              </a:spcBef>
              <a:spcAft>
                <a:spcPts val="0"/>
              </a:spcAft>
              <a:buNone/>
            </a:pPr>
            <a:r>
              <a:rPr lang="en-US" sz="1200" b="0" i="0">
                <a:solidFill>
                  <a:schemeClr val="dk1"/>
                </a:solidFill>
                <a:latin typeface="Times New Roman"/>
                <a:ea typeface="Times New Roman"/>
                <a:cs typeface="Times New Roman"/>
                <a:sym typeface="Times New Roman"/>
              </a:rPr>
              <a:t>If the argument is negative infinity, the result is 0xfff0000000000000L.</a:t>
            </a:r>
            <a:endParaRPr/>
          </a:p>
          <a:p>
            <a:pPr marL="0" lvl="0" indent="0" algn="l" rtl="0">
              <a:spcBef>
                <a:spcPts val="360"/>
              </a:spcBef>
              <a:spcAft>
                <a:spcPts val="0"/>
              </a:spcAft>
              <a:buNone/>
            </a:pPr>
            <a:r>
              <a:rPr lang="en-US" sz="1200" b="0" i="0">
                <a:solidFill>
                  <a:schemeClr val="dk1"/>
                </a:solidFill>
                <a:latin typeface="Times New Roman"/>
                <a:ea typeface="Times New Roman"/>
                <a:cs typeface="Times New Roman"/>
                <a:sym typeface="Times New Roman"/>
              </a:rPr>
              <a:t>If the argument is NaN, the result is 0x7ff8000000000000L.</a:t>
            </a:r>
            <a:endParaRPr/>
          </a:p>
          <a:p>
            <a:pPr marL="0" lvl="0" indent="0" algn="l" rtl="0">
              <a:spcBef>
                <a:spcPts val="360"/>
              </a:spcBef>
              <a:spcAft>
                <a:spcPts val="0"/>
              </a:spcAft>
              <a:buNone/>
            </a:pPr>
            <a:r>
              <a:rPr lang="en-US" sz="1200" b="0" i="0">
                <a:solidFill>
                  <a:schemeClr val="dk1"/>
                </a:solidFill>
                <a:latin typeface="Times New Roman"/>
                <a:ea typeface="Times New Roman"/>
                <a:cs typeface="Times New Roman"/>
                <a:sym typeface="Times New Roman"/>
              </a:rPr>
              <a:t>In all cases, the result is a long integer that, when given to the </a:t>
            </a:r>
            <a:r>
              <a:rPr lang="en-US" sz="1200" b="0" i="0" u="sng" strike="noStrike">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longBitsToDouble(long)</a:t>
            </a:r>
            <a:r>
              <a:rPr lang="en-US" sz="1200" b="0" i="0">
                <a:solidFill>
                  <a:schemeClr val="dk1"/>
                </a:solidFill>
                <a:latin typeface="Times New Roman"/>
                <a:ea typeface="Times New Roman"/>
                <a:cs typeface="Times New Roman"/>
                <a:sym typeface="Times New Roman"/>
              </a:rPr>
              <a:t> method, will produce a floating-point value the same as the argument to doubleToLongBits (except all NaN values are collapsed to a single "canonical" NaN value).</a:t>
            </a:r>
            <a:endParaRPr/>
          </a:p>
          <a:p>
            <a:pPr marL="0" lvl="0" indent="0" algn="l" rtl="0">
              <a:spcBef>
                <a:spcPts val="36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941EDF"/>
                </a:solidFill>
                <a:latin typeface="Courier New"/>
                <a:ea typeface="Courier New"/>
                <a:cs typeface="Courier New"/>
                <a:sym typeface="Courier New"/>
              </a:rPr>
              <a:t>public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static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int</a:t>
            </a:r>
            <a:r>
              <a:rPr lang="en-US" sz="1200">
                <a:solidFill>
                  <a:srgbClr val="000000"/>
                </a:solidFill>
                <a:latin typeface="Courier New"/>
                <a:ea typeface="Courier New"/>
                <a:cs typeface="Courier New"/>
                <a:sym typeface="Courier New"/>
              </a:rPr>
              <a:t> compare(</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d1, </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d2) {</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&lt;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smaller</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&gt;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larger</a:t>
            </a:r>
            <a:br>
              <a:rPr lang="en-US" sz="1200">
                <a:solidFill>
                  <a:srgbClr val="E65D00"/>
                </a:solidFill>
                <a:latin typeface="Courier New"/>
                <a:ea typeface="Courier New"/>
                <a:cs typeface="Courier New"/>
                <a:sym typeface="Courier New"/>
              </a:rPr>
            </a:b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thisBits = Double.doubleToLongBits(d1);</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otherBits = Double.doubleToLongBits(d2);</a:t>
            </a:r>
            <a:br>
              <a:rPr lang="en-US" sz="1200">
                <a:solidFill>
                  <a:srgbClr val="000000"/>
                </a:solidFill>
                <a:latin typeface="Courier New"/>
                <a:ea typeface="Courier New"/>
                <a:cs typeface="Courier New"/>
                <a:sym typeface="Courier New"/>
              </a:rPr>
            </a:b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(thisBits == otherBits ?  0 : </a:t>
            </a:r>
            <a:r>
              <a:rPr lang="en-US" sz="1200">
                <a:solidFill>
                  <a:srgbClr val="E65D00"/>
                </a:solidFill>
                <a:latin typeface="Courier New"/>
                <a:ea typeface="Courier New"/>
                <a:cs typeface="Courier New"/>
                <a:sym typeface="Courier New"/>
              </a:rPr>
              <a:t>// Values are = l</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(thisBits &lt; otherBits ? -1 : </a:t>
            </a:r>
            <a:r>
              <a:rPr lang="en-US" sz="1200">
                <a:solidFill>
                  <a:srgbClr val="E65D00"/>
                </a:solidFill>
                <a:latin typeface="Courier New"/>
                <a:ea typeface="Courier New"/>
                <a:cs typeface="Courier New"/>
                <a:sym typeface="Courier New"/>
              </a:rPr>
              <a:t>// (-0.0, 0.0) or (!NaN, NaN)</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(0.0, -0.0) or (NaN, !NaN)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6" name="Google Shape;426;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941EDF"/>
                </a:solidFill>
                <a:latin typeface="Courier New"/>
                <a:ea typeface="Courier New"/>
                <a:cs typeface="Courier New"/>
                <a:sym typeface="Courier New"/>
              </a:rPr>
              <a:t>public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static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int</a:t>
            </a:r>
            <a:r>
              <a:rPr lang="en-US" sz="1200">
                <a:solidFill>
                  <a:srgbClr val="000000"/>
                </a:solidFill>
                <a:latin typeface="Courier New"/>
                <a:ea typeface="Courier New"/>
                <a:cs typeface="Courier New"/>
                <a:sym typeface="Courier New"/>
              </a:rPr>
              <a:t> compare(</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d1, </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d2) {</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&lt;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smaller</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&gt;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larger</a:t>
            </a:r>
            <a:br>
              <a:rPr lang="en-US" sz="1200">
                <a:solidFill>
                  <a:srgbClr val="E65D00"/>
                </a:solidFill>
                <a:latin typeface="Courier New"/>
                <a:ea typeface="Courier New"/>
                <a:cs typeface="Courier New"/>
                <a:sym typeface="Courier New"/>
              </a:rPr>
            </a:b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thisBits = Double.doubleToLongBits(d1);</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otherBits = Double.doubleToLongBits(d2);</a:t>
            </a:r>
            <a:br>
              <a:rPr lang="en-US" sz="1200">
                <a:solidFill>
                  <a:srgbClr val="000000"/>
                </a:solidFill>
                <a:latin typeface="Courier New"/>
                <a:ea typeface="Courier New"/>
                <a:cs typeface="Courier New"/>
                <a:sym typeface="Courier New"/>
              </a:rPr>
            </a:b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(thisBits == otherBits ?  0 : </a:t>
            </a:r>
            <a:r>
              <a:rPr lang="en-US" sz="1200">
                <a:solidFill>
                  <a:srgbClr val="E65D00"/>
                </a:solidFill>
                <a:latin typeface="Courier New"/>
                <a:ea typeface="Courier New"/>
                <a:cs typeface="Courier New"/>
                <a:sym typeface="Courier New"/>
              </a:rPr>
              <a:t>// Values are = l</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(thisBits &lt; otherBits ? -1 : </a:t>
            </a:r>
            <a:r>
              <a:rPr lang="en-US" sz="1200">
                <a:solidFill>
                  <a:srgbClr val="E65D00"/>
                </a:solidFill>
                <a:latin typeface="Courier New"/>
                <a:ea typeface="Courier New"/>
                <a:cs typeface="Courier New"/>
                <a:sym typeface="Courier New"/>
              </a:rPr>
              <a:t>// (-0.0, 0.0) or (!NaN, NaN)</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(0.0, -0.0) or (NaN, !NaN)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2" name="Google Shape;432;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941EDF"/>
                </a:solidFill>
                <a:latin typeface="Courier New"/>
                <a:ea typeface="Courier New"/>
                <a:cs typeface="Courier New"/>
                <a:sym typeface="Courier New"/>
              </a:rPr>
              <a:t>public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static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int</a:t>
            </a:r>
            <a:r>
              <a:rPr lang="en-US" sz="1200">
                <a:solidFill>
                  <a:srgbClr val="000000"/>
                </a:solidFill>
                <a:latin typeface="Courier New"/>
                <a:ea typeface="Courier New"/>
                <a:cs typeface="Courier New"/>
                <a:sym typeface="Courier New"/>
              </a:rPr>
              <a:t> compare(</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d1, </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d2) {</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&lt;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smaller</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&gt;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larger</a:t>
            </a:r>
            <a:br>
              <a:rPr lang="en-US" sz="1200">
                <a:solidFill>
                  <a:srgbClr val="E65D00"/>
                </a:solidFill>
                <a:latin typeface="Courier New"/>
                <a:ea typeface="Courier New"/>
                <a:cs typeface="Courier New"/>
                <a:sym typeface="Courier New"/>
              </a:rPr>
            </a:b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thisBits = Double.doubleToLongBits(d1);</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otherBits = Double.doubleToLongBits(d2);</a:t>
            </a:r>
            <a:br>
              <a:rPr lang="en-US" sz="1200">
                <a:solidFill>
                  <a:srgbClr val="000000"/>
                </a:solidFill>
                <a:latin typeface="Courier New"/>
                <a:ea typeface="Courier New"/>
                <a:cs typeface="Courier New"/>
                <a:sym typeface="Courier New"/>
              </a:rPr>
            </a:b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(thisBits == otherBits ?  0 : </a:t>
            </a:r>
            <a:r>
              <a:rPr lang="en-US" sz="1200">
                <a:solidFill>
                  <a:srgbClr val="E65D00"/>
                </a:solidFill>
                <a:latin typeface="Courier New"/>
                <a:ea typeface="Courier New"/>
                <a:cs typeface="Courier New"/>
                <a:sym typeface="Courier New"/>
              </a:rPr>
              <a:t>// Values are = l</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(thisBits &lt; otherBits ? -1 : </a:t>
            </a:r>
            <a:r>
              <a:rPr lang="en-US" sz="1200">
                <a:solidFill>
                  <a:srgbClr val="E65D00"/>
                </a:solidFill>
                <a:latin typeface="Courier New"/>
                <a:ea typeface="Courier New"/>
                <a:cs typeface="Courier New"/>
                <a:sym typeface="Courier New"/>
              </a:rPr>
              <a:t>// (-0.0, 0.0) or (!NaN, NaN)</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(0.0, -0.0) or (NaN, !NaN)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8" name="Google Shape;438;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941EDF"/>
                </a:solidFill>
                <a:latin typeface="Courier New"/>
                <a:ea typeface="Courier New"/>
                <a:cs typeface="Courier New"/>
                <a:sym typeface="Courier New"/>
              </a:rPr>
              <a:t>public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static</a:t>
            </a: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int</a:t>
            </a:r>
            <a:r>
              <a:rPr lang="en-US" sz="1200">
                <a:solidFill>
                  <a:srgbClr val="000000"/>
                </a:solidFill>
                <a:latin typeface="Courier New"/>
                <a:ea typeface="Courier New"/>
                <a:cs typeface="Courier New"/>
                <a:sym typeface="Courier New"/>
              </a:rPr>
              <a:t> compare(</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d1, </a:t>
            </a:r>
            <a:r>
              <a:rPr lang="en-US" sz="1200">
                <a:solidFill>
                  <a:srgbClr val="941EDF"/>
                </a:solidFill>
                <a:latin typeface="Courier New"/>
                <a:ea typeface="Courier New"/>
                <a:cs typeface="Courier New"/>
                <a:sym typeface="Courier New"/>
              </a:rPr>
              <a:t>double</a:t>
            </a:r>
            <a:r>
              <a:rPr lang="en-US" sz="1200">
                <a:solidFill>
                  <a:srgbClr val="000000"/>
                </a:solidFill>
                <a:latin typeface="Courier New"/>
                <a:ea typeface="Courier New"/>
                <a:cs typeface="Courier New"/>
                <a:sym typeface="Courier New"/>
              </a:rPr>
              <a:t> d2) {</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&lt;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smaller</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if</a:t>
            </a:r>
            <a:r>
              <a:rPr lang="en-US" sz="1200">
                <a:solidFill>
                  <a:srgbClr val="000000"/>
                </a:solidFill>
                <a:latin typeface="Courier New"/>
                <a:ea typeface="Courier New"/>
                <a:cs typeface="Courier New"/>
                <a:sym typeface="Courier New"/>
              </a:rPr>
              <a:t> (d1 &gt; d2)</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Neither val is NaN, thisVal is larger</a:t>
            </a:r>
            <a:br>
              <a:rPr lang="en-US" sz="1200">
                <a:solidFill>
                  <a:srgbClr val="E65D00"/>
                </a:solidFill>
                <a:latin typeface="Courier New"/>
                <a:ea typeface="Courier New"/>
                <a:cs typeface="Courier New"/>
                <a:sym typeface="Courier New"/>
              </a:rPr>
            </a:b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thisBits = Double.doubleToLongBits(d1);</a:t>
            </a: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long</a:t>
            </a:r>
            <a:r>
              <a:rPr lang="en-US" sz="1200">
                <a:solidFill>
                  <a:srgbClr val="000000"/>
                </a:solidFill>
                <a:latin typeface="Courier New"/>
                <a:ea typeface="Courier New"/>
                <a:cs typeface="Courier New"/>
                <a:sym typeface="Courier New"/>
              </a:rPr>
              <a:t> otherBits = Double.doubleToLongBits(d2);</a:t>
            </a:r>
            <a:br>
              <a:rPr lang="en-US" sz="1200">
                <a:solidFill>
                  <a:srgbClr val="000000"/>
                </a:solidFill>
                <a:latin typeface="Courier New"/>
                <a:ea typeface="Courier New"/>
                <a:cs typeface="Courier New"/>
                <a:sym typeface="Courier New"/>
              </a:rPr>
            </a:br>
            <a:br>
              <a:rPr lang="en-US" sz="1200">
                <a:solidFill>
                  <a:srgbClr val="0000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a:t>
            </a:r>
            <a:r>
              <a:rPr lang="en-US" sz="1200">
                <a:solidFill>
                  <a:srgbClr val="941EDF"/>
                </a:solidFill>
                <a:latin typeface="Courier New"/>
                <a:ea typeface="Courier New"/>
                <a:cs typeface="Courier New"/>
                <a:sym typeface="Courier New"/>
              </a:rPr>
              <a:t>return</a:t>
            </a:r>
            <a:r>
              <a:rPr lang="en-US" sz="1200">
                <a:solidFill>
                  <a:srgbClr val="000000"/>
                </a:solidFill>
                <a:latin typeface="Courier New"/>
                <a:ea typeface="Courier New"/>
                <a:cs typeface="Courier New"/>
                <a:sym typeface="Courier New"/>
              </a:rPr>
              <a:t> (thisBits == otherBits ?  0 : </a:t>
            </a:r>
            <a:r>
              <a:rPr lang="en-US" sz="1200">
                <a:solidFill>
                  <a:srgbClr val="E65D00"/>
                </a:solidFill>
                <a:latin typeface="Courier New"/>
                <a:ea typeface="Courier New"/>
                <a:cs typeface="Courier New"/>
                <a:sym typeface="Courier New"/>
              </a:rPr>
              <a:t>// Values are = l</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(thisBits &lt; otherBits ? -1 : </a:t>
            </a:r>
            <a:r>
              <a:rPr lang="en-US" sz="1200">
                <a:solidFill>
                  <a:srgbClr val="E65D00"/>
                </a:solidFill>
                <a:latin typeface="Courier New"/>
                <a:ea typeface="Courier New"/>
                <a:cs typeface="Courier New"/>
                <a:sym typeface="Courier New"/>
              </a:rPr>
              <a:t>// (-0.0, 0.0) or (!NaN, NaN)</a:t>
            </a:r>
            <a:br>
              <a:rPr lang="en-US" sz="1200">
                <a:solidFill>
                  <a:srgbClr val="E65D00"/>
                </a:solidFill>
                <a:latin typeface="Courier New"/>
                <a:ea typeface="Courier New"/>
                <a:cs typeface="Courier New"/>
                <a:sym typeface="Courier New"/>
              </a:rPr>
            </a:br>
            <a:r>
              <a:rPr lang="en-US" sz="1200">
                <a:solidFill>
                  <a:srgbClr val="000000"/>
                </a:solidFill>
                <a:latin typeface="Courier New"/>
                <a:ea typeface="Courier New"/>
                <a:cs typeface="Courier New"/>
                <a:sym typeface="Courier New"/>
              </a:rPr>
              <a:t>                 1));                          </a:t>
            </a:r>
            <a:r>
              <a:rPr lang="en-US" sz="1200">
                <a:solidFill>
                  <a:srgbClr val="E65D00"/>
                </a:solidFill>
                <a:latin typeface="Courier New"/>
                <a:ea typeface="Courier New"/>
                <a:cs typeface="Courier New"/>
                <a:sym typeface="Courier New"/>
              </a:rPr>
              <a:t>// (0.0, -0.0) or (NaN, !NaN)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4" name="Google Shape;444;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x and y are </a:t>
            </a:r>
            <a:r>
              <a:rPr lang="en-US" sz="1600">
                <a:latin typeface="Courier New"/>
                <a:ea typeface="Courier New"/>
                <a:cs typeface="Courier New"/>
                <a:sym typeface="Courier New"/>
              </a:rPr>
              <a:t>Comparable</a:t>
            </a:r>
            <a:r>
              <a:rPr lang="en-US" sz="1600"/>
              <a:t> references that can refer to any class that implements the </a:t>
            </a:r>
            <a:r>
              <a:rPr lang="en-US" sz="1600">
                <a:latin typeface="Courier New"/>
                <a:ea typeface="Courier New"/>
                <a:cs typeface="Courier New"/>
                <a:sym typeface="Courier New"/>
              </a:rPr>
              <a:t>Comparable</a:t>
            </a:r>
            <a:r>
              <a:rPr lang="en-US" sz="1600"/>
              <a:t>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54 and 67 are integers.   Java instantiates </a:t>
            </a:r>
            <a:r>
              <a:rPr lang="en-US" sz="1600">
                <a:latin typeface="Courier New"/>
                <a:ea typeface="Courier New"/>
                <a:cs typeface="Courier New"/>
                <a:sym typeface="Courier New"/>
              </a:rPr>
              <a:t>Integer</a:t>
            </a:r>
            <a:r>
              <a:rPr lang="en-US" sz="1600"/>
              <a:t> objects using 54 and 67.  </a:t>
            </a:r>
            <a:endParaRPr/>
          </a:p>
          <a:p>
            <a:pPr marL="0" lvl="0" indent="0" algn="l" rtl="0">
              <a:spcBef>
                <a:spcPts val="480"/>
              </a:spcBef>
              <a:spcAft>
                <a:spcPts val="0"/>
              </a:spcAft>
              <a:buNone/>
            </a:pPr>
            <a:r>
              <a:rPr lang="en-US" sz="1600">
                <a:latin typeface="Courier New"/>
                <a:ea typeface="Courier New"/>
                <a:cs typeface="Courier New"/>
                <a:sym typeface="Courier New"/>
              </a:rPr>
              <a:t>x = 54</a:t>
            </a:r>
            <a:r>
              <a:rPr lang="en-US" sz="1600"/>
              <a:t> is essentially the same as </a:t>
            </a:r>
            <a:r>
              <a:rPr lang="en-US" sz="1600">
                <a:latin typeface="Courier New"/>
                <a:ea typeface="Courier New"/>
                <a:cs typeface="Courier New"/>
                <a:sym typeface="Courier New"/>
              </a:rPr>
              <a:t>x = new Integer(54)</a:t>
            </a:r>
            <a:r>
              <a:rPr lang="en-US" sz="1600"/>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1" name="Google Shape;451;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Comparable is an interface.  Interfaces can </a:t>
            </a:r>
            <a:r>
              <a:rPr lang="en-US" sz="1600" b="1" i="1" u="sng"/>
              <a:t>not </a:t>
            </a:r>
            <a:r>
              <a:rPr lang="en-US" sz="1600"/>
              <a:t>have instance variables, constructors, or implemented methods.  </a:t>
            </a:r>
            <a:endParaRPr/>
          </a:p>
          <a:p>
            <a:pPr marL="0" lvl="0" indent="0" algn="l" rtl="0">
              <a:spcBef>
                <a:spcPts val="480"/>
              </a:spcBef>
              <a:spcAft>
                <a:spcPts val="0"/>
              </a:spcAft>
              <a:buNone/>
            </a:pPr>
            <a:r>
              <a:rPr lang="en-US" sz="1600"/>
              <a:t>Interfaces cannot be instantiated because they have no instance variables and they have no constructors.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9" name="Google Shape;459;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Comparable is an interface used by most classes that would need to be compared.  Comparable has only one abstract method, </a:t>
            </a:r>
            <a:r>
              <a:rPr lang="en-US" sz="1600">
                <a:latin typeface="Courier New"/>
                <a:ea typeface="Courier New"/>
                <a:cs typeface="Courier New"/>
                <a:sym typeface="Courier New"/>
              </a:rPr>
              <a:t>compareTo()</a:t>
            </a:r>
            <a:r>
              <a:rPr lang="en-US" sz="1600"/>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All methods listed in an interface are abstract.  Abstract methods have no code.  Abstract methods are simply the method signature with a semi-colon at the end.</a:t>
            </a:r>
            <a:endParaRPr/>
          </a:p>
          <a:p>
            <a:pPr marL="0" lvl="0" indent="0" algn="l" rtl="0">
              <a:spcBef>
                <a:spcPts val="480"/>
              </a:spcBef>
              <a:spcAft>
                <a:spcPts val="0"/>
              </a:spcAft>
              <a:buNone/>
            </a:pPr>
            <a:r>
              <a:rPr lang="en-US" sz="1600"/>
              <a:t>Classes implementing an interface must implement all of the abstract methods listed in the interface.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Class Creature implements </a:t>
            </a:r>
            <a:r>
              <a:rPr lang="en-US" sz="1600">
                <a:latin typeface="Courier New"/>
                <a:ea typeface="Courier New"/>
                <a:cs typeface="Courier New"/>
                <a:sym typeface="Courier New"/>
              </a:rPr>
              <a:t>Comparable</a:t>
            </a:r>
            <a:r>
              <a:rPr lang="en-US" sz="1600"/>
              <a:t>.  Class Creature must have a </a:t>
            </a:r>
            <a:r>
              <a:rPr lang="en-US" sz="1600">
                <a:latin typeface="Courier New"/>
                <a:ea typeface="Courier New"/>
                <a:cs typeface="Courier New"/>
                <a:sym typeface="Courier New"/>
              </a:rPr>
              <a:t>compareTo()</a:t>
            </a:r>
            <a:r>
              <a:rPr lang="en-US" sz="1600"/>
              <a:t> method.</a:t>
            </a:r>
            <a:endParaRPr/>
          </a:p>
          <a:p>
            <a:pPr marL="0" lvl="0" indent="0" algn="l" rtl="0">
              <a:spcBef>
                <a:spcPts val="480"/>
              </a:spcBef>
              <a:spcAft>
                <a:spcPts val="0"/>
              </a:spcAft>
              <a:buNone/>
            </a:pPr>
            <a:r>
              <a:rPr lang="en-US" sz="1600"/>
              <a:t>The </a:t>
            </a:r>
            <a:r>
              <a:rPr lang="en-US" sz="1600">
                <a:latin typeface="Courier New"/>
                <a:ea typeface="Courier New"/>
                <a:cs typeface="Courier New"/>
                <a:sym typeface="Courier New"/>
              </a:rPr>
              <a:t>compareTo()</a:t>
            </a:r>
            <a:r>
              <a:rPr lang="en-US" sz="1600"/>
              <a:t> method must compare the properties of this Creature to the other Creature.</a:t>
            </a:r>
            <a:endParaRPr/>
          </a:p>
          <a:p>
            <a:pPr marL="0" lvl="0" indent="0" algn="l" rtl="0">
              <a:spcBef>
                <a:spcPts val="480"/>
              </a:spcBef>
              <a:spcAft>
                <a:spcPts val="0"/>
              </a:spcAft>
              <a:buNone/>
            </a:pPr>
            <a:r>
              <a:rPr lang="en-US" sz="1600"/>
              <a:t>Creature only contains a size property.</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2" name="Google Shape;492;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Class Creature implements </a:t>
            </a:r>
            <a:r>
              <a:rPr lang="en-US" sz="1600">
                <a:latin typeface="Courier New"/>
                <a:ea typeface="Courier New"/>
                <a:cs typeface="Courier New"/>
                <a:sym typeface="Courier New"/>
              </a:rPr>
              <a:t>Comparable</a:t>
            </a:r>
            <a:r>
              <a:rPr lang="en-US" sz="1600"/>
              <a:t>.  Class Creature must have a </a:t>
            </a:r>
            <a:r>
              <a:rPr lang="en-US" sz="1600">
                <a:latin typeface="Courier New"/>
                <a:ea typeface="Courier New"/>
                <a:cs typeface="Courier New"/>
                <a:sym typeface="Courier New"/>
              </a:rPr>
              <a:t>compareTo()</a:t>
            </a:r>
            <a:r>
              <a:rPr lang="en-US" sz="1600"/>
              <a:t> method.</a:t>
            </a:r>
            <a:endParaRPr/>
          </a:p>
          <a:p>
            <a:pPr marL="0" lvl="0" indent="0" algn="l" rtl="0">
              <a:spcBef>
                <a:spcPts val="480"/>
              </a:spcBef>
              <a:spcAft>
                <a:spcPts val="0"/>
              </a:spcAft>
              <a:buNone/>
            </a:pPr>
            <a:r>
              <a:rPr lang="en-US" sz="1600"/>
              <a:t>The </a:t>
            </a:r>
            <a:r>
              <a:rPr lang="en-US" sz="1600">
                <a:latin typeface="Courier New"/>
                <a:ea typeface="Courier New"/>
                <a:cs typeface="Courier New"/>
                <a:sym typeface="Courier New"/>
              </a:rPr>
              <a:t>compareTo()</a:t>
            </a:r>
            <a:r>
              <a:rPr lang="en-US" sz="1600"/>
              <a:t> method must compare the properties of this Creature to the other Creature.</a:t>
            </a:r>
            <a:endParaRPr/>
          </a:p>
          <a:p>
            <a:pPr marL="0" lvl="0" indent="0" algn="l" rtl="0">
              <a:spcBef>
                <a:spcPts val="480"/>
              </a:spcBef>
              <a:spcAft>
                <a:spcPts val="0"/>
              </a:spcAft>
              <a:buNone/>
            </a:pPr>
            <a:r>
              <a:rPr lang="en-US" sz="1600"/>
              <a:t>Creature only contains a size property.</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 name="Google Shape;502;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Class Creature implements </a:t>
            </a:r>
            <a:r>
              <a:rPr lang="en-US" sz="1600">
                <a:latin typeface="Courier New"/>
                <a:ea typeface="Courier New"/>
                <a:cs typeface="Courier New"/>
                <a:sym typeface="Courier New"/>
              </a:rPr>
              <a:t>Comparable</a:t>
            </a:r>
            <a:r>
              <a:rPr lang="en-US" sz="1600"/>
              <a:t>.  Class Creature must have a </a:t>
            </a:r>
            <a:r>
              <a:rPr lang="en-US" sz="1600">
                <a:latin typeface="Courier New"/>
                <a:ea typeface="Courier New"/>
                <a:cs typeface="Courier New"/>
                <a:sym typeface="Courier New"/>
              </a:rPr>
              <a:t>compareTo()</a:t>
            </a:r>
            <a:r>
              <a:rPr lang="en-US" sz="1600"/>
              <a:t> method.</a:t>
            </a:r>
            <a:endParaRPr/>
          </a:p>
          <a:p>
            <a:pPr marL="0" lvl="0" indent="0" algn="l" rtl="0">
              <a:spcBef>
                <a:spcPts val="480"/>
              </a:spcBef>
              <a:spcAft>
                <a:spcPts val="0"/>
              </a:spcAft>
              <a:buNone/>
            </a:pPr>
            <a:r>
              <a:rPr lang="en-US" sz="1600"/>
              <a:t>The </a:t>
            </a:r>
            <a:r>
              <a:rPr lang="en-US" sz="1600">
                <a:latin typeface="Courier New"/>
                <a:ea typeface="Courier New"/>
                <a:cs typeface="Courier New"/>
                <a:sym typeface="Courier New"/>
              </a:rPr>
              <a:t>compareTo()</a:t>
            </a:r>
            <a:r>
              <a:rPr lang="en-US" sz="1600"/>
              <a:t> method must compare the properties of this Creature to the other Creature.</a:t>
            </a:r>
            <a:endParaRPr/>
          </a:p>
          <a:p>
            <a:pPr marL="0" lvl="0" indent="0" algn="l" rtl="0">
              <a:spcBef>
                <a:spcPts val="480"/>
              </a:spcBef>
              <a:spcAft>
                <a:spcPts val="0"/>
              </a:spcAft>
              <a:buNone/>
            </a:pPr>
            <a:r>
              <a:rPr lang="en-US" sz="1600"/>
              <a:t>Creature only contains a size property.</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2" name="Google Shape;512;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8" name="Google Shape;518;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5" name="Google Shape;525;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List is an array of </a:t>
            </a:r>
            <a:r>
              <a:rPr lang="en-US" sz="1600">
                <a:latin typeface="Courier New"/>
                <a:ea typeface="Courier New"/>
                <a:cs typeface="Courier New"/>
                <a:sym typeface="Courier New"/>
              </a:rPr>
              <a:t>Comparable</a:t>
            </a:r>
            <a:r>
              <a:rPr lang="en-US" sz="1600"/>
              <a:t> references.  Each spot in list stores the address of a </a:t>
            </a:r>
            <a:r>
              <a:rPr lang="en-US" sz="1600">
                <a:latin typeface="Courier New"/>
                <a:ea typeface="Courier New"/>
                <a:cs typeface="Courier New"/>
                <a:sym typeface="Courier New"/>
              </a:rPr>
              <a:t>Comparable</a:t>
            </a:r>
            <a:r>
              <a:rPr lang="en-US" sz="1600"/>
              <a:t> object.  </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latin typeface="Courier New"/>
                <a:ea typeface="Courier New"/>
                <a:cs typeface="Courier New"/>
                <a:sym typeface="Courier New"/>
              </a:rPr>
              <a:t>Arrays.sort()</a:t>
            </a:r>
            <a:r>
              <a:rPr lang="en-US" sz="1600"/>
              <a:t> will use the </a:t>
            </a:r>
            <a:r>
              <a:rPr lang="en-US" sz="1600">
                <a:latin typeface="Courier New"/>
                <a:ea typeface="Courier New"/>
                <a:cs typeface="Courier New"/>
                <a:sym typeface="Courier New"/>
              </a:rPr>
              <a:t>compareTo()</a:t>
            </a:r>
            <a:r>
              <a:rPr lang="en-US" sz="1600"/>
              <a:t> method to compare all </a:t>
            </a:r>
            <a:r>
              <a:rPr lang="en-US" sz="1600">
                <a:latin typeface="Courier New"/>
                <a:ea typeface="Courier New"/>
                <a:cs typeface="Courier New"/>
                <a:sym typeface="Courier New"/>
              </a:rPr>
              <a:t>Comparable</a:t>
            </a:r>
            <a:r>
              <a:rPr lang="en-US" sz="1600"/>
              <a:t> references.  This is a great example of polymorphic behavior.  The </a:t>
            </a:r>
            <a:r>
              <a:rPr lang="en-US" sz="1600">
                <a:latin typeface="Courier New"/>
                <a:ea typeface="Courier New"/>
                <a:cs typeface="Courier New"/>
                <a:sym typeface="Courier New"/>
              </a:rPr>
              <a:t>compareTo()</a:t>
            </a:r>
            <a:r>
              <a:rPr lang="en-US" sz="1600"/>
              <a:t> method calls are made dynamically at run-time by </a:t>
            </a:r>
            <a:r>
              <a:rPr lang="en-US" sz="1600">
                <a:latin typeface="Courier New"/>
                <a:ea typeface="Courier New"/>
                <a:cs typeface="Courier New"/>
                <a:sym typeface="Courier New"/>
              </a:rPr>
              <a:t>Arrays.sort()</a:t>
            </a:r>
            <a:r>
              <a:rPr lang="en-US" sz="1600"/>
              <a: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2" name="Google Shape;532;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Courier New"/>
                <a:ea typeface="Courier New"/>
                <a:cs typeface="Courier New"/>
                <a:sym typeface="Courier New"/>
              </a:rPr>
              <a:t>Arrays.sort()</a:t>
            </a:r>
            <a:r>
              <a:rPr lang="en-US" sz="1600"/>
              <a:t> will use the </a:t>
            </a:r>
            <a:r>
              <a:rPr lang="en-US" sz="1600">
                <a:latin typeface="Courier New"/>
                <a:ea typeface="Courier New"/>
                <a:cs typeface="Courier New"/>
                <a:sym typeface="Courier New"/>
              </a:rPr>
              <a:t>compareTo()</a:t>
            </a:r>
            <a:r>
              <a:rPr lang="en-US" sz="1600"/>
              <a:t> method to compare all </a:t>
            </a:r>
            <a:r>
              <a:rPr lang="en-US" sz="1600">
                <a:latin typeface="Courier New"/>
                <a:ea typeface="Courier New"/>
                <a:cs typeface="Courier New"/>
                <a:sym typeface="Courier New"/>
              </a:rPr>
              <a:t>Comparable</a:t>
            </a:r>
            <a:r>
              <a:rPr lang="en-US" sz="1600"/>
              <a:t> references.  This is a great example of polymorphic behavior.  The </a:t>
            </a:r>
            <a:r>
              <a:rPr lang="en-US" sz="1600">
                <a:latin typeface="Courier New"/>
                <a:ea typeface="Courier New"/>
                <a:cs typeface="Courier New"/>
                <a:sym typeface="Courier New"/>
              </a:rPr>
              <a:t>compareTo()</a:t>
            </a:r>
            <a:r>
              <a:rPr lang="en-US" sz="1600"/>
              <a:t> method calls are made dynamically at run-time by </a:t>
            </a:r>
            <a:r>
              <a:rPr lang="en-US" sz="1600">
                <a:latin typeface="Courier New"/>
                <a:ea typeface="Courier New"/>
                <a:cs typeface="Courier New"/>
                <a:sym typeface="Courier New"/>
              </a:rPr>
              <a:t>Arrays.sort()</a:t>
            </a:r>
            <a:r>
              <a:rPr lang="en-US" sz="1600"/>
              <a:t>.</a:t>
            </a:r>
            <a:endParaRPr/>
          </a:p>
          <a:p>
            <a:pPr marL="0" lvl="0" indent="0" algn="l" rtl="0">
              <a:spcBef>
                <a:spcPts val="36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9" name="Google Shape;539;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Courier New"/>
                <a:ea typeface="Courier New"/>
                <a:cs typeface="Courier New"/>
                <a:sym typeface="Courier New"/>
              </a:rPr>
              <a:t>Arrays.sort()</a:t>
            </a:r>
            <a:r>
              <a:rPr lang="en-US" sz="1600"/>
              <a:t> will use the </a:t>
            </a:r>
            <a:r>
              <a:rPr lang="en-US" sz="1600">
                <a:latin typeface="Courier New"/>
                <a:ea typeface="Courier New"/>
                <a:cs typeface="Courier New"/>
                <a:sym typeface="Courier New"/>
              </a:rPr>
              <a:t>compareTo()</a:t>
            </a:r>
            <a:r>
              <a:rPr lang="en-US" sz="1600"/>
              <a:t> method to compare all </a:t>
            </a:r>
            <a:r>
              <a:rPr lang="en-US" sz="1600">
                <a:latin typeface="Courier New"/>
                <a:ea typeface="Courier New"/>
                <a:cs typeface="Courier New"/>
                <a:sym typeface="Courier New"/>
              </a:rPr>
              <a:t>Comparable</a:t>
            </a:r>
            <a:r>
              <a:rPr lang="en-US" sz="1600"/>
              <a:t> references.  This is a great example of polymorphic behavior.  The </a:t>
            </a:r>
            <a:r>
              <a:rPr lang="en-US" sz="1600">
                <a:latin typeface="Courier New"/>
                <a:ea typeface="Courier New"/>
                <a:cs typeface="Courier New"/>
                <a:sym typeface="Courier New"/>
              </a:rPr>
              <a:t>compareTo()</a:t>
            </a:r>
            <a:r>
              <a:rPr lang="en-US" sz="1600"/>
              <a:t> method calls are made dynamically at run-time by </a:t>
            </a:r>
            <a:r>
              <a:rPr lang="en-US" sz="1600">
                <a:latin typeface="Courier New"/>
                <a:ea typeface="Courier New"/>
                <a:cs typeface="Courier New"/>
                <a:sym typeface="Courier New"/>
              </a:rPr>
              <a:t>Arrays.sort()</a:t>
            </a:r>
            <a:r>
              <a:rPr lang="en-US" sz="1600"/>
              <a:t>.</a:t>
            </a:r>
            <a:endParaRPr/>
          </a:p>
          <a:p>
            <a:pPr marL="0" lvl="0" indent="0" algn="l" rtl="0">
              <a:spcBef>
                <a:spcPts val="36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5" name="Google Shape;545;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Thanks to autoboxing and autounboxing, list can be initialized with a list of primitive integers.   </a:t>
            </a:r>
            <a:endParaRPr/>
          </a:p>
          <a:p>
            <a:pPr marL="0" lvl="0" indent="0" algn="l" rtl="0">
              <a:spcBef>
                <a:spcPts val="480"/>
              </a:spcBef>
              <a:spcAft>
                <a:spcPts val="0"/>
              </a:spcAft>
              <a:buNone/>
            </a:pPr>
            <a:r>
              <a:rPr lang="en-US" sz="1600"/>
              <a:t>Java instantiates an </a:t>
            </a:r>
            <a:r>
              <a:rPr lang="en-US" sz="1600">
                <a:latin typeface="Courier New"/>
                <a:ea typeface="Courier New"/>
                <a:cs typeface="Courier New"/>
                <a:sym typeface="Courier New"/>
              </a:rPr>
              <a:t>Integer </a:t>
            </a:r>
            <a:r>
              <a:rPr lang="en-US" sz="1600"/>
              <a:t>object and passes in each primitive to the </a:t>
            </a:r>
            <a:r>
              <a:rPr lang="en-US" sz="1600">
                <a:latin typeface="Courier New"/>
                <a:ea typeface="Courier New"/>
                <a:cs typeface="Courier New"/>
                <a:sym typeface="Courier New"/>
              </a:rPr>
              <a:t>new Integer( )</a:t>
            </a:r>
            <a:r>
              <a:rPr lang="en-US" sz="1600"/>
              <a:t> constructor call.</a:t>
            </a:r>
            <a:endParaRPr/>
          </a:p>
          <a:p>
            <a:pPr marL="0" lvl="0" indent="0" algn="l" rtl="0">
              <a:spcBef>
                <a:spcPts val="480"/>
              </a:spcBef>
              <a:spcAft>
                <a:spcPts val="0"/>
              </a:spcAft>
              <a:buNone/>
            </a:pPr>
            <a:endParaRPr sz="16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6" name="Google Shape;556;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Courier New"/>
                <a:ea typeface="Courier New"/>
                <a:cs typeface="Courier New"/>
                <a:sym typeface="Courier New"/>
              </a:rPr>
              <a:t>Arrays.sort()</a:t>
            </a:r>
            <a:r>
              <a:rPr lang="en-US" sz="1600"/>
              <a:t> will use the </a:t>
            </a:r>
            <a:r>
              <a:rPr lang="en-US" sz="1600">
                <a:latin typeface="Courier New"/>
                <a:ea typeface="Courier New"/>
                <a:cs typeface="Courier New"/>
                <a:sym typeface="Courier New"/>
              </a:rPr>
              <a:t>compareTo()</a:t>
            </a:r>
            <a:r>
              <a:rPr lang="en-US" sz="1600"/>
              <a:t> method to compare all </a:t>
            </a:r>
            <a:r>
              <a:rPr lang="en-US" sz="1600">
                <a:latin typeface="Courier New"/>
                <a:ea typeface="Courier New"/>
                <a:cs typeface="Courier New"/>
                <a:sym typeface="Courier New"/>
              </a:rPr>
              <a:t>Comparable</a:t>
            </a:r>
            <a:r>
              <a:rPr lang="en-US" sz="1600"/>
              <a:t> references.  This is a great example of polymorphic behavior.  The </a:t>
            </a:r>
            <a:r>
              <a:rPr lang="en-US" sz="1600">
                <a:latin typeface="Courier New"/>
                <a:ea typeface="Courier New"/>
                <a:cs typeface="Courier New"/>
                <a:sym typeface="Courier New"/>
              </a:rPr>
              <a:t>compareTo()</a:t>
            </a:r>
            <a:r>
              <a:rPr lang="en-US" sz="1600"/>
              <a:t> method calls are made dynamically at run-time by </a:t>
            </a:r>
            <a:r>
              <a:rPr lang="en-US" sz="1600">
                <a:latin typeface="Courier New"/>
                <a:ea typeface="Courier New"/>
                <a:cs typeface="Courier New"/>
                <a:sym typeface="Courier New"/>
              </a:rPr>
              <a:t>Arrays.sort()</a:t>
            </a:r>
            <a:r>
              <a:rPr lang="en-US" sz="1600"/>
              <a:t>.</a:t>
            </a:r>
            <a:endParaRPr/>
          </a:p>
          <a:p>
            <a:pPr marL="0" lvl="0" indent="0" algn="l" rtl="0">
              <a:spcBef>
                <a:spcPts val="36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3" name="Google Shape;563;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The selection sort sorts </a:t>
            </a:r>
            <a:r>
              <a:rPr lang="en-US" sz="1600">
                <a:latin typeface="Courier New"/>
                <a:ea typeface="Courier New"/>
                <a:cs typeface="Courier New"/>
                <a:sym typeface="Courier New"/>
              </a:rPr>
              <a:t>Comparable</a:t>
            </a:r>
            <a:r>
              <a:rPr lang="en-US" sz="1600"/>
              <a:t> arrays.   Because stuff is an array of </a:t>
            </a:r>
            <a:r>
              <a:rPr lang="en-US" sz="1600">
                <a:latin typeface="Courier New"/>
                <a:ea typeface="Courier New"/>
                <a:cs typeface="Courier New"/>
                <a:sym typeface="Courier New"/>
              </a:rPr>
              <a:t>Comparable</a:t>
            </a:r>
            <a:r>
              <a:rPr lang="en-US" sz="1600"/>
              <a:t>, I can write very generic code based on the </a:t>
            </a:r>
            <a:r>
              <a:rPr lang="en-US" sz="1600">
                <a:latin typeface="Courier New"/>
                <a:ea typeface="Courier New"/>
                <a:cs typeface="Courier New"/>
                <a:sym typeface="Courier New"/>
              </a:rPr>
              <a:t>compareTo()</a:t>
            </a:r>
            <a:r>
              <a:rPr lang="en-US" sz="1600"/>
              <a:t> method.</a:t>
            </a:r>
            <a:endParaRPr/>
          </a:p>
          <a:p>
            <a:pPr marL="0" lvl="0" indent="0" algn="l" rtl="0">
              <a:spcBef>
                <a:spcPts val="480"/>
              </a:spcBef>
              <a:spcAft>
                <a:spcPts val="0"/>
              </a:spcAft>
              <a:buNone/>
            </a:pPr>
            <a:r>
              <a:rPr lang="en-US" sz="1600"/>
              <a:t>As long as an array of </a:t>
            </a:r>
            <a:r>
              <a:rPr lang="en-US" sz="1600">
                <a:latin typeface="Courier New"/>
                <a:ea typeface="Courier New"/>
                <a:cs typeface="Courier New"/>
                <a:sym typeface="Courier New"/>
              </a:rPr>
              <a:t>Comparable</a:t>
            </a:r>
            <a:r>
              <a:rPr lang="en-US" sz="1600"/>
              <a:t> references is sent in, this code will work perfectly every time.</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7" name="Google Shape;577;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All methods listed in an interface are public abstract.   Abstract methods have no code.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Each abstract method listed in an interface must be implemented in the class that implements the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All variables listed in an interface are public static final, making them final class variables.  </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Interfaces cannot contain implemented methods, constructors, or instance variables.</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5" name="Google Shape;585;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All methods listed in an interface are public abstract.   Abstract methods have no code.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Each abstract method listed in an interface must be implemented in the class that implements the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All variables listed in an interface are public static final, making them final class variables.  </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Interfaces cannot contain implemented methods, constructors, or instance variables.</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3" name="Google Shape;593;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0" name="Google Shape;600;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t>All methods listed in an interface are public abstract.   Abstract methods have no code.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Each abstract method listed in an interface must be implemented in the class that implements the interface.</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All variables listed in an interface are public static final, making them final class variables.  </a:t>
            </a:r>
            <a:endParaRPr/>
          </a:p>
          <a:p>
            <a:pPr marL="0" lvl="0" indent="0" algn="l" rtl="0">
              <a:spcBef>
                <a:spcPts val="480"/>
              </a:spcBef>
              <a:spcAft>
                <a:spcPts val="0"/>
              </a:spcAft>
              <a:buNone/>
            </a:pPr>
            <a:endParaRPr sz="1600"/>
          </a:p>
          <a:p>
            <a:pPr marL="0" lvl="0" indent="0" algn="l" rtl="0">
              <a:spcBef>
                <a:spcPts val="480"/>
              </a:spcBef>
              <a:spcAft>
                <a:spcPts val="0"/>
              </a:spcAft>
              <a:buNone/>
            </a:pPr>
            <a:r>
              <a:rPr lang="en-US" sz="1600"/>
              <a:t>Interfaces cannot contain implemented methods, constructors, or instance variables.</a:t>
            </a:r>
            <a:endParaRPr/>
          </a:p>
          <a:p>
            <a:pPr marL="0" lvl="0" indent="0" algn="l" rtl="0">
              <a:spcBef>
                <a:spcPts val="36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7" name="Google Shape;607;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4" name="Google Shape;614;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1" name="Google Shape;621;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5" name="Google Shape;635;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2" name="Google Shape;642;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9" name="Google Shape;649;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“Abstract” means it has no implementation, and “final” means it can’t be overridden in a subclass. So, the useless method can never be fixed!</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7" name="Google Shape;657;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calcAnswer() is a public method in the interface, but has package level access in the class.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64" name="Google Shape;664;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calcAnswer() is a public method in the interface, but has package level access in the class. </a:t>
            </a:r>
            <a:endParaRPr/>
          </a:p>
          <a:p>
            <a:pPr marL="0" lvl="0" indent="0" algn="l" rtl="0">
              <a:spcBef>
                <a:spcPts val="360"/>
              </a:spcBef>
              <a:spcAft>
                <a:spcPts val="0"/>
              </a:spcAft>
              <a:buNone/>
            </a:pPr>
            <a:r>
              <a:rPr lang="en-US"/>
              <a:t>This can’t happen. You can’t make the access level more restrictive, only less so.</a:t>
            </a:r>
            <a:endParaRPr/>
          </a:p>
          <a:p>
            <a:pPr marL="0" lvl="0" indent="0" algn="l" rtl="0">
              <a:spcBef>
                <a:spcPts val="360"/>
              </a:spcBef>
              <a:spcAft>
                <a:spcPts val="0"/>
              </a:spcAft>
              <a:buNone/>
            </a:pPr>
            <a:r>
              <a:rPr lang="en-US"/>
              <a:t>This applies to all inheritance situations, including extending a class.</a:t>
            </a:r>
            <a:endParaRPr/>
          </a:p>
          <a:p>
            <a:pPr marL="0" lvl="0" indent="0" algn="l" rtl="0">
              <a:spcBef>
                <a:spcPts val="36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71" name="Google Shape;671;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calcAnswer() is a public method in the interface, but has package level access in the class. </a:t>
            </a:r>
            <a:endParaRPr/>
          </a:p>
          <a:p>
            <a:pPr marL="0" lvl="0" indent="0" algn="l" rtl="0">
              <a:spcBef>
                <a:spcPts val="360"/>
              </a:spcBef>
              <a:spcAft>
                <a:spcPts val="0"/>
              </a:spcAft>
              <a:buNone/>
            </a:pPr>
            <a:r>
              <a:rPr lang="en-US"/>
              <a:t>This can’t happen. You can’t make the access level more restrictive, only less so.</a:t>
            </a:r>
            <a:endParaRPr/>
          </a:p>
          <a:p>
            <a:pPr marL="0" lvl="0" indent="0" algn="l" rtl="0">
              <a:spcBef>
                <a:spcPts val="360"/>
              </a:spcBef>
              <a:spcAft>
                <a:spcPts val="0"/>
              </a:spcAft>
              <a:buNone/>
            </a:pPr>
            <a:r>
              <a:rPr lang="en-US"/>
              <a:t>This applies to all inheritance situations, including extending a class.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7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7" name="Google Shape;17;p74"/>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75"/>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 name="Google Shape;20;p75"/>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dk1"/>
              </a:buClr>
              <a:buSzPts val="2400"/>
              <a:buFont typeface="Times New Roman"/>
              <a:buNone/>
              <a:defRPr sz="2400"/>
            </a:lvl1pPr>
            <a:lvl2pPr lvl="1" algn="ctr">
              <a:spcBef>
                <a:spcPts val="400"/>
              </a:spcBef>
              <a:spcAft>
                <a:spcPts val="0"/>
              </a:spcAft>
              <a:buClr>
                <a:schemeClr val="dk1"/>
              </a:buClr>
              <a:buSzPts val="2000"/>
              <a:buFont typeface="Times New Roman"/>
              <a:buNone/>
              <a:defRPr sz="2000"/>
            </a:lvl2pPr>
            <a:lvl3pPr lvl="2" algn="ctr">
              <a:spcBef>
                <a:spcPts val="360"/>
              </a:spcBef>
              <a:spcAft>
                <a:spcPts val="0"/>
              </a:spcAft>
              <a:buClr>
                <a:schemeClr val="dk1"/>
              </a:buClr>
              <a:buSzPts val="1800"/>
              <a:buFont typeface="Times New Roman"/>
              <a:buNone/>
              <a:defRPr sz="1800"/>
            </a:lvl3pPr>
            <a:lvl4pPr lvl="3" algn="ctr">
              <a:spcBef>
                <a:spcPts val="320"/>
              </a:spcBef>
              <a:spcAft>
                <a:spcPts val="0"/>
              </a:spcAft>
              <a:buClr>
                <a:schemeClr val="dk1"/>
              </a:buClr>
              <a:buSzPts val="1600"/>
              <a:buFont typeface="Times New Roman"/>
              <a:buNone/>
              <a:defRPr sz="1600"/>
            </a:lvl4pPr>
            <a:lvl5pPr lvl="4" algn="ctr">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7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7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7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7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76"/>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7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p76"/>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30"/>
        <p:cNvGrpSpPr/>
        <p:nvPr/>
      </p:nvGrpSpPr>
      <p:grpSpPr>
        <a:xfrm>
          <a:off x="0" y="0"/>
          <a:ext cx="0" cy="0"/>
          <a:chOff x="0" y="0"/>
          <a:chExt cx="0" cy="0"/>
        </a:xfrm>
      </p:grpSpPr>
      <p:sp>
        <p:nvSpPr>
          <p:cNvPr id="31" name="Google Shape;31;p77"/>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7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34" name="Google Shape;34;p7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1">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78"/>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 name="Google Shape;37;p78"/>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Times New Roman"/>
              <a:buNone/>
              <a:defRPr sz="2400"/>
            </a:lvl1pPr>
            <a:lvl2pPr marL="914400" lvl="1" indent="-228600" algn="l">
              <a:spcBef>
                <a:spcPts val="400"/>
              </a:spcBef>
              <a:spcAft>
                <a:spcPts val="0"/>
              </a:spcAft>
              <a:buClr>
                <a:schemeClr val="dk1"/>
              </a:buClr>
              <a:buSzPts val="2000"/>
              <a:buFont typeface="Times New Roman"/>
              <a:buNone/>
              <a:defRPr sz="2000"/>
            </a:lvl2pPr>
            <a:lvl3pPr marL="1371600" lvl="2" indent="-228600" algn="l">
              <a:spcBef>
                <a:spcPts val="360"/>
              </a:spcBef>
              <a:spcAft>
                <a:spcPts val="0"/>
              </a:spcAft>
              <a:buClr>
                <a:schemeClr val="dk1"/>
              </a:buClr>
              <a:buSzPts val="1800"/>
              <a:buFont typeface="Times New Roman"/>
              <a:buNone/>
              <a:defRPr sz="1800"/>
            </a:lvl3pPr>
            <a:lvl4pPr marL="1828800" lvl="3" indent="-228600" algn="l">
              <a:spcBef>
                <a:spcPts val="320"/>
              </a:spcBef>
              <a:spcAft>
                <a:spcPts val="0"/>
              </a:spcAft>
              <a:buClr>
                <a:schemeClr val="dk1"/>
              </a:buClr>
              <a:buSzPts val="1600"/>
              <a:buFont typeface="Times New Roman"/>
              <a:buNone/>
              <a:defRPr sz="1600"/>
            </a:lvl4pPr>
            <a:lvl5pPr marL="2286000" lvl="4" indent="-228600" algn="l">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8" name="Google Shape;38;p7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78"/>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7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79"/>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9"/>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79"/>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80"/>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80"/>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80"/>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80"/>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80"/>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8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56" name="Google Shape;56;p80"/>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8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9" name="Google Shape;59;p8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61" name="Google Shape;61;p81"/>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82"/>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82"/>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sz="3200"/>
            </a:lvl1pPr>
            <a:lvl2pPr marL="914400" lvl="1" indent="-406400" algn="l">
              <a:spcBef>
                <a:spcPts val="560"/>
              </a:spcBef>
              <a:spcAft>
                <a:spcPts val="0"/>
              </a:spcAft>
              <a:buClr>
                <a:schemeClr val="dk1"/>
              </a:buClr>
              <a:buSzPts val="2800"/>
              <a:buFont typeface="Times New Roman"/>
              <a:buChar char="–"/>
              <a:defRPr sz="2800"/>
            </a:lvl2pPr>
            <a:lvl3pPr marL="1371600" lvl="2" indent="-381000" algn="l">
              <a:spcBef>
                <a:spcPts val="480"/>
              </a:spcBef>
              <a:spcAft>
                <a:spcPts val="0"/>
              </a:spcAft>
              <a:buClr>
                <a:schemeClr val="dk1"/>
              </a:buClr>
              <a:buSzPts val="2400"/>
              <a:buFont typeface="Times New Roman"/>
              <a:buChar char="•"/>
              <a:defRPr sz="2400"/>
            </a:lvl3pPr>
            <a:lvl4pPr marL="1828800" lvl="3" indent="-355600" algn="l">
              <a:spcBef>
                <a:spcPts val="400"/>
              </a:spcBef>
              <a:spcAft>
                <a:spcPts val="0"/>
              </a:spcAft>
              <a:buClr>
                <a:schemeClr val="dk1"/>
              </a:buClr>
              <a:buSzPts val="2000"/>
              <a:buFont typeface="Times New Roman"/>
              <a:buChar char="–"/>
              <a:defRPr sz="2000"/>
            </a:lvl4pPr>
            <a:lvl5pPr marL="2286000" lvl="4" indent="-355600" algn="l">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82"/>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imes New Roman"/>
              <a:buNone/>
              <a:defRPr sz="1600"/>
            </a:lvl1pPr>
            <a:lvl2pPr marL="914400" lvl="1" indent="-228600" algn="l">
              <a:spcBef>
                <a:spcPts val="280"/>
              </a:spcBef>
              <a:spcAft>
                <a:spcPts val="0"/>
              </a:spcAft>
              <a:buClr>
                <a:schemeClr val="dk1"/>
              </a:buClr>
              <a:buSzPts val="1400"/>
              <a:buFont typeface="Times New Roman"/>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8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82"/>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83"/>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83"/>
          <p:cNvSpPr>
            <a:spLocks noGrp="1"/>
          </p:cNvSpPr>
          <p:nvPr>
            <p:ph type="pic" idx="2"/>
          </p:nvPr>
        </p:nvSpPr>
        <p:spPr>
          <a:xfrm>
            <a:off x="3887788" y="987425"/>
            <a:ext cx="4629150" cy="4873625"/>
          </a:xfrm>
          <a:prstGeom prst="rect">
            <a:avLst/>
          </a:prstGeom>
          <a:noFill/>
          <a:ln>
            <a:noFill/>
          </a:ln>
        </p:spPr>
      </p:sp>
      <p:sp>
        <p:nvSpPr>
          <p:cNvPr id="72" name="Google Shape;72;p83"/>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imes New Roman"/>
              <a:buNone/>
              <a:defRPr sz="1600"/>
            </a:lvl1pPr>
            <a:lvl2pPr marL="914400" lvl="1" indent="-228600" algn="l">
              <a:spcBef>
                <a:spcPts val="280"/>
              </a:spcBef>
              <a:spcAft>
                <a:spcPts val="0"/>
              </a:spcAft>
              <a:buClr>
                <a:schemeClr val="dk1"/>
              </a:buClr>
              <a:buSzPts val="1400"/>
              <a:buFont typeface="Times New Roman"/>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8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75" name="Google Shape;75;p83"/>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8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84"/>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8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8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84"/>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85"/>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85"/>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8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8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87" name="Google Shape;87;p8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b="0">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7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0" name="Google Shape;10;p73"/>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1" name="Google Shape;11;p7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200" b="0" i="0" u="none" strike="noStrike" cap="none">
                <a:solidFill>
                  <a:schemeClr val="dk1"/>
                </a:solidFill>
                <a:latin typeface="Tahoma"/>
                <a:ea typeface="Tahoma"/>
                <a:cs typeface="Tahoma"/>
                <a:sym typeface="Tahoma"/>
              </a:defRPr>
            </a:lvl9pPr>
          </a:lstStyle>
          <a:p>
            <a:endParaRPr/>
          </a:p>
        </p:txBody>
      </p:sp>
      <p:sp>
        <p:nvSpPr>
          <p:cNvPr id="12" name="Google Shape;12;p7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73"/>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lvl1pPr marR="0" lvl="0" algn="ctr" rtl="0">
              <a:spcBef>
                <a:spcPts val="0"/>
              </a:spcBef>
              <a:spcAft>
                <a:spcPts val="0"/>
              </a:spcAft>
              <a:buSzPts val="1400"/>
              <a:buNone/>
              <a:defRPr sz="800" b="1"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2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docs.oracle.com/javase/7/docs/api/java/util/List.html"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dirty="0">
              <a:latin typeface="Times New Roman"/>
              <a:ea typeface="Times New Roman"/>
              <a:cs typeface="Times New Roman"/>
              <a:sym typeface="Times New Roman"/>
            </a:endParaRPr>
          </a:p>
          <a:p>
            <a:pPr marL="0" lvl="0" indent="0" algn="ctr" rtl="0">
              <a:spcBef>
                <a:spcPts val="0"/>
              </a:spcBef>
              <a:spcAft>
                <a:spcPts val="0"/>
              </a:spcAft>
              <a:buNone/>
            </a:pPr>
            <a:endParaRPr dirty="0"/>
          </a:p>
          <a:p>
            <a:pPr marL="0" lvl="0" indent="0" algn="ctr" rtl="0">
              <a:spcBef>
                <a:spcPts val="0"/>
              </a:spcBef>
              <a:spcAft>
                <a:spcPts val="0"/>
              </a:spcAft>
              <a:buNone/>
            </a:pPr>
            <a:endParaRPr b="1" dirty="0"/>
          </a:p>
          <a:p>
            <a:pPr marL="0" lvl="0" indent="0" algn="ctr" rtl="0">
              <a:spcBef>
                <a:spcPts val="0"/>
              </a:spcBef>
              <a:spcAft>
                <a:spcPts val="0"/>
              </a:spcAft>
              <a:buNone/>
            </a:pPr>
            <a:r>
              <a:rPr lang="en-US" b="1" dirty="0"/>
              <a:t>© A+ Computer Science  -  www.apluscompsci.com</a:t>
            </a:r>
            <a:endParaRPr dirty="0"/>
          </a:p>
        </p:txBody>
      </p:sp>
      <p:sp>
        <p:nvSpPr>
          <p:cNvPr id="93" name="Google Shape;93;p1"/>
          <p:cNvSpPr/>
          <p:nvPr/>
        </p:nvSpPr>
        <p:spPr>
          <a:xfrm>
            <a:off x="685800" y="2362200"/>
            <a:ext cx="7620000" cy="13716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Interfaces</a:t>
            </a:r>
          </a:p>
        </p:txBody>
      </p:sp>
      <p:sp>
        <p:nvSpPr>
          <p:cNvPr id="94" name="Google Shape;94;p1"/>
          <p:cNvSpPr/>
          <p:nvPr/>
        </p:nvSpPr>
        <p:spPr>
          <a:xfrm>
            <a:off x="6400800" y="6324600"/>
            <a:ext cx="2438400" cy="3048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80"/>
                </a:solidFill>
                <a:latin typeface="Impact"/>
              </a:rPr>
              <a:t>Labs 06 and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ctrTitle"/>
          </p:nvPr>
        </p:nvSpPr>
        <p:spPr>
          <a:xfrm>
            <a:off x="3162300" y="62060"/>
            <a:ext cx="2895600" cy="7826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4400" b="1">
                <a:latin typeface="Inter"/>
                <a:ea typeface="Inter"/>
                <a:cs typeface="Inter"/>
                <a:sym typeface="Inter"/>
              </a:rPr>
              <a:t>interface</a:t>
            </a:r>
            <a:endParaRPr/>
          </a:p>
        </p:txBody>
      </p:sp>
      <p:sp>
        <p:nvSpPr>
          <p:cNvPr id="100" name="Google Shape;100;p2"/>
          <p:cNvSpPr txBox="1">
            <a:spLocks noGrp="1"/>
          </p:cNvSpPr>
          <p:nvPr>
            <p:ph type="subTitle" idx="1"/>
          </p:nvPr>
        </p:nvSpPr>
        <p:spPr>
          <a:xfrm>
            <a:off x="304800" y="879333"/>
            <a:ext cx="8610600" cy="5597668"/>
          </a:xfrm>
          <a:prstGeom prst="rect">
            <a:avLst/>
          </a:prstGeom>
          <a:solidFill>
            <a:srgbClr val="F8F8F6"/>
          </a:solidFill>
          <a:ln>
            <a:noFill/>
          </a:ln>
        </p:spPr>
        <p:txBody>
          <a:bodyPr spcFirstLastPara="1" wrap="square" lIns="85675" tIns="19025" rIns="91425" bIns="38075" anchor="ctr" anchorCtr="0">
            <a:spAutoFit/>
          </a:bodyPr>
          <a:lstStyle/>
          <a:p>
            <a:pPr marL="0" marR="0" lvl="0" indent="0" algn="l" rtl="0">
              <a:lnSpc>
                <a:spcPct val="100000"/>
              </a:lnSpc>
              <a:spcBef>
                <a:spcPts val="0"/>
              </a:spcBef>
              <a:spcAft>
                <a:spcPts val="0"/>
              </a:spcAft>
              <a:buClr>
                <a:srgbClr val="333333"/>
              </a:buClr>
              <a:buSzPts val="2800"/>
              <a:buFont typeface="Inter"/>
              <a:buNone/>
            </a:pPr>
            <a:r>
              <a:rPr lang="en-US" sz="2800" b="1" i="0" u="none" strike="noStrike" cap="none">
                <a:solidFill>
                  <a:srgbClr val="333333"/>
                </a:solidFill>
                <a:latin typeface="Inter"/>
                <a:ea typeface="Inter"/>
                <a:cs typeface="Inter"/>
                <a:sym typeface="Inter"/>
              </a:rPr>
              <a:t>verb</a:t>
            </a:r>
            <a:endParaRPr sz="2800" b="0" i="0" u="none" strike="noStrike" cap="none">
              <a:solidFill>
                <a:srgbClr val="333333"/>
              </a:solidFill>
              <a:latin typeface="Inter"/>
              <a:ea typeface="Inter"/>
              <a:cs typeface="Inter"/>
              <a:sym typeface="Inter"/>
            </a:endParaRPr>
          </a:p>
          <a:p>
            <a:pPr marL="514350" marR="0" lvl="1" indent="-514350" algn="l" rtl="0">
              <a:lnSpc>
                <a:spcPct val="100000"/>
              </a:lnSpc>
              <a:spcBef>
                <a:spcPts val="0"/>
              </a:spcBef>
              <a:spcAft>
                <a:spcPts val="0"/>
              </a:spcAft>
              <a:buClr>
                <a:srgbClr val="333333"/>
              </a:buClr>
              <a:buSzPts val="2800"/>
              <a:buFont typeface="Times New Roman"/>
              <a:buAutoNum type="arabicPeriod"/>
            </a:pPr>
            <a:r>
              <a:rPr lang="en-US" sz="2800" b="0" i="0" u="none" strike="noStrike" cap="none">
                <a:solidFill>
                  <a:srgbClr val="333333"/>
                </a:solidFill>
                <a:latin typeface="Inter"/>
                <a:ea typeface="Inter"/>
                <a:cs typeface="Inter"/>
                <a:sym typeface="Inter"/>
              </a:rPr>
              <a:t>interact with (another system, person, etc.). </a:t>
            </a:r>
            <a:endParaRPr/>
          </a:p>
          <a:p>
            <a:pPr marL="514350" marR="0" lvl="1" indent="-514350" algn="l" rtl="0">
              <a:lnSpc>
                <a:spcPct val="100000"/>
              </a:lnSpc>
              <a:spcBef>
                <a:spcPts val="0"/>
              </a:spcBef>
              <a:spcAft>
                <a:spcPts val="0"/>
              </a:spcAft>
              <a:buClr>
                <a:srgbClr val="333333"/>
              </a:buClr>
              <a:buSzPts val="2800"/>
              <a:buFont typeface="Times New Roman"/>
              <a:buAutoNum type="arabicPeriod"/>
            </a:pPr>
            <a:r>
              <a:rPr lang="en-US" sz="2800" b="0" i="0" u="none" strike="noStrike" cap="none">
                <a:solidFill>
                  <a:srgbClr val="333333"/>
                </a:solidFill>
                <a:latin typeface="Inter"/>
                <a:ea typeface="Inter"/>
                <a:cs typeface="Inter"/>
                <a:sym typeface="Inter"/>
              </a:rPr>
              <a:t>connect with (another computer or piece of equipment) by an interface. </a:t>
            </a:r>
            <a:endParaRPr/>
          </a:p>
          <a:p>
            <a:pPr marL="0" marR="0" lvl="1" indent="0" algn="l" rtl="0">
              <a:lnSpc>
                <a:spcPct val="100000"/>
              </a:lnSpc>
              <a:spcBef>
                <a:spcPts val="0"/>
              </a:spcBef>
              <a:spcAft>
                <a:spcPts val="0"/>
              </a:spcAft>
              <a:buClr>
                <a:schemeClr val="dk1"/>
              </a:buClr>
              <a:buSzPts val="2400"/>
              <a:buFont typeface="Arial"/>
              <a:buNone/>
            </a:pPr>
            <a:endParaRPr sz="2400" b="0" i="0" u="none" strike="noStrike" cap="none">
              <a:solidFill>
                <a:srgbClr val="333333"/>
              </a:solidFill>
              <a:latin typeface="Inter"/>
              <a:ea typeface="Inter"/>
              <a:cs typeface="Inter"/>
              <a:sym typeface="Inter"/>
            </a:endParaRPr>
          </a:p>
          <a:p>
            <a:pPr marL="0" marR="0" lvl="0" indent="0" algn="l" rtl="0">
              <a:lnSpc>
                <a:spcPct val="100000"/>
              </a:lnSpc>
              <a:spcBef>
                <a:spcPts val="0"/>
              </a:spcBef>
              <a:spcAft>
                <a:spcPts val="0"/>
              </a:spcAft>
              <a:buClr>
                <a:srgbClr val="333333"/>
              </a:buClr>
              <a:buSzPts val="2800"/>
              <a:buFont typeface="Inter"/>
              <a:buNone/>
            </a:pPr>
            <a:r>
              <a:rPr lang="en-US" sz="2800" b="1" i="0" u="none" strike="noStrike" cap="none">
                <a:solidFill>
                  <a:srgbClr val="333333"/>
                </a:solidFill>
                <a:latin typeface="Inter"/>
                <a:ea typeface="Inter"/>
                <a:cs typeface="Inter"/>
                <a:sym typeface="Inter"/>
              </a:rPr>
              <a:t>noun</a:t>
            </a:r>
            <a:endParaRPr sz="2800" b="0" i="0" u="none" strike="noStrike" cap="none">
              <a:solidFill>
                <a:srgbClr val="333333"/>
              </a:solidFill>
              <a:latin typeface="Inter"/>
              <a:ea typeface="Inter"/>
              <a:cs typeface="Inter"/>
              <a:sym typeface="Inter"/>
            </a:endParaRPr>
          </a:p>
          <a:p>
            <a:pPr marL="514350" marR="0" lvl="1" indent="-514350" algn="l" rtl="0">
              <a:lnSpc>
                <a:spcPct val="100000"/>
              </a:lnSpc>
              <a:spcBef>
                <a:spcPts val="0"/>
              </a:spcBef>
              <a:spcAft>
                <a:spcPts val="0"/>
              </a:spcAft>
              <a:buClr>
                <a:srgbClr val="333333"/>
              </a:buClr>
              <a:buSzPts val="2800"/>
              <a:buFont typeface="Times New Roman"/>
              <a:buAutoNum type="arabicPeriod"/>
            </a:pPr>
            <a:r>
              <a:rPr lang="en-US" sz="2800" b="0" i="0" u="none" strike="noStrike" cap="none">
                <a:solidFill>
                  <a:srgbClr val="333333"/>
                </a:solidFill>
                <a:latin typeface="Inter"/>
                <a:ea typeface="Inter"/>
                <a:cs typeface="Inter"/>
                <a:sym typeface="Inter"/>
              </a:rPr>
              <a:t>a point where two systems, subjects, organizations, etc. meet and interact. </a:t>
            </a:r>
            <a:endParaRPr/>
          </a:p>
          <a:p>
            <a:pPr marL="514350" marR="0" lvl="1" indent="-514350" algn="l" rtl="0">
              <a:lnSpc>
                <a:spcPct val="100000"/>
              </a:lnSpc>
              <a:spcBef>
                <a:spcPts val="0"/>
              </a:spcBef>
              <a:spcAft>
                <a:spcPts val="0"/>
              </a:spcAft>
              <a:buClr>
                <a:srgbClr val="333333"/>
              </a:buClr>
              <a:buSzPts val="2800"/>
              <a:buFont typeface="Times New Roman"/>
              <a:buAutoNum type="arabicPeriod"/>
            </a:pPr>
            <a:r>
              <a:rPr lang="en-US" sz="2800" b="0" i="0" u="none" strike="noStrike" cap="none">
                <a:solidFill>
                  <a:srgbClr val="333333"/>
                </a:solidFill>
                <a:latin typeface="Inter"/>
                <a:ea typeface="Inter"/>
                <a:cs typeface="Inter"/>
                <a:sym typeface="Inter"/>
              </a:rPr>
              <a:t>a surface forming a common boundary between two portions of matter or space, for example between two immiscible liquids. </a:t>
            </a:r>
            <a:endParaRPr/>
          </a:p>
          <a:p>
            <a:pPr marL="514350" marR="0" lvl="1" indent="-514350" algn="l" rtl="0">
              <a:lnSpc>
                <a:spcPct val="100000"/>
              </a:lnSpc>
              <a:spcBef>
                <a:spcPts val="0"/>
              </a:spcBef>
              <a:spcAft>
                <a:spcPts val="0"/>
              </a:spcAft>
              <a:buClr>
                <a:srgbClr val="333333"/>
              </a:buClr>
              <a:buSzPts val="2800"/>
              <a:buFont typeface="Times New Roman"/>
              <a:buAutoNum type="arabicPeriod"/>
            </a:pPr>
            <a:r>
              <a:rPr lang="en-US" sz="2800" b="0" i="0" u="none" strike="noStrike" cap="none">
                <a:solidFill>
                  <a:srgbClr val="333333"/>
                </a:solidFill>
                <a:latin typeface="Inter"/>
                <a:ea typeface="Inter"/>
                <a:cs typeface="Inter"/>
                <a:sym typeface="Inter"/>
              </a:rPr>
              <a:t>a device or program enabling a user to communicate with a computer.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685800" y="228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 Java Interface</a:t>
            </a:r>
            <a:endParaRPr/>
          </a:p>
        </p:txBody>
      </p:sp>
      <p:sp>
        <p:nvSpPr>
          <p:cNvPr id="106" name="Google Shape;106;p3"/>
          <p:cNvSpPr txBox="1">
            <a:spLocks noGrp="1"/>
          </p:cNvSpPr>
          <p:nvPr>
            <p:ph type="body" idx="1"/>
          </p:nvPr>
        </p:nvSpPr>
        <p:spPr>
          <a:xfrm>
            <a:off x="457200" y="1600200"/>
            <a:ext cx="8305800" cy="4648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4000"/>
              <a:buFont typeface="Times New Roman"/>
              <a:buChar char="•"/>
            </a:pPr>
            <a:r>
              <a:rPr lang="en-US" sz="4000"/>
              <a:t>An </a:t>
            </a:r>
            <a:r>
              <a:rPr lang="en-US" sz="4000" b="1">
                <a:solidFill>
                  <a:srgbClr val="0000FF"/>
                </a:solidFill>
              </a:rPr>
              <a:t>interface</a:t>
            </a:r>
            <a:r>
              <a:rPr lang="en-US" sz="4000">
                <a:solidFill>
                  <a:srgbClr val="0000FF"/>
                </a:solidFill>
              </a:rPr>
              <a:t> </a:t>
            </a:r>
            <a:r>
              <a:rPr lang="en-US" sz="4000"/>
              <a:t>in Java is used to specify an interface (in the generic sense of the term) that classes must implement</a:t>
            </a:r>
            <a:endParaRPr sz="2000"/>
          </a:p>
          <a:p>
            <a:pPr marL="342900" lvl="0" indent="-342900" algn="l" rtl="0">
              <a:spcBef>
                <a:spcPts val="800"/>
              </a:spcBef>
              <a:spcAft>
                <a:spcPts val="0"/>
              </a:spcAft>
              <a:buClr>
                <a:schemeClr val="dk1"/>
              </a:buClr>
              <a:buSzPts val="4000"/>
              <a:buFont typeface="Times New Roman"/>
              <a:buChar char="•"/>
            </a:pPr>
            <a:r>
              <a:rPr lang="en-US" sz="4000"/>
              <a:t>An </a:t>
            </a:r>
            <a:r>
              <a:rPr lang="en-US" sz="4000" b="1">
                <a:solidFill>
                  <a:srgbClr val="0000FF"/>
                </a:solidFill>
              </a:rPr>
              <a:t>interface</a:t>
            </a:r>
            <a:r>
              <a:rPr lang="en-US" sz="4000"/>
              <a:t> is a group of related methods with empty bodies.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112" name="Google Shape;112;p4"/>
          <p:cNvSpPr txBox="1"/>
          <p:nvPr/>
        </p:nvSpPr>
        <p:spPr>
          <a:xfrm>
            <a:off x="838200" y="2002185"/>
            <a:ext cx="7162799"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chemeClr val="dk1"/>
                </a:solidFill>
                <a:latin typeface="Tahoma"/>
                <a:ea typeface="Tahoma"/>
                <a:cs typeface="Tahoma"/>
                <a:sym typeface="Tahoma"/>
              </a:rPr>
              <a:t>Interfaces are typically used when you know </a:t>
            </a:r>
            <a:r>
              <a:rPr lang="en-US" sz="3200" b="1" i="0" u="none" strike="noStrike" cap="none">
                <a:solidFill>
                  <a:srgbClr val="0000FF"/>
                </a:solidFill>
                <a:latin typeface="Tahoma"/>
                <a:ea typeface="Tahoma"/>
                <a:cs typeface="Tahoma"/>
                <a:sym typeface="Tahoma"/>
              </a:rPr>
              <a:t>what</a:t>
            </a:r>
            <a:r>
              <a:rPr lang="en-US" sz="3200" b="1" i="0" u="none" strike="noStrike" cap="none">
                <a:solidFill>
                  <a:schemeClr val="dk1"/>
                </a:solidFill>
                <a:latin typeface="Tahoma"/>
                <a:ea typeface="Tahoma"/>
                <a:cs typeface="Tahoma"/>
                <a:sym typeface="Tahoma"/>
              </a:rPr>
              <a:t> you want an Object to do, but do not know </a:t>
            </a:r>
            <a:r>
              <a:rPr lang="en-US" sz="3200" b="1" i="0" u="none" strike="noStrike" cap="none">
                <a:solidFill>
                  <a:srgbClr val="0000FF"/>
                </a:solidFill>
                <a:latin typeface="Tahoma"/>
                <a:ea typeface="Tahoma"/>
                <a:cs typeface="Tahoma"/>
                <a:sym typeface="Tahoma"/>
              </a:rPr>
              <a:t>how</a:t>
            </a:r>
            <a:r>
              <a:rPr lang="en-US" sz="3200" b="1" i="0" u="none" strike="noStrike" cap="none">
                <a:solidFill>
                  <a:schemeClr val="dk1"/>
                </a:solidFill>
                <a:latin typeface="Tahoma"/>
                <a:ea typeface="Tahoma"/>
                <a:cs typeface="Tahoma"/>
                <a:sym typeface="Tahoma"/>
              </a:rPr>
              <a:t> it will do it.</a:t>
            </a:r>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If only the behavior is known, use</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an interface.</a:t>
            </a:r>
            <a:endParaRPr/>
          </a:p>
        </p:txBody>
      </p:sp>
      <p:sp>
        <p:nvSpPr>
          <p:cNvPr id="113" name="Google Shape;113;p4"/>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119" name="Google Shape;119;p5"/>
          <p:cNvSpPr/>
          <p:nvPr/>
        </p:nvSpPr>
        <p:spPr>
          <a:xfrm>
            <a:off x="1295400" y="381000"/>
            <a:ext cx="6248400" cy="7620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120" name="Google Shape;120;p5"/>
          <p:cNvSpPr txBox="1"/>
          <p:nvPr/>
        </p:nvSpPr>
        <p:spPr>
          <a:xfrm>
            <a:off x="990600" y="1905000"/>
            <a:ext cx="6108700" cy="33877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ahoma"/>
                <a:ea typeface="Tahoma"/>
                <a:cs typeface="Tahoma"/>
                <a:sym typeface="Tahoma"/>
              </a:rPr>
              <a:t>public </a:t>
            </a:r>
            <a:r>
              <a:rPr lang="en-US" sz="3600" b="1">
                <a:solidFill>
                  <a:schemeClr val="accent2"/>
                </a:solidFill>
                <a:latin typeface="Tahoma"/>
                <a:ea typeface="Tahoma"/>
                <a:cs typeface="Tahoma"/>
                <a:sym typeface="Tahoma"/>
              </a:rPr>
              <a:t>interface</a:t>
            </a:r>
            <a:r>
              <a:rPr lang="en-US" sz="3600" b="1">
                <a:solidFill>
                  <a:schemeClr val="dk1"/>
                </a:solidFill>
                <a:latin typeface="Tahoma"/>
                <a:ea typeface="Tahoma"/>
                <a:cs typeface="Tahoma"/>
                <a:sym typeface="Tahoma"/>
              </a:rPr>
              <a:t> Locatable</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   public int getX();</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   public int getY();</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a:t>
            </a:r>
            <a:endParaRPr/>
          </a:p>
          <a:p>
            <a:pPr marL="0" marR="0" lvl="0" indent="0" algn="l" rtl="0">
              <a:spcBef>
                <a:spcPts val="0"/>
              </a:spcBef>
              <a:spcAft>
                <a:spcPts val="0"/>
              </a:spcAft>
              <a:buNone/>
            </a:pPr>
            <a:endParaRPr sz="3600" b="1">
              <a:solidFill>
                <a:schemeClr val="dk1"/>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126" name="Google Shape;126;p6"/>
          <p:cNvSpPr/>
          <p:nvPr/>
        </p:nvSpPr>
        <p:spPr>
          <a:xfrm>
            <a:off x="1295400" y="381000"/>
            <a:ext cx="6248400" cy="7620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127" name="Google Shape;127;p6"/>
          <p:cNvSpPr txBox="1"/>
          <p:nvPr/>
        </p:nvSpPr>
        <p:spPr>
          <a:xfrm>
            <a:off x="914400" y="1905000"/>
            <a:ext cx="7764463" cy="3997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ahoma"/>
                <a:ea typeface="Tahoma"/>
                <a:cs typeface="Tahoma"/>
                <a:sym typeface="Tahoma"/>
              </a:rPr>
              <a:t>public </a:t>
            </a:r>
            <a:r>
              <a:rPr lang="en-US" sz="3600" b="1">
                <a:solidFill>
                  <a:schemeClr val="accent2"/>
                </a:solidFill>
                <a:latin typeface="Tahoma"/>
                <a:ea typeface="Tahoma"/>
                <a:cs typeface="Tahoma"/>
                <a:sym typeface="Tahoma"/>
              </a:rPr>
              <a:t>interface</a:t>
            </a:r>
            <a:r>
              <a:rPr lang="en-US" sz="3600" b="1">
                <a:solidFill>
                  <a:schemeClr val="dk1"/>
                </a:solidFill>
                <a:latin typeface="Tahoma"/>
                <a:ea typeface="Tahoma"/>
                <a:cs typeface="Tahoma"/>
                <a:sym typeface="Tahoma"/>
              </a:rPr>
              <a:t> Movable</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   public void setPos( int x, int y);</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   public void setX( int x );</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   public void setY( int y );</a:t>
            </a:r>
            <a:endParaRPr/>
          </a:p>
          <a:p>
            <a:pPr marL="0" marR="0" lvl="0" indent="0" algn="l" rtl="0">
              <a:spcBef>
                <a:spcPts val="0"/>
              </a:spcBef>
              <a:spcAft>
                <a:spcPts val="0"/>
              </a:spcAft>
              <a:buNone/>
            </a:pPr>
            <a:r>
              <a:rPr lang="en-US" sz="3600" b="1">
                <a:solidFill>
                  <a:schemeClr val="dk1"/>
                </a:solidFill>
                <a:latin typeface="Tahoma"/>
                <a:ea typeface="Tahoma"/>
                <a:cs typeface="Tahoma"/>
                <a:sym typeface="Tahoma"/>
              </a:rPr>
              <a:t>}</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133" name="Google Shape;133;p7"/>
          <p:cNvSpPr/>
          <p:nvPr/>
        </p:nvSpPr>
        <p:spPr>
          <a:xfrm>
            <a:off x="1295400" y="381000"/>
            <a:ext cx="6248400" cy="7620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134" name="Google Shape;134;p7"/>
          <p:cNvSpPr txBox="1"/>
          <p:nvPr/>
        </p:nvSpPr>
        <p:spPr>
          <a:xfrm>
            <a:off x="381000" y="1981200"/>
            <a:ext cx="8763000" cy="35036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class Ship </a:t>
            </a:r>
            <a:r>
              <a:rPr lang="en-US" sz="3200" b="1">
                <a:solidFill>
                  <a:schemeClr val="accent2"/>
                </a:solidFill>
                <a:latin typeface="Tahoma"/>
                <a:ea typeface="Tahoma"/>
                <a:cs typeface="Tahoma"/>
                <a:sym typeface="Tahoma"/>
              </a:rPr>
              <a:t>implements</a:t>
            </a:r>
            <a:r>
              <a:rPr lang="en-US" sz="3200" b="1">
                <a:solidFill>
                  <a:schemeClr val="dk1"/>
                </a:solidFill>
                <a:latin typeface="Tahoma"/>
                <a:ea typeface="Tahoma"/>
                <a:cs typeface="Tahoma"/>
                <a:sym typeface="Tahoma"/>
              </a:rPr>
              <a:t> Locatable, Movable</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private int xPos, yPos;</a:t>
            </a:r>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r>
              <a:rPr lang="en-US" sz="3200" b="1">
                <a:solidFill>
                  <a:srgbClr val="008000"/>
                </a:solidFill>
                <a:latin typeface="Tahoma"/>
                <a:ea typeface="Tahoma"/>
                <a:cs typeface="Tahoma"/>
                <a:sym typeface="Tahoma"/>
              </a:rPr>
              <a:t>	//how many methods must</a:t>
            </a:r>
            <a:endParaRPr/>
          </a:p>
          <a:p>
            <a:pPr marL="0" marR="0" lvl="0" indent="0" algn="l" rtl="0">
              <a:spcBef>
                <a:spcPts val="0"/>
              </a:spcBef>
              <a:spcAft>
                <a:spcPts val="0"/>
              </a:spcAft>
              <a:buNone/>
            </a:pPr>
            <a:r>
              <a:rPr lang="en-US" sz="3200" b="1">
                <a:solidFill>
                  <a:srgbClr val="008000"/>
                </a:solidFill>
                <a:latin typeface="Tahoma"/>
                <a:ea typeface="Tahoma"/>
                <a:cs typeface="Tahoma"/>
                <a:sym typeface="Tahoma"/>
              </a:rPr>
              <a:t>	//be implemented?</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140" name="Google Shape;140;p8"/>
          <p:cNvSpPr txBox="1"/>
          <p:nvPr/>
        </p:nvSpPr>
        <p:spPr>
          <a:xfrm>
            <a:off x="533400" y="1905000"/>
            <a:ext cx="8382000"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Tahoma"/>
                <a:ea typeface="Tahoma"/>
                <a:cs typeface="Tahoma"/>
                <a:sym typeface="Tahoma"/>
              </a:rPr>
              <a:t>The methods in an interface are usually abstract.</a:t>
            </a:r>
            <a:endParaRPr dirty="0"/>
          </a:p>
          <a:p>
            <a:pPr marL="0" marR="0" lvl="0" indent="0" algn="l" rtl="0">
              <a:spcBef>
                <a:spcPts val="0"/>
              </a:spcBef>
              <a:spcAft>
                <a:spcPts val="0"/>
              </a:spcAft>
              <a:buNone/>
            </a:pPr>
            <a:endParaRPr sz="3200" b="1" dirty="0">
              <a:solidFill>
                <a:schemeClr val="dk1"/>
              </a:solidFill>
              <a:latin typeface="Tahoma"/>
              <a:ea typeface="Tahoma"/>
              <a:cs typeface="Tahoma"/>
              <a:sym typeface="Tahoma"/>
            </a:endParaRPr>
          </a:p>
          <a:p>
            <a:pPr marL="0" marR="0" lvl="0" indent="0" algn="l" rtl="0">
              <a:spcBef>
                <a:spcPts val="0"/>
              </a:spcBef>
              <a:spcAft>
                <a:spcPts val="0"/>
              </a:spcAft>
              <a:buNone/>
            </a:pPr>
            <a:r>
              <a:rPr lang="en-US" sz="3200" b="1" dirty="0">
                <a:solidFill>
                  <a:schemeClr val="dk1"/>
                </a:solidFill>
                <a:latin typeface="Tahoma"/>
                <a:ea typeface="Tahoma"/>
                <a:cs typeface="Tahoma"/>
                <a:sym typeface="Tahoma"/>
              </a:rPr>
              <a:t>Interfaces cannot have constructors!!!</a:t>
            </a:r>
            <a:endParaRPr dirty="0"/>
          </a:p>
          <a:p>
            <a:pPr marL="0" marR="0" lvl="0" indent="0" algn="l" rtl="0">
              <a:spcBef>
                <a:spcPts val="0"/>
              </a:spcBef>
              <a:spcAft>
                <a:spcPts val="0"/>
              </a:spcAft>
              <a:buNone/>
            </a:pPr>
            <a:endParaRPr sz="3200" b="1" dirty="0">
              <a:solidFill>
                <a:schemeClr val="dk1"/>
              </a:solidFill>
              <a:latin typeface="Tahoma"/>
              <a:ea typeface="Tahoma"/>
              <a:cs typeface="Tahoma"/>
              <a:sym typeface="Tahoma"/>
            </a:endParaRPr>
          </a:p>
        </p:txBody>
      </p:sp>
      <p:sp>
        <p:nvSpPr>
          <p:cNvPr id="141" name="Google Shape;141;p8"/>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147" name="Google Shape;147;p9"/>
          <p:cNvSpPr/>
          <p:nvPr/>
        </p:nvSpPr>
        <p:spPr>
          <a:xfrm>
            <a:off x="762000" y="1752600"/>
            <a:ext cx="7772400" cy="3581400"/>
          </a:xfrm>
          <a:prstGeom prst="rect">
            <a:avLst/>
          </a:prstGeom>
        </p:spPr>
        <p:txBody>
          <a:bodyPr>
            <a:prstTxWarp prst="textPlain">
              <a:avLst/>
            </a:prstTxWarp>
          </a:bodyPr>
          <a:lstStyle/>
          <a:p>
            <a:pPr lvl="0" algn="ctr"/>
            <a:r>
              <a:rPr b="0" i="0">
                <a:ln>
                  <a:noFill/>
                </a:ln>
                <a:gradFill>
                  <a:gsLst>
                    <a:gs pos="0">
                      <a:srgbClr val="009900"/>
                    </a:gs>
                    <a:gs pos="100000">
                      <a:srgbClr val="99FF99"/>
                    </a:gs>
                  </a:gsLst>
                  <a:lin ang="2700000" scaled="0"/>
                </a:gradFill>
                <a:latin typeface="Impact"/>
              </a:rPr>
              <a:t>Access Modifiers</a:t>
            </a:r>
            <a:br>
              <a:rPr b="0" i="0">
                <a:ln>
                  <a:noFill/>
                </a:ln>
                <a:gradFill>
                  <a:gsLst>
                    <a:gs pos="0">
                      <a:srgbClr val="009900"/>
                    </a:gs>
                    <a:gs pos="100000">
                      <a:srgbClr val="99FF99"/>
                    </a:gs>
                  </a:gsLst>
                  <a:lin ang="2700000" scaled="0"/>
                </a:gradFill>
                <a:latin typeface="Impact"/>
              </a:rPr>
            </a:br>
            <a:br>
              <a:rPr b="0" i="0">
                <a:ln>
                  <a:noFill/>
                </a:ln>
                <a:gradFill>
                  <a:gsLst>
                    <a:gs pos="0">
                      <a:srgbClr val="009900"/>
                    </a:gs>
                    <a:gs pos="100000">
                      <a:srgbClr val="99FF99"/>
                    </a:gs>
                  </a:gsLst>
                  <a:lin ang="2700000" scaled="0"/>
                </a:gradFill>
                <a:latin typeface="Impact"/>
              </a:rPr>
            </a:br>
            <a:r>
              <a:rPr b="0" i="0">
                <a:ln>
                  <a:noFill/>
                </a:ln>
                <a:gradFill>
                  <a:gsLst>
                    <a:gs pos="0">
                      <a:srgbClr val="009900"/>
                    </a:gs>
                    <a:gs pos="100000">
                      <a:srgbClr val="99FF99"/>
                    </a:gs>
                  </a:gsLst>
                  <a:lin ang="2700000" scaled="0"/>
                </a:gradFill>
                <a:latin typeface="Impact"/>
              </a:rPr>
              <a:t>(Visibility Modifiers)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153" name="Google Shape;153;p10"/>
          <p:cNvSpPr/>
          <p:nvPr/>
        </p:nvSpPr>
        <p:spPr>
          <a:xfrm>
            <a:off x="762000" y="685800"/>
            <a:ext cx="7239000" cy="48768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Public</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Protected</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Package</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Private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159" name="Google Shape;159;p11"/>
          <p:cNvSpPr/>
          <p:nvPr/>
        </p:nvSpPr>
        <p:spPr>
          <a:xfrm>
            <a:off x="685800" y="1752600"/>
            <a:ext cx="7523163" cy="374967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All members defined as </a:t>
            </a:r>
            <a:r>
              <a:rPr lang="en-US" sz="4000">
                <a:solidFill>
                  <a:schemeClr val="accent2"/>
                </a:solidFill>
                <a:latin typeface="Arial"/>
                <a:ea typeface="Arial"/>
                <a:cs typeface="Arial"/>
                <a:sym typeface="Arial"/>
              </a:rPr>
              <a:t>public</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can be accessed by members</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of </a:t>
            </a:r>
            <a:r>
              <a:rPr lang="en-US" sz="4000" u="sng">
                <a:solidFill>
                  <a:schemeClr val="dk1"/>
                </a:solidFill>
                <a:latin typeface="Arial"/>
                <a:ea typeface="Arial"/>
                <a:cs typeface="Arial"/>
                <a:sym typeface="Arial"/>
              </a:rPr>
              <a:t>any</a:t>
            </a:r>
            <a:r>
              <a:rPr lang="en-US" sz="4000">
                <a:solidFill>
                  <a:schemeClr val="dk1"/>
                </a:solidFill>
                <a:latin typeface="Arial"/>
                <a:ea typeface="Arial"/>
                <a:cs typeface="Arial"/>
                <a:sym typeface="Arial"/>
              </a:rPr>
              <a:t> class.</a:t>
            </a:r>
            <a:endParaRPr/>
          </a:p>
          <a:p>
            <a:pPr marL="0" marR="0" lvl="0" indent="0" algn="l" rtl="0">
              <a:spcBef>
                <a:spcPts val="0"/>
              </a:spcBef>
              <a:spcAft>
                <a:spcPts val="0"/>
              </a:spcAft>
              <a:buClr>
                <a:schemeClr val="dk1"/>
              </a:buClr>
              <a:buSzPts val="4000"/>
              <a:buFont typeface="Times New Roman"/>
              <a:buNone/>
            </a:pPr>
            <a:endParaRPr sz="40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This is the least restrictive </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visibility level.</a:t>
            </a:r>
            <a:endParaRPr/>
          </a:p>
        </p:txBody>
      </p:sp>
      <p:sp>
        <p:nvSpPr>
          <p:cNvPr id="160" name="Google Shape;160;p11"/>
          <p:cNvSpPr/>
          <p:nvPr/>
        </p:nvSpPr>
        <p:spPr>
          <a:xfrm>
            <a:off x="1524000" y="457200"/>
            <a:ext cx="5715000" cy="76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public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65" name="Google Shape;165;p12" descr="My file:&#10;package myPackage;&#10;public class MyClass {&#10;   // class member with public access&#10;}&#10;public class MyOtherClass {&#10;}&#10;Your file:&#10;package yourPackage;&#10;class YourClass extends MyClass { &#10;}&#10;class YourOtherClass extends MyClass {&#10;}&#10;My public class member can be access from any of the other classes."/>
          <p:cNvGrpSpPr/>
          <p:nvPr/>
        </p:nvGrpSpPr>
        <p:grpSpPr>
          <a:xfrm>
            <a:off x="-76200" y="-152400"/>
            <a:ext cx="9067800" cy="7239000"/>
            <a:chOff x="-76200" y="-152400"/>
            <a:chExt cx="9067800" cy="7239000"/>
          </a:xfrm>
        </p:grpSpPr>
        <p:pic>
          <p:nvPicPr>
            <p:cNvPr id="166" name="Google Shape;166;p12" descr="Clipart - Manilla &lt;strong&gt;folder&lt;/strong&gt;"/>
            <p:cNvPicPr preferRelativeResize="0"/>
            <p:nvPr/>
          </p:nvPicPr>
          <p:blipFill rotWithShape="1">
            <a:blip r:embed="rId3">
              <a:alphaModFix/>
            </a:blip>
            <a:srcRect/>
            <a:stretch/>
          </p:blipFill>
          <p:spPr>
            <a:xfrm>
              <a:off x="-76200" y="-152400"/>
              <a:ext cx="8001000" cy="3886200"/>
            </a:xfrm>
            <a:prstGeom prst="rect">
              <a:avLst/>
            </a:prstGeom>
            <a:noFill/>
            <a:ln>
              <a:noFill/>
            </a:ln>
          </p:spPr>
        </p:pic>
        <p:sp>
          <p:nvSpPr>
            <p:cNvPr id="167" name="Google Shape;167;p12"/>
            <p:cNvSpPr txBox="1"/>
            <p:nvPr/>
          </p:nvSpPr>
          <p:spPr>
            <a:xfrm>
              <a:off x="533400" y="228600"/>
              <a:ext cx="1655763"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myPackage</a:t>
              </a:r>
              <a:endParaRPr/>
            </a:p>
          </p:txBody>
        </p:sp>
        <p:pic>
          <p:nvPicPr>
            <p:cNvPr id="168" name="Google Shape;168;p12" descr="Clipart - Manilla &lt;strong&gt;folder&lt;/strong&gt;"/>
            <p:cNvPicPr preferRelativeResize="0"/>
            <p:nvPr/>
          </p:nvPicPr>
          <p:blipFill rotWithShape="1">
            <a:blip r:embed="rId4">
              <a:alphaModFix/>
            </a:blip>
            <a:srcRect/>
            <a:stretch/>
          </p:blipFill>
          <p:spPr>
            <a:xfrm>
              <a:off x="990600" y="3251200"/>
              <a:ext cx="8001000" cy="3835400"/>
            </a:xfrm>
            <a:prstGeom prst="rect">
              <a:avLst/>
            </a:prstGeom>
            <a:noFill/>
            <a:ln>
              <a:noFill/>
            </a:ln>
          </p:spPr>
        </p:pic>
        <p:sp>
          <p:nvSpPr>
            <p:cNvPr id="169" name="Google Shape;169;p12"/>
            <p:cNvSpPr txBox="1"/>
            <p:nvPr/>
          </p:nvSpPr>
          <p:spPr>
            <a:xfrm>
              <a:off x="1600200" y="3632200"/>
              <a:ext cx="1843088"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yourPackage</a:t>
              </a:r>
              <a:endParaRPr/>
            </a:p>
          </p:txBody>
        </p:sp>
        <p:sp>
          <p:nvSpPr>
            <p:cNvPr id="170" name="Google Shape;170;p12"/>
            <p:cNvSpPr txBox="1"/>
            <p:nvPr/>
          </p:nvSpPr>
          <p:spPr>
            <a:xfrm>
              <a:off x="685800" y="920750"/>
              <a:ext cx="2366353"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MyClass</a:t>
              </a: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r>
                <a:rPr lang="en-US" sz="2000" b="1">
                  <a:solidFill>
                    <a:srgbClr val="0070C0"/>
                  </a:solidFill>
                  <a:latin typeface="Tahoma"/>
                  <a:ea typeface="Tahoma"/>
                  <a:cs typeface="Tahoma"/>
                  <a:sym typeface="Tahoma"/>
                </a:rPr>
                <a:t>public</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int size;</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71" name="Google Shape;171;p12"/>
            <p:cNvSpPr txBox="1"/>
            <p:nvPr/>
          </p:nvSpPr>
          <p:spPr>
            <a:xfrm>
              <a:off x="4445000" y="903288"/>
              <a:ext cx="1955800" cy="16303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72" name="Google Shape;172;p12"/>
            <p:cNvSpPr txBox="1"/>
            <p:nvPr/>
          </p:nvSpPr>
          <p:spPr>
            <a:xfrm>
              <a:off x="1624013" y="4506913"/>
              <a:ext cx="36703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YourClass extends MyClass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73" name="Google Shape;173;p12"/>
            <p:cNvSpPr txBox="1"/>
            <p:nvPr/>
          </p:nvSpPr>
          <p:spPr>
            <a:xfrm>
              <a:off x="5927725" y="4506913"/>
              <a:ext cx="21844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74" name="Google Shape;174;p12"/>
            <p:cNvSpPr/>
            <p:nvPr/>
          </p:nvSpPr>
          <p:spPr>
            <a:xfrm>
              <a:off x="2057400" y="2178050"/>
              <a:ext cx="982663" cy="657225"/>
            </a:xfrm>
            <a:custGeom>
              <a:avLst/>
              <a:gdLst/>
              <a:ahLst/>
              <a:cxnLst/>
              <a:rect l="l" t="t" r="r" b="b"/>
              <a:pathLst>
                <a:path w="982696" h="657289" extrusionOk="0">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sp>
          <p:nvSpPr>
            <p:cNvPr id="175" name="Google Shape;175;p12"/>
            <p:cNvSpPr/>
            <p:nvPr/>
          </p:nvSpPr>
          <p:spPr>
            <a:xfrm>
              <a:off x="3557588" y="1736725"/>
              <a:ext cx="1309687" cy="584200"/>
            </a:xfrm>
            <a:custGeom>
              <a:avLst/>
              <a:gdLst/>
              <a:ahLst/>
              <a:cxnLst/>
              <a:rect l="l" t="t" r="r" b="b"/>
              <a:pathLst>
                <a:path w="1309941" h="584262" extrusionOk="0">
                  <a:moveTo>
                    <a:pt x="0" y="400903"/>
                  </a:moveTo>
                  <a:cubicBezTo>
                    <a:pt x="73925" y="510085"/>
                    <a:pt x="272631" y="587260"/>
                    <a:pt x="387256" y="584173"/>
                  </a:cubicBezTo>
                  <a:cubicBezTo>
                    <a:pt x="501881" y="581086"/>
                    <a:pt x="612939" y="476537"/>
                    <a:pt x="687751" y="382380"/>
                  </a:cubicBezTo>
                  <a:cubicBezTo>
                    <a:pt x="762563" y="288223"/>
                    <a:pt x="706474" y="39702"/>
                    <a:pt x="836128" y="19231"/>
                  </a:cubicBezTo>
                  <a:cubicBezTo>
                    <a:pt x="965782" y="-1240"/>
                    <a:pt x="1254612" y="7754"/>
                    <a:pt x="1309941" y="0"/>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sp>
          <p:nvSpPr>
            <p:cNvPr id="176" name="Google Shape;176;p12"/>
            <p:cNvSpPr/>
            <p:nvPr/>
          </p:nvSpPr>
          <p:spPr>
            <a:xfrm>
              <a:off x="3144838" y="2252663"/>
              <a:ext cx="2111375" cy="3260725"/>
            </a:xfrm>
            <a:custGeom>
              <a:avLst/>
              <a:gdLst/>
              <a:ahLst/>
              <a:cxnLst/>
              <a:rect l="l" t="t" r="r" b="b"/>
              <a:pathLst>
                <a:path w="2110797" h="3259890" extrusionOk="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sp>
          <p:nvSpPr>
            <p:cNvPr id="177" name="Google Shape;177;p12"/>
            <p:cNvSpPr/>
            <p:nvPr/>
          </p:nvSpPr>
          <p:spPr>
            <a:xfrm>
              <a:off x="3397250" y="2270125"/>
              <a:ext cx="2868613" cy="3178175"/>
            </a:xfrm>
            <a:custGeom>
              <a:avLst/>
              <a:gdLst/>
              <a:ahLst/>
              <a:cxnLst/>
              <a:rect l="l" t="t" r="r" b="b"/>
              <a:pathLst>
                <a:path w="2868616" h="3179242" extrusionOk="0">
                  <a:moveTo>
                    <a:pt x="0" y="0"/>
                  </a:moveTo>
                  <a:cubicBezTo>
                    <a:pt x="73925" y="109182"/>
                    <a:pt x="727349" y="686754"/>
                    <a:pt x="1015541" y="964361"/>
                  </a:cubicBezTo>
                  <a:cubicBezTo>
                    <a:pt x="1303733" y="1241968"/>
                    <a:pt x="1558107" y="1426930"/>
                    <a:pt x="1729150" y="1665644"/>
                  </a:cubicBezTo>
                  <a:cubicBezTo>
                    <a:pt x="1900193" y="1904358"/>
                    <a:pt x="2137052" y="2048303"/>
                    <a:pt x="2221416" y="2249689"/>
                  </a:cubicBezTo>
                  <a:cubicBezTo>
                    <a:pt x="2305780" y="2451075"/>
                    <a:pt x="2221312" y="2726101"/>
                    <a:pt x="2235335" y="2873958"/>
                  </a:cubicBezTo>
                  <a:cubicBezTo>
                    <a:pt x="2249358" y="3021815"/>
                    <a:pt x="2318679" y="3070361"/>
                    <a:pt x="2403526" y="3136832"/>
                  </a:cubicBezTo>
                  <a:cubicBezTo>
                    <a:pt x="2255675" y="3102713"/>
                    <a:pt x="2959380" y="3200773"/>
                    <a:pt x="2858718" y="3174811"/>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183" name="Google Shape;183;p13"/>
          <p:cNvSpPr/>
          <p:nvPr/>
        </p:nvSpPr>
        <p:spPr>
          <a:xfrm>
            <a:off x="762000" y="1524000"/>
            <a:ext cx="8175625" cy="4968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All members defined as </a:t>
            </a:r>
            <a:endParaRPr/>
          </a:p>
          <a:p>
            <a:pPr marL="0" marR="0" lvl="0" indent="0" algn="l" rtl="0">
              <a:spcBef>
                <a:spcPts val="0"/>
              </a:spcBef>
              <a:spcAft>
                <a:spcPts val="0"/>
              </a:spcAft>
              <a:buClr>
                <a:schemeClr val="accent2"/>
              </a:buClr>
              <a:buSzPts val="4000"/>
              <a:buFont typeface="Arial"/>
              <a:buNone/>
            </a:pPr>
            <a:r>
              <a:rPr lang="en-US" sz="4000">
                <a:solidFill>
                  <a:schemeClr val="accent2"/>
                </a:solidFill>
                <a:latin typeface="Arial"/>
                <a:ea typeface="Arial"/>
                <a:cs typeface="Arial"/>
                <a:sym typeface="Arial"/>
              </a:rPr>
              <a:t>private</a:t>
            </a:r>
            <a:r>
              <a:rPr lang="en-US" sz="4000">
                <a:solidFill>
                  <a:schemeClr val="dk1"/>
                </a:solidFill>
                <a:latin typeface="Arial"/>
                <a:ea typeface="Arial"/>
                <a:cs typeface="Arial"/>
                <a:sym typeface="Arial"/>
              </a:rPr>
              <a:t> can only be accessed</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by members of the class where</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they are defined.</a:t>
            </a:r>
            <a:endParaRPr/>
          </a:p>
          <a:p>
            <a:pPr marL="0" marR="0" lvl="0" indent="0" algn="l" rtl="0">
              <a:spcBef>
                <a:spcPts val="0"/>
              </a:spcBef>
              <a:spcAft>
                <a:spcPts val="0"/>
              </a:spcAft>
              <a:buClr>
                <a:schemeClr val="dk1"/>
              </a:buClr>
              <a:buSzPts val="4000"/>
              <a:buFont typeface="Times New Roman"/>
              <a:buNone/>
            </a:pPr>
            <a:endParaRPr sz="40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Private members may not be</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accessed directly by sub classes</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or by other classes.</a:t>
            </a:r>
            <a:endParaRPr/>
          </a:p>
        </p:txBody>
      </p:sp>
      <p:sp>
        <p:nvSpPr>
          <p:cNvPr id="184" name="Google Shape;184;p13"/>
          <p:cNvSpPr/>
          <p:nvPr/>
        </p:nvSpPr>
        <p:spPr>
          <a:xfrm>
            <a:off x="1524000" y="457200"/>
            <a:ext cx="5715000" cy="76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private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grpSp>
        <p:nvGrpSpPr>
          <p:cNvPr id="189" name="Google Shape;189;p14" descr="My file:&#10;package myPackage;&#10;public class MyClass {&#10;   // class member with private access&#10;}&#10;public class MyOtherClass {&#10;}&#10;Your file:&#10;package yourPackage;&#10;class YourClass extends MyClass { &#10;}&#10;class YourOtherClass extends MyClass {&#10;}&#10;My private class member can only be accessed from inside the same class."/>
          <p:cNvGrpSpPr/>
          <p:nvPr/>
        </p:nvGrpSpPr>
        <p:grpSpPr>
          <a:xfrm>
            <a:off x="-76200" y="-152400"/>
            <a:ext cx="9067800" cy="7239000"/>
            <a:chOff x="-76200" y="-152400"/>
            <a:chExt cx="9067800" cy="7239000"/>
          </a:xfrm>
        </p:grpSpPr>
        <p:pic>
          <p:nvPicPr>
            <p:cNvPr id="190" name="Google Shape;190;p14" descr="Clipart - Manilla &lt;strong&gt;folder&lt;/strong&gt;"/>
            <p:cNvPicPr preferRelativeResize="0"/>
            <p:nvPr/>
          </p:nvPicPr>
          <p:blipFill rotWithShape="1">
            <a:blip r:embed="rId3">
              <a:alphaModFix/>
            </a:blip>
            <a:srcRect/>
            <a:stretch/>
          </p:blipFill>
          <p:spPr>
            <a:xfrm>
              <a:off x="-76200" y="-152400"/>
              <a:ext cx="8001000" cy="3886200"/>
            </a:xfrm>
            <a:prstGeom prst="rect">
              <a:avLst/>
            </a:prstGeom>
            <a:noFill/>
            <a:ln>
              <a:noFill/>
            </a:ln>
          </p:spPr>
        </p:pic>
        <p:sp>
          <p:nvSpPr>
            <p:cNvPr id="191" name="Google Shape;191;p14"/>
            <p:cNvSpPr txBox="1"/>
            <p:nvPr/>
          </p:nvSpPr>
          <p:spPr>
            <a:xfrm>
              <a:off x="533400" y="228600"/>
              <a:ext cx="1655763"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myPackage</a:t>
              </a:r>
              <a:endParaRPr/>
            </a:p>
          </p:txBody>
        </p:sp>
        <p:pic>
          <p:nvPicPr>
            <p:cNvPr id="192" name="Google Shape;192;p14" descr="Clipart - Manilla &lt;strong&gt;folder&lt;/strong&gt;"/>
            <p:cNvPicPr preferRelativeResize="0"/>
            <p:nvPr/>
          </p:nvPicPr>
          <p:blipFill rotWithShape="1">
            <a:blip r:embed="rId4">
              <a:alphaModFix/>
            </a:blip>
            <a:srcRect/>
            <a:stretch/>
          </p:blipFill>
          <p:spPr>
            <a:xfrm>
              <a:off x="990600" y="3251200"/>
              <a:ext cx="8001000" cy="3835400"/>
            </a:xfrm>
            <a:prstGeom prst="rect">
              <a:avLst/>
            </a:prstGeom>
            <a:noFill/>
            <a:ln>
              <a:noFill/>
            </a:ln>
          </p:spPr>
        </p:pic>
        <p:sp>
          <p:nvSpPr>
            <p:cNvPr id="193" name="Google Shape;193;p14"/>
            <p:cNvSpPr txBox="1"/>
            <p:nvPr/>
          </p:nvSpPr>
          <p:spPr>
            <a:xfrm>
              <a:off x="1600200" y="3632200"/>
              <a:ext cx="1843088"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yourPackage</a:t>
              </a:r>
              <a:endParaRPr/>
            </a:p>
          </p:txBody>
        </p:sp>
        <p:sp>
          <p:nvSpPr>
            <p:cNvPr id="194" name="Google Shape;194;p14"/>
            <p:cNvSpPr txBox="1"/>
            <p:nvPr/>
          </p:nvSpPr>
          <p:spPr>
            <a:xfrm>
              <a:off x="685800" y="920750"/>
              <a:ext cx="2501006"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MyClass</a:t>
              </a: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r>
                <a:rPr lang="en-US" sz="2000" b="1">
                  <a:solidFill>
                    <a:srgbClr val="0070C0"/>
                  </a:solidFill>
                  <a:latin typeface="Tahoma"/>
                  <a:ea typeface="Tahoma"/>
                  <a:cs typeface="Tahoma"/>
                  <a:sym typeface="Tahoma"/>
                </a:rPr>
                <a:t>private</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int size;</a:t>
              </a:r>
              <a:endParaRPr/>
            </a:p>
            <a:p>
              <a:pPr marL="0" marR="0" lvl="0" indent="0" algn="l" rtl="0">
                <a:spcBef>
                  <a:spcPts val="0"/>
                </a:spcBef>
                <a:spcAft>
                  <a:spcPts val="0"/>
                </a:spcAft>
                <a:buClr>
                  <a:schemeClr val="dk1"/>
                </a:buClr>
                <a:buSzPts val="2000"/>
                <a:buFont typeface="Times New Roman"/>
                <a:buNone/>
              </a:pPr>
              <a:endParaRPr sz="2000" i="1">
                <a:solidFill>
                  <a:srgbClr val="7030A0"/>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95" name="Google Shape;195;p14"/>
            <p:cNvSpPr txBox="1"/>
            <p:nvPr/>
          </p:nvSpPr>
          <p:spPr>
            <a:xfrm>
              <a:off x="4292600" y="920750"/>
              <a:ext cx="1955800" cy="16303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96" name="Google Shape;196;p14"/>
            <p:cNvSpPr txBox="1"/>
            <p:nvPr/>
          </p:nvSpPr>
          <p:spPr>
            <a:xfrm>
              <a:off x="1624013" y="4506913"/>
              <a:ext cx="36703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YourClass extends MyClass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97" name="Google Shape;197;p14"/>
            <p:cNvSpPr txBox="1"/>
            <p:nvPr/>
          </p:nvSpPr>
          <p:spPr>
            <a:xfrm>
              <a:off x="5927725" y="4506913"/>
              <a:ext cx="21844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198" name="Google Shape;198;p14"/>
            <p:cNvSpPr/>
            <p:nvPr/>
          </p:nvSpPr>
          <p:spPr>
            <a:xfrm>
              <a:off x="2133600" y="1989138"/>
              <a:ext cx="671513" cy="561975"/>
            </a:xfrm>
            <a:custGeom>
              <a:avLst/>
              <a:gdLst/>
              <a:ahLst/>
              <a:cxnLst/>
              <a:rect l="l" t="t" r="r" b="b"/>
              <a:pathLst>
                <a:path w="670973" h="561907" extrusionOk="0">
                  <a:moveTo>
                    <a:pt x="586854" y="0"/>
                  </a:moveTo>
                  <a:cubicBezTo>
                    <a:pt x="660779" y="109182"/>
                    <a:pt x="677839" y="93259"/>
                    <a:pt x="668741" y="177420"/>
                  </a:cubicBezTo>
                  <a:cubicBezTo>
                    <a:pt x="659643" y="261581"/>
                    <a:pt x="643720" y="441277"/>
                    <a:pt x="532263" y="504967"/>
                  </a:cubicBezTo>
                  <a:cubicBezTo>
                    <a:pt x="420806" y="568657"/>
                    <a:pt x="210403" y="564107"/>
                    <a:pt x="0" y="559558"/>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204" name="Google Shape;204;p15"/>
          <p:cNvSpPr/>
          <p:nvPr/>
        </p:nvSpPr>
        <p:spPr>
          <a:xfrm>
            <a:off x="685800" y="1524000"/>
            <a:ext cx="7951788" cy="579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This is the default visibility.</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All members defined as </a:t>
            </a:r>
            <a:endParaRPr/>
          </a:p>
          <a:p>
            <a:pPr marL="0" marR="0" lvl="0" indent="0" algn="l" rtl="0">
              <a:spcBef>
                <a:spcPts val="0"/>
              </a:spcBef>
              <a:spcAft>
                <a:spcPts val="0"/>
              </a:spcAft>
              <a:buClr>
                <a:schemeClr val="accent2"/>
              </a:buClr>
              <a:buSzPts val="4000"/>
              <a:buFont typeface="Arial"/>
              <a:buNone/>
            </a:pPr>
            <a:r>
              <a:rPr lang="en-US" sz="4000">
                <a:solidFill>
                  <a:schemeClr val="accent2"/>
                </a:solidFill>
                <a:latin typeface="Arial"/>
                <a:ea typeface="Arial"/>
                <a:cs typeface="Arial"/>
                <a:sym typeface="Arial"/>
              </a:rPr>
              <a:t>package</a:t>
            </a:r>
            <a:r>
              <a:rPr lang="en-US" sz="4000">
                <a:solidFill>
                  <a:schemeClr val="dk1"/>
                </a:solidFill>
                <a:latin typeface="Arial"/>
                <a:ea typeface="Arial"/>
                <a:cs typeface="Arial"/>
                <a:sym typeface="Arial"/>
              </a:rPr>
              <a:t> can be accessed</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by members of any other</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class in the same package.</a:t>
            </a:r>
            <a:endParaRPr/>
          </a:p>
          <a:p>
            <a:pPr marL="0" marR="0" lvl="0" indent="0" algn="l" rtl="0">
              <a:spcBef>
                <a:spcPts val="0"/>
              </a:spcBef>
              <a:spcAft>
                <a:spcPts val="0"/>
              </a:spcAft>
              <a:buClr>
                <a:schemeClr val="dk1"/>
              </a:buClr>
              <a:buSzPts val="1400"/>
              <a:buFont typeface="Times New Roman"/>
              <a:buNone/>
            </a:pPr>
            <a:endParaRPr sz="14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Sub class members may access</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them only if the sub class is in</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the same package.</a:t>
            </a:r>
            <a:endParaRPr/>
          </a:p>
          <a:p>
            <a:pPr marL="0" marR="0" lvl="0" indent="0" algn="l" rtl="0">
              <a:spcBef>
                <a:spcPts val="0"/>
              </a:spcBef>
              <a:spcAft>
                <a:spcPts val="0"/>
              </a:spcAft>
              <a:buClr>
                <a:schemeClr val="dk1"/>
              </a:buClr>
              <a:buSzPts val="4000"/>
              <a:buFont typeface="Times New Roman"/>
              <a:buNone/>
            </a:pPr>
            <a:endParaRPr sz="4000">
              <a:solidFill>
                <a:schemeClr val="dk1"/>
              </a:solidFill>
              <a:latin typeface="Arial"/>
              <a:ea typeface="Arial"/>
              <a:cs typeface="Arial"/>
              <a:sym typeface="Arial"/>
            </a:endParaRPr>
          </a:p>
        </p:txBody>
      </p:sp>
      <p:sp>
        <p:nvSpPr>
          <p:cNvPr id="205" name="Google Shape;205;p15"/>
          <p:cNvSpPr/>
          <p:nvPr/>
        </p:nvSpPr>
        <p:spPr>
          <a:xfrm>
            <a:off x="1524000" y="457200"/>
            <a:ext cx="5715000" cy="76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package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6" descr="Clipart - Manilla &lt;strong&gt;folder&lt;/strong&gt;"/>
          <p:cNvPicPr preferRelativeResize="0"/>
          <p:nvPr/>
        </p:nvPicPr>
        <p:blipFill rotWithShape="1">
          <a:blip r:embed="rId3">
            <a:alphaModFix/>
          </a:blip>
          <a:srcRect/>
          <a:stretch/>
        </p:blipFill>
        <p:spPr>
          <a:xfrm>
            <a:off x="-76200" y="-152400"/>
            <a:ext cx="9585960" cy="3886200"/>
          </a:xfrm>
          <a:prstGeom prst="rect">
            <a:avLst/>
          </a:prstGeom>
          <a:noFill/>
          <a:ln>
            <a:noFill/>
          </a:ln>
        </p:spPr>
      </p:pic>
      <p:sp>
        <p:nvSpPr>
          <p:cNvPr id="211" name="Google Shape;211;p16"/>
          <p:cNvSpPr txBox="1"/>
          <p:nvPr/>
        </p:nvSpPr>
        <p:spPr>
          <a:xfrm>
            <a:off x="533400" y="228600"/>
            <a:ext cx="1655763"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myPackage</a:t>
            </a:r>
            <a:endParaRPr/>
          </a:p>
        </p:txBody>
      </p:sp>
      <p:pic>
        <p:nvPicPr>
          <p:cNvPr id="212" name="Google Shape;212;p16" descr="Clipart - Manilla &lt;strong&gt;folder&lt;/strong&gt;"/>
          <p:cNvPicPr preferRelativeResize="0"/>
          <p:nvPr/>
        </p:nvPicPr>
        <p:blipFill rotWithShape="1">
          <a:blip r:embed="rId4">
            <a:alphaModFix/>
          </a:blip>
          <a:srcRect/>
          <a:stretch/>
        </p:blipFill>
        <p:spPr>
          <a:xfrm>
            <a:off x="990600" y="3251200"/>
            <a:ext cx="8001000" cy="3835400"/>
          </a:xfrm>
          <a:prstGeom prst="rect">
            <a:avLst/>
          </a:prstGeom>
          <a:noFill/>
          <a:ln>
            <a:noFill/>
          </a:ln>
        </p:spPr>
      </p:pic>
      <p:sp>
        <p:nvSpPr>
          <p:cNvPr id="213" name="Google Shape;213;p16"/>
          <p:cNvSpPr txBox="1"/>
          <p:nvPr/>
        </p:nvSpPr>
        <p:spPr>
          <a:xfrm>
            <a:off x="1600200" y="3632200"/>
            <a:ext cx="1843088"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yourPackage</a:t>
            </a:r>
            <a:endParaRPr/>
          </a:p>
        </p:txBody>
      </p:sp>
      <p:sp>
        <p:nvSpPr>
          <p:cNvPr id="214" name="Google Shape;214;p16"/>
          <p:cNvSpPr txBox="1"/>
          <p:nvPr/>
        </p:nvSpPr>
        <p:spPr>
          <a:xfrm>
            <a:off x="685800" y="920750"/>
            <a:ext cx="1571264"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MyClass</a:t>
            </a: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a:p>
            <a:pPr marL="0" marR="0" lvl="0" indent="0" algn="l" rtl="0">
              <a:lnSpc>
                <a:spcPct val="100000"/>
              </a:lnSpc>
              <a:spcBef>
                <a:spcPts val="0"/>
              </a:spcBef>
              <a:spcAft>
                <a:spcPts val="0"/>
              </a:spcAft>
              <a:buClr>
                <a:srgbClr val="7030A0"/>
              </a:buClr>
              <a:buSzPts val="2000"/>
              <a:buFont typeface="Tahoma"/>
              <a:buNone/>
            </a:pPr>
            <a:r>
              <a:rPr lang="en-US" sz="2000" b="1" i="0" u="none" strike="noStrike" cap="none">
                <a:solidFill>
                  <a:srgbClr val="7030A0"/>
                </a:solidFill>
                <a:latin typeface="Tahoma"/>
                <a:ea typeface="Tahoma"/>
                <a:cs typeface="Tahoma"/>
                <a:sym typeface="Tahoma"/>
              </a:rPr>
              <a:t>     int size;</a:t>
            </a:r>
            <a:endParaRPr/>
          </a:p>
          <a:p>
            <a:pPr marL="0" marR="0" lvl="0" indent="0" algn="l" rtl="0">
              <a:lnSpc>
                <a:spcPct val="100000"/>
              </a:lnSpc>
              <a:spcBef>
                <a:spcPts val="0"/>
              </a:spcBef>
              <a:spcAft>
                <a:spcPts val="0"/>
              </a:spcAft>
              <a:buClr>
                <a:schemeClr val="dk1"/>
              </a:buClr>
              <a:buSzPts val="2000"/>
              <a:buFont typeface="Times New Roman"/>
              <a:buNone/>
            </a:pPr>
            <a:endParaRPr sz="2000" b="0" i="1" u="none" strike="noStrike" cap="none">
              <a:solidFill>
                <a:srgbClr val="7030A0"/>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p:txBody>
      </p:sp>
      <p:sp>
        <p:nvSpPr>
          <p:cNvPr id="215" name="Google Shape;215;p16"/>
          <p:cNvSpPr txBox="1"/>
          <p:nvPr/>
        </p:nvSpPr>
        <p:spPr>
          <a:xfrm>
            <a:off x="4154488" y="903288"/>
            <a:ext cx="1957387" cy="16303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MyOtherClass</a:t>
            </a: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    </a:t>
            </a:r>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p:txBody>
      </p:sp>
      <p:sp>
        <p:nvSpPr>
          <p:cNvPr id="216" name="Google Shape;216;p16"/>
          <p:cNvSpPr txBox="1"/>
          <p:nvPr/>
        </p:nvSpPr>
        <p:spPr>
          <a:xfrm>
            <a:off x="1624013" y="4506913"/>
            <a:ext cx="3670300" cy="16319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YourClass extends MyClass</a:t>
            </a:r>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p:txBody>
      </p:sp>
      <p:sp>
        <p:nvSpPr>
          <p:cNvPr id="217" name="Google Shape;217;p16"/>
          <p:cNvSpPr txBox="1"/>
          <p:nvPr/>
        </p:nvSpPr>
        <p:spPr>
          <a:xfrm>
            <a:off x="5927725" y="4506913"/>
            <a:ext cx="2184400" cy="16319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YourOtherClass</a:t>
            </a:r>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    </a:t>
            </a:r>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rgbClr val="000000"/>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000"/>
              <a:buFont typeface="Tahoma"/>
              <a:buNone/>
            </a:pPr>
            <a:r>
              <a:rPr lang="en-US" sz="2000" b="0" i="0" u="none" strike="noStrike" cap="none">
                <a:solidFill>
                  <a:srgbClr val="000000"/>
                </a:solidFill>
                <a:latin typeface="Tahoma"/>
                <a:ea typeface="Tahoma"/>
                <a:cs typeface="Tahoma"/>
                <a:sym typeface="Tahoma"/>
              </a:rPr>
              <a:t>}</a:t>
            </a:r>
            <a:endParaRPr/>
          </a:p>
        </p:txBody>
      </p:sp>
      <p:sp>
        <p:nvSpPr>
          <p:cNvPr id="218" name="Google Shape;218;p16"/>
          <p:cNvSpPr/>
          <p:nvPr/>
        </p:nvSpPr>
        <p:spPr>
          <a:xfrm>
            <a:off x="2357438" y="2178050"/>
            <a:ext cx="982662" cy="657225"/>
          </a:xfrm>
          <a:custGeom>
            <a:avLst/>
            <a:gdLst/>
            <a:ahLst/>
            <a:cxnLst/>
            <a:rect l="l" t="t" r="r" b="b"/>
            <a:pathLst>
              <a:path w="982696" h="657289" extrusionOk="0">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200"/>
              <a:buFont typeface="Tahoma"/>
              <a:buNone/>
            </a:pPr>
            <a:endParaRPr sz="2200" b="0" i="0" u="none" strike="noStrike" cap="none">
              <a:solidFill>
                <a:srgbClr val="000000"/>
              </a:solidFill>
              <a:latin typeface="Tahoma"/>
              <a:ea typeface="Tahoma"/>
              <a:cs typeface="Tahoma"/>
              <a:sym typeface="Tahoma"/>
            </a:endParaRPr>
          </a:p>
        </p:txBody>
      </p:sp>
      <p:sp>
        <p:nvSpPr>
          <p:cNvPr id="219" name="Google Shape;219;p16"/>
          <p:cNvSpPr/>
          <p:nvPr/>
        </p:nvSpPr>
        <p:spPr>
          <a:xfrm>
            <a:off x="3389313" y="1946275"/>
            <a:ext cx="1228725" cy="606425"/>
          </a:xfrm>
          <a:custGeom>
            <a:avLst/>
            <a:gdLst/>
            <a:ahLst/>
            <a:cxnLst/>
            <a:rect l="l" t="t" r="r" b="b"/>
            <a:pathLst>
              <a:path w="1228298" h="607403" extrusionOk="0">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200"/>
              <a:buFont typeface="Tahoma"/>
              <a:buNone/>
            </a:pPr>
            <a:endParaRPr sz="2200" b="0" i="0" u="none" strike="noStrike" cap="none">
              <a:solidFill>
                <a:srgbClr val="000000"/>
              </a:solidFill>
              <a:latin typeface="Tahoma"/>
              <a:ea typeface="Tahoma"/>
              <a:cs typeface="Tahoma"/>
              <a:sym typeface="Tahoma"/>
            </a:endParaRPr>
          </a:p>
        </p:txBody>
      </p:sp>
      <p:sp>
        <p:nvSpPr>
          <p:cNvPr id="220" name="Google Shape;220;p16"/>
          <p:cNvSpPr txBox="1"/>
          <p:nvPr/>
        </p:nvSpPr>
        <p:spPr>
          <a:xfrm>
            <a:off x="6092825" y="796468"/>
            <a:ext cx="298009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2800"/>
              <a:buFont typeface="Tahoma"/>
              <a:buNone/>
            </a:pPr>
            <a:r>
              <a:rPr lang="en-US" sz="2800" b="1" i="0" u="none" strike="noStrike" cap="none">
                <a:solidFill>
                  <a:srgbClr val="7030A0"/>
                </a:solidFill>
                <a:latin typeface="Tahoma"/>
                <a:ea typeface="Tahoma"/>
                <a:cs typeface="Tahoma"/>
                <a:sym typeface="Tahoma"/>
              </a:rPr>
              <a:t>Note that there is no modifier since package is the default access level.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226" name="Google Shape;226;p17"/>
          <p:cNvSpPr/>
          <p:nvPr/>
        </p:nvSpPr>
        <p:spPr>
          <a:xfrm>
            <a:off x="685800" y="1676400"/>
            <a:ext cx="7299325" cy="46037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All members defined as </a:t>
            </a:r>
            <a:endParaRPr/>
          </a:p>
          <a:p>
            <a:pPr marL="0" marR="0" lvl="0" indent="0" algn="l" rtl="0">
              <a:spcBef>
                <a:spcPts val="0"/>
              </a:spcBef>
              <a:spcAft>
                <a:spcPts val="0"/>
              </a:spcAft>
              <a:buClr>
                <a:schemeClr val="accent2"/>
              </a:buClr>
              <a:buSzPts val="4000"/>
              <a:buFont typeface="Arial"/>
              <a:buNone/>
            </a:pPr>
            <a:r>
              <a:rPr lang="en-US" sz="4000">
                <a:solidFill>
                  <a:schemeClr val="accent2"/>
                </a:solidFill>
                <a:latin typeface="Arial"/>
                <a:ea typeface="Arial"/>
                <a:cs typeface="Arial"/>
                <a:sym typeface="Arial"/>
              </a:rPr>
              <a:t>protected</a:t>
            </a:r>
            <a:r>
              <a:rPr lang="en-US" sz="4000">
                <a:solidFill>
                  <a:schemeClr val="dk1"/>
                </a:solidFill>
                <a:latin typeface="Arial"/>
                <a:ea typeface="Arial"/>
                <a:cs typeface="Arial"/>
                <a:sym typeface="Arial"/>
              </a:rPr>
              <a:t> can be accessed</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by members of the sub class </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and any other class in the </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same package.</a:t>
            </a:r>
            <a:endParaRPr/>
          </a:p>
          <a:p>
            <a:pPr marL="0" marR="0" lvl="0" indent="0" algn="l" rtl="0">
              <a:spcBef>
                <a:spcPts val="0"/>
              </a:spcBef>
              <a:spcAft>
                <a:spcPts val="0"/>
              </a:spcAft>
              <a:buClr>
                <a:schemeClr val="dk1"/>
              </a:buClr>
              <a:buSzPts val="1600"/>
              <a:buFont typeface="Times New Roman"/>
              <a:buNone/>
            </a:pPr>
            <a:endParaRPr sz="16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This makes protected less </a:t>
            </a:r>
            <a:endParaRPr/>
          </a:p>
          <a:p>
            <a:pPr marL="0" marR="0" lvl="0" indent="0" algn="l"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restrictive than package.</a:t>
            </a:r>
            <a:endParaRPr/>
          </a:p>
        </p:txBody>
      </p:sp>
      <p:sp>
        <p:nvSpPr>
          <p:cNvPr id="227" name="Google Shape;227;p17"/>
          <p:cNvSpPr/>
          <p:nvPr/>
        </p:nvSpPr>
        <p:spPr>
          <a:xfrm>
            <a:off x="1524000" y="457200"/>
            <a:ext cx="5715000" cy="76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protected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232" name="Google Shape;232;p18" descr="My file:&#10;package myPackage;&#10;public class MyClass {&#10;   // class member with protected access&#10;}&#10;public class MyOtherClass {&#10;}&#10;Your file:&#10;package yourPackage;&#10;class YourClass extends MyClass { &#10;}&#10;class YourOtherClass extends MyClass {&#10;}&#10;My protected class member can be access from classes in the same package AND from subclasses."/>
          <p:cNvGrpSpPr/>
          <p:nvPr/>
        </p:nvGrpSpPr>
        <p:grpSpPr>
          <a:xfrm>
            <a:off x="-76200" y="-152400"/>
            <a:ext cx="9067800" cy="7239000"/>
            <a:chOff x="-76200" y="-152400"/>
            <a:chExt cx="9067800" cy="7239000"/>
          </a:xfrm>
        </p:grpSpPr>
        <p:pic>
          <p:nvPicPr>
            <p:cNvPr id="233" name="Google Shape;233;p18" descr="Clipart - Manilla &lt;strong&gt;folder&lt;/strong&gt;"/>
            <p:cNvPicPr preferRelativeResize="0"/>
            <p:nvPr/>
          </p:nvPicPr>
          <p:blipFill rotWithShape="1">
            <a:blip r:embed="rId3">
              <a:alphaModFix/>
            </a:blip>
            <a:srcRect/>
            <a:stretch/>
          </p:blipFill>
          <p:spPr>
            <a:xfrm>
              <a:off x="-76200" y="-152400"/>
              <a:ext cx="8001000" cy="3886200"/>
            </a:xfrm>
            <a:prstGeom prst="rect">
              <a:avLst/>
            </a:prstGeom>
            <a:noFill/>
            <a:ln>
              <a:noFill/>
            </a:ln>
          </p:spPr>
        </p:pic>
        <p:sp>
          <p:nvSpPr>
            <p:cNvPr id="234" name="Google Shape;234;p18"/>
            <p:cNvSpPr txBox="1"/>
            <p:nvPr/>
          </p:nvSpPr>
          <p:spPr>
            <a:xfrm>
              <a:off x="533400" y="228600"/>
              <a:ext cx="1655763"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myPackage</a:t>
              </a:r>
              <a:endParaRPr/>
            </a:p>
          </p:txBody>
        </p:sp>
        <p:pic>
          <p:nvPicPr>
            <p:cNvPr id="235" name="Google Shape;235;p18" descr="Clipart - Manilla &lt;strong&gt;folder&lt;/strong&gt;"/>
            <p:cNvPicPr preferRelativeResize="0"/>
            <p:nvPr/>
          </p:nvPicPr>
          <p:blipFill rotWithShape="1">
            <a:blip r:embed="rId4">
              <a:alphaModFix/>
            </a:blip>
            <a:srcRect/>
            <a:stretch/>
          </p:blipFill>
          <p:spPr>
            <a:xfrm>
              <a:off x="990600" y="3251200"/>
              <a:ext cx="8001000" cy="3835400"/>
            </a:xfrm>
            <a:prstGeom prst="rect">
              <a:avLst/>
            </a:prstGeom>
            <a:noFill/>
            <a:ln>
              <a:noFill/>
            </a:ln>
          </p:spPr>
        </p:pic>
        <p:sp>
          <p:nvSpPr>
            <p:cNvPr id="236" name="Google Shape;236;p18"/>
            <p:cNvSpPr txBox="1"/>
            <p:nvPr/>
          </p:nvSpPr>
          <p:spPr>
            <a:xfrm>
              <a:off x="1600200" y="3632200"/>
              <a:ext cx="1843088"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yourPackage</a:t>
              </a:r>
              <a:endParaRPr/>
            </a:p>
          </p:txBody>
        </p:sp>
        <p:sp>
          <p:nvSpPr>
            <p:cNvPr id="237" name="Google Shape;237;p18"/>
            <p:cNvSpPr txBox="1"/>
            <p:nvPr/>
          </p:nvSpPr>
          <p:spPr>
            <a:xfrm>
              <a:off x="685800" y="920750"/>
              <a:ext cx="32004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MyClass</a:t>
              </a: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r>
                <a:rPr lang="en-US" sz="2000" b="1">
                  <a:solidFill>
                    <a:srgbClr val="0070C0"/>
                  </a:solidFill>
                  <a:latin typeface="Tahoma"/>
                  <a:ea typeface="Tahoma"/>
                  <a:cs typeface="Tahoma"/>
                  <a:sym typeface="Tahoma"/>
                </a:rPr>
                <a:t>protected</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int size;</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238" name="Google Shape;238;p18"/>
            <p:cNvSpPr txBox="1"/>
            <p:nvPr/>
          </p:nvSpPr>
          <p:spPr>
            <a:xfrm>
              <a:off x="4445000" y="903288"/>
              <a:ext cx="1955800" cy="16303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MyOtherClass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239" name="Google Shape;239;p18"/>
            <p:cNvSpPr txBox="1"/>
            <p:nvPr/>
          </p:nvSpPr>
          <p:spPr>
            <a:xfrm>
              <a:off x="1624013" y="4506913"/>
              <a:ext cx="36703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YourClass </a:t>
              </a:r>
              <a:r>
                <a:rPr lang="en-US" sz="2000">
                  <a:solidFill>
                    <a:srgbClr val="0070C0"/>
                  </a:solidFill>
                  <a:latin typeface="Tahoma"/>
                  <a:ea typeface="Tahoma"/>
                  <a:cs typeface="Tahoma"/>
                  <a:sym typeface="Tahoma"/>
                </a:rPr>
                <a:t>extends MyClass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240" name="Google Shape;240;p18"/>
            <p:cNvSpPr txBox="1"/>
            <p:nvPr/>
          </p:nvSpPr>
          <p:spPr>
            <a:xfrm>
              <a:off x="5927725" y="4506913"/>
              <a:ext cx="2184400" cy="1631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YourOtherClass</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    </a:t>
              </a:r>
              <a:endParaRPr/>
            </a:p>
            <a:p>
              <a:pPr marL="0" marR="0" lvl="0" indent="0" algn="l" rtl="0">
                <a:spcBef>
                  <a:spcPts val="0"/>
                </a:spcBef>
                <a:spcAft>
                  <a:spcPts val="0"/>
                </a:spcAft>
                <a:buClr>
                  <a:schemeClr val="dk1"/>
                </a:buClr>
                <a:buSzPts val="2000"/>
                <a:buFont typeface="Times New Roman"/>
                <a:buNone/>
              </a:pPr>
              <a:endParaRPr sz="2000">
                <a:solidFill>
                  <a:schemeClr val="dk1"/>
                </a:solidFill>
                <a:latin typeface="Tahoma"/>
                <a:ea typeface="Tahoma"/>
                <a:cs typeface="Tahoma"/>
                <a:sym typeface="Tahoma"/>
              </a:endParaRPr>
            </a:p>
            <a:p>
              <a:pPr marL="0" marR="0" lvl="0" indent="0" algn="l" rtl="0">
                <a:spcBef>
                  <a:spcPts val="0"/>
                </a:spcBef>
                <a:spcAft>
                  <a:spcPts val="0"/>
                </a:spcAft>
                <a:buClr>
                  <a:schemeClr val="dk1"/>
                </a:buClr>
                <a:buSzPts val="2000"/>
                <a:buFont typeface="Tahoma"/>
                <a:buNone/>
              </a:pPr>
              <a:r>
                <a:rPr lang="en-US" sz="2000">
                  <a:solidFill>
                    <a:schemeClr val="dk1"/>
                  </a:solidFill>
                  <a:latin typeface="Tahoma"/>
                  <a:ea typeface="Tahoma"/>
                  <a:cs typeface="Tahoma"/>
                  <a:sym typeface="Tahoma"/>
                </a:rPr>
                <a:t>}</a:t>
              </a:r>
              <a:endParaRPr/>
            </a:p>
          </p:txBody>
        </p:sp>
        <p:sp>
          <p:nvSpPr>
            <p:cNvPr id="241" name="Google Shape;241;p18"/>
            <p:cNvSpPr/>
            <p:nvPr/>
          </p:nvSpPr>
          <p:spPr>
            <a:xfrm>
              <a:off x="2357438" y="2178050"/>
              <a:ext cx="982662" cy="657225"/>
            </a:xfrm>
            <a:custGeom>
              <a:avLst/>
              <a:gdLst/>
              <a:ahLst/>
              <a:cxnLst/>
              <a:rect l="l" t="t" r="r" b="b"/>
              <a:pathLst>
                <a:path w="982696" h="657289" extrusionOk="0">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sp>
          <p:nvSpPr>
            <p:cNvPr id="242" name="Google Shape;242;p18"/>
            <p:cNvSpPr/>
            <p:nvPr/>
          </p:nvSpPr>
          <p:spPr>
            <a:xfrm>
              <a:off x="3678238" y="1946275"/>
              <a:ext cx="1228725" cy="606425"/>
            </a:xfrm>
            <a:custGeom>
              <a:avLst/>
              <a:gdLst/>
              <a:ahLst/>
              <a:cxnLst/>
              <a:rect l="l" t="t" r="r" b="b"/>
              <a:pathLst>
                <a:path w="1228298" h="607403" extrusionOk="0">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sp>
          <p:nvSpPr>
            <p:cNvPr id="243" name="Google Shape;243;p18"/>
            <p:cNvSpPr/>
            <p:nvPr/>
          </p:nvSpPr>
          <p:spPr>
            <a:xfrm>
              <a:off x="3451225" y="2252663"/>
              <a:ext cx="2111375" cy="3260725"/>
            </a:xfrm>
            <a:custGeom>
              <a:avLst/>
              <a:gdLst/>
              <a:ahLst/>
              <a:cxnLst/>
              <a:rect l="l" t="t" r="r" b="b"/>
              <a:pathLst>
                <a:path w="2110797" h="3259890" extrusionOk="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200">
                <a:solidFill>
                  <a:schemeClr val="dk1"/>
                </a:solidFill>
                <a:latin typeface="Tahoma"/>
                <a:ea typeface="Tahoma"/>
                <a:cs typeface="Tahoma"/>
                <a:sym typeface="Tahoma"/>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1">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1">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1">
                <a:solidFill>
                  <a:schemeClr val="dk1"/>
                </a:solidFill>
                <a:latin typeface="Tahoma"/>
                <a:ea typeface="Tahoma"/>
                <a:cs typeface="Tahoma"/>
                <a:sym typeface="Tahoma"/>
              </a:rPr>
              <a:t>© A+ Computer Science  -  www.apluscompsci.com</a:t>
            </a:r>
            <a:endParaRPr/>
          </a:p>
        </p:txBody>
      </p:sp>
      <p:sp>
        <p:nvSpPr>
          <p:cNvPr id="249" name="Google Shape;249;p19"/>
          <p:cNvSpPr txBox="1">
            <a:spLocks noGrp="1"/>
          </p:cNvSpPr>
          <p:nvPr>
            <p:ph type="title"/>
          </p:nvPr>
        </p:nvSpPr>
        <p:spPr>
          <a:xfrm>
            <a:off x="685800" y="3048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solidFill>
                  <a:schemeClr val="accent2"/>
                </a:solidFill>
                <a:latin typeface="Helvetica Neue"/>
                <a:ea typeface="Helvetica Neue"/>
                <a:cs typeface="Helvetica Neue"/>
                <a:sym typeface="Helvetica Neue"/>
              </a:rPr>
              <a:t>Visibility Levels</a:t>
            </a:r>
            <a:endParaRPr/>
          </a:p>
        </p:txBody>
      </p:sp>
      <p:graphicFrame>
        <p:nvGraphicFramePr>
          <p:cNvPr id="250" name="Google Shape;250;p19"/>
          <p:cNvGraphicFramePr/>
          <p:nvPr/>
        </p:nvGraphicFramePr>
        <p:xfrm>
          <a:off x="609600" y="1905000"/>
          <a:ext cx="8153400" cy="4232705"/>
        </p:xfrm>
        <a:graphic>
          <a:graphicData uri="http://schemas.openxmlformats.org/drawingml/2006/table">
            <a:tbl>
              <a:tblPr>
                <a:noFill/>
                <a:tableStyleId>{1FF4C27B-FA1E-4730-9A34-B8ED315A9ECD}</a:tableStyleId>
              </a:tblPr>
              <a:tblGrid>
                <a:gridCol w="1838325">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631950">
                  <a:extLst>
                    <a:ext uri="{9D8B030D-6E8A-4147-A177-3AD203B41FA5}">
                      <a16:colId xmlns:a16="http://schemas.microsoft.com/office/drawing/2014/main" val="20002"/>
                    </a:ext>
                  </a:extLst>
                </a:gridCol>
                <a:gridCol w="1630375">
                  <a:extLst>
                    <a:ext uri="{9D8B030D-6E8A-4147-A177-3AD203B41FA5}">
                      <a16:colId xmlns:a16="http://schemas.microsoft.com/office/drawing/2014/main" val="20003"/>
                    </a:ext>
                  </a:extLst>
                </a:gridCol>
                <a:gridCol w="1630350">
                  <a:extLst>
                    <a:ext uri="{9D8B030D-6E8A-4147-A177-3AD203B41FA5}">
                      <a16:colId xmlns:a16="http://schemas.microsoft.com/office/drawing/2014/main" val="20004"/>
                    </a:ext>
                  </a:extLst>
                </a:gridCol>
              </a:tblGrid>
              <a:tr h="9448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1" i="0" u="sng" strike="noStrike" cap="none">
                          <a:solidFill>
                            <a:schemeClr val="dk1"/>
                          </a:solidFill>
                          <a:latin typeface="Helvetica Neue"/>
                          <a:ea typeface="Helvetica Neue"/>
                          <a:cs typeface="Helvetica Neue"/>
                          <a:sym typeface="Helvetica Neue"/>
                        </a:rPr>
                        <a:t>Visibility</a:t>
                      </a:r>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This Class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Same Package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Sub Classes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World</a:t>
                      </a:r>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780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1" i="0" u="none" strike="noStrike" cap="none">
                          <a:solidFill>
                            <a:schemeClr val="dk1"/>
                          </a:solidFill>
                          <a:latin typeface="Helvetica Neue"/>
                          <a:ea typeface="Helvetica Neue"/>
                          <a:cs typeface="Helvetica Neue"/>
                          <a:sym typeface="Helvetica Neue"/>
                        </a:rPr>
                        <a:t>Public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80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1" i="0" u="none" strike="noStrike" cap="none">
                          <a:solidFill>
                            <a:schemeClr val="dk1"/>
                          </a:solidFill>
                          <a:latin typeface="Helvetica Neue"/>
                          <a:ea typeface="Helvetica Neue"/>
                          <a:cs typeface="Helvetica Neue"/>
                          <a:sym typeface="Helvetica Neue"/>
                        </a:rPr>
                        <a:t>Protected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80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1" i="0" u="none" strike="noStrike" cap="none">
                          <a:solidFill>
                            <a:schemeClr val="dk1"/>
                          </a:solidFill>
                          <a:latin typeface="Helvetica Neue"/>
                          <a:ea typeface="Helvetica Neue"/>
                          <a:cs typeface="Helvetica Neue"/>
                          <a:sym typeface="Helvetica Neue"/>
                        </a:rPr>
                        <a:t>Package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Times New Roman"/>
                        <a:buNone/>
                      </a:pPr>
                      <a:endParaRPr sz="40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80975">
                <a:tc>
                  <a:txBody>
                    <a:bodyPr/>
                    <a:lstStyle/>
                    <a:p>
                      <a:pPr marL="0" marR="0" lvl="0" indent="0" algn="ctr" rtl="0">
                        <a:lnSpc>
                          <a:spcPct val="100000"/>
                        </a:lnSpc>
                        <a:spcBef>
                          <a:spcPts val="0"/>
                        </a:spcBef>
                        <a:spcAft>
                          <a:spcPts val="0"/>
                        </a:spcAft>
                        <a:buClr>
                          <a:schemeClr val="dk1"/>
                        </a:buClr>
                        <a:buSzPts val="2800"/>
                        <a:buFont typeface="Helvetica Neue"/>
                        <a:buNone/>
                      </a:pPr>
                      <a:r>
                        <a:rPr lang="en-US" sz="2800" b="1" i="0" u="none" strike="noStrike" cap="none">
                          <a:solidFill>
                            <a:schemeClr val="dk1"/>
                          </a:solidFill>
                          <a:latin typeface="Helvetica Neue"/>
                          <a:ea typeface="Helvetica Neue"/>
                          <a:cs typeface="Helvetica Neue"/>
                          <a:sym typeface="Helvetica Neue"/>
                        </a:rPr>
                        <a:t>Private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Helvetica Neue"/>
                        <a:buNone/>
                      </a:pPr>
                      <a:r>
                        <a:rPr lang="en-US" sz="4000" b="0" i="0" u="none" strike="noStrike" cap="none">
                          <a:solidFill>
                            <a:schemeClr val="dk1"/>
                          </a:solidFill>
                          <a:latin typeface="Helvetica Neue"/>
                          <a:ea typeface="Helvetica Neue"/>
                          <a:cs typeface="Helvetica Neue"/>
                          <a:sym typeface="Helvetica Neue"/>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4000"/>
                        <a:buFont typeface="Times New Roman"/>
                        <a:buNone/>
                      </a:pPr>
                      <a:endParaRPr sz="40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Helvetica Neue"/>
                        <a:ea typeface="Helvetica Neue"/>
                        <a:cs typeface="Helvetica Neue"/>
                        <a:sym typeface="Helvetica Neu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800"/>
              <a:buFont typeface="Times New Roman"/>
              <a:buNone/>
            </a:pPr>
            <a:endParaRPr sz="800" b="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imes New Roman"/>
              <a:buNone/>
            </a:pPr>
            <a:endParaRPr sz="800" b="0">
              <a:solidFill>
                <a:schemeClr val="dk1"/>
              </a:solidFill>
              <a:latin typeface="Tahoma"/>
              <a:ea typeface="Tahoma"/>
              <a:cs typeface="Tahoma"/>
              <a:sym typeface="Tahoma"/>
            </a:endParaRPr>
          </a:p>
          <a:p>
            <a:pPr marL="0" marR="0" lvl="0" indent="0" algn="ctr" rtl="0">
              <a:spcBef>
                <a:spcPts val="0"/>
              </a:spcBef>
              <a:spcAft>
                <a:spcPts val="0"/>
              </a:spcAft>
              <a:buClr>
                <a:schemeClr val="dk1"/>
              </a:buClr>
              <a:buSzPts val="800"/>
              <a:buFont typeface="Tahoma"/>
              <a:buNone/>
            </a:pPr>
            <a:r>
              <a:rPr lang="en-US" sz="800" b="0">
                <a:solidFill>
                  <a:schemeClr val="dk1"/>
                </a:solidFill>
                <a:latin typeface="Tahoma"/>
                <a:ea typeface="Tahoma"/>
                <a:cs typeface="Tahoma"/>
                <a:sym typeface="Tahoma"/>
              </a:rPr>
              <a:t>© A+ Computer Science  -  www.apluscompsci.com</a:t>
            </a:r>
            <a:endParaRPr/>
          </a:p>
        </p:txBody>
      </p:sp>
      <p:sp>
        <p:nvSpPr>
          <p:cNvPr id="256" name="Google Shape;256;p20"/>
          <p:cNvSpPr/>
          <p:nvPr/>
        </p:nvSpPr>
        <p:spPr>
          <a:xfrm>
            <a:off x="762000" y="685800"/>
            <a:ext cx="7239000" cy="48768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Public</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Protected</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Package</a:t>
            </a:r>
            <a:b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b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Private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21"/>
          <p:cNvSpPr/>
          <p:nvPr/>
        </p:nvSpPr>
        <p:spPr>
          <a:xfrm>
            <a:off x="0" y="1"/>
            <a:ext cx="9143771"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2" name="Google Shape;262;p21"/>
          <p:cNvSpPr/>
          <p:nvPr/>
        </p:nvSpPr>
        <p:spPr>
          <a:xfrm>
            <a:off x="228" y="0"/>
            <a:ext cx="9143772" cy="6858000"/>
          </a:xfrm>
          <a:prstGeom prst="rect">
            <a:avLst/>
          </a:prstGeom>
          <a:gradFill>
            <a:gsLst>
              <a:gs pos="0">
                <a:srgbClr val="2D2DB9">
                  <a:alpha val="20000"/>
                </a:srgbClr>
              </a:gs>
              <a:gs pos="16000">
                <a:srgbClr val="2D2DB9">
                  <a:alpha val="20000"/>
                </a:srgbClr>
              </a:gs>
              <a:gs pos="85000">
                <a:srgbClr val="00CC99">
                  <a:alpha val="40000"/>
                </a:srgbClr>
              </a:gs>
              <a:gs pos="100000">
                <a:srgbClr val="00CC99">
                  <a:alpha val="40000"/>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grpSp>
        <p:nvGrpSpPr>
          <p:cNvPr id="263" name="Google Shape;263;p21"/>
          <p:cNvGrpSpPr/>
          <p:nvPr/>
        </p:nvGrpSpPr>
        <p:grpSpPr>
          <a:xfrm>
            <a:off x="977551" y="3985"/>
            <a:ext cx="7329573" cy="6858000"/>
            <a:chOff x="1303402" y="3985"/>
            <a:chExt cx="9772765" cy="6858000"/>
          </a:xfrm>
        </p:grpSpPr>
        <p:sp>
          <p:nvSpPr>
            <p:cNvPr id="264" name="Google Shape;264;p21"/>
            <p:cNvSpPr/>
            <p:nvPr/>
          </p:nvSpPr>
          <p:spPr>
            <a:xfrm>
              <a:off x="1560551" y="3985"/>
              <a:ext cx="9313016" cy="6858000"/>
            </a:xfrm>
            <a:custGeom>
              <a:avLst/>
              <a:gdLst/>
              <a:ahLst/>
              <a:cxnLst/>
              <a:rect l="l" t="t" r="r" b="b"/>
              <a:pathLst>
                <a:path w="9313016" h="6858000" extrusionOk="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5" name="Google Shape;265;p21"/>
            <p:cNvSpPr/>
            <p:nvPr/>
          </p:nvSpPr>
          <p:spPr>
            <a:xfrm>
              <a:off x="1659468" y="3985"/>
              <a:ext cx="9065550" cy="6858000"/>
            </a:xfrm>
            <a:custGeom>
              <a:avLst/>
              <a:gdLst/>
              <a:ahLst/>
              <a:cxnLst/>
              <a:rect l="l" t="t" r="r" b="b"/>
              <a:pathLst>
                <a:path w="9065550" h="6858000" extrusionOk="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6" name="Google Shape;266;p21"/>
            <p:cNvSpPr/>
            <p:nvPr/>
          </p:nvSpPr>
          <p:spPr>
            <a:xfrm>
              <a:off x="1648217" y="3985"/>
              <a:ext cx="9088051" cy="6858000"/>
            </a:xfrm>
            <a:custGeom>
              <a:avLst/>
              <a:gdLst/>
              <a:ahLst/>
              <a:cxnLst/>
              <a:rect l="l" t="t" r="r" b="b"/>
              <a:pathLst>
                <a:path w="9088051" h="6858000" extrusionOk="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7" name="Google Shape;267;p21"/>
            <p:cNvSpPr/>
            <p:nvPr/>
          </p:nvSpPr>
          <p:spPr>
            <a:xfrm>
              <a:off x="1629061" y="3985"/>
              <a:ext cx="9107210" cy="6858000"/>
            </a:xfrm>
            <a:custGeom>
              <a:avLst/>
              <a:gdLst/>
              <a:ahLst/>
              <a:cxnLst/>
              <a:rect l="l" t="t" r="r" b="b"/>
              <a:pathLst>
                <a:path w="9107210" h="6858000" extrusionOk="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8" name="Google Shape;268;p21"/>
            <p:cNvSpPr/>
            <p:nvPr/>
          </p:nvSpPr>
          <p:spPr>
            <a:xfrm>
              <a:off x="1303402" y="3985"/>
              <a:ext cx="9767847" cy="6858000"/>
            </a:xfrm>
            <a:custGeom>
              <a:avLst/>
              <a:gdLst/>
              <a:ahLst/>
              <a:cxnLst/>
              <a:rect l="l" t="t" r="r" b="b"/>
              <a:pathLst>
                <a:path w="9767847" h="6858000" extrusionOk="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lt1">
                <a:alpha val="5098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69" name="Google Shape;269;p21"/>
            <p:cNvSpPr/>
            <p:nvPr/>
          </p:nvSpPr>
          <p:spPr>
            <a:xfrm>
              <a:off x="1318434" y="3985"/>
              <a:ext cx="9747620" cy="6858000"/>
            </a:xfrm>
            <a:custGeom>
              <a:avLst/>
              <a:gdLst/>
              <a:ahLst/>
              <a:cxnLst/>
              <a:rect l="l" t="t" r="r" b="b"/>
              <a:pathLst>
                <a:path w="9747620" h="6858000" extrusionOk="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sp>
          <p:nvSpPr>
            <p:cNvPr id="270" name="Google Shape;270;p21"/>
            <p:cNvSpPr/>
            <p:nvPr/>
          </p:nvSpPr>
          <p:spPr>
            <a:xfrm>
              <a:off x="1308320" y="3985"/>
              <a:ext cx="9767847" cy="6858000"/>
            </a:xfrm>
            <a:custGeom>
              <a:avLst/>
              <a:gdLst/>
              <a:ahLst/>
              <a:cxnLst/>
              <a:rect l="l" t="t" r="r" b="b"/>
              <a:pathLst>
                <a:path w="9767847" h="6858000" extrusionOk="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lt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00">
                <a:solidFill>
                  <a:schemeClr val="lt1"/>
                </a:solidFill>
                <a:latin typeface="Tahoma"/>
                <a:ea typeface="Tahoma"/>
                <a:cs typeface="Tahoma"/>
                <a:sym typeface="Tahoma"/>
              </a:endParaRPr>
            </a:p>
          </p:txBody>
        </p:sp>
      </p:grpSp>
      <p:sp>
        <p:nvSpPr>
          <p:cNvPr id="271" name="Google Shape;271;p21"/>
          <p:cNvSpPr txBox="1">
            <a:spLocks noGrp="1"/>
          </p:cNvSpPr>
          <p:nvPr>
            <p:ph type="ftr" idx="11"/>
          </p:nvPr>
        </p:nvSpPr>
        <p:spPr>
          <a:xfrm>
            <a:off x="603504" y="5991225"/>
            <a:ext cx="1908291" cy="365125"/>
          </a:xfrm>
          <a:prstGeom prst="rect">
            <a:avLst/>
          </a:prstGeom>
          <a:noFill/>
          <a:ln>
            <a:noFill/>
          </a:ln>
        </p:spPr>
        <p:txBody>
          <a:bodyPr spcFirstLastPara="1" wrap="square" lIns="92075" tIns="46025" rIns="92075" bIns="46025" anchor="ctr" anchorCtr="0">
            <a:normAutofit fontScale="70000" lnSpcReduction="20000"/>
          </a:bodyPr>
          <a:lstStyle/>
          <a:p>
            <a:pPr marL="0" lvl="0" indent="0" algn="l" rtl="0">
              <a:lnSpc>
                <a:spcPct val="90000"/>
              </a:lnSpc>
              <a:spcBef>
                <a:spcPts val="0"/>
              </a:spcBef>
              <a:spcAft>
                <a:spcPts val="0"/>
              </a:spcAft>
              <a:buNone/>
            </a:pPr>
            <a:endParaRPr sz="200" b="1">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00"/>
          </a:p>
          <a:p>
            <a:pPr marL="0" lvl="0" indent="0" algn="l" rtl="0">
              <a:lnSpc>
                <a:spcPct val="90000"/>
              </a:lnSpc>
              <a:spcBef>
                <a:spcPts val="600"/>
              </a:spcBef>
              <a:spcAft>
                <a:spcPts val="0"/>
              </a:spcAft>
              <a:buNone/>
            </a:pPr>
            <a:endParaRPr sz="200" b="1"/>
          </a:p>
          <a:p>
            <a:pPr marL="0" lvl="0" indent="0" algn="l" rtl="0">
              <a:lnSpc>
                <a:spcPct val="90000"/>
              </a:lnSpc>
              <a:spcBef>
                <a:spcPts val="600"/>
              </a:spcBef>
              <a:spcAft>
                <a:spcPts val="0"/>
              </a:spcAft>
              <a:buNone/>
            </a:pPr>
            <a:r>
              <a:rPr lang="en-US" sz="200" b="1"/>
              <a:t>© A+ Computer Science  -  www.apluscompsci.com</a:t>
            </a:r>
            <a:endParaRPr/>
          </a:p>
        </p:txBody>
      </p:sp>
      <p:sp>
        <p:nvSpPr>
          <p:cNvPr id="272" name="Google Shape;272;p21"/>
          <p:cNvSpPr/>
          <p:nvPr/>
        </p:nvSpPr>
        <p:spPr>
          <a:xfrm>
            <a:off x="1611780" y="1920868"/>
            <a:ext cx="5920210" cy="28623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0" cap="none">
                <a:solidFill>
                  <a:schemeClr val="dk1"/>
                </a:solidFill>
                <a:latin typeface="Tahoma"/>
                <a:ea typeface="Tahoma"/>
                <a:cs typeface="Tahoma"/>
                <a:sym typeface="Tahoma"/>
              </a:rPr>
              <a:t>Default Modifiers</a:t>
            </a:r>
            <a:br>
              <a:rPr lang="en-US" sz="6000" b="0" cap="none">
                <a:solidFill>
                  <a:schemeClr val="dk1"/>
                </a:solidFill>
                <a:latin typeface="Tahoma"/>
                <a:ea typeface="Tahoma"/>
                <a:cs typeface="Tahoma"/>
                <a:sym typeface="Tahoma"/>
              </a:rPr>
            </a:br>
            <a:r>
              <a:rPr lang="en-US" sz="6000" b="0" cap="none">
                <a:solidFill>
                  <a:schemeClr val="dk1"/>
                </a:solidFill>
                <a:latin typeface="Tahoma"/>
                <a:ea typeface="Tahoma"/>
                <a:cs typeface="Tahoma"/>
                <a:sym typeface="Tahoma"/>
              </a:rPr>
              <a:t>for Classes and</a:t>
            </a:r>
            <a:br>
              <a:rPr lang="en-US" sz="6000" b="0" cap="none">
                <a:solidFill>
                  <a:schemeClr val="dk1"/>
                </a:solidFill>
                <a:latin typeface="Tahoma"/>
                <a:ea typeface="Tahoma"/>
                <a:cs typeface="Tahoma"/>
                <a:sym typeface="Tahoma"/>
              </a:rPr>
            </a:br>
            <a:r>
              <a:rPr lang="en-US" sz="6000" b="0" cap="none">
                <a:solidFill>
                  <a:schemeClr val="dk1"/>
                </a:solidFill>
                <a:latin typeface="Tahoma"/>
                <a:ea typeface="Tahoma"/>
                <a:cs typeface="Tahoma"/>
                <a:sym typeface="Tahoma"/>
              </a:rPr>
              <a:t>Interfaces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2"/>
          <p:cNvSpPr txBox="1">
            <a:spLocks noGrp="1"/>
          </p:cNvSpPr>
          <p:nvPr>
            <p:ph type="title"/>
          </p:nvPr>
        </p:nvSpPr>
        <p:spPr>
          <a:xfrm>
            <a:off x="685800" y="2946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Arial"/>
                <a:ea typeface="Arial"/>
                <a:cs typeface="Arial"/>
                <a:sym typeface="Arial"/>
              </a:rPr>
              <a:t>Variable defaults in a class</a:t>
            </a:r>
            <a:endParaRPr/>
          </a:p>
        </p:txBody>
      </p:sp>
      <p:sp>
        <p:nvSpPr>
          <p:cNvPr id="278" name="Google Shape;278;p22"/>
          <p:cNvSpPr txBox="1">
            <a:spLocks noGrp="1"/>
          </p:cNvSpPr>
          <p:nvPr>
            <p:ph type="body" idx="1"/>
          </p:nvPr>
        </p:nvSpPr>
        <p:spPr>
          <a:xfrm>
            <a:off x="1329690" y="1666240"/>
            <a:ext cx="2438400" cy="65024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Arial"/>
              <a:buNone/>
            </a:pPr>
            <a:r>
              <a:rPr lang="en-US" sz="4000">
                <a:latin typeface="Arial"/>
                <a:ea typeface="Arial"/>
                <a:cs typeface="Arial"/>
                <a:sym typeface="Arial"/>
              </a:rPr>
              <a:t>static</a:t>
            </a:r>
            <a:endParaRPr>
              <a:latin typeface="Arial"/>
              <a:ea typeface="Arial"/>
              <a:cs typeface="Arial"/>
              <a:sym typeface="Arial"/>
            </a:endParaRPr>
          </a:p>
        </p:txBody>
      </p:sp>
      <p:sp>
        <p:nvSpPr>
          <p:cNvPr id="279" name="Google Shape;279;p22"/>
          <p:cNvSpPr txBox="1"/>
          <p:nvPr/>
        </p:nvSpPr>
        <p:spPr>
          <a:xfrm>
            <a:off x="4688840" y="166624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non-static</a:t>
            </a:r>
            <a:endParaRPr/>
          </a:p>
        </p:txBody>
      </p:sp>
      <p:sp>
        <p:nvSpPr>
          <p:cNvPr id="280" name="Google Shape;280;p22"/>
          <p:cNvSpPr txBox="1"/>
          <p:nvPr/>
        </p:nvSpPr>
        <p:spPr>
          <a:xfrm>
            <a:off x="1329690" y="243840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final</a:t>
            </a:r>
            <a:endParaRPr sz="3200">
              <a:solidFill>
                <a:schemeClr val="dk1"/>
              </a:solidFill>
              <a:latin typeface="Arial"/>
              <a:ea typeface="Arial"/>
              <a:cs typeface="Arial"/>
              <a:sym typeface="Arial"/>
            </a:endParaRPr>
          </a:p>
        </p:txBody>
      </p:sp>
      <p:sp>
        <p:nvSpPr>
          <p:cNvPr id="281" name="Google Shape;281;p22"/>
          <p:cNvSpPr txBox="1"/>
          <p:nvPr/>
        </p:nvSpPr>
        <p:spPr>
          <a:xfrm>
            <a:off x="4719320" y="243840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non-final</a:t>
            </a:r>
            <a:endParaRPr/>
          </a:p>
        </p:txBody>
      </p:sp>
      <p:sp>
        <p:nvSpPr>
          <p:cNvPr id="282" name="Google Shape;282;p22"/>
          <p:cNvSpPr txBox="1"/>
          <p:nvPr/>
        </p:nvSpPr>
        <p:spPr>
          <a:xfrm>
            <a:off x="177800" y="3331210"/>
            <a:ext cx="174244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public</a:t>
            </a:r>
            <a:endParaRPr sz="3200">
              <a:solidFill>
                <a:schemeClr val="dk1"/>
              </a:solidFill>
              <a:latin typeface="Arial"/>
              <a:ea typeface="Arial"/>
              <a:cs typeface="Arial"/>
              <a:sym typeface="Arial"/>
            </a:endParaRPr>
          </a:p>
        </p:txBody>
      </p:sp>
      <p:sp>
        <p:nvSpPr>
          <p:cNvPr id="283" name="Google Shape;283;p22"/>
          <p:cNvSpPr txBox="1"/>
          <p:nvPr/>
        </p:nvSpPr>
        <p:spPr>
          <a:xfrm>
            <a:off x="2047240" y="333121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protected</a:t>
            </a:r>
            <a:endParaRPr/>
          </a:p>
        </p:txBody>
      </p:sp>
      <p:sp>
        <p:nvSpPr>
          <p:cNvPr id="284" name="Google Shape;284;p22"/>
          <p:cNvSpPr txBox="1"/>
          <p:nvPr/>
        </p:nvSpPr>
        <p:spPr>
          <a:xfrm>
            <a:off x="4612640" y="3331210"/>
            <a:ext cx="2077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package</a:t>
            </a:r>
            <a:endParaRPr sz="3200">
              <a:solidFill>
                <a:schemeClr val="dk1"/>
              </a:solidFill>
              <a:latin typeface="Arial"/>
              <a:ea typeface="Arial"/>
              <a:cs typeface="Arial"/>
              <a:sym typeface="Arial"/>
            </a:endParaRPr>
          </a:p>
        </p:txBody>
      </p:sp>
      <p:sp>
        <p:nvSpPr>
          <p:cNvPr id="285" name="Google Shape;285;p22"/>
          <p:cNvSpPr txBox="1"/>
          <p:nvPr/>
        </p:nvSpPr>
        <p:spPr>
          <a:xfrm>
            <a:off x="6817360" y="3331210"/>
            <a:ext cx="2077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private</a:t>
            </a:r>
            <a:endParaRPr sz="3200">
              <a:solidFill>
                <a:schemeClr val="dk1"/>
              </a:solidFill>
              <a:latin typeface="Arial"/>
              <a:ea typeface="Arial"/>
              <a:cs typeface="Arial"/>
              <a:sym typeface="Arial"/>
            </a:endParaRPr>
          </a:p>
        </p:txBody>
      </p:sp>
      <p:sp>
        <p:nvSpPr>
          <p:cNvPr id="286" name="Google Shape;286;p22"/>
          <p:cNvSpPr txBox="1"/>
          <p:nvPr/>
        </p:nvSpPr>
        <p:spPr>
          <a:xfrm>
            <a:off x="4688840" y="166624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non-static</a:t>
            </a:r>
            <a:endParaRPr/>
          </a:p>
        </p:txBody>
      </p:sp>
      <p:sp>
        <p:nvSpPr>
          <p:cNvPr id="287" name="Google Shape;287;p22"/>
          <p:cNvSpPr txBox="1"/>
          <p:nvPr/>
        </p:nvSpPr>
        <p:spPr>
          <a:xfrm>
            <a:off x="4719320" y="244602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non-final</a:t>
            </a:r>
            <a:endParaRPr/>
          </a:p>
        </p:txBody>
      </p:sp>
      <p:sp>
        <p:nvSpPr>
          <p:cNvPr id="288" name="Google Shape;288;p22"/>
          <p:cNvSpPr txBox="1"/>
          <p:nvPr/>
        </p:nvSpPr>
        <p:spPr>
          <a:xfrm>
            <a:off x="4612640" y="3338830"/>
            <a:ext cx="2077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package</a:t>
            </a:r>
            <a:endParaRPr sz="3200">
              <a:solidFill>
                <a:srgbClr val="21218A"/>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9"/>
                                        </p:tgtEl>
                                        <p:attrNameLst>
                                          <p:attrName>style.visibility</p:attrName>
                                        </p:attrNameLst>
                                      </p:cBhvr>
                                      <p:to>
                                        <p:strVal val="visible"/>
                                      </p:to>
                                    </p:set>
                                  </p:childTnLst>
                                </p:cTn>
                              </p:par>
                            </p:childTnLst>
                          </p:cTn>
                        </p:par>
                        <p:par>
                          <p:cTn id="9" fill="hold">
                            <p:stCondLst>
                              <p:cond delay="1"/>
                            </p:stCondLst>
                            <p:childTnLst>
                              <p:par>
                                <p:cTn id="10" presetID="1" presetClass="entr" presetSubtype="0" fill="hold" nodeType="afterEffect">
                                  <p:stCondLst>
                                    <p:cond delay="300"/>
                                  </p:stCondLst>
                                  <p:childTnLst>
                                    <p:set>
                                      <p:cBhvr>
                                        <p:cTn id="11" dur="1" fill="hold">
                                          <p:stCondLst>
                                            <p:cond delay="0"/>
                                          </p:stCondLst>
                                        </p:cTn>
                                        <p:tgtEl>
                                          <p:spTgt spid="28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80"/>
                                        </p:tgtEl>
                                        <p:attrNameLst>
                                          <p:attrName>style.visibility</p:attrName>
                                        </p:attrNameLst>
                                      </p:cBhvr>
                                      <p:to>
                                        <p:strVal val="visible"/>
                                      </p:to>
                                    </p:set>
                                    <p:animEffect transition="in" filter="fade">
                                      <p:cBhvr>
                                        <p:cTn id="16" dur="500"/>
                                        <p:tgtEl>
                                          <p:spTgt spid="280"/>
                                        </p:tgtEl>
                                      </p:cBhvr>
                                    </p:animEffect>
                                  </p:childTnLst>
                                </p:cTn>
                              </p:par>
                              <p:par>
                                <p:cTn id="17" presetID="10" presetClass="entr" presetSubtype="0" fill="hold" nodeType="withEffect">
                                  <p:stCondLst>
                                    <p:cond delay="0"/>
                                  </p:stCondLst>
                                  <p:childTnLst>
                                    <p:set>
                                      <p:cBhvr>
                                        <p:cTn id="18" dur="1" fill="hold">
                                          <p:stCondLst>
                                            <p:cond delay="0"/>
                                          </p:stCondLst>
                                        </p:cTn>
                                        <p:tgtEl>
                                          <p:spTgt spid="281"/>
                                        </p:tgtEl>
                                        <p:attrNameLst>
                                          <p:attrName>style.visibility</p:attrName>
                                        </p:attrNameLst>
                                      </p:cBhvr>
                                      <p:to>
                                        <p:strVal val="visible"/>
                                      </p:to>
                                    </p:set>
                                    <p:animEffect transition="in" filter="fade">
                                      <p:cBhvr>
                                        <p:cTn id="19" dur="500"/>
                                        <p:tgtEl>
                                          <p:spTgt spid="28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87"/>
                                        </p:tgtEl>
                                        <p:attrNameLst>
                                          <p:attrName>style.visibility</p:attrName>
                                        </p:attrNameLst>
                                      </p:cBhvr>
                                      <p:to>
                                        <p:strVal val="visible"/>
                                      </p:to>
                                    </p:set>
                                    <p:animEffect transition="in" filter="fade">
                                      <p:cBhvr>
                                        <p:cTn id="24" dur="500"/>
                                        <p:tgtEl>
                                          <p:spTgt spid="28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2"/>
                                        </p:tgtEl>
                                        <p:attrNameLst>
                                          <p:attrName>style.visibility</p:attrName>
                                        </p:attrNameLst>
                                      </p:cBhvr>
                                      <p:to>
                                        <p:strVal val="visible"/>
                                      </p:to>
                                    </p:set>
                                    <p:animEffect transition="in" filter="fade">
                                      <p:cBhvr>
                                        <p:cTn id="29" dur="1000"/>
                                        <p:tgtEl>
                                          <p:spTgt spid="282"/>
                                        </p:tgtEl>
                                      </p:cBhvr>
                                    </p:animEffect>
                                  </p:childTnLst>
                                </p:cTn>
                              </p:par>
                              <p:par>
                                <p:cTn id="30" presetID="10" presetClass="entr" presetSubtype="0" fill="hold" nodeType="withEffect">
                                  <p:stCondLst>
                                    <p:cond delay="0"/>
                                  </p:stCondLst>
                                  <p:childTnLst>
                                    <p:set>
                                      <p:cBhvr>
                                        <p:cTn id="31" dur="1" fill="hold">
                                          <p:stCondLst>
                                            <p:cond delay="0"/>
                                          </p:stCondLst>
                                        </p:cTn>
                                        <p:tgtEl>
                                          <p:spTgt spid="283"/>
                                        </p:tgtEl>
                                        <p:attrNameLst>
                                          <p:attrName>style.visibility</p:attrName>
                                        </p:attrNameLst>
                                      </p:cBhvr>
                                      <p:to>
                                        <p:strVal val="visible"/>
                                      </p:to>
                                    </p:set>
                                    <p:animEffect transition="in" filter="fade">
                                      <p:cBhvr>
                                        <p:cTn id="32" dur="1000"/>
                                        <p:tgtEl>
                                          <p:spTgt spid="283"/>
                                        </p:tgtEl>
                                      </p:cBhvr>
                                    </p:animEffect>
                                  </p:childTnLst>
                                </p:cTn>
                              </p:par>
                              <p:par>
                                <p:cTn id="33" presetID="10" presetClass="entr" presetSubtype="0" fill="hold" nodeType="withEffect">
                                  <p:stCondLst>
                                    <p:cond delay="0"/>
                                  </p:stCondLst>
                                  <p:childTnLst>
                                    <p:set>
                                      <p:cBhvr>
                                        <p:cTn id="34" dur="1" fill="hold">
                                          <p:stCondLst>
                                            <p:cond delay="0"/>
                                          </p:stCondLst>
                                        </p:cTn>
                                        <p:tgtEl>
                                          <p:spTgt spid="284"/>
                                        </p:tgtEl>
                                        <p:attrNameLst>
                                          <p:attrName>style.visibility</p:attrName>
                                        </p:attrNameLst>
                                      </p:cBhvr>
                                      <p:to>
                                        <p:strVal val="visible"/>
                                      </p:to>
                                    </p:set>
                                    <p:animEffect transition="in" filter="fade">
                                      <p:cBhvr>
                                        <p:cTn id="35" dur="1000"/>
                                        <p:tgtEl>
                                          <p:spTgt spid="284"/>
                                        </p:tgtEl>
                                      </p:cBhvr>
                                    </p:animEffect>
                                  </p:childTnLst>
                                </p:cTn>
                              </p:par>
                              <p:par>
                                <p:cTn id="36" presetID="10" presetClass="entr" presetSubtype="0" fill="hold" nodeType="withEffect">
                                  <p:stCondLst>
                                    <p:cond delay="0"/>
                                  </p:stCondLst>
                                  <p:childTnLst>
                                    <p:set>
                                      <p:cBhvr>
                                        <p:cTn id="37" dur="1" fill="hold">
                                          <p:stCondLst>
                                            <p:cond delay="0"/>
                                          </p:stCondLst>
                                        </p:cTn>
                                        <p:tgtEl>
                                          <p:spTgt spid="285"/>
                                        </p:tgtEl>
                                        <p:attrNameLst>
                                          <p:attrName>style.visibility</p:attrName>
                                        </p:attrNameLst>
                                      </p:cBhvr>
                                      <p:to>
                                        <p:strVal val="visible"/>
                                      </p:to>
                                    </p:set>
                                    <p:animEffect transition="in" filter="fade">
                                      <p:cBhvr>
                                        <p:cTn id="38" dur="1000"/>
                                        <p:tgtEl>
                                          <p:spTgt spid="28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8" presetClass="emph" presetSubtype="0" fill="hold" nodeType="clickEffect">
                                  <p:stCondLst>
                                    <p:cond delay="0"/>
                                  </p:stCondLst>
                                  <p:childTnLst>
                                    <p:animRot by="-21600000">
                                      <p:cBhvr>
                                        <p:cTn id="46" dur="2000" fill="hold"/>
                                        <p:tgtEl>
                                          <p:spTgt spid="28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title"/>
          </p:nvPr>
        </p:nvSpPr>
        <p:spPr>
          <a:xfrm>
            <a:off x="685800" y="2946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Arial"/>
                <a:ea typeface="Arial"/>
                <a:cs typeface="Arial"/>
                <a:sym typeface="Arial"/>
              </a:rPr>
              <a:t>Method defaults in a class</a:t>
            </a:r>
            <a:endParaRPr/>
          </a:p>
        </p:txBody>
      </p:sp>
      <p:sp>
        <p:nvSpPr>
          <p:cNvPr id="294" name="Google Shape;294;p23"/>
          <p:cNvSpPr txBox="1">
            <a:spLocks noGrp="1"/>
          </p:cNvSpPr>
          <p:nvPr>
            <p:ph type="body" idx="1"/>
          </p:nvPr>
        </p:nvSpPr>
        <p:spPr>
          <a:xfrm>
            <a:off x="1329690" y="1666240"/>
            <a:ext cx="2438400" cy="65024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Arial"/>
              <a:buNone/>
            </a:pPr>
            <a:r>
              <a:rPr lang="en-US" sz="4000">
                <a:latin typeface="Arial"/>
                <a:ea typeface="Arial"/>
                <a:cs typeface="Arial"/>
                <a:sym typeface="Arial"/>
              </a:rPr>
              <a:t>static</a:t>
            </a:r>
            <a:endParaRPr>
              <a:latin typeface="Arial"/>
              <a:ea typeface="Arial"/>
              <a:cs typeface="Arial"/>
              <a:sym typeface="Arial"/>
            </a:endParaRPr>
          </a:p>
        </p:txBody>
      </p:sp>
      <p:sp>
        <p:nvSpPr>
          <p:cNvPr id="295" name="Google Shape;295;p23"/>
          <p:cNvSpPr txBox="1"/>
          <p:nvPr/>
        </p:nvSpPr>
        <p:spPr>
          <a:xfrm>
            <a:off x="4688840" y="166624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non-static</a:t>
            </a:r>
            <a:endParaRPr/>
          </a:p>
        </p:txBody>
      </p:sp>
      <p:sp>
        <p:nvSpPr>
          <p:cNvPr id="296" name="Google Shape;296;p23"/>
          <p:cNvSpPr txBox="1"/>
          <p:nvPr/>
        </p:nvSpPr>
        <p:spPr>
          <a:xfrm>
            <a:off x="1329690" y="243840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final</a:t>
            </a:r>
            <a:endParaRPr sz="3200">
              <a:solidFill>
                <a:schemeClr val="dk1"/>
              </a:solidFill>
              <a:latin typeface="Arial"/>
              <a:ea typeface="Arial"/>
              <a:cs typeface="Arial"/>
              <a:sym typeface="Arial"/>
            </a:endParaRPr>
          </a:p>
        </p:txBody>
      </p:sp>
      <p:sp>
        <p:nvSpPr>
          <p:cNvPr id="297" name="Google Shape;297;p23"/>
          <p:cNvSpPr txBox="1"/>
          <p:nvPr/>
        </p:nvSpPr>
        <p:spPr>
          <a:xfrm>
            <a:off x="4719320" y="243840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non-final</a:t>
            </a:r>
            <a:endParaRPr/>
          </a:p>
        </p:txBody>
      </p:sp>
      <p:sp>
        <p:nvSpPr>
          <p:cNvPr id="298" name="Google Shape;298;p23"/>
          <p:cNvSpPr txBox="1"/>
          <p:nvPr/>
        </p:nvSpPr>
        <p:spPr>
          <a:xfrm>
            <a:off x="177800" y="3331210"/>
            <a:ext cx="174244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public</a:t>
            </a:r>
            <a:endParaRPr sz="3200">
              <a:solidFill>
                <a:schemeClr val="dk1"/>
              </a:solidFill>
              <a:latin typeface="Arial"/>
              <a:ea typeface="Arial"/>
              <a:cs typeface="Arial"/>
              <a:sym typeface="Arial"/>
            </a:endParaRPr>
          </a:p>
        </p:txBody>
      </p:sp>
      <p:sp>
        <p:nvSpPr>
          <p:cNvPr id="299" name="Google Shape;299;p23"/>
          <p:cNvSpPr txBox="1"/>
          <p:nvPr/>
        </p:nvSpPr>
        <p:spPr>
          <a:xfrm>
            <a:off x="2047240" y="333121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protected</a:t>
            </a:r>
            <a:endParaRPr/>
          </a:p>
        </p:txBody>
      </p:sp>
      <p:sp>
        <p:nvSpPr>
          <p:cNvPr id="300" name="Google Shape;300;p23"/>
          <p:cNvSpPr txBox="1"/>
          <p:nvPr/>
        </p:nvSpPr>
        <p:spPr>
          <a:xfrm>
            <a:off x="4693920" y="3331210"/>
            <a:ext cx="2204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dirty="0">
                <a:solidFill>
                  <a:schemeClr val="dk1"/>
                </a:solidFill>
                <a:latin typeface="Arial"/>
                <a:ea typeface="Arial"/>
                <a:cs typeface="Arial"/>
                <a:sym typeface="Arial"/>
              </a:rPr>
              <a:t>package</a:t>
            </a:r>
            <a:endParaRPr sz="3200" dirty="0">
              <a:solidFill>
                <a:schemeClr val="dk1"/>
              </a:solidFill>
              <a:latin typeface="Arial"/>
              <a:ea typeface="Arial"/>
              <a:cs typeface="Arial"/>
              <a:sym typeface="Arial"/>
            </a:endParaRPr>
          </a:p>
        </p:txBody>
      </p:sp>
      <p:sp>
        <p:nvSpPr>
          <p:cNvPr id="301" name="Google Shape;301;p23"/>
          <p:cNvSpPr txBox="1"/>
          <p:nvPr/>
        </p:nvSpPr>
        <p:spPr>
          <a:xfrm>
            <a:off x="6817360" y="3331210"/>
            <a:ext cx="2077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private</a:t>
            </a:r>
            <a:endParaRPr sz="3200">
              <a:solidFill>
                <a:schemeClr val="dk1"/>
              </a:solidFill>
              <a:latin typeface="Arial"/>
              <a:ea typeface="Arial"/>
              <a:cs typeface="Arial"/>
              <a:sym typeface="Arial"/>
            </a:endParaRPr>
          </a:p>
        </p:txBody>
      </p:sp>
      <p:sp>
        <p:nvSpPr>
          <p:cNvPr id="302" name="Google Shape;302;p23"/>
          <p:cNvSpPr txBox="1"/>
          <p:nvPr/>
        </p:nvSpPr>
        <p:spPr>
          <a:xfrm>
            <a:off x="1203960" y="4345940"/>
            <a:ext cx="256794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concrete</a:t>
            </a:r>
            <a:endParaRPr sz="3200">
              <a:solidFill>
                <a:schemeClr val="dk1"/>
              </a:solidFill>
              <a:latin typeface="Arial"/>
              <a:ea typeface="Arial"/>
              <a:cs typeface="Arial"/>
              <a:sym typeface="Arial"/>
            </a:endParaRPr>
          </a:p>
        </p:txBody>
      </p:sp>
      <p:sp>
        <p:nvSpPr>
          <p:cNvPr id="303" name="Google Shape;303;p23"/>
          <p:cNvSpPr txBox="1"/>
          <p:nvPr/>
        </p:nvSpPr>
        <p:spPr>
          <a:xfrm>
            <a:off x="4810760" y="434594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Arial"/>
                <a:ea typeface="Arial"/>
                <a:cs typeface="Arial"/>
                <a:sym typeface="Arial"/>
              </a:rPr>
              <a:t>abstract</a:t>
            </a:r>
            <a:endParaRPr/>
          </a:p>
        </p:txBody>
      </p:sp>
      <p:sp>
        <p:nvSpPr>
          <p:cNvPr id="304" name="Google Shape;304;p23"/>
          <p:cNvSpPr txBox="1"/>
          <p:nvPr/>
        </p:nvSpPr>
        <p:spPr>
          <a:xfrm>
            <a:off x="4688840" y="166624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non-static</a:t>
            </a:r>
            <a:endParaRPr/>
          </a:p>
        </p:txBody>
      </p:sp>
      <p:sp>
        <p:nvSpPr>
          <p:cNvPr id="305" name="Google Shape;305;p23"/>
          <p:cNvSpPr txBox="1"/>
          <p:nvPr/>
        </p:nvSpPr>
        <p:spPr>
          <a:xfrm>
            <a:off x="4719320" y="244602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non-final</a:t>
            </a:r>
            <a:endParaRPr/>
          </a:p>
        </p:txBody>
      </p:sp>
      <p:sp>
        <p:nvSpPr>
          <p:cNvPr id="306" name="Google Shape;306;p23"/>
          <p:cNvSpPr txBox="1"/>
          <p:nvPr/>
        </p:nvSpPr>
        <p:spPr>
          <a:xfrm>
            <a:off x="4693920" y="3338830"/>
            <a:ext cx="220472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dirty="0">
                <a:solidFill>
                  <a:srgbClr val="21218A"/>
                </a:solidFill>
                <a:latin typeface="Arial"/>
                <a:ea typeface="Arial"/>
                <a:cs typeface="Arial"/>
                <a:sym typeface="Arial"/>
              </a:rPr>
              <a:t>package</a:t>
            </a:r>
            <a:endParaRPr sz="3200" dirty="0">
              <a:solidFill>
                <a:srgbClr val="21218A"/>
              </a:solidFill>
              <a:latin typeface="Arial"/>
              <a:ea typeface="Arial"/>
              <a:cs typeface="Arial"/>
              <a:sym typeface="Arial"/>
            </a:endParaRPr>
          </a:p>
        </p:txBody>
      </p:sp>
      <p:sp>
        <p:nvSpPr>
          <p:cNvPr id="307" name="Google Shape;307;p23"/>
          <p:cNvSpPr txBox="1"/>
          <p:nvPr/>
        </p:nvSpPr>
        <p:spPr>
          <a:xfrm>
            <a:off x="1272540" y="4351020"/>
            <a:ext cx="2438400" cy="6502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1218A"/>
              </a:buClr>
              <a:buSzPts val="4000"/>
              <a:buFont typeface="Arial"/>
              <a:buNone/>
            </a:pPr>
            <a:r>
              <a:rPr lang="en-US" sz="4000">
                <a:solidFill>
                  <a:srgbClr val="21218A"/>
                </a:solidFill>
                <a:latin typeface="Arial"/>
                <a:ea typeface="Arial"/>
                <a:cs typeface="Arial"/>
                <a:sym typeface="Arial"/>
              </a:rPr>
              <a:t>concrete</a:t>
            </a:r>
            <a:endParaRPr sz="3200">
              <a:solidFill>
                <a:srgbClr val="21218A"/>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500"/>
                                        <p:tgtEl>
                                          <p:spTgt spid="302"/>
                                        </p:tgtEl>
                                      </p:cBhvr>
                                    </p:animEffect>
                                  </p:childTnLst>
                                </p:cTn>
                              </p:par>
                              <p:par>
                                <p:cTn id="8" presetID="10" presetClass="entr" presetSubtype="0" fill="hold"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5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7"/>
                                        </p:tgtEl>
                                        <p:attrNameLst>
                                          <p:attrName>style.visibility</p:attrName>
                                        </p:attrNameLst>
                                      </p:cBhvr>
                                      <p:to>
                                        <p:strVal val="visible"/>
                                      </p:to>
                                    </p:set>
                                    <p:animEffect transition="in" filter="fade">
                                      <p:cBhvr>
                                        <p:cTn id="15" dur="5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txBox="1">
            <a:spLocks noGrp="1"/>
          </p:cNvSpPr>
          <p:nvPr>
            <p:ph type="title"/>
          </p:nvPr>
        </p:nvSpPr>
        <p:spPr>
          <a:xfrm>
            <a:off x="685800" y="2946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Arial"/>
                <a:ea typeface="Arial"/>
                <a:cs typeface="Arial"/>
                <a:sym typeface="Arial"/>
              </a:rPr>
              <a:t>Defaults in a class</a:t>
            </a:r>
            <a:endParaRPr/>
          </a:p>
        </p:txBody>
      </p:sp>
      <p:sp>
        <p:nvSpPr>
          <p:cNvPr id="313" name="Google Shape;313;p24"/>
          <p:cNvSpPr txBox="1">
            <a:spLocks noGrp="1"/>
          </p:cNvSpPr>
          <p:nvPr>
            <p:ph type="body" idx="1"/>
          </p:nvPr>
        </p:nvSpPr>
        <p:spPr>
          <a:xfrm>
            <a:off x="541020" y="1666240"/>
            <a:ext cx="8221980" cy="368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Arial"/>
              <a:buNone/>
            </a:pPr>
            <a:r>
              <a:rPr lang="en-US" sz="4000">
                <a:latin typeface="Arial"/>
                <a:ea typeface="Arial"/>
                <a:cs typeface="Arial"/>
                <a:sym typeface="Arial"/>
              </a:rPr>
              <a:t>Variables in a class are non-static, non-final, and package level access.</a:t>
            </a:r>
            <a:endParaRPr/>
          </a:p>
          <a:p>
            <a:pPr marL="0" lvl="0" indent="0" algn="l" rtl="0">
              <a:spcBef>
                <a:spcPts val="800"/>
              </a:spcBef>
              <a:spcAft>
                <a:spcPts val="0"/>
              </a:spcAft>
              <a:buClr>
                <a:schemeClr val="dk1"/>
              </a:buClr>
              <a:buSzPts val="4000"/>
              <a:buFont typeface="Times New Roman"/>
              <a:buNone/>
            </a:pPr>
            <a:endParaRPr sz="4000">
              <a:latin typeface="Arial"/>
              <a:ea typeface="Arial"/>
              <a:cs typeface="Arial"/>
              <a:sym typeface="Arial"/>
            </a:endParaRPr>
          </a:p>
          <a:p>
            <a:pPr marL="0" lvl="0" indent="0" algn="l" rtl="0">
              <a:spcBef>
                <a:spcPts val="800"/>
              </a:spcBef>
              <a:spcAft>
                <a:spcPts val="0"/>
              </a:spcAft>
              <a:buClr>
                <a:schemeClr val="dk1"/>
              </a:buClr>
              <a:buSzPts val="4000"/>
              <a:buFont typeface="Arial"/>
              <a:buNone/>
            </a:pPr>
            <a:r>
              <a:rPr lang="en-US" sz="4000">
                <a:latin typeface="Arial"/>
                <a:ea typeface="Arial"/>
                <a:cs typeface="Arial"/>
                <a:sym typeface="Arial"/>
              </a:rPr>
              <a:t>Methods in a class are </a:t>
            </a:r>
            <a:r>
              <a:rPr lang="en-US" sz="4000" b="1">
                <a:latin typeface="Arial"/>
                <a:ea typeface="Arial"/>
                <a:cs typeface="Arial"/>
                <a:sym typeface="Arial"/>
              </a:rPr>
              <a:t>concrete</a:t>
            </a:r>
            <a:r>
              <a:rPr lang="en-US" sz="4000">
                <a:latin typeface="Arial"/>
                <a:ea typeface="Arial"/>
                <a:cs typeface="Arial"/>
                <a:sym typeface="Arial"/>
              </a:rPr>
              <a:t> and non-static, non-final, and package level access.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5"/>
          <p:cNvSpPr txBox="1">
            <a:spLocks noGrp="1"/>
          </p:cNvSpPr>
          <p:nvPr>
            <p:ph type="title"/>
          </p:nvPr>
        </p:nvSpPr>
        <p:spPr>
          <a:xfrm>
            <a:off x="685800" y="2946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Arial"/>
                <a:ea typeface="Arial"/>
                <a:cs typeface="Arial"/>
                <a:sym typeface="Arial"/>
              </a:rPr>
              <a:t>Defaults in an Interface</a:t>
            </a:r>
            <a:endParaRPr/>
          </a:p>
        </p:txBody>
      </p:sp>
      <p:sp>
        <p:nvSpPr>
          <p:cNvPr id="319" name="Google Shape;319;p25"/>
          <p:cNvSpPr txBox="1">
            <a:spLocks noGrp="1"/>
          </p:cNvSpPr>
          <p:nvPr>
            <p:ph type="body" idx="1"/>
          </p:nvPr>
        </p:nvSpPr>
        <p:spPr>
          <a:xfrm>
            <a:off x="330895" y="1761765"/>
            <a:ext cx="8222100" cy="3683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Arial"/>
              <a:buNone/>
            </a:pPr>
            <a:r>
              <a:rPr lang="en-US" sz="4000">
                <a:latin typeface="Arial"/>
                <a:ea typeface="Arial"/>
                <a:cs typeface="Arial"/>
                <a:sym typeface="Arial"/>
              </a:rPr>
              <a:t>Variables in an interface are public, static, and final.</a:t>
            </a:r>
            <a:endParaRPr/>
          </a:p>
          <a:p>
            <a:pPr marL="0" lvl="0" indent="0" algn="l" rtl="0">
              <a:spcBef>
                <a:spcPts val="800"/>
              </a:spcBef>
              <a:spcAft>
                <a:spcPts val="0"/>
              </a:spcAft>
              <a:buClr>
                <a:schemeClr val="dk1"/>
              </a:buClr>
              <a:buSzPts val="4000"/>
              <a:buFont typeface="Times New Roman"/>
              <a:buNone/>
            </a:pPr>
            <a:endParaRPr sz="4000">
              <a:latin typeface="Arial"/>
              <a:ea typeface="Arial"/>
              <a:cs typeface="Arial"/>
              <a:sym typeface="Arial"/>
            </a:endParaRPr>
          </a:p>
          <a:p>
            <a:pPr marL="0" lvl="0" indent="0" algn="l" rtl="0">
              <a:spcBef>
                <a:spcPts val="800"/>
              </a:spcBef>
              <a:spcAft>
                <a:spcPts val="0"/>
              </a:spcAft>
              <a:buClr>
                <a:schemeClr val="dk1"/>
              </a:buClr>
              <a:buSzPts val="4000"/>
              <a:buFont typeface="Arial"/>
              <a:buNone/>
            </a:pPr>
            <a:r>
              <a:rPr lang="en-US" sz="4000">
                <a:latin typeface="Arial"/>
                <a:ea typeface="Arial"/>
                <a:cs typeface="Arial"/>
                <a:sym typeface="Arial"/>
              </a:rPr>
              <a:t>Methods in an interface are public, abstract, non-static, and non-final.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6"/>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325" name="Google Shape;325;p26"/>
          <p:cNvSpPr/>
          <p:nvPr/>
        </p:nvSpPr>
        <p:spPr>
          <a:xfrm>
            <a:off x="685800" y="2362200"/>
            <a:ext cx="7620000" cy="13716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Comparable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331" name="Google Shape;331;p27"/>
          <p:cNvSpPr/>
          <p:nvPr/>
        </p:nvSpPr>
        <p:spPr>
          <a:xfrm>
            <a:off x="1371600" y="228600"/>
            <a:ext cx="6019800" cy="609600"/>
          </a:xfrm>
          <a:prstGeom prst="rect">
            <a:avLst/>
          </a:prstGeom>
        </p:spPr>
        <p:txBody>
          <a:bodyPr>
            <a:prstTxWarp prst="textPlain">
              <a:avLst/>
            </a:prstTxWarp>
          </a:bodyPr>
          <a:lstStyle/>
          <a:p>
            <a:pPr lvl="0" algn="ctr"/>
            <a:r>
              <a:rPr b="0" i="0">
                <a:ln>
                  <a:noFill/>
                </a:ln>
                <a:solidFill>
                  <a:srgbClr val="336699"/>
                </a:solidFill>
                <a:latin typeface="Times New Roman"/>
              </a:rPr>
              <a:t>The Comparable Interface</a:t>
            </a:r>
          </a:p>
        </p:txBody>
      </p:sp>
      <p:sp>
        <p:nvSpPr>
          <p:cNvPr id="332" name="Google Shape;332;p27"/>
          <p:cNvSpPr txBox="1"/>
          <p:nvPr/>
        </p:nvSpPr>
        <p:spPr>
          <a:xfrm>
            <a:off x="381000" y="1219200"/>
            <a:ext cx="8305800" cy="106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Most all of the classes in Java that can be compared implement Comparable. </a:t>
            </a:r>
            <a:endParaRPr/>
          </a:p>
        </p:txBody>
      </p:sp>
      <p:sp>
        <p:nvSpPr>
          <p:cNvPr id="333" name="Google Shape;333;p27"/>
          <p:cNvSpPr txBox="1"/>
          <p:nvPr/>
        </p:nvSpPr>
        <p:spPr>
          <a:xfrm>
            <a:off x="3505200" y="5486400"/>
            <a:ext cx="3581400" cy="436563"/>
          </a:xfrm>
          <a:prstGeom prst="rect">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accent2"/>
                </a:solidFill>
                <a:latin typeface="Tahoma"/>
                <a:ea typeface="Tahoma"/>
                <a:cs typeface="Tahoma"/>
                <a:sym typeface="Tahoma"/>
              </a:rPr>
              <a:t>Compare Booleans???????</a:t>
            </a:r>
            <a:endParaRPr sz="2200">
              <a:solidFill>
                <a:schemeClr val="dk1"/>
              </a:solidFill>
              <a:latin typeface="Tahoma"/>
              <a:ea typeface="Tahoma"/>
              <a:cs typeface="Tahoma"/>
              <a:sym typeface="Tahoma"/>
            </a:endParaRPr>
          </a:p>
        </p:txBody>
      </p:sp>
      <p:grpSp>
        <p:nvGrpSpPr>
          <p:cNvPr id="334" name="Google Shape;334;p27" descr="The Comparable Interface is implemented by the String class as well as the Wrapper Classes: Integer, Long, Double, Float, Character, and Boolean (among others)."/>
          <p:cNvGrpSpPr/>
          <p:nvPr/>
        </p:nvGrpSpPr>
        <p:grpSpPr>
          <a:xfrm>
            <a:off x="304800" y="2438400"/>
            <a:ext cx="8382000" cy="2971800"/>
            <a:chOff x="304800" y="2438400"/>
            <a:chExt cx="8382000" cy="2971800"/>
          </a:xfrm>
        </p:grpSpPr>
        <p:sp>
          <p:nvSpPr>
            <p:cNvPr id="335" name="Google Shape;335;p27"/>
            <p:cNvSpPr/>
            <p:nvPr/>
          </p:nvSpPr>
          <p:spPr>
            <a:xfrm>
              <a:off x="2819400" y="2438400"/>
              <a:ext cx="28194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Comparable</a:t>
              </a:r>
              <a:endParaRPr/>
            </a:p>
          </p:txBody>
        </p:sp>
        <p:cxnSp>
          <p:nvCxnSpPr>
            <p:cNvPr id="336" name="Google Shape;336;p27"/>
            <p:cNvCxnSpPr/>
            <p:nvPr/>
          </p:nvCxnSpPr>
          <p:spPr>
            <a:xfrm flipH="1">
              <a:off x="2057400" y="2971800"/>
              <a:ext cx="533400" cy="1295400"/>
            </a:xfrm>
            <a:prstGeom prst="straightConnector1">
              <a:avLst/>
            </a:prstGeom>
            <a:noFill/>
            <a:ln w="63500" cap="flat" cmpd="sng">
              <a:solidFill>
                <a:srgbClr val="FF0000"/>
              </a:solidFill>
              <a:prstDash val="solid"/>
              <a:round/>
              <a:headEnd type="none" w="med" len="med"/>
              <a:tailEnd type="triangle" w="lg" len="lg"/>
            </a:ln>
          </p:spPr>
        </p:cxnSp>
        <p:sp>
          <p:nvSpPr>
            <p:cNvPr id="337" name="Google Shape;337;p27"/>
            <p:cNvSpPr/>
            <p:nvPr/>
          </p:nvSpPr>
          <p:spPr>
            <a:xfrm>
              <a:off x="304800" y="2895600"/>
              <a:ext cx="18288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String</a:t>
              </a:r>
              <a:endParaRPr/>
            </a:p>
          </p:txBody>
        </p:sp>
        <p:sp>
          <p:nvSpPr>
            <p:cNvPr id="338" name="Google Shape;338;p27"/>
            <p:cNvSpPr/>
            <p:nvPr/>
          </p:nvSpPr>
          <p:spPr>
            <a:xfrm>
              <a:off x="838200" y="4419600"/>
              <a:ext cx="23622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Integer</a:t>
              </a:r>
              <a:endParaRPr/>
            </a:p>
          </p:txBody>
        </p:sp>
        <p:cxnSp>
          <p:nvCxnSpPr>
            <p:cNvPr id="339" name="Google Shape;339;p27"/>
            <p:cNvCxnSpPr/>
            <p:nvPr/>
          </p:nvCxnSpPr>
          <p:spPr>
            <a:xfrm>
              <a:off x="5562600" y="2819400"/>
              <a:ext cx="685800" cy="228600"/>
            </a:xfrm>
            <a:prstGeom prst="straightConnector1">
              <a:avLst/>
            </a:prstGeom>
            <a:noFill/>
            <a:ln w="63500" cap="flat" cmpd="sng">
              <a:solidFill>
                <a:srgbClr val="FF0000"/>
              </a:solidFill>
              <a:prstDash val="solid"/>
              <a:round/>
              <a:headEnd type="none" w="med" len="med"/>
              <a:tailEnd type="triangle" w="lg" len="lg"/>
            </a:ln>
          </p:spPr>
        </p:cxnSp>
        <p:cxnSp>
          <p:nvCxnSpPr>
            <p:cNvPr id="340" name="Google Shape;340;p27"/>
            <p:cNvCxnSpPr/>
            <p:nvPr/>
          </p:nvCxnSpPr>
          <p:spPr>
            <a:xfrm>
              <a:off x="4038600" y="2971800"/>
              <a:ext cx="0" cy="1752600"/>
            </a:xfrm>
            <a:prstGeom prst="straightConnector1">
              <a:avLst/>
            </a:prstGeom>
            <a:noFill/>
            <a:ln w="63500" cap="flat" cmpd="sng">
              <a:solidFill>
                <a:srgbClr val="FF0000"/>
              </a:solidFill>
              <a:prstDash val="solid"/>
              <a:round/>
              <a:headEnd type="none" w="med" len="med"/>
              <a:tailEnd type="triangle" w="lg" len="lg"/>
            </a:ln>
          </p:spPr>
        </p:cxnSp>
        <p:sp>
          <p:nvSpPr>
            <p:cNvPr id="341" name="Google Shape;341;p27"/>
            <p:cNvSpPr/>
            <p:nvPr/>
          </p:nvSpPr>
          <p:spPr>
            <a:xfrm>
              <a:off x="4419600" y="3962400"/>
              <a:ext cx="17526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Double</a:t>
              </a:r>
              <a:endParaRPr/>
            </a:p>
          </p:txBody>
        </p:sp>
        <p:cxnSp>
          <p:nvCxnSpPr>
            <p:cNvPr id="342" name="Google Shape;342;p27"/>
            <p:cNvCxnSpPr/>
            <p:nvPr/>
          </p:nvCxnSpPr>
          <p:spPr>
            <a:xfrm>
              <a:off x="2971800" y="2971800"/>
              <a:ext cx="0" cy="533400"/>
            </a:xfrm>
            <a:prstGeom prst="straightConnector1">
              <a:avLst/>
            </a:prstGeom>
            <a:noFill/>
            <a:ln w="63500" cap="flat" cmpd="sng">
              <a:solidFill>
                <a:srgbClr val="FF0000"/>
              </a:solidFill>
              <a:prstDash val="solid"/>
              <a:round/>
              <a:headEnd type="none" w="med" len="med"/>
              <a:tailEnd type="triangle" w="lg" len="lg"/>
            </a:ln>
          </p:spPr>
        </p:cxnSp>
        <p:sp>
          <p:nvSpPr>
            <p:cNvPr id="343" name="Google Shape;343;p27"/>
            <p:cNvSpPr/>
            <p:nvPr/>
          </p:nvSpPr>
          <p:spPr>
            <a:xfrm>
              <a:off x="6400800" y="3810000"/>
              <a:ext cx="15240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Float</a:t>
              </a:r>
              <a:endParaRPr/>
            </a:p>
          </p:txBody>
        </p:sp>
        <p:sp>
          <p:nvSpPr>
            <p:cNvPr id="344" name="Google Shape;344;p27"/>
            <p:cNvSpPr/>
            <p:nvPr/>
          </p:nvSpPr>
          <p:spPr>
            <a:xfrm>
              <a:off x="6324600" y="2819400"/>
              <a:ext cx="23622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Character</a:t>
              </a:r>
              <a:endParaRPr/>
            </a:p>
          </p:txBody>
        </p:sp>
        <p:cxnSp>
          <p:nvCxnSpPr>
            <p:cNvPr id="345" name="Google Shape;345;p27"/>
            <p:cNvCxnSpPr/>
            <p:nvPr/>
          </p:nvCxnSpPr>
          <p:spPr>
            <a:xfrm>
              <a:off x="4876800" y="2971800"/>
              <a:ext cx="0" cy="838200"/>
            </a:xfrm>
            <a:prstGeom prst="straightConnector1">
              <a:avLst/>
            </a:prstGeom>
            <a:noFill/>
            <a:ln w="63500" cap="flat" cmpd="sng">
              <a:solidFill>
                <a:srgbClr val="FF0000"/>
              </a:solidFill>
              <a:prstDash val="solid"/>
              <a:round/>
              <a:headEnd type="none" w="med" len="med"/>
              <a:tailEnd type="triangle" w="lg" len="lg"/>
            </a:ln>
          </p:spPr>
        </p:cxnSp>
        <p:sp>
          <p:nvSpPr>
            <p:cNvPr id="346" name="Google Shape;346;p27"/>
            <p:cNvSpPr/>
            <p:nvPr/>
          </p:nvSpPr>
          <p:spPr>
            <a:xfrm>
              <a:off x="2514600" y="3581400"/>
              <a:ext cx="12954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Long</a:t>
              </a:r>
              <a:endParaRPr/>
            </a:p>
          </p:txBody>
        </p:sp>
        <p:sp>
          <p:nvSpPr>
            <p:cNvPr id="347" name="Google Shape;347;p27"/>
            <p:cNvSpPr/>
            <p:nvPr/>
          </p:nvSpPr>
          <p:spPr>
            <a:xfrm>
              <a:off x="3505200" y="4800600"/>
              <a:ext cx="2362200" cy="609600"/>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dk1"/>
                  </a:solidFill>
                  <a:latin typeface="Tahoma"/>
                  <a:ea typeface="Tahoma"/>
                  <a:cs typeface="Tahoma"/>
                  <a:sym typeface="Tahoma"/>
                </a:rPr>
                <a:t>Boolean</a:t>
              </a:r>
              <a:endParaRPr/>
            </a:p>
          </p:txBody>
        </p:sp>
        <p:cxnSp>
          <p:nvCxnSpPr>
            <p:cNvPr id="348" name="Google Shape;348;p27"/>
            <p:cNvCxnSpPr/>
            <p:nvPr/>
          </p:nvCxnSpPr>
          <p:spPr>
            <a:xfrm>
              <a:off x="5334000" y="2971800"/>
              <a:ext cx="1066800" cy="838200"/>
            </a:xfrm>
            <a:prstGeom prst="straightConnector1">
              <a:avLst/>
            </a:prstGeom>
            <a:noFill/>
            <a:ln w="63500" cap="flat" cmpd="sng">
              <a:solidFill>
                <a:srgbClr val="FF0000"/>
              </a:solidFill>
              <a:prstDash val="solid"/>
              <a:round/>
              <a:headEnd type="none" w="med" len="med"/>
              <a:tailEnd type="triangle" w="lg" len="lg"/>
            </a:ln>
          </p:spPr>
        </p:cxnSp>
        <p:cxnSp>
          <p:nvCxnSpPr>
            <p:cNvPr id="349" name="Google Shape;349;p27"/>
            <p:cNvCxnSpPr/>
            <p:nvPr/>
          </p:nvCxnSpPr>
          <p:spPr>
            <a:xfrm flipH="1">
              <a:off x="2057400" y="2743200"/>
              <a:ext cx="838200" cy="228600"/>
            </a:xfrm>
            <a:prstGeom prst="straightConnector1">
              <a:avLst/>
            </a:prstGeom>
            <a:noFill/>
            <a:ln w="63500" cap="flat" cmpd="sng">
              <a:solidFill>
                <a:srgbClr val="FF0000"/>
              </a:solidFill>
              <a:prstDash val="solid"/>
              <a:round/>
              <a:headEnd type="none" w="med" len="med"/>
              <a:tailEnd type="triangle" w="lg" len="lg"/>
            </a:ln>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8"/>
          <p:cNvSpPr/>
          <p:nvPr/>
        </p:nvSpPr>
        <p:spPr>
          <a:xfrm>
            <a:off x="1371600" y="228600"/>
            <a:ext cx="6019800" cy="609600"/>
          </a:xfrm>
          <a:prstGeom prst="rect">
            <a:avLst/>
          </a:prstGeom>
        </p:spPr>
        <p:txBody>
          <a:bodyPr>
            <a:prstTxWarp prst="textPlain">
              <a:avLst/>
            </a:prstTxWarp>
          </a:bodyPr>
          <a:lstStyle/>
          <a:p>
            <a:pPr lvl="0" algn="ctr"/>
            <a:r>
              <a:rPr b="0" i="0">
                <a:ln>
                  <a:noFill/>
                </a:ln>
                <a:solidFill>
                  <a:srgbClr val="336699"/>
                </a:solidFill>
                <a:latin typeface="Times New Roman"/>
              </a:rPr>
              <a:t>The Comparable Interface</a:t>
            </a:r>
          </a:p>
        </p:txBody>
      </p:sp>
      <p:sp>
        <p:nvSpPr>
          <p:cNvPr id="355" name="Google Shape;355;p28"/>
          <p:cNvSpPr txBox="1"/>
          <p:nvPr/>
        </p:nvSpPr>
        <p:spPr>
          <a:xfrm>
            <a:off x="323850" y="1600200"/>
            <a:ext cx="8496300" cy="25545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941EDF"/>
                </a:solidFill>
                <a:latin typeface="Consolas"/>
                <a:ea typeface="Consolas"/>
                <a:cs typeface="Consolas"/>
                <a:sym typeface="Consolas"/>
              </a:rPr>
              <a:t>public</a:t>
            </a:r>
            <a:r>
              <a:rPr lang="en-US" sz="3200" b="1">
                <a:solidFill>
                  <a:srgbClr val="000000"/>
                </a:solidFill>
                <a:latin typeface="Consolas"/>
                <a:ea typeface="Consolas"/>
                <a:cs typeface="Consolas"/>
                <a:sym typeface="Consolas"/>
              </a:rPr>
              <a:t> </a:t>
            </a:r>
            <a:r>
              <a:rPr lang="en-US" sz="3200" b="1">
                <a:solidFill>
                  <a:srgbClr val="941EDF"/>
                </a:solidFill>
                <a:latin typeface="Consolas"/>
                <a:ea typeface="Consolas"/>
                <a:cs typeface="Consolas"/>
                <a:sym typeface="Consolas"/>
              </a:rPr>
              <a:t>interface</a:t>
            </a:r>
            <a:r>
              <a:rPr lang="en-US" sz="3200" b="1">
                <a:solidFill>
                  <a:srgbClr val="000000"/>
                </a:solidFill>
                <a:latin typeface="Consolas"/>
                <a:ea typeface="Consolas"/>
                <a:cs typeface="Consolas"/>
                <a:sym typeface="Consolas"/>
              </a:rPr>
              <a:t> Comparable&lt;T&gt; </a:t>
            </a:r>
            <a:endParaRPr/>
          </a:p>
          <a:p>
            <a:pPr marL="0" marR="0" lvl="0" indent="0" algn="l" rtl="0">
              <a:spcBef>
                <a:spcPts val="0"/>
              </a:spcBef>
              <a:spcAft>
                <a:spcPts val="0"/>
              </a:spcAft>
              <a:buNone/>
            </a:pPr>
            <a:r>
              <a:rPr lang="en-US" sz="3200" b="1">
                <a:solidFill>
                  <a:srgbClr val="000000"/>
                </a:solidFill>
                <a:latin typeface="Consolas"/>
                <a:ea typeface="Consolas"/>
                <a:cs typeface="Consolas"/>
                <a:sym typeface="Consolas"/>
              </a:rPr>
              <a:t>{</a:t>
            </a:r>
            <a:br>
              <a:rPr lang="en-US" sz="3200" b="1">
                <a:solidFill>
                  <a:srgbClr val="000000"/>
                </a:solidFill>
                <a:latin typeface="Consolas"/>
                <a:ea typeface="Consolas"/>
                <a:cs typeface="Consolas"/>
                <a:sym typeface="Consolas"/>
              </a:rPr>
            </a:br>
            <a:br>
              <a:rPr lang="en-US" sz="3200" b="1">
                <a:solidFill>
                  <a:srgbClr val="000000"/>
                </a:solidFill>
                <a:latin typeface="Consolas"/>
                <a:ea typeface="Consolas"/>
                <a:cs typeface="Consolas"/>
                <a:sym typeface="Consolas"/>
              </a:rPr>
            </a:br>
            <a:r>
              <a:rPr lang="en-US" sz="3200" b="1">
                <a:solidFill>
                  <a:srgbClr val="000000"/>
                </a:solidFill>
                <a:latin typeface="Consolas"/>
                <a:ea typeface="Consolas"/>
                <a:cs typeface="Consolas"/>
                <a:sym typeface="Consolas"/>
              </a:rPr>
              <a:t>  </a:t>
            </a:r>
            <a:r>
              <a:rPr lang="en-US" sz="3200" b="1">
                <a:solidFill>
                  <a:srgbClr val="941EDF"/>
                </a:solidFill>
                <a:latin typeface="Consolas"/>
                <a:ea typeface="Consolas"/>
                <a:cs typeface="Consolas"/>
                <a:sym typeface="Consolas"/>
              </a:rPr>
              <a:t>public</a:t>
            </a:r>
            <a:r>
              <a:rPr lang="en-US" sz="3200" b="1">
                <a:solidFill>
                  <a:srgbClr val="000000"/>
                </a:solidFill>
                <a:latin typeface="Consolas"/>
                <a:ea typeface="Consolas"/>
                <a:cs typeface="Consolas"/>
                <a:sym typeface="Consolas"/>
              </a:rPr>
              <a:t> </a:t>
            </a:r>
            <a:r>
              <a:rPr lang="en-US" sz="3200" b="1">
                <a:solidFill>
                  <a:srgbClr val="941EDF"/>
                </a:solidFill>
                <a:latin typeface="Consolas"/>
                <a:ea typeface="Consolas"/>
                <a:cs typeface="Consolas"/>
                <a:sym typeface="Consolas"/>
              </a:rPr>
              <a:t>abstract</a:t>
            </a:r>
            <a:r>
              <a:rPr lang="en-US" sz="3200" b="1">
                <a:solidFill>
                  <a:srgbClr val="000000"/>
                </a:solidFill>
                <a:latin typeface="Consolas"/>
                <a:ea typeface="Consolas"/>
                <a:cs typeface="Consolas"/>
                <a:sym typeface="Consolas"/>
              </a:rPr>
              <a:t> </a:t>
            </a:r>
            <a:r>
              <a:rPr lang="en-US" sz="3200" b="1">
                <a:solidFill>
                  <a:srgbClr val="941EDF"/>
                </a:solidFill>
                <a:latin typeface="Consolas"/>
                <a:ea typeface="Consolas"/>
                <a:cs typeface="Consolas"/>
                <a:sym typeface="Consolas"/>
              </a:rPr>
              <a:t>int</a:t>
            </a:r>
            <a:r>
              <a:rPr lang="en-US" sz="3200" b="1">
                <a:solidFill>
                  <a:srgbClr val="000000"/>
                </a:solidFill>
                <a:latin typeface="Consolas"/>
                <a:ea typeface="Consolas"/>
                <a:cs typeface="Consolas"/>
                <a:sym typeface="Consolas"/>
              </a:rPr>
              <a:t> compareTo(T o);</a:t>
            </a:r>
            <a:br>
              <a:rPr lang="en-US" sz="3200" b="1">
                <a:solidFill>
                  <a:srgbClr val="000000"/>
                </a:solidFill>
                <a:latin typeface="Consolas"/>
                <a:ea typeface="Consolas"/>
                <a:cs typeface="Consolas"/>
                <a:sym typeface="Consolas"/>
              </a:rPr>
            </a:br>
            <a:r>
              <a:rPr lang="en-US" sz="3200" b="1">
                <a:solidFill>
                  <a:srgbClr val="000000"/>
                </a:solidFill>
                <a:latin typeface="Consolas"/>
                <a:ea typeface="Consolas"/>
                <a:cs typeface="Consolas"/>
                <a:sym typeface="Consolas"/>
              </a:rPr>
              <a:t>}</a:t>
            </a:r>
            <a:endParaRPr sz="4800" b="1">
              <a:solidFill>
                <a:schemeClr val="dk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9"/>
          <p:cNvSpPr txBox="1"/>
          <p:nvPr/>
        </p:nvSpPr>
        <p:spPr>
          <a:xfrm>
            <a:off x="457200" y="2133600"/>
            <a:ext cx="8496300"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941EDF"/>
                </a:solidFill>
                <a:latin typeface="Courier New"/>
                <a:ea typeface="Courier New"/>
                <a:cs typeface="Courier New"/>
                <a:sym typeface="Courier New"/>
              </a:rPr>
              <a:t>public</a:t>
            </a:r>
            <a:r>
              <a:rPr lang="en-US" sz="2800" b="1">
                <a:solidFill>
                  <a:srgbClr val="000000"/>
                </a:solidFill>
                <a:latin typeface="Courier New"/>
                <a:ea typeface="Courier New"/>
                <a:cs typeface="Courier New"/>
                <a:sym typeface="Courier New"/>
              </a:rPr>
              <a:t> </a:t>
            </a:r>
            <a:r>
              <a:rPr lang="en-US" sz="2800" b="1">
                <a:solidFill>
                  <a:srgbClr val="941EDF"/>
                </a:solidFill>
                <a:latin typeface="Courier New"/>
                <a:ea typeface="Courier New"/>
                <a:cs typeface="Courier New"/>
                <a:sym typeface="Courier New"/>
              </a:rPr>
              <a:t>int</a:t>
            </a:r>
            <a:r>
              <a:rPr lang="en-US" sz="2800" b="1">
                <a:solidFill>
                  <a:srgbClr val="000000"/>
                </a:solidFill>
                <a:latin typeface="Courier New"/>
                <a:ea typeface="Courier New"/>
                <a:cs typeface="Courier New"/>
                <a:sym typeface="Courier New"/>
              </a:rPr>
              <a:t> compareTo(Character other) </a:t>
            </a:r>
            <a:endParaRPr/>
          </a:p>
          <a:p>
            <a:pPr marL="0" marR="0" lvl="0" indent="0" algn="l" rtl="0">
              <a:spcBef>
                <a:spcPts val="1400"/>
              </a:spcBef>
              <a:spcAft>
                <a:spcPts val="0"/>
              </a:spcAft>
              <a:buNone/>
            </a:pPr>
            <a:r>
              <a:rPr lang="en-US" sz="2800" b="1">
                <a:solidFill>
                  <a:srgbClr val="000000"/>
                </a:solidFill>
                <a:latin typeface="Courier New"/>
                <a:ea typeface="Courier New"/>
                <a:cs typeface="Courier New"/>
                <a:sym typeface="Courier New"/>
              </a:rPr>
              <a:t>{</a:t>
            </a:r>
            <a:br>
              <a:rPr lang="en-US" sz="2800" b="1">
                <a:solidFill>
                  <a:srgbClr val="000000"/>
                </a:solidFill>
                <a:latin typeface="Courier New"/>
                <a:ea typeface="Courier New"/>
                <a:cs typeface="Courier New"/>
                <a:sym typeface="Courier New"/>
              </a:rPr>
            </a:br>
            <a:r>
              <a:rPr lang="en-US" sz="2800" b="1">
                <a:solidFill>
                  <a:srgbClr val="000000"/>
                </a:solidFill>
                <a:latin typeface="Courier New"/>
                <a:ea typeface="Courier New"/>
                <a:cs typeface="Courier New"/>
                <a:sym typeface="Courier New"/>
              </a:rPr>
              <a:t>   </a:t>
            </a:r>
            <a:r>
              <a:rPr lang="en-US" sz="2800" b="1">
                <a:solidFill>
                  <a:srgbClr val="941EDF"/>
                </a:solidFill>
                <a:latin typeface="Courier New"/>
                <a:ea typeface="Courier New"/>
                <a:cs typeface="Courier New"/>
                <a:sym typeface="Courier New"/>
              </a:rPr>
              <a:t>return</a:t>
            </a:r>
            <a:r>
              <a:rPr lang="en-US" sz="2800" b="1">
                <a:solidFill>
                  <a:srgbClr val="000000"/>
                </a:solidFill>
                <a:latin typeface="Courier New"/>
                <a:ea typeface="Courier New"/>
                <a:cs typeface="Courier New"/>
                <a:sym typeface="Courier New"/>
              </a:rPr>
              <a:t> </a:t>
            </a:r>
            <a:r>
              <a:rPr lang="en-US" sz="2800" b="1">
                <a:solidFill>
                  <a:srgbClr val="941EDF"/>
                </a:solidFill>
                <a:latin typeface="Courier New"/>
                <a:ea typeface="Courier New"/>
                <a:cs typeface="Courier New"/>
                <a:sym typeface="Courier New"/>
              </a:rPr>
              <a:t>this</a:t>
            </a:r>
            <a:r>
              <a:rPr lang="en-US" sz="2800" b="1">
                <a:solidFill>
                  <a:srgbClr val="000000"/>
                </a:solidFill>
                <a:latin typeface="Courier New"/>
                <a:ea typeface="Courier New"/>
                <a:cs typeface="Courier New"/>
                <a:sym typeface="Courier New"/>
              </a:rPr>
              <a:t>.value - other.value;</a:t>
            </a:r>
            <a:br>
              <a:rPr lang="en-US" sz="2800" b="1">
                <a:solidFill>
                  <a:srgbClr val="000000"/>
                </a:solidFill>
                <a:latin typeface="Courier New"/>
                <a:ea typeface="Courier New"/>
                <a:cs typeface="Courier New"/>
                <a:sym typeface="Courier New"/>
              </a:rPr>
            </a:br>
            <a:r>
              <a:rPr lang="en-US" sz="2800" b="1">
                <a:solidFill>
                  <a:srgbClr val="000000"/>
                </a:solidFill>
                <a:latin typeface="Courier New"/>
                <a:ea typeface="Courier New"/>
                <a:cs typeface="Courier New"/>
                <a:sym typeface="Courier New"/>
              </a:rPr>
              <a:t>}</a:t>
            </a:r>
            <a:endParaRPr sz="2800" b="1">
              <a:solidFill>
                <a:schemeClr val="dk1"/>
              </a:solidFill>
              <a:latin typeface="Consolas"/>
              <a:ea typeface="Consolas"/>
              <a:cs typeface="Consolas"/>
              <a:sym typeface="Consolas"/>
            </a:endParaRPr>
          </a:p>
        </p:txBody>
      </p:sp>
      <p:sp>
        <p:nvSpPr>
          <p:cNvPr id="361" name="Google Shape;361;p29"/>
          <p:cNvSpPr txBox="1"/>
          <p:nvPr/>
        </p:nvSpPr>
        <p:spPr>
          <a:xfrm>
            <a:off x="228600" y="381000"/>
            <a:ext cx="8132354"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Character </a:t>
            </a:r>
            <a:r>
              <a:rPr lang="en-US" sz="2800">
                <a:solidFill>
                  <a:srgbClr val="0000FF"/>
                </a:solidFill>
                <a:latin typeface="Courier New"/>
                <a:ea typeface="Courier New"/>
                <a:cs typeface="Courier New"/>
                <a:sym typeface="Courier New"/>
              </a:rPr>
              <a:t>implements</a:t>
            </a:r>
            <a:r>
              <a:rPr lang="en-US" sz="2800" b="1">
                <a:solidFill>
                  <a:srgbClr val="0000FF"/>
                </a:solidFill>
                <a:latin typeface="Courier New"/>
                <a:ea typeface="Courier New"/>
                <a:cs typeface="Courier New"/>
                <a:sym typeface="Courier New"/>
              </a:rPr>
              <a:t> </a:t>
            </a:r>
            <a:endParaRPr/>
          </a:p>
          <a:p>
            <a:pPr marL="0" marR="0" lvl="0" indent="0" algn="l" rtl="0">
              <a:spcBef>
                <a:spcPts val="0"/>
              </a:spcBef>
              <a:spcAft>
                <a:spcPts val="0"/>
              </a:spcAft>
              <a:buNone/>
            </a:pPr>
            <a:r>
              <a:rPr lang="en-US" sz="2800" b="1">
                <a:solidFill>
                  <a:srgbClr val="0000FF"/>
                </a:solidFill>
                <a:latin typeface="Courier New"/>
                <a:ea typeface="Courier New"/>
                <a:cs typeface="Courier New"/>
                <a:sym typeface="Courier New"/>
              </a:rPr>
              <a:t>                Comparable&lt;Character&gt;</a:t>
            </a:r>
            <a:br>
              <a:rPr lang="en-US" sz="2800" b="1">
                <a:solidFill>
                  <a:srgbClr val="0000FF"/>
                </a:solidFill>
                <a:latin typeface="Courier New"/>
                <a:ea typeface="Courier New"/>
                <a:cs typeface="Courier New"/>
                <a:sym typeface="Courier New"/>
              </a:rPr>
            </a:br>
            <a:endParaRPr sz="3200" b="1">
              <a:solidFill>
                <a:srgbClr val="0000FF"/>
              </a:solidFill>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0"/>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367" name="Google Shape;367;p30"/>
          <p:cNvSpPr txBox="1"/>
          <p:nvPr/>
        </p:nvSpPr>
        <p:spPr>
          <a:xfrm>
            <a:off x="838200" y="1828800"/>
            <a:ext cx="6986588" cy="3749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"and";</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Comparable y = "art";</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
        <p:nvSpPr>
          <p:cNvPr id="368" name="Google Shape;368;p30"/>
          <p:cNvSpPr txBox="1"/>
          <p:nvPr/>
        </p:nvSpPr>
        <p:spPr>
          <a:xfrm>
            <a:off x="6629400" y="4876800"/>
            <a:ext cx="1905000" cy="1323975"/>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1"/>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374" name="Google Shape;374;p31"/>
          <p:cNvSpPr txBox="1"/>
          <p:nvPr/>
        </p:nvSpPr>
        <p:spPr>
          <a:xfrm>
            <a:off x="838200" y="1828800"/>
            <a:ext cx="6986588" cy="3749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"ants";</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Comparable y = "an";</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
        <p:nvSpPr>
          <p:cNvPr id="375" name="Google Shape;375;p31"/>
          <p:cNvSpPr txBox="1"/>
          <p:nvPr/>
        </p:nvSpPr>
        <p:spPr>
          <a:xfrm>
            <a:off x="6629400" y="4876800"/>
            <a:ext cx="1905000" cy="1323975"/>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2</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2"/>
          <p:cNvSpPr txBox="1"/>
          <p:nvPr/>
        </p:nvSpPr>
        <p:spPr>
          <a:xfrm>
            <a:off x="208252" y="1425000"/>
            <a:ext cx="6116347"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941EDF"/>
                </a:solidFill>
                <a:latin typeface="Courier New"/>
                <a:ea typeface="Courier New"/>
                <a:cs typeface="Courier New"/>
                <a:sym typeface="Courier New"/>
              </a:rPr>
              <a:t>public</a:t>
            </a: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compareTo(String anotherString) </a:t>
            </a:r>
            <a:endParaRPr/>
          </a:p>
          <a:p>
            <a:pPr marL="0" marR="0" lvl="0" indent="0" algn="l" rtl="0">
              <a:spcBef>
                <a:spcPts val="0"/>
              </a:spcBef>
              <a:spcAft>
                <a:spcPts val="0"/>
              </a:spcAft>
              <a:buNone/>
            </a:pPr>
            <a:r>
              <a:rPr lang="en-US" sz="1600" b="1">
                <a:solidFill>
                  <a:srgbClr val="000000"/>
                </a:solidFill>
                <a:latin typeface="Courier New"/>
                <a:ea typeface="Courier New"/>
                <a:cs typeface="Courier New"/>
                <a:sym typeface="Courier New"/>
              </a:rPr>
              <a: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len1 = count;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len2 = anotherString.count;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n = Math.min(len1, len2);</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v1[] = value;</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v2[] = anotherString.value;</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i = offset;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j = anotherString.offset;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if</a:t>
            </a:r>
            <a:r>
              <a:rPr lang="en-US" sz="1600" b="1">
                <a:solidFill>
                  <a:srgbClr val="000000"/>
                </a:solidFill>
                <a:highlight>
                  <a:srgbClr val="FFFF00"/>
                </a:highlight>
                <a:latin typeface="Courier New"/>
                <a:ea typeface="Courier New"/>
                <a:cs typeface="Courier New"/>
                <a:sym typeface="Courier New"/>
              </a:rPr>
              <a:t> (i == j) </a:t>
            </a:r>
            <a:r>
              <a:rPr lang="en-US" sz="1600" b="1">
                <a:solidFill>
                  <a:srgbClr val="000000"/>
                </a:solidFill>
                <a:latin typeface="Courier New"/>
                <a:ea typeface="Courier New"/>
                <a:cs typeface="Courier New"/>
                <a:sym typeface="Courier New"/>
              </a:rPr>
              <a: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k = i;</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int</a:t>
            </a:r>
            <a:r>
              <a:rPr lang="en-US" sz="1600" b="1">
                <a:solidFill>
                  <a:srgbClr val="000000"/>
                </a:solidFill>
                <a:latin typeface="Courier New"/>
                <a:ea typeface="Courier New"/>
                <a:cs typeface="Courier New"/>
                <a:sym typeface="Courier New"/>
              </a:rPr>
              <a:t> lim = n + i;</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while</a:t>
            </a:r>
            <a:r>
              <a:rPr lang="en-US" sz="1600" b="1">
                <a:solidFill>
                  <a:srgbClr val="000000"/>
                </a:solidFill>
                <a:latin typeface="Courier New"/>
                <a:ea typeface="Courier New"/>
                <a:cs typeface="Courier New"/>
                <a:sym typeface="Courier New"/>
              </a:rPr>
              <a:t> (k &lt; lim)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c1 = v1[k];</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c2 = v2[k];</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if</a:t>
            </a:r>
            <a:r>
              <a:rPr lang="en-US" sz="1600" b="1">
                <a:solidFill>
                  <a:srgbClr val="000000"/>
                </a:solidFill>
                <a:highlight>
                  <a:srgbClr val="FFFF00"/>
                </a:highlight>
                <a:latin typeface="Courier New"/>
                <a:ea typeface="Courier New"/>
                <a:cs typeface="Courier New"/>
                <a:sym typeface="Courier New"/>
              </a:rPr>
              <a:t> (c1 != c2)</a:t>
            </a: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return</a:t>
            </a:r>
            <a:r>
              <a:rPr lang="en-US" sz="1600" b="1">
                <a:solidFill>
                  <a:srgbClr val="000000"/>
                </a:solidFill>
                <a:highlight>
                  <a:srgbClr val="FFFF00"/>
                </a:highlight>
                <a:latin typeface="Courier New"/>
                <a:ea typeface="Courier New"/>
                <a:cs typeface="Courier New"/>
                <a:sym typeface="Courier New"/>
              </a:rPr>
              <a:t> c1 - c2</a:t>
            </a:r>
            <a:r>
              <a:rPr lang="en-US" sz="1600" b="1">
                <a:solidFill>
                  <a:srgbClr val="000000"/>
                </a:solidFill>
                <a:latin typeface="Courier New"/>
                <a:ea typeface="Courier New"/>
                <a:cs typeface="Courier New"/>
                <a:sym typeface="Courier New"/>
              </a:rPr>
              <a:t>;</a:t>
            </a:r>
            <a:br>
              <a:rPr lang="en-US" sz="1600" b="1">
                <a:solidFill>
                  <a:srgbClr val="000000"/>
                </a:solidFill>
                <a:highlight>
                  <a:srgbClr val="FFFF00"/>
                </a:highlight>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k++;</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endParaRPr sz="2400" b="1">
              <a:solidFill>
                <a:schemeClr val="dk1"/>
              </a:solidFill>
              <a:latin typeface="Consolas"/>
              <a:ea typeface="Consolas"/>
              <a:cs typeface="Consolas"/>
              <a:sym typeface="Consolas"/>
            </a:endParaRPr>
          </a:p>
        </p:txBody>
      </p:sp>
      <p:sp>
        <p:nvSpPr>
          <p:cNvPr id="381" name="Google Shape;381;p32"/>
          <p:cNvSpPr txBox="1"/>
          <p:nvPr/>
        </p:nvSpPr>
        <p:spPr>
          <a:xfrm>
            <a:off x="762000" y="228600"/>
            <a:ext cx="7487947"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String </a:t>
            </a:r>
            <a:r>
              <a:rPr lang="en-US" sz="2800">
                <a:solidFill>
                  <a:srgbClr val="0000FF"/>
                </a:solidFill>
                <a:latin typeface="Courier New"/>
                <a:ea typeface="Courier New"/>
                <a:cs typeface="Courier New"/>
                <a:sym typeface="Courier New"/>
              </a:rPr>
              <a:t>implements</a:t>
            </a:r>
            <a:r>
              <a:rPr lang="en-US" sz="2800" b="1">
                <a:solidFill>
                  <a:srgbClr val="0000FF"/>
                </a:solidFill>
                <a:latin typeface="Courier New"/>
                <a:ea typeface="Courier New"/>
                <a:cs typeface="Courier New"/>
                <a:sym typeface="Courier New"/>
              </a:rPr>
              <a:t> </a:t>
            </a:r>
            <a:endParaRPr/>
          </a:p>
          <a:p>
            <a:pPr marL="0" marR="0" lvl="0" indent="0" algn="l" rtl="0">
              <a:spcBef>
                <a:spcPts val="0"/>
              </a:spcBef>
              <a:spcAft>
                <a:spcPts val="0"/>
              </a:spcAft>
              <a:buNone/>
            </a:pPr>
            <a:r>
              <a:rPr lang="en-US" sz="2800" b="1">
                <a:solidFill>
                  <a:srgbClr val="0000FF"/>
                </a:solidFill>
                <a:latin typeface="Courier New"/>
                <a:ea typeface="Courier New"/>
                <a:cs typeface="Courier New"/>
                <a:sym typeface="Courier New"/>
              </a:rPr>
              <a:t>                Comparable&lt;String&gt;</a:t>
            </a:r>
            <a:br>
              <a:rPr lang="en-US" sz="2800" b="1">
                <a:solidFill>
                  <a:srgbClr val="0000FF"/>
                </a:solidFill>
                <a:latin typeface="Courier New"/>
                <a:ea typeface="Courier New"/>
                <a:cs typeface="Courier New"/>
                <a:sym typeface="Courier New"/>
              </a:rPr>
            </a:br>
            <a:endParaRPr sz="3200" b="1">
              <a:solidFill>
                <a:srgbClr val="0000FF"/>
              </a:solidFill>
              <a:latin typeface="Tahoma"/>
              <a:ea typeface="Tahoma"/>
              <a:cs typeface="Tahoma"/>
              <a:sym typeface="Tahoma"/>
            </a:endParaRPr>
          </a:p>
        </p:txBody>
      </p:sp>
      <p:sp>
        <p:nvSpPr>
          <p:cNvPr id="382" name="Google Shape;382;p32"/>
          <p:cNvSpPr txBox="1"/>
          <p:nvPr/>
        </p:nvSpPr>
        <p:spPr>
          <a:xfrm>
            <a:off x="5105400" y="3886200"/>
            <a:ext cx="4572000"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941EDF"/>
                </a:solidFill>
                <a:latin typeface="Courier New"/>
                <a:ea typeface="Courier New"/>
                <a:cs typeface="Courier New"/>
                <a:sym typeface="Courier New"/>
              </a:rPr>
              <a:t>else</a:t>
            </a: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while</a:t>
            </a:r>
            <a:r>
              <a:rPr lang="en-US" sz="1600" b="1">
                <a:solidFill>
                  <a:srgbClr val="000000"/>
                </a:solidFill>
                <a:latin typeface="Courier New"/>
                <a:ea typeface="Courier New"/>
                <a:cs typeface="Courier New"/>
                <a:sym typeface="Courier New"/>
              </a:rPr>
              <a:t> (n-- != 0)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c1 = v1[i++];</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latin typeface="Courier New"/>
                <a:ea typeface="Courier New"/>
                <a:cs typeface="Courier New"/>
                <a:sym typeface="Courier New"/>
              </a:rPr>
              <a:t>char</a:t>
            </a:r>
            <a:r>
              <a:rPr lang="en-US" sz="1600" b="1">
                <a:solidFill>
                  <a:srgbClr val="000000"/>
                </a:solidFill>
                <a:latin typeface="Courier New"/>
                <a:ea typeface="Courier New"/>
                <a:cs typeface="Courier New"/>
                <a:sym typeface="Courier New"/>
              </a:rPr>
              <a:t> c2 = v2[j++];</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if</a:t>
            </a:r>
            <a:r>
              <a:rPr lang="en-US" sz="1600" b="1">
                <a:solidFill>
                  <a:srgbClr val="000000"/>
                </a:solidFill>
                <a:highlight>
                  <a:srgbClr val="FFFF00"/>
                </a:highlight>
                <a:latin typeface="Courier New"/>
                <a:ea typeface="Courier New"/>
                <a:cs typeface="Courier New"/>
                <a:sym typeface="Courier New"/>
              </a:rPr>
              <a:t> (c1 != c2)</a:t>
            </a: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return</a:t>
            </a:r>
            <a:r>
              <a:rPr lang="en-US" sz="1600" b="1">
                <a:solidFill>
                  <a:srgbClr val="000000"/>
                </a:solidFill>
                <a:highlight>
                  <a:srgbClr val="FFFF00"/>
                </a:highlight>
                <a:latin typeface="Courier New"/>
                <a:ea typeface="Courier New"/>
                <a:cs typeface="Courier New"/>
                <a:sym typeface="Courier New"/>
              </a:rPr>
              <a:t> c1 - c2</a:t>
            </a:r>
            <a:r>
              <a:rPr lang="en-US" sz="1600" b="1">
                <a:solidFill>
                  <a:srgbClr val="000000"/>
                </a:solidFill>
                <a:latin typeface="Courier New"/>
                <a:ea typeface="Courier New"/>
                <a:cs typeface="Courier New"/>
                <a:sym typeface="Courier New"/>
              </a:rPr>
              <a: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r>
              <a:rPr lang="en-US" sz="1600" b="1">
                <a:solidFill>
                  <a:srgbClr val="941EDF"/>
                </a:solidFill>
                <a:highlight>
                  <a:srgbClr val="FFFF00"/>
                </a:highlight>
                <a:latin typeface="Courier New"/>
                <a:ea typeface="Courier New"/>
                <a:cs typeface="Courier New"/>
                <a:sym typeface="Courier New"/>
              </a:rPr>
              <a:t>return</a:t>
            </a:r>
            <a:r>
              <a:rPr lang="en-US" sz="1600" b="1">
                <a:solidFill>
                  <a:srgbClr val="000000"/>
                </a:solidFill>
                <a:highlight>
                  <a:srgbClr val="FFFF00"/>
                </a:highlight>
                <a:latin typeface="Courier New"/>
                <a:ea typeface="Courier New"/>
                <a:cs typeface="Courier New"/>
                <a:sym typeface="Courier New"/>
              </a:rPr>
              <a:t> len1 - len2</a:t>
            </a:r>
            <a:r>
              <a:rPr lang="en-US" sz="1600" b="1">
                <a:solidFill>
                  <a:srgbClr val="000000"/>
                </a:solidFill>
                <a:latin typeface="Courier New"/>
                <a:ea typeface="Courier New"/>
                <a:cs typeface="Courier New"/>
                <a:sym typeface="Courier New"/>
              </a:rPr>
              <a:t>;</a:t>
            </a:r>
            <a:br>
              <a:rPr lang="en-US" sz="1600" b="1">
                <a:solidFill>
                  <a:srgbClr val="000000"/>
                </a:solidFill>
                <a:latin typeface="Courier New"/>
                <a:ea typeface="Courier New"/>
                <a:cs typeface="Courier New"/>
                <a:sym typeface="Courier New"/>
              </a:rPr>
            </a:br>
            <a:r>
              <a:rPr lang="en-US" sz="1600" b="1">
                <a:solidFill>
                  <a:srgbClr val="000000"/>
                </a:solidFill>
                <a:latin typeface="Courier New"/>
                <a:ea typeface="Courier New"/>
                <a:cs typeface="Courier New"/>
                <a:sym typeface="Courier New"/>
              </a:rPr>
              <a:t>   }</a:t>
            </a:r>
            <a:br>
              <a:rPr lang="en-US" sz="1600" b="1">
                <a:solidFill>
                  <a:srgbClr val="000000"/>
                </a:solidFill>
                <a:latin typeface="Courier New"/>
                <a:ea typeface="Courier New"/>
                <a:cs typeface="Courier New"/>
                <a:sym typeface="Courier New"/>
              </a:rPr>
            </a:br>
            <a:endParaRPr sz="1600">
              <a:solidFill>
                <a:schemeClr val="dk1"/>
              </a:solidFill>
              <a:latin typeface="Tahoma"/>
              <a:ea typeface="Tahoma"/>
              <a:cs typeface="Tahoma"/>
              <a:sym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3"/>
          <p:cNvSpPr txBox="1"/>
          <p:nvPr/>
        </p:nvSpPr>
        <p:spPr>
          <a:xfrm>
            <a:off x="419100" y="1524000"/>
            <a:ext cx="8496300"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941EDF"/>
                </a:solidFill>
                <a:latin typeface="Courier New"/>
                <a:ea typeface="Courier New"/>
                <a:cs typeface="Courier New"/>
                <a:sym typeface="Courier New"/>
              </a:rPr>
              <a:t>public</a:t>
            </a: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compareTo(Integer other)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thisVal = </a:t>
            </a:r>
            <a:r>
              <a:rPr lang="en-US" sz="2400" b="1">
                <a:solidFill>
                  <a:srgbClr val="941EDF"/>
                </a:solidFill>
                <a:latin typeface="Courier New"/>
                <a:ea typeface="Courier New"/>
                <a:cs typeface="Courier New"/>
                <a:sym typeface="Courier New"/>
              </a:rPr>
              <a:t>this</a:t>
            </a:r>
            <a:r>
              <a:rPr lang="en-US" sz="2400" b="1">
                <a:solidFill>
                  <a:srgbClr val="000000"/>
                </a:solidFill>
                <a:latin typeface="Courier New"/>
                <a:ea typeface="Courier New"/>
                <a:cs typeface="Courier New"/>
                <a:sym typeface="Courier New"/>
              </a:rPr>
              <a:t>.value;</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other = other.value;</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(thisVal&lt; other ? -1 : </a:t>
            </a:r>
            <a:endParaRPr/>
          </a:p>
          <a:p>
            <a:pPr marL="0" marR="0" lvl="0" indent="0" algn="l" rtl="0">
              <a:spcBef>
                <a:spcPts val="1200"/>
              </a:spcBef>
              <a:spcAft>
                <a:spcPts val="0"/>
              </a:spcAft>
              <a:buNone/>
            </a:pPr>
            <a:r>
              <a:rPr lang="en-US" sz="2400" b="1">
                <a:solidFill>
                  <a:srgbClr val="000000"/>
                </a:solidFill>
                <a:latin typeface="Courier New"/>
                <a:ea typeface="Courier New"/>
                <a:cs typeface="Courier New"/>
                <a:sym typeface="Courier New"/>
              </a:rPr>
              <a:t>                 (thisVal== other ? 0 : 1));</a:t>
            </a:r>
            <a:br>
              <a:rPr lang="en-US" sz="2400" b="1">
                <a:solidFill>
                  <a:srgbClr val="000000"/>
                </a:solidFill>
                <a:latin typeface="Courier New"/>
                <a:ea typeface="Courier New"/>
                <a:cs typeface="Courier New"/>
                <a:sym typeface="Courier New"/>
              </a:rPr>
            </a:br>
            <a:endParaRPr sz="2400" b="1">
              <a:solidFill>
                <a:srgbClr val="000000"/>
              </a:solidFill>
              <a:latin typeface="Courier New"/>
              <a:ea typeface="Courier New"/>
              <a:cs typeface="Courier New"/>
              <a:sym typeface="Courier New"/>
            </a:endParaRPr>
          </a:p>
          <a:p>
            <a:pPr marL="0" marR="0" lvl="0" indent="0" algn="l" rtl="0">
              <a:spcBef>
                <a:spcPts val="1200"/>
              </a:spcBef>
              <a:spcAft>
                <a:spcPts val="0"/>
              </a:spcAft>
              <a:buNone/>
            </a:pPr>
            <a:r>
              <a:rPr lang="en-US" sz="2400">
                <a:solidFill>
                  <a:srgbClr val="E65D00"/>
                </a:solidFill>
                <a:latin typeface="Courier New"/>
                <a:ea typeface="Courier New"/>
                <a:cs typeface="Courier New"/>
                <a:sym typeface="Courier New"/>
              </a:rPr>
              <a:t>// Equivalent to:</a:t>
            </a:r>
            <a:br>
              <a:rPr lang="en-US" sz="2400">
                <a:solidFill>
                  <a:srgbClr val="E65D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if</a:t>
            </a:r>
            <a:r>
              <a:rPr lang="en-US" sz="2400" b="1">
                <a:solidFill>
                  <a:srgbClr val="000000"/>
                </a:solidFill>
                <a:latin typeface="Courier New"/>
                <a:ea typeface="Courier New"/>
                <a:cs typeface="Courier New"/>
                <a:sym typeface="Courier New"/>
              </a:rPr>
              <a:t> (thisVal &lt; anotherVal)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-1;</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else</a:t>
            </a: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if</a:t>
            </a:r>
            <a:r>
              <a:rPr lang="en-US" sz="2400" b="1">
                <a:solidFill>
                  <a:srgbClr val="000000"/>
                </a:solidFill>
                <a:latin typeface="Courier New"/>
                <a:ea typeface="Courier New"/>
                <a:cs typeface="Courier New"/>
                <a:sym typeface="Courier New"/>
              </a:rPr>
              <a:t> (thisVal == anotherVal)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0;</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else</a:t>
            </a:r>
            <a:r>
              <a:rPr lang="en-US" sz="2400" b="1">
                <a:solidFill>
                  <a:srgbClr val="000000"/>
                </a:solidFill>
                <a:latin typeface="Courier New"/>
                <a:ea typeface="Courier New"/>
                <a:cs typeface="Courier New"/>
                <a:sym typeface="Courier New"/>
              </a:rPr>
              <a:t>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1;</a:t>
            </a:r>
            <a:endParaRPr sz="3600" b="1">
              <a:solidFill>
                <a:schemeClr val="dk1"/>
              </a:solidFill>
              <a:latin typeface="Consolas"/>
              <a:ea typeface="Consolas"/>
              <a:cs typeface="Consolas"/>
              <a:sym typeface="Consolas"/>
            </a:endParaRPr>
          </a:p>
        </p:txBody>
      </p:sp>
      <p:sp>
        <p:nvSpPr>
          <p:cNvPr id="388" name="Google Shape;388;p33"/>
          <p:cNvSpPr txBox="1"/>
          <p:nvPr/>
        </p:nvSpPr>
        <p:spPr>
          <a:xfrm>
            <a:off x="0" y="152400"/>
            <a:ext cx="9144000"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Integer </a:t>
            </a:r>
            <a:r>
              <a:rPr lang="en-US" sz="2800">
                <a:solidFill>
                  <a:srgbClr val="0000FF"/>
                </a:solidFill>
                <a:latin typeface="Courier New"/>
                <a:ea typeface="Courier New"/>
                <a:cs typeface="Courier New"/>
                <a:sym typeface="Courier New"/>
              </a:rPr>
              <a:t>extends </a:t>
            </a:r>
            <a:r>
              <a:rPr lang="en-US" sz="2800" b="1">
                <a:solidFill>
                  <a:srgbClr val="0000FF"/>
                </a:solidFill>
                <a:latin typeface="Courier New"/>
                <a:ea typeface="Courier New"/>
                <a:cs typeface="Courier New"/>
                <a:sym typeface="Courier New"/>
              </a:rPr>
              <a:t>Number</a:t>
            </a:r>
            <a:endParaRPr/>
          </a:p>
          <a:p>
            <a:pPr marL="0" marR="0" lvl="0" indent="0" algn="l" rtl="0">
              <a:spcBef>
                <a:spcPts val="0"/>
              </a:spcBef>
              <a:spcAft>
                <a:spcPts val="0"/>
              </a:spcAft>
              <a:buNone/>
            </a:pPr>
            <a:r>
              <a:rPr lang="en-US" sz="2800" b="1">
                <a:solidFill>
                  <a:srgbClr val="0000FF"/>
                </a:solidFill>
                <a:latin typeface="Courier New"/>
                <a:ea typeface="Courier New"/>
                <a:cs typeface="Courier New"/>
                <a:sym typeface="Courier New"/>
              </a:rPr>
              <a:t>            </a:t>
            </a:r>
            <a:r>
              <a:rPr lang="en-US" sz="2800">
                <a:solidFill>
                  <a:srgbClr val="0000FF"/>
                </a:solidFill>
                <a:latin typeface="Courier New"/>
                <a:ea typeface="Courier New"/>
                <a:cs typeface="Courier New"/>
                <a:sym typeface="Courier New"/>
              </a:rPr>
              <a:t>implements</a:t>
            </a:r>
            <a:r>
              <a:rPr lang="en-US" sz="2800" b="1">
                <a:solidFill>
                  <a:srgbClr val="0000FF"/>
                </a:solidFill>
                <a:latin typeface="Courier New"/>
                <a:ea typeface="Courier New"/>
                <a:cs typeface="Courier New"/>
                <a:sym typeface="Courier New"/>
              </a:rPr>
              <a:t> Comparable&lt;Integer&gt;</a:t>
            </a:r>
            <a:br>
              <a:rPr lang="en-US" sz="2800" b="1">
                <a:solidFill>
                  <a:srgbClr val="0000FF"/>
                </a:solidFill>
                <a:latin typeface="Courier New"/>
                <a:ea typeface="Courier New"/>
                <a:cs typeface="Courier New"/>
                <a:sym typeface="Courier New"/>
              </a:rPr>
            </a:br>
            <a:endParaRPr sz="3200" b="1">
              <a:solidFill>
                <a:srgbClr val="0000FF"/>
              </a:solidFill>
              <a:latin typeface="Tahoma"/>
              <a:ea typeface="Tahoma"/>
              <a:cs typeface="Tahoma"/>
              <a:sym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4"/>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394" name="Google Shape;394;p34"/>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395" name="Google Shape;395;p34"/>
          <p:cNvSpPr txBox="1"/>
          <p:nvPr/>
        </p:nvSpPr>
        <p:spPr>
          <a:xfrm>
            <a:off x="838200" y="1828800"/>
            <a:ext cx="6986588" cy="3749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54;</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Comparable y = 67;</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accent2"/>
                </a:solidFill>
                <a:latin typeface="Arial"/>
                <a:ea typeface="Arial"/>
                <a:cs typeface="Arial"/>
                <a:sym typeface="Arial"/>
              </a:rPr>
              <a:t>Why is this okay??</a:t>
            </a:r>
            <a:endParaRPr/>
          </a:p>
        </p:txBody>
      </p:sp>
      <p:sp>
        <p:nvSpPr>
          <p:cNvPr id="396" name="Google Shape;396;p34"/>
          <p:cNvSpPr txBox="1"/>
          <p:nvPr/>
        </p:nvSpPr>
        <p:spPr>
          <a:xfrm>
            <a:off x="6781800" y="4648200"/>
            <a:ext cx="1905000" cy="1323975"/>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-1</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5"/>
          <p:cNvSpPr txBox="1"/>
          <p:nvPr/>
        </p:nvSpPr>
        <p:spPr>
          <a:xfrm>
            <a:off x="76200" y="1219200"/>
            <a:ext cx="8953500"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941EDF"/>
                </a:solidFill>
                <a:latin typeface="Courier New"/>
                <a:ea typeface="Courier New"/>
                <a:cs typeface="Courier New"/>
                <a:sym typeface="Courier New"/>
              </a:rPr>
              <a:t>public</a:t>
            </a: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compareTo(Double other)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Double.compare(value, other.value);</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a:t>
            </a:r>
            <a:endParaRPr/>
          </a:p>
          <a:p>
            <a:pPr marL="0" marR="0" lvl="0" indent="0" algn="l" rtl="0">
              <a:spcBef>
                <a:spcPts val="0"/>
              </a:spcBef>
              <a:spcAft>
                <a:spcPts val="0"/>
              </a:spcAft>
              <a:buNone/>
            </a:pPr>
            <a:endParaRPr sz="1800" b="1">
              <a:solidFill>
                <a:srgbClr val="000000"/>
              </a:solidFill>
              <a:latin typeface="Courier New"/>
              <a:ea typeface="Courier New"/>
              <a:cs typeface="Courier New"/>
              <a:sym typeface="Courier New"/>
            </a:endParaRPr>
          </a:p>
          <a:p>
            <a:pPr marL="0" marR="0" lvl="0" indent="0" algn="l" rtl="0">
              <a:spcBef>
                <a:spcPts val="0"/>
              </a:spcBef>
              <a:spcAft>
                <a:spcPts val="0"/>
              </a:spcAft>
              <a:buNone/>
            </a:pPr>
            <a:r>
              <a:rPr lang="en-US" sz="2400">
                <a:solidFill>
                  <a:srgbClr val="941EDF"/>
                </a:solidFill>
                <a:latin typeface="Courier New"/>
                <a:ea typeface="Courier New"/>
                <a:cs typeface="Courier New"/>
                <a:sym typeface="Courier New"/>
              </a:rPr>
              <a:t>public</a:t>
            </a: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static</a:t>
            </a: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int</a:t>
            </a:r>
            <a:r>
              <a:rPr lang="en-US" sz="2400">
                <a:solidFill>
                  <a:srgbClr val="000000"/>
                </a:solidFill>
                <a:latin typeface="Courier New"/>
                <a:ea typeface="Courier New"/>
                <a:cs typeface="Courier New"/>
                <a:sym typeface="Courier New"/>
              </a:rPr>
              <a:t> compare(</a:t>
            </a:r>
            <a:r>
              <a:rPr lang="en-US" sz="2400">
                <a:solidFill>
                  <a:srgbClr val="941EDF"/>
                </a:solidFill>
                <a:latin typeface="Courier New"/>
                <a:ea typeface="Courier New"/>
                <a:cs typeface="Courier New"/>
                <a:sym typeface="Courier New"/>
              </a:rPr>
              <a:t>double</a:t>
            </a:r>
            <a:r>
              <a:rPr lang="en-US" sz="2400">
                <a:solidFill>
                  <a:srgbClr val="000000"/>
                </a:solidFill>
                <a:latin typeface="Courier New"/>
                <a:ea typeface="Courier New"/>
                <a:cs typeface="Courier New"/>
                <a:sym typeface="Courier New"/>
              </a:rPr>
              <a:t> d1, </a:t>
            </a:r>
            <a:r>
              <a:rPr lang="en-US" sz="2400">
                <a:solidFill>
                  <a:srgbClr val="941EDF"/>
                </a:solidFill>
                <a:latin typeface="Courier New"/>
                <a:ea typeface="Courier New"/>
                <a:cs typeface="Courier New"/>
                <a:sym typeface="Courier New"/>
              </a:rPr>
              <a:t>double</a:t>
            </a:r>
            <a:r>
              <a:rPr lang="en-US" sz="2400">
                <a:solidFill>
                  <a:srgbClr val="000000"/>
                </a:solidFill>
                <a:latin typeface="Courier New"/>
                <a:ea typeface="Courier New"/>
                <a:cs typeface="Courier New"/>
                <a:sym typeface="Courier New"/>
              </a:rPr>
              <a:t> d2){</a:t>
            </a:r>
            <a:br>
              <a:rPr lang="en-US" sz="2400">
                <a:solidFill>
                  <a:srgbClr val="0000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if</a:t>
            </a:r>
            <a:r>
              <a:rPr lang="en-US" sz="2400">
                <a:solidFill>
                  <a:srgbClr val="000000"/>
                </a:solidFill>
                <a:latin typeface="Courier New"/>
                <a:ea typeface="Courier New"/>
                <a:cs typeface="Courier New"/>
                <a:sym typeface="Courier New"/>
              </a:rPr>
              <a:t> (d1 &lt; d2)</a:t>
            </a:r>
            <a:br>
              <a:rPr lang="en-US" sz="2400">
                <a:solidFill>
                  <a:srgbClr val="0000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return</a:t>
            </a:r>
            <a:r>
              <a:rPr lang="en-US" sz="2400">
                <a:solidFill>
                  <a:srgbClr val="000000"/>
                </a:solidFill>
                <a:latin typeface="Courier New"/>
                <a:ea typeface="Courier New"/>
                <a:cs typeface="Courier New"/>
                <a:sym typeface="Courier New"/>
              </a:rPr>
              <a:t> -1;  </a:t>
            </a:r>
            <a:br>
              <a:rPr lang="en-US" sz="2400">
                <a:solidFill>
                  <a:srgbClr val="E65D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if</a:t>
            </a:r>
            <a:r>
              <a:rPr lang="en-US" sz="2400">
                <a:solidFill>
                  <a:srgbClr val="000000"/>
                </a:solidFill>
                <a:latin typeface="Courier New"/>
                <a:ea typeface="Courier New"/>
                <a:cs typeface="Courier New"/>
                <a:sym typeface="Courier New"/>
              </a:rPr>
              <a:t> (d1 &gt; d2)</a:t>
            </a:r>
            <a:br>
              <a:rPr lang="en-US" sz="2400">
                <a:solidFill>
                  <a:srgbClr val="0000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return</a:t>
            </a:r>
            <a:r>
              <a:rPr lang="en-US" sz="2400">
                <a:solidFill>
                  <a:srgbClr val="000000"/>
                </a:solidFill>
                <a:latin typeface="Courier New"/>
                <a:ea typeface="Courier New"/>
                <a:cs typeface="Courier New"/>
                <a:sym typeface="Courier New"/>
              </a:rPr>
              <a:t> 1;   </a:t>
            </a:r>
            <a:br>
              <a:rPr lang="en-US" sz="2400">
                <a:solidFill>
                  <a:srgbClr val="E65D00"/>
                </a:solidFill>
                <a:latin typeface="Courier New"/>
                <a:ea typeface="Courier New"/>
                <a:cs typeface="Courier New"/>
                <a:sym typeface="Courier New"/>
              </a:rPr>
            </a:br>
            <a:br>
              <a:rPr lang="en-US" sz="1400">
                <a:solidFill>
                  <a:srgbClr val="E65D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long</a:t>
            </a:r>
            <a:r>
              <a:rPr lang="en-US" sz="2400">
                <a:solidFill>
                  <a:srgbClr val="000000"/>
                </a:solidFill>
                <a:latin typeface="Courier New"/>
                <a:ea typeface="Courier New"/>
                <a:cs typeface="Courier New"/>
                <a:sym typeface="Courier New"/>
              </a:rPr>
              <a:t> thisBits = Double.doubleToLongBits(d1);</a:t>
            </a:r>
            <a:br>
              <a:rPr lang="en-US" sz="2400">
                <a:solidFill>
                  <a:srgbClr val="0000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long</a:t>
            </a:r>
            <a:r>
              <a:rPr lang="en-US" sz="2400">
                <a:solidFill>
                  <a:srgbClr val="000000"/>
                </a:solidFill>
                <a:latin typeface="Courier New"/>
                <a:ea typeface="Courier New"/>
                <a:cs typeface="Courier New"/>
                <a:sym typeface="Courier New"/>
              </a:rPr>
              <a:t> otherBits = Double.doubleToLongBits(d2);</a:t>
            </a:r>
            <a:br>
              <a:rPr lang="en-US" sz="2400">
                <a:solidFill>
                  <a:srgbClr val="000000"/>
                </a:solidFill>
                <a:latin typeface="Courier New"/>
                <a:ea typeface="Courier New"/>
                <a:cs typeface="Courier New"/>
                <a:sym typeface="Courier New"/>
              </a:rPr>
            </a:br>
            <a:br>
              <a:rPr lang="en-US" sz="2400">
                <a:solidFill>
                  <a:srgbClr val="0000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a:t>
            </a:r>
            <a:r>
              <a:rPr lang="en-US" sz="2400">
                <a:solidFill>
                  <a:srgbClr val="941EDF"/>
                </a:solidFill>
                <a:latin typeface="Courier New"/>
                <a:ea typeface="Courier New"/>
                <a:cs typeface="Courier New"/>
                <a:sym typeface="Courier New"/>
              </a:rPr>
              <a:t>return</a:t>
            </a:r>
            <a:r>
              <a:rPr lang="en-US" sz="2400">
                <a:solidFill>
                  <a:srgbClr val="000000"/>
                </a:solidFill>
                <a:latin typeface="Courier New"/>
                <a:ea typeface="Courier New"/>
                <a:cs typeface="Courier New"/>
                <a:sym typeface="Courier New"/>
              </a:rPr>
              <a:t> (thisBits == otherBits ?  0 :</a:t>
            </a:r>
            <a:br>
              <a:rPr lang="en-US" sz="2400">
                <a:solidFill>
                  <a:srgbClr val="E65D00"/>
                </a:solidFill>
                <a:latin typeface="Courier New"/>
                <a:ea typeface="Courier New"/>
                <a:cs typeface="Courier New"/>
                <a:sym typeface="Courier New"/>
              </a:rPr>
            </a:br>
            <a:r>
              <a:rPr lang="en-US" sz="2400">
                <a:solidFill>
                  <a:srgbClr val="000000"/>
                </a:solidFill>
                <a:latin typeface="Courier New"/>
                <a:ea typeface="Courier New"/>
                <a:cs typeface="Courier New"/>
                <a:sym typeface="Courier New"/>
              </a:rPr>
              <a:t>           (thisBits &lt; otherBits ? -1 : 1));</a:t>
            </a:r>
            <a:endParaRPr sz="2400">
              <a:solidFill>
                <a:srgbClr val="E65D00"/>
              </a:solidFill>
              <a:latin typeface="Courier New"/>
              <a:ea typeface="Courier New"/>
              <a:cs typeface="Courier New"/>
              <a:sym typeface="Courier New"/>
            </a:endParaRPr>
          </a:p>
          <a:p>
            <a:pPr marL="0" marR="0" lvl="0" indent="0" algn="l" rtl="0">
              <a:spcBef>
                <a:spcPts val="0"/>
              </a:spcBef>
              <a:spcAft>
                <a:spcPts val="0"/>
              </a:spcAft>
              <a:buNone/>
            </a:pPr>
            <a:r>
              <a:rPr lang="en-US" sz="2400">
                <a:solidFill>
                  <a:srgbClr val="000000"/>
                </a:solidFill>
                <a:latin typeface="Courier New"/>
                <a:ea typeface="Courier New"/>
                <a:cs typeface="Courier New"/>
                <a:sym typeface="Courier New"/>
              </a:rPr>
              <a:t>}</a:t>
            </a:r>
            <a:endParaRPr sz="4400" b="1">
              <a:solidFill>
                <a:schemeClr val="dk1"/>
              </a:solidFill>
              <a:latin typeface="Consolas"/>
              <a:ea typeface="Consolas"/>
              <a:cs typeface="Consolas"/>
              <a:sym typeface="Consolas"/>
            </a:endParaRPr>
          </a:p>
        </p:txBody>
      </p:sp>
      <p:sp>
        <p:nvSpPr>
          <p:cNvPr id="402" name="Google Shape;402;p35"/>
          <p:cNvSpPr txBox="1"/>
          <p:nvPr/>
        </p:nvSpPr>
        <p:spPr>
          <a:xfrm>
            <a:off x="0" y="152400"/>
            <a:ext cx="9144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Double </a:t>
            </a:r>
            <a:r>
              <a:rPr lang="en-US" sz="2800">
                <a:solidFill>
                  <a:srgbClr val="0000FF"/>
                </a:solidFill>
                <a:latin typeface="Courier New"/>
                <a:ea typeface="Courier New"/>
                <a:cs typeface="Courier New"/>
                <a:sym typeface="Courier New"/>
              </a:rPr>
              <a:t>extends</a:t>
            </a:r>
            <a:r>
              <a:rPr lang="en-US" sz="2800" b="1">
                <a:solidFill>
                  <a:srgbClr val="0000FF"/>
                </a:solidFill>
                <a:latin typeface="Courier New"/>
                <a:ea typeface="Courier New"/>
                <a:cs typeface="Courier New"/>
                <a:sym typeface="Courier New"/>
              </a:rPr>
              <a:t> Number</a:t>
            </a:r>
            <a:endParaRPr/>
          </a:p>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             implements</a:t>
            </a:r>
            <a:r>
              <a:rPr lang="en-US" sz="2800" b="1">
                <a:solidFill>
                  <a:srgbClr val="0000FF"/>
                </a:solidFill>
                <a:latin typeface="Courier New"/>
                <a:ea typeface="Courier New"/>
                <a:cs typeface="Courier New"/>
                <a:sym typeface="Courier New"/>
              </a:rPr>
              <a:t> Comparable&lt;Double&gt;</a:t>
            </a:r>
            <a:endParaRPr sz="3200" b="1">
              <a:solidFill>
                <a:srgbClr val="0000FF"/>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6"/>
          <p:cNvSpPr txBox="1"/>
          <p:nvPr/>
        </p:nvSpPr>
        <p:spPr>
          <a:xfrm>
            <a:off x="76200" y="1219200"/>
            <a:ext cx="8953500"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400" b="1">
                <a:solidFill>
                  <a:srgbClr val="E65D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long</a:t>
            </a:r>
            <a:r>
              <a:rPr lang="en-US" sz="2400" b="1">
                <a:solidFill>
                  <a:srgbClr val="000000"/>
                </a:solidFill>
                <a:latin typeface="Courier New"/>
                <a:ea typeface="Courier New"/>
                <a:cs typeface="Courier New"/>
                <a:sym typeface="Courier New"/>
              </a:rPr>
              <a:t> thisBits = Double.doubleToLongBits(d1);</a:t>
            </a:r>
            <a:endParaRPr sz="4400" b="1">
              <a:solidFill>
                <a:schemeClr val="dk1"/>
              </a:solidFill>
              <a:latin typeface="Consolas"/>
              <a:ea typeface="Consolas"/>
              <a:cs typeface="Consolas"/>
              <a:sym typeface="Consolas"/>
            </a:endParaRPr>
          </a:p>
        </p:txBody>
      </p:sp>
      <p:sp>
        <p:nvSpPr>
          <p:cNvPr id="408" name="Google Shape;408;p36"/>
          <p:cNvSpPr txBox="1"/>
          <p:nvPr/>
        </p:nvSpPr>
        <p:spPr>
          <a:xfrm>
            <a:off x="0" y="152400"/>
            <a:ext cx="9144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Double </a:t>
            </a:r>
            <a:r>
              <a:rPr lang="en-US" sz="2800">
                <a:solidFill>
                  <a:srgbClr val="0000FF"/>
                </a:solidFill>
                <a:latin typeface="Courier New"/>
                <a:ea typeface="Courier New"/>
                <a:cs typeface="Courier New"/>
                <a:sym typeface="Courier New"/>
              </a:rPr>
              <a:t>extends</a:t>
            </a:r>
            <a:r>
              <a:rPr lang="en-US" sz="2800" b="1">
                <a:solidFill>
                  <a:srgbClr val="0000FF"/>
                </a:solidFill>
                <a:latin typeface="Courier New"/>
                <a:ea typeface="Courier New"/>
                <a:cs typeface="Courier New"/>
                <a:sym typeface="Courier New"/>
              </a:rPr>
              <a:t> Number</a:t>
            </a:r>
            <a:endParaRPr/>
          </a:p>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             implements</a:t>
            </a:r>
            <a:r>
              <a:rPr lang="en-US" sz="2800" b="1">
                <a:solidFill>
                  <a:srgbClr val="0000FF"/>
                </a:solidFill>
                <a:latin typeface="Courier New"/>
                <a:ea typeface="Courier New"/>
                <a:cs typeface="Courier New"/>
                <a:sym typeface="Courier New"/>
              </a:rPr>
              <a:t> Comparable&lt;Double&gt;</a:t>
            </a:r>
            <a:endParaRPr sz="3200" b="1">
              <a:solidFill>
                <a:srgbClr val="0000FF"/>
              </a:solidFill>
              <a:latin typeface="Tahoma"/>
              <a:ea typeface="Tahoma"/>
              <a:cs typeface="Tahoma"/>
              <a:sym typeface="Tahoma"/>
            </a:endParaRPr>
          </a:p>
        </p:txBody>
      </p:sp>
      <p:sp>
        <p:nvSpPr>
          <p:cNvPr id="409" name="Google Shape;409;p36"/>
          <p:cNvSpPr/>
          <p:nvPr/>
        </p:nvSpPr>
        <p:spPr>
          <a:xfrm>
            <a:off x="393193" y="2513237"/>
            <a:ext cx="8293608" cy="3852320"/>
          </a:xfrm>
          <a:prstGeom prst="rect">
            <a:avLst/>
          </a:prstGeom>
          <a:solidFill>
            <a:srgbClr val="FFFFFF"/>
          </a:solidFill>
          <a:ln>
            <a:noFill/>
          </a:ln>
        </p:spPr>
        <p:txBody>
          <a:bodyPr spcFirstLastPara="1" wrap="square" lIns="91425" tIns="50775" rIns="91425" bIns="45700" anchor="ctr" anchorCtr="0">
            <a:spAutoFit/>
          </a:bodyPr>
          <a:lstStyle/>
          <a:p>
            <a:pPr marL="0" marR="0" lvl="0" indent="0" algn="l" rtl="0">
              <a:lnSpc>
                <a:spcPct val="100000"/>
              </a:lnSpc>
              <a:spcBef>
                <a:spcPts val="0"/>
              </a:spcBef>
              <a:spcAft>
                <a:spcPts val="0"/>
              </a:spcAft>
              <a:buClr>
                <a:srgbClr val="474747"/>
              </a:buClr>
              <a:buSzPts val="3200"/>
              <a:buFont typeface="Arial"/>
              <a:buNone/>
            </a:pPr>
            <a:r>
              <a:rPr lang="en-US" sz="3200" b="0" i="0" u="none" strike="noStrike" cap="none">
                <a:solidFill>
                  <a:srgbClr val="474747"/>
                </a:solidFill>
                <a:latin typeface="Arial"/>
                <a:ea typeface="Arial"/>
                <a:cs typeface="Arial"/>
                <a:sym typeface="Arial"/>
              </a:rPr>
              <a:t>Returns a 64 representation of the specified floating-point value :</a:t>
            </a:r>
            <a:endParaRPr sz="1800" b="0" i="0" u="none" strike="noStrike" cap="none">
              <a:solidFill>
                <a:schemeClr val="dk1"/>
              </a:solidFill>
              <a:latin typeface="Arial"/>
              <a:ea typeface="Arial"/>
              <a:cs typeface="Arial"/>
              <a:sym typeface="Arial"/>
            </a:endParaRPr>
          </a:p>
          <a:p>
            <a:pPr marL="457200" marR="0" lvl="0" indent="-457200" algn="l" rtl="0">
              <a:lnSpc>
                <a:spcPct val="100000"/>
              </a:lnSpc>
              <a:spcBef>
                <a:spcPts val="1200"/>
              </a:spcBef>
              <a:spcAft>
                <a:spcPts val="0"/>
              </a:spcAft>
              <a:buClr>
                <a:srgbClr val="474747"/>
              </a:buClr>
              <a:buSzPts val="3200"/>
              <a:buFont typeface="Arial"/>
              <a:buChar char="•"/>
            </a:pPr>
            <a:r>
              <a:rPr lang="en-US" sz="3200" b="0" i="0" u="none" strike="noStrike" cap="none">
                <a:solidFill>
                  <a:srgbClr val="474747"/>
                </a:solidFill>
                <a:latin typeface="Arial"/>
                <a:ea typeface="Arial"/>
                <a:cs typeface="Arial"/>
                <a:sym typeface="Arial"/>
              </a:rPr>
              <a:t>Bit 63 represents the sign of the floating-point number. </a:t>
            </a:r>
            <a:endParaRPr/>
          </a:p>
          <a:p>
            <a:pPr marL="457200" marR="0" lvl="0" indent="-457200" algn="l" rtl="0">
              <a:lnSpc>
                <a:spcPct val="100000"/>
              </a:lnSpc>
              <a:spcBef>
                <a:spcPts val="600"/>
              </a:spcBef>
              <a:spcAft>
                <a:spcPts val="0"/>
              </a:spcAft>
              <a:buClr>
                <a:srgbClr val="474747"/>
              </a:buClr>
              <a:buSzPts val="3200"/>
              <a:buFont typeface="Arial"/>
              <a:buChar char="•"/>
            </a:pPr>
            <a:r>
              <a:rPr lang="en-US" sz="3200" b="0" i="0" u="none" strike="noStrike" cap="none">
                <a:solidFill>
                  <a:srgbClr val="474747"/>
                </a:solidFill>
                <a:latin typeface="Arial"/>
                <a:ea typeface="Arial"/>
                <a:cs typeface="Arial"/>
                <a:sym typeface="Arial"/>
              </a:rPr>
              <a:t>Bits 62-52 represent the exponent.</a:t>
            </a:r>
            <a:endParaRPr/>
          </a:p>
          <a:p>
            <a:pPr marL="457200" marR="0" lvl="0" indent="-457200" algn="l" rtl="0">
              <a:lnSpc>
                <a:spcPct val="100000"/>
              </a:lnSpc>
              <a:spcBef>
                <a:spcPts val="600"/>
              </a:spcBef>
              <a:spcAft>
                <a:spcPts val="0"/>
              </a:spcAft>
              <a:buClr>
                <a:srgbClr val="474747"/>
              </a:buClr>
              <a:buSzPts val="3200"/>
              <a:buFont typeface="Arial"/>
              <a:buChar char="•"/>
            </a:pPr>
            <a:r>
              <a:rPr lang="en-US" sz="3200" b="0" i="0" u="none" strike="noStrike" cap="none">
                <a:solidFill>
                  <a:srgbClr val="474747"/>
                </a:solidFill>
                <a:latin typeface="Arial"/>
                <a:ea typeface="Arial"/>
                <a:cs typeface="Arial"/>
                <a:sym typeface="Arial"/>
              </a:rPr>
              <a:t>Bits 51-0 represent the significand (a.k.a. the mantissa) of the floating-point number.</a:t>
            </a:r>
            <a:endParaRPr sz="6000" b="0" i="0" u="none" strike="noStrike" cap="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15" name="Google Shape;415;p37"/>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416" name="Google Shape;416;p37"/>
          <p:cNvSpPr txBox="1"/>
          <p:nvPr/>
        </p:nvSpPr>
        <p:spPr>
          <a:xfrm>
            <a:off x="838200" y="1828800"/>
            <a:ext cx="6986588" cy="3749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9.21;</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Comparable y = 8.54;</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
        <p:nvSpPr>
          <p:cNvPr id="417" name="Google Shape;417;p37"/>
          <p:cNvSpPr txBox="1"/>
          <p:nvPr/>
        </p:nvSpPr>
        <p:spPr>
          <a:xfrm>
            <a:off x="6629400" y="4876800"/>
            <a:ext cx="1905000" cy="1323975"/>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8"/>
          <p:cNvSpPr txBox="1"/>
          <p:nvPr/>
        </p:nvSpPr>
        <p:spPr>
          <a:xfrm>
            <a:off x="225136" y="1752600"/>
            <a:ext cx="8309264"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941EDF"/>
                </a:solidFill>
                <a:latin typeface="Courier New"/>
                <a:ea typeface="Courier New"/>
                <a:cs typeface="Courier New"/>
                <a:sym typeface="Courier New"/>
              </a:rPr>
              <a:t>public</a:t>
            </a:r>
            <a:r>
              <a:rPr lang="en-US" sz="3200" b="1">
                <a:solidFill>
                  <a:srgbClr val="000000"/>
                </a:solidFill>
                <a:latin typeface="Courier New"/>
                <a:ea typeface="Courier New"/>
                <a:cs typeface="Courier New"/>
                <a:sym typeface="Courier New"/>
              </a:rPr>
              <a:t> </a:t>
            </a:r>
            <a:r>
              <a:rPr lang="en-US" sz="3200" b="1">
                <a:solidFill>
                  <a:srgbClr val="941EDF"/>
                </a:solidFill>
                <a:latin typeface="Courier New"/>
                <a:ea typeface="Courier New"/>
                <a:cs typeface="Courier New"/>
                <a:sym typeface="Courier New"/>
              </a:rPr>
              <a:t>int</a:t>
            </a:r>
            <a:r>
              <a:rPr lang="en-US" sz="3200" b="1">
                <a:solidFill>
                  <a:srgbClr val="000000"/>
                </a:solidFill>
                <a:latin typeface="Courier New"/>
                <a:ea typeface="Courier New"/>
                <a:cs typeface="Courier New"/>
                <a:sym typeface="Courier New"/>
              </a:rPr>
              <a:t> compareTo(Boolean b) </a:t>
            </a:r>
            <a:endParaRPr/>
          </a:p>
          <a:p>
            <a:pPr marL="0" marR="0" lvl="0" indent="0" algn="l" rtl="0">
              <a:spcBef>
                <a:spcPts val="0"/>
              </a:spcBef>
              <a:spcAft>
                <a:spcPts val="0"/>
              </a:spcAft>
              <a:buNone/>
            </a:pPr>
            <a:r>
              <a:rPr lang="en-US" sz="3200" b="1">
                <a:solidFill>
                  <a:srgbClr val="000000"/>
                </a:solidFill>
                <a:latin typeface="Courier New"/>
                <a:ea typeface="Courier New"/>
                <a:cs typeface="Courier New"/>
                <a:sym typeface="Courier New"/>
              </a:rPr>
              <a:t>{</a:t>
            </a:r>
            <a:br>
              <a:rPr lang="en-US" sz="3200" b="1">
                <a:solidFill>
                  <a:srgbClr val="000000"/>
                </a:solidFill>
                <a:latin typeface="Courier New"/>
                <a:ea typeface="Courier New"/>
                <a:cs typeface="Courier New"/>
                <a:sym typeface="Courier New"/>
              </a:rPr>
            </a:br>
            <a:r>
              <a:rPr lang="en-US" sz="3200" b="1">
                <a:solidFill>
                  <a:srgbClr val="000000"/>
                </a:solidFill>
                <a:latin typeface="Courier New"/>
                <a:ea typeface="Courier New"/>
                <a:cs typeface="Courier New"/>
                <a:sym typeface="Courier New"/>
              </a:rPr>
              <a:t>   </a:t>
            </a:r>
            <a:r>
              <a:rPr lang="en-US" sz="3200" b="1">
                <a:solidFill>
                  <a:srgbClr val="941EDF"/>
                </a:solidFill>
                <a:latin typeface="Courier New"/>
                <a:ea typeface="Courier New"/>
                <a:cs typeface="Courier New"/>
                <a:sym typeface="Courier New"/>
              </a:rPr>
              <a:t>return</a:t>
            </a:r>
            <a:r>
              <a:rPr lang="en-US" sz="3200" b="1">
                <a:solidFill>
                  <a:srgbClr val="000000"/>
                </a:solidFill>
                <a:latin typeface="Courier New"/>
                <a:ea typeface="Courier New"/>
                <a:cs typeface="Courier New"/>
                <a:sym typeface="Courier New"/>
              </a:rPr>
              <a:t> (b.value == value </a:t>
            </a:r>
            <a:endParaRPr/>
          </a:p>
          <a:p>
            <a:pPr marL="0" marR="0" lvl="0" indent="0" algn="l" rtl="0">
              <a:spcBef>
                <a:spcPts val="0"/>
              </a:spcBef>
              <a:spcAft>
                <a:spcPts val="0"/>
              </a:spcAft>
              <a:buNone/>
            </a:pPr>
            <a:r>
              <a:rPr lang="en-US" sz="3200" b="1">
                <a:solidFill>
                  <a:srgbClr val="000000"/>
                </a:solidFill>
                <a:latin typeface="Courier New"/>
                <a:ea typeface="Courier New"/>
                <a:cs typeface="Courier New"/>
                <a:sym typeface="Courier New"/>
              </a:rPr>
              <a:t>           ? 0 </a:t>
            </a:r>
            <a:endParaRPr/>
          </a:p>
          <a:p>
            <a:pPr marL="0" marR="0" lvl="0" indent="0" algn="l" rtl="0">
              <a:spcBef>
                <a:spcPts val="0"/>
              </a:spcBef>
              <a:spcAft>
                <a:spcPts val="0"/>
              </a:spcAft>
              <a:buNone/>
            </a:pPr>
            <a:r>
              <a:rPr lang="en-US" sz="3200" b="1">
                <a:solidFill>
                  <a:srgbClr val="000000"/>
                </a:solidFill>
                <a:latin typeface="Courier New"/>
                <a:ea typeface="Courier New"/>
                <a:cs typeface="Courier New"/>
                <a:sym typeface="Courier New"/>
              </a:rPr>
              <a:t>           : (value ? 1 : -1));</a:t>
            </a:r>
            <a:br>
              <a:rPr lang="en-US" sz="3200" b="1">
                <a:solidFill>
                  <a:srgbClr val="000000"/>
                </a:solidFill>
                <a:latin typeface="Courier New"/>
                <a:ea typeface="Courier New"/>
                <a:cs typeface="Courier New"/>
                <a:sym typeface="Courier New"/>
              </a:rPr>
            </a:br>
            <a:r>
              <a:rPr lang="en-US" sz="3200" b="1">
                <a:solidFill>
                  <a:srgbClr val="000000"/>
                </a:solidFill>
                <a:latin typeface="Courier New"/>
                <a:ea typeface="Courier New"/>
                <a:cs typeface="Courier New"/>
                <a:sym typeface="Courier New"/>
              </a:rPr>
              <a:t>}</a:t>
            </a:r>
            <a:endParaRPr sz="6600" b="1">
              <a:solidFill>
                <a:schemeClr val="dk1"/>
              </a:solidFill>
              <a:latin typeface="Consolas"/>
              <a:ea typeface="Consolas"/>
              <a:cs typeface="Consolas"/>
              <a:sym typeface="Consolas"/>
            </a:endParaRPr>
          </a:p>
        </p:txBody>
      </p:sp>
      <p:sp>
        <p:nvSpPr>
          <p:cNvPr id="423" name="Google Shape;423;p38"/>
          <p:cNvSpPr txBox="1"/>
          <p:nvPr/>
        </p:nvSpPr>
        <p:spPr>
          <a:xfrm>
            <a:off x="0" y="152400"/>
            <a:ext cx="9144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Boolean </a:t>
            </a:r>
            <a:r>
              <a:rPr lang="en-US" sz="2800">
                <a:solidFill>
                  <a:srgbClr val="0000FF"/>
                </a:solidFill>
                <a:latin typeface="Courier New"/>
                <a:ea typeface="Courier New"/>
                <a:cs typeface="Courier New"/>
                <a:sym typeface="Courier New"/>
              </a:rPr>
              <a:t>implements</a:t>
            </a:r>
            <a:r>
              <a:rPr lang="en-US" sz="2800" b="1">
                <a:solidFill>
                  <a:srgbClr val="0000FF"/>
                </a:solidFill>
                <a:latin typeface="Courier New"/>
                <a:ea typeface="Courier New"/>
                <a:cs typeface="Courier New"/>
                <a:sym typeface="Courier New"/>
              </a:rPr>
              <a:t> </a:t>
            </a:r>
            <a:endParaRPr/>
          </a:p>
          <a:p>
            <a:pPr marL="0" marR="0" lvl="0" indent="0" algn="l" rtl="0">
              <a:spcBef>
                <a:spcPts val="0"/>
              </a:spcBef>
              <a:spcAft>
                <a:spcPts val="0"/>
              </a:spcAft>
              <a:buNone/>
            </a:pPr>
            <a:r>
              <a:rPr lang="en-US" sz="2800" b="1">
                <a:solidFill>
                  <a:srgbClr val="0000FF"/>
                </a:solidFill>
                <a:latin typeface="Courier New"/>
                <a:ea typeface="Courier New"/>
                <a:cs typeface="Courier New"/>
                <a:sym typeface="Courier New"/>
              </a:rPr>
              <a:t>                       Comparable&lt;Boolean&gt;</a:t>
            </a:r>
            <a:endParaRPr sz="3200" b="1">
              <a:solidFill>
                <a:srgbClr val="0000FF"/>
              </a:solidFill>
              <a:latin typeface="Tahoma"/>
              <a:ea typeface="Tahoma"/>
              <a:cs typeface="Tahoma"/>
              <a:sym typeface="Tahom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9"/>
          <p:cNvSpPr txBox="1"/>
          <p:nvPr/>
        </p:nvSpPr>
        <p:spPr>
          <a:xfrm>
            <a:off x="225136" y="1752600"/>
            <a:ext cx="8534400"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941EDF"/>
                </a:solidFill>
                <a:latin typeface="Courier New"/>
                <a:ea typeface="Courier New"/>
                <a:cs typeface="Courier New"/>
                <a:sym typeface="Courier New"/>
              </a:rPr>
              <a:t>public</a:t>
            </a: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compareTo(Date otherDate) </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long</a:t>
            </a:r>
            <a:r>
              <a:rPr lang="en-US" sz="2400" b="1">
                <a:solidFill>
                  <a:srgbClr val="000000"/>
                </a:solidFill>
                <a:latin typeface="Courier New"/>
                <a:ea typeface="Courier New"/>
                <a:cs typeface="Courier New"/>
                <a:sym typeface="Courier New"/>
              </a:rPr>
              <a:t> thisTime = getMillisOf(</a:t>
            </a:r>
            <a:r>
              <a:rPr lang="en-US" sz="2400" b="1">
                <a:solidFill>
                  <a:srgbClr val="941EDF"/>
                </a:solidFill>
                <a:latin typeface="Courier New"/>
                <a:ea typeface="Courier New"/>
                <a:cs typeface="Courier New"/>
                <a:sym typeface="Courier New"/>
              </a:rPr>
              <a:t>this</a:t>
            </a:r>
            <a:r>
              <a:rPr lang="en-US" sz="2400" b="1">
                <a:solidFill>
                  <a:srgbClr val="000000"/>
                </a:solidFill>
                <a:latin typeface="Courier New"/>
                <a:ea typeface="Courier New"/>
                <a:cs typeface="Courier New"/>
                <a:sym typeface="Courier New"/>
              </a:rPr>
              <a:t>);</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long</a:t>
            </a:r>
            <a:r>
              <a:rPr lang="en-US" sz="2400" b="1">
                <a:solidFill>
                  <a:srgbClr val="000000"/>
                </a:solidFill>
                <a:latin typeface="Courier New"/>
                <a:ea typeface="Courier New"/>
                <a:cs typeface="Courier New"/>
                <a:sym typeface="Courier New"/>
              </a:rPr>
              <a:t> otherTime = getMillisOf(otherDate);</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(thisTime&lt;otherTime </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           ? -1 </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           : (thisTime==otherTime ? 0 : 1));</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a:t>
            </a:r>
            <a:endParaRPr sz="8000" b="1">
              <a:solidFill>
                <a:schemeClr val="dk1"/>
              </a:solidFill>
              <a:latin typeface="Consolas"/>
              <a:ea typeface="Consolas"/>
              <a:cs typeface="Consolas"/>
              <a:sym typeface="Consolas"/>
            </a:endParaRPr>
          </a:p>
        </p:txBody>
      </p:sp>
      <p:sp>
        <p:nvSpPr>
          <p:cNvPr id="429" name="Google Shape;429;p39"/>
          <p:cNvSpPr txBox="1"/>
          <p:nvPr/>
        </p:nvSpPr>
        <p:spPr>
          <a:xfrm>
            <a:off x="304800" y="304800"/>
            <a:ext cx="85344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00FF"/>
                </a:solidFill>
                <a:latin typeface="Courier New"/>
                <a:ea typeface="Courier New"/>
                <a:cs typeface="Courier New"/>
                <a:sym typeface="Courier New"/>
              </a:rPr>
              <a:t>class</a:t>
            </a:r>
            <a:r>
              <a:rPr lang="en-US" sz="2800" b="1">
                <a:solidFill>
                  <a:srgbClr val="0000FF"/>
                </a:solidFill>
                <a:latin typeface="Courier New"/>
                <a:ea typeface="Courier New"/>
                <a:cs typeface="Courier New"/>
                <a:sym typeface="Courier New"/>
              </a:rPr>
              <a:t> Date </a:t>
            </a:r>
            <a:r>
              <a:rPr lang="en-US" sz="2800">
                <a:solidFill>
                  <a:srgbClr val="0000FF"/>
                </a:solidFill>
                <a:latin typeface="Courier New"/>
                <a:ea typeface="Courier New"/>
                <a:cs typeface="Courier New"/>
                <a:sym typeface="Courier New"/>
              </a:rPr>
              <a:t>implements</a:t>
            </a:r>
            <a:r>
              <a:rPr lang="en-US" sz="2800" b="1">
                <a:solidFill>
                  <a:srgbClr val="0000FF"/>
                </a:solidFill>
                <a:latin typeface="Courier New"/>
                <a:ea typeface="Courier New"/>
                <a:cs typeface="Courier New"/>
                <a:sym typeface="Courier New"/>
              </a:rPr>
              <a:t> Comparable&lt;Date&gt;</a:t>
            </a:r>
            <a:endParaRPr sz="3200" b="1">
              <a:solidFill>
                <a:srgbClr val="0000FF"/>
              </a:solidFill>
              <a:latin typeface="Tahoma"/>
              <a:ea typeface="Tahoma"/>
              <a:cs typeface="Tahoma"/>
              <a:sym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0"/>
          <p:cNvSpPr txBox="1"/>
          <p:nvPr/>
        </p:nvSpPr>
        <p:spPr>
          <a:xfrm>
            <a:off x="225136" y="1752600"/>
            <a:ext cx="8309264" cy="53245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941EDF"/>
                </a:solidFill>
                <a:latin typeface="Courier New"/>
                <a:ea typeface="Courier New"/>
                <a:cs typeface="Courier New"/>
                <a:sym typeface="Courier New"/>
              </a:rPr>
              <a:t>public</a:t>
            </a: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int</a:t>
            </a:r>
            <a:r>
              <a:rPr lang="en-US" sz="2000">
                <a:solidFill>
                  <a:srgbClr val="000000"/>
                </a:solidFill>
                <a:latin typeface="Courier New"/>
                <a:ea typeface="Courier New"/>
                <a:cs typeface="Courier New"/>
                <a:sym typeface="Courier New"/>
              </a:rPr>
              <a:t> compareTo(ChronoLocalDate other)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if</a:t>
            </a:r>
            <a:r>
              <a:rPr lang="en-US" sz="2000">
                <a:solidFill>
                  <a:srgbClr val="000000"/>
                </a:solidFill>
                <a:latin typeface="Courier New"/>
                <a:ea typeface="Courier New"/>
                <a:cs typeface="Courier New"/>
                <a:sym typeface="Courier New"/>
              </a:rPr>
              <a:t> (other </a:t>
            </a:r>
            <a:r>
              <a:rPr lang="en-US" sz="2000">
                <a:solidFill>
                  <a:srgbClr val="941EDF"/>
                </a:solidFill>
                <a:latin typeface="Courier New"/>
                <a:ea typeface="Courier New"/>
                <a:cs typeface="Courier New"/>
                <a:sym typeface="Courier New"/>
              </a:rPr>
              <a:t>instanceof</a:t>
            </a:r>
            <a:r>
              <a:rPr lang="en-US" sz="2000">
                <a:solidFill>
                  <a:srgbClr val="000000"/>
                </a:solidFill>
                <a:latin typeface="Courier New"/>
                <a:ea typeface="Courier New"/>
                <a:cs typeface="Courier New"/>
                <a:sym typeface="Courier New"/>
              </a:rPr>
              <a:t> LocalDate)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return</a:t>
            </a:r>
            <a:r>
              <a:rPr lang="en-US" sz="2000">
                <a:solidFill>
                  <a:srgbClr val="000000"/>
                </a:solidFill>
                <a:latin typeface="Courier New"/>
                <a:ea typeface="Courier New"/>
                <a:cs typeface="Courier New"/>
                <a:sym typeface="Courier New"/>
              </a:rPr>
              <a:t> compareTo0((LocalDate) other);</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return</a:t>
            </a:r>
            <a:r>
              <a:rPr lang="en-US" sz="2000">
                <a:solidFill>
                  <a:srgbClr val="000000"/>
                </a:solidFill>
                <a:latin typeface="Courier New"/>
                <a:ea typeface="Courier New"/>
                <a:cs typeface="Courier New"/>
                <a:sym typeface="Courier New"/>
              </a:rPr>
              <a:t> ChronoLocalDate.</a:t>
            </a:r>
            <a:r>
              <a:rPr lang="en-US" sz="2000">
                <a:solidFill>
                  <a:srgbClr val="941EDF"/>
                </a:solidFill>
                <a:latin typeface="Courier New"/>
                <a:ea typeface="Courier New"/>
                <a:cs typeface="Courier New"/>
                <a:sym typeface="Courier New"/>
              </a:rPr>
              <a:t>super</a:t>
            </a:r>
            <a:r>
              <a:rPr lang="en-US" sz="2000">
                <a:solidFill>
                  <a:srgbClr val="000000"/>
                </a:solidFill>
                <a:latin typeface="Courier New"/>
                <a:ea typeface="Courier New"/>
                <a:cs typeface="Courier New"/>
                <a:sym typeface="Courier New"/>
              </a:rPr>
              <a:t>.compareTo(other);</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a:t>
            </a:r>
            <a:endParaRPr/>
          </a:p>
          <a:p>
            <a:pPr marL="0" marR="0" lvl="0" indent="0" algn="l" rtl="0">
              <a:spcBef>
                <a:spcPts val="0"/>
              </a:spcBef>
              <a:spcAft>
                <a:spcPts val="0"/>
              </a:spcAft>
              <a:buNone/>
            </a:pPr>
            <a:endParaRPr sz="2000">
              <a:solidFill>
                <a:srgbClr val="000000"/>
              </a:solidFill>
              <a:latin typeface="Courier New"/>
              <a:ea typeface="Courier New"/>
              <a:cs typeface="Courier New"/>
              <a:sym typeface="Courier New"/>
            </a:endParaRPr>
          </a:p>
          <a:p>
            <a:pPr marL="0" marR="0" lvl="0" indent="0" algn="l" rtl="0">
              <a:spcBef>
                <a:spcPts val="0"/>
              </a:spcBef>
              <a:spcAft>
                <a:spcPts val="0"/>
              </a:spcAft>
              <a:buNone/>
            </a:pPr>
            <a:r>
              <a:rPr lang="en-US" sz="2000">
                <a:solidFill>
                  <a:srgbClr val="941EDF"/>
                </a:solidFill>
                <a:latin typeface="Courier New"/>
                <a:ea typeface="Courier New"/>
                <a:cs typeface="Courier New"/>
                <a:sym typeface="Courier New"/>
              </a:rPr>
              <a:t>int</a:t>
            </a:r>
            <a:r>
              <a:rPr lang="en-US" sz="2000">
                <a:solidFill>
                  <a:srgbClr val="000000"/>
                </a:solidFill>
                <a:latin typeface="Courier New"/>
                <a:ea typeface="Courier New"/>
                <a:cs typeface="Courier New"/>
                <a:sym typeface="Courier New"/>
              </a:rPr>
              <a:t> compareTo0(LocalDate otherDate)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int</a:t>
            </a:r>
            <a:r>
              <a:rPr lang="en-US" sz="2000">
                <a:solidFill>
                  <a:srgbClr val="000000"/>
                </a:solidFill>
                <a:latin typeface="Courier New"/>
                <a:ea typeface="Courier New"/>
                <a:cs typeface="Courier New"/>
                <a:sym typeface="Courier New"/>
              </a:rPr>
              <a:t> cmp = (year - otherDate.year);</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if</a:t>
            </a:r>
            <a:r>
              <a:rPr lang="en-US" sz="2000">
                <a:solidFill>
                  <a:srgbClr val="000000"/>
                </a:solidFill>
                <a:latin typeface="Courier New"/>
                <a:ea typeface="Courier New"/>
                <a:cs typeface="Courier New"/>
                <a:sym typeface="Courier New"/>
              </a:rPr>
              <a:t> (cmp == 0)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cmp = (month - otherDate.month);</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if</a:t>
            </a:r>
            <a:r>
              <a:rPr lang="en-US" sz="2000">
                <a:solidFill>
                  <a:srgbClr val="000000"/>
                </a:solidFill>
                <a:latin typeface="Courier New"/>
                <a:ea typeface="Courier New"/>
                <a:cs typeface="Courier New"/>
                <a:sym typeface="Courier New"/>
              </a:rPr>
              <a:t> (cmp == 0)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cmp = (day - otherDate.day);</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   </a:t>
            </a:r>
            <a:r>
              <a:rPr lang="en-US" sz="2000">
                <a:solidFill>
                  <a:srgbClr val="941EDF"/>
                </a:solidFill>
                <a:latin typeface="Courier New"/>
                <a:ea typeface="Courier New"/>
                <a:cs typeface="Courier New"/>
                <a:sym typeface="Courier New"/>
              </a:rPr>
              <a:t>return</a:t>
            </a:r>
            <a:r>
              <a:rPr lang="en-US" sz="2000">
                <a:solidFill>
                  <a:srgbClr val="000000"/>
                </a:solidFill>
                <a:latin typeface="Courier New"/>
                <a:ea typeface="Courier New"/>
                <a:cs typeface="Courier New"/>
                <a:sym typeface="Courier New"/>
              </a:rPr>
              <a:t> cmp;</a:t>
            </a:r>
            <a:br>
              <a:rPr lang="en-US" sz="2000">
                <a:solidFill>
                  <a:srgbClr val="000000"/>
                </a:solidFill>
                <a:latin typeface="Courier New"/>
                <a:ea typeface="Courier New"/>
                <a:cs typeface="Courier New"/>
                <a:sym typeface="Courier New"/>
              </a:rPr>
            </a:br>
            <a:r>
              <a:rPr lang="en-US" sz="2000">
                <a:solidFill>
                  <a:srgbClr val="000000"/>
                </a:solidFill>
                <a:latin typeface="Courier New"/>
                <a:ea typeface="Courier New"/>
                <a:cs typeface="Courier New"/>
                <a:sym typeface="Courier New"/>
              </a:rPr>
              <a:t>}</a:t>
            </a:r>
            <a:endParaRPr/>
          </a:p>
        </p:txBody>
      </p:sp>
      <p:sp>
        <p:nvSpPr>
          <p:cNvPr id="435" name="Google Shape;435;p40"/>
          <p:cNvSpPr txBox="1"/>
          <p:nvPr/>
        </p:nvSpPr>
        <p:spPr>
          <a:xfrm>
            <a:off x="349827" y="457200"/>
            <a:ext cx="84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FF"/>
                </a:solidFill>
                <a:latin typeface="Courier New"/>
                <a:ea typeface="Courier New"/>
                <a:cs typeface="Courier New"/>
                <a:sym typeface="Courier New"/>
              </a:rPr>
              <a:t>public final class </a:t>
            </a:r>
            <a:r>
              <a:rPr lang="en-US" sz="2400" b="1">
                <a:solidFill>
                  <a:srgbClr val="0000FF"/>
                </a:solidFill>
                <a:latin typeface="Courier New"/>
                <a:ea typeface="Courier New"/>
                <a:cs typeface="Courier New"/>
                <a:sym typeface="Courier New"/>
              </a:rPr>
              <a:t>LocalDate</a:t>
            </a:r>
            <a:br>
              <a:rPr lang="en-US" sz="2400">
                <a:solidFill>
                  <a:srgbClr val="0000FF"/>
                </a:solidFill>
                <a:latin typeface="Courier New"/>
                <a:ea typeface="Courier New"/>
                <a:cs typeface="Courier New"/>
                <a:sym typeface="Courier New"/>
              </a:rPr>
            </a:br>
            <a:r>
              <a:rPr lang="en-US" sz="2400">
                <a:solidFill>
                  <a:srgbClr val="0000FF"/>
                </a:solidFill>
                <a:latin typeface="Courier New"/>
                <a:ea typeface="Courier New"/>
                <a:cs typeface="Courier New"/>
                <a:sym typeface="Courier New"/>
              </a:rPr>
              <a:t>                   implements </a:t>
            </a:r>
            <a:r>
              <a:rPr lang="en-US" sz="2400" b="1">
                <a:solidFill>
                  <a:srgbClr val="0000FF"/>
                </a:solidFill>
                <a:latin typeface="Courier New"/>
                <a:ea typeface="Courier New"/>
                <a:cs typeface="Courier New"/>
                <a:sym typeface="Courier New"/>
              </a:rPr>
              <a:t>ChronoLocalDate</a:t>
            </a:r>
            <a:endParaRPr sz="4000" b="1">
              <a:solidFill>
                <a:srgbClr val="0000FF"/>
              </a:solidFill>
              <a:latin typeface="Tahoma"/>
              <a:ea typeface="Tahoma"/>
              <a:cs typeface="Tahoma"/>
              <a:sym typeface="Tahom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1"/>
          <p:cNvSpPr txBox="1"/>
          <p:nvPr/>
        </p:nvSpPr>
        <p:spPr>
          <a:xfrm>
            <a:off x="0" y="1752600"/>
            <a:ext cx="91440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941EDF"/>
                </a:solidFill>
                <a:latin typeface="Courier New"/>
                <a:ea typeface="Courier New"/>
                <a:cs typeface="Courier New"/>
                <a:sym typeface="Courier New"/>
              </a:rPr>
              <a:t>default</a:t>
            </a: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compareTo(ChronoLocalDate other)</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int</a:t>
            </a:r>
            <a:r>
              <a:rPr lang="en-US" sz="2400" b="1">
                <a:solidFill>
                  <a:srgbClr val="000000"/>
                </a:solidFill>
                <a:latin typeface="Courier New"/>
                <a:ea typeface="Courier New"/>
                <a:cs typeface="Courier New"/>
                <a:sym typeface="Courier New"/>
              </a:rPr>
              <a:t> cmp = Long.compare(toEpochDay(), </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                         other.toEpochDay());</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if</a:t>
            </a:r>
            <a:r>
              <a:rPr lang="en-US" sz="2400" b="1">
                <a:solidFill>
                  <a:srgbClr val="000000"/>
                </a:solidFill>
                <a:latin typeface="Courier New"/>
                <a:ea typeface="Courier New"/>
                <a:cs typeface="Courier New"/>
                <a:sym typeface="Courier New"/>
              </a:rPr>
              <a:t> (cmp == 0)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cmp = getChronology().compareTo(</a:t>
            </a:r>
            <a:endParaRPr/>
          </a:p>
          <a:p>
            <a:pPr marL="0" marR="0" lvl="0" indent="0" algn="l" rtl="0">
              <a:spcBef>
                <a:spcPts val="0"/>
              </a:spcBef>
              <a:spcAft>
                <a:spcPts val="0"/>
              </a:spcAft>
              <a:buNone/>
            </a:pPr>
            <a:r>
              <a:rPr lang="en-US" sz="2400" b="1">
                <a:solidFill>
                  <a:srgbClr val="000000"/>
                </a:solidFill>
                <a:latin typeface="Courier New"/>
                <a:ea typeface="Courier New"/>
                <a:cs typeface="Courier New"/>
                <a:sym typeface="Courier New"/>
              </a:rPr>
              <a:t>                          other.getChronology());</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  </a:t>
            </a:r>
            <a:r>
              <a:rPr lang="en-US" sz="2400" b="1">
                <a:solidFill>
                  <a:srgbClr val="941EDF"/>
                </a:solidFill>
                <a:latin typeface="Courier New"/>
                <a:ea typeface="Courier New"/>
                <a:cs typeface="Courier New"/>
                <a:sym typeface="Courier New"/>
              </a:rPr>
              <a:t>return</a:t>
            </a:r>
            <a:r>
              <a:rPr lang="en-US" sz="2400" b="1">
                <a:solidFill>
                  <a:srgbClr val="000000"/>
                </a:solidFill>
                <a:latin typeface="Courier New"/>
                <a:ea typeface="Courier New"/>
                <a:cs typeface="Courier New"/>
                <a:sym typeface="Courier New"/>
              </a:rPr>
              <a:t> cmp;</a:t>
            </a:r>
            <a:br>
              <a:rPr lang="en-US" sz="2400" b="1">
                <a:solidFill>
                  <a:srgbClr val="000000"/>
                </a:solidFill>
                <a:latin typeface="Courier New"/>
                <a:ea typeface="Courier New"/>
                <a:cs typeface="Courier New"/>
                <a:sym typeface="Courier New"/>
              </a:rPr>
            </a:br>
            <a:r>
              <a:rPr lang="en-US" sz="2400" b="1">
                <a:solidFill>
                  <a:srgbClr val="000000"/>
                </a:solidFill>
                <a:latin typeface="Courier New"/>
                <a:ea typeface="Courier New"/>
                <a:cs typeface="Courier New"/>
                <a:sym typeface="Courier New"/>
              </a:rPr>
              <a:t>}</a:t>
            </a:r>
            <a:endParaRPr sz="2800" b="1">
              <a:solidFill>
                <a:srgbClr val="000000"/>
              </a:solidFill>
              <a:latin typeface="Courier New"/>
              <a:ea typeface="Courier New"/>
              <a:cs typeface="Courier New"/>
              <a:sym typeface="Courier New"/>
            </a:endParaRPr>
          </a:p>
        </p:txBody>
      </p:sp>
      <p:sp>
        <p:nvSpPr>
          <p:cNvPr id="441" name="Google Shape;441;p41"/>
          <p:cNvSpPr txBox="1"/>
          <p:nvPr/>
        </p:nvSpPr>
        <p:spPr>
          <a:xfrm>
            <a:off x="0" y="228600"/>
            <a:ext cx="9144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FF"/>
                </a:solidFill>
                <a:latin typeface="Courier New"/>
                <a:ea typeface="Courier New"/>
                <a:cs typeface="Courier New"/>
                <a:sym typeface="Courier New"/>
              </a:rPr>
              <a:t>public final class </a:t>
            </a:r>
            <a:r>
              <a:rPr lang="en-US" sz="2400" b="1">
                <a:solidFill>
                  <a:srgbClr val="0000FF"/>
                </a:solidFill>
                <a:latin typeface="Courier New"/>
                <a:ea typeface="Courier New"/>
                <a:cs typeface="Courier New"/>
                <a:sym typeface="Courier New"/>
              </a:rPr>
              <a:t>ChronoLocalDate</a:t>
            </a:r>
            <a:br>
              <a:rPr lang="en-US" sz="2400">
                <a:solidFill>
                  <a:srgbClr val="0000FF"/>
                </a:solidFill>
                <a:latin typeface="Courier New"/>
                <a:ea typeface="Courier New"/>
                <a:cs typeface="Courier New"/>
                <a:sym typeface="Courier New"/>
              </a:rPr>
            </a:br>
            <a:r>
              <a:rPr lang="en-US" sz="2400">
                <a:solidFill>
                  <a:srgbClr val="0000FF"/>
                </a:solidFill>
                <a:latin typeface="Courier New"/>
                <a:ea typeface="Courier New"/>
                <a:cs typeface="Courier New"/>
                <a:sym typeface="Courier New"/>
              </a:rPr>
              <a:t>           implements </a:t>
            </a:r>
            <a:r>
              <a:rPr lang="en-US" sz="2400" b="1">
                <a:solidFill>
                  <a:srgbClr val="0000FF"/>
                </a:solidFill>
                <a:latin typeface="Courier New"/>
                <a:ea typeface="Courier New"/>
                <a:cs typeface="Courier New"/>
                <a:sym typeface="Courier New"/>
              </a:rPr>
              <a:t>Comparable&lt;ChronoLocalDate&gt;</a:t>
            </a:r>
            <a:endParaRPr sz="4000" b="1">
              <a:solidFill>
                <a:srgbClr val="0000FF"/>
              </a:solidFill>
              <a:latin typeface="Tahoma"/>
              <a:ea typeface="Tahoma"/>
              <a:cs typeface="Tahoma"/>
              <a:sym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2"/>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47" name="Google Shape;447;p42"/>
          <p:cNvSpPr txBox="1"/>
          <p:nvPr/>
        </p:nvSpPr>
        <p:spPr>
          <a:xfrm>
            <a:off x="304800" y="228600"/>
            <a:ext cx="7015447" cy="62478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54;</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Comparable y = 67;</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x = 9.32;</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y = 7.85;</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x = “an”;</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y = “antler”;</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out.println(x.compareTo(y));</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
        <p:nvSpPr>
          <p:cNvPr id="448" name="Google Shape;448;p42"/>
          <p:cNvSpPr txBox="1"/>
          <p:nvPr/>
        </p:nvSpPr>
        <p:spPr>
          <a:xfrm>
            <a:off x="7218218" y="3810000"/>
            <a:ext cx="1905000" cy="2800767"/>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-1</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1</a:t>
            </a:r>
            <a:endParaRPr/>
          </a:p>
          <a:p>
            <a:pPr marL="0" marR="0" lvl="0" indent="0" algn="ctr" rtl="0">
              <a:spcBef>
                <a:spcPts val="1600"/>
              </a:spcBef>
              <a:spcAft>
                <a:spcPts val="0"/>
              </a:spcAft>
              <a:buNone/>
            </a:pPr>
            <a:r>
              <a:rPr lang="en-US" sz="3200" b="1">
                <a:solidFill>
                  <a:schemeClr val="dk1"/>
                </a:solidFill>
                <a:latin typeface="Tahoma"/>
                <a:ea typeface="Tahoma"/>
                <a:cs typeface="Tahoma"/>
                <a:sym typeface="Tahoma"/>
              </a:rPr>
              <a:t>-4</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3"/>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54" name="Google Shape;454;p43"/>
          <p:cNvSpPr txBox="1"/>
          <p:nvPr/>
        </p:nvSpPr>
        <p:spPr>
          <a:xfrm>
            <a:off x="914400" y="1676400"/>
            <a:ext cx="7500938" cy="3749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x = </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			</a:t>
            </a:r>
            <a:r>
              <a:rPr lang="en-US" sz="4000" b="1">
                <a:solidFill>
                  <a:srgbClr val="C00000"/>
                </a:solidFill>
                <a:latin typeface="Arial"/>
                <a:ea typeface="Arial"/>
                <a:cs typeface="Arial"/>
                <a:sym typeface="Arial"/>
              </a:rPr>
              <a:t>new Comparable();</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out.println(x);</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rgbClr val="FF0000"/>
                </a:solidFill>
                <a:latin typeface="Arial"/>
                <a:ea typeface="Arial"/>
                <a:cs typeface="Arial"/>
                <a:sym typeface="Arial"/>
              </a:rPr>
              <a:t>Is this okay??</a:t>
            </a:r>
            <a:endParaRPr/>
          </a:p>
        </p:txBody>
      </p:sp>
      <p:sp>
        <p:nvSpPr>
          <p:cNvPr id="455" name="Google Shape;455;p43"/>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456" name="Google Shape;456;p43"/>
          <p:cNvSpPr txBox="1"/>
          <p:nvPr/>
        </p:nvSpPr>
        <p:spPr>
          <a:xfrm>
            <a:off x="5334000" y="3581400"/>
            <a:ext cx="3276600" cy="1811338"/>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rgbClr val="FF0000"/>
                </a:solidFill>
                <a:latin typeface="Tahoma"/>
                <a:ea typeface="Tahoma"/>
                <a:cs typeface="Tahoma"/>
                <a:sym typeface="Tahoma"/>
              </a:rPr>
              <a:t>OUTPUT</a:t>
            </a:r>
            <a:endParaRPr/>
          </a:p>
          <a:p>
            <a:pPr marL="0" marR="0" lvl="0" indent="0" algn="l" rtl="0">
              <a:spcBef>
                <a:spcPts val="1600"/>
              </a:spcBef>
              <a:spcAft>
                <a:spcPts val="0"/>
              </a:spcAft>
              <a:buNone/>
            </a:pPr>
            <a:r>
              <a:rPr lang="en-US" sz="3200" b="1">
                <a:solidFill>
                  <a:schemeClr val="dk1"/>
                </a:solidFill>
                <a:latin typeface="Tahoma"/>
                <a:ea typeface="Tahoma"/>
                <a:cs typeface="Tahoma"/>
                <a:sym typeface="Tahoma"/>
              </a:rPr>
              <a:t>no output</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compile error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4"/>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62" name="Google Shape;462;p44"/>
          <p:cNvSpPr/>
          <p:nvPr/>
        </p:nvSpPr>
        <p:spPr>
          <a:xfrm>
            <a:off x="914400" y="457200"/>
            <a:ext cx="73914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Why use an interface?</a:t>
            </a:r>
          </a:p>
        </p:txBody>
      </p:sp>
      <p:sp>
        <p:nvSpPr>
          <p:cNvPr id="463" name="Google Shape;463;p44"/>
          <p:cNvSpPr txBox="1"/>
          <p:nvPr/>
        </p:nvSpPr>
        <p:spPr>
          <a:xfrm>
            <a:off x="990600" y="1935163"/>
            <a:ext cx="6043613" cy="20415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public interface Comparable </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int compareTo(Object o);</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p:txBody>
      </p:sp>
      <p:sp>
        <p:nvSpPr>
          <p:cNvPr id="464" name="Google Shape;464;p44"/>
          <p:cNvSpPr txBox="1"/>
          <p:nvPr/>
        </p:nvSpPr>
        <p:spPr>
          <a:xfrm>
            <a:off x="1066800" y="4495800"/>
            <a:ext cx="6019800" cy="1382713"/>
          </a:xfrm>
          <a:prstGeom prst="rect">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accent2"/>
                </a:solidFill>
                <a:latin typeface="Tahoma"/>
                <a:ea typeface="Tahoma"/>
                <a:cs typeface="Tahoma"/>
                <a:sym typeface="Tahoma"/>
              </a:rPr>
              <a:t>No instance variables!</a:t>
            </a:r>
            <a:endParaRPr/>
          </a:p>
          <a:p>
            <a:pPr marL="0" marR="0" lvl="0" indent="0" algn="l" rtl="0">
              <a:spcBef>
                <a:spcPts val="0"/>
              </a:spcBef>
              <a:spcAft>
                <a:spcPts val="0"/>
              </a:spcAft>
              <a:buNone/>
            </a:pPr>
            <a:r>
              <a:rPr lang="en-US" sz="2800" b="1">
                <a:solidFill>
                  <a:schemeClr val="accent2"/>
                </a:solidFill>
                <a:latin typeface="Tahoma"/>
                <a:ea typeface="Tahoma"/>
                <a:cs typeface="Tahoma"/>
                <a:sym typeface="Tahoma"/>
              </a:rPr>
              <a:t>No constructors!</a:t>
            </a:r>
            <a:endParaRPr/>
          </a:p>
          <a:p>
            <a:pPr marL="0" marR="0" lvl="0" indent="0" algn="l" rtl="0">
              <a:spcBef>
                <a:spcPts val="0"/>
              </a:spcBef>
              <a:spcAft>
                <a:spcPts val="0"/>
              </a:spcAft>
              <a:buNone/>
            </a:pPr>
            <a:r>
              <a:rPr lang="en-US" sz="2800" b="1">
                <a:solidFill>
                  <a:schemeClr val="accent2"/>
                </a:solidFill>
                <a:latin typeface="Tahoma"/>
                <a:ea typeface="Tahoma"/>
                <a:cs typeface="Tahoma"/>
                <a:sym typeface="Tahoma"/>
              </a:rPr>
              <a:t>No method implementations!</a:t>
            </a:r>
            <a:endParaRPr/>
          </a:p>
        </p:txBody>
      </p:sp>
      <p:sp>
        <p:nvSpPr>
          <p:cNvPr id="465" name="Google Shape;465;p44"/>
          <p:cNvSpPr txBox="1"/>
          <p:nvPr/>
        </p:nvSpPr>
        <p:spPr>
          <a:xfrm>
            <a:off x="7162800" y="2895600"/>
            <a:ext cx="1524000" cy="957263"/>
          </a:xfrm>
          <a:prstGeom prst="rect">
            <a:avLst/>
          </a:prstGeom>
          <a:noFill/>
          <a:ln w="9525" cap="flat" cmpd="sng">
            <a:solidFill>
              <a:srgbClr val="00CC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CC00"/>
                </a:solidFill>
                <a:latin typeface="Tahoma"/>
                <a:ea typeface="Tahoma"/>
                <a:cs typeface="Tahoma"/>
                <a:sym typeface="Tahoma"/>
              </a:rPr>
              <a:t>ABSTRACT</a:t>
            </a:r>
            <a:endParaRPr/>
          </a:p>
          <a:p>
            <a:pPr marL="0" marR="0" lvl="0" indent="0" algn="l" rtl="0">
              <a:spcBef>
                <a:spcPts val="800"/>
              </a:spcBef>
              <a:spcAft>
                <a:spcPts val="0"/>
              </a:spcAft>
              <a:buNone/>
            </a:pPr>
            <a:r>
              <a:rPr lang="en-US" sz="1600" b="1">
                <a:solidFill>
                  <a:srgbClr val="00CC00"/>
                </a:solidFill>
                <a:latin typeface="Tahoma"/>
                <a:ea typeface="Tahoma"/>
                <a:cs typeface="Tahoma"/>
                <a:sym typeface="Tahoma"/>
              </a:rPr>
              <a:t>Lots of unknowns!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71" name="Google Shape;471;p45"/>
          <p:cNvSpPr/>
          <p:nvPr/>
        </p:nvSpPr>
        <p:spPr>
          <a:xfrm>
            <a:off x="685800" y="1066800"/>
            <a:ext cx="7620000" cy="457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Making the </a:t>
            </a:r>
            <a:br>
              <a:rPr b="0" i="0">
                <a:ln w="9525" cap="flat" cmpd="sng">
                  <a:solidFill>
                    <a:srgbClr val="FFFF00"/>
                  </a:solidFill>
                  <a:prstDash val="solid"/>
                  <a:round/>
                  <a:headEnd type="none" w="sm" len="sm"/>
                  <a:tailEnd type="none" w="sm" len="sm"/>
                </a:ln>
                <a:solidFill>
                  <a:srgbClr val="0000FF"/>
                </a:solidFill>
                <a:latin typeface="Impact"/>
              </a:rPr>
            </a:br>
            <a:r>
              <a:rPr b="0" i="0">
                <a:ln w="9525" cap="flat" cmpd="sng">
                  <a:solidFill>
                    <a:srgbClr val="FFFF00"/>
                  </a:solidFill>
                  <a:prstDash val="solid"/>
                  <a:round/>
                  <a:headEnd type="none" w="sm" len="sm"/>
                  <a:tailEnd type="none" w="sm" len="sm"/>
                </a:ln>
                <a:solidFill>
                  <a:srgbClr val="0000FF"/>
                </a:solidFill>
                <a:latin typeface="Impact"/>
              </a:rPr>
              <a:t>abstract</a:t>
            </a:r>
            <a:br>
              <a:rPr b="0" i="0">
                <a:ln w="9525" cap="flat" cmpd="sng">
                  <a:solidFill>
                    <a:srgbClr val="FFFF00"/>
                  </a:solidFill>
                  <a:prstDash val="solid"/>
                  <a:round/>
                  <a:headEnd type="none" w="sm" len="sm"/>
                  <a:tailEnd type="none" w="sm" len="sm"/>
                </a:ln>
                <a:solidFill>
                  <a:srgbClr val="0000FF"/>
                </a:solidFill>
                <a:latin typeface="Impact"/>
              </a:rPr>
            </a:br>
            <a:r>
              <a:rPr b="0" i="0">
                <a:ln w="9525" cap="flat" cmpd="sng">
                  <a:solidFill>
                    <a:srgbClr val="FFFF00"/>
                  </a:solidFill>
                  <a:prstDash val="solid"/>
                  <a:round/>
                  <a:headEnd type="none" w="sm" len="sm"/>
                  <a:tailEnd type="none" w="sm" len="sm"/>
                </a:ln>
                <a:solidFill>
                  <a:srgbClr val="0000FF"/>
                </a:solidFill>
                <a:latin typeface="Impact"/>
              </a:rPr>
              <a:t>concrete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6"/>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477" name="Google Shape;477;p46"/>
          <p:cNvSpPr/>
          <p:nvPr/>
        </p:nvSpPr>
        <p:spPr>
          <a:xfrm>
            <a:off x="1066800" y="457200"/>
            <a:ext cx="6705600" cy="7620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What is an interface?</a:t>
            </a:r>
          </a:p>
        </p:txBody>
      </p:sp>
      <p:sp>
        <p:nvSpPr>
          <p:cNvPr id="478" name="Google Shape;478;p46"/>
          <p:cNvSpPr txBox="1"/>
          <p:nvPr/>
        </p:nvSpPr>
        <p:spPr>
          <a:xfrm>
            <a:off x="990600" y="1935163"/>
            <a:ext cx="6043613" cy="20415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public interface Comparable </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int compareTo(Object o);</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p:txBody>
      </p:sp>
      <p:sp>
        <p:nvSpPr>
          <p:cNvPr id="479" name="Google Shape;479;p46"/>
          <p:cNvSpPr txBox="1"/>
          <p:nvPr/>
        </p:nvSpPr>
        <p:spPr>
          <a:xfrm>
            <a:off x="762000" y="4343400"/>
            <a:ext cx="7772400" cy="1808163"/>
          </a:xfrm>
          <a:prstGeom prst="rect">
            <a:avLst/>
          </a:prstGeom>
          <a:noFill/>
          <a:ln w="9525" cap="flat" cmpd="sng">
            <a:solidFill>
              <a:srgbClr val="00CC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CC00"/>
                </a:solidFill>
                <a:latin typeface="Tahoma"/>
                <a:ea typeface="Tahoma"/>
                <a:cs typeface="Tahoma"/>
                <a:sym typeface="Tahoma"/>
              </a:rPr>
              <a:t>abstract  -  an idea of what to do</a:t>
            </a:r>
            <a:endParaRPr/>
          </a:p>
          <a:p>
            <a:pPr marL="0" marR="0" lvl="0" indent="0" algn="l" rtl="0">
              <a:spcBef>
                <a:spcPts val="1600"/>
              </a:spcBef>
              <a:spcAft>
                <a:spcPts val="0"/>
              </a:spcAft>
              <a:buNone/>
            </a:pPr>
            <a:r>
              <a:rPr lang="en-US" sz="3200" b="1">
                <a:solidFill>
                  <a:srgbClr val="00CC00"/>
                </a:solidFill>
                <a:latin typeface="Tahoma"/>
                <a:ea typeface="Tahoma"/>
                <a:cs typeface="Tahoma"/>
                <a:sym typeface="Tahoma"/>
              </a:rPr>
              <a:t>concrete  - having enough 					information to actually do it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7"/>
          <p:cNvSpPr/>
          <p:nvPr/>
        </p:nvSpPr>
        <p:spPr>
          <a:xfrm>
            <a:off x="0" y="2759075"/>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85" name="Google Shape;485;p47"/>
          <p:cNvSpPr/>
          <p:nvPr/>
        </p:nvSpPr>
        <p:spPr>
          <a:xfrm>
            <a:off x="0" y="3825875"/>
            <a:ext cx="279400" cy="27463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  </a:t>
            </a:r>
            <a:endParaRPr sz="2400">
              <a:solidFill>
                <a:schemeClr val="dk1"/>
              </a:solidFill>
              <a:latin typeface="Times New Roman"/>
              <a:ea typeface="Times New Roman"/>
              <a:cs typeface="Times New Roman"/>
              <a:sym typeface="Times New Roman"/>
            </a:endParaRPr>
          </a:p>
        </p:txBody>
      </p:sp>
      <p:sp>
        <p:nvSpPr>
          <p:cNvPr id="486" name="Google Shape;486;p47"/>
          <p:cNvSpPr txBox="1"/>
          <p:nvPr/>
        </p:nvSpPr>
        <p:spPr>
          <a:xfrm>
            <a:off x="1066800" y="2209800"/>
            <a:ext cx="184150"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487" name="Google Shape;487;p47"/>
          <p:cNvSpPr txBox="1"/>
          <p:nvPr/>
        </p:nvSpPr>
        <p:spPr>
          <a:xfrm>
            <a:off x="1219200" y="990600"/>
            <a:ext cx="7772400" cy="59400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ahoma"/>
                <a:ea typeface="Tahoma"/>
                <a:cs typeface="Tahoma"/>
                <a:sym typeface="Tahoma"/>
              </a:rPr>
              <a:t>public class Creature </a:t>
            </a:r>
            <a:r>
              <a:rPr lang="en-US" sz="2000" b="1">
                <a:solidFill>
                  <a:schemeClr val="accent2"/>
                </a:solidFill>
                <a:latin typeface="Tahoma"/>
                <a:ea typeface="Tahoma"/>
                <a:cs typeface="Tahoma"/>
                <a:sym typeface="Tahoma"/>
              </a:rPr>
              <a:t>implements</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Comparable&lt;Creature&gt;</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private int size;</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Creature(int girth) { size=girth;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int </a:t>
            </a:r>
            <a:r>
              <a:rPr lang="en-US" sz="2000" b="1">
                <a:solidFill>
                  <a:srgbClr val="7030A0"/>
                </a:solidFill>
                <a:latin typeface="Tahoma"/>
                <a:ea typeface="Tahoma"/>
                <a:cs typeface="Tahoma"/>
                <a:sym typeface="Tahoma"/>
              </a:rPr>
              <a:t>compareTo</a:t>
            </a:r>
            <a:r>
              <a:rPr lang="en-US" sz="2000" b="1">
                <a:solidFill>
                  <a:schemeClr val="dk1"/>
                </a:solidFill>
                <a:latin typeface="Tahoma"/>
                <a:ea typeface="Tahoma"/>
                <a:cs typeface="Tahoma"/>
                <a:sym typeface="Tahoma"/>
              </a:rPr>
              <a:t>(</a:t>
            </a:r>
            <a:r>
              <a:rPr lang="en-US" sz="2000" b="1">
                <a:solidFill>
                  <a:srgbClr val="7030A0"/>
                </a:solidFill>
                <a:latin typeface="Tahoma"/>
                <a:ea typeface="Tahoma"/>
                <a:cs typeface="Tahoma"/>
                <a:sym typeface="Tahoma"/>
              </a:rPr>
              <a:t>Creature other</a:t>
            </a: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if(size&gt;other.size)</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1;</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else if(size&lt;other.size)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-1;</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0;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String toString() { </a:t>
            </a:r>
            <a:br>
              <a:rPr lang="en-US" sz="2000" b="1">
                <a:solidFill>
                  <a:schemeClr val="dk1"/>
                </a:solidFill>
                <a:latin typeface="Tahoma"/>
                <a:ea typeface="Tahoma"/>
                <a:cs typeface="Tahoma"/>
                <a:sym typeface="Tahoma"/>
              </a:rPr>
            </a:br>
            <a:r>
              <a:rPr lang="en-US" sz="2000" b="1">
                <a:solidFill>
                  <a:schemeClr val="dk1"/>
                </a:solidFill>
                <a:latin typeface="Tahoma"/>
                <a:ea typeface="Tahoma"/>
                <a:cs typeface="Tahoma"/>
                <a:sym typeface="Tahoma"/>
              </a:rPr>
              <a:t>       return "" + 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p:txBody>
      </p:sp>
      <p:sp>
        <p:nvSpPr>
          <p:cNvPr id="488" name="Google Shape;488;p47"/>
          <p:cNvSpPr/>
          <p:nvPr/>
        </p:nvSpPr>
        <p:spPr>
          <a:xfrm>
            <a:off x="1371600" y="304800"/>
            <a:ext cx="6400800" cy="5334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Writing compareTo()</a:t>
            </a:r>
          </a:p>
        </p:txBody>
      </p:sp>
      <p:sp>
        <p:nvSpPr>
          <p:cNvPr id="489" name="Google Shape;489;p47"/>
          <p:cNvSpPr txBox="1"/>
          <p:nvPr/>
        </p:nvSpPr>
        <p:spPr>
          <a:xfrm>
            <a:off x="5943600" y="4038600"/>
            <a:ext cx="2971800" cy="1563688"/>
          </a:xfrm>
          <a:prstGeom prst="rect">
            <a:avLst/>
          </a:prstGeom>
          <a:noFill/>
          <a:ln w="9525" cap="flat" cmpd="sng">
            <a:solidFill>
              <a:srgbClr val="00CC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CC00"/>
                </a:solidFill>
                <a:latin typeface="Tahoma"/>
                <a:ea typeface="Tahoma"/>
                <a:cs typeface="Tahoma"/>
                <a:sym typeface="Tahoma"/>
              </a:rPr>
              <a:t>The abstract</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becomes</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concrete.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8"/>
          <p:cNvSpPr/>
          <p:nvPr/>
        </p:nvSpPr>
        <p:spPr>
          <a:xfrm>
            <a:off x="0" y="2759075"/>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95" name="Google Shape;495;p48"/>
          <p:cNvSpPr/>
          <p:nvPr/>
        </p:nvSpPr>
        <p:spPr>
          <a:xfrm>
            <a:off x="0" y="3825875"/>
            <a:ext cx="279400" cy="27463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  </a:t>
            </a:r>
            <a:endParaRPr sz="2400">
              <a:solidFill>
                <a:schemeClr val="dk1"/>
              </a:solidFill>
              <a:latin typeface="Times New Roman"/>
              <a:ea typeface="Times New Roman"/>
              <a:cs typeface="Times New Roman"/>
              <a:sym typeface="Times New Roman"/>
            </a:endParaRPr>
          </a:p>
        </p:txBody>
      </p:sp>
      <p:sp>
        <p:nvSpPr>
          <p:cNvPr id="496" name="Google Shape;496;p48"/>
          <p:cNvSpPr txBox="1"/>
          <p:nvPr/>
        </p:nvSpPr>
        <p:spPr>
          <a:xfrm>
            <a:off x="1066800" y="2209800"/>
            <a:ext cx="184150"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497" name="Google Shape;497;p48"/>
          <p:cNvSpPr txBox="1"/>
          <p:nvPr/>
        </p:nvSpPr>
        <p:spPr>
          <a:xfrm>
            <a:off x="1219200" y="990600"/>
            <a:ext cx="7772400" cy="47089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ahoma"/>
                <a:ea typeface="Tahoma"/>
                <a:cs typeface="Tahoma"/>
                <a:sym typeface="Tahoma"/>
              </a:rPr>
              <a:t>public class Creature </a:t>
            </a:r>
            <a:r>
              <a:rPr lang="en-US" sz="2000" b="1">
                <a:solidFill>
                  <a:schemeClr val="accent2"/>
                </a:solidFill>
                <a:latin typeface="Tahoma"/>
                <a:ea typeface="Tahoma"/>
                <a:cs typeface="Tahoma"/>
                <a:sym typeface="Tahoma"/>
              </a:rPr>
              <a:t>implements</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Comparable&lt;Creature&gt;</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private int size;</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Creature(int girth) { size=girth;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int </a:t>
            </a:r>
            <a:r>
              <a:rPr lang="en-US" sz="2000" b="1">
                <a:solidFill>
                  <a:srgbClr val="7030A0"/>
                </a:solidFill>
                <a:latin typeface="Tahoma"/>
                <a:ea typeface="Tahoma"/>
                <a:cs typeface="Tahoma"/>
                <a:sym typeface="Tahoma"/>
              </a:rPr>
              <a:t>compareTo</a:t>
            </a:r>
            <a:r>
              <a:rPr lang="en-US" sz="2000" b="1">
                <a:solidFill>
                  <a:schemeClr val="dk1"/>
                </a:solidFill>
                <a:latin typeface="Tahoma"/>
                <a:ea typeface="Tahoma"/>
                <a:cs typeface="Tahoma"/>
                <a:sym typeface="Tahoma"/>
              </a:rPr>
              <a:t>(</a:t>
            </a:r>
            <a:r>
              <a:rPr lang="en-US" sz="2000" b="1">
                <a:solidFill>
                  <a:srgbClr val="7030A0"/>
                </a:solidFill>
                <a:latin typeface="Tahoma"/>
                <a:ea typeface="Tahoma"/>
                <a:cs typeface="Tahoma"/>
                <a:sym typeface="Tahoma"/>
              </a:rPr>
              <a:t>Creature other</a:t>
            </a: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this.size - other.size;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String toString() { </a:t>
            </a:r>
            <a:br>
              <a:rPr lang="en-US" sz="2000" b="1">
                <a:solidFill>
                  <a:schemeClr val="dk1"/>
                </a:solidFill>
                <a:latin typeface="Tahoma"/>
                <a:ea typeface="Tahoma"/>
                <a:cs typeface="Tahoma"/>
                <a:sym typeface="Tahoma"/>
              </a:rPr>
            </a:br>
            <a:r>
              <a:rPr lang="en-US" sz="2000" b="1">
                <a:solidFill>
                  <a:schemeClr val="dk1"/>
                </a:solidFill>
                <a:latin typeface="Tahoma"/>
                <a:ea typeface="Tahoma"/>
                <a:cs typeface="Tahoma"/>
                <a:sym typeface="Tahoma"/>
              </a:rPr>
              <a:t>       return "" + 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p:txBody>
      </p:sp>
      <p:sp>
        <p:nvSpPr>
          <p:cNvPr id="498" name="Google Shape;498;p48"/>
          <p:cNvSpPr/>
          <p:nvPr/>
        </p:nvSpPr>
        <p:spPr>
          <a:xfrm>
            <a:off x="1371600" y="304800"/>
            <a:ext cx="6400800" cy="5334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Writing compareTo()</a:t>
            </a:r>
          </a:p>
        </p:txBody>
      </p:sp>
      <p:sp>
        <p:nvSpPr>
          <p:cNvPr id="499" name="Google Shape;499;p48"/>
          <p:cNvSpPr txBox="1"/>
          <p:nvPr/>
        </p:nvSpPr>
        <p:spPr>
          <a:xfrm>
            <a:off x="5943600" y="4038600"/>
            <a:ext cx="2971800" cy="1563688"/>
          </a:xfrm>
          <a:prstGeom prst="rect">
            <a:avLst/>
          </a:prstGeom>
          <a:noFill/>
          <a:ln w="9525" cap="flat" cmpd="sng">
            <a:solidFill>
              <a:srgbClr val="00CC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CC00"/>
                </a:solidFill>
                <a:latin typeface="Tahoma"/>
                <a:ea typeface="Tahoma"/>
                <a:cs typeface="Tahoma"/>
                <a:sym typeface="Tahoma"/>
              </a:rPr>
              <a:t>The abstract</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becomes</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concrete.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9"/>
          <p:cNvSpPr/>
          <p:nvPr/>
        </p:nvSpPr>
        <p:spPr>
          <a:xfrm>
            <a:off x="0" y="2759075"/>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505" name="Google Shape;505;p49"/>
          <p:cNvSpPr/>
          <p:nvPr/>
        </p:nvSpPr>
        <p:spPr>
          <a:xfrm>
            <a:off x="0" y="3825875"/>
            <a:ext cx="279400" cy="27463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  </a:t>
            </a:r>
            <a:endParaRPr sz="2400">
              <a:solidFill>
                <a:schemeClr val="dk1"/>
              </a:solidFill>
              <a:latin typeface="Times New Roman"/>
              <a:ea typeface="Times New Roman"/>
              <a:cs typeface="Times New Roman"/>
              <a:sym typeface="Times New Roman"/>
            </a:endParaRPr>
          </a:p>
        </p:txBody>
      </p:sp>
      <p:sp>
        <p:nvSpPr>
          <p:cNvPr id="506" name="Google Shape;506;p49"/>
          <p:cNvSpPr txBox="1"/>
          <p:nvPr/>
        </p:nvSpPr>
        <p:spPr>
          <a:xfrm>
            <a:off x="1066800" y="2209800"/>
            <a:ext cx="184150"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507" name="Google Shape;507;p49"/>
          <p:cNvSpPr txBox="1"/>
          <p:nvPr/>
        </p:nvSpPr>
        <p:spPr>
          <a:xfrm>
            <a:off x="1219200" y="990600"/>
            <a:ext cx="6011863" cy="55784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ahoma"/>
                <a:ea typeface="Tahoma"/>
                <a:cs typeface="Tahoma"/>
                <a:sym typeface="Tahoma"/>
              </a:rPr>
              <a:t>public class Creature </a:t>
            </a:r>
            <a:r>
              <a:rPr lang="en-US" sz="2000" b="1">
                <a:solidFill>
                  <a:schemeClr val="accent2"/>
                </a:solidFill>
                <a:latin typeface="Tahoma"/>
                <a:ea typeface="Tahoma"/>
                <a:cs typeface="Tahoma"/>
                <a:sym typeface="Tahoma"/>
              </a:rPr>
              <a:t>implements</a:t>
            </a:r>
            <a:r>
              <a:rPr lang="en-US" sz="2000" b="1">
                <a:solidFill>
                  <a:schemeClr val="dk1"/>
                </a:solidFill>
                <a:latin typeface="Tahoma"/>
                <a:ea typeface="Tahoma"/>
                <a:cs typeface="Tahoma"/>
                <a:sym typeface="Tahoma"/>
              </a:rPr>
              <a:t> Comparable</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private int size;</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Creature(int girth) { size=girth;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int </a:t>
            </a:r>
            <a:r>
              <a:rPr lang="en-US" sz="2000" b="1">
                <a:solidFill>
                  <a:srgbClr val="7030A0"/>
                </a:solidFill>
                <a:latin typeface="Tahoma"/>
                <a:ea typeface="Tahoma"/>
                <a:cs typeface="Tahoma"/>
                <a:sym typeface="Tahoma"/>
              </a:rPr>
              <a:t>compareTo</a:t>
            </a:r>
            <a:r>
              <a:rPr lang="en-US" sz="2000" b="1">
                <a:solidFill>
                  <a:schemeClr val="dk1"/>
                </a:solidFill>
                <a:latin typeface="Tahoma"/>
                <a:ea typeface="Tahoma"/>
                <a:cs typeface="Tahoma"/>
                <a:sym typeface="Tahoma"/>
              </a:rPr>
              <a:t>(</a:t>
            </a:r>
            <a:r>
              <a:rPr lang="en-US" sz="2000" b="1">
                <a:solidFill>
                  <a:srgbClr val="7030A0"/>
                </a:solidFill>
                <a:latin typeface="Tahoma"/>
                <a:ea typeface="Tahoma"/>
                <a:cs typeface="Tahoma"/>
                <a:sym typeface="Tahoma"/>
              </a:rPr>
              <a:t>Object</a:t>
            </a:r>
            <a:r>
              <a:rPr lang="en-US" sz="2000" b="1">
                <a:solidFill>
                  <a:schemeClr val="dk1"/>
                </a:solidFill>
                <a:latin typeface="Tahoma"/>
                <a:ea typeface="Tahoma"/>
                <a:cs typeface="Tahoma"/>
                <a:sym typeface="Tahoma"/>
              </a:rPr>
              <a:t> </a:t>
            </a:r>
            <a:r>
              <a:rPr lang="en-US" sz="2000" b="1">
                <a:solidFill>
                  <a:srgbClr val="7030A0"/>
                </a:solidFill>
                <a:latin typeface="Tahoma"/>
                <a:ea typeface="Tahoma"/>
                <a:cs typeface="Tahoma"/>
                <a:sym typeface="Tahoma"/>
              </a:rPr>
              <a:t>obj</a:t>
            </a: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000" b="1">
                <a:solidFill>
                  <a:srgbClr val="7030A0"/>
                </a:solidFill>
                <a:latin typeface="Tahoma"/>
                <a:ea typeface="Tahoma"/>
                <a:cs typeface="Tahoma"/>
                <a:sym typeface="Tahoma"/>
              </a:rPr>
              <a:t>     Creature other = (Creature)obj;</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if(size&gt;other.size)</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1;</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else if(size&lt;other.size)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-1;</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return 0;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a:t>
            </a:r>
            <a:endParaRPr/>
          </a:p>
          <a:p>
            <a:pPr marL="0" marR="0" lvl="0" indent="0" algn="l" rtl="0">
              <a:spcBef>
                <a:spcPts val="0"/>
              </a:spcBef>
              <a:spcAft>
                <a:spcPts val="0"/>
              </a:spcAft>
              <a:buNone/>
            </a:pPr>
            <a:endParaRPr sz="2000" b="1">
              <a:solidFill>
                <a:schemeClr val="dk1"/>
              </a:solidFill>
              <a:latin typeface="Tahoma"/>
              <a:ea typeface="Tahoma"/>
              <a:cs typeface="Tahoma"/>
              <a:sym typeface="Tahoma"/>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  public String toString() { return "" + size; }</a:t>
            </a:r>
            <a:endParaRPr/>
          </a:p>
          <a:p>
            <a:pPr marL="0" marR="0" lvl="0" indent="0" algn="l" rtl="0">
              <a:spcBef>
                <a:spcPts val="0"/>
              </a:spcBef>
              <a:spcAft>
                <a:spcPts val="0"/>
              </a:spcAft>
              <a:buNone/>
            </a:pPr>
            <a:r>
              <a:rPr lang="en-US" sz="2000" b="1">
                <a:solidFill>
                  <a:schemeClr val="dk1"/>
                </a:solidFill>
                <a:latin typeface="Tahoma"/>
                <a:ea typeface="Tahoma"/>
                <a:cs typeface="Tahoma"/>
                <a:sym typeface="Tahoma"/>
              </a:rPr>
              <a:t>}</a:t>
            </a:r>
            <a:endParaRPr/>
          </a:p>
        </p:txBody>
      </p:sp>
      <p:sp>
        <p:nvSpPr>
          <p:cNvPr id="508" name="Google Shape;508;p49"/>
          <p:cNvSpPr/>
          <p:nvPr/>
        </p:nvSpPr>
        <p:spPr>
          <a:xfrm>
            <a:off x="1371600" y="304800"/>
            <a:ext cx="6400800" cy="5334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Writing compareTo()</a:t>
            </a:r>
          </a:p>
        </p:txBody>
      </p:sp>
      <p:sp>
        <p:nvSpPr>
          <p:cNvPr id="509" name="Google Shape;509;p49"/>
          <p:cNvSpPr txBox="1"/>
          <p:nvPr/>
        </p:nvSpPr>
        <p:spPr>
          <a:xfrm>
            <a:off x="5943600" y="4038600"/>
            <a:ext cx="2971800" cy="1563688"/>
          </a:xfrm>
          <a:prstGeom prst="rect">
            <a:avLst/>
          </a:prstGeom>
          <a:noFill/>
          <a:ln w="9525" cap="flat" cmpd="sng">
            <a:solidFill>
              <a:srgbClr val="00CC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CC00"/>
                </a:solidFill>
                <a:latin typeface="Tahoma"/>
                <a:ea typeface="Tahoma"/>
                <a:cs typeface="Tahoma"/>
                <a:sym typeface="Tahoma"/>
              </a:rPr>
              <a:t>The abstract</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becomes</a:t>
            </a:r>
            <a:br>
              <a:rPr lang="en-US" sz="3200" b="1">
                <a:solidFill>
                  <a:srgbClr val="00CC00"/>
                </a:solidFill>
                <a:latin typeface="Tahoma"/>
                <a:ea typeface="Tahoma"/>
                <a:cs typeface="Tahoma"/>
                <a:sym typeface="Tahoma"/>
              </a:rPr>
            </a:br>
            <a:r>
              <a:rPr lang="en-US" sz="3200" b="1">
                <a:solidFill>
                  <a:srgbClr val="00CC00"/>
                </a:solidFill>
                <a:latin typeface="Tahoma"/>
                <a:ea typeface="Tahoma"/>
                <a:cs typeface="Tahoma"/>
                <a:sym typeface="Tahoma"/>
              </a:rPr>
              <a:t>concrete.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0"/>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15" name="Google Shape;515;p50"/>
          <p:cNvSpPr/>
          <p:nvPr/>
        </p:nvSpPr>
        <p:spPr>
          <a:xfrm>
            <a:off x="685800" y="1066800"/>
            <a:ext cx="7620000" cy="45720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How Java </a:t>
            </a:r>
            <a:br>
              <a:rPr b="0" i="0">
                <a:ln w="9525" cap="flat" cmpd="sng">
                  <a:solidFill>
                    <a:srgbClr val="FFFF00"/>
                  </a:solidFill>
                  <a:prstDash val="solid"/>
                  <a:round/>
                  <a:headEnd type="none" w="sm" len="sm"/>
                  <a:tailEnd type="none" w="sm" len="sm"/>
                </a:ln>
                <a:solidFill>
                  <a:srgbClr val="0000FF"/>
                </a:solidFill>
                <a:latin typeface="Impact"/>
              </a:rPr>
            </a:br>
            <a:r>
              <a:rPr b="0" i="0">
                <a:ln w="9525" cap="flat" cmpd="sng">
                  <a:solidFill>
                    <a:srgbClr val="FFFF00"/>
                  </a:solidFill>
                  <a:prstDash val="solid"/>
                  <a:round/>
                  <a:headEnd type="none" w="sm" len="sm"/>
                  <a:tailEnd type="none" w="sm" len="sm"/>
                </a:ln>
                <a:solidFill>
                  <a:srgbClr val="0000FF"/>
                </a:solidFill>
                <a:latin typeface="Impact"/>
              </a:rPr>
              <a:t>uses</a:t>
            </a:r>
            <a:br>
              <a:rPr b="0" i="0">
                <a:ln w="9525" cap="flat" cmpd="sng">
                  <a:solidFill>
                    <a:srgbClr val="FFFF00"/>
                  </a:solidFill>
                  <a:prstDash val="solid"/>
                  <a:round/>
                  <a:headEnd type="none" w="sm" len="sm"/>
                  <a:tailEnd type="none" w="sm" len="sm"/>
                </a:ln>
                <a:solidFill>
                  <a:srgbClr val="0000FF"/>
                </a:solidFill>
                <a:latin typeface="Impact"/>
              </a:rPr>
            </a:br>
            <a:r>
              <a:rPr b="0" i="0">
                <a:ln w="9525" cap="flat" cmpd="sng">
                  <a:solidFill>
                    <a:srgbClr val="FFFF00"/>
                  </a:solidFill>
                  <a:prstDash val="solid"/>
                  <a:round/>
                  <a:headEnd type="none" w="sm" len="sm"/>
                  <a:tailEnd type="none" w="sm" len="sm"/>
                </a:ln>
                <a:solidFill>
                  <a:srgbClr val="0000FF"/>
                </a:solidFill>
                <a:latin typeface="Impact"/>
              </a:rPr>
              <a:t>Comparable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1"/>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21" name="Google Shape;521;p51"/>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Why use an interface?</a:t>
            </a:r>
          </a:p>
        </p:txBody>
      </p:sp>
      <p:sp>
        <p:nvSpPr>
          <p:cNvPr id="522" name="Google Shape;522;p51"/>
          <p:cNvSpPr txBox="1"/>
          <p:nvPr/>
        </p:nvSpPr>
        <p:spPr>
          <a:xfrm>
            <a:off x="685800" y="2057400"/>
            <a:ext cx="7891463" cy="31400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If an entire hierarchy of classes</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implements the same interface,</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you can write very generic code</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to manipulate any of those</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classes.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2"/>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28" name="Google Shape;528;p52"/>
          <p:cNvSpPr txBox="1"/>
          <p:nvPr/>
        </p:nvSpPr>
        <p:spPr>
          <a:xfrm>
            <a:off x="838200" y="1981200"/>
            <a:ext cx="7583488" cy="4359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Comparable[] list =  </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                new Comparable[25];</a:t>
            </a:r>
            <a:endParaRPr/>
          </a:p>
          <a:p>
            <a:pPr marL="0" marR="0" lvl="0" indent="0" algn="l" rtl="0">
              <a:spcBef>
                <a:spcPts val="0"/>
              </a:spcBef>
              <a:spcAft>
                <a:spcPts val="0"/>
              </a:spcAft>
              <a:buNone/>
            </a:pPr>
            <a:br>
              <a:rPr lang="en-US" sz="4000" b="1">
                <a:solidFill>
                  <a:schemeClr val="dk1"/>
                </a:solidFill>
                <a:latin typeface="Arial"/>
                <a:ea typeface="Arial"/>
                <a:cs typeface="Arial"/>
                <a:sym typeface="Arial"/>
              </a:rPr>
            </a:br>
            <a:r>
              <a:rPr lang="en-US" sz="4000" b="1">
                <a:solidFill>
                  <a:srgbClr val="00CC00"/>
                </a:solidFill>
                <a:latin typeface="Arial"/>
                <a:ea typeface="Arial"/>
                <a:cs typeface="Arial"/>
                <a:sym typeface="Arial"/>
              </a:rPr>
              <a:t>//load with Comparables</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Arrays.sort(list);</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  </a:t>
            </a:r>
            <a:endParaRPr/>
          </a:p>
        </p:txBody>
      </p:sp>
      <p:sp>
        <p:nvSpPr>
          <p:cNvPr id="529" name="Google Shape;529;p52"/>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3"/>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35" name="Google Shape;535;p53"/>
          <p:cNvSpPr txBox="1"/>
          <p:nvPr/>
        </p:nvSpPr>
        <p:spPr>
          <a:xfrm>
            <a:off x="914400" y="2209800"/>
            <a:ext cx="7410450" cy="25304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Arrays.sort() will use the </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compareTo() method of each</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object when sorting the array.</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  </a:t>
            </a:r>
            <a:endParaRPr/>
          </a:p>
        </p:txBody>
      </p:sp>
      <p:sp>
        <p:nvSpPr>
          <p:cNvPr id="536" name="Google Shape;536;p53"/>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4"/>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Arrays Sort Method</a:t>
            </a:r>
          </a:p>
        </p:txBody>
      </p:sp>
      <p:sp>
        <p:nvSpPr>
          <p:cNvPr id="542" name="Google Shape;542;p54"/>
          <p:cNvSpPr/>
          <p:nvPr/>
        </p:nvSpPr>
        <p:spPr>
          <a:xfrm>
            <a:off x="685800" y="1905000"/>
            <a:ext cx="8191500" cy="4031873"/>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53833"/>
              </a:buClr>
              <a:buSzPts val="3200"/>
              <a:buFont typeface="Arimo"/>
              <a:buNone/>
            </a:pPr>
            <a:r>
              <a:rPr lang="en-US" sz="3200" b="1" i="0" u="none" strike="noStrike" cap="none">
                <a:solidFill>
                  <a:srgbClr val="353833"/>
                </a:solidFill>
                <a:latin typeface="Arimo"/>
                <a:ea typeface="Arimo"/>
                <a:cs typeface="Arimo"/>
                <a:sym typeface="Arimo"/>
              </a:rPr>
              <a:t>public static void sort(</a:t>
            </a:r>
            <a:r>
              <a:rPr lang="en-US" sz="3200" b="1" i="0" u="none" strike="noStrike" cap="none">
                <a:solidFill>
                  <a:srgbClr val="4C6B87"/>
                </a:solidFill>
                <a:latin typeface="Arimo"/>
                <a:ea typeface="Arimo"/>
                <a:cs typeface="Arimo"/>
                <a:sym typeface="Arimo"/>
              </a:rPr>
              <a:t>Object</a:t>
            </a:r>
            <a:r>
              <a:rPr lang="en-US" sz="3200" b="1" i="0" u="none" strike="noStrike" cap="none">
                <a:solidFill>
                  <a:srgbClr val="353833"/>
                </a:solidFill>
                <a:latin typeface="Arimo"/>
                <a:ea typeface="Arimo"/>
                <a:cs typeface="Arimo"/>
                <a:sym typeface="Arimo"/>
              </a:rPr>
              <a:t>[] a)</a:t>
            </a:r>
            <a:endParaRPr sz="32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200"/>
              <a:buFont typeface="Arial"/>
              <a:buNone/>
            </a:pPr>
            <a:endParaRPr sz="3200" b="0" i="0" u="none" strike="noStrike" cap="none">
              <a:solidFill>
                <a:srgbClr val="353833"/>
              </a:solidFill>
              <a:latin typeface="Arial"/>
              <a:ea typeface="Arial"/>
              <a:cs typeface="Arial"/>
              <a:sym typeface="Arial"/>
            </a:endParaRPr>
          </a:p>
          <a:p>
            <a:pPr marL="0" marR="0" lvl="0" indent="0" algn="l" rtl="0">
              <a:lnSpc>
                <a:spcPct val="100000"/>
              </a:lnSpc>
              <a:spcBef>
                <a:spcPts val="0"/>
              </a:spcBef>
              <a:spcAft>
                <a:spcPts val="0"/>
              </a:spcAft>
              <a:buClr>
                <a:srgbClr val="353833"/>
              </a:buClr>
              <a:buSzPts val="3200"/>
              <a:buFont typeface="Arial"/>
              <a:buNone/>
            </a:pPr>
            <a:r>
              <a:rPr lang="en-US" sz="3200" b="0" i="0" u="none" strike="noStrike" cap="none">
                <a:solidFill>
                  <a:srgbClr val="353833"/>
                </a:solidFill>
                <a:latin typeface="Arial"/>
                <a:ea typeface="Arial"/>
                <a:cs typeface="Arial"/>
                <a:sym typeface="Arial"/>
              </a:rPr>
              <a:t>All elements in the array must implement the </a:t>
            </a:r>
            <a:r>
              <a:rPr lang="en-US" sz="3200" b="0" i="0" u="none" strike="noStrike" cap="none">
                <a:solidFill>
                  <a:srgbClr val="4C6B87"/>
                </a:solidFill>
                <a:latin typeface="Arimo"/>
                <a:ea typeface="Arimo"/>
                <a:cs typeface="Arimo"/>
                <a:sym typeface="Arimo"/>
              </a:rPr>
              <a:t>Comparable</a:t>
            </a:r>
            <a:r>
              <a:rPr lang="en-US" sz="3200" b="0" i="0" u="none" strike="noStrike" cap="none">
                <a:solidFill>
                  <a:srgbClr val="353833"/>
                </a:solidFill>
                <a:latin typeface="Arial"/>
                <a:ea typeface="Arial"/>
                <a:cs typeface="Arial"/>
                <a:sym typeface="Arial"/>
              </a:rPr>
              <a:t> interface. Furthermore, all elements in the array must be </a:t>
            </a:r>
            <a:r>
              <a:rPr lang="en-US" sz="3200" b="0" i="1" u="none" strike="noStrike" cap="none">
                <a:solidFill>
                  <a:srgbClr val="353833"/>
                </a:solidFill>
                <a:latin typeface="Arial"/>
                <a:ea typeface="Arial"/>
                <a:cs typeface="Arial"/>
                <a:sym typeface="Arial"/>
              </a:rPr>
              <a:t>mutually comparable</a:t>
            </a:r>
            <a:r>
              <a:rPr lang="en-US" sz="3200" b="0" i="0" u="none" strike="noStrike" cap="none">
                <a:solidFill>
                  <a:srgbClr val="353833"/>
                </a:solidFill>
                <a:latin typeface="Arial"/>
                <a:ea typeface="Arial"/>
                <a:cs typeface="Arial"/>
                <a:sym typeface="Arial"/>
              </a:rPr>
              <a:t> (that is, </a:t>
            </a:r>
            <a:r>
              <a:rPr lang="en-US" sz="3200" b="0" i="0" u="none" strike="noStrike" cap="none">
                <a:solidFill>
                  <a:srgbClr val="353833"/>
                </a:solidFill>
                <a:latin typeface="Arimo"/>
                <a:ea typeface="Arimo"/>
                <a:cs typeface="Arimo"/>
                <a:sym typeface="Arimo"/>
              </a:rPr>
              <a:t>e1.compareTo(e2)</a:t>
            </a:r>
            <a:r>
              <a:rPr lang="en-US" sz="3200" b="0" i="0" u="none" strike="noStrike" cap="none">
                <a:solidFill>
                  <a:srgbClr val="353833"/>
                </a:solidFill>
                <a:latin typeface="Arial"/>
                <a:ea typeface="Arial"/>
                <a:cs typeface="Arial"/>
                <a:sym typeface="Arial"/>
              </a:rPr>
              <a:t> must not throw a </a:t>
            </a:r>
            <a:r>
              <a:rPr lang="en-US" sz="3200" b="0" i="0" u="none" strike="noStrike" cap="none">
                <a:solidFill>
                  <a:srgbClr val="353833"/>
                </a:solidFill>
                <a:latin typeface="Arimo"/>
                <a:ea typeface="Arimo"/>
                <a:cs typeface="Arimo"/>
                <a:sym typeface="Arimo"/>
              </a:rPr>
              <a:t>ClassCastException</a:t>
            </a:r>
            <a:r>
              <a:rPr lang="en-US" sz="3200" b="0" i="0" u="none" strike="noStrike" cap="none">
                <a:solidFill>
                  <a:srgbClr val="353833"/>
                </a:solidFill>
                <a:latin typeface="Arial"/>
                <a:ea typeface="Arial"/>
                <a:cs typeface="Arial"/>
                <a:sym typeface="Arial"/>
              </a:rPr>
              <a:t> for any elements </a:t>
            </a:r>
            <a:r>
              <a:rPr lang="en-US" sz="3200" b="0" i="0" u="none" strike="noStrike" cap="none">
                <a:solidFill>
                  <a:srgbClr val="353833"/>
                </a:solidFill>
                <a:latin typeface="Arimo"/>
                <a:ea typeface="Arimo"/>
                <a:cs typeface="Arimo"/>
                <a:sym typeface="Arimo"/>
              </a:rPr>
              <a:t>e1</a:t>
            </a:r>
            <a:r>
              <a:rPr lang="en-US" sz="3200" b="0" i="0" u="none" strike="noStrike" cap="none">
                <a:solidFill>
                  <a:srgbClr val="353833"/>
                </a:solidFill>
                <a:latin typeface="Arial"/>
                <a:ea typeface="Arial"/>
                <a:cs typeface="Arial"/>
                <a:sym typeface="Arial"/>
              </a:rPr>
              <a:t> and </a:t>
            </a:r>
            <a:r>
              <a:rPr lang="en-US" sz="3200" b="0" i="0" u="none" strike="noStrike" cap="none">
                <a:solidFill>
                  <a:srgbClr val="353833"/>
                </a:solidFill>
                <a:latin typeface="Arimo"/>
                <a:ea typeface="Arimo"/>
                <a:cs typeface="Arimo"/>
                <a:sym typeface="Arimo"/>
              </a:rPr>
              <a:t>e2</a:t>
            </a:r>
            <a:r>
              <a:rPr lang="en-US" sz="3200" b="0" i="0" u="none" strike="noStrike" cap="none">
                <a:solidFill>
                  <a:srgbClr val="353833"/>
                </a:solidFill>
                <a:latin typeface="Arial"/>
                <a:ea typeface="Arial"/>
                <a:cs typeface="Arial"/>
                <a:sym typeface="Arial"/>
              </a:rPr>
              <a:t> in the array).</a:t>
            </a:r>
            <a:endParaRPr sz="3200" b="0" i="0" u="none" strike="noStrike" cap="none">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5"/>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48" name="Google Shape;548;p55"/>
          <p:cNvSpPr txBox="1"/>
          <p:nvPr/>
        </p:nvSpPr>
        <p:spPr>
          <a:xfrm>
            <a:off x="457200" y="1828800"/>
            <a:ext cx="6737350" cy="3263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ahoma"/>
                <a:ea typeface="Tahoma"/>
                <a:cs typeface="Tahoma"/>
                <a:sym typeface="Tahoma"/>
              </a:rPr>
              <a:t>Comparable[] list =  {3,8,7,6,5,4,9};</a:t>
            </a:r>
            <a:endParaRPr/>
          </a:p>
          <a:p>
            <a:pPr marL="0" marR="0" lvl="0" indent="0" algn="l" rtl="0">
              <a:spcBef>
                <a:spcPts val="0"/>
              </a:spcBef>
              <a:spcAft>
                <a:spcPts val="0"/>
              </a:spcAft>
              <a:buNone/>
            </a:pPr>
            <a:r>
              <a:rPr lang="en-US" sz="2800" b="1">
                <a:solidFill>
                  <a:schemeClr val="dk1"/>
                </a:solidFill>
                <a:latin typeface="Tahoma"/>
                <a:ea typeface="Tahoma"/>
                <a:cs typeface="Tahoma"/>
                <a:sym typeface="Tahoma"/>
              </a:rPr>
              <a:t>Arrays.sort(list); </a:t>
            </a:r>
            <a:endParaRPr/>
          </a:p>
          <a:p>
            <a:pPr marL="0" marR="0" lvl="0" indent="0" algn="l" rtl="0">
              <a:spcBef>
                <a:spcPts val="0"/>
              </a:spcBef>
              <a:spcAft>
                <a:spcPts val="0"/>
              </a:spcAft>
              <a:buNone/>
            </a:pPr>
            <a:r>
              <a:rPr lang="en-US" sz="2800" b="1">
                <a:solidFill>
                  <a:schemeClr val="dk1"/>
                </a:solidFill>
                <a:latin typeface="Tahoma"/>
                <a:ea typeface="Tahoma"/>
                <a:cs typeface="Tahoma"/>
                <a:sym typeface="Tahoma"/>
              </a:rPr>
              <a:t>for(Comparable num : list)</a:t>
            </a:r>
            <a:endParaRPr/>
          </a:p>
          <a:p>
            <a:pPr marL="0" marR="0" lvl="0" indent="0" algn="l" rtl="0">
              <a:spcBef>
                <a:spcPts val="0"/>
              </a:spcBef>
              <a:spcAft>
                <a:spcPts val="0"/>
              </a:spcAft>
              <a:buNone/>
            </a:pPr>
            <a:r>
              <a:rPr lang="en-US" sz="28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2800" b="1">
                <a:solidFill>
                  <a:schemeClr val="dk1"/>
                </a:solidFill>
                <a:latin typeface="Tahoma"/>
                <a:ea typeface="Tahoma"/>
                <a:cs typeface="Tahoma"/>
                <a:sym typeface="Tahoma"/>
              </a:rPr>
              <a:t>   out.println(num);</a:t>
            </a:r>
            <a:endParaRPr/>
          </a:p>
          <a:p>
            <a:pPr marL="0" marR="0" lvl="0" indent="0" algn="l" rtl="0">
              <a:spcBef>
                <a:spcPts val="0"/>
              </a:spcBef>
              <a:spcAft>
                <a:spcPts val="0"/>
              </a:spcAft>
              <a:buNone/>
            </a:pPr>
            <a:r>
              <a:rPr lang="en-US" sz="2800" b="1">
                <a:solidFill>
                  <a:schemeClr val="dk1"/>
                </a:solidFill>
                <a:latin typeface="Tahoma"/>
                <a:ea typeface="Tahoma"/>
                <a:cs typeface="Tahoma"/>
                <a:sym typeface="Tahoma"/>
              </a:rPr>
              <a:t>}</a:t>
            </a:r>
            <a:endParaRPr sz="40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  </a:t>
            </a:r>
            <a:endParaRPr/>
          </a:p>
        </p:txBody>
      </p:sp>
      <p:sp>
        <p:nvSpPr>
          <p:cNvPr id="549" name="Google Shape;549;p55"/>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550" name="Google Shape;550;p55"/>
          <p:cNvSpPr txBox="1"/>
          <p:nvPr/>
        </p:nvSpPr>
        <p:spPr>
          <a:xfrm>
            <a:off x="7010400" y="2438400"/>
            <a:ext cx="1905000" cy="4003675"/>
          </a:xfrm>
          <a:prstGeom prst="rect">
            <a:avLst/>
          </a:prstGeom>
          <a:noFill/>
          <a:ln w="12700" cap="flat" cmpd="sng">
            <a:solidFill>
              <a:srgbClr val="99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u="sng">
                <a:solidFill>
                  <a:srgbClr val="FF0000"/>
                </a:solidFill>
                <a:latin typeface="Tahoma"/>
                <a:ea typeface="Tahoma"/>
                <a:cs typeface="Tahoma"/>
                <a:sym typeface="Tahoma"/>
              </a:rPr>
              <a:t>OUTPUT</a:t>
            </a:r>
            <a:r>
              <a:rPr lang="en-US" sz="3200" b="1">
                <a:solidFill>
                  <a:schemeClr val="dk1"/>
                </a:solidFill>
                <a:latin typeface="Tahoma"/>
                <a:ea typeface="Tahoma"/>
                <a:cs typeface="Tahoma"/>
                <a:sym typeface="Tahoma"/>
              </a:rPr>
              <a:t>3</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4</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5</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6</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7</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8</a:t>
            </a:r>
            <a:br>
              <a:rPr lang="en-US" sz="3200" b="1">
                <a:solidFill>
                  <a:schemeClr val="dk1"/>
                </a:solidFill>
                <a:latin typeface="Tahoma"/>
                <a:ea typeface="Tahoma"/>
                <a:cs typeface="Tahoma"/>
                <a:sym typeface="Tahoma"/>
              </a:rPr>
            </a:br>
            <a:r>
              <a:rPr lang="en-US" sz="3200" b="1">
                <a:solidFill>
                  <a:schemeClr val="dk1"/>
                </a:solidFill>
                <a:latin typeface="Tahoma"/>
                <a:ea typeface="Tahoma"/>
                <a:cs typeface="Tahoma"/>
                <a:sym typeface="Tahoma"/>
              </a:rPr>
              <a:t>9</a:t>
            </a:r>
            <a:endParaRPr/>
          </a:p>
        </p:txBody>
      </p:sp>
      <p:sp>
        <p:nvSpPr>
          <p:cNvPr id="551" name="Google Shape;551;p55"/>
          <p:cNvSpPr txBox="1"/>
          <p:nvPr/>
        </p:nvSpPr>
        <p:spPr>
          <a:xfrm>
            <a:off x="914400" y="5410200"/>
            <a:ext cx="730250"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ahoma"/>
                <a:ea typeface="Tahoma"/>
                <a:cs typeface="Tahoma"/>
                <a:sym typeface="Tahoma"/>
              </a:rPr>
              <a:t>list</a:t>
            </a:r>
            <a:endParaRPr/>
          </a:p>
        </p:txBody>
      </p:sp>
      <p:graphicFrame>
        <p:nvGraphicFramePr>
          <p:cNvPr id="552" name="Google Shape;552;p55"/>
          <p:cNvGraphicFramePr/>
          <p:nvPr/>
        </p:nvGraphicFramePr>
        <p:xfrm>
          <a:off x="1844675" y="5334000"/>
          <a:ext cx="4746625" cy="584200"/>
        </p:xfrm>
        <a:graphic>
          <a:graphicData uri="http://schemas.openxmlformats.org/drawingml/2006/table">
            <a:tbl>
              <a:tblPr>
                <a:noFill/>
                <a:tableStyleId>{1FF4C27B-FA1E-4730-9A34-B8ED315A9ECD}</a:tableStyleId>
              </a:tblPr>
              <a:tblGrid>
                <a:gridCol w="677875">
                  <a:extLst>
                    <a:ext uri="{9D8B030D-6E8A-4147-A177-3AD203B41FA5}">
                      <a16:colId xmlns:a16="http://schemas.microsoft.com/office/drawing/2014/main" val="20000"/>
                    </a:ext>
                  </a:extLst>
                </a:gridCol>
                <a:gridCol w="677850">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75">
                  <a:extLst>
                    <a:ext uri="{9D8B030D-6E8A-4147-A177-3AD203B41FA5}">
                      <a16:colId xmlns:a16="http://schemas.microsoft.com/office/drawing/2014/main" val="20003"/>
                    </a:ext>
                  </a:extLst>
                </a:gridCol>
                <a:gridCol w="677850">
                  <a:extLst>
                    <a:ext uri="{9D8B030D-6E8A-4147-A177-3AD203B41FA5}">
                      <a16:colId xmlns:a16="http://schemas.microsoft.com/office/drawing/2014/main" val="20004"/>
                    </a:ext>
                  </a:extLst>
                </a:gridCol>
                <a:gridCol w="677875">
                  <a:extLst>
                    <a:ext uri="{9D8B030D-6E8A-4147-A177-3AD203B41FA5}">
                      <a16:colId xmlns:a16="http://schemas.microsoft.com/office/drawing/2014/main" val="20005"/>
                    </a:ext>
                  </a:extLst>
                </a:gridCol>
                <a:gridCol w="677850">
                  <a:extLst>
                    <a:ext uri="{9D8B030D-6E8A-4147-A177-3AD203B41FA5}">
                      <a16:colId xmlns:a16="http://schemas.microsoft.com/office/drawing/2014/main" val="20006"/>
                    </a:ext>
                  </a:extLst>
                </a:gridCol>
              </a:tblGrid>
              <a:tr h="584200">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3</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tc>
                  <a:txBody>
                    <a:bodyPr/>
                    <a:lstStyle/>
                    <a:p>
                      <a:pPr marL="0" marR="0" lvl="0" indent="0" algn="ctr" rtl="0">
                        <a:lnSpc>
                          <a:spcPct val="100000"/>
                        </a:lnSpc>
                        <a:spcBef>
                          <a:spcPts val="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9</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FFFCC">
                        <a:alpha val="49804"/>
                      </a:srgbClr>
                    </a:solidFill>
                  </a:tcPr>
                </a:tc>
                <a:extLst>
                  <a:ext uri="{0D108BD9-81ED-4DB2-BD59-A6C34878D82A}">
                    <a16:rowId xmlns:a16="http://schemas.microsoft.com/office/drawing/2014/main" val="10000"/>
                  </a:ext>
                </a:extLst>
              </a:tr>
            </a:tbl>
          </a:graphicData>
        </a:graphic>
      </p:graphicFrame>
      <p:sp>
        <p:nvSpPr>
          <p:cNvPr id="553" name="Google Shape;553;p55"/>
          <p:cNvSpPr txBox="1"/>
          <p:nvPr/>
        </p:nvSpPr>
        <p:spPr>
          <a:xfrm>
            <a:off x="1981200" y="4648200"/>
            <a:ext cx="4572000"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ahoma"/>
                <a:ea typeface="Tahoma"/>
                <a:cs typeface="Tahoma"/>
                <a:sym typeface="Tahoma"/>
              </a:rPr>
              <a:t>0    1     2    3    4     5    6</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6"/>
          <p:cNvSpPr/>
          <p:nvPr/>
        </p:nvSpPr>
        <p:spPr>
          <a:xfrm>
            <a:off x="990600" y="457200"/>
            <a:ext cx="71628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Collections Sort Method</a:t>
            </a:r>
          </a:p>
        </p:txBody>
      </p:sp>
      <p:sp>
        <p:nvSpPr>
          <p:cNvPr id="559" name="Google Shape;559;p56"/>
          <p:cNvSpPr/>
          <p:nvPr/>
        </p:nvSpPr>
        <p:spPr>
          <a:xfrm>
            <a:off x="0" y="1792816"/>
            <a:ext cx="9144000" cy="147732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53833"/>
              </a:buClr>
              <a:buSzPts val="3000"/>
              <a:buFont typeface="Arimo"/>
              <a:buNone/>
            </a:pPr>
            <a:r>
              <a:rPr lang="en-US" sz="3000" b="0" i="0" u="none" strike="noStrike" cap="none">
                <a:solidFill>
                  <a:srgbClr val="353833"/>
                </a:solidFill>
                <a:latin typeface="Arimo"/>
                <a:ea typeface="Arimo"/>
                <a:cs typeface="Arimo"/>
                <a:sym typeface="Arimo"/>
              </a:rPr>
              <a:t>public static &lt;T extends </a:t>
            </a:r>
            <a:r>
              <a:rPr lang="en-US" sz="3000" b="0" i="0" u="none" strike="noStrike" cap="none">
                <a:solidFill>
                  <a:srgbClr val="4C6B87"/>
                </a:solidFill>
                <a:latin typeface="Arimo"/>
                <a:ea typeface="Arimo"/>
                <a:cs typeface="Arimo"/>
                <a:sym typeface="Arimo"/>
              </a:rPr>
              <a:t>Comparable</a:t>
            </a:r>
            <a:r>
              <a:rPr lang="en-US" sz="3000" b="0" i="0" u="none" strike="noStrike" cap="none">
                <a:solidFill>
                  <a:srgbClr val="353833"/>
                </a:solidFill>
                <a:latin typeface="Arimo"/>
                <a:ea typeface="Arimo"/>
                <a:cs typeface="Arimo"/>
                <a:sym typeface="Arimo"/>
              </a:rPr>
              <a:t>&lt;? super T&gt;&gt; </a:t>
            </a:r>
            <a:endParaRPr/>
          </a:p>
          <a:p>
            <a:pPr marL="0" marR="0" lvl="0" indent="0" algn="r" rtl="0">
              <a:lnSpc>
                <a:spcPct val="100000"/>
              </a:lnSpc>
              <a:spcBef>
                <a:spcPts val="0"/>
              </a:spcBef>
              <a:spcAft>
                <a:spcPts val="0"/>
              </a:spcAft>
              <a:buClr>
                <a:srgbClr val="353833"/>
              </a:buClr>
              <a:buSzPts val="3000"/>
              <a:buFont typeface="Arimo"/>
              <a:buNone/>
            </a:pPr>
            <a:r>
              <a:rPr lang="en-US" sz="3000" b="1" i="0" u="none" strike="noStrike" cap="none">
                <a:solidFill>
                  <a:srgbClr val="353833"/>
                </a:solidFill>
                <a:latin typeface="Arimo"/>
                <a:ea typeface="Arimo"/>
                <a:cs typeface="Arimo"/>
                <a:sym typeface="Arimo"/>
              </a:rPr>
              <a:t>void sort(</a:t>
            </a:r>
            <a:r>
              <a:rPr lang="en-US" sz="3000" b="1" i="0" u="sng" strike="noStrike" cap="none">
                <a:solidFill>
                  <a:srgbClr val="4C6B87"/>
                </a:solidFill>
                <a:latin typeface="Arimo"/>
                <a:ea typeface="Arimo"/>
                <a:cs typeface="Arimo"/>
                <a:sym typeface="Arimo"/>
                <a:hlinkClick r:id="rId3">
                  <a:extLst>
                    <a:ext uri="{A12FA001-AC4F-418D-AE19-62706E023703}">
                      <ahyp:hlinkClr xmlns:ahyp="http://schemas.microsoft.com/office/drawing/2018/hyperlinkcolor" val="tx"/>
                    </a:ext>
                  </a:extLst>
                </a:hlinkClick>
              </a:rPr>
              <a:t>List</a:t>
            </a:r>
            <a:r>
              <a:rPr lang="en-US" sz="3000" b="1" i="0" u="none" strike="noStrike" cap="none">
                <a:solidFill>
                  <a:srgbClr val="353833"/>
                </a:solidFill>
                <a:latin typeface="Arimo"/>
                <a:ea typeface="Arimo"/>
                <a:cs typeface="Arimo"/>
                <a:sym typeface="Arimo"/>
              </a:rPr>
              <a:t>&lt;T&gt; list)</a:t>
            </a:r>
            <a:br>
              <a:rPr lang="en-US" sz="3000" b="1" i="0" u="none" strike="noStrike" cap="none">
                <a:solidFill>
                  <a:schemeClr val="dk1"/>
                </a:solidFill>
                <a:latin typeface="Tahoma"/>
                <a:ea typeface="Tahoma"/>
                <a:cs typeface="Tahoma"/>
                <a:sym typeface="Tahoma"/>
              </a:rPr>
            </a:br>
            <a:endParaRPr sz="3000" b="1" i="0" u="none" strike="noStrike" cap="none">
              <a:solidFill>
                <a:schemeClr val="dk1"/>
              </a:solidFill>
              <a:latin typeface="Arial"/>
              <a:ea typeface="Arial"/>
              <a:cs typeface="Arial"/>
              <a:sym typeface="Arial"/>
            </a:endParaRPr>
          </a:p>
        </p:txBody>
      </p:sp>
      <p:sp>
        <p:nvSpPr>
          <p:cNvPr id="560" name="Google Shape;560;p56"/>
          <p:cNvSpPr txBox="1"/>
          <p:nvPr/>
        </p:nvSpPr>
        <p:spPr>
          <a:xfrm>
            <a:off x="304800" y="3276600"/>
            <a:ext cx="8686800"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53833"/>
              </a:buClr>
              <a:buSzPts val="3200"/>
              <a:buFont typeface="Tahoma"/>
              <a:buNone/>
            </a:pPr>
            <a:r>
              <a:rPr lang="en-US" sz="3200" b="0" i="0" u="none" strike="noStrike" cap="none">
                <a:solidFill>
                  <a:srgbClr val="353833"/>
                </a:solidFill>
                <a:latin typeface="Tahoma"/>
                <a:ea typeface="Tahoma"/>
                <a:cs typeface="Tahoma"/>
                <a:sym typeface="Tahoma"/>
              </a:rPr>
              <a:t>All elements in the array must implement the </a:t>
            </a:r>
            <a:r>
              <a:rPr lang="en-US" sz="3200" b="0" i="0" u="none" strike="noStrike" cap="none">
                <a:solidFill>
                  <a:srgbClr val="4C6B87"/>
                </a:solidFill>
                <a:latin typeface="Arimo"/>
                <a:ea typeface="Arimo"/>
                <a:cs typeface="Arimo"/>
                <a:sym typeface="Arimo"/>
              </a:rPr>
              <a:t>Comparable</a:t>
            </a:r>
            <a:r>
              <a:rPr lang="en-US" sz="3200" b="0" i="0" u="none" strike="noStrike" cap="none">
                <a:solidFill>
                  <a:srgbClr val="353833"/>
                </a:solidFill>
                <a:latin typeface="Tahoma"/>
                <a:ea typeface="Tahoma"/>
                <a:cs typeface="Tahoma"/>
                <a:sym typeface="Tahoma"/>
              </a:rPr>
              <a:t> interface. Furthermore, all elements in the array must be </a:t>
            </a:r>
            <a:r>
              <a:rPr lang="en-US" sz="3200" b="0" i="1" u="none" strike="noStrike" cap="none">
                <a:solidFill>
                  <a:srgbClr val="353833"/>
                </a:solidFill>
                <a:latin typeface="Tahoma"/>
                <a:ea typeface="Tahoma"/>
                <a:cs typeface="Tahoma"/>
                <a:sym typeface="Tahoma"/>
              </a:rPr>
              <a:t>mutually comparable</a:t>
            </a:r>
            <a:r>
              <a:rPr lang="en-US" sz="3200" b="0" i="0" u="none" strike="noStrike" cap="none">
                <a:solidFill>
                  <a:srgbClr val="353833"/>
                </a:solidFill>
                <a:latin typeface="Tahoma"/>
                <a:ea typeface="Tahoma"/>
                <a:cs typeface="Tahoma"/>
                <a:sym typeface="Tahoma"/>
              </a:rPr>
              <a:t> (that is, </a:t>
            </a:r>
            <a:r>
              <a:rPr lang="en-US" sz="3200" b="0" i="0" u="none" strike="noStrike" cap="none">
                <a:solidFill>
                  <a:srgbClr val="353833"/>
                </a:solidFill>
                <a:latin typeface="Arimo"/>
                <a:ea typeface="Arimo"/>
                <a:cs typeface="Arimo"/>
                <a:sym typeface="Arimo"/>
              </a:rPr>
              <a:t>e1.compareTo(e2)</a:t>
            </a:r>
            <a:r>
              <a:rPr lang="en-US" sz="3200" b="0" i="0" u="none" strike="noStrike" cap="none">
                <a:solidFill>
                  <a:srgbClr val="353833"/>
                </a:solidFill>
                <a:latin typeface="Tahoma"/>
                <a:ea typeface="Tahoma"/>
                <a:cs typeface="Tahoma"/>
                <a:sym typeface="Tahoma"/>
              </a:rPr>
              <a:t> must not throw a </a:t>
            </a:r>
            <a:r>
              <a:rPr lang="en-US" sz="3200" b="0" i="0" u="none" strike="noStrike" cap="none">
                <a:solidFill>
                  <a:srgbClr val="353833"/>
                </a:solidFill>
                <a:latin typeface="Arimo"/>
                <a:ea typeface="Arimo"/>
                <a:cs typeface="Arimo"/>
                <a:sym typeface="Arimo"/>
              </a:rPr>
              <a:t>ClassCastException</a:t>
            </a:r>
            <a:r>
              <a:rPr lang="en-US" sz="3200" b="0" i="0" u="none" strike="noStrike" cap="none">
                <a:solidFill>
                  <a:srgbClr val="353833"/>
                </a:solidFill>
                <a:latin typeface="Tahoma"/>
                <a:ea typeface="Tahoma"/>
                <a:cs typeface="Tahoma"/>
                <a:sym typeface="Tahoma"/>
              </a:rPr>
              <a:t> for any elements </a:t>
            </a:r>
            <a:r>
              <a:rPr lang="en-US" sz="3200" b="0" i="0" u="none" strike="noStrike" cap="none">
                <a:solidFill>
                  <a:srgbClr val="353833"/>
                </a:solidFill>
                <a:latin typeface="Arimo"/>
                <a:ea typeface="Arimo"/>
                <a:cs typeface="Arimo"/>
                <a:sym typeface="Arimo"/>
              </a:rPr>
              <a:t>e1</a:t>
            </a:r>
            <a:r>
              <a:rPr lang="en-US" sz="3200" b="0" i="0" u="none" strike="noStrike" cap="none">
                <a:solidFill>
                  <a:srgbClr val="353833"/>
                </a:solidFill>
                <a:latin typeface="Tahoma"/>
                <a:ea typeface="Tahoma"/>
                <a:cs typeface="Tahoma"/>
                <a:sym typeface="Tahoma"/>
              </a:rPr>
              <a:t> and </a:t>
            </a:r>
            <a:r>
              <a:rPr lang="en-US" sz="3200" b="0" i="0" u="none" strike="noStrike" cap="none">
                <a:solidFill>
                  <a:srgbClr val="353833"/>
                </a:solidFill>
                <a:latin typeface="Arimo"/>
                <a:ea typeface="Arimo"/>
                <a:cs typeface="Arimo"/>
                <a:sym typeface="Arimo"/>
              </a:rPr>
              <a:t>e2</a:t>
            </a:r>
            <a:r>
              <a:rPr lang="en-US" sz="3200" b="0" i="0" u="none" strike="noStrike" cap="none">
                <a:solidFill>
                  <a:srgbClr val="353833"/>
                </a:solidFill>
                <a:latin typeface="Tahoma"/>
                <a:ea typeface="Tahoma"/>
                <a:cs typeface="Tahoma"/>
                <a:sym typeface="Tahoma"/>
              </a:rPr>
              <a:t> in the array).</a:t>
            </a:r>
            <a:endParaRPr sz="3200" b="0" i="0" u="none" strike="noStrike" cap="none">
              <a:solidFill>
                <a:schemeClr val="dk1"/>
              </a:solidFill>
              <a:latin typeface="Tahoma"/>
              <a:ea typeface="Tahoma"/>
              <a:cs typeface="Tahoma"/>
              <a:sym typeface="Tahom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7"/>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66" name="Google Shape;566;p57"/>
          <p:cNvSpPr txBox="1"/>
          <p:nvPr/>
        </p:nvSpPr>
        <p:spPr>
          <a:xfrm>
            <a:off x="762000" y="1143000"/>
            <a:ext cx="6648450" cy="52038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ahoma"/>
                <a:ea typeface="Tahoma"/>
                <a:cs typeface="Tahoma"/>
                <a:sym typeface="Tahoma"/>
              </a:rPr>
              <a:t>public void sort(Comparable[] stuff)</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2400">
                <a:solidFill>
                  <a:schemeClr val="dk1"/>
                </a:solidFill>
                <a:latin typeface="Tahoma"/>
                <a:ea typeface="Tahoma"/>
                <a:cs typeface="Tahoma"/>
                <a:sym typeface="Tahoma"/>
              </a:rPr>
              <a:t>    </a:t>
            </a:r>
            <a:r>
              <a:rPr lang="en-US" sz="2400" b="1">
                <a:solidFill>
                  <a:schemeClr val="dk1"/>
                </a:solidFill>
                <a:latin typeface="Tahoma"/>
                <a:ea typeface="Tahoma"/>
                <a:cs typeface="Tahoma"/>
                <a:sym typeface="Tahoma"/>
              </a:rPr>
              <a:t>for(int i=0;i&lt;stuff.length-1;i++)</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int spot=i; </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for(int j=i;j&lt;stuff.length;j++){</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if(stuff[j].compareTo(stuff[spot])&gt;0)</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spot=j;</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Comparable save=stuff[i];</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stuff[i]=stuff[spot];</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stuff[spot]=save;</a:t>
            </a:r>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    }</a:t>
            </a:r>
            <a:r>
              <a:rPr lang="en-US" sz="2400">
                <a:solidFill>
                  <a:schemeClr val="dk1"/>
                </a:solidFill>
                <a:latin typeface="Tahoma"/>
                <a:ea typeface="Tahoma"/>
                <a:cs typeface="Tahoma"/>
                <a:sym typeface="Tahoma"/>
              </a:rPr>
              <a:t> </a:t>
            </a:r>
            <a:endParaRPr sz="2400" b="1">
              <a:solidFill>
                <a:schemeClr val="dk1"/>
              </a:solidFill>
              <a:latin typeface="Tahoma"/>
              <a:ea typeface="Tahoma"/>
              <a:cs typeface="Tahoma"/>
              <a:sym typeface="Tahoma"/>
            </a:endParaRPr>
          </a:p>
          <a:p>
            <a:pPr marL="0" marR="0" lvl="0" indent="0" algn="l" rtl="0">
              <a:spcBef>
                <a:spcPts val="0"/>
              </a:spcBef>
              <a:spcAft>
                <a:spcPts val="0"/>
              </a:spcAft>
              <a:buNone/>
            </a:pPr>
            <a:r>
              <a:rPr lang="en-US" sz="2400" b="1">
                <a:solidFill>
                  <a:schemeClr val="dk1"/>
                </a:solidFill>
                <a:latin typeface="Tahoma"/>
                <a:ea typeface="Tahoma"/>
                <a:cs typeface="Tahoma"/>
                <a:sym typeface="Tahoma"/>
              </a:rPr>
              <a:t>}</a:t>
            </a:r>
            <a:endParaRPr/>
          </a:p>
        </p:txBody>
      </p:sp>
      <p:sp>
        <p:nvSpPr>
          <p:cNvPr id="567" name="Google Shape;567;p57"/>
          <p:cNvSpPr/>
          <p:nvPr/>
        </p:nvSpPr>
        <p:spPr>
          <a:xfrm>
            <a:off x="1524000" y="304800"/>
            <a:ext cx="6248400" cy="6858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568" name="Google Shape;568;p57"/>
          <p:cNvSpPr txBox="1"/>
          <p:nvPr/>
        </p:nvSpPr>
        <p:spPr>
          <a:xfrm>
            <a:off x="5791200" y="4191000"/>
            <a:ext cx="2971800" cy="1690688"/>
          </a:xfrm>
          <a:prstGeom prst="rect">
            <a:avLst/>
          </a:prstGeom>
          <a:noFill/>
          <a:ln w="9525" cap="flat" cmpd="sng">
            <a:solidFill>
              <a:srgbClr val="0033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8000"/>
                </a:solidFill>
                <a:latin typeface="Tahoma"/>
                <a:ea typeface="Tahoma"/>
                <a:cs typeface="Tahoma"/>
                <a:sym typeface="Tahoma"/>
              </a:rPr>
              <a:t>Why would this method be passed an array of Comparable?</a:t>
            </a:r>
            <a:endParaRPr/>
          </a:p>
          <a:p>
            <a:pPr marL="0" marR="0" lvl="0" indent="0" algn="l" rtl="0">
              <a:spcBef>
                <a:spcPts val="800"/>
              </a:spcBef>
              <a:spcAft>
                <a:spcPts val="0"/>
              </a:spcAft>
              <a:buNone/>
            </a:pPr>
            <a:r>
              <a:rPr lang="en-US" sz="1600" b="1">
                <a:solidFill>
                  <a:srgbClr val="008000"/>
                </a:solidFill>
                <a:latin typeface="Tahoma"/>
                <a:ea typeface="Tahoma"/>
                <a:cs typeface="Tahoma"/>
                <a:sym typeface="Tahoma"/>
              </a:rPr>
              <a:t>Does this demonstrate the power of interfaces and hierarchies?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58"/>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74" name="Google Shape;574;p58"/>
          <p:cNvSpPr/>
          <p:nvPr/>
        </p:nvSpPr>
        <p:spPr>
          <a:xfrm>
            <a:off x="685800" y="1981200"/>
            <a:ext cx="7620000" cy="2438400"/>
          </a:xfrm>
          <a:prstGeom prst="rect">
            <a:avLst/>
          </a:prstGeom>
        </p:spPr>
        <p:txBody>
          <a:bodyPr>
            <a:prstTxWarp prst="textPlain">
              <a:avLst/>
            </a:prstTxWarp>
          </a:bodyPr>
          <a:lstStyle/>
          <a:p>
            <a:pPr lvl="0" algn="ctr"/>
            <a:r>
              <a:rPr b="0" i="0">
                <a:ln w="9525" cap="flat" cmpd="sng">
                  <a:solidFill>
                    <a:srgbClr val="FFFF00"/>
                  </a:solidFill>
                  <a:prstDash val="solid"/>
                  <a:round/>
                  <a:headEnd type="none" w="sm" len="sm"/>
                  <a:tailEnd type="none" w="sm" len="sm"/>
                </a:ln>
                <a:solidFill>
                  <a:srgbClr val="0000FF"/>
                </a:solidFill>
                <a:latin typeface="Impact"/>
              </a:rPr>
              <a:t>More</a:t>
            </a:r>
            <a:br>
              <a:rPr b="0" i="0">
                <a:ln w="9525" cap="flat" cmpd="sng">
                  <a:solidFill>
                    <a:srgbClr val="FFFF00"/>
                  </a:solidFill>
                  <a:prstDash val="solid"/>
                  <a:round/>
                  <a:headEnd type="none" w="sm" len="sm"/>
                  <a:tailEnd type="none" w="sm" len="sm"/>
                </a:ln>
                <a:solidFill>
                  <a:srgbClr val="0000FF"/>
                </a:solidFill>
                <a:latin typeface="Impact"/>
              </a:rPr>
            </a:br>
            <a:r>
              <a:rPr b="0" i="0">
                <a:ln w="9525" cap="flat" cmpd="sng">
                  <a:solidFill>
                    <a:srgbClr val="FFFF00"/>
                  </a:solidFill>
                  <a:prstDash val="solid"/>
                  <a:round/>
                  <a:headEnd type="none" w="sm" len="sm"/>
                  <a:tailEnd type="none" w="sm" len="sm"/>
                </a:ln>
                <a:solidFill>
                  <a:srgbClr val="0000FF"/>
                </a:solidFill>
                <a:latin typeface="Impact"/>
              </a:rPr>
              <a:t>Interfaces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59"/>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80" name="Google Shape;580;p59"/>
          <p:cNvSpPr txBox="1"/>
          <p:nvPr/>
        </p:nvSpPr>
        <p:spPr>
          <a:xfrm>
            <a:off x="1143000" y="1752600"/>
            <a:ext cx="6086475" cy="39306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public interface Exampleable</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int writeIt(Object o);</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int x = 123;</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endParaRPr sz="2800" b="1">
              <a:solidFill>
                <a:schemeClr val="dk1"/>
              </a:solidFill>
              <a:latin typeface="Courier New"/>
              <a:ea typeface="Courier New"/>
              <a:cs typeface="Courier New"/>
              <a:sym typeface="Courier New"/>
            </a:endParaRPr>
          </a:p>
        </p:txBody>
      </p:sp>
      <p:sp>
        <p:nvSpPr>
          <p:cNvPr id="581" name="Google Shape;581;p59"/>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582" name="Google Shape;582;p59"/>
          <p:cNvSpPr txBox="1"/>
          <p:nvPr/>
        </p:nvSpPr>
        <p:spPr>
          <a:xfrm>
            <a:off x="1295400" y="4724400"/>
            <a:ext cx="6019800" cy="955675"/>
          </a:xfrm>
          <a:prstGeom prst="rect">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accent2"/>
                </a:solidFill>
                <a:latin typeface="Tahoma"/>
                <a:ea typeface="Tahoma"/>
                <a:cs typeface="Tahoma"/>
                <a:sym typeface="Tahoma"/>
              </a:rPr>
              <a:t>Methods are public abstract!</a:t>
            </a:r>
            <a:endParaRPr/>
          </a:p>
          <a:p>
            <a:pPr marL="0" marR="0" lvl="0" indent="0" algn="l" rtl="0">
              <a:spcBef>
                <a:spcPts val="0"/>
              </a:spcBef>
              <a:spcAft>
                <a:spcPts val="0"/>
              </a:spcAft>
              <a:buNone/>
            </a:pPr>
            <a:r>
              <a:rPr lang="en-US" sz="2800" b="1">
                <a:solidFill>
                  <a:schemeClr val="accent2"/>
                </a:solidFill>
                <a:latin typeface="Tahoma"/>
                <a:ea typeface="Tahoma"/>
                <a:cs typeface="Tahoma"/>
                <a:sym typeface="Tahoma"/>
              </a:rPr>
              <a:t>Variables are public static final!</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60"/>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88" name="Google Shape;588;p60"/>
          <p:cNvSpPr txBox="1"/>
          <p:nvPr/>
        </p:nvSpPr>
        <p:spPr>
          <a:xfrm>
            <a:off x="457200" y="1676400"/>
            <a:ext cx="8023225" cy="39306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ahoma"/>
                <a:ea typeface="Tahoma"/>
                <a:cs typeface="Tahoma"/>
                <a:sym typeface="Tahoma"/>
              </a:rPr>
              <a:t>public interface Exampleable</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public abstract int writeIt(Object o);</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   public static final int x = 123;</a:t>
            </a:r>
            <a:endParaRPr/>
          </a:p>
          <a:p>
            <a:pPr marL="0" marR="0" lvl="0" indent="0" algn="l" rtl="0">
              <a:spcBef>
                <a:spcPts val="0"/>
              </a:spcBef>
              <a:spcAft>
                <a:spcPts val="0"/>
              </a:spcAft>
              <a:buNone/>
            </a:pPr>
            <a:r>
              <a:rPr lang="en-US" sz="3200" b="1">
                <a:solidFill>
                  <a:schemeClr val="dk1"/>
                </a:solidFill>
                <a:latin typeface="Tahoma"/>
                <a:ea typeface="Tahoma"/>
                <a:cs typeface="Tahoma"/>
                <a:sym typeface="Tahoma"/>
              </a:rPr>
              <a:t>}</a:t>
            </a:r>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endParaRPr sz="3200" b="1">
              <a:solidFill>
                <a:schemeClr val="dk1"/>
              </a:solidFill>
              <a:latin typeface="Tahoma"/>
              <a:ea typeface="Tahoma"/>
              <a:cs typeface="Tahoma"/>
              <a:sym typeface="Tahoma"/>
            </a:endParaRPr>
          </a:p>
          <a:p>
            <a:pPr marL="0" marR="0" lvl="0" indent="0" algn="l" rtl="0">
              <a:spcBef>
                <a:spcPts val="0"/>
              </a:spcBef>
              <a:spcAft>
                <a:spcPts val="0"/>
              </a:spcAft>
              <a:buNone/>
            </a:pPr>
            <a:endParaRPr sz="2800" b="1">
              <a:solidFill>
                <a:schemeClr val="dk1"/>
              </a:solidFill>
              <a:latin typeface="Courier New"/>
              <a:ea typeface="Courier New"/>
              <a:cs typeface="Courier New"/>
              <a:sym typeface="Courier New"/>
            </a:endParaRPr>
          </a:p>
        </p:txBody>
      </p:sp>
      <p:sp>
        <p:nvSpPr>
          <p:cNvPr id="589" name="Google Shape;589;p60"/>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590" name="Google Shape;590;p60"/>
          <p:cNvSpPr txBox="1"/>
          <p:nvPr/>
        </p:nvSpPr>
        <p:spPr>
          <a:xfrm>
            <a:off x="1295400" y="4724400"/>
            <a:ext cx="6019800" cy="955675"/>
          </a:xfrm>
          <a:prstGeom prst="rect">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accent2"/>
                </a:solidFill>
                <a:latin typeface="Tahoma"/>
                <a:ea typeface="Tahoma"/>
                <a:cs typeface="Tahoma"/>
                <a:sym typeface="Tahoma"/>
              </a:rPr>
              <a:t>Methods are public abstract!</a:t>
            </a:r>
            <a:endParaRPr/>
          </a:p>
          <a:p>
            <a:pPr marL="0" marR="0" lvl="0" indent="0" algn="l" rtl="0">
              <a:spcBef>
                <a:spcPts val="0"/>
              </a:spcBef>
              <a:spcAft>
                <a:spcPts val="0"/>
              </a:spcAft>
              <a:buNone/>
            </a:pPr>
            <a:r>
              <a:rPr lang="en-US" sz="2800" b="1">
                <a:solidFill>
                  <a:schemeClr val="accent2"/>
                </a:solidFill>
                <a:latin typeface="Tahoma"/>
                <a:ea typeface="Tahoma"/>
                <a:cs typeface="Tahoma"/>
                <a:sym typeface="Tahoma"/>
              </a:rPr>
              <a:t>Variables are public static final!</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61"/>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596" name="Google Shape;596;p61"/>
          <p:cNvSpPr txBox="1"/>
          <p:nvPr/>
        </p:nvSpPr>
        <p:spPr>
          <a:xfrm>
            <a:off x="304800" y="2057400"/>
            <a:ext cx="8839200" cy="3448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Arial"/>
                <a:ea typeface="Arial"/>
                <a:cs typeface="Arial"/>
                <a:sym typeface="Arial"/>
              </a:rPr>
              <a:t>class A implements B {  }</a:t>
            </a:r>
            <a:endParaRPr/>
          </a:p>
          <a:p>
            <a:pPr marL="0" marR="0" lvl="0" indent="0" algn="l" rtl="0">
              <a:spcBef>
                <a:spcPts val="0"/>
              </a:spcBef>
              <a:spcAft>
                <a:spcPts val="0"/>
              </a:spcAft>
              <a:buNone/>
            </a:pPr>
            <a:endParaRPr sz="3600" b="1">
              <a:solidFill>
                <a:schemeClr val="dk1"/>
              </a:solidFill>
              <a:latin typeface="Arial"/>
              <a:ea typeface="Arial"/>
              <a:cs typeface="Arial"/>
              <a:sym typeface="Arial"/>
            </a:endParaRPr>
          </a:p>
          <a:p>
            <a:pPr marL="0" marR="0" lvl="0" indent="0" algn="l" rtl="0">
              <a:spcBef>
                <a:spcPts val="0"/>
              </a:spcBef>
              <a:spcAft>
                <a:spcPts val="0"/>
              </a:spcAft>
              <a:buNone/>
            </a:pPr>
            <a:r>
              <a:rPr lang="en-US" sz="3600" b="1">
                <a:solidFill>
                  <a:schemeClr val="dk1"/>
                </a:solidFill>
                <a:latin typeface="Arial"/>
                <a:ea typeface="Arial"/>
                <a:cs typeface="Arial"/>
                <a:sym typeface="Arial"/>
              </a:rPr>
              <a:t>A class can implement multiple interfaces.</a:t>
            </a:r>
            <a:endParaRPr/>
          </a:p>
          <a:p>
            <a:pPr marL="0" marR="0" lvl="0" indent="0" algn="l" rtl="0">
              <a:spcBef>
                <a:spcPts val="0"/>
              </a:spcBef>
              <a:spcAft>
                <a:spcPts val="0"/>
              </a:spcAft>
              <a:buNone/>
            </a:pPr>
            <a:endParaRPr sz="3600" b="1">
              <a:solidFill>
                <a:schemeClr val="dk1"/>
              </a:solidFill>
              <a:latin typeface="Arial"/>
              <a:ea typeface="Arial"/>
              <a:cs typeface="Arial"/>
              <a:sym typeface="Arial"/>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class A implements B,C {  }  </a:t>
            </a:r>
            <a:r>
              <a:rPr lang="en-US" sz="4000" b="1">
                <a:solidFill>
                  <a:srgbClr val="008000"/>
                </a:solidFill>
                <a:latin typeface="Arial"/>
                <a:ea typeface="Arial"/>
                <a:cs typeface="Arial"/>
                <a:sym typeface="Arial"/>
              </a:rPr>
              <a:t>//legal</a:t>
            </a:r>
            <a:endParaRPr sz="3600" b="1">
              <a:solidFill>
                <a:srgbClr val="008000"/>
              </a:solidFill>
              <a:latin typeface="Arial"/>
              <a:ea typeface="Arial"/>
              <a:cs typeface="Arial"/>
              <a:sym typeface="Arial"/>
            </a:endParaRPr>
          </a:p>
        </p:txBody>
      </p:sp>
      <p:sp>
        <p:nvSpPr>
          <p:cNvPr id="597" name="Google Shape;597;p61"/>
          <p:cNvSpPr/>
          <p:nvPr/>
        </p:nvSpPr>
        <p:spPr>
          <a:xfrm>
            <a:off x="1447800" y="457200"/>
            <a:ext cx="6324600" cy="8382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62"/>
          <p:cNvSpPr txBox="1">
            <a:spLocks noGrp="1"/>
          </p:cNvSpPr>
          <p:nvPr>
            <p:ph type="ftr" idx="11"/>
          </p:nvPr>
        </p:nvSpPr>
        <p:spPr>
          <a:xfrm>
            <a:off x="3124200" y="6248400"/>
            <a:ext cx="28956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endParaRPr b="1">
              <a:latin typeface="Times New Roman"/>
              <a:ea typeface="Times New Roman"/>
              <a:cs typeface="Times New Roman"/>
              <a:sym typeface="Times New Roman"/>
            </a:endParaRPr>
          </a:p>
          <a:p>
            <a:pPr marL="0" lvl="0" indent="0" algn="ctr" rtl="0">
              <a:spcBef>
                <a:spcPts val="0"/>
              </a:spcBef>
              <a:spcAft>
                <a:spcPts val="0"/>
              </a:spcAft>
              <a:buNone/>
            </a:pPr>
            <a:endParaRPr/>
          </a:p>
          <a:p>
            <a:pPr marL="0" lvl="0" indent="0" algn="ctr" rtl="0">
              <a:spcBef>
                <a:spcPts val="0"/>
              </a:spcBef>
              <a:spcAft>
                <a:spcPts val="0"/>
              </a:spcAft>
              <a:buNone/>
            </a:pPr>
            <a:endParaRPr b="1"/>
          </a:p>
          <a:p>
            <a:pPr marL="0" lvl="0" indent="0" algn="ctr" rtl="0">
              <a:spcBef>
                <a:spcPts val="0"/>
              </a:spcBef>
              <a:spcAft>
                <a:spcPts val="0"/>
              </a:spcAft>
              <a:buNone/>
            </a:pPr>
            <a:r>
              <a:rPr lang="en-US" b="1"/>
              <a:t>© A+ Computer Science  -  www.apluscompsci.com</a:t>
            </a:r>
            <a:endParaRPr/>
          </a:p>
        </p:txBody>
      </p:sp>
      <p:sp>
        <p:nvSpPr>
          <p:cNvPr id="603" name="Google Shape;603;p62"/>
          <p:cNvSpPr/>
          <p:nvPr/>
        </p:nvSpPr>
        <p:spPr>
          <a:xfrm>
            <a:off x="1295400" y="381000"/>
            <a:ext cx="6248400" cy="762000"/>
          </a:xfrm>
          <a:prstGeom prst="rect">
            <a:avLst/>
          </a:prstGeom>
        </p:spPr>
        <p:txBody>
          <a:bodyPr>
            <a:prstTxWarp prst="textPlain">
              <a:avLst/>
            </a:prstTxWarp>
          </a:bodyPr>
          <a:lstStyle/>
          <a:p>
            <a:pPr lvl="0" algn="ctr"/>
            <a:r>
              <a:rPr b="0" i="0">
                <a:ln w="12700" cap="flat" cmpd="sng">
                  <a:solidFill>
                    <a:srgbClr val="EAEAEA"/>
                  </a:solidFill>
                  <a:prstDash val="solid"/>
                  <a:round/>
                  <a:headEnd type="none" w="sm" len="sm"/>
                  <a:tailEnd type="none" w="sm" len="sm"/>
                </a:ln>
                <a:gradFill>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0"/>
                </a:gradFill>
                <a:latin typeface="Arial Black"/>
              </a:rPr>
              <a:t>Interfaces</a:t>
            </a:r>
          </a:p>
        </p:txBody>
      </p:sp>
      <p:sp>
        <p:nvSpPr>
          <p:cNvPr id="604" name="Google Shape;604;p62"/>
          <p:cNvSpPr txBox="1"/>
          <p:nvPr/>
        </p:nvSpPr>
        <p:spPr>
          <a:xfrm>
            <a:off x="990600" y="1905000"/>
            <a:ext cx="7284366"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chemeClr val="dk1"/>
                </a:solidFill>
                <a:latin typeface="Arial"/>
                <a:ea typeface="Arial"/>
                <a:cs typeface="Arial"/>
                <a:sym typeface="Arial"/>
              </a:rPr>
              <a:t>All methods listed in</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an interface are abstract; as</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a result, you must implement</a:t>
            </a:r>
            <a:endParaRPr/>
          </a:p>
          <a:p>
            <a:pPr marL="0" marR="0" lvl="0" indent="0" algn="l" rtl="0">
              <a:spcBef>
                <a:spcPts val="0"/>
              </a:spcBef>
              <a:spcAft>
                <a:spcPts val="0"/>
              </a:spcAft>
              <a:buNone/>
            </a:pPr>
            <a:r>
              <a:rPr lang="en-US" sz="4000" b="1">
                <a:solidFill>
                  <a:schemeClr val="dk1"/>
                </a:solidFill>
                <a:latin typeface="Arial"/>
                <a:ea typeface="Arial"/>
                <a:cs typeface="Arial"/>
                <a:sym typeface="Arial"/>
              </a:rPr>
              <a:t>every method.</a:t>
            </a:r>
            <a:endParaRPr/>
          </a:p>
          <a:p>
            <a:pPr marL="0" marR="0" lvl="0" indent="0" algn="l" rtl="0">
              <a:spcBef>
                <a:spcPts val="0"/>
              </a:spcBef>
              <a:spcAft>
                <a:spcPts val="0"/>
              </a:spcAft>
              <a:buNone/>
            </a:pPr>
            <a:endParaRPr sz="4000" b="1">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3"/>
          <p:cNvSpPr txBox="1">
            <a:spLocks noGrp="1"/>
          </p:cNvSpPr>
          <p:nvPr>
            <p:ph type="ctrTitle"/>
          </p:nvPr>
        </p:nvSpPr>
        <p:spPr>
          <a:xfrm>
            <a:off x="1104900" y="5334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10" name="Google Shape;610;p63"/>
          <p:cNvSpPr txBox="1">
            <a:spLocks noGrp="1"/>
          </p:cNvSpPr>
          <p:nvPr>
            <p:ph type="subTitle" idx="1"/>
          </p:nvPr>
        </p:nvSpPr>
        <p:spPr>
          <a:xfrm>
            <a:off x="1828800" y="1752600"/>
            <a:ext cx="54102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11" name="Google Shape;611;p63"/>
          <p:cNvSpPr txBox="1"/>
          <p:nvPr/>
        </p:nvSpPr>
        <p:spPr>
          <a:xfrm>
            <a:off x="457200" y="4495800"/>
            <a:ext cx="81534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008000"/>
                </a:solidFill>
                <a:latin typeface="Tahoma"/>
                <a:ea typeface="Tahoma"/>
                <a:cs typeface="Tahoma"/>
                <a:sym typeface="Tahoma"/>
              </a:rPr>
              <a:t>Valid – both methods are implicitly public and abstract, and neither has code.</a:t>
            </a:r>
            <a:endParaRPr sz="4000">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64"/>
          <p:cNvSpPr txBox="1">
            <a:spLocks noGrp="1"/>
          </p:cNvSpPr>
          <p:nvPr>
            <p:ph type="ctrTitle"/>
          </p:nvPr>
        </p:nvSpPr>
        <p:spPr>
          <a:xfrm>
            <a:off x="1104900" y="3810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17" name="Google Shape;617;p64"/>
          <p:cNvSpPr txBox="1">
            <a:spLocks noGrp="1"/>
          </p:cNvSpPr>
          <p:nvPr>
            <p:ph type="subTitle" idx="1"/>
          </p:nvPr>
        </p:nvSpPr>
        <p:spPr>
          <a:xfrm>
            <a:off x="609600" y="1600200"/>
            <a:ext cx="77724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int calcAnswer()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abstract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18" name="Google Shape;618;p64"/>
          <p:cNvSpPr txBox="1"/>
          <p:nvPr/>
        </p:nvSpPr>
        <p:spPr>
          <a:xfrm>
            <a:off x="623455" y="4191000"/>
            <a:ext cx="8153400" cy="25545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C00000"/>
                </a:solidFill>
                <a:latin typeface="Tahoma"/>
                <a:ea typeface="Tahoma"/>
                <a:cs typeface="Tahoma"/>
                <a:sym typeface="Tahoma"/>
              </a:rPr>
              <a:t>Invalid – calcAnswer is abstract, but has code. The {} count as implementation. They declare the method does nothing.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8"/>
                                        </p:tgtEl>
                                        <p:attrNameLst>
                                          <p:attrName>style.visibility</p:attrName>
                                        </p:attrNameLst>
                                      </p:cBhvr>
                                      <p:to>
                                        <p:strVal val="visible"/>
                                      </p:to>
                                    </p:set>
                                    <p:anim calcmode="lin" valueType="num">
                                      <p:cBhvr additive="base">
                                        <p:cTn id="7" dur="500"/>
                                        <p:tgtEl>
                                          <p:spTgt spid="6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65"/>
          <p:cNvSpPr txBox="1">
            <a:spLocks noGrp="1"/>
          </p:cNvSpPr>
          <p:nvPr>
            <p:ph type="ctrTitle"/>
          </p:nvPr>
        </p:nvSpPr>
        <p:spPr>
          <a:xfrm>
            <a:off x="1104900" y="3810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24" name="Google Shape;624;p65"/>
          <p:cNvSpPr txBox="1">
            <a:spLocks noGrp="1"/>
          </p:cNvSpPr>
          <p:nvPr>
            <p:ph type="subTitle" idx="1"/>
          </p:nvPr>
        </p:nvSpPr>
        <p:spPr>
          <a:xfrm>
            <a:off x="609600" y="1600200"/>
            <a:ext cx="77724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A();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abstract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25" name="Google Shape;625;p65"/>
          <p:cNvSpPr txBox="1"/>
          <p:nvPr/>
        </p:nvSpPr>
        <p:spPr>
          <a:xfrm>
            <a:off x="609600" y="4572000"/>
            <a:ext cx="81534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C00000"/>
                </a:solidFill>
                <a:latin typeface="Tahoma"/>
                <a:ea typeface="Tahoma"/>
                <a:cs typeface="Tahoma"/>
                <a:sym typeface="Tahoma"/>
              </a:rPr>
              <a:t>Invalid – Interfaces can’t have constructors.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5"/>
                                        </p:tgtEl>
                                        <p:attrNameLst>
                                          <p:attrName>style.visibility</p:attrName>
                                        </p:attrNameLst>
                                      </p:cBhvr>
                                      <p:to>
                                        <p:strVal val="visible"/>
                                      </p:to>
                                    </p:set>
                                    <p:animEffect transition="in" filter="fade">
                                      <p:cBhvr>
                                        <p:cTn id="7" dur="5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7"/>
          <p:cNvSpPr txBox="1">
            <a:spLocks noGrp="1"/>
          </p:cNvSpPr>
          <p:nvPr>
            <p:ph type="ctrTitle"/>
          </p:nvPr>
        </p:nvSpPr>
        <p:spPr>
          <a:xfrm>
            <a:off x="1104900" y="5334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38" name="Google Shape;638;p67"/>
          <p:cNvSpPr txBox="1">
            <a:spLocks noGrp="1"/>
          </p:cNvSpPr>
          <p:nvPr>
            <p:ph type="subTitle" idx="1"/>
          </p:nvPr>
        </p:nvSpPr>
        <p:spPr>
          <a:xfrm>
            <a:off x="685800" y="1752600"/>
            <a:ext cx="76962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abstract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static int n;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39" name="Google Shape;639;p67"/>
          <p:cNvSpPr txBox="1"/>
          <p:nvPr/>
        </p:nvSpPr>
        <p:spPr>
          <a:xfrm>
            <a:off x="228600" y="4495800"/>
            <a:ext cx="86106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C00000"/>
                </a:solidFill>
                <a:latin typeface="Tahoma"/>
                <a:ea typeface="Tahoma"/>
                <a:cs typeface="Tahoma"/>
                <a:sym typeface="Tahoma"/>
              </a:rPr>
              <a:t>Invalid – The final variable was not initialized. The method is fine.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9"/>
                                        </p:tgtEl>
                                        <p:attrNameLst>
                                          <p:attrName>style.visibility</p:attrName>
                                        </p:attrNameLst>
                                      </p:cBhvr>
                                      <p:to>
                                        <p:strVal val="visible"/>
                                      </p:to>
                                    </p:set>
                                    <p:animEffect transition="in" filter="fade">
                                      <p:cBhvr>
                                        <p:cTn id="7" dur="500"/>
                                        <p:tgtEl>
                                          <p:spTgt spid="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68"/>
          <p:cNvSpPr txBox="1">
            <a:spLocks noGrp="1"/>
          </p:cNvSpPr>
          <p:nvPr>
            <p:ph type="ctrTitle"/>
          </p:nvPr>
        </p:nvSpPr>
        <p:spPr>
          <a:xfrm>
            <a:off x="1085850" y="5334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45" name="Google Shape;645;p68"/>
          <p:cNvSpPr txBox="1">
            <a:spLocks noGrp="1"/>
          </p:cNvSpPr>
          <p:nvPr>
            <p:ph type="subTitle" idx="1"/>
          </p:nvPr>
        </p:nvSpPr>
        <p:spPr>
          <a:xfrm>
            <a:off x="1619250" y="1752600"/>
            <a:ext cx="57912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n = 7;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46" name="Google Shape;646;p68"/>
          <p:cNvSpPr txBox="1"/>
          <p:nvPr/>
        </p:nvSpPr>
        <p:spPr>
          <a:xfrm>
            <a:off x="723900" y="4495800"/>
            <a:ext cx="75819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008000"/>
                </a:solidFill>
                <a:latin typeface="Tahoma"/>
                <a:ea typeface="Tahoma"/>
                <a:cs typeface="Tahoma"/>
                <a:sym typeface="Tahoma"/>
              </a:rPr>
              <a:t>Valid – The abstract method has no code and the final variable was initialized.</a:t>
            </a:r>
            <a:endParaRPr sz="4000">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6"/>
                                        </p:tgtEl>
                                        <p:attrNameLst>
                                          <p:attrName>style.visibility</p:attrName>
                                        </p:attrNameLst>
                                      </p:cBhvr>
                                      <p:to>
                                        <p:strVal val="visible"/>
                                      </p:to>
                                    </p:set>
                                    <p:animEffect transition="in" filter="fade">
                                      <p:cBhvr>
                                        <p:cTn id="7" dur="1000"/>
                                        <p:tgtEl>
                                          <p:spTgt spid="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69"/>
          <p:cNvSpPr txBox="1">
            <a:spLocks noGrp="1"/>
          </p:cNvSpPr>
          <p:nvPr>
            <p:ph type="ctrTitle"/>
          </p:nvPr>
        </p:nvSpPr>
        <p:spPr>
          <a:xfrm>
            <a:off x="1085850" y="533400"/>
            <a:ext cx="6858000" cy="85883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52" name="Google Shape;652;p69"/>
          <p:cNvSpPr txBox="1">
            <a:spLocks noGrp="1"/>
          </p:cNvSpPr>
          <p:nvPr>
            <p:ph type="subTitle" idx="1"/>
          </p:nvPr>
        </p:nvSpPr>
        <p:spPr>
          <a:xfrm>
            <a:off x="1085850" y="1752600"/>
            <a:ext cx="6858000" cy="2667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final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n = 7;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53" name="Google Shape;653;p69"/>
          <p:cNvSpPr txBox="1"/>
          <p:nvPr/>
        </p:nvSpPr>
        <p:spPr>
          <a:xfrm>
            <a:off x="723900" y="4495800"/>
            <a:ext cx="75819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FF0000"/>
                </a:solidFill>
                <a:latin typeface="Tahoma"/>
                <a:ea typeface="Tahoma"/>
                <a:cs typeface="Tahoma"/>
                <a:sym typeface="Tahoma"/>
              </a:rPr>
              <a:t>Invalid – abstract and final can’t be combined!</a:t>
            </a:r>
            <a:endParaRPr/>
          </a:p>
        </p:txBody>
      </p:sp>
      <p:sp>
        <p:nvSpPr>
          <p:cNvPr id="654" name="Google Shape;654;p69"/>
          <p:cNvSpPr txBox="1"/>
          <p:nvPr/>
        </p:nvSpPr>
        <p:spPr>
          <a:xfrm>
            <a:off x="1828800" y="2730213"/>
            <a:ext cx="155448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FF0000"/>
                </a:solidFill>
                <a:latin typeface="Courier New"/>
                <a:ea typeface="Courier New"/>
                <a:cs typeface="Courier New"/>
                <a:sym typeface="Courier New"/>
              </a:rPr>
              <a:t>final</a:t>
            </a:r>
            <a:endParaRPr sz="2200">
              <a:solidFill>
                <a:srgbClr val="FF0000"/>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3"/>
                                        </p:tgtEl>
                                        <p:attrNameLst>
                                          <p:attrName>style.visibility</p:attrName>
                                        </p:attrNameLst>
                                      </p:cBhvr>
                                      <p:to>
                                        <p:strVal val="visible"/>
                                      </p:to>
                                    </p:set>
                                    <p:animEffect transition="in" filter="fade">
                                      <p:cBhvr>
                                        <p:cTn id="7" dur="500"/>
                                        <p:tgtEl>
                                          <p:spTgt spid="653"/>
                                        </p:tgtEl>
                                      </p:cBhvr>
                                    </p:animEffect>
                                  </p:childTnLst>
                                </p:cTn>
                              </p:par>
                              <p:par>
                                <p:cTn id="8" presetID="1" presetClass="entr" presetSubtype="0" fill="hold" nodeType="withEffect">
                                  <p:stCondLst>
                                    <p:cond delay="0"/>
                                  </p:stCondLst>
                                  <p:childTnLst>
                                    <p:set>
                                      <p:cBhvr>
                                        <p:cTn id="9" dur="1" fill="hold">
                                          <p:stCondLst>
                                            <p:cond delay="0"/>
                                          </p:stCondLst>
                                        </p:cTn>
                                        <p:tgtEl>
                                          <p:spTgt spid="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70"/>
          <p:cNvSpPr txBox="1">
            <a:spLocks noGrp="1"/>
          </p:cNvSpPr>
          <p:nvPr>
            <p:ph type="ctrTitle"/>
          </p:nvPr>
        </p:nvSpPr>
        <p:spPr>
          <a:xfrm>
            <a:off x="5734050" y="423208"/>
            <a:ext cx="3162300" cy="18288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60" name="Google Shape;660;p70"/>
          <p:cNvSpPr txBox="1">
            <a:spLocks noGrp="1"/>
          </p:cNvSpPr>
          <p:nvPr>
            <p:ph type="subTitle" idx="1"/>
          </p:nvPr>
        </p:nvSpPr>
        <p:spPr>
          <a:xfrm>
            <a:off x="152400" y="423208"/>
            <a:ext cx="8991600" cy="40725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Times New Roman"/>
              <a:buNone/>
            </a:pPr>
            <a:endParaRPr sz="3200" b="1">
              <a:latin typeface="Courier New"/>
              <a:ea typeface="Courier New"/>
              <a:cs typeface="Courier New"/>
              <a:sym typeface="Courier New"/>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class Wild implements A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 { </a:t>
            </a:r>
            <a:r>
              <a:rPr lang="en-US" sz="3200" b="1" i="1">
                <a:latin typeface="Courier New"/>
                <a:ea typeface="Courier New"/>
                <a:cs typeface="Courier New"/>
                <a:sym typeface="Courier New"/>
              </a:rPr>
              <a:t>code </a:t>
            </a: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boolean isWise() { </a:t>
            </a:r>
            <a:r>
              <a:rPr lang="en-US" sz="3200" b="1" i="1">
                <a:latin typeface="Courier New"/>
                <a:ea typeface="Courier New"/>
                <a:cs typeface="Courier New"/>
                <a:sym typeface="Courier New"/>
              </a:rPr>
              <a:t>code</a:t>
            </a:r>
            <a:r>
              <a:rPr lang="en-US" sz="3200" b="1">
                <a:latin typeface="Courier New"/>
                <a:ea typeface="Courier New"/>
                <a:cs typeface="Courier New"/>
                <a:sym typeface="Courier New"/>
              </a:rPr>
              <a:t>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61" name="Google Shape;661;p70"/>
          <p:cNvSpPr txBox="1"/>
          <p:nvPr/>
        </p:nvSpPr>
        <p:spPr>
          <a:xfrm>
            <a:off x="762000" y="4614208"/>
            <a:ext cx="80264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262699"/>
                </a:solidFill>
                <a:latin typeface="Tahoma"/>
                <a:ea typeface="Tahoma"/>
                <a:cs typeface="Tahoma"/>
                <a:sym typeface="Tahoma"/>
              </a:rPr>
              <a:t>What is the access level of the calcAnswer method in the interface? And in the class?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1"/>
                                        </p:tgtEl>
                                        <p:attrNameLst>
                                          <p:attrName>style.visibility</p:attrName>
                                        </p:attrNameLst>
                                      </p:cBhvr>
                                      <p:to>
                                        <p:strVal val="visible"/>
                                      </p:to>
                                    </p:set>
                                    <p:animEffect transition="in" filter="fade">
                                      <p:cBhvr>
                                        <p:cTn id="7" dur="5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71"/>
          <p:cNvSpPr txBox="1">
            <a:spLocks noGrp="1"/>
          </p:cNvSpPr>
          <p:nvPr>
            <p:ph type="ctrTitle"/>
          </p:nvPr>
        </p:nvSpPr>
        <p:spPr>
          <a:xfrm>
            <a:off x="5734050" y="423208"/>
            <a:ext cx="3162300" cy="18288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67" name="Google Shape;667;p71"/>
          <p:cNvSpPr txBox="1">
            <a:spLocks noGrp="1"/>
          </p:cNvSpPr>
          <p:nvPr>
            <p:ph type="subTitle" idx="1"/>
          </p:nvPr>
        </p:nvSpPr>
        <p:spPr>
          <a:xfrm>
            <a:off x="152400" y="423208"/>
            <a:ext cx="8991600" cy="40725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Times New Roman"/>
              <a:buNone/>
            </a:pPr>
            <a:endParaRPr sz="3200" b="1">
              <a:latin typeface="Courier New"/>
              <a:ea typeface="Courier New"/>
              <a:cs typeface="Courier New"/>
              <a:sym typeface="Courier New"/>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class Wild implements A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 { </a:t>
            </a:r>
            <a:r>
              <a:rPr lang="en-US" sz="3200" b="1" i="1">
                <a:latin typeface="Courier New"/>
                <a:ea typeface="Courier New"/>
                <a:cs typeface="Courier New"/>
                <a:sym typeface="Courier New"/>
              </a:rPr>
              <a:t>code </a:t>
            </a: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boolean isWise() { </a:t>
            </a:r>
            <a:r>
              <a:rPr lang="en-US" sz="3200" b="1" i="1">
                <a:latin typeface="Courier New"/>
                <a:ea typeface="Courier New"/>
                <a:cs typeface="Courier New"/>
                <a:sym typeface="Courier New"/>
              </a:rPr>
              <a:t>code</a:t>
            </a:r>
            <a:r>
              <a:rPr lang="en-US" sz="3200" b="1">
                <a:latin typeface="Courier New"/>
                <a:ea typeface="Courier New"/>
                <a:cs typeface="Courier New"/>
                <a:sym typeface="Courier New"/>
              </a:rPr>
              <a:t>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68" name="Google Shape;668;p71"/>
          <p:cNvSpPr txBox="1"/>
          <p:nvPr/>
        </p:nvSpPr>
        <p:spPr>
          <a:xfrm>
            <a:off x="762000" y="4776768"/>
            <a:ext cx="83820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rgbClr val="C00000"/>
                </a:solidFill>
                <a:latin typeface="Tahoma"/>
                <a:ea typeface="Tahoma"/>
                <a:cs typeface="Tahoma"/>
                <a:sym typeface="Tahoma"/>
              </a:rPr>
              <a:t>Invalid – the class can’t make the access level more restrictive.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8"/>
                                        </p:tgtEl>
                                        <p:attrNameLst>
                                          <p:attrName>style.visibility</p:attrName>
                                        </p:attrNameLst>
                                      </p:cBhvr>
                                      <p:to>
                                        <p:strVal val="visible"/>
                                      </p:to>
                                    </p:set>
                                    <p:animEffect transition="in" filter="fade">
                                      <p:cBhvr>
                                        <p:cTn id="7" dur="500"/>
                                        <p:tgtEl>
                                          <p:spTgt spid="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72"/>
          <p:cNvSpPr txBox="1">
            <a:spLocks noGrp="1"/>
          </p:cNvSpPr>
          <p:nvPr>
            <p:ph type="ctrTitle"/>
          </p:nvPr>
        </p:nvSpPr>
        <p:spPr>
          <a:xfrm>
            <a:off x="5734050" y="423208"/>
            <a:ext cx="3162300" cy="18288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008000"/>
                </a:solidFill>
              </a:rPr>
              <a:t>Valid</a:t>
            </a:r>
            <a:r>
              <a:rPr lang="en-US"/>
              <a:t> or </a:t>
            </a:r>
            <a:r>
              <a:rPr lang="en-US">
                <a:solidFill>
                  <a:srgbClr val="C00000"/>
                </a:solidFill>
              </a:rPr>
              <a:t>Invalid</a:t>
            </a:r>
            <a:r>
              <a:rPr lang="en-US"/>
              <a:t>?</a:t>
            </a:r>
            <a:endParaRPr/>
          </a:p>
        </p:txBody>
      </p:sp>
      <p:sp>
        <p:nvSpPr>
          <p:cNvPr id="674" name="Google Shape;674;p72"/>
          <p:cNvSpPr txBox="1">
            <a:spLocks noGrp="1"/>
          </p:cNvSpPr>
          <p:nvPr>
            <p:ph type="subTitle" idx="1"/>
          </p:nvPr>
        </p:nvSpPr>
        <p:spPr>
          <a:xfrm>
            <a:off x="152400" y="423208"/>
            <a:ext cx="8991600" cy="40725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public interface A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int calcAnswer();</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boolean isWise();   </a:t>
            </a:r>
            <a:endParaRPr sz="3200" b="1">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Times New Roman"/>
              <a:buNone/>
            </a:pPr>
            <a:endParaRPr sz="3200" b="1">
              <a:latin typeface="Courier New"/>
              <a:ea typeface="Courier New"/>
              <a:cs typeface="Courier New"/>
              <a:sym typeface="Courier New"/>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class Wild implements A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int calc() { </a:t>
            </a:r>
            <a:r>
              <a:rPr lang="en-US" sz="3200" b="1" i="1">
                <a:latin typeface="Courier New"/>
                <a:ea typeface="Courier New"/>
                <a:cs typeface="Courier New"/>
                <a:sym typeface="Courier New"/>
              </a:rPr>
              <a:t>code </a:t>
            </a:r>
            <a:r>
              <a:rPr lang="en-US" sz="3200" b="1">
                <a:latin typeface="Courier New"/>
                <a:ea typeface="Courier New"/>
                <a:cs typeface="Courier New"/>
                <a:sym typeface="Courier New"/>
              </a:rPr>
              <a:t>}</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   public boolean isWise() { </a:t>
            </a:r>
            <a:r>
              <a:rPr lang="en-US" sz="3200" b="1" i="1">
                <a:latin typeface="Courier New"/>
                <a:ea typeface="Courier New"/>
                <a:cs typeface="Courier New"/>
                <a:sym typeface="Courier New"/>
              </a:rPr>
              <a:t>code</a:t>
            </a:r>
            <a:r>
              <a:rPr lang="en-US" sz="3200" b="1">
                <a:latin typeface="Courier New"/>
                <a:ea typeface="Courier New"/>
                <a:cs typeface="Courier New"/>
                <a:sym typeface="Courier New"/>
              </a:rPr>
              <a:t> }</a:t>
            </a:r>
            <a:endParaRPr/>
          </a:p>
          <a:p>
            <a:pPr marL="0" marR="0" lvl="0" indent="0" algn="l" rtl="0">
              <a:spcBef>
                <a:spcPts val="0"/>
              </a:spcBef>
              <a:spcAft>
                <a:spcPts val="0"/>
              </a:spcAft>
              <a:buClr>
                <a:schemeClr val="dk1"/>
              </a:buClr>
              <a:buSzPts val="3200"/>
              <a:buFont typeface="Courier New"/>
              <a:buNone/>
            </a:pPr>
            <a:r>
              <a:rPr lang="en-US" sz="3200" b="1">
                <a:latin typeface="Courier New"/>
                <a:ea typeface="Courier New"/>
                <a:cs typeface="Courier New"/>
                <a:sym typeface="Courier New"/>
              </a:rPr>
              <a:t>}</a:t>
            </a:r>
            <a:endParaRPr sz="3200" b="1">
              <a:latin typeface="Times New Roman"/>
              <a:ea typeface="Times New Roman"/>
              <a:cs typeface="Times New Roman"/>
              <a:sym typeface="Times New Roman"/>
            </a:endParaRPr>
          </a:p>
        </p:txBody>
      </p:sp>
      <p:sp>
        <p:nvSpPr>
          <p:cNvPr id="675" name="Google Shape;675;p72"/>
          <p:cNvSpPr txBox="1"/>
          <p:nvPr/>
        </p:nvSpPr>
        <p:spPr>
          <a:xfrm>
            <a:off x="228600" y="4876800"/>
            <a:ext cx="8763000"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C00000"/>
                </a:solidFill>
                <a:latin typeface="Tahoma"/>
                <a:ea typeface="Tahoma"/>
                <a:cs typeface="Tahoma"/>
                <a:sym typeface="Tahoma"/>
              </a:rPr>
              <a:t>Invalid – the class failed to implement the </a:t>
            </a:r>
            <a:r>
              <a:rPr lang="en-US" sz="4000" b="1">
                <a:solidFill>
                  <a:srgbClr val="C00000"/>
                </a:solidFill>
                <a:latin typeface="Tahoma"/>
                <a:ea typeface="Tahoma"/>
                <a:cs typeface="Tahoma"/>
                <a:sym typeface="Tahoma"/>
              </a:rPr>
              <a:t>calcAnswer</a:t>
            </a:r>
            <a:r>
              <a:rPr lang="en-US" sz="4000">
                <a:solidFill>
                  <a:srgbClr val="C00000"/>
                </a:solidFill>
                <a:latin typeface="Tahoma"/>
                <a:ea typeface="Tahoma"/>
                <a:cs typeface="Tahoma"/>
                <a:sym typeface="Tahoma"/>
              </a:rPr>
              <a:t> method</a:t>
            </a:r>
            <a:endParaRPr/>
          </a:p>
        </p:txBody>
      </p:sp>
      <p:sp>
        <p:nvSpPr>
          <p:cNvPr id="676" name="Google Shape;676;p72"/>
          <p:cNvSpPr txBox="1"/>
          <p:nvPr/>
        </p:nvSpPr>
        <p:spPr>
          <a:xfrm>
            <a:off x="3576320" y="3342640"/>
            <a:ext cx="170434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CC0000"/>
                </a:solidFill>
                <a:latin typeface="Courier New"/>
                <a:ea typeface="Courier New"/>
                <a:cs typeface="Courier New"/>
                <a:sym typeface="Courier New"/>
              </a:rPr>
              <a:t>calc() </a:t>
            </a:r>
            <a:endParaRPr sz="2200">
              <a:solidFill>
                <a:srgbClr val="CC0000"/>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5"/>
                                        </p:tgtEl>
                                        <p:attrNameLst>
                                          <p:attrName>style.visibility</p:attrName>
                                        </p:attrNameLst>
                                      </p:cBhvr>
                                      <p:to>
                                        <p:strVal val="visible"/>
                                      </p:to>
                                    </p:set>
                                    <p:animEffect transition="in" filter="fade">
                                      <p:cBhvr>
                                        <p:cTn id="7" dur="500"/>
                                        <p:tgtEl>
                                          <p:spTgt spid="675"/>
                                        </p:tgtEl>
                                      </p:cBhvr>
                                    </p:animEffect>
                                  </p:childTnLst>
                                </p:cTn>
                              </p:par>
                              <p:par>
                                <p:cTn id="8" presetID="1" presetClass="entr" presetSubtype="0" fill="hold" nodeType="withEffect">
                                  <p:stCondLst>
                                    <p:cond delay="0"/>
                                  </p:stCondLst>
                                  <p:childTnLst>
                                    <p:set>
                                      <p:cBhvr>
                                        <p:cTn id="9" dur="1" fill="hold">
                                          <p:stCondLst>
                                            <p:cond delay="0"/>
                                          </p:stCondLst>
                                        </p:cTn>
                                        <p:tgtEl>
                                          <p:spTgt spid="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5528</Words>
  <Application>Microsoft Office PowerPoint</Application>
  <PresentationFormat>On-screen Show (4:3)</PresentationFormat>
  <Paragraphs>831</Paragraphs>
  <Slides>71</Slides>
  <Notes>71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Times New Roman</vt:lpstr>
      <vt:lpstr>Arial</vt:lpstr>
      <vt:lpstr>Impact</vt:lpstr>
      <vt:lpstr>Courier New</vt:lpstr>
      <vt:lpstr>Consolas</vt:lpstr>
      <vt:lpstr>Arial Black</vt:lpstr>
      <vt:lpstr>Arimo</vt:lpstr>
      <vt:lpstr>Inter</vt:lpstr>
      <vt:lpstr>Tahoma</vt:lpstr>
      <vt:lpstr>Helvetica Neue</vt:lpstr>
      <vt:lpstr>Default Design</vt:lpstr>
      <vt:lpstr>PowerPoint Presentation</vt:lpstr>
      <vt:lpstr>interface</vt:lpstr>
      <vt:lpstr>A Java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Visibility Levels</vt:lpstr>
      <vt:lpstr>PowerPoint Presentation</vt:lpstr>
      <vt:lpstr>PowerPoint Presentation</vt:lpstr>
      <vt:lpstr>Variable defaults in a class</vt:lpstr>
      <vt:lpstr>Method defaults in a class</vt:lpstr>
      <vt:lpstr>Defaults in a class</vt:lpstr>
      <vt:lpstr>Defaults in an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 Computer Science</dc:creator>
  <cp:lastModifiedBy>Weldon Jasik</cp:lastModifiedBy>
  <cp:revision>4</cp:revision>
  <dcterms:created xsi:type="dcterms:W3CDTF">2002-06-22T16:18:29Z</dcterms:created>
  <dcterms:modified xsi:type="dcterms:W3CDTF">2026-09-26T02:19:18Z</dcterms:modified>
</cp:coreProperties>
</file>