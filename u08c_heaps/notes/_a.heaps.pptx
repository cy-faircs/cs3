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258" r:id="rId3"/>
    <p:sldId id="280" r:id="rId4"/>
    <p:sldId id="284" r:id="rId5"/>
    <p:sldId id="307" r:id="rId6"/>
    <p:sldId id="285" r:id="rId7"/>
    <p:sldId id="292" r:id="rId8"/>
    <p:sldId id="281" r:id="rId9"/>
    <p:sldId id="286" r:id="rId10"/>
    <p:sldId id="259" r:id="rId11"/>
    <p:sldId id="260" r:id="rId12"/>
    <p:sldId id="305" r:id="rId13"/>
    <p:sldId id="306" r:id="rId14"/>
    <p:sldId id="308" r:id="rId15"/>
    <p:sldId id="261" r:id="rId16"/>
    <p:sldId id="287" r:id="rId17"/>
    <p:sldId id="309" r:id="rId18"/>
    <p:sldId id="288" r:id="rId19"/>
    <p:sldId id="303" r:id="rId20"/>
    <p:sldId id="289" r:id="rId21"/>
    <p:sldId id="304" r:id="rId22"/>
    <p:sldId id="276" r:id="rId23"/>
    <p:sldId id="263" r:id="rId24"/>
    <p:sldId id="302" r:id="rId25"/>
    <p:sldId id="312" r:id="rId26"/>
    <p:sldId id="313" r:id="rId27"/>
    <p:sldId id="277" r:id="rId28"/>
    <p:sldId id="265" r:id="rId29"/>
    <p:sldId id="301" r:id="rId3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0099"/>
    <a:srgbClr val="FFFFCC"/>
    <a:srgbClr val="000066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3" autoAdjust="0"/>
    <p:restoredTop sz="86469" autoAdjust="0"/>
  </p:normalViewPr>
  <p:slideViewPr>
    <p:cSldViewPr>
      <p:cViewPr varScale="1">
        <p:scale>
          <a:sx n="69" d="100"/>
          <a:sy n="69" d="100"/>
        </p:scale>
        <p:origin x="346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061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3626E255-C720-46B9-82D9-AC905404B45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37A3D3D4-F8E8-4630-A88B-BFE417D824C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2" name="Rectangle 4">
            <a:extLst>
              <a:ext uri="{FF2B5EF4-FFF2-40B4-BE49-F238E27FC236}">
                <a16:creationId xmlns:a16="http://schemas.microsoft.com/office/drawing/2014/main" id="{12FB52A4-D6CC-4F29-B40F-074177BEB98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3" name="Rectangle 5">
            <a:extLst>
              <a:ext uri="{FF2B5EF4-FFF2-40B4-BE49-F238E27FC236}">
                <a16:creationId xmlns:a16="http://schemas.microsoft.com/office/drawing/2014/main" id="{27D3AE68-8FCB-4E60-9F0F-05B76ADC3BE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28D9CB7-F8DE-4FB3-8498-1553263987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405B3133-D5CB-45FB-9BA3-44A750BFBD7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6725BF2A-132E-4A11-96F7-AD12240C5EC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711A46A-2C75-492C-962A-B48F3D05DBE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9941" name="Rectangle 5">
            <a:extLst>
              <a:ext uri="{FF2B5EF4-FFF2-40B4-BE49-F238E27FC236}">
                <a16:creationId xmlns:a16="http://schemas.microsoft.com/office/drawing/2014/main" id="{B40E016C-D43A-4C83-AA44-66AA9E8561C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9942" name="Rectangle 6">
            <a:extLst>
              <a:ext uri="{FF2B5EF4-FFF2-40B4-BE49-F238E27FC236}">
                <a16:creationId xmlns:a16="http://schemas.microsoft.com/office/drawing/2014/main" id="{37D822A5-5B4C-4F3E-A788-99135F6AC51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3" name="Rectangle 7">
            <a:extLst>
              <a:ext uri="{FF2B5EF4-FFF2-40B4-BE49-F238E27FC236}">
                <a16:creationId xmlns:a16="http://schemas.microsoft.com/office/drawing/2014/main" id="{07CDDEC7-B32A-4B92-8E55-F7C7C6CC3F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A3EC4CF-7D7D-43F6-AA1D-F44FF0912C7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118F78E-6F62-49BA-B88F-F077E44984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4D3A133-E440-40C3-8FBB-A47F91F55E9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605DCA-BBEB-413D-B519-859541F8F4E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4F0EC16F-37E6-47AB-B0D7-979508CB5428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168725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45B6ADD-6B58-4557-B1CF-3CC1449D08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BE5CB34-336A-4D58-8CC0-1F7626F50CA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F097BD-162E-41E9-8459-A69DBCCDA48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CFD1457C-DE5E-4A24-97B4-9C719342D36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088833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D41F2E9-9A13-4841-9E8E-A5D76D19FA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926E038-49FD-475F-ADB7-616B9FA3528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F6B7C5-86B1-4545-8185-A11EDEFB294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40179871-A41E-4335-815D-F814D0E602B5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553925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8B20E1-E5CA-48D3-BB49-46387989CE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BB02D1D-882C-4622-940A-64A9F48940E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26D743-0A4D-403F-9579-97FC2B97279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501CFFAC-A1DA-457A-BF15-FB97F696F74F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828306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68E0DE1-78C0-48FB-B36F-4DD45A64B2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6D98551-B1C8-4B84-8C14-236546119FB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AC00FA-D2B4-4CDA-B963-092C7757457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F206BBD-9461-4B50-B4FF-D14132446F15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207145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7085D5D-CC2D-443A-952B-2F0C041F41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1AC0C2F-B341-4E40-94E0-FFF4C92A660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C00965-366C-447D-9AB4-371AFC19549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C0F416C-4E11-40A7-BE42-AD138ABDBCBE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015200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BCC9E42-25B3-49CE-8AC8-C9264F7B32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8B2D048B-8DBD-458B-A990-A9F9F71C519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FC9974-659B-4061-B2E7-F0ECDC05C5A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19C67F89-5169-4667-AA3B-E79E7997ACEB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234654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1FA278-7B11-43AF-AA01-3CDE345723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A109D86-060E-4E88-AADC-2B6C3DC0F7D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D467D6-978F-42DE-8867-CB6DE7E3E0A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ECC4B71D-22A2-4277-91AF-8448F787EE96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91585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CCA824-6939-418C-94B2-0EE5359C15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9BB2CF1-406E-474B-AFE7-D1DF53DFE46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1FC084-7B2B-45E5-95FA-2C53A39E971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86562D8B-D4DD-47CD-BD54-5DF56DBBE8D9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841182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76627A6-71D1-40E9-A9B7-95F98B70D4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05AF1A9-4749-4B34-A545-0C1129928BD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3E1504-F438-4AF8-9796-4BFCBF5D559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CEE0CD1-DF95-475A-A779-748295D0213E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479563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A1C496E-6AE0-4FEA-8055-FEFB4B084F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888168B-FCC1-44F1-9FFD-D6C2937BDC7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09DB08-8770-47D2-81AB-8B75CD71435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6866224-4B79-4789-A1B1-D4BBB44B856C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181151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02E1F20-8D3B-4898-94BB-24170744C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06976B1-0E7B-46D1-A007-77D21443BF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2A5C1AF-78B3-4ABF-830E-53311810DD5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12F0CDE-3225-4790-BA10-A01D23F491A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fld id="{76E2CF5C-3435-40A1-B647-52EA6DFAA3D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14655212-3960-4F25-B492-69221D461C0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800" b="0">
                <a:latin typeface="+mn-lt"/>
              </a:defRPr>
            </a:lvl1pPr>
          </a:lstStyle>
          <a:p>
            <a:pPr>
              <a:defRPr/>
            </a:pPr>
            <a:endParaRPr lang="en-US" b="1"/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endParaRPr lang="en-US" b="1">
              <a:latin typeface="Tahoma" pitchFamily="34" charset="0"/>
            </a:endParaRPr>
          </a:p>
          <a:p>
            <a:pPr>
              <a:defRPr/>
            </a:pPr>
            <a:r>
              <a:rPr lang="en-US" b="1">
                <a:latin typeface="Tahoma" pitchFamily="34" charset="0"/>
              </a:rPr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WordArt 2">
            <a:extLst>
              <a:ext uri="{FF2B5EF4-FFF2-40B4-BE49-F238E27FC236}">
                <a16:creationId xmlns:a16="http://schemas.microsoft.com/office/drawing/2014/main" id="{D7460115-E938-4394-9E36-6C3671FE9D37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990600" y="1752600"/>
            <a:ext cx="7315200" cy="19812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THE HEAP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BE9FEF78-AC74-4DCB-AAC5-D997C5798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 algn="ctr"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  <a:endParaRPr lang="en-US" altLang="en-US" sz="2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WordArt 5">
            <a:extLst>
              <a:ext uri="{FF2B5EF4-FFF2-40B4-BE49-F238E27FC236}">
                <a16:creationId xmlns:a16="http://schemas.microsoft.com/office/drawing/2014/main" id="{0C19C17B-9B13-4CC4-B40D-8088211EAA08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371600" y="533400"/>
            <a:ext cx="6248400" cy="8382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heap</a:t>
            </a:r>
          </a:p>
        </p:txBody>
      </p:sp>
      <p:sp>
        <p:nvSpPr>
          <p:cNvPr id="5123" name="Text Box 2">
            <a:extLst>
              <a:ext uri="{FF2B5EF4-FFF2-40B4-BE49-F238E27FC236}">
                <a16:creationId xmlns:a16="http://schemas.microsoft.com/office/drawing/2014/main" id="{E1A73F6B-5F65-4DBA-9DF5-5692122272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1" y="1981200"/>
            <a:ext cx="71628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The heap is essentially an array-based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binary tree with the biggest element at the root.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A heap must obey two rules:</a:t>
            </a:r>
          </a:p>
        </p:txBody>
      </p:sp>
      <p:grpSp>
        <p:nvGrpSpPr>
          <p:cNvPr id="2" name="Group 1" descr="A complete tree, i.e. a tree with every level full except the last, which is filled from the left:&#10;Row 0: 15&#10;Row 1: 11, 10&#10;Row 2: 7, 8, 9&#10;&#10;Level order: 15 | 11 10 | 7 8 9">
            <a:extLst>
              <a:ext uri="{FF2B5EF4-FFF2-40B4-BE49-F238E27FC236}">
                <a16:creationId xmlns:a16="http://schemas.microsoft.com/office/drawing/2014/main" id="{47EFEE5B-51E3-4FEF-EB4B-46C8F5D1CC11}"/>
              </a:ext>
            </a:extLst>
          </p:cNvPr>
          <p:cNvGrpSpPr/>
          <p:nvPr/>
        </p:nvGrpSpPr>
        <p:grpSpPr>
          <a:xfrm>
            <a:off x="2590800" y="3733800"/>
            <a:ext cx="2667000" cy="1524000"/>
            <a:chOff x="2590800" y="3733800"/>
            <a:chExt cx="2667000" cy="1524000"/>
          </a:xfrm>
        </p:grpSpPr>
        <p:sp>
          <p:nvSpPr>
            <p:cNvPr id="5125" name="Oval 6">
              <a:extLst>
                <a:ext uri="{FF2B5EF4-FFF2-40B4-BE49-F238E27FC236}">
                  <a16:creationId xmlns:a16="http://schemas.microsoft.com/office/drawing/2014/main" id="{BA76F3C3-E853-4BB3-A8BE-3A04D0A5FA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3733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latin typeface="Tahoma" panose="020B0604030504040204" pitchFamily="34" charset="0"/>
                </a:rPr>
                <a:t>15</a:t>
              </a:r>
            </a:p>
          </p:txBody>
        </p:sp>
        <p:sp>
          <p:nvSpPr>
            <p:cNvPr id="5126" name="Oval 7">
              <a:extLst>
                <a:ext uri="{FF2B5EF4-FFF2-40B4-BE49-F238E27FC236}">
                  <a16:creationId xmlns:a16="http://schemas.microsoft.com/office/drawing/2014/main" id="{343A515C-EF76-4257-A05D-1248DE333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42672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latin typeface="Tahoma" panose="020B0604030504040204" pitchFamily="34" charset="0"/>
                </a:rPr>
                <a:t>11</a:t>
              </a:r>
            </a:p>
          </p:txBody>
        </p:sp>
        <p:sp>
          <p:nvSpPr>
            <p:cNvPr id="5127" name="Oval 8">
              <a:extLst>
                <a:ext uri="{FF2B5EF4-FFF2-40B4-BE49-F238E27FC236}">
                  <a16:creationId xmlns:a16="http://schemas.microsoft.com/office/drawing/2014/main" id="{40888769-52A1-4A31-9501-ABA1C2A8D1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0800" y="48006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5128" name="Oval 9">
              <a:extLst>
                <a:ext uri="{FF2B5EF4-FFF2-40B4-BE49-F238E27FC236}">
                  <a16:creationId xmlns:a16="http://schemas.microsoft.com/office/drawing/2014/main" id="{A8B4D812-B84D-4370-AFE7-F3B256D17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48006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8</a:t>
              </a:r>
            </a:p>
          </p:txBody>
        </p:sp>
        <p:sp>
          <p:nvSpPr>
            <p:cNvPr id="5129" name="Oval 10">
              <a:extLst>
                <a:ext uri="{FF2B5EF4-FFF2-40B4-BE49-F238E27FC236}">
                  <a16:creationId xmlns:a16="http://schemas.microsoft.com/office/drawing/2014/main" id="{D9C6EDE2-6D11-41C3-BCFF-CB4FFB5B4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41910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5130" name="Oval 11">
              <a:extLst>
                <a:ext uri="{FF2B5EF4-FFF2-40B4-BE49-F238E27FC236}">
                  <a16:creationId xmlns:a16="http://schemas.microsoft.com/office/drawing/2014/main" id="{B834023F-68B9-4084-8861-D64E9F493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600" y="48006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9</a:t>
              </a:r>
            </a:p>
          </p:txBody>
        </p:sp>
      </p:grpSp>
      <p:sp>
        <p:nvSpPr>
          <p:cNvPr id="5122" name="Footer Placeholder 3">
            <a:extLst>
              <a:ext uri="{FF2B5EF4-FFF2-40B4-BE49-F238E27FC236}">
                <a16:creationId xmlns:a16="http://schemas.microsoft.com/office/drawing/2014/main" id="{3A8897C9-EC08-4E2C-8EA9-2FC4E84EC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172200" y="6317673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2FCB2-285A-1558-163A-C14BA2809F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78606" y="457660"/>
            <a:ext cx="5586787" cy="92333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The Shape Rule</a:t>
            </a:r>
          </a:p>
        </p:txBody>
      </p:sp>
      <p:sp>
        <p:nvSpPr>
          <p:cNvPr id="7171" name="Text Box 2">
            <a:extLst>
              <a:ext uri="{FF2B5EF4-FFF2-40B4-BE49-F238E27FC236}">
                <a16:creationId xmlns:a16="http://schemas.microsoft.com/office/drawing/2014/main" id="{B9C73E61-0A73-4BAF-A95D-F91DF2BAA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" y="1752591"/>
            <a:ext cx="746760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In a complete tree, every level that can be filled is filled.   Any levels that are not full have all nodes shifted as far left as possible.</a:t>
            </a:r>
          </a:p>
        </p:txBody>
      </p:sp>
      <p:grpSp>
        <p:nvGrpSpPr>
          <p:cNvPr id="3" name="Group 2" descr="The same complete tree as last slide, but with no values shown.">
            <a:extLst>
              <a:ext uri="{FF2B5EF4-FFF2-40B4-BE49-F238E27FC236}">
                <a16:creationId xmlns:a16="http://schemas.microsoft.com/office/drawing/2014/main" id="{89EEAB1E-84C5-A1B9-F951-1F967D0A74F3}"/>
              </a:ext>
            </a:extLst>
          </p:cNvPr>
          <p:cNvGrpSpPr/>
          <p:nvPr/>
        </p:nvGrpSpPr>
        <p:grpSpPr>
          <a:xfrm>
            <a:off x="2590800" y="4267200"/>
            <a:ext cx="2667000" cy="1524000"/>
            <a:chOff x="2590800" y="4267200"/>
            <a:chExt cx="2667000" cy="1524000"/>
          </a:xfrm>
        </p:grpSpPr>
        <p:sp>
          <p:nvSpPr>
            <p:cNvPr id="7172" name="Oval 4">
              <a:extLst>
                <a:ext uri="{FF2B5EF4-FFF2-40B4-BE49-F238E27FC236}">
                  <a16:creationId xmlns:a16="http://schemas.microsoft.com/office/drawing/2014/main" id="{B06B07EB-E8AD-4D30-9B45-973D34F58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4267200"/>
              <a:ext cx="533400" cy="457200"/>
            </a:xfrm>
            <a:prstGeom prst="ellipse">
              <a:avLst/>
            </a:prstGeom>
            <a:solidFill>
              <a:srgbClr val="99CC00">
                <a:alpha val="49019"/>
              </a:srgb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173" name="Oval 5">
              <a:extLst>
                <a:ext uri="{FF2B5EF4-FFF2-40B4-BE49-F238E27FC236}">
                  <a16:creationId xmlns:a16="http://schemas.microsoft.com/office/drawing/2014/main" id="{F9318233-CF98-4525-AAF8-BEC37DEB3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4800600"/>
              <a:ext cx="533400" cy="457200"/>
            </a:xfrm>
            <a:prstGeom prst="ellipse">
              <a:avLst/>
            </a:prstGeom>
            <a:solidFill>
              <a:srgbClr val="99CC00">
                <a:alpha val="49019"/>
              </a:srgb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174" name="Oval 6">
              <a:extLst>
                <a:ext uri="{FF2B5EF4-FFF2-40B4-BE49-F238E27FC236}">
                  <a16:creationId xmlns:a16="http://schemas.microsoft.com/office/drawing/2014/main" id="{2B0C3334-B7B8-498D-A11A-9E6CBA84AD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0800" y="5334000"/>
              <a:ext cx="533400" cy="457200"/>
            </a:xfrm>
            <a:prstGeom prst="ellipse">
              <a:avLst/>
            </a:prstGeom>
            <a:solidFill>
              <a:srgbClr val="99CC00">
                <a:alpha val="49019"/>
              </a:srgb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175" name="Oval 7">
              <a:extLst>
                <a:ext uri="{FF2B5EF4-FFF2-40B4-BE49-F238E27FC236}">
                  <a16:creationId xmlns:a16="http://schemas.microsoft.com/office/drawing/2014/main" id="{B470711B-F845-4F46-A21D-A386B3798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5334000"/>
              <a:ext cx="533400" cy="457200"/>
            </a:xfrm>
            <a:prstGeom prst="ellipse">
              <a:avLst/>
            </a:prstGeom>
            <a:solidFill>
              <a:srgbClr val="99CC00">
                <a:alpha val="49019"/>
              </a:srgb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176" name="Oval 8">
              <a:extLst>
                <a:ext uri="{FF2B5EF4-FFF2-40B4-BE49-F238E27FC236}">
                  <a16:creationId xmlns:a16="http://schemas.microsoft.com/office/drawing/2014/main" id="{5D2D24D8-DC5D-458C-BC87-1D34B5A38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4724400"/>
              <a:ext cx="533400" cy="457200"/>
            </a:xfrm>
            <a:prstGeom prst="ellipse">
              <a:avLst/>
            </a:prstGeom>
            <a:solidFill>
              <a:srgbClr val="99CC00">
                <a:alpha val="49019"/>
              </a:srgb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177" name="Oval 9">
              <a:extLst>
                <a:ext uri="{FF2B5EF4-FFF2-40B4-BE49-F238E27FC236}">
                  <a16:creationId xmlns:a16="http://schemas.microsoft.com/office/drawing/2014/main" id="{ECB6DFCB-77B2-4731-A9C1-504726EDD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600" y="5334000"/>
              <a:ext cx="533400" cy="457200"/>
            </a:xfrm>
            <a:prstGeom prst="ellipse">
              <a:avLst/>
            </a:prstGeom>
            <a:solidFill>
              <a:srgbClr val="99CC00">
                <a:alpha val="49019"/>
              </a:srgb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</p:grpSp>
      <p:sp>
        <p:nvSpPr>
          <p:cNvPr id="7170" name="Footer Placeholder 3">
            <a:extLst>
              <a:ext uri="{FF2B5EF4-FFF2-40B4-BE49-F238E27FC236}">
                <a16:creationId xmlns:a16="http://schemas.microsoft.com/office/drawing/2014/main" id="{4A791789-5A0B-4761-A1FF-8081ED77E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A6708-70C0-671C-F6B9-03A969308BE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955739" y="457660"/>
            <a:ext cx="5232523" cy="92333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The Heap Rule</a:t>
            </a:r>
          </a:p>
        </p:txBody>
      </p:sp>
      <p:sp>
        <p:nvSpPr>
          <p:cNvPr id="6147" name="Text Box 2">
            <a:extLst>
              <a:ext uri="{FF2B5EF4-FFF2-40B4-BE49-F238E27FC236}">
                <a16:creationId xmlns:a16="http://schemas.microsoft.com/office/drawing/2014/main" id="{2E0D3C14-0106-4A1C-AD54-5E83D9B22A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106535"/>
            <a:ext cx="7010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600" u="sng" dirty="0">
                <a:latin typeface="Tahoma" panose="020B0604030504040204" pitchFamily="34" charset="0"/>
              </a:rPr>
              <a:t>Every</a:t>
            </a:r>
            <a:r>
              <a:rPr lang="en-US" altLang="en-US" sz="3600" dirty="0">
                <a:latin typeface="Tahoma" panose="020B0604030504040204" pitchFamily="34" charset="0"/>
              </a:rPr>
              <a:t> parent will always be larger than its children. </a:t>
            </a:r>
          </a:p>
        </p:txBody>
      </p:sp>
      <p:sp>
        <p:nvSpPr>
          <p:cNvPr id="6146" name="Footer Placeholder 3">
            <a:extLst>
              <a:ext uri="{FF2B5EF4-FFF2-40B4-BE49-F238E27FC236}">
                <a16:creationId xmlns:a16="http://schemas.microsoft.com/office/drawing/2014/main" id="{FEB2E8ED-B041-4B76-8553-E261EA2B6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A6708-70C0-671C-F6B9-03A969308BE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40294" y="457660"/>
            <a:ext cx="8063426" cy="92333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Max Heap vs Min Heap</a:t>
            </a:r>
          </a:p>
        </p:txBody>
      </p:sp>
      <p:sp>
        <p:nvSpPr>
          <p:cNvPr id="6147" name="Text Box 2">
            <a:extLst>
              <a:ext uri="{FF2B5EF4-FFF2-40B4-BE49-F238E27FC236}">
                <a16:creationId xmlns:a16="http://schemas.microsoft.com/office/drawing/2014/main" id="{2E0D3C14-0106-4A1C-AD54-5E83D9B22A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106535"/>
            <a:ext cx="79248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600" u="sng" dirty="0">
                <a:latin typeface="Tahoma" panose="020B0604030504040204" pitchFamily="34" charset="0"/>
              </a:rPr>
              <a:t>Heaps are Max Heaps by default: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3600" dirty="0">
                <a:latin typeface="Tahoma" panose="020B0604030504040204" pitchFamily="34" charset="0"/>
              </a:rPr>
              <a:t>Every parent will always be larger than its children.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36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3600" dirty="0">
                <a:latin typeface="Tahoma" panose="020B0604030504040204" pitchFamily="34" charset="0"/>
              </a:rPr>
              <a:t>Min Heaps:  In a min heap the rule is that a parent is smaller than its children.</a:t>
            </a:r>
          </a:p>
        </p:txBody>
      </p:sp>
      <p:sp>
        <p:nvSpPr>
          <p:cNvPr id="6146" name="Footer Placeholder 3">
            <a:extLst>
              <a:ext uri="{FF2B5EF4-FFF2-40B4-BE49-F238E27FC236}">
                <a16:creationId xmlns:a16="http://schemas.microsoft.com/office/drawing/2014/main" id="{FEB2E8ED-B041-4B76-8553-E261EA2B6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059284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WordArt 11">
            <a:extLst>
              <a:ext uri="{FF2B5EF4-FFF2-40B4-BE49-F238E27FC236}">
                <a16:creationId xmlns:a16="http://schemas.microsoft.com/office/drawing/2014/main" id="{350334BE-1E5D-4705-8BC6-A9364349A628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371600" y="533400"/>
            <a:ext cx="6248400" cy="8382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heap</a:t>
            </a:r>
          </a:p>
        </p:txBody>
      </p:sp>
      <p:sp>
        <p:nvSpPr>
          <p:cNvPr id="8195" name="Text Box 2">
            <a:extLst>
              <a:ext uri="{FF2B5EF4-FFF2-40B4-BE49-F238E27FC236}">
                <a16:creationId xmlns:a16="http://schemas.microsoft.com/office/drawing/2014/main" id="{28F45B2C-2400-4BAA-B231-BDFB22A7F8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913" y="1905000"/>
            <a:ext cx="48561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A Heap is a </a:t>
            </a:r>
            <a:r>
              <a:rPr lang="en-US" altLang="en-US" sz="2800" u="sng">
                <a:latin typeface="Tahoma" panose="020B0604030504040204" pitchFamily="34" charset="0"/>
              </a:rPr>
              <a:t>complete</a:t>
            </a:r>
            <a:r>
              <a:rPr lang="en-US" altLang="en-US" sz="2800">
                <a:latin typeface="Tahoma" panose="020B0604030504040204" pitchFamily="34" charset="0"/>
              </a:rPr>
              <a:t> tree.</a:t>
            </a:r>
          </a:p>
        </p:txBody>
      </p:sp>
      <p:grpSp>
        <p:nvGrpSpPr>
          <p:cNvPr id="8196" name="Group 1" descr="The same complete tree again:&#10;Level order:&#10;15 | 11 10 | 7 8 9&#10;Row-by-row description:&#10;Row 0: 15&#10;Row 1: 11, 10&#10;Row 2: 7, 8, 9">
            <a:extLst>
              <a:ext uri="{FF2B5EF4-FFF2-40B4-BE49-F238E27FC236}">
                <a16:creationId xmlns:a16="http://schemas.microsoft.com/office/drawing/2014/main" id="{7EE11D7F-48D6-4A9F-B56E-CCFB4EE93BF6}"/>
              </a:ext>
            </a:extLst>
          </p:cNvPr>
          <p:cNvGrpSpPr>
            <a:grpSpLocks/>
          </p:cNvGrpSpPr>
          <p:nvPr/>
        </p:nvGrpSpPr>
        <p:grpSpPr bwMode="auto">
          <a:xfrm>
            <a:off x="509588" y="2884488"/>
            <a:ext cx="2667000" cy="1524000"/>
            <a:chOff x="2590800" y="3733800"/>
            <a:chExt cx="2667000" cy="1524000"/>
          </a:xfrm>
        </p:grpSpPr>
        <p:sp>
          <p:nvSpPr>
            <p:cNvPr id="8208" name="Oval 3">
              <a:extLst>
                <a:ext uri="{FF2B5EF4-FFF2-40B4-BE49-F238E27FC236}">
                  <a16:creationId xmlns:a16="http://schemas.microsoft.com/office/drawing/2014/main" id="{CD56CE58-0F88-43E7-9A68-74EC8E176E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3733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latin typeface="Tahoma" panose="020B0604030504040204" pitchFamily="34" charset="0"/>
                </a:rPr>
                <a:t>15</a:t>
              </a:r>
            </a:p>
          </p:txBody>
        </p:sp>
        <p:sp>
          <p:nvSpPr>
            <p:cNvPr id="8209" name="Oval 4">
              <a:extLst>
                <a:ext uri="{FF2B5EF4-FFF2-40B4-BE49-F238E27FC236}">
                  <a16:creationId xmlns:a16="http://schemas.microsoft.com/office/drawing/2014/main" id="{A22485CD-1FD7-41D8-9A9E-22D134B8A2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42672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11</a:t>
              </a:r>
            </a:p>
          </p:txBody>
        </p:sp>
        <p:sp>
          <p:nvSpPr>
            <p:cNvPr id="8210" name="Oval 5">
              <a:extLst>
                <a:ext uri="{FF2B5EF4-FFF2-40B4-BE49-F238E27FC236}">
                  <a16:creationId xmlns:a16="http://schemas.microsoft.com/office/drawing/2014/main" id="{282DC1BD-A743-4A3B-88D9-35E38CAA3B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0800" y="48006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8211" name="Oval 6">
              <a:extLst>
                <a:ext uri="{FF2B5EF4-FFF2-40B4-BE49-F238E27FC236}">
                  <a16:creationId xmlns:a16="http://schemas.microsoft.com/office/drawing/2014/main" id="{97857560-E357-407C-9E9F-F20EBE864E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48006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8</a:t>
              </a:r>
            </a:p>
          </p:txBody>
        </p:sp>
        <p:sp>
          <p:nvSpPr>
            <p:cNvPr id="8212" name="Oval 7">
              <a:extLst>
                <a:ext uri="{FF2B5EF4-FFF2-40B4-BE49-F238E27FC236}">
                  <a16:creationId xmlns:a16="http://schemas.microsoft.com/office/drawing/2014/main" id="{37E35BA3-2D1B-4017-B886-8882254B5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41910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8213" name="Oval 8">
              <a:extLst>
                <a:ext uri="{FF2B5EF4-FFF2-40B4-BE49-F238E27FC236}">
                  <a16:creationId xmlns:a16="http://schemas.microsoft.com/office/drawing/2014/main" id="{05945FD9-2C4B-481E-82B1-CC2A35214C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600" y="48006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9</a:t>
              </a:r>
            </a:p>
          </p:txBody>
        </p:sp>
      </p:grpSp>
      <p:sp>
        <p:nvSpPr>
          <p:cNvPr id="8198" name="Text Box 2">
            <a:extLst>
              <a:ext uri="{FF2B5EF4-FFF2-40B4-BE49-F238E27FC236}">
                <a16:creationId xmlns:a16="http://schemas.microsoft.com/office/drawing/2014/main" id="{346D05C8-BABF-409A-9D7D-A5C33F037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4643438"/>
            <a:ext cx="38750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[ 15, 11, 10, 7, 8, 9 ]</a:t>
            </a:r>
          </a:p>
        </p:txBody>
      </p:sp>
      <p:sp>
        <p:nvSpPr>
          <p:cNvPr id="8201" name="Text Box 2">
            <a:extLst>
              <a:ext uri="{FF2B5EF4-FFF2-40B4-BE49-F238E27FC236}">
                <a16:creationId xmlns:a16="http://schemas.microsoft.com/office/drawing/2014/main" id="{E43C1F41-CB6D-4C29-ABD5-464611DCD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0138" y="3308350"/>
            <a:ext cx="273208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0000"/>
                </a:solidFill>
                <a:latin typeface="Tahoma" panose="020B0604030504040204" pitchFamily="34" charset="0"/>
              </a:rPr>
              <a:t>Not complete:</a:t>
            </a:r>
          </a:p>
        </p:txBody>
      </p:sp>
      <p:grpSp>
        <p:nvGrpSpPr>
          <p:cNvPr id="8199" name="Group 2" descr="Not a complete tree:&#10;Level order:&#10;15 | 11 10 | 7 null 8 9&#10;Row-by-row description:&#10;Row 0:&#10;Root: 15&#10;Row 1:&#10;Left child of 15: 11&#10;Right child of 15: 10&#10;Row 2:&#10;Left child of 11: 7&#10;Left child of 10: 8&#10;Right child of 10: 9">
            <a:extLst>
              <a:ext uri="{FF2B5EF4-FFF2-40B4-BE49-F238E27FC236}">
                <a16:creationId xmlns:a16="http://schemas.microsoft.com/office/drawing/2014/main" id="{BC133F8E-3ACF-4D94-A0CB-3BD3F50912B0}"/>
              </a:ext>
            </a:extLst>
          </p:cNvPr>
          <p:cNvGrpSpPr>
            <a:grpSpLocks/>
          </p:cNvGrpSpPr>
          <p:nvPr/>
        </p:nvGrpSpPr>
        <p:grpSpPr bwMode="auto">
          <a:xfrm>
            <a:off x="4819650" y="3990975"/>
            <a:ext cx="3086100" cy="1524000"/>
            <a:chOff x="4991100" y="3429000"/>
            <a:chExt cx="3086100" cy="1524000"/>
          </a:xfrm>
        </p:grpSpPr>
        <p:sp>
          <p:nvSpPr>
            <p:cNvPr id="8202" name="Oval 3">
              <a:extLst>
                <a:ext uri="{FF2B5EF4-FFF2-40B4-BE49-F238E27FC236}">
                  <a16:creationId xmlns:a16="http://schemas.microsoft.com/office/drawing/2014/main" id="{F551CE62-77F3-440C-9D20-E845175A6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2700" y="34290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latin typeface="Tahoma" panose="020B0604030504040204" pitchFamily="34" charset="0"/>
                </a:rPr>
                <a:t>15</a:t>
              </a:r>
            </a:p>
          </p:txBody>
        </p:sp>
        <p:sp>
          <p:nvSpPr>
            <p:cNvPr id="8203" name="Oval 4">
              <a:extLst>
                <a:ext uri="{FF2B5EF4-FFF2-40B4-BE49-F238E27FC236}">
                  <a16:creationId xmlns:a16="http://schemas.microsoft.com/office/drawing/2014/main" id="{B144DAD3-73CC-43A8-B4E9-8301854452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0700" y="39624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latin typeface="Tahoma" panose="020B0604030504040204" pitchFamily="34" charset="0"/>
                </a:rPr>
                <a:t>11</a:t>
              </a:r>
            </a:p>
          </p:txBody>
        </p:sp>
        <p:sp>
          <p:nvSpPr>
            <p:cNvPr id="8204" name="Oval 5">
              <a:extLst>
                <a:ext uri="{FF2B5EF4-FFF2-40B4-BE49-F238E27FC236}">
                  <a16:creationId xmlns:a16="http://schemas.microsoft.com/office/drawing/2014/main" id="{2BE5EAE0-FC09-4411-A6D2-754122316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1100" y="4495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8205" name="Oval 6">
              <a:extLst>
                <a:ext uri="{FF2B5EF4-FFF2-40B4-BE49-F238E27FC236}">
                  <a16:creationId xmlns:a16="http://schemas.microsoft.com/office/drawing/2014/main" id="{7435D8B3-3CE8-4440-A9D4-B672415517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4495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8</a:t>
              </a:r>
            </a:p>
          </p:txBody>
        </p:sp>
        <p:sp>
          <p:nvSpPr>
            <p:cNvPr id="8206" name="Oval 7">
              <a:extLst>
                <a:ext uri="{FF2B5EF4-FFF2-40B4-BE49-F238E27FC236}">
                  <a16:creationId xmlns:a16="http://schemas.microsoft.com/office/drawing/2014/main" id="{D9F2F040-A0E7-4356-8726-8249FE6FF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4700" y="38862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8207" name="Oval 8">
              <a:extLst>
                <a:ext uri="{FF2B5EF4-FFF2-40B4-BE49-F238E27FC236}">
                  <a16:creationId xmlns:a16="http://schemas.microsoft.com/office/drawing/2014/main" id="{4414EC26-E91F-41DA-869D-9E6D896CE1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3800" y="4495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9</a:t>
              </a:r>
            </a:p>
          </p:txBody>
        </p:sp>
      </p:grpSp>
      <p:sp>
        <p:nvSpPr>
          <p:cNvPr id="8200" name="Text Box 2">
            <a:extLst>
              <a:ext uri="{FF2B5EF4-FFF2-40B4-BE49-F238E27FC236}">
                <a16:creationId xmlns:a16="http://schemas.microsoft.com/office/drawing/2014/main" id="{C4F30C29-B91C-478D-99BD-03DD9FE7A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0663" y="5711825"/>
            <a:ext cx="466407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[ 15, 11, 10, 7,</a:t>
            </a:r>
            <a:r>
              <a:rPr lang="en-US" altLang="en-US" sz="2800">
                <a:solidFill>
                  <a:srgbClr val="C00000"/>
                </a:solidFill>
                <a:latin typeface="Tahoma" panose="020B0604030504040204" pitchFamily="34" charset="0"/>
              </a:rPr>
              <a:t>null</a:t>
            </a:r>
            <a:r>
              <a:rPr lang="en-US" altLang="en-US" sz="2800">
                <a:latin typeface="Tahoma" panose="020B0604030504040204" pitchFamily="34" charset="0"/>
              </a:rPr>
              <a:t>, 8, 9 ]</a:t>
            </a:r>
          </a:p>
        </p:txBody>
      </p:sp>
      <p:sp>
        <p:nvSpPr>
          <p:cNvPr id="8194" name="Footer Placeholder 3">
            <a:extLst>
              <a:ext uri="{FF2B5EF4-FFF2-40B4-BE49-F238E27FC236}">
                <a16:creationId xmlns:a16="http://schemas.microsoft.com/office/drawing/2014/main" id="{EA273072-D245-4A32-AFCA-8817BA57D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WordArt 22">
            <a:extLst>
              <a:ext uri="{FF2B5EF4-FFF2-40B4-BE49-F238E27FC236}">
                <a16:creationId xmlns:a16="http://schemas.microsoft.com/office/drawing/2014/main" id="{D49C1834-3604-41FC-BC83-AF33057FD5A7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371600" y="533400"/>
            <a:ext cx="6248400" cy="8382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max heap</a:t>
            </a:r>
          </a:p>
        </p:txBody>
      </p:sp>
      <p:sp>
        <p:nvSpPr>
          <p:cNvPr id="10246" name="Text Box 23">
            <a:extLst>
              <a:ext uri="{FF2B5EF4-FFF2-40B4-BE49-F238E27FC236}">
                <a16:creationId xmlns:a16="http://schemas.microsoft.com/office/drawing/2014/main" id="{155864BE-96D8-45DD-8CE6-32D3DB3B3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742" y="4419600"/>
            <a:ext cx="7217040" cy="954107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A heap is a max heap by default.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Every parent is larger than its children.</a:t>
            </a:r>
          </a:p>
        </p:txBody>
      </p:sp>
      <p:grpSp>
        <p:nvGrpSpPr>
          <p:cNvPr id="2" name="Group 1" descr="Level order:&#10;90 | 45 43 | 30 39 38 end&#10;Row-by-row description:&#10;The tree has the number 90 as its root node. This root has two children:  &#10;&#10;- The left child is 45, which has two children:&#10;  - The left child of 45 is 30.&#10;  - The right child of 45 is 39.&#10;&#10;- The right child of the root (90) is 43, which has one child:&#10;  - The left child of 43 is 38.">
            <a:extLst>
              <a:ext uri="{FF2B5EF4-FFF2-40B4-BE49-F238E27FC236}">
                <a16:creationId xmlns:a16="http://schemas.microsoft.com/office/drawing/2014/main" id="{5E3BCAE1-7508-F198-1364-66865DDA6287}"/>
              </a:ext>
            </a:extLst>
          </p:cNvPr>
          <p:cNvGrpSpPr/>
          <p:nvPr/>
        </p:nvGrpSpPr>
        <p:grpSpPr>
          <a:xfrm>
            <a:off x="1219200" y="2133600"/>
            <a:ext cx="5834063" cy="1524000"/>
            <a:chOff x="1219200" y="2133600"/>
            <a:chExt cx="5834063" cy="1524000"/>
          </a:xfrm>
        </p:grpSpPr>
        <p:sp>
          <p:nvSpPr>
            <p:cNvPr id="10247" name="Oval 24">
              <a:extLst>
                <a:ext uri="{FF2B5EF4-FFF2-40B4-BE49-F238E27FC236}">
                  <a16:creationId xmlns:a16="http://schemas.microsoft.com/office/drawing/2014/main" id="{45EFDA91-CB09-42D1-A151-F2F5822F9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7400" y="26670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Tahoma" panose="020B0604030504040204" pitchFamily="34" charset="0"/>
                </a:rPr>
                <a:t>45</a:t>
              </a:r>
            </a:p>
          </p:txBody>
        </p:sp>
        <p:sp>
          <p:nvSpPr>
            <p:cNvPr id="10248" name="Oval 25">
              <a:extLst>
                <a:ext uri="{FF2B5EF4-FFF2-40B4-BE49-F238E27FC236}">
                  <a16:creationId xmlns:a16="http://schemas.microsoft.com/office/drawing/2014/main" id="{C12C4548-4738-433B-BA53-1BB896FABA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9200" y="32004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b="0" dirty="0">
                  <a:latin typeface="Tahoma" panose="020B0604030504040204" pitchFamily="34" charset="0"/>
                </a:rPr>
                <a:t>30</a:t>
              </a:r>
            </a:p>
          </p:txBody>
        </p:sp>
        <p:sp>
          <p:nvSpPr>
            <p:cNvPr id="10249" name="Oval 26">
              <a:extLst>
                <a:ext uri="{FF2B5EF4-FFF2-40B4-BE49-F238E27FC236}">
                  <a16:creationId xmlns:a16="http://schemas.microsoft.com/office/drawing/2014/main" id="{A2896CD4-6A38-4F77-8D2A-4B0673198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32004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Tahoma" panose="020B0604030504040204" pitchFamily="34" charset="0"/>
                </a:rPr>
                <a:t>39</a:t>
              </a:r>
            </a:p>
          </p:txBody>
        </p:sp>
        <p:sp>
          <p:nvSpPr>
            <p:cNvPr id="10250" name="Oval 27">
              <a:extLst>
                <a:ext uri="{FF2B5EF4-FFF2-40B4-BE49-F238E27FC236}">
                  <a16:creationId xmlns:a16="http://schemas.microsoft.com/office/drawing/2014/main" id="{4F638107-F838-4502-9723-AF273EB52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8400" y="26670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Tahoma" panose="020B0604030504040204" pitchFamily="34" charset="0"/>
                </a:rPr>
                <a:t>43</a:t>
              </a:r>
            </a:p>
          </p:txBody>
        </p:sp>
        <p:sp>
          <p:nvSpPr>
            <p:cNvPr id="10251" name="Oval 28">
              <a:extLst>
                <a:ext uri="{FF2B5EF4-FFF2-40B4-BE49-F238E27FC236}">
                  <a16:creationId xmlns:a16="http://schemas.microsoft.com/office/drawing/2014/main" id="{C9F90B9C-90A9-457F-8ED6-98ABFE5907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32004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b="0" dirty="0">
                  <a:latin typeface="Tahoma" panose="020B0604030504040204" pitchFamily="34" charset="0"/>
                </a:rPr>
                <a:t>38</a:t>
              </a:r>
            </a:p>
          </p:txBody>
        </p:sp>
        <p:sp>
          <p:nvSpPr>
            <p:cNvPr id="10252" name="Oval 29">
              <a:extLst>
                <a:ext uri="{FF2B5EF4-FFF2-40B4-BE49-F238E27FC236}">
                  <a16:creationId xmlns:a16="http://schemas.microsoft.com/office/drawing/2014/main" id="{036E3018-D6EB-4D5D-800A-DF319A8E1A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21336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Tahoma" panose="020B0604030504040204" pitchFamily="34" charset="0"/>
                </a:rPr>
                <a:t>90</a:t>
              </a:r>
            </a:p>
          </p:txBody>
        </p:sp>
        <p:sp>
          <p:nvSpPr>
            <p:cNvPr id="10253" name="Line 30">
              <a:extLst>
                <a:ext uri="{FF2B5EF4-FFF2-40B4-BE49-F238E27FC236}">
                  <a16:creationId xmlns:a16="http://schemas.microsoft.com/office/drawing/2014/main" id="{81C24A32-F4BB-4518-ABDB-B12D891E34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19400" y="2438400"/>
              <a:ext cx="1371600" cy="3048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4" name="Line 31">
              <a:extLst>
                <a:ext uri="{FF2B5EF4-FFF2-40B4-BE49-F238E27FC236}">
                  <a16:creationId xmlns:a16="http://schemas.microsoft.com/office/drawing/2014/main" id="{63983A78-B2F6-4E07-89C2-DB848BC89A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9200" y="2438400"/>
              <a:ext cx="1219200" cy="3048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5" name="Line 32">
              <a:extLst>
                <a:ext uri="{FF2B5EF4-FFF2-40B4-BE49-F238E27FC236}">
                  <a16:creationId xmlns:a16="http://schemas.microsoft.com/office/drawing/2014/main" id="{DF1B7CED-F550-4A2E-8ABB-1C59315A16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05000" y="3048000"/>
              <a:ext cx="228600" cy="1524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6" name="Line 33">
              <a:extLst>
                <a:ext uri="{FF2B5EF4-FFF2-40B4-BE49-F238E27FC236}">
                  <a16:creationId xmlns:a16="http://schemas.microsoft.com/office/drawing/2014/main" id="{315F1981-45FD-4CCF-95F0-EE217C97AF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96000" y="3048000"/>
              <a:ext cx="228600" cy="1524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7" name="Line 34">
              <a:extLst>
                <a:ext uri="{FF2B5EF4-FFF2-40B4-BE49-F238E27FC236}">
                  <a16:creationId xmlns:a16="http://schemas.microsoft.com/office/drawing/2014/main" id="{6DBE72F8-D9E0-4A9A-A7CA-48E7979910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3200" y="3048000"/>
              <a:ext cx="304800" cy="1524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42" name="Footer Placeholder 3">
            <a:extLst>
              <a:ext uri="{FF2B5EF4-FFF2-40B4-BE49-F238E27FC236}">
                <a16:creationId xmlns:a16="http://schemas.microsoft.com/office/drawing/2014/main" id="{F41CBFCC-2455-469A-9A86-A4F5A2FE5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3" name="WordArt 35">
            <a:extLst>
              <a:ext uri="{FF2B5EF4-FFF2-40B4-BE49-F238E27FC236}">
                <a16:creationId xmlns:a16="http://schemas.microsoft.com/office/drawing/2014/main" id="{3CA16B09-B570-4F86-844F-D4ED187C87BB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371600" y="533400"/>
            <a:ext cx="6248400" cy="8382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min heap</a:t>
            </a:r>
          </a:p>
        </p:txBody>
      </p:sp>
      <p:sp>
        <p:nvSpPr>
          <p:cNvPr id="9221" name="Text Box 17">
            <a:extLst>
              <a:ext uri="{FF2B5EF4-FFF2-40B4-BE49-F238E27FC236}">
                <a16:creationId xmlns:a16="http://schemas.microsoft.com/office/drawing/2014/main" id="{C33BECF0-F50B-464B-9E35-0931A8D16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656" y="4419600"/>
            <a:ext cx="6845144" cy="954107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A min heap is a binary tree that has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a root smaller than all of its children.</a:t>
            </a:r>
          </a:p>
        </p:txBody>
      </p:sp>
      <p:grpSp>
        <p:nvGrpSpPr>
          <p:cNvPr id="2" name="Group 1" descr="Level order:&#10;9 | 18 23 | 20 21 25 end&#10;Row-by-row description:&#10;The tree has the number 9 as its root node. This root has two children:  &#10;&#10;- The left child is 18, which has two children:&#10;  - The left child of 18 is 20.&#10;  - The right child of 18 is 21.&#10;&#10;- The right child of the root (9) is 23, which has one child:&#10;  - The left child of 23 is 25.">
            <a:extLst>
              <a:ext uri="{FF2B5EF4-FFF2-40B4-BE49-F238E27FC236}">
                <a16:creationId xmlns:a16="http://schemas.microsoft.com/office/drawing/2014/main" id="{D9A2F8E9-B9FF-F490-AEC6-B0A1D9D31F4B}"/>
              </a:ext>
            </a:extLst>
          </p:cNvPr>
          <p:cNvGrpSpPr/>
          <p:nvPr/>
        </p:nvGrpSpPr>
        <p:grpSpPr>
          <a:xfrm>
            <a:off x="1219200" y="2133600"/>
            <a:ext cx="5834063" cy="1524000"/>
            <a:chOff x="1219200" y="2133600"/>
            <a:chExt cx="5834063" cy="1524000"/>
          </a:xfrm>
        </p:grpSpPr>
        <p:sp>
          <p:nvSpPr>
            <p:cNvPr id="9222" name="Oval 20">
              <a:extLst>
                <a:ext uri="{FF2B5EF4-FFF2-40B4-BE49-F238E27FC236}">
                  <a16:creationId xmlns:a16="http://schemas.microsoft.com/office/drawing/2014/main" id="{6DEF2BE8-E9B9-45C9-BBFD-ABE5402ED4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7400" y="26670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Tahoma" panose="020B0604030504040204" pitchFamily="34" charset="0"/>
                </a:rPr>
                <a:t>18</a:t>
              </a:r>
            </a:p>
          </p:txBody>
        </p:sp>
        <p:sp>
          <p:nvSpPr>
            <p:cNvPr id="9223" name="Oval 21">
              <a:extLst>
                <a:ext uri="{FF2B5EF4-FFF2-40B4-BE49-F238E27FC236}">
                  <a16:creationId xmlns:a16="http://schemas.microsoft.com/office/drawing/2014/main" id="{1A2FDAB2-9EB1-4666-A6C3-B155705C2C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9200" y="32004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Tahoma" panose="020B0604030504040204" pitchFamily="34" charset="0"/>
                </a:rPr>
                <a:t>20</a:t>
              </a:r>
            </a:p>
          </p:txBody>
        </p:sp>
        <p:sp>
          <p:nvSpPr>
            <p:cNvPr id="9224" name="Oval 22">
              <a:extLst>
                <a:ext uri="{FF2B5EF4-FFF2-40B4-BE49-F238E27FC236}">
                  <a16:creationId xmlns:a16="http://schemas.microsoft.com/office/drawing/2014/main" id="{6924B271-5790-4519-A45E-83B152C5B8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32004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Tahoma" panose="020B0604030504040204" pitchFamily="34" charset="0"/>
                </a:rPr>
                <a:t>21</a:t>
              </a:r>
            </a:p>
          </p:txBody>
        </p:sp>
        <p:sp>
          <p:nvSpPr>
            <p:cNvPr id="9225" name="Oval 23">
              <a:extLst>
                <a:ext uri="{FF2B5EF4-FFF2-40B4-BE49-F238E27FC236}">
                  <a16:creationId xmlns:a16="http://schemas.microsoft.com/office/drawing/2014/main" id="{230A692C-1025-4260-ACA3-04BFA69AC7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8400" y="26670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Tahoma" panose="020B0604030504040204" pitchFamily="34" charset="0"/>
                </a:rPr>
                <a:t>23</a:t>
              </a:r>
            </a:p>
          </p:txBody>
        </p:sp>
        <p:sp>
          <p:nvSpPr>
            <p:cNvPr id="9226" name="Oval 24">
              <a:extLst>
                <a:ext uri="{FF2B5EF4-FFF2-40B4-BE49-F238E27FC236}">
                  <a16:creationId xmlns:a16="http://schemas.microsoft.com/office/drawing/2014/main" id="{165FD51E-8ECA-4B7D-8059-2A345445D8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32004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Tahoma" panose="020B0604030504040204" pitchFamily="34" charset="0"/>
                </a:rPr>
                <a:t>25</a:t>
              </a:r>
            </a:p>
          </p:txBody>
        </p:sp>
        <p:sp>
          <p:nvSpPr>
            <p:cNvPr id="9227" name="Oval 28">
              <a:extLst>
                <a:ext uri="{FF2B5EF4-FFF2-40B4-BE49-F238E27FC236}">
                  <a16:creationId xmlns:a16="http://schemas.microsoft.com/office/drawing/2014/main" id="{9D22314A-B560-466F-B452-DEB030A09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21336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Tahoma" panose="020B0604030504040204" pitchFamily="34" charset="0"/>
                </a:rPr>
                <a:t>9</a:t>
              </a:r>
            </a:p>
          </p:txBody>
        </p:sp>
        <p:sp>
          <p:nvSpPr>
            <p:cNvPr id="9228" name="Line 29">
              <a:extLst>
                <a:ext uri="{FF2B5EF4-FFF2-40B4-BE49-F238E27FC236}">
                  <a16:creationId xmlns:a16="http://schemas.microsoft.com/office/drawing/2014/main" id="{E16653E3-BFC8-4B50-BAA6-244ACECC84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19400" y="2438400"/>
              <a:ext cx="1371600" cy="3048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9" name="Line 30">
              <a:extLst>
                <a:ext uri="{FF2B5EF4-FFF2-40B4-BE49-F238E27FC236}">
                  <a16:creationId xmlns:a16="http://schemas.microsoft.com/office/drawing/2014/main" id="{59DF05AB-DA0C-46E5-98D4-ADFCB35F5F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9200" y="2438400"/>
              <a:ext cx="1219200" cy="3048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0" name="Line 31">
              <a:extLst>
                <a:ext uri="{FF2B5EF4-FFF2-40B4-BE49-F238E27FC236}">
                  <a16:creationId xmlns:a16="http://schemas.microsoft.com/office/drawing/2014/main" id="{CCAE417B-FB32-47AB-B831-94ACAFFACC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05000" y="3048000"/>
              <a:ext cx="228600" cy="1524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1" name="Line 32">
              <a:extLst>
                <a:ext uri="{FF2B5EF4-FFF2-40B4-BE49-F238E27FC236}">
                  <a16:creationId xmlns:a16="http://schemas.microsoft.com/office/drawing/2014/main" id="{AB1666AD-BEA0-49EE-A175-3A287577B4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96000" y="3048000"/>
              <a:ext cx="228600" cy="1524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2" name="Line 33">
              <a:extLst>
                <a:ext uri="{FF2B5EF4-FFF2-40B4-BE49-F238E27FC236}">
                  <a16:creationId xmlns:a16="http://schemas.microsoft.com/office/drawing/2014/main" id="{10CC1D37-CAC8-49C2-8293-8D0B7F29AC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3200" y="3048000"/>
              <a:ext cx="304800" cy="1524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218" name="Footer Placeholder 3">
            <a:extLst>
              <a:ext uri="{FF2B5EF4-FFF2-40B4-BE49-F238E27FC236}">
                <a16:creationId xmlns:a16="http://schemas.microsoft.com/office/drawing/2014/main" id="{88B70949-74B1-4008-901C-D0BC11E78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5" name="WordArt 18">
            <a:extLst>
              <a:ext uri="{FF2B5EF4-FFF2-40B4-BE49-F238E27FC236}">
                <a16:creationId xmlns:a16="http://schemas.microsoft.com/office/drawing/2014/main" id="{0CB84B1E-BDBE-4F32-B1DE-922646A3640C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371600" y="533400"/>
            <a:ext cx="6248400" cy="8382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heap</a:t>
            </a: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AE8A51B1-FBDA-F08E-29E1-D09DFCC18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905000"/>
            <a:ext cx="51816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Because a heap will always be a </a:t>
            </a:r>
            <a:r>
              <a:rPr lang="en-US" altLang="en-US" sz="2800" u="sng" dirty="0">
                <a:latin typeface="Tahoma" panose="020B0604030504040204" pitchFamily="34" charset="0"/>
              </a:rPr>
              <a:t>complete tree</a:t>
            </a:r>
            <a:r>
              <a:rPr lang="en-US" altLang="en-US" sz="2800" dirty="0">
                <a:latin typeface="Tahoma" panose="020B0604030504040204" pitchFamily="34" charset="0"/>
              </a:rPr>
              <a:t>, it makes sense to use an array to store the values.	</a:t>
            </a:r>
          </a:p>
        </p:txBody>
      </p:sp>
      <p:grpSp>
        <p:nvGrpSpPr>
          <p:cNvPr id="3" name="Group 2" descr="The same complete tree again:&#10;Level order:&#10;15 | 11 10 | 7 8 9&#10;Row-by-row description:&#10;Row 0: 15&#10;Row 1: 11, 10&#10;Row 2: 7, 8, 9">
            <a:extLst>
              <a:ext uri="{FF2B5EF4-FFF2-40B4-BE49-F238E27FC236}">
                <a16:creationId xmlns:a16="http://schemas.microsoft.com/office/drawing/2014/main" id="{977427C7-7297-9A63-3741-648ABAF6E59A}"/>
              </a:ext>
            </a:extLst>
          </p:cNvPr>
          <p:cNvGrpSpPr/>
          <p:nvPr/>
        </p:nvGrpSpPr>
        <p:grpSpPr>
          <a:xfrm>
            <a:off x="5638800" y="1905000"/>
            <a:ext cx="2667000" cy="2057400"/>
            <a:chOff x="5638800" y="1905000"/>
            <a:chExt cx="2667000" cy="2057400"/>
          </a:xfrm>
        </p:grpSpPr>
        <p:sp>
          <p:nvSpPr>
            <p:cNvPr id="11267" name="Oval 3">
              <a:extLst>
                <a:ext uri="{FF2B5EF4-FFF2-40B4-BE49-F238E27FC236}">
                  <a16:creationId xmlns:a16="http://schemas.microsoft.com/office/drawing/2014/main" id="{D5D7034F-1B65-4204-9D0D-280002BB3E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0400" y="24384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15</a:t>
              </a:r>
            </a:p>
          </p:txBody>
        </p:sp>
        <p:sp>
          <p:nvSpPr>
            <p:cNvPr id="11268" name="Oval 4">
              <a:extLst>
                <a:ext uri="{FF2B5EF4-FFF2-40B4-BE49-F238E27FC236}">
                  <a16:creationId xmlns:a16="http://schemas.microsoft.com/office/drawing/2014/main" id="{87D2B4F3-2264-4F09-9D98-58BAFE470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8400" y="2971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11</a:t>
              </a:r>
            </a:p>
          </p:txBody>
        </p:sp>
        <p:sp>
          <p:nvSpPr>
            <p:cNvPr id="11269" name="Oval 5">
              <a:extLst>
                <a:ext uri="{FF2B5EF4-FFF2-40B4-BE49-F238E27FC236}">
                  <a16:creationId xmlns:a16="http://schemas.microsoft.com/office/drawing/2014/main" id="{D66976BC-2112-43D5-87C2-654793002F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8800" y="35052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11270" name="Oval 6">
              <a:extLst>
                <a:ext uri="{FF2B5EF4-FFF2-40B4-BE49-F238E27FC236}">
                  <a16:creationId xmlns:a16="http://schemas.microsoft.com/office/drawing/2014/main" id="{C5211BDA-185B-42CC-859F-C5022F63BD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5600" y="35052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8</a:t>
              </a:r>
            </a:p>
          </p:txBody>
        </p:sp>
        <p:sp>
          <p:nvSpPr>
            <p:cNvPr id="11271" name="Oval 7">
              <a:extLst>
                <a:ext uri="{FF2B5EF4-FFF2-40B4-BE49-F238E27FC236}">
                  <a16:creationId xmlns:a16="http://schemas.microsoft.com/office/drawing/2014/main" id="{E9120756-8CE8-45CF-9076-BEEA457A70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72400" y="28956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11272" name="Oval 8">
              <a:extLst>
                <a:ext uri="{FF2B5EF4-FFF2-40B4-BE49-F238E27FC236}">
                  <a16:creationId xmlns:a16="http://schemas.microsoft.com/office/drawing/2014/main" id="{8B2B2AB2-A63C-41A1-ACE5-49E64E17E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7600" y="35052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9</a:t>
              </a:r>
            </a:p>
          </p:txBody>
        </p:sp>
        <p:sp>
          <p:nvSpPr>
            <p:cNvPr id="11274" name="Text Box 17">
              <a:extLst>
                <a:ext uri="{FF2B5EF4-FFF2-40B4-BE49-F238E27FC236}">
                  <a16:creationId xmlns:a16="http://schemas.microsoft.com/office/drawing/2014/main" id="{F4AFC753-6101-40B4-AE27-ABCC51AC5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1800" y="1905000"/>
              <a:ext cx="1371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root</a:t>
              </a:r>
            </a:p>
          </p:txBody>
        </p:sp>
      </p:grpSp>
      <p:sp>
        <p:nvSpPr>
          <p:cNvPr id="11273" name="Text Box 16">
            <a:extLst>
              <a:ext uri="{FF2B5EF4-FFF2-40B4-BE49-F238E27FC236}">
                <a16:creationId xmlns:a16="http://schemas.microsoft.com/office/drawing/2014/main" id="{2DA5CA1E-E0C4-4FFF-BFC4-1B639D2E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4572000"/>
            <a:ext cx="487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root</a:t>
            </a:r>
          </a:p>
        </p:txBody>
      </p:sp>
      <p:graphicFrame>
        <p:nvGraphicFramePr>
          <p:cNvPr id="61476" name="Group 36">
            <a:extLst>
              <a:ext uri="{FF2B5EF4-FFF2-40B4-BE49-F238E27FC236}">
                <a16:creationId xmlns:a16="http://schemas.microsoft.com/office/drawing/2014/main" id="{A2DD67B3-4BB5-46FD-A24C-F2BAA63497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912239"/>
              </p:ext>
            </p:extLst>
          </p:nvPr>
        </p:nvGraphicFramePr>
        <p:xfrm>
          <a:off x="1752600" y="5029200"/>
          <a:ext cx="6019800" cy="584200"/>
        </p:xfrm>
        <a:graphic>
          <a:graphicData uri="http://schemas.openxmlformats.org/drawingml/2006/table">
            <a:tbl>
              <a:tblPr/>
              <a:tblGrid>
                <a:gridCol w="100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266" name="Footer Placeholder 3">
            <a:extLst>
              <a:ext uri="{FF2B5EF4-FFF2-40B4-BE49-F238E27FC236}">
                <a16:creationId xmlns:a16="http://schemas.microsoft.com/office/drawing/2014/main" id="{48BC4439-46E0-4526-846E-92DD0D5A6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WordArt 13">
            <a:extLst>
              <a:ext uri="{FF2B5EF4-FFF2-40B4-BE49-F238E27FC236}">
                <a16:creationId xmlns:a16="http://schemas.microsoft.com/office/drawing/2014/main" id="{8FC0B0A8-334E-4C99-A5E8-6580CE580BC5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371600" y="533400"/>
            <a:ext cx="6248400" cy="8382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array-based tree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A9E9CB5C-833E-1FC8-6496-2E454B12B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905000"/>
            <a:ext cx="46482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What formula would give the location of the left child of a node? </a:t>
            </a:r>
          </a:p>
        </p:txBody>
      </p:sp>
      <p:grpSp>
        <p:nvGrpSpPr>
          <p:cNvPr id="10" name="Group 9" descr="The same complete tree again:&#10;Level order:&#10;15 | 11 10 | 7 8 9&#10;Row-by-row description:&#10;Row 0: 15&#10;Row 1: 11, 10&#10;Row 2: 7, 8, 9">
            <a:extLst>
              <a:ext uri="{FF2B5EF4-FFF2-40B4-BE49-F238E27FC236}">
                <a16:creationId xmlns:a16="http://schemas.microsoft.com/office/drawing/2014/main" id="{A689A493-4867-6DD4-9857-8741225A2E1D}"/>
              </a:ext>
            </a:extLst>
          </p:cNvPr>
          <p:cNvGrpSpPr/>
          <p:nvPr/>
        </p:nvGrpSpPr>
        <p:grpSpPr>
          <a:xfrm>
            <a:off x="5715000" y="1752600"/>
            <a:ext cx="2667000" cy="2057400"/>
            <a:chOff x="5715000" y="1752600"/>
            <a:chExt cx="2667000" cy="2057400"/>
          </a:xfrm>
        </p:grpSpPr>
        <p:sp>
          <p:nvSpPr>
            <p:cNvPr id="2" name="Oval 3">
              <a:extLst>
                <a:ext uri="{FF2B5EF4-FFF2-40B4-BE49-F238E27FC236}">
                  <a16:creationId xmlns:a16="http://schemas.microsoft.com/office/drawing/2014/main" id="{160357CF-A330-1CBC-A93C-4D6F8A2D6E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6600" y="22860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15</a:t>
              </a:r>
            </a:p>
          </p:txBody>
        </p:sp>
        <p:sp>
          <p:nvSpPr>
            <p:cNvPr id="3" name="Oval 4">
              <a:extLst>
                <a:ext uri="{FF2B5EF4-FFF2-40B4-BE49-F238E27FC236}">
                  <a16:creationId xmlns:a16="http://schemas.microsoft.com/office/drawing/2014/main" id="{A49515C6-ED33-EEF1-A74A-2B94DD4FFD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4600" y="28194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chemeClr val="accent6">
                      <a:lumMod val="75000"/>
                    </a:schemeClr>
                  </a:solidFill>
                  <a:latin typeface="Tahoma" panose="020B0604030504040204" pitchFamily="34" charset="0"/>
                </a:rPr>
                <a:t>11</a:t>
              </a:r>
            </a:p>
          </p:txBody>
        </p:sp>
        <p:sp>
          <p:nvSpPr>
            <p:cNvPr id="4" name="Oval 5">
              <a:extLst>
                <a:ext uri="{FF2B5EF4-FFF2-40B4-BE49-F238E27FC236}">
                  <a16:creationId xmlns:a16="http://schemas.microsoft.com/office/drawing/2014/main" id="{F4AF231E-277C-0E06-5748-846AD14953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5000" y="3352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rgbClr val="7030A0"/>
                  </a:solidFill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5" name="Oval 6">
              <a:extLst>
                <a:ext uri="{FF2B5EF4-FFF2-40B4-BE49-F238E27FC236}">
                  <a16:creationId xmlns:a16="http://schemas.microsoft.com/office/drawing/2014/main" id="{C1E7B078-183C-51D7-77AF-374FBD5658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3352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rgbClr val="7030A0"/>
                  </a:solidFill>
                  <a:latin typeface="Tahoma" panose="020B0604030504040204" pitchFamily="34" charset="0"/>
                </a:rPr>
                <a:t>8</a:t>
              </a:r>
            </a:p>
          </p:txBody>
        </p:sp>
        <p:sp>
          <p:nvSpPr>
            <p:cNvPr id="6" name="Oval 7">
              <a:extLst>
                <a:ext uri="{FF2B5EF4-FFF2-40B4-BE49-F238E27FC236}">
                  <a16:creationId xmlns:a16="http://schemas.microsoft.com/office/drawing/2014/main" id="{7A06ECE1-6F9D-0272-8CC2-7B18E605DA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8600" y="27432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chemeClr val="accent6">
                      <a:lumMod val="75000"/>
                    </a:schemeClr>
                  </a:solidFill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7" name="Oval 8">
              <a:extLst>
                <a:ext uri="{FF2B5EF4-FFF2-40B4-BE49-F238E27FC236}">
                  <a16:creationId xmlns:a16="http://schemas.microsoft.com/office/drawing/2014/main" id="{4F466385-48E5-7518-3CAC-805A5C64E6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3800" y="3352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rgbClr val="7030A0"/>
                  </a:solidFill>
                  <a:latin typeface="Tahoma" panose="020B0604030504040204" pitchFamily="34" charset="0"/>
                </a:rPr>
                <a:t>9</a:t>
              </a:r>
            </a:p>
          </p:txBody>
        </p:sp>
        <p:sp>
          <p:nvSpPr>
            <p:cNvPr id="8" name="Text Box 17">
              <a:extLst>
                <a:ext uri="{FF2B5EF4-FFF2-40B4-BE49-F238E27FC236}">
                  <a16:creationId xmlns:a16="http://schemas.microsoft.com/office/drawing/2014/main" id="{17FB23E2-1B4D-40B1-141C-37EE4A500D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0" y="1752600"/>
              <a:ext cx="1371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root</a:t>
              </a:r>
            </a:p>
          </p:txBody>
        </p:sp>
      </p:grpSp>
      <p:sp>
        <p:nvSpPr>
          <p:cNvPr id="12294" name="Text Box 14">
            <a:extLst>
              <a:ext uri="{FF2B5EF4-FFF2-40B4-BE49-F238E27FC236}">
                <a16:creationId xmlns:a16="http://schemas.microsoft.com/office/drawing/2014/main" id="{494354C1-420C-437C-9016-9441B3AEB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962400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root</a:t>
            </a:r>
          </a:p>
        </p:txBody>
      </p:sp>
      <p:graphicFrame>
        <p:nvGraphicFramePr>
          <p:cNvPr id="28687" name="Group 15">
            <a:extLst>
              <a:ext uri="{FF2B5EF4-FFF2-40B4-BE49-F238E27FC236}">
                <a16:creationId xmlns:a16="http://schemas.microsoft.com/office/drawing/2014/main" id="{42865627-43DC-4CCF-9750-5E367E5C79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724538"/>
              </p:ext>
            </p:extLst>
          </p:nvPr>
        </p:nvGraphicFramePr>
        <p:xfrm>
          <a:off x="1447800" y="4419600"/>
          <a:ext cx="6019800" cy="1168400"/>
        </p:xfrm>
        <a:graphic>
          <a:graphicData uri="http://schemas.openxmlformats.org/drawingml/2006/table">
            <a:tbl>
              <a:tblPr/>
              <a:tblGrid>
                <a:gridCol w="100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94554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Freeform: Shape 11" descr="An arrow pointing from the 1 to the 3, which is the location of the 11 node's left child.">
            <a:extLst>
              <a:ext uri="{FF2B5EF4-FFF2-40B4-BE49-F238E27FC236}">
                <a16:creationId xmlns:a16="http://schemas.microsoft.com/office/drawing/2014/main" id="{4CDFE2C8-2B3D-E5D8-835A-836C90DC215E}"/>
              </a:ext>
            </a:extLst>
          </p:cNvPr>
          <p:cNvSpPr/>
          <p:nvPr/>
        </p:nvSpPr>
        <p:spPr bwMode="auto">
          <a:xfrm>
            <a:off x="3034145" y="4152768"/>
            <a:ext cx="1884219" cy="419231"/>
          </a:xfrm>
          <a:custGeom>
            <a:avLst/>
            <a:gdLst>
              <a:gd name="connsiteX0" fmla="*/ 0 w 1939637"/>
              <a:gd name="connsiteY0" fmla="*/ 251286 h 389831"/>
              <a:gd name="connsiteX1" fmla="*/ 547255 w 1939637"/>
              <a:gd name="connsiteY1" fmla="*/ 57322 h 389831"/>
              <a:gd name="connsiteX2" fmla="*/ 1239982 w 1939637"/>
              <a:gd name="connsiteY2" fmla="*/ 8831 h 389831"/>
              <a:gd name="connsiteX3" fmla="*/ 1759528 w 1939637"/>
              <a:gd name="connsiteY3" fmla="*/ 209722 h 389831"/>
              <a:gd name="connsiteX4" fmla="*/ 1939637 w 1939637"/>
              <a:gd name="connsiteY4" fmla="*/ 389831 h 389831"/>
              <a:gd name="connsiteX0" fmla="*/ 0 w 1884219"/>
              <a:gd name="connsiteY0" fmla="*/ 365159 h 392868"/>
              <a:gd name="connsiteX1" fmla="*/ 491837 w 1884219"/>
              <a:gd name="connsiteY1" fmla="*/ 60359 h 392868"/>
              <a:gd name="connsiteX2" fmla="*/ 1184564 w 1884219"/>
              <a:gd name="connsiteY2" fmla="*/ 11868 h 392868"/>
              <a:gd name="connsiteX3" fmla="*/ 1704110 w 1884219"/>
              <a:gd name="connsiteY3" fmla="*/ 212759 h 392868"/>
              <a:gd name="connsiteX4" fmla="*/ 1884219 w 1884219"/>
              <a:gd name="connsiteY4" fmla="*/ 392868 h 392868"/>
              <a:gd name="connsiteX0" fmla="*/ 0 w 1884219"/>
              <a:gd name="connsiteY0" fmla="*/ 354658 h 382367"/>
              <a:gd name="connsiteX1" fmla="*/ 339437 w 1884219"/>
              <a:gd name="connsiteY1" fmla="*/ 126058 h 382367"/>
              <a:gd name="connsiteX2" fmla="*/ 1184564 w 1884219"/>
              <a:gd name="connsiteY2" fmla="*/ 1367 h 382367"/>
              <a:gd name="connsiteX3" fmla="*/ 1704110 w 1884219"/>
              <a:gd name="connsiteY3" fmla="*/ 202258 h 382367"/>
              <a:gd name="connsiteX4" fmla="*/ 1884219 w 1884219"/>
              <a:gd name="connsiteY4" fmla="*/ 382367 h 382367"/>
              <a:gd name="connsiteX0" fmla="*/ 0 w 1884219"/>
              <a:gd name="connsiteY0" fmla="*/ 360029 h 387738"/>
              <a:gd name="connsiteX1" fmla="*/ 339437 w 1884219"/>
              <a:gd name="connsiteY1" fmla="*/ 131429 h 387738"/>
              <a:gd name="connsiteX2" fmla="*/ 706582 w 1884219"/>
              <a:gd name="connsiteY2" fmla="*/ 55229 h 387738"/>
              <a:gd name="connsiteX3" fmla="*/ 1184564 w 1884219"/>
              <a:gd name="connsiteY3" fmla="*/ 6738 h 387738"/>
              <a:gd name="connsiteX4" fmla="*/ 1704110 w 1884219"/>
              <a:gd name="connsiteY4" fmla="*/ 207629 h 387738"/>
              <a:gd name="connsiteX5" fmla="*/ 1884219 w 1884219"/>
              <a:gd name="connsiteY5" fmla="*/ 387738 h 387738"/>
              <a:gd name="connsiteX0" fmla="*/ 0 w 1884219"/>
              <a:gd name="connsiteY0" fmla="*/ 391522 h 419231"/>
              <a:gd name="connsiteX1" fmla="*/ 339437 w 1884219"/>
              <a:gd name="connsiteY1" fmla="*/ 162922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256310 w 1884219"/>
              <a:gd name="connsiteY1" fmla="*/ 176777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96982 w 1884219"/>
              <a:gd name="connsiteY1" fmla="*/ 308396 h 419231"/>
              <a:gd name="connsiteX2" fmla="*/ 256310 w 1884219"/>
              <a:gd name="connsiteY2" fmla="*/ 176777 h 419231"/>
              <a:gd name="connsiteX3" fmla="*/ 692728 w 1884219"/>
              <a:gd name="connsiteY3" fmla="*/ 10522 h 419231"/>
              <a:gd name="connsiteX4" fmla="*/ 1184564 w 1884219"/>
              <a:gd name="connsiteY4" fmla="*/ 38231 h 419231"/>
              <a:gd name="connsiteX5" fmla="*/ 1704110 w 1884219"/>
              <a:gd name="connsiteY5" fmla="*/ 239122 h 419231"/>
              <a:gd name="connsiteX6" fmla="*/ 1884219 w 1884219"/>
              <a:gd name="connsiteY6" fmla="*/ 419231 h 419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4219" h="419231">
                <a:moveTo>
                  <a:pt x="0" y="391522"/>
                </a:moveTo>
                <a:cubicBezTo>
                  <a:pt x="20782" y="377668"/>
                  <a:pt x="54264" y="344187"/>
                  <a:pt x="96982" y="308396"/>
                </a:cubicBezTo>
                <a:cubicBezTo>
                  <a:pt x="139700" y="272605"/>
                  <a:pt x="157019" y="226423"/>
                  <a:pt x="256310" y="176777"/>
                </a:cubicBezTo>
                <a:cubicBezTo>
                  <a:pt x="355601" y="127131"/>
                  <a:pt x="551874" y="31304"/>
                  <a:pt x="692728" y="10522"/>
                </a:cubicBezTo>
                <a:cubicBezTo>
                  <a:pt x="833582" y="-10260"/>
                  <a:pt x="1016000" y="131"/>
                  <a:pt x="1184564" y="38231"/>
                </a:cubicBezTo>
                <a:cubicBezTo>
                  <a:pt x="1353128" y="76331"/>
                  <a:pt x="1587501" y="175622"/>
                  <a:pt x="1704110" y="239122"/>
                </a:cubicBezTo>
                <a:cubicBezTo>
                  <a:pt x="1820719" y="302622"/>
                  <a:pt x="1852469" y="360926"/>
                  <a:pt x="1884219" y="419231"/>
                </a:cubicBezTo>
              </a:path>
            </a:pathLst>
          </a:cu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3" name="Freeform: Shape 12" descr="An arrow pointing from the 2 to the 5, which is the location of the 10 node's left child.">
            <a:extLst>
              <a:ext uri="{FF2B5EF4-FFF2-40B4-BE49-F238E27FC236}">
                <a16:creationId xmlns:a16="http://schemas.microsoft.com/office/drawing/2014/main" id="{B65BD53E-F372-2FA8-9E55-A60E07E7E3B5}"/>
              </a:ext>
            </a:extLst>
          </p:cNvPr>
          <p:cNvSpPr/>
          <p:nvPr/>
        </p:nvSpPr>
        <p:spPr bwMode="auto">
          <a:xfrm>
            <a:off x="3983181" y="4141351"/>
            <a:ext cx="2874819" cy="419231"/>
          </a:xfrm>
          <a:custGeom>
            <a:avLst/>
            <a:gdLst>
              <a:gd name="connsiteX0" fmla="*/ 0 w 1939637"/>
              <a:gd name="connsiteY0" fmla="*/ 251286 h 389831"/>
              <a:gd name="connsiteX1" fmla="*/ 547255 w 1939637"/>
              <a:gd name="connsiteY1" fmla="*/ 57322 h 389831"/>
              <a:gd name="connsiteX2" fmla="*/ 1239982 w 1939637"/>
              <a:gd name="connsiteY2" fmla="*/ 8831 h 389831"/>
              <a:gd name="connsiteX3" fmla="*/ 1759528 w 1939637"/>
              <a:gd name="connsiteY3" fmla="*/ 209722 h 389831"/>
              <a:gd name="connsiteX4" fmla="*/ 1939637 w 1939637"/>
              <a:gd name="connsiteY4" fmla="*/ 389831 h 389831"/>
              <a:gd name="connsiteX0" fmla="*/ 0 w 1884219"/>
              <a:gd name="connsiteY0" fmla="*/ 365159 h 392868"/>
              <a:gd name="connsiteX1" fmla="*/ 491837 w 1884219"/>
              <a:gd name="connsiteY1" fmla="*/ 60359 h 392868"/>
              <a:gd name="connsiteX2" fmla="*/ 1184564 w 1884219"/>
              <a:gd name="connsiteY2" fmla="*/ 11868 h 392868"/>
              <a:gd name="connsiteX3" fmla="*/ 1704110 w 1884219"/>
              <a:gd name="connsiteY3" fmla="*/ 212759 h 392868"/>
              <a:gd name="connsiteX4" fmla="*/ 1884219 w 1884219"/>
              <a:gd name="connsiteY4" fmla="*/ 392868 h 392868"/>
              <a:gd name="connsiteX0" fmla="*/ 0 w 1884219"/>
              <a:gd name="connsiteY0" fmla="*/ 354658 h 382367"/>
              <a:gd name="connsiteX1" fmla="*/ 339437 w 1884219"/>
              <a:gd name="connsiteY1" fmla="*/ 126058 h 382367"/>
              <a:gd name="connsiteX2" fmla="*/ 1184564 w 1884219"/>
              <a:gd name="connsiteY2" fmla="*/ 1367 h 382367"/>
              <a:gd name="connsiteX3" fmla="*/ 1704110 w 1884219"/>
              <a:gd name="connsiteY3" fmla="*/ 202258 h 382367"/>
              <a:gd name="connsiteX4" fmla="*/ 1884219 w 1884219"/>
              <a:gd name="connsiteY4" fmla="*/ 382367 h 382367"/>
              <a:gd name="connsiteX0" fmla="*/ 0 w 1884219"/>
              <a:gd name="connsiteY0" fmla="*/ 360029 h 387738"/>
              <a:gd name="connsiteX1" fmla="*/ 339437 w 1884219"/>
              <a:gd name="connsiteY1" fmla="*/ 131429 h 387738"/>
              <a:gd name="connsiteX2" fmla="*/ 706582 w 1884219"/>
              <a:gd name="connsiteY2" fmla="*/ 55229 h 387738"/>
              <a:gd name="connsiteX3" fmla="*/ 1184564 w 1884219"/>
              <a:gd name="connsiteY3" fmla="*/ 6738 h 387738"/>
              <a:gd name="connsiteX4" fmla="*/ 1704110 w 1884219"/>
              <a:gd name="connsiteY4" fmla="*/ 207629 h 387738"/>
              <a:gd name="connsiteX5" fmla="*/ 1884219 w 1884219"/>
              <a:gd name="connsiteY5" fmla="*/ 387738 h 387738"/>
              <a:gd name="connsiteX0" fmla="*/ 0 w 1884219"/>
              <a:gd name="connsiteY0" fmla="*/ 391522 h 419231"/>
              <a:gd name="connsiteX1" fmla="*/ 339437 w 1884219"/>
              <a:gd name="connsiteY1" fmla="*/ 162922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256310 w 1884219"/>
              <a:gd name="connsiteY1" fmla="*/ 176777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96982 w 1884219"/>
              <a:gd name="connsiteY1" fmla="*/ 308396 h 419231"/>
              <a:gd name="connsiteX2" fmla="*/ 256310 w 1884219"/>
              <a:gd name="connsiteY2" fmla="*/ 176777 h 419231"/>
              <a:gd name="connsiteX3" fmla="*/ 692728 w 1884219"/>
              <a:gd name="connsiteY3" fmla="*/ 10522 h 419231"/>
              <a:gd name="connsiteX4" fmla="*/ 1184564 w 1884219"/>
              <a:gd name="connsiteY4" fmla="*/ 38231 h 419231"/>
              <a:gd name="connsiteX5" fmla="*/ 1704110 w 1884219"/>
              <a:gd name="connsiteY5" fmla="*/ 239122 h 419231"/>
              <a:gd name="connsiteX6" fmla="*/ 1884219 w 1884219"/>
              <a:gd name="connsiteY6" fmla="*/ 419231 h 419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4219" h="419231">
                <a:moveTo>
                  <a:pt x="0" y="391522"/>
                </a:moveTo>
                <a:cubicBezTo>
                  <a:pt x="20782" y="377668"/>
                  <a:pt x="54264" y="344187"/>
                  <a:pt x="96982" y="308396"/>
                </a:cubicBezTo>
                <a:cubicBezTo>
                  <a:pt x="139700" y="272605"/>
                  <a:pt x="157019" y="226423"/>
                  <a:pt x="256310" y="176777"/>
                </a:cubicBezTo>
                <a:cubicBezTo>
                  <a:pt x="355601" y="127131"/>
                  <a:pt x="551874" y="31304"/>
                  <a:pt x="692728" y="10522"/>
                </a:cubicBezTo>
                <a:cubicBezTo>
                  <a:pt x="833582" y="-10260"/>
                  <a:pt x="1016000" y="131"/>
                  <a:pt x="1184564" y="38231"/>
                </a:cubicBezTo>
                <a:cubicBezTo>
                  <a:pt x="1353128" y="76331"/>
                  <a:pt x="1587501" y="175622"/>
                  <a:pt x="1704110" y="239122"/>
                </a:cubicBezTo>
                <a:cubicBezTo>
                  <a:pt x="1820719" y="302622"/>
                  <a:pt x="1852469" y="360926"/>
                  <a:pt x="1884219" y="419231"/>
                </a:cubicBezTo>
              </a:path>
            </a:pathLst>
          </a:cu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2290" name="Footer Placeholder 3">
            <a:extLst>
              <a:ext uri="{FF2B5EF4-FFF2-40B4-BE49-F238E27FC236}">
                <a16:creationId xmlns:a16="http://schemas.microsoft.com/office/drawing/2014/main" id="{639E4277-861A-4435-AD04-10F7082EA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96000" y="6260405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WordArt 6">
            <a:extLst>
              <a:ext uri="{FF2B5EF4-FFF2-40B4-BE49-F238E27FC236}">
                <a16:creationId xmlns:a16="http://schemas.microsoft.com/office/drawing/2014/main" id="{CF01B528-738C-4FE4-9D07-BEAC91B06592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371600" y="533400"/>
            <a:ext cx="6248400" cy="8382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array-based tree</a:t>
            </a:r>
          </a:p>
        </p:txBody>
      </p:sp>
      <p:sp>
        <p:nvSpPr>
          <p:cNvPr id="13315" name="Text Box 4">
            <a:extLst>
              <a:ext uri="{FF2B5EF4-FFF2-40B4-BE49-F238E27FC236}">
                <a16:creationId xmlns:a16="http://schemas.microsoft.com/office/drawing/2014/main" id="{2A0C5DC9-F78C-49D6-BA7B-72BF5E299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938588"/>
            <a:ext cx="7467600" cy="1754326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000099"/>
                </a:solidFill>
                <a:latin typeface="Tahoma" panose="020B0604030504040204" pitchFamily="34" charset="0"/>
              </a:rPr>
              <a:t>left = 2*x + 1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solidFill>
                <a:schemeClr val="accent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left child of 11 node = 2*1 + 1 = 3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left child of 10 node = 2*2 + 1 = 5</a:t>
            </a:r>
          </a:p>
        </p:txBody>
      </p:sp>
      <p:sp>
        <p:nvSpPr>
          <p:cNvPr id="2" name="Text Box 14">
            <a:extLst>
              <a:ext uri="{FF2B5EF4-FFF2-40B4-BE49-F238E27FC236}">
                <a16:creationId xmlns:a16="http://schemas.microsoft.com/office/drawing/2014/main" id="{BB61C4C9-E786-15F6-6ECF-CBE7E8F47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1752600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root</a:t>
            </a:r>
          </a:p>
        </p:txBody>
      </p:sp>
      <p:graphicFrame>
        <p:nvGraphicFramePr>
          <p:cNvPr id="3" name="Group 15">
            <a:extLst>
              <a:ext uri="{FF2B5EF4-FFF2-40B4-BE49-F238E27FC236}">
                <a16:creationId xmlns:a16="http://schemas.microsoft.com/office/drawing/2014/main" id="{5BDD8606-8EDC-8DF0-C335-0FA3DEB1F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831835"/>
              </p:ext>
            </p:extLst>
          </p:nvPr>
        </p:nvGraphicFramePr>
        <p:xfrm>
          <a:off x="1447800" y="2209800"/>
          <a:ext cx="6019800" cy="1168400"/>
        </p:xfrm>
        <a:graphic>
          <a:graphicData uri="http://schemas.openxmlformats.org/drawingml/2006/table">
            <a:tbl>
              <a:tblPr/>
              <a:tblGrid>
                <a:gridCol w="100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94554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Freeform: Shape 3" descr="An arrow pointing from the 1 to the 3, which is the location of the 11 node's left child.">
            <a:extLst>
              <a:ext uri="{FF2B5EF4-FFF2-40B4-BE49-F238E27FC236}">
                <a16:creationId xmlns:a16="http://schemas.microsoft.com/office/drawing/2014/main" id="{5A52E3AD-ABE3-071A-FA32-5C829CCD507B}"/>
              </a:ext>
            </a:extLst>
          </p:cNvPr>
          <p:cNvSpPr/>
          <p:nvPr/>
        </p:nvSpPr>
        <p:spPr bwMode="auto">
          <a:xfrm>
            <a:off x="3034145" y="1916417"/>
            <a:ext cx="1884219" cy="419231"/>
          </a:xfrm>
          <a:custGeom>
            <a:avLst/>
            <a:gdLst>
              <a:gd name="connsiteX0" fmla="*/ 0 w 1939637"/>
              <a:gd name="connsiteY0" fmla="*/ 251286 h 389831"/>
              <a:gd name="connsiteX1" fmla="*/ 547255 w 1939637"/>
              <a:gd name="connsiteY1" fmla="*/ 57322 h 389831"/>
              <a:gd name="connsiteX2" fmla="*/ 1239982 w 1939637"/>
              <a:gd name="connsiteY2" fmla="*/ 8831 h 389831"/>
              <a:gd name="connsiteX3" fmla="*/ 1759528 w 1939637"/>
              <a:gd name="connsiteY3" fmla="*/ 209722 h 389831"/>
              <a:gd name="connsiteX4" fmla="*/ 1939637 w 1939637"/>
              <a:gd name="connsiteY4" fmla="*/ 389831 h 389831"/>
              <a:gd name="connsiteX0" fmla="*/ 0 w 1884219"/>
              <a:gd name="connsiteY0" fmla="*/ 365159 h 392868"/>
              <a:gd name="connsiteX1" fmla="*/ 491837 w 1884219"/>
              <a:gd name="connsiteY1" fmla="*/ 60359 h 392868"/>
              <a:gd name="connsiteX2" fmla="*/ 1184564 w 1884219"/>
              <a:gd name="connsiteY2" fmla="*/ 11868 h 392868"/>
              <a:gd name="connsiteX3" fmla="*/ 1704110 w 1884219"/>
              <a:gd name="connsiteY3" fmla="*/ 212759 h 392868"/>
              <a:gd name="connsiteX4" fmla="*/ 1884219 w 1884219"/>
              <a:gd name="connsiteY4" fmla="*/ 392868 h 392868"/>
              <a:gd name="connsiteX0" fmla="*/ 0 w 1884219"/>
              <a:gd name="connsiteY0" fmla="*/ 354658 h 382367"/>
              <a:gd name="connsiteX1" fmla="*/ 339437 w 1884219"/>
              <a:gd name="connsiteY1" fmla="*/ 126058 h 382367"/>
              <a:gd name="connsiteX2" fmla="*/ 1184564 w 1884219"/>
              <a:gd name="connsiteY2" fmla="*/ 1367 h 382367"/>
              <a:gd name="connsiteX3" fmla="*/ 1704110 w 1884219"/>
              <a:gd name="connsiteY3" fmla="*/ 202258 h 382367"/>
              <a:gd name="connsiteX4" fmla="*/ 1884219 w 1884219"/>
              <a:gd name="connsiteY4" fmla="*/ 382367 h 382367"/>
              <a:gd name="connsiteX0" fmla="*/ 0 w 1884219"/>
              <a:gd name="connsiteY0" fmla="*/ 360029 h 387738"/>
              <a:gd name="connsiteX1" fmla="*/ 339437 w 1884219"/>
              <a:gd name="connsiteY1" fmla="*/ 131429 h 387738"/>
              <a:gd name="connsiteX2" fmla="*/ 706582 w 1884219"/>
              <a:gd name="connsiteY2" fmla="*/ 55229 h 387738"/>
              <a:gd name="connsiteX3" fmla="*/ 1184564 w 1884219"/>
              <a:gd name="connsiteY3" fmla="*/ 6738 h 387738"/>
              <a:gd name="connsiteX4" fmla="*/ 1704110 w 1884219"/>
              <a:gd name="connsiteY4" fmla="*/ 207629 h 387738"/>
              <a:gd name="connsiteX5" fmla="*/ 1884219 w 1884219"/>
              <a:gd name="connsiteY5" fmla="*/ 387738 h 387738"/>
              <a:gd name="connsiteX0" fmla="*/ 0 w 1884219"/>
              <a:gd name="connsiteY0" fmla="*/ 391522 h 419231"/>
              <a:gd name="connsiteX1" fmla="*/ 339437 w 1884219"/>
              <a:gd name="connsiteY1" fmla="*/ 162922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256310 w 1884219"/>
              <a:gd name="connsiteY1" fmla="*/ 176777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96982 w 1884219"/>
              <a:gd name="connsiteY1" fmla="*/ 308396 h 419231"/>
              <a:gd name="connsiteX2" fmla="*/ 256310 w 1884219"/>
              <a:gd name="connsiteY2" fmla="*/ 176777 h 419231"/>
              <a:gd name="connsiteX3" fmla="*/ 692728 w 1884219"/>
              <a:gd name="connsiteY3" fmla="*/ 10522 h 419231"/>
              <a:gd name="connsiteX4" fmla="*/ 1184564 w 1884219"/>
              <a:gd name="connsiteY4" fmla="*/ 38231 h 419231"/>
              <a:gd name="connsiteX5" fmla="*/ 1704110 w 1884219"/>
              <a:gd name="connsiteY5" fmla="*/ 239122 h 419231"/>
              <a:gd name="connsiteX6" fmla="*/ 1884219 w 1884219"/>
              <a:gd name="connsiteY6" fmla="*/ 419231 h 419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4219" h="419231">
                <a:moveTo>
                  <a:pt x="0" y="391522"/>
                </a:moveTo>
                <a:cubicBezTo>
                  <a:pt x="20782" y="377668"/>
                  <a:pt x="54264" y="344187"/>
                  <a:pt x="96982" y="308396"/>
                </a:cubicBezTo>
                <a:cubicBezTo>
                  <a:pt x="139700" y="272605"/>
                  <a:pt x="157019" y="226423"/>
                  <a:pt x="256310" y="176777"/>
                </a:cubicBezTo>
                <a:cubicBezTo>
                  <a:pt x="355601" y="127131"/>
                  <a:pt x="551874" y="31304"/>
                  <a:pt x="692728" y="10522"/>
                </a:cubicBezTo>
                <a:cubicBezTo>
                  <a:pt x="833582" y="-10260"/>
                  <a:pt x="1016000" y="131"/>
                  <a:pt x="1184564" y="38231"/>
                </a:cubicBezTo>
                <a:cubicBezTo>
                  <a:pt x="1353128" y="76331"/>
                  <a:pt x="1587501" y="175622"/>
                  <a:pt x="1704110" y="239122"/>
                </a:cubicBezTo>
                <a:cubicBezTo>
                  <a:pt x="1820719" y="302622"/>
                  <a:pt x="1852469" y="360926"/>
                  <a:pt x="1884219" y="419231"/>
                </a:cubicBezTo>
              </a:path>
            </a:pathLst>
          </a:cu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5" name="Freeform: Shape 4" descr="An arrow pointing from the 2 to the 5, which is the location of the 10 node's left child.">
            <a:extLst>
              <a:ext uri="{FF2B5EF4-FFF2-40B4-BE49-F238E27FC236}">
                <a16:creationId xmlns:a16="http://schemas.microsoft.com/office/drawing/2014/main" id="{3DDFEF83-A313-EF48-DE62-42D8735EE140}"/>
              </a:ext>
            </a:extLst>
          </p:cNvPr>
          <p:cNvSpPr/>
          <p:nvPr/>
        </p:nvSpPr>
        <p:spPr bwMode="auto">
          <a:xfrm>
            <a:off x="3983181" y="1905000"/>
            <a:ext cx="2874819" cy="419231"/>
          </a:xfrm>
          <a:custGeom>
            <a:avLst/>
            <a:gdLst>
              <a:gd name="connsiteX0" fmla="*/ 0 w 1939637"/>
              <a:gd name="connsiteY0" fmla="*/ 251286 h 389831"/>
              <a:gd name="connsiteX1" fmla="*/ 547255 w 1939637"/>
              <a:gd name="connsiteY1" fmla="*/ 57322 h 389831"/>
              <a:gd name="connsiteX2" fmla="*/ 1239982 w 1939637"/>
              <a:gd name="connsiteY2" fmla="*/ 8831 h 389831"/>
              <a:gd name="connsiteX3" fmla="*/ 1759528 w 1939637"/>
              <a:gd name="connsiteY3" fmla="*/ 209722 h 389831"/>
              <a:gd name="connsiteX4" fmla="*/ 1939637 w 1939637"/>
              <a:gd name="connsiteY4" fmla="*/ 389831 h 389831"/>
              <a:gd name="connsiteX0" fmla="*/ 0 w 1884219"/>
              <a:gd name="connsiteY0" fmla="*/ 365159 h 392868"/>
              <a:gd name="connsiteX1" fmla="*/ 491837 w 1884219"/>
              <a:gd name="connsiteY1" fmla="*/ 60359 h 392868"/>
              <a:gd name="connsiteX2" fmla="*/ 1184564 w 1884219"/>
              <a:gd name="connsiteY2" fmla="*/ 11868 h 392868"/>
              <a:gd name="connsiteX3" fmla="*/ 1704110 w 1884219"/>
              <a:gd name="connsiteY3" fmla="*/ 212759 h 392868"/>
              <a:gd name="connsiteX4" fmla="*/ 1884219 w 1884219"/>
              <a:gd name="connsiteY4" fmla="*/ 392868 h 392868"/>
              <a:gd name="connsiteX0" fmla="*/ 0 w 1884219"/>
              <a:gd name="connsiteY0" fmla="*/ 354658 h 382367"/>
              <a:gd name="connsiteX1" fmla="*/ 339437 w 1884219"/>
              <a:gd name="connsiteY1" fmla="*/ 126058 h 382367"/>
              <a:gd name="connsiteX2" fmla="*/ 1184564 w 1884219"/>
              <a:gd name="connsiteY2" fmla="*/ 1367 h 382367"/>
              <a:gd name="connsiteX3" fmla="*/ 1704110 w 1884219"/>
              <a:gd name="connsiteY3" fmla="*/ 202258 h 382367"/>
              <a:gd name="connsiteX4" fmla="*/ 1884219 w 1884219"/>
              <a:gd name="connsiteY4" fmla="*/ 382367 h 382367"/>
              <a:gd name="connsiteX0" fmla="*/ 0 w 1884219"/>
              <a:gd name="connsiteY0" fmla="*/ 360029 h 387738"/>
              <a:gd name="connsiteX1" fmla="*/ 339437 w 1884219"/>
              <a:gd name="connsiteY1" fmla="*/ 131429 h 387738"/>
              <a:gd name="connsiteX2" fmla="*/ 706582 w 1884219"/>
              <a:gd name="connsiteY2" fmla="*/ 55229 h 387738"/>
              <a:gd name="connsiteX3" fmla="*/ 1184564 w 1884219"/>
              <a:gd name="connsiteY3" fmla="*/ 6738 h 387738"/>
              <a:gd name="connsiteX4" fmla="*/ 1704110 w 1884219"/>
              <a:gd name="connsiteY4" fmla="*/ 207629 h 387738"/>
              <a:gd name="connsiteX5" fmla="*/ 1884219 w 1884219"/>
              <a:gd name="connsiteY5" fmla="*/ 387738 h 387738"/>
              <a:gd name="connsiteX0" fmla="*/ 0 w 1884219"/>
              <a:gd name="connsiteY0" fmla="*/ 391522 h 419231"/>
              <a:gd name="connsiteX1" fmla="*/ 339437 w 1884219"/>
              <a:gd name="connsiteY1" fmla="*/ 162922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256310 w 1884219"/>
              <a:gd name="connsiteY1" fmla="*/ 176777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96982 w 1884219"/>
              <a:gd name="connsiteY1" fmla="*/ 308396 h 419231"/>
              <a:gd name="connsiteX2" fmla="*/ 256310 w 1884219"/>
              <a:gd name="connsiteY2" fmla="*/ 176777 h 419231"/>
              <a:gd name="connsiteX3" fmla="*/ 692728 w 1884219"/>
              <a:gd name="connsiteY3" fmla="*/ 10522 h 419231"/>
              <a:gd name="connsiteX4" fmla="*/ 1184564 w 1884219"/>
              <a:gd name="connsiteY4" fmla="*/ 38231 h 419231"/>
              <a:gd name="connsiteX5" fmla="*/ 1704110 w 1884219"/>
              <a:gd name="connsiteY5" fmla="*/ 239122 h 419231"/>
              <a:gd name="connsiteX6" fmla="*/ 1884219 w 1884219"/>
              <a:gd name="connsiteY6" fmla="*/ 419231 h 419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4219" h="419231">
                <a:moveTo>
                  <a:pt x="0" y="391522"/>
                </a:moveTo>
                <a:cubicBezTo>
                  <a:pt x="20782" y="377668"/>
                  <a:pt x="54264" y="344187"/>
                  <a:pt x="96982" y="308396"/>
                </a:cubicBezTo>
                <a:cubicBezTo>
                  <a:pt x="139700" y="272605"/>
                  <a:pt x="157019" y="226423"/>
                  <a:pt x="256310" y="176777"/>
                </a:cubicBezTo>
                <a:cubicBezTo>
                  <a:pt x="355601" y="127131"/>
                  <a:pt x="551874" y="31304"/>
                  <a:pt x="692728" y="10522"/>
                </a:cubicBezTo>
                <a:cubicBezTo>
                  <a:pt x="833582" y="-10260"/>
                  <a:pt x="1016000" y="131"/>
                  <a:pt x="1184564" y="38231"/>
                </a:cubicBezTo>
                <a:cubicBezTo>
                  <a:pt x="1353128" y="76331"/>
                  <a:pt x="1587501" y="175622"/>
                  <a:pt x="1704110" y="239122"/>
                </a:cubicBezTo>
                <a:cubicBezTo>
                  <a:pt x="1820719" y="302622"/>
                  <a:pt x="1852469" y="360926"/>
                  <a:pt x="1884219" y="419231"/>
                </a:cubicBezTo>
              </a:path>
            </a:pathLst>
          </a:cu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3314" name="Footer Placeholder 3">
            <a:extLst>
              <a:ext uri="{FF2B5EF4-FFF2-40B4-BE49-F238E27FC236}">
                <a16:creationId xmlns:a16="http://schemas.microsoft.com/office/drawing/2014/main" id="{60D5BFC9-301A-46D6-83BC-252460439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WordArt 6">
            <a:extLst>
              <a:ext uri="{FF2B5EF4-FFF2-40B4-BE49-F238E27FC236}">
                <a16:creationId xmlns:a16="http://schemas.microsoft.com/office/drawing/2014/main" id="{CF01B528-738C-4FE4-9D07-BEAC91B06592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371600" y="533400"/>
            <a:ext cx="6248400" cy="8382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array-based tree</a:t>
            </a:r>
          </a:p>
        </p:txBody>
      </p:sp>
      <p:sp>
        <p:nvSpPr>
          <p:cNvPr id="13315" name="Text Box 4">
            <a:extLst>
              <a:ext uri="{FF2B5EF4-FFF2-40B4-BE49-F238E27FC236}">
                <a16:creationId xmlns:a16="http://schemas.microsoft.com/office/drawing/2014/main" id="{2A0C5DC9-F78C-49D6-BA7B-72BF5E299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938588"/>
            <a:ext cx="7467600" cy="1754326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000099"/>
                </a:solidFill>
                <a:highlight>
                  <a:srgbClr val="FFFF00"/>
                </a:highlight>
                <a:latin typeface="Tahoma" panose="020B0604030504040204" pitchFamily="34" charset="0"/>
              </a:rPr>
              <a:t>right</a:t>
            </a:r>
            <a:r>
              <a:rPr lang="en-US" altLang="en-US" sz="2400" dirty="0">
                <a:solidFill>
                  <a:srgbClr val="000099"/>
                </a:solidFill>
                <a:latin typeface="Tahoma" panose="020B0604030504040204" pitchFamily="34" charset="0"/>
              </a:rPr>
              <a:t> = 2*x + 2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solidFill>
                <a:schemeClr val="accent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right child of 11 node = 2*1 + 2 = 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right child of 10 node = 2*2 + 2 = 6</a:t>
            </a:r>
          </a:p>
        </p:txBody>
      </p:sp>
      <p:sp>
        <p:nvSpPr>
          <p:cNvPr id="2" name="Text Box 14">
            <a:extLst>
              <a:ext uri="{FF2B5EF4-FFF2-40B4-BE49-F238E27FC236}">
                <a16:creationId xmlns:a16="http://schemas.microsoft.com/office/drawing/2014/main" id="{BB61C4C9-E786-15F6-6ECF-CBE7E8F47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1752600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root</a:t>
            </a:r>
          </a:p>
        </p:txBody>
      </p:sp>
      <p:graphicFrame>
        <p:nvGraphicFramePr>
          <p:cNvPr id="3" name="Group 15">
            <a:extLst>
              <a:ext uri="{FF2B5EF4-FFF2-40B4-BE49-F238E27FC236}">
                <a16:creationId xmlns:a16="http://schemas.microsoft.com/office/drawing/2014/main" id="{5BDD8606-8EDC-8DF0-C335-0FA3DEB1FB37}"/>
              </a:ext>
            </a:extLst>
          </p:cNvPr>
          <p:cNvGraphicFramePr>
            <a:graphicFrameLocks noGrp="1"/>
          </p:cNvGraphicFramePr>
          <p:nvPr/>
        </p:nvGraphicFramePr>
        <p:xfrm>
          <a:off x="1447800" y="2209800"/>
          <a:ext cx="6019800" cy="1168400"/>
        </p:xfrm>
        <a:graphic>
          <a:graphicData uri="http://schemas.openxmlformats.org/drawingml/2006/table">
            <a:tbl>
              <a:tblPr/>
              <a:tblGrid>
                <a:gridCol w="100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94554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Freeform: Shape 3" descr="An arrow pointing from the 1 to the 4, which is the location of the 11 node's right child.">
            <a:extLst>
              <a:ext uri="{FF2B5EF4-FFF2-40B4-BE49-F238E27FC236}">
                <a16:creationId xmlns:a16="http://schemas.microsoft.com/office/drawing/2014/main" id="{5A52E3AD-ABE3-071A-FA32-5C829CCD507B}"/>
              </a:ext>
            </a:extLst>
          </p:cNvPr>
          <p:cNvSpPr/>
          <p:nvPr/>
        </p:nvSpPr>
        <p:spPr bwMode="auto">
          <a:xfrm>
            <a:off x="3048000" y="1916417"/>
            <a:ext cx="2819400" cy="419231"/>
          </a:xfrm>
          <a:custGeom>
            <a:avLst/>
            <a:gdLst>
              <a:gd name="connsiteX0" fmla="*/ 0 w 1939637"/>
              <a:gd name="connsiteY0" fmla="*/ 251286 h 389831"/>
              <a:gd name="connsiteX1" fmla="*/ 547255 w 1939637"/>
              <a:gd name="connsiteY1" fmla="*/ 57322 h 389831"/>
              <a:gd name="connsiteX2" fmla="*/ 1239982 w 1939637"/>
              <a:gd name="connsiteY2" fmla="*/ 8831 h 389831"/>
              <a:gd name="connsiteX3" fmla="*/ 1759528 w 1939637"/>
              <a:gd name="connsiteY3" fmla="*/ 209722 h 389831"/>
              <a:gd name="connsiteX4" fmla="*/ 1939637 w 1939637"/>
              <a:gd name="connsiteY4" fmla="*/ 389831 h 389831"/>
              <a:gd name="connsiteX0" fmla="*/ 0 w 1884219"/>
              <a:gd name="connsiteY0" fmla="*/ 365159 h 392868"/>
              <a:gd name="connsiteX1" fmla="*/ 491837 w 1884219"/>
              <a:gd name="connsiteY1" fmla="*/ 60359 h 392868"/>
              <a:gd name="connsiteX2" fmla="*/ 1184564 w 1884219"/>
              <a:gd name="connsiteY2" fmla="*/ 11868 h 392868"/>
              <a:gd name="connsiteX3" fmla="*/ 1704110 w 1884219"/>
              <a:gd name="connsiteY3" fmla="*/ 212759 h 392868"/>
              <a:gd name="connsiteX4" fmla="*/ 1884219 w 1884219"/>
              <a:gd name="connsiteY4" fmla="*/ 392868 h 392868"/>
              <a:gd name="connsiteX0" fmla="*/ 0 w 1884219"/>
              <a:gd name="connsiteY0" fmla="*/ 354658 h 382367"/>
              <a:gd name="connsiteX1" fmla="*/ 339437 w 1884219"/>
              <a:gd name="connsiteY1" fmla="*/ 126058 h 382367"/>
              <a:gd name="connsiteX2" fmla="*/ 1184564 w 1884219"/>
              <a:gd name="connsiteY2" fmla="*/ 1367 h 382367"/>
              <a:gd name="connsiteX3" fmla="*/ 1704110 w 1884219"/>
              <a:gd name="connsiteY3" fmla="*/ 202258 h 382367"/>
              <a:gd name="connsiteX4" fmla="*/ 1884219 w 1884219"/>
              <a:gd name="connsiteY4" fmla="*/ 382367 h 382367"/>
              <a:gd name="connsiteX0" fmla="*/ 0 w 1884219"/>
              <a:gd name="connsiteY0" fmla="*/ 360029 h 387738"/>
              <a:gd name="connsiteX1" fmla="*/ 339437 w 1884219"/>
              <a:gd name="connsiteY1" fmla="*/ 131429 h 387738"/>
              <a:gd name="connsiteX2" fmla="*/ 706582 w 1884219"/>
              <a:gd name="connsiteY2" fmla="*/ 55229 h 387738"/>
              <a:gd name="connsiteX3" fmla="*/ 1184564 w 1884219"/>
              <a:gd name="connsiteY3" fmla="*/ 6738 h 387738"/>
              <a:gd name="connsiteX4" fmla="*/ 1704110 w 1884219"/>
              <a:gd name="connsiteY4" fmla="*/ 207629 h 387738"/>
              <a:gd name="connsiteX5" fmla="*/ 1884219 w 1884219"/>
              <a:gd name="connsiteY5" fmla="*/ 387738 h 387738"/>
              <a:gd name="connsiteX0" fmla="*/ 0 w 1884219"/>
              <a:gd name="connsiteY0" fmla="*/ 391522 h 419231"/>
              <a:gd name="connsiteX1" fmla="*/ 339437 w 1884219"/>
              <a:gd name="connsiteY1" fmla="*/ 162922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256310 w 1884219"/>
              <a:gd name="connsiteY1" fmla="*/ 176777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96982 w 1884219"/>
              <a:gd name="connsiteY1" fmla="*/ 308396 h 419231"/>
              <a:gd name="connsiteX2" fmla="*/ 256310 w 1884219"/>
              <a:gd name="connsiteY2" fmla="*/ 176777 h 419231"/>
              <a:gd name="connsiteX3" fmla="*/ 692728 w 1884219"/>
              <a:gd name="connsiteY3" fmla="*/ 10522 h 419231"/>
              <a:gd name="connsiteX4" fmla="*/ 1184564 w 1884219"/>
              <a:gd name="connsiteY4" fmla="*/ 38231 h 419231"/>
              <a:gd name="connsiteX5" fmla="*/ 1704110 w 1884219"/>
              <a:gd name="connsiteY5" fmla="*/ 239122 h 419231"/>
              <a:gd name="connsiteX6" fmla="*/ 1884219 w 1884219"/>
              <a:gd name="connsiteY6" fmla="*/ 419231 h 419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4219" h="419231">
                <a:moveTo>
                  <a:pt x="0" y="391522"/>
                </a:moveTo>
                <a:cubicBezTo>
                  <a:pt x="20782" y="377668"/>
                  <a:pt x="54264" y="344187"/>
                  <a:pt x="96982" y="308396"/>
                </a:cubicBezTo>
                <a:cubicBezTo>
                  <a:pt x="139700" y="272605"/>
                  <a:pt x="157019" y="226423"/>
                  <a:pt x="256310" y="176777"/>
                </a:cubicBezTo>
                <a:cubicBezTo>
                  <a:pt x="355601" y="127131"/>
                  <a:pt x="551874" y="31304"/>
                  <a:pt x="692728" y="10522"/>
                </a:cubicBezTo>
                <a:cubicBezTo>
                  <a:pt x="833582" y="-10260"/>
                  <a:pt x="1016000" y="131"/>
                  <a:pt x="1184564" y="38231"/>
                </a:cubicBezTo>
                <a:cubicBezTo>
                  <a:pt x="1353128" y="76331"/>
                  <a:pt x="1587501" y="175622"/>
                  <a:pt x="1704110" y="239122"/>
                </a:cubicBezTo>
                <a:cubicBezTo>
                  <a:pt x="1820719" y="302622"/>
                  <a:pt x="1852469" y="360926"/>
                  <a:pt x="1884219" y="419231"/>
                </a:cubicBezTo>
              </a:path>
            </a:pathLst>
          </a:cu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5" name="Freeform: Shape 4" descr="An arrow pointing from the 2 to the spot after spot 5, which is out of bounds but would be the location of the 10 node's right child if it had one.">
            <a:extLst>
              <a:ext uri="{FF2B5EF4-FFF2-40B4-BE49-F238E27FC236}">
                <a16:creationId xmlns:a16="http://schemas.microsoft.com/office/drawing/2014/main" id="{3DDFEF83-A313-EF48-DE62-42D8735EE140}"/>
              </a:ext>
            </a:extLst>
          </p:cNvPr>
          <p:cNvSpPr/>
          <p:nvPr/>
        </p:nvSpPr>
        <p:spPr bwMode="auto">
          <a:xfrm>
            <a:off x="3997036" y="1905000"/>
            <a:ext cx="3699164" cy="419231"/>
          </a:xfrm>
          <a:custGeom>
            <a:avLst/>
            <a:gdLst>
              <a:gd name="connsiteX0" fmla="*/ 0 w 1939637"/>
              <a:gd name="connsiteY0" fmla="*/ 251286 h 389831"/>
              <a:gd name="connsiteX1" fmla="*/ 547255 w 1939637"/>
              <a:gd name="connsiteY1" fmla="*/ 57322 h 389831"/>
              <a:gd name="connsiteX2" fmla="*/ 1239982 w 1939637"/>
              <a:gd name="connsiteY2" fmla="*/ 8831 h 389831"/>
              <a:gd name="connsiteX3" fmla="*/ 1759528 w 1939637"/>
              <a:gd name="connsiteY3" fmla="*/ 209722 h 389831"/>
              <a:gd name="connsiteX4" fmla="*/ 1939637 w 1939637"/>
              <a:gd name="connsiteY4" fmla="*/ 389831 h 389831"/>
              <a:gd name="connsiteX0" fmla="*/ 0 w 1884219"/>
              <a:gd name="connsiteY0" fmla="*/ 365159 h 392868"/>
              <a:gd name="connsiteX1" fmla="*/ 491837 w 1884219"/>
              <a:gd name="connsiteY1" fmla="*/ 60359 h 392868"/>
              <a:gd name="connsiteX2" fmla="*/ 1184564 w 1884219"/>
              <a:gd name="connsiteY2" fmla="*/ 11868 h 392868"/>
              <a:gd name="connsiteX3" fmla="*/ 1704110 w 1884219"/>
              <a:gd name="connsiteY3" fmla="*/ 212759 h 392868"/>
              <a:gd name="connsiteX4" fmla="*/ 1884219 w 1884219"/>
              <a:gd name="connsiteY4" fmla="*/ 392868 h 392868"/>
              <a:gd name="connsiteX0" fmla="*/ 0 w 1884219"/>
              <a:gd name="connsiteY0" fmla="*/ 354658 h 382367"/>
              <a:gd name="connsiteX1" fmla="*/ 339437 w 1884219"/>
              <a:gd name="connsiteY1" fmla="*/ 126058 h 382367"/>
              <a:gd name="connsiteX2" fmla="*/ 1184564 w 1884219"/>
              <a:gd name="connsiteY2" fmla="*/ 1367 h 382367"/>
              <a:gd name="connsiteX3" fmla="*/ 1704110 w 1884219"/>
              <a:gd name="connsiteY3" fmla="*/ 202258 h 382367"/>
              <a:gd name="connsiteX4" fmla="*/ 1884219 w 1884219"/>
              <a:gd name="connsiteY4" fmla="*/ 382367 h 382367"/>
              <a:gd name="connsiteX0" fmla="*/ 0 w 1884219"/>
              <a:gd name="connsiteY0" fmla="*/ 360029 h 387738"/>
              <a:gd name="connsiteX1" fmla="*/ 339437 w 1884219"/>
              <a:gd name="connsiteY1" fmla="*/ 131429 h 387738"/>
              <a:gd name="connsiteX2" fmla="*/ 706582 w 1884219"/>
              <a:gd name="connsiteY2" fmla="*/ 55229 h 387738"/>
              <a:gd name="connsiteX3" fmla="*/ 1184564 w 1884219"/>
              <a:gd name="connsiteY3" fmla="*/ 6738 h 387738"/>
              <a:gd name="connsiteX4" fmla="*/ 1704110 w 1884219"/>
              <a:gd name="connsiteY4" fmla="*/ 207629 h 387738"/>
              <a:gd name="connsiteX5" fmla="*/ 1884219 w 1884219"/>
              <a:gd name="connsiteY5" fmla="*/ 387738 h 387738"/>
              <a:gd name="connsiteX0" fmla="*/ 0 w 1884219"/>
              <a:gd name="connsiteY0" fmla="*/ 391522 h 419231"/>
              <a:gd name="connsiteX1" fmla="*/ 339437 w 1884219"/>
              <a:gd name="connsiteY1" fmla="*/ 162922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256310 w 1884219"/>
              <a:gd name="connsiteY1" fmla="*/ 176777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96982 w 1884219"/>
              <a:gd name="connsiteY1" fmla="*/ 308396 h 419231"/>
              <a:gd name="connsiteX2" fmla="*/ 256310 w 1884219"/>
              <a:gd name="connsiteY2" fmla="*/ 176777 h 419231"/>
              <a:gd name="connsiteX3" fmla="*/ 692728 w 1884219"/>
              <a:gd name="connsiteY3" fmla="*/ 10522 h 419231"/>
              <a:gd name="connsiteX4" fmla="*/ 1184564 w 1884219"/>
              <a:gd name="connsiteY4" fmla="*/ 38231 h 419231"/>
              <a:gd name="connsiteX5" fmla="*/ 1704110 w 1884219"/>
              <a:gd name="connsiteY5" fmla="*/ 239122 h 419231"/>
              <a:gd name="connsiteX6" fmla="*/ 1884219 w 1884219"/>
              <a:gd name="connsiteY6" fmla="*/ 419231 h 419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4219" h="419231">
                <a:moveTo>
                  <a:pt x="0" y="391522"/>
                </a:moveTo>
                <a:cubicBezTo>
                  <a:pt x="20782" y="377668"/>
                  <a:pt x="54264" y="344187"/>
                  <a:pt x="96982" y="308396"/>
                </a:cubicBezTo>
                <a:cubicBezTo>
                  <a:pt x="139700" y="272605"/>
                  <a:pt x="157019" y="226423"/>
                  <a:pt x="256310" y="176777"/>
                </a:cubicBezTo>
                <a:cubicBezTo>
                  <a:pt x="355601" y="127131"/>
                  <a:pt x="551874" y="31304"/>
                  <a:pt x="692728" y="10522"/>
                </a:cubicBezTo>
                <a:cubicBezTo>
                  <a:pt x="833582" y="-10260"/>
                  <a:pt x="1016000" y="131"/>
                  <a:pt x="1184564" y="38231"/>
                </a:cubicBezTo>
                <a:cubicBezTo>
                  <a:pt x="1353128" y="76331"/>
                  <a:pt x="1587501" y="175622"/>
                  <a:pt x="1704110" y="239122"/>
                </a:cubicBezTo>
                <a:cubicBezTo>
                  <a:pt x="1820719" y="302622"/>
                  <a:pt x="1852469" y="360926"/>
                  <a:pt x="1884219" y="419231"/>
                </a:cubicBezTo>
              </a:path>
            </a:pathLst>
          </a:cu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3314" name="Footer Placeholder 3">
            <a:extLst>
              <a:ext uri="{FF2B5EF4-FFF2-40B4-BE49-F238E27FC236}">
                <a16:creationId xmlns:a16="http://schemas.microsoft.com/office/drawing/2014/main" id="{60D5BFC9-301A-46D6-83BC-252460439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919951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WordArt 6">
            <a:extLst>
              <a:ext uri="{FF2B5EF4-FFF2-40B4-BE49-F238E27FC236}">
                <a16:creationId xmlns:a16="http://schemas.microsoft.com/office/drawing/2014/main" id="{CF01B528-738C-4FE4-9D07-BEAC91B06592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371600" y="533400"/>
            <a:ext cx="6248400" cy="8382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array-based tree</a:t>
            </a:r>
          </a:p>
        </p:txBody>
      </p:sp>
      <p:sp>
        <p:nvSpPr>
          <p:cNvPr id="13315" name="Text Box 4">
            <a:extLst>
              <a:ext uri="{FF2B5EF4-FFF2-40B4-BE49-F238E27FC236}">
                <a16:creationId xmlns:a16="http://schemas.microsoft.com/office/drawing/2014/main" id="{2A0C5DC9-F78C-49D6-BA7B-72BF5E299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938588"/>
            <a:ext cx="7924800" cy="1754326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000099"/>
                </a:solidFill>
                <a:highlight>
                  <a:srgbClr val="FFFF00"/>
                </a:highlight>
                <a:latin typeface="Tahoma" panose="020B0604030504040204" pitchFamily="34" charset="0"/>
              </a:rPr>
              <a:t>parent</a:t>
            </a:r>
            <a:r>
              <a:rPr lang="en-US" altLang="en-US" sz="2400" dirty="0">
                <a:solidFill>
                  <a:srgbClr val="000099"/>
                </a:solidFill>
                <a:latin typeface="Tahoma" panose="020B0604030504040204" pitchFamily="34" charset="0"/>
              </a:rPr>
              <a:t> = </a:t>
            </a:r>
            <a:r>
              <a:rPr lang="en-US" altLang="en-US" sz="2400" dirty="0">
                <a:solidFill>
                  <a:srgbClr val="FF0000"/>
                </a:solidFill>
                <a:latin typeface="Tahoma" panose="020B0604030504040204" pitchFamily="34" charset="0"/>
              </a:rPr>
              <a:t>1/2 x - 1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solidFill>
                <a:schemeClr val="accent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Parent of 7 node = 1/2 (3) – 1 = </a:t>
            </a:r>
            <a:r>
              <a:rPr lang="en-US" altLang="en-US" sz="2800" dirty="0">
                <a:solidFill>
                  <a:srgbClr val="FF0000"/>
                </a:solidFill>
                <a:latin typeface="Tahoma" panose="020B0604030504040204" pitchFamily="34" charset="0"/>
              </a:rPr>
              <a:t>0  wrong!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Parent of 8 node = 1/2 (4) – 1 = 1</a:t>
            </a:r>
          </a:p>
        </p:txBody>
      </p:sp>
      <p:sp>
        <p:nvSpPr>
          <p:cNvPr id="2" name="Text Box 14">
            <a:extLst>
              <a:ext uri="{FF2B5EF4-FFF2-40B4-BE49-F238E27FC236}">
                <a16:creationId xmlns:a16="http://schemas.microsoft.com/office/drawing/2014/main" id="{BB61C4C9-E786-15F6-6ECF-CBE7E8F47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1752600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root</a:t>
            </a:r>
          </a:p>
        </p:txBody>
      </p:sp>
      <p:graphicFrame>
        <p:nvGraphicFramePr>
          <p:cNvPr id="3" name="Group 15">
            <a:extLst>
              <a:ext uri="{FF2B5EF4-FFF2-40B4-BE49-F238E27FC236}">
                <a16:creationId xmlns:a16="http://schemas.microsoft.com/office/drawing/2014/main" id="{5BDD8606-8EDC-8DF0-C335-0FA3DEB1FB37}"/>
              </a:ext>
            </a:extLst>
          </p:cNvPr>
          <p:cNvGraphicFramePr>
            <a:graphicFrameLocks noGrp="1"/>
          </p:cNvGraphicFramePr>
          <p:nvPr/>
        </p:nvGraphicFramePr>
        <p:xfrm>
          <a:off x="1447800" y="2209800"/>
          <a:ext cx="6019800" cy="1168400"/>
        </p:xfrm>
        <a:graphic>
          <a:graphicData uri="http://schemas.openxmlformats.org/drawingml/2006/table">
            <a:tbl>
              <a:tblPr/>
              <a:tblGrid>
                <a:gridCol w="100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94554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Freeform: Shape 3" descr="An arrow pointing from the 3 to the 1, which is the location of the 7 node's parent, 11.">
            <a:extLst>
              <a:ext uri="{FF2B5EF4-FFF2-40B4-BE49-F238E27FC236}">
                <a16:creationId xmlns:a16="http://schemas.microsoft.com/office/drawing/2014/main" id="{5A52E3AD-ABE3-071A-FA32-5C829CCD507B}"/>
              </a:ext>
            </a:extLst>
          </p:cNvPr>
          <p:cNvSpPr/>
          <p:nvPr/>
        </p:nvSpPr>
        <p:spPr bwMode="auto">
          <a:xfrm flipH="1">
            <a:off x="3048000" y="1916417"/>
            <a:ext cx="1870364" cy="419231"/>
          </a:xfrm>
          <a:custGeom>
            <a:avLst/>
            <a:gdLst>
              <a:gd name="connsiteX0" fmla="*/ 0 w 1939637"/>
              <a:gd name="connsiteY0" fmla="*/ 251286 h 389831"/>
              <a:gd name="connsiteX1" fmla="*/ 547255 w 1939637"/>
              <a:gd name="connsiteY1" fmla="*/ 57322 h 389831"/>
              <a:gd name="connsiteX2" fmla="*/ 1239982 w 1939637"/>
              <a:gd name="connsiteY2" fmla="*/ 8831 h 389831"/>
              <a:gd name="connsiteX3" fmla="*/ 1759528 w 1939637"/>
              <a:gd name="connsiteY3" fmla="*/ 209722 h 389831"/>
              <a:gd name="connsiteX4" fmla="*/ 1939637 w 1939637"/>
              <a:gd name="connsiteY4" fmla="*/ 389831 h 389831"/>
              <a:gd name="connsiteX0" fmla="*/ 0 w 1884219"/>
              <a:gd name="connsiteY0" fmla="*/ 365159 h 392868"/>
              <a:gd name="connsiteX1" fmla="*/ 491837 w 1884219"/>
              <a:gd name="connsiteY1" fmla="*/ 60359 h 392868"/>
              <a:gd name="connsiteX2" fmla="*/ 1184564 w 1884219"/>
              <a:gd name="connsiteY2" fmla="*/ 11868 h 392868"/>
              <a:gd name="connsiteX3" fmla="*/ 1704110 w 1884219"/>
              <a:gd name="connsiteY3" fmla="*/ 212759 h 392868"/>
              <a:gd name="connsiteX4" fmla="*/ 1884219 w 1884219"/>
              <a:gd name="connsiteY4" fmla="*/ 392868 h 392868"/>
              <a:gd name="connsiteX0" fmla="*/ 0 w 1884219"/>
              <a:gd name="connsiteY0" fmla="*/ 354658 h 382367"/>
              <a:gd name="connsiteX1" fmla="*/ 339437 w 1884219"/>
              <a:gd name="connsiteY1" fmla="*/ 126058 h 382367"/>
              <a:gd name="connsiteX2" fmla="*/ 1184564 w 1884219"/>
              <a:gd name="connsiteY2" fmla="*/ 1367 h 382367"/>
              <a:gd name="connsiteX3" fmla="*/ 1704110 w 1884219"/>
              <a:gd name="connsiteY3" fmla="*/ 202258 h 382367"/>
              <a:gd name="connsiteX4" fmla="*/ 1884219 w 1884219"/>
              <a:gd name="connsiteY4" fmla="*/ 382367 h 382367"/>
              <a:gd name="connsiteX0" fmla="*/ 0 w 1884219"/>
              <a:gd name="connsiteY0" fmla="*/ 360029 h 387738"/>
              <a:gd name="connsiteX1" fmla="*/ 339437 w 1884219"/>
              <a:gd name="connsiteY1" fmla="*/ 131429 h 387738"/>
              <a:gd name="connsiteX2" fmla="*/ 706582 w 1884219"/>
              <a:gd name="connsiteY2" fmla="*/ 55229 h 387738"/>
              <a:gd name="connsiteX3" fmla="*/ 1184564 w 1884219"/>
              <a:gd name="connsiteY3" fmla="*/ 6738 h 387738"/>
              <a:gd name="connsiteX4" fmla="*/ 1704110 w 1884219"/>
              <a:gd name="connsiteY4" fmla="*/ 207629 h 387738"/>
              <a:gd name="connsiteX5" fmla="*/ 1884219 w 1884219"/>
              <a:gd name="connsiteY5" fmla="*/ 387738 h 387738"/>
              <a:gd name="connsiteX0" fmla="*/ 0 w 1884219"/>
              <a:gd name="connsiteY0" fmla="*/ 391522 h 419231"/>
              <a:gd name="connsiteX1" fmla="*/ 339437 w 1884219"/>
              <a:gd name="connsiteY1" fmla="*/ 162922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256310 w 1884219"/>
              <a:gd name="connsiteY1" fmla="*/ 176777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96982 w 1884219"/>
              <a:gd name="connsiteY1" fmla="*/ 308396 h 419231"/>
              <a:gd name="connsiteX2" fmla="*/ 256310 w 1884219"/>
              <a:gd name="connsiteY2" fmla="*/ 176777 h 419231"/>
              <a:gd name="connsiteX3" fmla="*/ 692728 w 1884219"/>
              <a:gd name="connsiteY3" fmla="*/ 10522 h 419231"/>
              <a:gd name="connsiteX4" fmla="*/ 1184564 w 1884219"/>
              <a:gd name="connsiteY4" fmla="*/ 38231 h 419231"/>
              <a:gd name="connsiteX5" fmla="*/ 1704110 w 1884219"/>
              <a:gd name="connsiteY5" fmla="*/ 239122 h 419231"/>
              <a:gd name="connsiteX6" fmla="*/ 1884219 w 1884219"/>
              <a:gd name="connsiteY6" fmla="*/ 419231 h 419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4219" h="419231">
                <a:moveTo>
                  <a:pt x="0" y="391522"/>
                </a:moveTo>
                <a:cubicBezTo>
                  <a:pt x="20782" y="377668"/>
                  <a:pt x="54264" y="344187"/>
                  <a:pt x="96982" y="308396"/>
                </a:cubicBezTo>
                <a:cubicBezTo>
                  <a:pt x="139700" y="272605"/>
                  <a:pt x="157019" y="226423"/>
                  <a:pt x="256310" y="176777"/>
                </a:cubicBezTo>
                <a:cubicBezTo>
                  <a:pt x="355601" y="127131"/>
                  <a:pt x="551874" y="31304"/>
                  <a:pt x="692728" y="10522"/>
                </a:cubicBezTo>
                <a:cubicBezTo>
                  <a:pt x="833582" y="-10260"/>
                  <a:pt x="1016000" y="131"/>
                  <a:pt x="1184564" y="38231"/>
                </a:cubicBezTo>
                <a:cubicBezTo>
                  <a:pt x="1353128" y="76331"/>
                  <a:pt x="1587501" y="175622"/>
                  <a:pt x="1704110" y="239122"/>
                </a:cubicBezTo>
                <a:cubicBezTo>
                  <a:pt x="1820719" y="302622"/>
                  <a:pt x="1852469" y="360926"/>
                  <a:pt x="1884219" y="419231"/>
                </a:cubicBezTo>
              </a:path>
            </a:pathLst>
          </a:cu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5" name="Freeform: Shape 4" descr="An arrow pointing from the 4 to the 1, which is the location of the 8 node's parent, 11.">
            <a:extLst>
              <a:ext uri="{FF2B5EF4-FFF2-40B4-BE49-F238E27FC236}">
                <a16:creationId xmlns:a16="http://schemas.microsoft.com/office/drawing/2014/main" id="{3DDFEF83-A313-EF48-DE62-42D8735EE140}"/>
              </a:ext>
            </a:extLst>
          </p:cNvPr>
          <p:cNvSpPr/>
          <p:nvPr/>
        </p:nvSpPr>
        <p:spPr bwMode="auto">
          <a:xfrm flipH="1">
            <a:off x="3048000" y="1905000"/>
            <a:ext cx="2819400" cy="419231"/>
          </a:xfrm>
          <a:custGeom>
            <a:avLst/>
            <a:gdLst>
              <a:gd name="connsiteX0" fmla="*/ 0 w 1939637"/>
              <a:gd name="connsiteY0" fmla="*/ 251286 h 389831"/>
              <a:gd name="connsiteX1" fmla="*/ 547255 w 1939637"/>
              <a:gd name="connsiteY1" fmla="*/ 57322 h 389831"/>
              <a:gd name="connsiteX2" fmla="*/ 1239982 w 1939637"/>
              <a:gd name="connsiteY2" fmla="*/ 8831 h 389831"/>
              <a:gd name="connsiteX3" fmla="*/ 1759528 w 1939637"/>
              <a:gd name="connsiteY3" fmla="*/ 209722 h 389831"/>
              <a:gd name="connsiteX4" fmla="*/ 1939637 w 1939637"/>
              <a:gd name="connsiteY4" fmla="*/ 389831 h 389831"/>
              <a:gd name="connsiteX0" fmla="*/ 0 w 1884219"/>
              <a:gd name="connsiteY0" fmla="*/ 365159 h 392868"/>
              <a:gd name="connsiteX1" fmla="*/ 491837 w 1884219"/>
              <a:gd name="connsiteY1" fmla="*/ 60359 h 392868"/>
              <a:gd name="connsiteX2" fmla="*/ 1184564 w 1884219"/>
              <a:gd name="connsiteY2" fmla="*/ 11868 h 392868"/>
              <a:gd name="connsiteX3" fmla="*/ 1704110 w 1884219"/>
              <a:gd name="connsiteY3" fmla="*/ 212759 h 392868"/>
              <a:gd name="connsiteX4" fmla="*/ 1884219 w 1884219"/>
              <a:gd name="connsiteY4" fmla="*/ 392868 h 392868"/>
              <a:gd name="connsiteX0" fmla="*/ 0 w 1884219"/>
              <a:gd name="connsiteY0" fmla="*/ 354658 h 382367"/>
              <a:gd name="connsiteX1" fmla="*/ 339437 w 1884219"/>
              <a:gd name="connsiteY1" fmla="*/ 126058 h 382367"/>
              <a:gd name="connsiteX2" fmla="*/ 1184564 w 1884219"/>
              <a:gd name="connsiteY2" fmla="*/ 1367 h 382367"/>
              <a:gd name="connsiteX3" fmla="*/ 1704110 w 1884219"/>
              <a:gd name="connsiteY3" fmla="*/ 202258 h 382367"/>
              <a:gd name="connsiteX4" fmla="*/ 1884219 w 1884219"/>
              <a:gd name="connsiteY4" fmla="*/ 382367 h 382367"/>
              <a:gd name="connsiteX0" fmla="*/ 0 w 1884219"/>
              <a:gd name="connsiteY0" fmla="*/ 360029 h 387738"/>
              <a:gd name="connsiteX1" fmla="*/ 339437 w 1884219"/>
              <a:gd name="connsiteY1" fmla="*/ 131429 h 387738"/>
              <a:gd name="connsiteX2" fmla="*/ 706582 w 1884219"/>
              <a:gd name="connsiteY2" fmla="*/ 55229 h 387738"/>
              <a:gd name="connsiteX3" fmla="*/ 1184564 w 1884219"/>
              <a:gd name="connsiteY3" fmla="*/ 6738 h 387738"/>
              <a:gd name="connsiteX4" fmla="*/ 1704110 w 1884219"/>
              <a:gd name="connsiteY4" fmla="*/ 207629 h 387738"/>
              <a:gd name="connsiteX5" fmla="*/ 1884219 w 1884219"/>
              <a:gd name="connsiteY5" fmla="*/ 387738 h 387738"/>
              <a:gd name="connsiteX0" fmla="*/ 0 w 1884219"/>
              <a:gd name="connsiteY0" fmla="*/ 391522 h 419231"/>
              <a:gd name="connsiteX1" fmla="*/ 339437 w 1884219"/>
              <a:gd name="connsiteY1" fmla="*/ 162922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256310 w 1884219"/>
              <a:gd name="connsiteY1" fmla="*/ 176777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96982 w 1884219"/>
              <a:gd name="connsiteY1" fmla="*/ 308396 h 419231"/>
              <a:gd name="connsiteX2" fmla="*/ 256310 w 1884219"/>
              <a:gd name="connsiteY2" fmla="*/ 176777 h 419231"/>
              <a:gd name="connsiteX3" fmla="*/ 692728 w 1884219"/>
              <a:gd name="connsiteY3" fmla="*/ 10522 h 419231"/>
              <a:gd name="connsiteX4" fmla="*/ 1184564 w 1884219"/>
              <a:gd name="connsiteY4" fmla="*/ 38231 h 419231"/>
              <a:gd name="connsiteX5" fmla="*/ 1704110 w 1884219"/>
              <a:gd name="connsiteY5" fmla="*/ 239122 h 419231"/>
              <a:gd name="connsiteX6" fmla="*/ 1884219 w 1884219"/>
              <a:gd name="connsiteY6" fmla="*/ 419231 h 419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4219" h="419231">
                <a:moveTo>
                  <a:pt x="0" y="391522"/>
                </a:moveTo>
                <a:cubicBezTo>
                  <a:pt x="20782" y="377668"/>
                  <a:pt x="54264" y="344187"/>
                  <a:pt x="96982" y="308396"/>
                </a:cubicBezTo>
                <a:cubicBezTo>
                  <a:pt x="139700" y="272605"/>
                  <a:pt x="157019" y="226423"/>
                  <a:pt x="256310" y="176777"/>
                </a:cubicBezTo>
                <a:cubicBezTo>
                  <a:pt x="355601" y="127131"/>
                  <a:pt x="551874" y="31304"/>
                  <a:pt x="692728" y="10522"/>
                </a:cubicBezTo>
                <a:cubicBezTo>
                  <a:pt x="833582" y="-10260"/>
                  <a:pt x="1016000" y="131"/>
                  <a:pt x="1184564" y="38231"/>
                </a:cubicBezTo>
                <a:cubicBezTo>
                  <a:pt x="1353128" y="76331"/>
                  <a:pt x="1587501" y="175622"/>
                  <a:pt x="1704110" y="239122"/>
                </a:cubicBezTo>
                <a:cubicBezTo>
                  <a:pt x="1820719" y="302622"/>
                  <a:pt x="1852469" y="360926"/>
                  <a:pt x="1884219" y="419231"/>
                </a:cubicBezTo>
              </a:path>
            </a:pathLst>
          </a:cu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3314" name="Footer Placeholder 3">
            <a:extLst>
              <a:ext uri="{FF2B5EF4-FFF2-40B4-BE49-F238E27FC236}">
                <a16:creationId xmlns:a16="http://schemas.microsoft.com/office/drawing/2014/main" id="{60D5BFC9-301A-46D6-83BC-252460439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176830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WordArt 6">
            <a:extLst>
              <a:ext uri="{FF2B5EF4-FFF2-40B4-BE49-F238E27FC236}">
                <a16:creationId xmlns:a16="http://schemas.microsoft.com/office/drawing/2014/main" id="{CF01B528-738C-4FE4-9D07-BEAC91B06592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371600" y="533400"/>
            <a:ext cx="6248400" cy="8382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array-based tree</a:t>
            </a:r>
          </a:p>
        </p:txBody>
      </p:sp>
      <p:sp>
        <p:nvSpPr>
          <p:cNvPr id="13315" name="Text Box 4">
            <a:extLst>
              <a:ext uri="{FF2B5EF4-FFF2-40B4-BE49-F238E27FC236}">
                <a16:creationId xmlns:a16="http://schemas.microsoft.com/office/drawing/2014/main" id="{2A0C5DC9-F78C-49D6-BA7B-72BF5E299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938588"/>
            <a:ext cx="7467600" cy="1754326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000099"/>
                </a:solidFill>
                <a:highlight>
                  <a:srgbClr val="FFFF00"/>
                </a:highlight>
                <a:latin typeface="Tahoma" panose="020B0604030504040204" pitchFamily="34" charset="0"/>
              </a:rPr>
              <a:t>parent</a:t>
            </a:r>
            <a:r>
              <a:rPr lang="en-US" altLang="en-US" sz="2400" dirty="0">
                <a:solidFill>
                  <a:srgbClr val="000099"/>
                </a:solidFill>
                <a:latin typeface="Tahoma" panose="020B0604030504040204" pitchFamily="34" charset="0"/>
              </a:rPr>
              <a:t>  =  1/2 (x – 1)      or      (x – 1) / 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solidFill>
                <a:schemeClr val="accent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Parent of 7 node = 1/2 (3 – 1) = 1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Parent of 8 node = 1/2 (4 – 1) = 1</a:t>
            </a:r>
          </a:p>
        </p:txBody>
      </p:sp>
      <p:sp>
        <p:nvSpPr>
          <p:cNvPr id="2" name="Text Box 14">
            <a:extLst>
              <a:ext uri="{FF2B5EF4-FFF2-40B4-BE49-F238E27FC236}">
                <a16:creationId xmlns:a16="http://schemas.microsoft.com/office/drawing/2014/main" id="{BB61C4C9-E786-15F6-6ECF-CBE7E8F47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1752600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root</a:t>
            </a:r>
          </a:p>
        </p:txBody>
      </p:sp>
      <p:graphicFrame>
        <p:nvGraphicFramePr>
          <p:cNvPr id="3" name="Group 15">
            <a:extLst>
              <a:ext uri="{FF2B5EF4-FFF2-40B4-BE49-F238E27FC236}">
                <a16:creationId xmlns:a16="http://schemas.microsoft.com/office/drawing/2014/main" id="{5BDD8606-8EDC-8DF0-C335-0FA3DEB1FB37}"/>
              </a:ext>
            </a:extLst>
          </p:cNvPr>
          <p:cNvGraphicFramePr>
            <a:graphicFrameLocks noGrp="1"/>
          </p:cNvGraphicFramePr>
          <p:nvPr/>
        </p:nvGraphicFramePr>
        <p:xfrm>
          <a:off x="1447800" y="2209800"/>
          <a:ext cx="6019800" cy="1168400"/>
        </p:xfrm>
        <a:graphic>
          <a:graphicData uri="http://schemas.openxmlformats.org/drawingml/2006/table">
            <a:tbl>
              <a:tblPr/>
              <a:tblGrid>
                <a:gridCol w="100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94554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Freeform: Shape 3" descr="An arrow pointing from the 3 to the 1, which is the location of the 7 node's parent, 11.">
            <a:extLst>
              <a:ext uri="{FF2B5EF4-FFF2-40B4-BE49-F238E27FC236}">
                <a16:creationId xmlns:a16="http://schemas.microsoft.com/office/drawing/2014/main" id="{5A52E3AD-ABE3-071A-FA32-5C829CCD507B}"/>
              </a:ext>
            </a:extLst>
          </p:cNvPr>
          <p:cNvSpPr/>
          <p:nvPr/>
        </p:nvSpPr>
        <p:spPr bwMode="auto">
          <a:xfrm flipH="1">
            <a:off x="3048000" y="1916417"/>
            <a:ext cx="1870364" cy="419231"/>
          </a:xfrm>
          <a:custGeom>
            <a:avLst/>
            <a:gdLst>
              <a:gd name="connsiteX0" fmla="*/ 0 w 1939637"/>
              <a:gd name="connsiteY0" fmla="*/ 251286 h 389831"/>
              <a:gd name="connsiteX1" fmla="*/ 547255 w 1939637"/>
              <a:gd name="connsiteY1" fmla="*/ 57322 h 389831"/>
              <a:gd name="connsiteX2" fmla="*/ 1239982 w 1939637"/>
              <a:gd name="connsiteY2" fmla="*/ 8831 h 389831"/>
              <a:gd name="connsiteX3" fmla="*/ 1759528 w 1939637"/>
              <a:gd name="connsiteY3" fmla="*/ 209722 h 389831"/>
              <a:gd name="connsiteX4" fmla="*/ 1939637 w 1939637"/>
              <a:gd name="connsiteY4" fmla="*/ 389831 h 389831"/>
              <a:gd name="connsiteX0" fmla="*/ 0 w 1884219"/>
              <a:gd name="connsiteY0" fmla="*/ 365159 h 392868"/>
              <a:gd name="connsiteX1" fmla="*/ 491837 w 1884219"/>
              <a:gd name="connsiteY1" fmla="*/ 60359 h 392868"/>
              <a:gd name="connsiteX2" fmla="*/ 1184564 w 1884219"/>
              <a:gd name="connsiteY2" fmla="*/ 11868 h 392868"/>
              <a:gd name="connsiteX3" fmla="*/ 1704110 w 1884219"/>
              <a:gd name="connsiteY3" fmla="*/ 212759 h 392868"/>
              <a:gd name="connsiteX4" fmla="*/ 1884219 w 1884219"/>
              <a:gd name="connsiteY4" fmla="*/ 392868 h 392868"/>
              <a:gd name="connsiteX0" fmla="*/ 0 w 1884219"/>
              <a:gd name="connsiteY0" fmla="*/ 354658 h 382367"/>
              <a:gd name="connsiteX1" fmla="*/ 339437 w 1884219"/>
              <a:gd name="connsiteY1" fmla="*/ 126058 h 382367"/>
              <a:gd name="connsiteX2" fmla="*/ 1184564 w 1884219"/>
              <a:gd name="connsiteY2" fmla="*/ 1367 h 382367"/>
              <a:gd name="connsiteX3" fmla="*/ 1704110 w 1884219"/>
              <a:gd name="connsiteY3" fmla="*/ 202258 h 382367"/>
              <a:gd name="connsiteX4" fmla="*/ 1884219 w 1884219"/>
              <a:gd name="connsiteY4" fmla="*/ 382367 h 382367"/>
              <a:gd name="connsiteX0" fmla="*/ 0 w 1884219"/>
              <a:gd name="connsiteY0" fmla="*/ 360029 h 387738"/>
              <a:gd name="connsiteX1" fmla="*/ 339437 w 1884219"/>
              <a:gd name="connsiteY1" fmla="*/ 131429 h 387738"/>
              <a:gd name="connsiteX2" fmla="*/ 706582 w 1884219"/>
              <a:gd name="connsiteY2" fmla="*/ 55229 h 387738"/>
              <a:gd name="connsiteX3" fmla="*/ 1184564 w 1884219"/>
              <a:gd name="connsiteY3" fmla="*/ 6738 h 387738"/>
              <a:gd name="connsiteX4" fmla="*/ 1704110 w 1884219"/>
              <a:gd name="connsiteY4" fmla="*/ 207629 h 387738"/>
              <a:gd name="connsiteX5" fmla="*/ 1884219 w 1884219"/>
              <a:gd name="connsiteY5" fmla="*/ 387738 h 387738"/>
              <a:gd name="connsiteX0" fmla="*/ 0 w 1884219"/>
              <a:gd name="connsiteY0" fmla="*/ 391522 h 419231"/>
              <a:gd name="connsiteX1" fmla="*/ 339437 w 1884219"/>
              <a:gd name="connsiteY1" fmla="*/ 162922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256310 w 1884219"/>
              <a:gd name="connsiteY1" fmla="*/ 176777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96982 w 1884219"/>
              <a:gd name="connsiteY1" fmla="*/ 308396 h 419231"/>
              <a:gd name="connsiteX2" fmla="*/ 256310 w 1884219"/>
              <a:gd name="connsiteY2" fmla="*/ 176777 h 419231"/>
              <a:gd name="connsiteX3" fmla="*/ 692728 w 1884219"/>
              <a:gd name="connsiteY3" fmla="*/ 10522 h 419231"/>
              <a:gd name="connsiteX4" fmla="*/ 1184564 w 1884219"/>
              <a:gd name="connsiteY4" fmla="*/ 38231 h 419231"/>
              <a:gd name="connsiteX5" fmla="*/ 1704110 w 1884219"/>
              <a:gd name="connsiteY5" fmla="*/ 239122 h 419231"/>
              <a:gd name="connsiteX6" fmla="*/ 1884219 w 1884219"/>
              <a:gd name="connsiteY6" fmla="*/ 419231 h 419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4219" h="419231">
                <a:moveTo>
                  <a:pt x="0" y="391522"/>
                </a:moveTo>
                <a:cubicBezTo>
                  <a:pt x="20782" y="377668"/>
                  <a:pt x="54264" y="344187"/>
                  <a:pt x="96982" y="308396"/>
                </a:cubicBezTo>
                <a:cubicBezTo>
                  <a:pt x="139700" y="272605"/>
                  <a:pt x="157019" y="226423"/>
                  <a:pt x="256310" y="176777"/>
                </a:cubicBezTo>
                <a:cubicBezTo>
                  <a:pt x="355601" y="127131"/>
                  <a:pt x="551874" y="31304"/>
                  <a:pt x="692728" y="10522"/>
                </a:cubicBezTo>
                <a:cubicBezTo>
                  <a:pt x="833582" y="-10260"/>
                  <a:pt x="1016000" y="131"/>
                  <a:pt x="1184564" y="38231"/>
                </a:cubicBezTo>
                <a:cubicBezTo>
                  <a:pt x="1353128" y="76331"/>
                  <a:pt x="1587501" y="175622"/>
                  <a:pt x="1704110" y="239122"/>
                </a:cubicBezTo>
                <a:cubicBezTo>
                  <a:pt x="1820719" y="302622"/>
                  <a:pt x="1852469" y="360926"/>
                  <a:pt x="1884219" y="419231"/>
                </a:cubicBezTo>
              </a:path>
            </a:pathLst>
          </a:cu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5" name="Freeform: Shape 4" descr="An arrow pointing from the 4 to the 1, which is the location of the 8 node's parent, 11.">
            <a:extLst>
              <a:ext uri="{FF2B5EF4-FFF2-40B4-BE49-F238E27FC236}">
                <a16:creationId xmlns:a16="http://schemas.microsoft.com/office/drawing/2014/main" id="{3DDFEF83-A313-EF48-DE62-42D8735EE140}"/>
              </a:ext>
            </a:extLst>
          </p:cNvPr>
          <p:cNvSpPr/>
          <p:nvPr/>
        </p:nvSpPr>
        <p:spPr bwMode="auto">
          <a:xfrm flipH="1">
            <a:off x="3048000" y="1905000"/>
            <a:ext cx="2819400" cy="419231"/>
          </a:xfrm>
          <a:custGeom>
            <a:avLst/>
            <a:gdLst>
              <a:gd name="connsiteX0" fmla="*/ 0 w 1939637"/>
              <a:gd name="connsiteY0" fmla="*/ 251286 h 389831"/>
              <a:gd name="connsiteX1" fmla="*/ 547255 w 1939637"/>
              <a:gd name="connsiteY1" fmla="*/ 57322 h 389831"/>
              <a:gd name="connsiteX2" fmla="*/ 1239982 w 1939637"/>
              <a:gd name="connsiteY2" fmla="*/ 8831 h 389831"/>
              <a:gd name="connsiteX3" fmla="*/ 1759528 w 1939637"/>
              <a:gd name="connsiteY3" fmla="*/ 209722 h 389831"/>
              <a:gd name="connsiteX4" fmla="*/ 1939637 w 1939637"/>
              <a:gd name="connsiteY4" fmla="*/ 389831 h 389831"/>
              <a:gd name="connsiteX0" fmla="*/ 0 w 1884219"/>
              <a:gd name="connsiteY0" fmla="*/ 365159 h 392868"/>
              <a:gd name="connsiteX1" fmla="*/ 491837 w 1884219"/>
              <a:gd name="connsiteY1" fmla="*/ 60359 h 392868"/>
              <a:gd name="connsiteX2" fmla="*/ 1184564 w 1884219"/>
              <a:gd name="connsiteY2" fmla="*/ 11868 h 392868"/>
              <a:gd name="connsiteX3" fmla="*/ 1704110 w 1884219"/>
              <a:gd name="connsiteY3" fmla="*/ 212759 h 392868"/>
              <a:gd name="connsiteX4" fmla="*/ 1884219 w 1884219"/>
              <a:gd name="connsiteY4" fmla="*/ 392868 h 392868"/>
              <a:gd name="connsiteX0" fmla="*/ 0 w 1884219"/>
              <a:gd name="connsiteY0" fmla="*/ 354658 h 382367"/>
              <a:gd name="connsiteX1" fmla="*/ 339437 w 1884219"/>
              <a:gd name="connsiteY1" fmla="*/ 126058 h 382367"/>
              <a:gd name="connsiteX2" fmla="*/ 1184564 w 1884219"/>
              <a:gd name="connsiteY2" fmla="*/ 1367 h 382367"/>
              <a:gd name="connsiteX3" fmla="*/ 1704110 w 1884219"/>
              <a:gd name="connsiteY3" fmla="*/ 202258 h 382367"/>
              <a:gd name="connsiteX4" fmla="*/ 1884219 w 1884219"/>
              <a:gd name="connsiteY4" fmla="*/ 382367 h 382367"/>
              <a:gd name="connsiteX0" fmla="*/ 0 w 1884219"/>
              <a:gd name="connsiteY0" fmla="*/ 360029 h 387738"/>
              <a:gd name="connsiteX1" fmla="*/ 339437 w 1884219"/>
              <a:gd name="connsiteY1" fmla="*/ 131429 h 387738"/>
              <a:gd name="connsiteX2" fmla="*/ 706582 w 1884219"/>
              <a:gd name="connsiteY2" fmla="*/ 55229 h 387738"/>
              <a:gd name="connsiteX3" fmla="*/ 1184564 w 1884219"/>
              <a:gd name="connsiteY3" fmla="*/ 6738 h 387738"/>
              <a:gd name="connsiteX4" fmla="*/ 1704110 w 1884219"/>
              <a:gd name="connsiteY4" fmla="*/ 207629 h 387738"/>
              <a:gd name="connsiteX5" fmla="*/ 1884219 w 1884219"/>
              <a:gd name="connsiteY5" fmla="*/ 387738 h 387738"/>
              <a:gd name="connsiteX0" fmla="*/ 0 w 1884219"/>
              <a:gd name="connsiteY0" fmla="*/ 391522 h 419231"/>
              <a:gd name="connsiteX1" fmla="*/ 339437 w 1884219"/>
              <a:gd name="connsiteY1" fmla="*/ 162922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256310 w 1884219"/>
              <a:gd name="connsiteY1" fmla="*/ 176777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96982 w 1884219"/>
              <a:gd name="connsiteY1" fmla="*/ 308396 h 419231"/>
              <a:gd name="connsiteX2" fmla="*/ 256310 w 1884219"/>
              <a:gd name="connsiteY2" fmla="*/ 176777 h 419231"/>
              <a:gd name="connsiteX3" fmla="*/ 692728 w 1884219"/>
              <a:gd name="connsiteY3" fmla="*/ 10522 h 419231"/>
              <a:gd name="connsiteX4" fmla="*/ 1184564 w 1884219"/>
              <a:gd name="connsiteY4" fmla="*/ 38231 h 419231"/>
              <a:gd name="connsiteX5" fmla="*/ 1704110 w 1884219"/>
              <a:gd name="connsiteY5" fmla="*/ 239122 h 419231"/>
              <a:gd name="connsiteX6" fmla="*/ 1884219 w 1884219"/>
              <a:gd name="connsiteY6" fmla="*/ 419231 h 419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4219" h="419231">
                <a:moveTo>
                  <a:pt x="0" y="391522"/>
                </a:moveTo>
                <a:cubicBezTo>
                  <a:pt x="20782" y="377668"/>
                  <a:pt x="54264" y="344187"/>
                  <a:pt x="96982" y="308396"/>
                </a:cubicBezTo>
                <a:cubicBezTo>
                  <a:pt x="139700" y="272605"/>
                  <a:pt x="157019" y="226423"/>
                  <a:pt x="256310" y="176777"/>
                </a:cubicBezTo>
                <a:cubicBezTo>
                  <a:pt x="355601" y="127131"/>
                  <a:pt x="551874" y="31304"/>
                  <a:pt x="692728" y="10522"/>
                </a:cubicBezTo>
                <a:cubicBezTo>
                  <a:pt x="833582" y="-10260"/>
                  <a:pt x="1016000" y="131"/>
                  <a:pt x="1184564" y="38231"/>
                </a:cubicBezTo>
                <a:cubicBezTo>
                  <a:pt x="1353128" y="76331"/>
                  <a:pt x="1587501" y="175622"/>
                  <a:pt x="1704110" y="239122"/>
                </a:cubicBezTo>
                <a:cubicBezTo>
                  <a:pt x="1820719" y="302622"/>
                  <a:pt x="1852469" y="360926"/>
                  <a:pt x="1884219" y="419231"/>
                </a:cubicBezTo>
              </a:path>
            </a:pathLst>
          </a:cu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3314" name="Footer Placeholder 3">
            <a:extLst>
              <a:ext uri="{FF2B5EF4-FFF2-40B4-BE49-F238E27FC236}">
                <a16:creationId xmlns:a16="http://schemas.microsoft.com/office/drawing/2014/main" id="{60D5BFC9-301A-46D6-83BC-252460439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123492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WordArt 3">
            <a:extLst>
              <a:ext uri="{FF2B5EF4-FFF2-40B4-BE49-F238E27FC236}">
                <a16:creationId xmlns:a16="http://schemas.microsoft.com/office/drawing/2014/main" id="{09F05F84-2BB8-459F-8C0A-19C2D8363047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981200" y="457200"/>
            <a:ext cx="4876800" cy="6096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add</a:t>
            </a:r>
          </a:p>
        </p:txBody>
      </p:sp>
      <p:sp>
        <p:nvSpPr>
          <p:cNvPr id="14340" name="Text Box 4">
            <a:extLst>
              <a:ext uri="{FF2B5EF4-FFF2-40B4-BE49-F238E27FC236}">
                <a16:creationId xmlns:a16="http://schemas.microsoft.com/office/drawing/2014/main" id="{E0FE57FF-D88F-433F-9D72-0F0ED0B86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828800"/>
            <a:ext cx="7580313" cy="350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The easiest way to add a new item to a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heap implemented with an array is to</a:t>
            </a:r>
            <a:br>
              <a:rPr lang="en-US" altLang="en-US" sz="2800">
                <a:latin typeface="Tahoma" panose="020B0604030504040204" pitchFamily="34" charset="0"/>
              </a:rPr>
            </a:br>
            <a:r>
              <a:rPr lang="en-US" altLang="en-US" sz="2800">
                <a:latin typeface="Tahoma" panose="020B0604030504040204" pitchFamily="34" charset="0"/>
              </a:rPr>
              <a:t>add the new value at the end of the array</a:t>
            </a:r>
            <a:br>
              <a:rPr lang="en-US" altLang="en-US" sz="2800">
                <a:latin typeface="Tahoma" panose="020B0604030504040204" pitchFamily="34" charset="0"/>
              </a:rPr>
            </a:br>
            <a:r>
              <a:rPr lang="en-US" altLang="en-US" sz="2800">
                <a:latin typeface="Tahoma" panose="020B0604030504040204" pitchFamily="34" charset="0"/>
              </a:rPr>
              <a:t>and then move the new item up the tree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as far as it needs to go.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add will use swapUp to restructure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the tree so that it remains a heap.</a:t>
            </a:r>
          </a:p>
        </p:txBody>
      </p:sp>
      <p:sp>
        <p:nvSpPr>
          <p:cNvPr id="14338" name="Footer Placeholder 3">
            <a:extLst>
              <a:ext uri="{FF2B5EF4-FFF2-40B4-BE49-F238E27FC236}">
                <a16:creationId xmlns:a16="http://schemas.microsoft.com/office/drawing/2014/main" id="{79E9CB33-3ECA-4F1C-9830-53FB6AE18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Art 3">
            <a:extLst>
              <a:ext uri="{FF2B5EF4-FFF2-40B4-BE49-F238E27FC236}">
                <a16:creationId xmlns:a16="http://schemas.microsoft.com/office/drawing/2014/main" id="{A91E414A-B9EA-BE4F-E81B-1A1C5ADA5B92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981200" y="457200"/>
            <a:ext cx="4876800" cy="6096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add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B47756-D9C7-AEE5-76CC-079AA6C4C247}"/>
              </a:ext>
            </a:extLst>
          </p:cNvPr>
          <p:cNvSpPr txBox="1"/>
          <p:nvPr/>
        </p:nvSpPr>
        <p:spPr>
          <a:xfrm>
            <a:off x="533400" y="1577109"/>
            <a:ext cx="4343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Tahoma" pitchFamily="34" charset="0"/>
              </a:rPr>
              <a:t>Let’s add 12 to this heap:</a:t>
            </a:r>
          </a:p>
        </p:txBody>
      </p:sp>
      <p:grpSp>
        <p:nvGrpSpPr>
          <p:cNvPr id="3" name="Group 2" descr="Level order:&#10;15 | 11 10 | 7 8 9">
            <a:extLst>
              <a:ext uri="{FF2B5EF4-FFF2-40B4-BE49-F238E27FC236}">
                <a16:creationId xmlns:a16="http://schemas.microsoft.com/office/drawing/2014/main" id="{04AAF73E-9B6A-FFA2-9BCA-BC8D037A2F62}"/>
              </a:ext>
            </a:extLst>
          </p:cNvPr>
          <p:cNvGrpSpPr/>
          <p:nvPr/>
        </p:nvGrpSpPr>
        <p:grpSpPr>
          <a:xfrm>
            <a:off x="2514600" y="2387600"/>
            <a:ext cx="2667000" cy="2057400"/>
            <a:chOff x="2514600" y="2387600"/>
            <a:chExt cx="2667000" cy="2057400"/>
          </a:xfrm>
        </p:grpSpPr>
        <p:sp>
          <p:nvSpPr>
            <p:cNvPr id="15363" name="Oval 4">
              <a:extLst>
                <a:ext uri="{FF2B5EF4-FFF2-40B4-BE49-F238E27FC236}">
                  <a16:creationId xmlns:a16="http://schemas.microsoft.com/office/drawing/2014/main" id="{C666959C-B082-4041-8EF7-83DAFAB66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29210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15</a:t>
              </a:r>
            </a:p>
          </p:txBody>
        </p:sp>
        <p:sp>
          <p:nvSpPr>
            <p:cNvPr id="15364" name="Oval 5">
              <a:extLst>
                <a:ext uri="{FF2B5EF4-FFF2-40B4-BE49-F238E27FC236}">
                  <a16:creationId xmlns:a16="http://schemas.microsoft.com/office/drawing/2014/main" id="{1DCF00EF-6114-4903-90D2-28FD173F4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34544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11</a:t>
              </a:r>
            </a:p>
          </p:txBody>
        </p:sp>
        <p:sp>
          <p:nvSpPr>
            <p:cNvPr id="15365" name="Oval 6">
              <a:extLst>
                <a:ext uri="{FF2B5EF4-FFF2-40B4-BE49-F238E27FC236}">
                  <a16:creationId xmlns:a16="http://schemas.microsoft.com/office/drawing/2014/main" id="{C5DA303B-C82B-4347-BF89-F0BEC9978E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987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15366" name="Oval 7">
              <a:extLst>
                <a:ext uri="{FF2B5EF4-FFF2-40B4-BE49-F238E27FC236}">
                  <a16:creationId xmlns:a16="http://schemas.microsoft.com/office/drawing/2014/main" id="{A154C241-AA57-4518-8693-F71A03313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3987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8</a:t>
              </a:r>
            </a:p>
          </p:txBody>
        </p:sp>
        <p:sp>
          <p:nvSpPr>
            <p:cNvPr id="15367" name="Oval 8">
              <a:extLst>
                <a:ext uri="{FF2B5EF4-FFF2-40B4-BE49-F238E27FC236}">
                  <a16:creationId xmlns:a16="http://schemas.microsoft.com/office/drawing/2014/main" id="{03A0F057-217A-4883-8B88-9D61AAF67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33782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15368" name="Oval 9">
              <a:extLst>
                <a:ext uri="{FF2B5EF4-FFF2-40B4-BE49-F238E27FC236}">
                  <a16:creationId xmlns:a16="http://schemas.microsoft.com/office/drawing/2014/main" id="{4A51E9D9-32B0-4035-AF72-DE0F818A3F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400" y="3987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9</a:t>
              </a:r>
            </a:p>
          </p:txBody>
        </p:sp>
        <p:sp>
          <p:nvSpPr>
            <p:cNvPr id="15369" name="Text Box 10">
              <a:extLst>
                <a:ext uri="{FF2B5EF4-FFF2-40B4-BE49-F238E27FC236}">
                  <a16:creationId xmlns:a16="http://schemas.microsoft.com/office/drawing/2014/main" id="{CE0D10A6-976C-4915-9D4E-737678FC5B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2387600"/>
              <a:ext cx="1371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root</a:t>
              </a:r>
            </a:p>
          </p:txBody>
        </p:sp>
      </p:grpSp>
      <p:sp>
        <p:nvSpPr>
          <p:cNvPr id="15372" name="Text Box 15">
            <a:extLst>
              <a:ext uri="{FF2B5EF4-FFF2-40B4-BE49-F238E27FC236}">
                <a16:creationId xmlns:a16="http://schemas.microsoft.com/office/drawing/2014/main" id="{10B16E40-274A-46EC-8992-7FB8A6A83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902200"/>
            <a:ext cx="640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root</a:t>
            </a:r>
          </a:p>
        </p:txBody>
      </p:sp>
      <p:graphicFrame>
        <p:nvGraphicFramePr>
          <p:cNvPr id="62498" name="Group 34">
            <a:extLst>
              <a:ext uri="{FF2B5EF4-FFF2-40B4-BE49-F238E27FC236}">
                <a16:creationId xmlns:a16="http://schemas.microsoft.com/office/drawing/2014/main" id="{4EBDA24C-B63E-40A7-9C47-55F2DCCAAD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647094"/>
              </p:ext>
            </p:extLst>
          </p:nvPr>
        </p:nvGraphicFramePr>
        <p:xfrm>
          <a:off x="914400" y="5359400"/>
          <a:ext cx="7023100" cy="584200"/>
        </p:xfrm>
        <a:graphic>
          <a:graphicData uri="http://schemas.openxmlformats.org/drawingml/2006/table">
            <a:tbl>
              <a:tblPr/>
              <a:tblGrid>
                <a:gridCol w="100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62" name="Footer Placeholder 3">
            <a:extLst>
              <a:ext uri="{FF2B5EF4-FFF2-40B4-BE49-F238E27FC236}">
                <a16:creationId xmlns:a16="http://schemas.microsoft.com/office/drawing/2014/main" id="{27C47EF3-6BBD-4243-9AAC-70AA61E76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275294" y="6323106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Art 3">
            <a:extLst>
              <a:ext uri="{FF2B5EF4-FFF2-40B4-BE49-F238E27FC236}">
                <a16:creationId xmlns:a16="http://schemas.microsoft.com/office/drawing/2014/main" id="{14CFB23F-151B-0E32-C39C-EC621A48DB64}"/>
              </a:ext>
            </a:extLst>
          </p:cNvPr>
          <p:cNvSpPr txBox="1"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981200" y="457200"/>
            <a:ext cx="4876800" cy="6096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add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B47756-D9C7-AEE5-76CC-079AA6C4C247}"/>
              </a:ext>
            </a:extLst>
          </p:cNvPr>
          <p:cNvSpPr txBox="1"/>
          <p:nvPr/>
        </p:nvSpPr>
        <p:spPr>
          <a:xfrm>
            <a:off x="914400" y="1447800"/>
            <a:ext cx="6781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7030A0"/>
                </a:solidFill>
              </a:rPr>
              <a:t>a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Tahoma" pitchFamily="34" charset="0"/>
              </a:rPr>
              <a:t>dd(12) – Step 1: add 12 at the next spot</a:t>
            </a:r>
          </a:p>
        </p:txBody>
      </p:sp>
      <p:grpSp>
        <p:nvGrpSpPr>
          <p:cNvPr id="3" name="Group 2" descr="Level order:&#10;15 | 11 10 | 7 8 9 12">
            <a:extLst>
              <a:ext uri="{FF2B5EF4-FFF2-40B4-BE49-F238E27FC236}">
                <a16:creationId xmlns:a16="http://schemas.microsoft.com/office/drawing/2014/main" id="{8F87BB2E-482E-BC40-3764-8B5D72B71075}"/>
              </a:ext>
            </a:extLst>
          </p:cNvPr>
          <p:cNvGrpSpPr/>
          <p:nvPr/>
        </p:nvGrpSpPr>
        <p:grpSpPr>
          <a:xfrm>
            <a:off x="2514600" y="2260600"/>
            <a:ext cx="3124200" cy="2159000"/>
            <a:chOff x="2514600" y="2133600"/>
            <a:chExt cx="3124200" cy="2159000"/>
          </a:xfrm>
        </p:grpSpPr>
        <p:sp>
          <p:nvSpPr>
            <p:cNvPr id="15363" name="Oval 4">
              <a:extLst>
                <a:ext uri="{FF2B5EF4-FFF2-40B4-BE49-F238E27FC236}">
                  <a16:creationId xmlns:a16="http://schemas.microsoft.com/office/drawing/2014/main" id="{C666959C-B082-4041-8EF7-83DAFAB66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27686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15</a:t>
              </a:r>
            </a:p>
          </p:txBody>
        </p:sp>
        <p:sp>
          <p:nvSpPr>
            <p:cNvPr id="15364" name="Oval 5">
              <a:extLst>
                <a:ext uri="{FF2B5EF4-FFF2-40B4-BE49-F238E27FC236}">
                  <a16:creationId xmlns:a16="http://schemas.microsoft.com/office/drawing/2014/main" id="{1DCF00EF-6114-4903-90D2-28FD173F4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33020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11</a:t>
              </a:r>
            </a:p>
          </p:txBody>
        </p:sp>
        <p:sp>
          <p:nvSpPr>
            <p:cNvPr id="15365" name="Oval 6">
              <a:extLst>
                <a:ext uri="{FF2B5EF4-FFF2-40B4-BE49-F238E27FC236}">
                  <a16:creationId xmlns:a16="http://schemas.microsoft.com/office/drawing/2014/main" id="{C5DA303B-C82B-4347-BF89-F0BEC9978E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8354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15366" name="Oval 7">
              <a:extLst>
                <a:ext uri="{FF2B5EF4-FFF2-40B4-BE49-F238E27FC236}">
                  <a16:creationId xmlns:a16="http://schemas.microsoft.com/office/drawing/2014/main" id="{A154C241-AA57-4518-8693-F71A03313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38354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8</a:t>
              </a:r>
            </a:p>
          </p:txBody>
        </p:sp>
        <p:sp>
          <p:nvSpPr>
            <p:cNvPr id="15367" name="Oval 8">
              <a:extLst>
                <a:ext uri="{FF2B5EF4-FFF2-40B4-BE49-F238E27FC236}">
                  <a16:creationId xmlns:a16="http://schemas.microsoft.com/office/drawing/2014/main" id="{03A0F057-217A-4883-8B88-9D61AAF67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3225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rgbClr val="00B050"/>
                  </a:solidFill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15368" name="Oval 9">
              <a:extLst>
                <a:ext uri="{FF2B5EF4-FFF2-40B4-BE49-F238E27FC236}">
                  <a16:creationId xmlns:a16="http://schemas.microsoft.com/office/drawing/2014/main" id="{4A51E9D9-32B0-4035-AF72-DE0F818A3F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400" y="38354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9</a:t>
              </a:r>
            </a:p>
          </p:txBody>
        </p:sp>
        <p:sp>
          <p:nvSpPr>
            <p:cNvPr id="15369" name="Text Box 10">
              <a:extLst>
                <a:ext uri="{FF2B5EF4-FFF2-40B4-BE49-F238E27FC236}">
                  <a16:creationId xmlns:a16="http://schemas.microsoft.com/office/drawing/2014/main" id="{CE0D10A6-976C-4915-9D4E-737678FC5B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2133600"/>
              <a:ext cx="1371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dirty="0">
                  <a:latin typeface="Tahoma" panose="020B0604030504040204" pitchFamily="34" charset="0"/>
                </a:rPr>
                <a:t>root</a:t>
              </a:r>
            </a:p>
          </p:txBody>
        </p:sp>
        <p:sp>
          <p:nvSpPr>
            <p:cNvPr id="15370" name="Oval 11">
              <a:extLst>
                <a:ext uri="{FF2B5EF4-FFF2-40B4-BE49-F238E27FC236}">
                  <a16:creationId xmlns:a16="http://schemas.microsoft.com/office/drawing/2014/main" id="{AA614C30-783B-4D20-B831-22061704C1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38354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rgbClr val="7030A0"/>
                  </a:solidFill>
                  <a:latin typeface="Tahoma" panose="020B0604030504040204" pitchFamily="34" charset="0"/>
                </a:rPr>
                <a:t>12</a:t>
              </a:r>
            </a:p>
          </p:txBody>
        </p:sp>
      </p:grpSp>
      <p:sp>
        <p:nvSpPr>
          <p:cNvPr id="15372" name="Text Box 15">
            <a:extLst>
              <a:ext uri="{FF2B5EF4-FFF2-40B4-BE49-F238E27FC236}">
                <a16:creationId xmlns:a16="http://schemas.microsoft.com/office/drawing/2014/main" id="{10B16E40-274A-46EC-8992-7FB8A6A83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749800"/>
            <a:ext cx="640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root</a:t>
            </a:r>
          </a:p>
        </p:txBody>
      </p:sp>
      <p:graphicFrame>
        <p:nvGraphicFramePr>
          <p:cNvPr id="62498" name="Group 34">
            <a:extLst>
              <a:ext uri="{FF2B5EF4-FFF2-40B4-BE49-F238E27FC236}">
                <a16:creationId xmlns:a16="http://schemas.microsoft.com/office/drawing/2014/main" id="{4EBDA24C-B63E-40A7-9C47-55F2DCCAAD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421890"/>
              </p:ext>
            </p:extLst>
          </p:nvPr>
        </p:nvGraphicFramePr>
        <p:xfrm>
          <a:off x="914400" y="5207000"/>
          <a:ext cx="7023100" cy="584200"/>
        </p:xfrm>
        <a:graphic>
          <a:graphicData uri="http://schemas.openxmlformats.org/drawingml/2006/table">
            <a:tbl>
              <a:tblPr/>
              <a:tblGrid>
                <a:gridCol w="100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12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62" name="Footer Placeholder 3">
            <a:extLst>
              <a:ext uri="{FF2B5EF4-FFF2-40B4-BE49-F238E27FC236}">
                <a16:creationId xmlns:a16="http://schemas.microsoft.com/office/drawing/2014/main" id="{27C47EF3-6BBD-4243-9AAC-70AA61E76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962011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5" name="WordArt 14">
            <a:extLst>
              <a:ext uri="{FF2B5EF4-FFF2-40B4-BE49-F238E27FC236}">
                <a16:creationId xmlns:a16="http://schemas.microsoft.com/office/drawing/2014/main" id="{51DC4F83-F02D-494F-B1A5-135EC413E3E8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981200" y="457200"/>
            <a:ext cx="4876800" cy="6096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 err="1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swapUp</a:t>
            </a:r>
            <a:endParaRPr kumimoji="0" lang="en-US" sz="3600" b="1" i="0" u="none" strike="noStrike" kern="10" cap="none" spc="0" normalizeH="0" baseline="0" noProof="0" dirty="0">
              <a:ln w="9525">
                <a:solidFill>
                  <a:srgbClr val="FFFF00"/>
                </a:solidFill>
                <a:round/>
                <a:headEnd/>
                <a:tailEnd/>
              </a:ln>
              <a:solidFill>
                <a:srgbClr val="0000FF"/>
              </a:solidFill>
              <a:effectLst>
                <a:outerShdw dist="35921" dir="2700000" algn="ctr" rotWithShape="0">
                  <a:srgbClr val="C0C0C0"/>
                </a:outerShdw>
              </a:effectLst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33FDD0-FDB1-BD04-7146-8AB88837E98F}"/>
              </a:ext>
            </a:extLst>
          </p:cNvPr>
          <p:cNvSpPr txBox="1"/>
          <p:nvPr/>
        </p:nvSpPr>
        <p:spPr>
          <a:xfrm>
            <a:off x="533400" y="1577109"/>
            <a:ext cx="7543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99"/>
                </a:solidFill>
              </a:rPr>
              <a:t>add(12) – Step 2:  </a:t>
            </a:r>
            <a:r>
              <a:rPr lang="en-US" dirty="0" err="1">
                <a:solidFill>
                  <a:srgbClr val="000099"/>
                </a:solidFill>
              </a:rPr>
              <a:t>reheapify</a:t>
            </a:r>
            <a:r>
              <a:rPr lang="en-US" dirty="0">
                <a:solidFill>
                  <a:srgbClr val="000099"/>
                </a:solidFill>
              </a:rPr>
              <a:t> by swapping up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000099"/>
              </a:solidFill>
              <a:effectLst/>
              <a:latin typeface="Tahoma" pitchFamily="34" charset="0"/>
            </a:endParaRPr>
          </a:p>
        </p:txBody>
      </p:sp>
      <p:grpSp>
        <p:nvGrpSpPr>
          <p:cNvPr id="3" name="Group 2" descr="Level order:&#10;15 | 11 12 | 7 8 9 10">
            <a:extLst>
              <a:ext uri="{FF2B5EF4-FFF2-40B4-BE49-F238E27FC236}">
                <a16:creationId xmlns:a16="http://schemas.microsoft.com/office/drawing/2014/main" id="{D5157444-B14C-FF7C-CFE5-364C3D6C5DEC}"/>
              </a:ext>
            </a:extLst>
          </p:cNvPr>
          <p:cNvGrpSpPr/>
          <p:nvPr/>
        </p:nvGrpSpPr>
        <p:grpSpPr>
          <a:xfrm>
            <a:off x="2514600" y="2362200"/>
            <a:ext cx="3124200" cy="2057400"/>
            <a:chOff x="2514600" y="2082800"/>
            <a:chExt cx="3124200" cy="2057400"/>
          </a:xfrm>
        </p:grpSpPr>
        <p:sp>
          <p:nvSpPr>
            <p:cNvPr id="16387" name="Oval 3">
              <a:extLst>
                <a:ext uri="{FF2B5EF4-FFF2-40B4-BE49-F238E27FC236}">
                  <a16:creationId xmlns:a16="http://schemas.microsoft.com/office/drawing/2014/main" id="{04B08345-9EE5-4552-B29E-8D045FD67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26162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B050"/>
                  </a:solidFill>
                  <a:latin typeface="Tahoma" panose="020B0604030504040204" pitchFamily="34" charset="0"/>
                </a:rPr>
                <a:t>15</a:t>
              </a:r>
            </a:p>
          </p:txBody>
        </p:sp>
        <p:sp>
          <p:nvSpPr>
            <p:cNvPr id="16388" name="Oval 4">
              <a:extLst>
                <a:ext uri="{FF2B5EF4-FFF2-40B4-BE49-F238E27FC236}">
                  <a16:creationId xmlns:a16="http://schemas.microsoft.com/office/drawing/2014/main" id="{EF026D5E-3566-4791-A94E-1C853573DA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31496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11</a:t>
              </a:r>
            </a:p>
          </p:txBody>
        </p:sp>
        <p:sp>
          <p:nvSpPr>
            <p:cNvPr id="16389" name="Oval 5">
              <a:extLst>
                <a:ext uri="{FF2B5EF4-FFF2-40B4-BE49-F238E27FC236}">
                  <a16:creationId xmlns:a16="http://schemas.microsoft.com/office/drawing/2014/main" id="{93EB0E0F-DC6F-4A8E-873E-924379C7B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6830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16390" name="Oval 6">
              <a:extLst>
                <a:ext uri="{FF2B5EF4-FFF2-40B4-BE49-F238E27FC236}">
                  <a16:creationId xmlns:a16="http://schemas.microsoft.com/office/drawing/2014/main" id="{DF744C43-0428-460F-8F4E-3EBA301E62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36830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8</a:t>
              </a:r>
            </a:p>
          </p:txBody>
        </p:sp>
        <p:sp>
          <p:nvSpPr>
            <p:cNvPr id="16391" name="Oval 7">
              <a:extLst>
                <a:ext uri="{FF2B5EF4-FFF2-40B4-BE49-F238E27FC236}">
                  <a16:creationId xmlns:a16="http://schemas.microsoft.com/office/drawing/2014/main" id="{9DB1E140-87CD-4312-8639-1E0FE75BC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30734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rgbClr val="7030A0"/>
                  </a:solidFill>
                  <a:latin typeface="Tahoma" panose="020B0604030504040204" pitchFamily="34" charset="0"/>
                </a:rPr>
                <a:t>12</a:t>
              </a:r>
            </a:p>
          </p:txBody>
        </p:sp>
        <p:sp>
          <p:nvSpPr>
            <p:cNvPr id="16392" name="Oval 8">
              <a:extLst>
                <a:ext uri="{FF2B5EF4-FFF2-40B4-BE49-F238E27FC236}">
                  <a16:creationId xmlns:a16="http://schemas.microsoft.com/office/drawing/2014/main" id="{EBB20D89-AB44-4377-B625-898CEE7FC0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400" y="36830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9</a:t>
              </a:r>
            </a:p>
          </p:txBody>
        </p:sp>
        <p:sp>
          <p:nvSpPr>
            <p:cNvPr id="16393" name="Text Box 9">
              <a:extLst>
                <a:ext uri="{FF2B5EF4-FFF2-40B4-BE49-F238E27FC236}">
                  <a16:creationId xmlns:a16="http://schemas.microsoft.com/office/drawing/2014/main" id="{B6FCF144-9ADE-433D-99CF-A7BBBAE241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2082800"/>
              <a:ext cx="1371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root</a:t>
              </a:r>
            </a:p>
          </p:txBody>
        </p:sp>
        <p:sp>
          <p:nvSpPr>
            <p:cNvPr id="16394" name="Oval 10">
              <a:extLst>
                <a:ext uri="{FF2B5EF4-FFF2-40B4-BE49-F238E27FC236}">
                  <a16:creationId xmlns:a16="http://schemas.microsoft.com/office/drawing/2014/main" id="{53A83D33-82FD-4EB9-9579-76195BED78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36830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10</a:t>
              </a:r>
            </a:p>
          </p:txBody>
        </p:sp>
      </p:grpSp>
      <p:sp>
        <p:nvSpPr>
          <p:cNvPr id="16396" name="Text Box 32">
            <a:extLst>
              <a:ext uri="{FF2B5EF4-FFF2-40B4-BE49-F238E27FC236}">
                <a16:creationId xmlns:a16="http://schemas.microsoft.com/office/drawing/2014/main" id="{6D56320F-0A8A-48EC-9239-0E2FDB079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97400"/>
            <a:ext cx="640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root</a:t>
            </a:r>
          </a:p>
        </p:txBody>
      </p:sp>
      <p:graphicFrame>
        <p:nvGraphicFramePr>
          <p:cNvPr id="63521" name="Group 33">
            <a:extLst>
              <a:ext uri="{FF2B5EF4-FFF2-40B4-BE49-F238E27FC236}">
                <a16:creationId xmlns:a16="http://schemas.microsoft.com/office/drawing/2014/main" id="{0D709862-4132-464C-863D-D965FB59A7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477161"/>
              </p:ext>
            </p:extLst>
          </p:nvPr>
        </p:nvGraphicFramePr>
        <p:xfrm>
          <a:off x="914400" y="5054600"/>
          <a:ext cx="7023100" cy="584200"/>
        </p:xfrm>
        <a:graphic>
          <a:graphicData uri="http://schemas.openxmlformats.org/drawingml/2006/table">
            <a:tbl>
              <a:tblPr/>
              <a:tblGrid>
                <a:gridCol w="100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ahoma" pitchFamily="34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386" name="Footer Placeholder 3">
            <a:extLst>
              <a:ext uri="{FF2B5EF4-FFF2-40B4-BE49-F238E27FC236}">
                <a16:creationId xmlns:a16="http://schemas.microsoft.com/office/drawing/2014/main" id="{C7086906-D50D-44D1-8291-67E5AB9061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853762-519A-4C4F-A55A-9D27B07ED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90B3ED-5B96-43BE-9976-D786A3B040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14400" y="685800"/>
            <a:ext cx="7239000" cy="64633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small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Swapping Elements in an Array:</a:t>
            </a:r>
            <a:endParaRPr kumimoji="0" lang="en-US" sz="36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96BF00-4D35-4AC6-A66C-1EBE55B8B7A3}"/>
              </a:ext>
            </a:extLst>
          </p:cNvPr>
          <p:cNvSpPr txBox="1"/>
          <p:nvPr/>
        </p:nvSpPr>
        <p:spPr>
          <a:xfrm>
            <a:off x="990600" y="1993880"/>
            <a:ext cx="73914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swap(int[] ray, int start, int stop)</a:t>
            </a:r>
            <a:br>
              <a:rPr lang="en-US" sz="36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36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{</a:t>
            </a:r>
            <a:endParaRPr lang="en-US" sz="3600" dirty="0">
              <a:effectLst/>
            </a:endParaRPr>
          </a:p>
          <a:p>
            <a:r>
              <a:rPr lang="en-US" sz="36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   int temp = ray[start];</a:t>
            </a:r>
            <a:endParaRPr lang="en-US" sz="3600" dirty="0">
              <a:effectLst/>
            </a:endParaRPr>
          </a:p>
          <a:p>
            <a:r>
              <a:rPr lang="en-US" sz="36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   ray[start] = ray[stop];</a:t>
            </a:r>
            <a:endParaRPr lang="en-US" sz="3600" dirty="0">
              <a:effectLst/>
            </a:endParaRPr>
          </a:p>
          <a:p>
            <a:r>
              <a:rPr lang="en-US" sz="36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   ray[stop] = temp;</a:t>
            </a:r>
            <a:endParaRPr lang="en-US" sz="3600" dirty="0">
              <a:effectLst/>
            </a:endParaRPr>
          </a:p>
          <a:p>
            <a:r>
              <a:rPr lang="en-US" sz="36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}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4025717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WordArt 14">
            <a:extLst>
              <a:ext uri="{FF2B5EF4-FFF2-40B4-BE49-F238E27FC236}">
                <a16:creationId xmlns:a16="http://schemas.microsoft.com/office/drawing/2014/main" id="{1977562D-6DE4-4D5B-8F73-353F51587BEE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981200" y="457200"/>
            <a:ext cx="4876800" cy="6096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 err="1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swapUp</a:t>
            </a:r>
            <a:endParaRPr kumimoji="0" lang="en-US" sz="3600" b="1" i="0" u="none" strike="noStrike" kern="10" cap="none" spc="0" normalizeH="0" baseline="0" noProof="0" dirty="0">
              <a:ln w="9525">
                <a:solidFill>
                  <a:srgbClr val="FFFF00"/>
                </a:solidFill>
                <a:round/>
                <a:headEnd/>
                <a:tailEnd/>
              </a:ln>
              <a:solidFill>
                <a:srgbClr val="0000FF"/>
              </a:solidFill>
              <a:effectLst>
                <a:outerShdw dist="35921" dir="2700000" algn="ctr" rotWithShape="0">
                  <a:srgbClr val="C0C0C0"/>
                </a:outerShdw>
              </a:effectLst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17411" name="Text Box 11">
            <a:extLst>
              <a:ext uri="{FF2B5EF4-FFF2-40B4-BE49-F238E27FC236}">
                <a16:creationId xmlns:a16="http://schemas.microsoft.com/office/drawing/2014/main" id="{2306292D-E868-4EC1-A1BD-4FC3043E3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219200"/>
            <a:ext cx="6705600" cy="4789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int bot = length-1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while( bot&gt;0 )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    int parent = (bot-1)/2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    if list[parent] &lt; list[bot]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       swap list[parent] and list[bot]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       bot = parent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   else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       stop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17410" name="Footer Placeholder 3">
            <a:extLst>
              <a:ext uri="{FF2B5EF4-FFF2-40B4-BE49-F238E27FC236}">
                <a16:creationId xmlns:a16="http://schemas.microsoft.com/office/drawing/2014/main" id="{FEC12786-53A5-450F-B27E-EDA83FD2C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WordArt 14">
            <a:extLst>
              <a:ext uri="{FF2B5EF4-FFF2-40B4-BE49-F238E27FC236}">
                <a16:creationId xmlns:a16="http://schemas.microsoft.com/office/drawing/2014/main" id="{1977562D-6DE4-4D5B-8F73-353F51587BEE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981200" y="457200"/>
            <a:ext cx="4876800" cy="6096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 err="1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swapUp</a:t>
            </a:r>
            <a:endParaRPr kumimoji="0" lang="en-US" sz="3600" b="1" i="0" u="none" strike="noStrike" kern="10" cap="none" spc="0" normalizeH="0" baseline="0" noProof="0" dirty="0">
              <a:ln w="9525">
                <a:solidFill>
                  <a:srgbClr val="FFFF00"/>
                </a:solidFill>
                <a:round/>
                <a:headEnd/>
                <a:tailEnd/>
              </a:ln>
              <a:solidFill>
                <a:srgbClr val="0000FF"/>
              </a:solidFill>
              <a:effectLst>
                <a:outerShdw dist="35921" dir="2700000" algn="ctr" rotWithShape="0">
                  <a:srgbClr val="C0C0C0"/>
                </a:outerShdw>
              </a:effectLst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17411" name="Text Box 11">
            <a:extLst>
              <a:ext uri="{FF2B5EF4-FFF2-40B4-BE49-F238E27FC236}">
                <a16:creationId xmlns:a16="http://schemas.microsoft.com/office/drawing/2014/main" id="{2306292D-E868-4EC1-A1BD-4FC3043E3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219200"/>
            <a:ext cx="79248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int bot = length-1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int parent = (bot-1)/2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while( bot&gt;0 and list[parent] &lt; list[bot])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 swap list[parent] and list[bot]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 bot = parent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 parent = (bot-1)/2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17410" name="Footer Placeholder 3">
            <a:extLst>
              <a:ext uri="{FF2B5EF4-FFF2-40B4-BE49-F238E27FC236}">
                <a16:creationId xmlns:a16="http://schemas.microsoft.com/office/drawing/2014/main" id="{FEC12786-53A5-450F-B27E-EDA83FD2C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4419183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WordArt 40">
            <a:extLst>
              <a:ext uri="{FF2B5EF4-FFF2-40B4-BE49-F238E27FC236}">
                <a16:creationId xmlns:a16="http://schemas.microsoft.com/office/drawing/2014/main" id="{3FB77FDE-95A7-4EFF-9EF2-8E601B1A1894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981200" y="457200"/>
            <a:ext cx="4876800" cy="6096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 err="1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swapUp</a:t>
            </a:r>
            <a:endParaRPr kumimoji="0" lang="en-US" sz="3600" b="1" i="0" u="none" strike="noStrike" kern="10" cap="none" spc="0" normalizeH="0" baseline="0" noProof="0" dirty="0">
              <a:ln w="9525">
                <a:solidFill>
                  <a:srgbClr val="FFFF00"/>
                </a:solidFill>
                <a:round/>
                <a:headEnd/>
                <a:tailEnd/>
              </a:ln>
              <a:solidFill>
                <a:srgbClr val="0000FF"/>
              </a:solidFill>
              <a:effectLst>
                <a:outerShdw dist="35921" dir="2700000" algn="ctr" rotWithShape="0">
                  <a:srgbClr val="C0C0C0"/>
                </a:outerShdw>
              </a:effectLst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18435" name="Text Box 3">
            <a:extLst>
              <a:ext uri="{FF2B5EF4-FFF2-40B4-BE49-F238E27FC236}">
                <a16:creationId xmlns:a16="http://schemas.microsoft.com/office/drawing/2014/main" id="{A94F099D-DFAC-44F2-8937-27A3DB8BB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600200"/>
            <a:ext cx="7772400" cy="311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swapUp starts access at the bottom of tree</a:t>
            </a:r>
            <a:endParaRPr lang="en-US" altLang="en-US" sz="1800">
              <a:solidFill>
                <a:srgbClr val="FF3300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FF3300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swapUp checks to see that the bottom index has not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gone past the root of tree.   The root is at index position 0.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Next, locate bottom’s parent = (bot–1) / 2.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Check if bottom is larger than its parent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   If it is  </a:t>
            </a:r>
            <a:r>
              <a:rPr lang="en-US" altLang="en-US" sz="1800">
                <a:latin typeface="Tahoma" panose="020B060403050404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sz="1800">
                <a:latin typeface="Tahoma" panose="020B0604030504040204" pitchFamily="34" charset="0"/>
              </a:rPr>
              <a:t>     swap bottom and parent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Finally, set bottom to parent and start the process over.</a:t>
            </a:r>
          </a:p>
        </p:txBody>
      </p:sp>
      <p:sp>
        <p:nvSpPr>
          <p:cNvPr id="18437" name="Text Box 42">
            <a:extLst>
              <a:ext uri="{FF2B5EF4-FFF2-40B4-BE49-F238E27FC236}">
                <a16:creationId xmlns:a16="http://schemas.microsoft.com/office/drawing/2014/main" id="{42F1A3A0-5B85-4CC7-AFC2-C66FEF6BA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486400"/>
            <a:ext cx="7620000" cy="4064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000">
                <a:solidFill>
                  <a:schemeClr val="accent2"/>
                </a:solidFill>
                <a:latin typeface="Tahoma" panose="020B0604030504040204" pitchFamily="34" charset="0"/>
              </a:rPr>
              <a:t>This method can be written iteratively or recursively.</a:t>
            </a:r>
          </a:p>
        </p:txBody>
      </p:sp>
      <p:sp>
        <p:nvSpPr>
          <p:cNvPr id="18434" name="Footer Placeholder 3">
            <a:extLst>
              <a:ext uri="{FF2B5EF4-FFF2-40B4-BE49-F238E27FC236}">
                <a16:creationId xmlns:a16="http://schemas.microsoft.com/office/drawing/2014/main" id="{7E062428-28CB-4A5B-9389-D1CC16CA4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WordArt 2">
            <a:extLst>
              <a:ext uri="{FF2B5EF4-FFF2-40B4-BE49-F238E27FC236}">
                <a16:creationId xmlns:a16="http://schemas.microsoft.com/office/drawing/2014/main" id="{A0949C4E-995F-42BF-9697-201C4AAD96FB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447800" y="457200"/>
            <a:ext cx="5334000" cy="8382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remove max</a:t>
            </a:r>
          </a:p>
        </p:txBody>
      </p:sp>
      <p:sp>
        <p:nvSpPr>
          <p:cNvPr id="19460" name="Text Box 3">
            <a:extLst>
              <a:ext uri="{FF2B5EF4-FFF2-40B4-BE49-F238E27FC236}">
                <a16:creationId xmlns:a16="http://schemas.microsoft.com/office/drawing/2014/main" id="{7F112E06-8875-443B-97E0-CD56DA6C5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981200"/>
            <a:ext cx="8001000" cy="447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When you remove from a Heap, you are taking off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the largest value or value with the highest priority.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You just take the top value off and save it.</a:t>
            </a:r>
          </a:p>
          <a:p>
            <a:pPr>
              <a:spcBef>
                <a:spcPct val="0"/>
              </a:spcBef>
              <a:buFontTx/>
              <a:buNone/>
            </a:pPr>
            <a:br>
              <a:rPr lang="en-US" altLang="en-US" sz="2400">
                <a:latin typeface="Tahoma" panose="020B0604030504040204" pitchFamily="34" charset="0"/>
              </a:rPr>
            </a:br>
            <a:r>
              <a:rPr lang="en-US" altLang="en-US" sz="2400">
                <a:latin typeface="Tahoma" panose="020B0604030504040204" pitchFamily="34" charset="0"/>
              </a:rPr>
              <a:t>Next, you move the last item in the tree to the root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and move the new root down the tree as far as it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can go.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remove will use swapDown to restructure the tree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so it remains a heap.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19458" name="Footer Placeholder 3">
            <a:extLst>
              <a:ext uri="{FF2B5EF4-FFF2-40B4-BE49-F238E27FC236}">
                <a16:creationId xmlns:a16="http://schemas.microsoft.com/office/drawing/2014/main" id="{22828E46-2891-4AB0-9207-5EFD201E3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1" name="WordArt 14">
            <a:extLst>
              <a:ext uri="{FF2B5EF4-FFF2-40B4-BE49-F238E27FC236}">
                <a16:creationId xmlns:a16="http://schemas.microsoft.com/office/drawing/2014/main" id="{9EE04C0C-D36F-46E4-8DC1-AC12AF27DF79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981200" y="457200"/>
            <a:ext cx="4876800" cy="6096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Remove Max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8BD0A9-89FC-3073-60C0-3D0A2DA45826}"/>
              </a:ext>
            </a:extLst>
          </p:cNvPr>
          <p:cNvSpPr txBox="1"/>
          <p:nvPr/>
        </p:nvSpPr>
        <p:spPr>
          <a:xfrm>
            <a:off x="533400" y="1577109"/>
            <a:ext cx="7848600" cy="1037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99"/>
                </a:solidFill>
              </a:rPr>
              <a:t>remove() – Step 1:  save the root to return later</a:t>
            </a:r>
          </a:p>
          <a:p>
            <a:pPr algn="r">
              <a:lnSpc>
                <a:spcPct val="125000"/>
              </a:lnSpc>
              <a:spcBef>
                <a:spcPct val="20000"/>
              </a:spcBef>
            </a:pPr>
            <a:r>
              <a:rPr lang="en-US" dirty="0">
                <a:solidFill>
                  <a:srgbClr val="000099"/>
                </a:solidFill>
              </a:rPr>
              <a:t>int value = heap[0];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000099"/>
              </a:solidFill>
              <a:effectLst/>
              <a:latin typeface="Tahoma" pitchFamily="34" charset="0"/>
            </a:endParaRPr>
          </a:p>
        </p:txBody>
      </p:sp>
      <p:grpSp>
        <p:nvGrpSpPr>
          <p:cNvPr id="2" name="Group 1" descr="A max heap&#10;Level order:&#10;15 | 11 12 | 7 8 9 10">
            <a:extLst>
              <a:ext uri="{FF2B5EF4-FFF2-40B4-BE49-F238E27FC236}">
                <a16:creationId xmlns:a16="http://schemas.microsoft.com/office/drawing/2014/main" id="{09F2FE94-D552-4D99-9A13-0C27D2F7757C}"/>
              </a:ext>
            </a:extLst>
          </p:cNvPr>
          <p:cNvGrpSpPr/>
          <p:nvPr/>
        </p:nvGrpSpPr>
        <p:grpSpPr>
          <a:xfrm>
            <a:off x="2514600" y="2458328"/>
            <a:ext cx="3124200" cy="2057400"/>
            <a:chOff x="2514600" y="1752600"/>
            <a:chExt cx="3124200" cy="2057400"/>
          </a:xfrm>
        </p:grpSpPr>
        <p:sp>
          <p:nvSpPr>
            <p:cNvPr id="14339" name="Oval 3">
              <a:extLst>
                <a:ext uri="{FF2B5EF4-FFF2-40B4-BE49-F238E27FC236}">
                  <a16:creationId xmlns:a16="http://schemas.microsoft.com/office/drawing/2014/main" id="{445FDC42-9204-4B86-84A3-1BEF411AF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22860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rgbClr val="000099"/>
                  </a:solidFill>
                  <a:latin typeface="Tahoma" panose="020B0604030504040204" pitchFamily="34" charset="0"/>
                </a:rPr>
                <a:t>15</a:t>
              </a:r>
            </a:p>
          </p:txBody>
        </p:sp>
        <p:sp>
          <p:nvSpPr>
            <p:cNvPr id="20484" name="Oval 4">
              <a:extLst>
                <a:ext uri="{FF2B5EF4-FFF2-40B4-BE49-F238E27FC236}">
                  <a16:creationId xmlns:a16="http://schemas.microsoft.com/office/drawing/2014/main" id="{1D0136D5-1C5C-4EBB-8D3A-A3FB92F737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28194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11</a:t>
              </a:r>
            </a:p>
          </p:txBody>
        </p:sp>
        <p:sp>
          <p:nvSpPr>
            <p:cNvPr id="20485" name="Oval 5">
              <a:extLst>
                <a:ext uri="{FF2B5EF4-FFF2-40B4-BE49-F238E27FC236}">
                  <a16:creationId xmlns:a16="http://schemas.microsoft.com/office/drawing/2014/main" id="{26BF09F4-7208-42C6-A033-894C5EE96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352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20486" name="Oval 6">
              <a:extLst>
                <a:ext uri="{FF2B5EF4-FFF2-40B4-BE49-F238E27FC236}">
                  <a16:creationId xmlns:a16="http://schemas.microsoft.com/office/drawing/2014/main" id="{F762E51D-133F-42DB-BAB0-7E29C9E96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3352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8</a:t>
              </a:r>
            </a:p>
          </p:txBody>
        </p:sp>
        <p:sp>
          <p:nvSpPr>
            <p:cNvPr id="20487" name="Oval 7">
              <a:extLst>
                <a:ext uri="{FF2B5EF4-FFF2-40B4-BE49-F238E27FC236}">
                  <a16:creationId xmlns:a16="http://schemas.microsoft.com/office/drawing/2014/main" id="{F82FE0BC-7C3F-4AAE-9DEC-D09E9D1ABC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27432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12</a:t>
              </a:r>
            </a:p>
          </p:txBody>
        </p:sp>
        <p:sp>
          <p:nvSpPr>
            <p:cNvPr id="20488" name="Oval 8">
              <a:extLst>
                <a:ext uri="{FF2B5EF4-FFF2-40B4-BE49-F238E27FC236}">
                  <a16:creationId xmlns:a16="http://schemas.microsoft.com/office/drawing/2014/main" id="{85A29DCB-F00F-4FB0-86BE-1473D98D4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400" y="3352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9</a:t>
              </a:r>
            </a:p>
          </p:txBody>
        </p:sp>
        <p:sp>
          <p:nvSpPr>
            <p:cNvPr id="20489" name="Text Box 9">
              <a:extLst>
                <a:ext uri="{FF2B5EF4-FFF2-40B4-BE49-F238E27FC236}">
                  <a16:creationId xmlns:a16="http://schemas.microsoft.com/office/drawing/2014/main" id="{59BC939E-5C28-44F9-B50A-54A2480613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1752600"/>
              <a:ext cx="1371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root</a:t>
              </a:r>
            </a:p>
          </p:txBody>
        </p:sp>
        <p:sp>
          <p:nvSpPr>
            <p:cNvPr id="14346" name="Oval 10">
              <a:extLst>
                <a:ext uri="{FF2B5EF4-FFF2-40B4-BE49-F238E27FC236}">
                  <a16:creationId xmlns:a16="http://schemas.microsoft.com/office/drawing/2014/main" id="{4730851D-44B5-45C5-89C2-52F14EBC2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3352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latin typeface="Tahoma" panose="020B0604030504040204" pitchFamily="34" charset="0"/>
                </a:rPr>
                <a:t>10</a:t>
              </a:r>
            </a:p>
          </p:txBody>
        </p:sp>
      </p:grpSp>
      <p:sp>
        <p:nvSpPr>
          <p:cNvPr id="20492" name="Text Box 32">
            <a:extLst>
              <a:ext uri="{FF2B5EF4-FFF2-40B4-BE49-F238E27FC236}">
                <a16:creationId xmlns:a16="http://schemas.microsoft.com/office/drawing/2014/main" id="{2ED1F31D-1339-4203-BE8F-0EB6D60A7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902200"/>
            <a:ext cx="640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root</a:t>
            </a:r>
          </a:p>
        </p:txBody>
      </p:sp>
      <p:graphicFrame>
        <p:nvGraphicFramePr>
          <p:cNvPr id="63521" name="Group 33">
            <a:extLst>
              <a:ext uri="{FF2B5EF4-FFF2-40B4-BE49-F238E27FC236}">
                <a16:creationId xmlns:a16="http://schemas.microsoft.com/office/drawing/2014/main" id="{9C0082FD-8C2B-4870-AE8E-ACDC23FB6D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439365"/>
              </p:ext>
            </p:extLst>
          </p:nvPr>
        </p:nvGraphicFramePr>
        <p:xfrm>
          <a:off x="914400" y="5359400"/>
          <a:ext cx="7023100" cy="584200"/>
        </p:xfrm>
        <a:graphic>
          <a:graphicData uri="http://schemas.openxmlformats.org/drawingml/2006/table">
            <a:tbl>
              <a:tblPr/>
              <a:tblGrid>
                <a:gridCol w="100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482" name="Footer Placeholder 3">
            <a:extLst>
              <a:ext uri="{FF2B5EF4-FFF2-40B4-BE49-F238E27FC236}">
                <a16:creationId xmlns:a16="http://schemas.microsoft.com/office/drawing/2014/main" id="{A0C23FF2-D673-4048-AEA6-5A39D10D3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2000"/>
                                        <p:tgtEl>
                                          <p:spTgt spid="635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3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1" name="WordArt 14">
            <a:extLst>
              <a:ext uri="{FF2B5EF4-FFF2-40B4-BE49-F238E27FC236}">
                <a16:creationId xmlns:a16="http://schemas.microsoft.com/office/drawing/2014/main" id="{9EE04C0C-D36F-46E4-8DC1-AC12AF27DF79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981200" y="457200"/>
            <a:ext cx="4876800" cy="6096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Remove Max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8BD0A9-89FC-3073-60C0-3D0A2DA45826}"/>
              </a:ext>
            </a:extLst>
          </p:cNvPr>
          <p:cNvSpPr txBox="1"/>
          <p:nvPr/>
        </p:nvSpPr>
        <p:spPr>
          <a:xfrm>
            <a:off x="304800" y="1588357"/>
            <a:ext cx="7848600" cy="1572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99"/>
                </a:solidFill>
              </a:rPr>
              <a:t>remove() – Step 2:  move last value to root</a:t>
            </a:r>
          </a:p>
          <a:p>
            <a:pPr algn="r">
              <a:lnSpc>
                <a:spcPct val="125000"/>
              </a:lnSpc>
              <a:spcBef>
                <a:spcPct val="20000"/>
              </a:spcBef>
            </a:pPr>
            <a:r>
              <a:rPr lang="en-US" dirty="0">
                <a:solidFill>
                  <a:srgbClr val="000099"/>
                </a:solidFill>
              </a:rPr>
              <a:t>heap[0] = </a:t>
            </a:r>
            <a:r>
              <a:rPr lang="en-US" dirty="0" err="1">
                <a:solidFill>
                  <a:srgbClr val="000099"/>
                </a:solidFill>
              </a:rPr>
              <a:t>hwap</a:t>
            </a:r>
            <a:r>
              <a:rPr lang="en-US" dirty="0">
                <a:solidFill>
                  <a:srgbClr val="000099"/>
                </a:solidFill>
              </a:rPr>
              <a:t>[len-1];</a:t>
            </a:r>
          </a:p>
          <a:p>
            <a:pPr algn="r">
              <a:lnSpc>
                <a:spcPct val="125000"/>
              </a:lnSpc>
              <a:spcBef>
                <a:spcPct val="20000"/>
              </a:spcBef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99"/>
                </a:solidFill>
                <a:effectLst/>
                <a:latin typeface="Tahoma" pitchFamily="34" charset="0"/>
              </a:rPr>
              <a:t>heap[len-1] = null;</a:t>
            </a:r>
          </a:p>
        </p:txBody>
      </p:sp>
      <p:grpSp>
        <p:nvGrpSpPr>
          <p:cNvPr id="2" name="Group 1" descr="A max heap&#10;Level order:&#10;10 | 11 12 | 7 8 9">
            <a:extLst>
              <a:ext uri="{FF2B5EF4-FFF2-40B4-BE49-F238E27FC236}">
                <a16:creationId xmlns:a16="http://schemas.microsoft.com/office/drawing/2014/main" id="{09F2FE94-D552-4D99-9A13-0C27D2F7757C}"/>
              </a:ext>
            </a:extLst>
          </p:cNvPr>
          <p:cNvGrpSpPr/>
          <p:nvPr/>
        </p:nvGrpSpPr>
        <p:grpSpPr>
          <a:xfrm>
            <a:off x="1752600" y="2540000"/>
            <a:ext cx="3124200" cy="2057400"/>
            <a:chOff x="2514600" y="1752600"/>
            <a:chExt cx="3124200" cy="2057400"/>
          </a:xfrm>
        </p:grpSpPr>
        <p:sp>
          <p:nvSpPr>
            <p:cNvPr id="14339" name="Oval 3">
              <a:extLst>
                <a:ext uri="{FF2B5EF4-FFF2-40B4-BE49-F238E27FC236}">
                  <a16:creationId xmlns:a16="http://schemas.microsoft.com/office/drawing/2014/main" id="{445FDC42-9204-4B86-84A3-1BEF411AF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22860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rgbClr val="000099"/>
                  </a:solidFill>
                  <a:latin typeface="Tahoma" panose="020B0604030504040204" pitchFamily="34" charset="0"/>
                </a:rPr>
                <a:t>15</a:t>
              </a:r>
            </a:p>
          </p:txBody>
        </p:sp>
        <p:sp>
          <p:nvSpPr>
            <p:cNvPr id="20484" name="Oval 4">
              <a:extLst>
                <a:ext uri="{FF2B5EF4-FFF2-40B4-BE49-F238E27FC236}">
                  <a16:creationId xmlns:a16="http://schemas.microsoft.com/office/drawing/2014/main" id="{1D0136D5-1C5C-4EBB-8D3A-A3FB92F737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28194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11</a:t>
              </a:r>
            </a:p>
          </p:txBody>
        </p:sp>
        <p:sp>
          <p:nvSpPr>
            <p:cNvPr id="20485" name="Oval 5">
              <a:extLst>
                <a:ext uri="{FF2B5EF4-FFF2-40B4-BE49-F238E27FC236}">
                  <a16:creationId xmlns:a16="http://schemas.microsoft.com/office/drawing/2014/main" id="{26BF09F4-7208-42C6-A033-894C5EE96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352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20486" name="Oval 6">
              <a:extLst>
                <a:ext uri="{FF2B5EF4-FFF2-40B4-BE49-F238E27FC236}">
                  <a16:creationId xmlns:a16="http://schemas.microsoft.com/office/drawing/2014/main" id="{F762E51D-133F-42DB-BAB0-7E29C9E96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3352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8</a:t>
              </a:r>
            </a:p>
          </p:txBody>
        </p:sp>
        <p:sp>
          <p:nvSpPr>
            <p:cNvPr id="20487" name="Oval 7">
              <a:extLst>
                <a:ext uri="{FF2B5EF4-FFF2-40B4-BE49-F238E27FC236}">
                  <a16:creationId xmlns:a16="http://schemas.microsoft.com/office/drawing/2014/main" id="{F82FE0BC-7C3F-4AAE-9DEC-D09E9D1ABC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27432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12</a:t>
              </a:r>
            </a:p>
          </p:txBody>
        </p:sp>
        <p:sp>
          <p:nvSpPr>
            <p:cNvPr id="20488" name="Oval 8">
              <a:extLst>
                <a:ext uri="{FF2B5EF4-FFF2-40B4-BE49-F238E27FC236}">
                  <a16:creationId xmlns:a16="http://schemas.microsoft.com/office/drawing/2014/main" id="{85A29DCB-F00F-4FB0-86BE-1473D98D4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400" y="3352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9</a:t>
              </a:r>
            </a:p>
          </p:txBody>
        </p:sp>
        <p:sp>
          <p:nvSpPr>
            <p:cNvPr id="20489" name="Text Box 9">
              <a:extLst>
                <a:ext uri="{FF2B5EF4-FFF2-40B4-BE49-F238E27FC236}">
                  <a16:creationId xmlns:a16="http://schemas.microsoft.com/office/drawing/2014/main" id="{59BC939E-5C28-44F9-B50A-54A2480613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1752600"/>
              <a:ext cx="1371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root</a:t>
              </a:r>
            </a:p>
          </p:txBody>
        </p:sp>
        <p:sp>
          <p:nvSpPr>
            <p:cNvPr id="14346" name="Oval 10">
              <a:extLst>
                <a:ext uri="{FF2B5EF4-FFF2-40B4-BE49-F238E27FC236}">
                  <a16:creationId xmlns:a16="http://schemas.microsoft.com/office/drawing/2014/main" id="{4730851D-44B5-45C5-89C2-52F14EBC2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3352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latin typeface="Tahoma" panose="020B0604030504040204" pitchFamily="34" charset="0"/>
                </a:rPr>
                <a:t>10</a:t>
              </a:r>
            </a:p>
          </p:txBody>
        </p:sp>
      </p:grpSp>
      <p:sp>
        <p:nvSpPr>
          <p:cNvPr id="20492" name="Text Box 32">
            <a:extLst>
              <a:ext uri="{FF2B5EF4-FFF2-40B4-BE49-F238E27FC236}">
                <a16:creationId xmlns:a16="http://schemas.microsoft.com/office/drawing/2014/main" id="{2ED1F31D-1339-4203-BE8F-0EB6D60A7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902200"/>
            <a:ext cx="640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root</a:t>
            </a:r>
          </a:p>
        </p:txBody>
      </p:sp>
      <p:graphicFrame>
        <p:nvGraphicFramePr>
          <p:cNvPr id="63521" name="Group 33">
            <a:extLst>
              <a:ext uri="{FF2B5EF4-FFF2-40B4-BE49-F238E27FC236}">
                <a16:creationId xmlns:a16="http://schemas.microsoft.com/office/drawing/2014/main" id="{9C0082FD-8C2B-4870-AE8E-ACDC23FB6D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20766"/>
              </p:ext>
            </p:extLst>
          </p:nvPr>
        </p:nvGraphicFramePr>
        <p:xfrm>
          <a:off x="914400" y="5359400"/>
          <a:ext cx="7023100" cy="584200"/>
        </p:xfrm>
        <a:graphic>
          <a:graphicData uri="http://schemas.openxmlformats.org/drawingml/2006/table">
            <a:tbl>
              <a:tblPr/>
              <a:tblGrid>
                <a:gridCol w="100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482" name="Footer Placeholder 3">
            <a:extLst>
              <a:ext uri="{FF2B5EF4-FFF2-40B4-BE49-F238E27FC236}">
                <a16:creationId xmlns:a16="http://schemas.microsoft.com/office/drawing/2014/main" id="{A0C23FF2-D673-4048-AEA6-5A39D10D3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922339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2000"/>
                                        <p:tgtEl>
                                          <p:spTgt spid="635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3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1" name="WordArt 14">
            <a:extLst>
              <a:ext uri="{FF2B5EF4-FFF2-40B4-BE49-F238E27FC236}">
                <a16:creationId xmlns:a16="http://schemas.microsoft.com/office/drawing/2014/main" id="{9EE04C0C-D36F-46E4-8DC1-AC12AF27DF79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981200" y="457200"/>
            <a:ext cx="4876800" cy="6096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Remove Max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8BD0A9-89FC-3073-60C0-3D0A2DA45826}"/>
              </a:ext>
            </a:extLst>
          </p:cNvPr>
          <p:cNvSpPr txBox="1"/>
          <p:nvPr/>
        </p:nvSpPr>
        <p:spPr>
          <a:xfrm>
            <a:off x="304800" y="1588357"/>
            <a:ext cx="7848600" cy="501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99"/>
                </a:solidFill>
              </a:rPr>
              <a:t>remove() – Step 3:  </a:t>
            </a:r>
            <a:r>
              <a:rPr lang="en-US" dirty="0" err="1">
                <a:solidFill>
                  <a:srgbClr val="000099"/>
                </a:solidFill>
              </a:rPr>
              <a:t>reheapify</a:t>
            </a:r>
            <a:r>
              <a:rPr lang="en-US" dirty="0">
                <a:solidFill>
                  <a:srgbClr val="000099"/>
                </a:solidFill>
              </a:rPr>
              <a:t> by swapping down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000099"/>
              </a:solidFill>
              <a:effectLst/>
              <a:latin typeface="Tahoma" pitchFamily="34" charset="0"/>
            </a:endParaRPr>
          </a:p>
        </p:txBody>
      </p:sp>
      <p:grpSp>
        <p:nvGrpSpPr>
          <p:cNvPr id="2" name="Group 1" descr="A max heap&#10;Level order:&#10;12 | 11 10 | 7 8 9">
            <a:extLst>
              <a:ext uri="{FF2B5EF4-FFF2-40B4-BE49-F238E27FC236}">
                <a16:creationId xmlns:a16="http://schemas.microsoft.com/office/drawing/2014/main" id="{09F2FE94-D552-4D99-9A13-0C27D2F7757C}"/>
              </a:ext>
            </a:extLst>
          </p:cNvPr>
          <p:cNvGrpSpPr/>
          <p:nvPr/>
        </p:nvGrpSpPr>
        <p:grpSpPr>
          <a:xfrm>
            <a:off x="2438400" y="2540000"/>
            <a:ext cx="2667000" cy="2057400"/>
            <a:chOff x="2514600" y="1752600"/>
            <a:chExt cx="2667000" cy="2057400"/>
          </a:xfrm>
        </p:grpSpPr>
        <p:sp>
          <p:nvSpPr>
            <p:cNvPr id="14339" name="Oval 3">
              <a:extLst>
                <a:ext uri="{FF2B5EF4-FFF2-40B4-BE49-F238E27FC236}">
                  <a16:creationId xmlns:a16="http://schemas.microsoft.com/office/drawing/2014/main" id="{445FDC42-9204-4B86-84A3-1BEF411AF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22860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rgbClr val="000099"/>
                  </a:solidFill>
                  <a:latin typeface="Tahoma" panose="020B0604030504040204" pitchFamily="34" charset="0"/>
                </a:rPr>
                <a:t>12</a:t>
              </a:r>
            </a:p>
          </p:txBody>
        </p:sp>
        <p:sp>
          <p:nvSpPr>
            <p:cNvPr id="20484" name="Oval 4">
              <a:extLst>
                <a:ext uri="{FF2B5EF4-FFF2-40B4-BE49-F238E27FC236}">
                  <a16:creationId xmlns:a16="http://schemas.microsoft.com/office/drawing/2014/main" id="{1D0136D5-1C5C-4EBB-8D3A-A3FB92F737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28194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11</a:t>
              </a:r>
            </a:p>
          </p:txBody>
        </p:sp>
        <p:sp>
          <p:nvSpPr>
            <p:cNvPr id="20485" name="Oval 5">
              <a:extLst>
                <a:ext uri="{FF2B5EF4-FFF2-40B4-BE49-F238E27FC236}">
                  <a16:creationId xmlns:a16="http://schemas.microsoft.com/office/drawing/2014/main" id="{26BF09F4-7208-42C6-A033-894C5EE96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352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20486" name="Oval 6">
              <a:extLst>
                <a:ext uri="{FF2B5EF4-FFF2-40B4-BE49-F238E27FC236}">
                  <a16:creationId xmlns:a16="http://schemas.microsoft.com/office/drawing/2014/main" id="{F762E51D-133F-42DB-BAB0-7E29C9E96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3352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8</a:t>
              </a:r>
            </a:p>
          </p:txBody>
        </p:sp>
        <p:sp>
          <p:nvSpPr>
            <p:cNvPr id="20487" name="Oval 7">
              <a:extLst>
                <a:ext uri="{FF2B5EF4-FFF2-40B4-BE49-F238E27FC236}">
                  <a16:creationId xmlns:a16="http://schemas.microsoft.com/office/drawing/2014/main" id="{F82FE0BC-7C3F-4AAE-9DEC-D09E9D1ABC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27432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20488" name="Oval 8">
              <a:extLst>
                <a:ext uri="{FF2B5EF4-FFF2-40B4-BE49-F238E27FC236}">
                  <a16:creationId xmlns:a16="http://schemas.microsoft.com/office/drawing/2014/main" id="{85A29DCB-F00F-4FB0-86BE-1473D98D4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400" y="3352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9</a:t>
              </a:r>
            </a:p>
          </p:txBody>
        </p:sp>
        <p:sp>
          <p:nvSpPr>
            <p:cNvPr id="20489" name="Text Box 9">
              <a:extLst>
                <a:ext uri="{FF2B5EF4-FFF2-40B4-BE49-F238E27FC236}">
                  <a16:creationId xmlns:a16="http://schemas.microsoft.com/office/drawing/2014/main" id="{59BC939E-5C28-44F9-B50A-54A2480613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1752600"/>
              <a:ext cx="1371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root</a:t>
              </a:r>
            </a:p>
          </p:txBody>
        </p:sp>
      </p:grpSp>
      <p:sp>
        <p:nvSpPr>
          <p:cNvPr id="20492" name="Text Box 32">
            <a:extLst>
              <a:ext uri="{FF2B5EF4-FFF2-40B4-BE49-F238E27FC236}">
                <a16:creationId xmlns:a16="http://schemas.microsoft.com/office/drawing/2014/main" id="{2ED1F31D-1339-4203-BE8F-0EB6D60A7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902200"/>
            <a:ext cx="640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root</a:t>
            </a:r>
          </a:p>
        </p:txBody>
      </p:sp>
      <p:graphicFrame>
        <p:nvGraphicFramePr>
          <p:cNvPr id="63521" name="Group 33">
            <a:extLst>
              <a:ext uri="{FF2B5EF4-FFF2-40B4-BE49-F238E27FC236}">
                <a16:creationId xmlns:a16="http://schemas.microsoft.com/office/drawing/2014/main" id="{9C0082FD-8C2B-4870-AE8E-ACDC23FB6D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042545"/>
              </p:ext>
            </p:extLst>
          </p:nvPr>
        </p:nvGraphicFramePr>
        <p:xfrm>
          <a:off x="914400" y="5359400"/>
          <a:ext cx="7023100" cy="584200"/>
        </p:xfrm>
        <a:graphic>
          <a:graphicData uri="http://schemas.openxmlformats.org/drawingml/2006/table">
            <a:tbl>
              <a:tblPr/>
              <a:tblGrid>
                <a:gridCol w="100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</a:rPr>
                        <a:t>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482" name="Footer Placeholder 3">
            <a:extLst>
              <a:ext uri="{FF2B5EF4-FFF2-40B4-BE49-F238E27FC236}">
                <a16:creationId xmlns:a16="http://schemas.microsoft.com/office/drawing/2014/main" id="{A0C23FF2-D673-4048-AEA6-5A39D10D3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124859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2000"/>
                                        <p:tgtEl>
                                          <p:spTgt spid="635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3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WordArt 11">
            <a:extLst>
              <a:ext uri="{FF2B5EF4-FFF2-40B4-BE49-F238E27FC236}">
                <a16:creationId xmlns:a16="http://schemas.microsoft.com/office/drawing/2014/main" id="{977A7560-D10B-40CF-8AFE-C969D2E58E1E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447800" y="457200"/>
            <a:ext cx="5334000" cy="8382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 err="1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swapDown</a:t>
            </a:r>
            <a:endParaRPr kumimoji="0" lang="en-US" sz="3600" b="1" i="0" u="none" strike="noStrike" kern="10" cap="none" spc="0" normalizeH="0" baseline="0" noProof="0" dirty="0">
              <a:ln w="9525">
                <a:solidFill>
                  <a:srgbClr val="FFFF00"/>
                </a:solidFill>
                <a:round/>
                <a:headEnd/>
                <a:tailEnd/>
              </a:ln>
              <a:solidFill>
                <a:srgbClr val="0000FF"/>
              </a:solidFill>
              <a:effectLst>
                <a:outerShdw dist="35921" dir="2700000" algn="ctr" rotWithShape="0">
                  <a:srgbClr val="C0C0C0"/>
                </a:outerShdw>
              </a:effectLst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22531" name="Text Box 3">
            <a:extLst>
              <a:ext uri="{FF2B5EF4-FFF2-40B4-BE49-F238E27FC236}">
                <a16:creationId xmlns:a16="http://schemas.microsoft.com/office/drawing/2014/main" id="{4899B1CA-D5B1-4692-B70D-1F5B3AF707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447800"/>
            <a:ext cx="6943725" cy="3662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swapDown starts access at the root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swapDown first generates the index values of the root’s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children.         </a:t>
            </a:r>
            <a:r>
              <a:rPr lang="en-US" altLang="en-US" sz="1800">
                <a:solidFill>
                  <a:srgbClr val="FF3300"/>
                </a:solidFill>
                <a:latin typeface="Tahoma" panose="020B0604030504040204" pitchFamily="34" charset="0"/>
              </a:rPr>
              <a:t>root * 2 + 1        root * 2 + 2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FF3300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Make sure root is less than bottom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Find the largest child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Determine if largest child is larger than root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    If it is  </a:t>
            </a:r>
            <a:r>
              <a:rPr lang="en-US" altLang="en-US" sz="1800">
                <a:latin typeface="Tahoma" panose="020B060403050404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sz="1800">
                <a:latin typeface="Tahoma" panose="020B0604030504040204" pitchFamily="34" charset="0"/>
              </a:rPr>
              <a:t>     swap largest child and root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Root is set to the index of the largest child and the process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starts over again.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22533" name="Text Box 12">
            <a:extLst>
              <a:ext uri="{FF2B5EF4-FFF2-40B4-BE49-F238E27FC236}">
                <a16:creationId xmlns:a16="http://schemas.microsoft.com/office/drawing/2014/main" id="{E14701DC-2DA2-4E7D-9D5A-202B755CE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486400"/>
            <a:ext cx="7620000" cy="4064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000">
                <a:solidFill>
                  <a:schemeClr val="accent2"/>
                </a:solidFill>
                <a:latin typeface="Tahoma" panose="020B0604030504040204" pitchFamily="34" charset="0"/>
              </a:rPr>
              <a:t>This method can be written iteratively or recursively.</a:t>
            </a:r>
          </a:p>
        </p:txBody>
      </p:sp>
      <p:sp>
        <p:nvSpPr>
          <p:cNvPr id="22530" name="Footer Placeholder 3">
            <a:extLst>
              <a:ext uri="{FF2B5EF4-FFF2-40B4-BE49-F238E27FC236}">
                <a16:creationId xmlns:a16="http://schemas.microsoft.com/office/drawing/2014/main" id="{7CAD0032-120B-42B9-BE7A-7A628EAD0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WordArt 8">
            <a:extLst>
              <a:ext uri="{FF2B5EF4-FFF2-40B4-BE49-F238E27FC236}">
                <a16:creationId xmlns:a16="http://schemas.microsoft.com/office/drawing/2014/main" id="{BF0095C2-DD32-4CFC-AF8D-8875C1D3A6DA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447800" y="457200"/>
            <a:ext cx="5334000" cy="8382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 err="1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swapDown</a:t>
            </a:r>
            <a:endParaRPr kumimoji="0" lang="en-US" sz="3600" b="1" i="0" u="none" strike="noStrike" kern="10" cap="none" spc="0" normalizeH="0" baseline="0" noProof="0" dirty="0">
              <a:ln w="9525">
                <a:solidFill>
                  <a:srgbClr val="FFFF00"/>
                </a:solidFill>
                <a:round/>
                <a:headEnd/>
                <a:tailEnd/>
              </a:ln>
              <a:solidFill>
                <a:srgbClr val="0000FF"/>
              </a:solidFill>
              <a:effectLst>
                <a:outerShdw dist="35921" dir="2700000" algn="ctr" rotWithShape="0">
                  <a:srgbClr val="C0C0C0"/>
                </a:outerShdw>
              </a:effectLst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21507" name="Text Box 3">
            <a:extLst>
              <a:ext uri="{FF2B5EF4-FFF2-40B4-BE49-F238E27FC236}">
                <a16:creationId xmlns:a16="http://schemas.microsoft.com/office/drawing/2014/main" id="{6F7AF38A-3533-4DFD-92FA-FEEF8F258A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447800"/>
            <a:ext cx="7010400" cy="496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int root=0;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while(root&lt;list.size())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   define max and left and right indexes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   if left child exists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       if right child exists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            find max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       else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            max is left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    else   stop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    if max &gt; root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	swap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            root = max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    else  stop</a:t>
            </a:r>
          </a:p>
        </p:txBody>
      </p:sp>
      <p:sp>
        <p:nvSpPr>
          <p:cNvPr id="21506" name="Footer Placeholder 3">
            <a:extLst>
              <a:ext uri="{FF2B5EF4-FFF2-40B4-BE49-F238E27FC236}">
                <a16:creationId xmlns:a16="http://schemas.microsoft.com/office/drawing/2014/main" id="{0CC5503A-82D4-49A3-9B59-69C25B990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3">
            <a:extLst>
              <a:ext uri="{FF2B5EF4-FFF2-40B4-BE49-F238E27FC236}">
                <a16:creationId xmlns:a16="http://schemas.microsoft.com/office/drawing/2014/main" id="{271EB884-01DD-4080-8AEF-3AB9A895D3C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3555" name="WordArt 2">
            <a:extLst>
              <a:ext uri="{FF2B5EF4-FFF2-40B4-BE49-F238E27FC236}">
                <a16:creationId xmlns:a16="http://schemas.microsoft.com/office/drawing/2014/main" id="{DF1EE058-28A7-4752-84D1-55BB8A3F1AFE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143000" y="1295400"/>
            <a:ext cx="6934200" cy="36576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333399"/>
                  </a:solidFill>
                  <a:round/>
                  <a:headEnd type="none" w="sm" len="sm"/>
                  <a:tailEnd type="none" w="sm" len="sm"/>
                </a:ln>
                <a:solidFill>
                  <a:srgbClr val="00FF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Start work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333399"/>
                  </a:solidFill>
                  <a:round/>
                  <a:headEnd type="none" w="sm" len="sm"/>
                  <a:tailEnd type="none" w="sm" len="sm"/>
                </a:ln>
                <a:solidFill>
                  <a:srgbClr val="00FF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on Lab 18a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1268</TotalTime>
  <Words>1518</Words>
  <Application>Microsoft Office PowerPoint</Application>
  <PresentationFormat>On-screen Show (4:3)</PresentationFormat>
  <Paragraphs>485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Impact</vt:lpstr>
      <vt:lpstr>Tahoma</vt:lpstr>
      <vt:lpstr>Times New Roman</vt:lpstr>
      <vt:lpstr>Blank Presentation</vt:lpstr>
      <vt:lpstr>THE HEAP</vt:lpstr>
      <vt:lpstr>heap</vt:lpstr>
      <vt:lpstr>The Shape Rule</vt:lpstr>
      <vt:lpstr>The Heap Rule</vt:lpstr>
      <vt:lpstr>Max Heap vs Min Heap</vt:lpstr>
      <vt:lpstr>heap</vt:lpstr>
      <vt:lpstr>max heap</vt:lpstr>
      <vt:lpstr>min heap</vt:lpstr>
      <vt:lpstr>heap</vt:lpstr>
      <vt:lpstr>array-based tree</vt:lpstr>
      <vt:lpstr>array-based tree</vt:lpstr>
      <vt:lpstr>array-based tree</vt:lpstr>
      <vt:lpstr>array-based tree</vt:lpstr>
      <vt:lpstr>array-based tree</vt:lpstr>
      <vt:lpstr>add</vt:lpstr>
      <vt:lpstr>add</vt:lpstr>
      <vt:lpstr>add</vt:lpstr>
      <vt:lpstr>swapUp</vt:lpstr>
      <vt:lpstr>Swapping Elements in an Array:</vt:lpstr>
      <vt:lpstr>swapUp</vt:lpstr>
      <vt:lpstr>swapUp</vt:lpstr>
      <vt:lpstr>swapUp</vt:lpstr>
      <vt:lpstr>remove max</vt:lpstr>
      <vt:lpstr>Remove Max</vt:lpstr>
      <vt:lpstr>Remove Max</vt:lpstr>
      <vt:lpstr>Remove Max</vt:lpstr>
      <vt:lpstr>swapDown</vt:lpstr>
      <vt:lpstr>swapDown</vt:lpstr>
      <vt:lpstr>Start work on Lab 18a</vt:lpstr>
    </vt:vector>
  </TitlesOfParts>
  <Manager>www.apluscompsci.com</Manager>
  <Company>www.apluscompsci.com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Heaps</dc:title>
  <dc:subject>Heaps</dc:subject>
  <dc:creator>A+ Computer Science</dc:creator>
  <cp:keywords>www.apluscompsci.com</cp:keywords>
  <dc:description>Heaps_x000d_
©A+ Computer Science_x000d_
www.apluscompsci.com</dc:description>
  <cp:lastModifiedBy>Weldon Jasik</cp:lastModifiedBy>
  <cp:revision>235</cp:revision>
  <dcterms:created xsi:type="dcterms:W3CDTF">1999-09-27T16:27:24Z</dcterms:created>
  <dcterms:modified xsi:type="dcterms:W3CDTF">2025-02-23T19:48:21Z</dcterms:modified>
  <cp:category>www.apluscompsci.com</cp:category>
</cp:coreProperties>
</file>