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>
  <p:sldMasterIdLst>
    <p:sldMasterId id="2147483648" r:id="rId1"/>
  </p:sldMasterIdLst>
  <p:notesMasterIdLst>
    <p:notesMasterId r:id="rId28"/>
  </p:notesMasterIdLst>
  <p:handoutMasterIdLst>
    <p:handoutMasterId r:id="rId29"/>
  </p:handoutMasterIdLst>
  <p:sldIdLst>
    <p:sldId id="256" r:id="rId2"/>
    <p:sldId id="258" r:id="rId3"/>
    <p:sldId id="280" r:id="rId4"/>
    <p:sldId id="284" r:id="rId5"/>
    <p:sldId id="307" r:id="rId6"/>
    <p:sldId id="285" r:id="rId7"/>
    <p:sldId id="292" r:id="rId8"/>
    <p:sldId id="281" r:id="rId9"/>
    <p:sldId id="286" r:id="rId10"/>
    <p:sldId id="259" r:id="rId11"/>
    <p:sldId id="260" r:id="rId12"/>
    <p:sldId id="305" r:id="rId13"/>
    <p:sldId id="306" r:id="rId14"/>
    <p:sldId id="308" r:id="rId15"/>
    <p:sldId id="261" r:id="rId16"/>
    <p:sldId id="287" r:id="rId17"/>
    <p:sldId id="288" r:id="rId18"/>
    <p:sldId id="303" r:id="rId19"/>
    <p:sldId id="289" r:id="rId20"/>
    <p:sldId id="304" r:id="rId21"/>
    <p:sldId id="276" r:id="rId22"/>
    <p:sldId id="263" r:id="rId23"/>
    <p:sldId id="302" r:id="rId24"/>
    <p:sldId id="277" r:id="rId25"/>
    <p:sldId id="265" r:id="rId26"/>
    <p:sldId id="301" r:id="rId27"/>
  </p:sldIdLst>
  <p:sldSz cx="9144000" cy="6858000" type="screen4x3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6pPr>
    <a:lvl7pPr marL="2743200" algn="l" defTabSz="914400" rtl="0" eaLnBrk="1" latinLnBrk="0" hangingPunct="1"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7pPr>
    <a:lvl8pPr marL="3200400" algn="l" defTabSz="914400" rtl="0" eaLnBrk="1" latinLnBrk="0" hangingPunct="1"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8pPr>
    <a:lvl9pPr marL="3657600" algn="l" defTabSz="914400" rtl="0" eaLnBrk="1" latinLnBrk="0" hangingPunct="1">
      <a:defRPr sz="2400" b="1" kern="1200">
        <a:solidFill>
          <a:schemeClr val="tx1"/>
        </a:solidFill>
        <a:latin typeface="Tahoma" panose="020B060403050404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000066"/>
    <a:srgbClr val="000099"/>
    <a:srgbClr val="FF3300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488" autoAdjust="0"/>
    <p:restoredTop sz="90929"/>
  </p:normalViewPr>
  <p:slideViewPr>
    <p:cSldViewPr>
      <p:cViewPr varScale="1">
        <p:scale>
          <a:sx n="75" d="100"/>
          <a:sy n="75" d="100"/>
        </p:scale>
        <p:origin x="864" y="43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>
            <a:extLst>
              <a:ext uri="{FF2B5EF4-FFF2-40B4-BE49-F238E27FC236}">
                <a16:creationId xmlns:a16="http://schemas.microsoft.com/office/drawing/2014/main" id="{3626E255-C720-46B9-82D9-AC905404B451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3011" name="Rectangle 3">
            <a:extLst>
              <a:ext uri="{FF2B5EF4-FFF2-40B4-BE49-F238E27FC236}">
                <a16:creationId xmlns:a16="http://schemas.microsoft.com/office/drawing/2014/main" id="{37A3D3D4-F8E8-4630-A88B-BFE417D824C2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3012" name="Rectangle 4">
            <a:extLst>
              <a:ext uri="{FF2B5EF4-FFF2-40B4-BE49-F238E27FC236}">
                <a16:creationId xmlns:a16="http://schemas.microsoft.com/office/drawing/2014/main" id="{12FB52A4-D6CC-4F29-B40F-074177BEB98B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3013" name="Rectangle 5">
            <a:extLst>
              <a:ext uri="{FF2B5EF4-FFF2-40B4-BE49-F238E27FC236}">
                <a16:creationId xmlns:a16="http://schemas.microsoft.com/office/drawing/2014/main" id="{27D3AE68-8FCB-4E60-9F0F-05B76ADC3BE7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528D9CB7-F8DE-4FB3-8498-15532639870C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>
            <a:extLst>
              <a:ext uri="{FF2B5EF4-FFF2-40B4-BE49-F238E27FC236}">
                <a16:creationId xmlns:a16="http://schemas.microsoft.com/office/drawing/2014/main" id="{405B3133-D5CB-45FB-9BA3-44A750BFBD7D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9939" name="Rectangle 3">
            <a:extLst>
              <a:ext uri="{FF2B5EF4-FFF2-40B4-BE49-F238E27FC236}">
                <a16:creationId xmlns:a16="http://schemas.microsoft.com/office/drawing/2014/main" id="{6725BF2A-132E-4A11-96F7-AD12240C5EC6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2052" name="Rectangle 4">
            <a:extLst>
              <a:ext uri="{FF2B5EF4-FFF2-40B4-BE49-F238E27FC236}">
                <a16:creationId xmlns:a16="http://schemas.microsoft.com/office/drawing/2014/main" id="{E711A46A-2C75-492C-962A-B48F3D05DBE7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39941" name="Rectangle 5">
            <a:extLst>
              <a:ext uri="{FF2B5EF4-FFF2-40B4-BE49-F238E27FC236}">
                <a16:creationId xmlns:a16="http://schemas.microsoft.com/office/drawing/2014/main" id="{B40E016C-D43A-4C83-AA44-66AA9E8561C1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9942" name="Rectangle 6">
            <a:extLst>
              <a:ext uri="{FF2B5EF4-FFF2-40B4-BE49-F238E27FC236}">
                <a16:creationId xmlns:a16="http://schemas.microsoft.com/office/drawing/2014/main" id="{37D822A5-5B4C-4F3E-A788-99135F6AC51F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9943" name="Rectangle 7">
            <a:extLst>
              <a:ext uri="{FF2B5EF4-FFF2-40B4-BE49-F238E27FC236}">
                <a16:creationId xmlns:a16="http://schemas.microsoft.com/office/drawing/2014/main" id="{07CDDEC7-B32A-4B92-8E55-F7C7C6CC3FA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A3EC4CF-7D7D-43F6-AA1D-F44FF0912C7C}" type="slidenum">
              <a:rPr lang="en-US" altLang="en-US"/>
              <a:pPr/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A118F78E-6F62-49BA-B88F-F077E449848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24D3A133-E440-40C3-8FBB-A47F91F55E99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B605DCA-BBEB-413D-B519-859541F8F4E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4F0EC16F-37E6-47AB-B0D7-979508CB5428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168725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45B6ADD-6B58-4557-B1CF-3CC1449D081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ABE5CB34-336A-4D58-8CC0-1F7626F50CA7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AF097BD-162E-41E9-8459-A69DBCCDA48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CFD1457C-DE5E-4A24-97B4-9C719342D364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4088833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BD41F2E9-9A13-4841-9E8E-A5D76D19FAA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0926E038-49FD-475F-ADB7-616B9FA35289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6F6B7C5-86B1-4545-8185-A11EDEFB2942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40179871-A41E-4335-815D-F814D0E602B5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5539250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3810000" cy="41148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A8B20E1-E5CA-48D3-BB49-46387989CE2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ABB02D1D-882C-4622-940A-64A9F48940E2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026D743-0A4D-403F-9579-97FC2B972797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501CFFAC-A1DA-457A-BF15-FB97F696F74F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828306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568E0DE1-78C0-48FB-B36F-4DD45A64B21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36D98551-B1C8-4B84-8C14-236546119FB4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FAC00FA-D2B4-4CDA-B963-092C77574573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EF206BBD-9461-4B50-B4FF-D14132446F15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207145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>
            <a:extLst>
              <a:ext uri="{FF2B5EF4-FFF2-40B4-BE49-F238E27FC236}">
                <a16:creationId xmlns:a16="http://schemas.microsoft.com/office/drawing/2014/main" id="{F7085D5D-CC2D-443A-952B-2F0C041F41A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31AC0C2F-B341-4E40-94E0-FFF4C92A660B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5C00965-366C-447D-9AB4-371AFC19549E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5" name="Rectangle 7">
            <a:extLst>
              <a:ext uri="{FF2B5EF4-FFF2-40B4-BE49-F238E27FC236}">
                <a16:creationId xmlns:a16="http://schemas.microsoft.com/office/drawing/2014/main" id="{8C0F416C-4E11-40A7-BE42-AD138ABDBCBE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2015200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DBCC9E42-25B3-49CE-8AC8-C9264F7B326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8B2D048B-8DBD-458B-A990-A9F9F71C519D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CFC9974-659B-4061-B2E7-F0ECDC05C5AB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4" name="Rectangle 7">
            <a:extLst>
              <a:ext uri="{FF2B5EF4-FFF2-40B4-BE49-F238E27FC236}">
                <a16:creationId xmlns:a16="http://schemas.microsoft.com/office/drawing/2014/main" id="{19C67F89-5169-4667-AA3B-E79E7997ACEB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2346543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11FA278-7B11-43AF-AA01-3CDE3457230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5A109D86-060E-4E88-AADC-2B6C3DC0F7DB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FD467D6-978F-42DE-8867-CB6DE7E3E0A4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ECC4B71D-22A2-4277-91AF-8448F787EE96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91585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CCA824-6939-418C-94B2-0EE5359C15D7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29BB2CF1-406E-474B-AFE7-D1DF53DFE463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31FC084-7B2B-45E5-95FA-2C53A39E971F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86562D8B-D4DD-47CD-BD54-5DF56DBBE8D9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8411826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F76627A6-71D1-40E9-A9B7-95F98B70D4F9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605AF1A9-4749-4B34-A545-0C1129928BD6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33E1504-F438-4AF8-9796-4BFCBF5D559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1CEE0CD1-DF95-475A-A779-748295D0213E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3479563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5100" y="609600"/>
            <a:ext cx="1943100" cy="5486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09600"/>
            <a:ext cx="5676900" cy="5486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>
            <a:extLst>
              <a:ext uri="{FF2B5EF4-FFF2-40B4-BE49-F238E27FC236}">
                <a16:creationId xmlns:a16="http://schemas.microsoft.com/office/drawing/2014/main" id="{4A1C496E-6AE0-4FEA-8055-FEFB4B084FE3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>
            <a:extLst>
              <a:ext uri="{FF2B5EF4-FFF2-40B4-BE49-F238E27FC236}">
                <a16:creationId xmlns:a16="http://schemas.microsoft.com/office/drawing/2014/main" id="{7888168B-FCC1-44F1-9FFD-D6C2937BDC70}"/>
              </a:ext>
            </a:extLst>
          </p:cNvPr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A09DB08-8770-47D2-81AB-8B75CD71435C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6" name="Rectangle 7">
            <a:extLst>
              <a:ext uri="{FF2B5EF4-FFF2-40B4-BE49-F238E27FC236}">
                <a16:creationId xmlns:a16="http://schemas.microsoft.com/office/drawing/2014/main" id="{76866224-4B79-4789-A1B1-D4BBB44B856C}"/>
              </a:ext>
            </a:extLst>
          </p:cNvPr>
          <p:cNvSpPr>
            <a:spLocks noGrp="1" noChangeArrowheads="1"/>
          </p:cNvSpPr>
          <p:nvPr>
            <p:ph type="ftr" sz="quarter" idx="12"/>
          </p:nvPr>
        </p:nvSpPr>
        <p:spPr>
          <a:ln/>
        </p:spPr>
        <p:txBody>
          <a:bodyPr/>
          <a:lstStyle>
            <a:lvl1pPr>
              <a:defRPr b="1">
                <a:latin typeface="Tahoma" pitchFamily="34" charset="0"/>
              </a:defRPr>
            </a:lvl1pPr>
          </a:lstStyle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</p:spTree>
    <p:extLst>
      <p:ext uri="{BB962C8B-B14F-4D97-AF65-F5344CB8AC3E}">
        <p14:creationId xmlns:p14="http://schemas.microsoft.com/office/powerpoint/2010/main" val="11811516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>
            <a:extLst>
              <a:ext uri="{FF2B5EF4-FFF2-40B4-BE49-F238E27FC236}">
                <a16:creationId xmlns:a16="http://schemas.microsoft.com/office/drawing/2014/main" id="{C02E1F20-8D3B-4898-94BB-24170744CC7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609600"/>
            <a:ext cx="7772400" cy="1143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title style</a:t>
            </a:r>
          </a:p>
        </p:txBody>
      </p:sp>
      <p:sp>
        <p:nvSpPr>
          <p:cNvPr id="1027" name="Rectangle 3">
            <a:extLst>
              <a:ext uri="{FF2B5EF4-FFF2-40B4-BE49-F238E27FC236}">
                <a16:creationId xmlns:a16="http://schemas.microsoft.com/office/drawing/2014/main" id="{D06976B1-0E7B-46D1-A007-77D21443BFA5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981200"/>
            <a:ext cx="7772400" cy="411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en-US"/>
              <a:t>Click to edit Master text styles</a:t>
            </a:r>
          </a:p>
          <a:p>
            <a:pPr lvl="1"/>
            <a:r>
              <a:rPr lang="en-US" altLang="en-US"/>
              <a:t>Second level</a:t>
            </a:r>
          </a:p>
          <a:p>
            <a:pPr lvl="2"/>
            <a:r>
              <a:rPr lang="en-US" altLang="en-US"/>
              <a:t>Third level</a:t>
            </a:r>
          </a:p>
          <a:p>
            <a:pPr lvl="3"/>
            <a:r>
              <a:rPr lang="en-US" altLang="en-US"/>
              <a:t>Fourth level</a:t>
            </a:r>
          </a:p>
          <a:p>
            <a:pPr lvl="4"/>
            <a:r>
              <a:rPr lang="en-US" altLang="en-US"/>
              <a:t>Fifth level</a:t>
            </a:r>
          </a:p>
        </p:txBody>
      </p:sp>
      <p:sp>
        <p:nvSpPr>
          <p:cNvPr id="1028" name="Rectangle 4">
            <a:extLst>
              <a:ext uri="{FF2B5EF4-FFF2-40B4-BE49-F238E27FC236}">
                <a16:creationId xmlns:a16="http://schemas.microsoft.com/office/drawing/2014/main" id="{02A5C1AF-78B3-4ABF-830E-53311810DD54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0">
                <a:latin typeface="+mn-lt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>
            <a:extLst>
              <a:ext uri="{FF2B5EF4-FFF2-40B4-BE49-F238E27FC236}">
                <a16:creationId xmlns:a16="http://schemas.microsoft.com/office/drawing/2014/main" id="{912F0CDE-3225-4790-BA10-A01D23F491AA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19050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 b="0">
                <a:latin typeface="Times New Roman" panose="02020603050405020304" pitchFamily="18" charset="0"/>
              </a:defRPr>
            </a:lvl1pPr>
          </a:lstStyle>
          <a:p>
            <a:fld id="{76E2CF5C-3435-40A1-B647-52EA6DFAA3DD}" type="slidenum">
              <a:rPr lang="en-US" altLang="en-US"/>
              <a:pPr/>
              <a:t>‹#›</a:t>
            </a:fld>
            <a:endParaRPr lang="en-US" altLang="en-US"/>
          </a:p>
        </p:txBody>
      </p:sp>
      <p:sp>
        <p:nvSpPr>
          <p:cNvPr id="1031" name="Rectangle 7">
            <a:extLst>
              <a:ext uri="{FF2B5EF4-FFF2-40B4-BE49-F238E27FC236}">
                <a16:creationId xmlns:a16="http://schemas.microsoft.com/office/drawing/2014/main" id="{14655212-3960-4F25-B492-69221D461C0D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2075" tIns="46038" rIns="92075" bIns="46038" numCol="1" anchor="ctr" anchorCtr="0" compatLnSpc="1">
            <a:prstTxWarp prst="textNoShape">
              <a:avLst/>
            </a:prstTxWarp>
          </a:bodyPr>
          <a:lstStyle>
            <a:lvl1pPr algn="ctr">
              <a:defRPr sz="800" b="0">
                <a:latin typeface="+mn-lt"/>
              </a:defRPr>
            </a:lvl1pPr>
          </a:lstStyle>
          <a:p>
            <a:pPr>
              <a:defRPr/>
            </a:pPr>
            <a:endParaRPr lang="en-US" b="1"/>
          </a:p>
          <a:p>
            <a:pPr>
              <a:defRPr/>
            </a:pPr>
            <a:endParaRPr lang="en-US">
              <a:latin typeface="Tahoma" pitchFamily="34" charset="0"/>
            </a:endParaRPr>
          </a:p>
          <a:p>
            <a:pPr>
              <a:defRPr/>
            </a:pPr>
            <a:endParaRPr lang="en-US" b="1">
              <a:latin typeface="Tahoma" pitchFamily="34" charset="0"/>
            </a:endParaRPr>
          </a:p>
          <a:p>
            <a:pPr>
              <a:defRPr/>
            </a:pPr>
            <a:r>
              <a:rPr lang="en-US" b="1">
                <a:latin typeface="Tahoma" pitchFamily="34" charset="0"/>
              </a:rPr>
              <a:t>© A+ Computer Science  -  www.apluscompsci.com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5pPr>
      <a:lvl6pPr marL="4572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6pPr>
      <a:lvl7pPr marL="9144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7pPr>
      <a:lvl8pPr marL="13716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8pPr>
      <a:lvl9pPr marL="1828800"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2"/>
          </a:solidFill>
          <a:latin typeface="Times New Roman" pitchFamily="18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>
          <a:solidFill>
            <a:schemeClr val="tx1"/>
          </a:solidFill>
          <a:latin typeface="+mn-lt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>
          <a:solidFill>
            <a:schemeClr val="tx1"/>
          </a:solidFill>
          <a:latin typeface="+mn-lt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>
          <a:solidFill>
            <a:schemeClr val="tx1"/>
          </a:solidFill>
          <a:latin typeface="+mn-lt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5pPr>
      <a:lvl6pPr marL="25146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6pPr>
      <a:lvl7pPr marL="29718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7pPr>
      <a:lvl8pPr marL="34290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8pPr>
      <a:lvl9pPr marL="38862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WordArt 2">
            <a:extLst>
              <a:ext uri="{FF2B5EF4-FFF2-40B4-BE49-F238E27FC236}">
                <a16:creationId xmlns:a16="http://schemas.microsoft.com/office/drawing/2014/main" id="{D7460115-E938-4394-9E36-6C3671FE9D3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990600" y="1752600"/>
            <a:ext cx="7315200" cy="1981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 dirty="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THE HEAP</a:t>
            </a:r>
          </a:p>
        </p:txBody>
      </p:sp>
      <p:sp>
        <p:nvSpPr>
          <p:cNvPr id="4099" name="WordArt 3">
            <a:extLst>
              <a:ext uri="{FF2B5EF4-FFF2-40B4-BE49-F238E27FC236}">
                <a16:creationId xmlns:a16="http://schemas.microsoft.com/office/drawing/2014/main" id="{13D06176-775B-42E9-A38B-1E3EB6DBB3C5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6400800" y="6324600"/>
            <a:ext cx="2438400" cy="3048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 dirty="0">
                <a:ln w="9525">
                  <a:solidFill>
                    <a:srgbClr val="FFFF00"/>
                  </a:solidFill>
                  <a:round/>
                  <a:headEnd type="none" w="sm" len="sm"/>
                  <a:tailEnd type="none" w="sm" len="sm"/>
                </a:ln>
                <a:solidFill>
                  <a:srgbClr val="000080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Lab 18</a:t>
            </a:r>
          </a:p>
        </p:txBody>
      </p:sp>
      <p:sp>
        <p:nvSpPr>
          <p:cNvPr id="4100" name="Rectangle 4">
            <a:extLst>
              <a:ext uri="{FF2B5EF4-FFF2-40B4-BE49-F238E27FC236}">
                <a16:creationId xmlns:a16="http://schemas.microsoft.com/office/drawing/2014/main" id="{BE9FEF78-AC74-4DCB-AAC5-D997C5798D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lIns="92075" tIns="46038" rIns="92075" bIns="46038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 algn="ctr"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 algn="ctr"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  <a:endParaRPr lang="en-US" altLang="en-US" sz="24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Footer Placeholder 3">
            <a:extLst>
              <a:ext uri="{FF2B5EF4-FFF2-40B4-BE49-F238E27FC236}">
                <a16:creationId xmlns:a16="http://schemas.microsoft.com/office/drawing/2014/main" id="{3A8897C9-EC08-4E2C-8EA9-2FC4E84EC2FD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172200" y="6317673"/>
            <a:ext cx="2895600" cy="457200"/>
          </a:xfrm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 dirty="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 dirty="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5123" name="Text Box 2">
            <a:extLst>
              <a:ext uri="{FF2B5EF4-FFF2-40B4-BE49-F238E27FC236}">
                <a16:creationId xmlns:a16="http://schemas.microsoft.com/office/drawing/2014/main" id="{E1A73F6B-5F65-4DBA-9DF5-5692122272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0601" y="1981200"/>
            <a:ext cx="7162800" cy="440120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The heap is essentially an array-based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binary tree with the biggest element at the root.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A heap must obey two rules:</a:t>
            </a:r>
          </a:p>
        </p:txBody>
      </p:sp>
      <p:sp>
        <p:nvSpPr>
          <p:cNvPr id="5124" name="WordArt 5">
            <a:extLst>
              <a:ext uri="{FF2B5EF4-FFF2-40B4-BE49-F238E27FC236}">
                <a16:creationId xmlns:a16="http://schemas.microsoft.com/office/drawing/2014/main" id="{0C19C17B-9B13-4CC4-B40D-8088211EAA0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371600" y="533400"/>
            <a:ext cx="62484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heap</a:t>
            </a:r>
          </a:p>
        </p:txBody>
      </p:sp>
      <p:grpSp>
        <p:nvGrpSpPr>
          <p:cNvPr id="2" name="Group 1" descr="A complete tree, i.e. a tree with every level full except the last, which is filled from the left:&#10;Row 0: 15&#10;Row 1: 11, 10&#10;Row 2: 7, 8, 9">
            <a:extLst>
              <a:ext uri="{FF2B5EF4-FFF2-40B4-BE49-F238E27FC236}">
                <a16:creationId xmlns:a16="http://schemas.microsoft.com/office/drawing/2014/main" id="{47EFEE5B-51E3-4FEF-EB4B-46C8F5D1CC11}"/>
              </a:ext>
            </a:extLst>
          </p:cNvPr>
          <p:cNvGrpSpPr/>
          <p:nvPr/>
        </p:nvGrpSpPr>
        <p:grpSpPr>
          <a:xfrm>
            <a:off x="2590800" y="3733800"/>
            <a:ext cx="2667000" cy="1524000"/>
            <a:chOff x="2590800" y="3733800"/>
            <a:chExt cx="2667000" cy="1524000"/>
          </a:xfrm>
        </p:grpSpPr>
        <p:sp>
          <p:nvSpPr>
            <p:cNvPr id="5125" name="Oval 6">
              <a:extLst>
                <a:ext uri="{FF2B5EF4-FFF2-40B4-BE49-F238E27FC236}">
                  <a16:creationId xmlns:a16="http://schemas.microsoft.com/office/drawing/2014/main" id="{BA76F3C3-E853-4BB3-A8BE-3A04D0A5FAE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62400" y="3733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Tahoma" panose="020B0604030504040204" pitchFamily="34" charset="0"/>
                </a:rPr>
                <a:t>15</a:t>
              </a:r>
            </a:p>
          </p:txBody>
        </p:sp>
        <p:sp>
          <p:nvSpPr>
            <p:cNvPr id="5126" name="Oval 7">
              <a:extLst>
                <a:ext uri="{FF2B5EF4-FFF2-40B4-BE49-F238E27FC236}">
                  <a16:creationId xmlns:a16="http://schemas.microsoft.com/office/drawing/2014/main" id="{343A515C-EF76-4257-A05D-1248DE3337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0400" y="42672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Tahoma" panose="020B0604030504040204" pitchFamily="34" charset="0"/>
                </a:rPr>
                <a:t>11</a:t>
              </a:r>
            </a:p>
          </p:txBody>
        </p:sp>
        <p:sp>
          <p:nvSpPr>
            <p:cNvPr id="5127" name="Oval 8">
              <a:extLst>
                <a:ext uri="{FF2B5EF4-FFF2-40B4-BE49-F238E27FC236}">
                  <a16:creationId xmlns:a16="http://schemas.microsoft.com/office/drawing/2014/main" id="{40888769-52A1-4A31-9501-ABA1C2A8D1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0800" y="48006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Tahoma" panose="020B0604030504040204" pitchFamily="34" charset="0"/>
                </a:rPr>
                <a:t>7</a:t>
              </a:r>
            </a:p>
          </p:txBody>
        </p:sp>
        <p:sp>
          <p:nvSpPr>
            <p:cNvPr id="5128" name="Oval 9">
              <a:extLst>
                <a:ext uri="{FF2B5EF4-FFF2-40B4-BE49-F238E27FC236}">
                  <a16:creationId xmlns:a16="http://schemas.microsoft.com/office/drawing/2014/main" id="{A8B4D812-B84D-4370-AFE7-F3B256D17A8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57600" y="48006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8</a:t>
              </a:r>
            </a:p>
          </p:txBody>
        </p:sp>
        <p:sp>
          <p:nvSpPr>
            <p:cNvPr id="5129" name="Oval 10">
              <a:extLst>
                <a:ext uri="{FF2B5EF4-FFF2-40B4-BE49-F238E27FC236}">
                  <a16:creationId xmlns:a16="http://schemas.microsoft.com/office/drawing/2014/main" id="{D9C6EDE2-6D11-41C3-BCFF-CB4FFB5B47E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24400" y="41910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10</a:t>
              </a:r>
            </a:p>
          </p:txBody>
        </p:sp>
        <p:sp>
          <p:nvSpPr>
            <p:cNvPr id="5130" name="Oval 11">
              <a:extLst>
                <a:ext uri="{FF2B5EF4-FFF2-40B4-BE49-F238E27FC236}">
                  <a16:creationId xmlns:a16="http://schemas.microsoft.com/office/drawing/2014/main" id="{B834023F-68B9-4084-8861-D64E9F4930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9600" y="48006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9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Footer Placeholder 3">
            <a:extLst>
              <a:ext uri="{FF2B5EF4-FFF2-40B4-BE49-F238E27FC236}">
                <a16:creationId xmlns:a16="http://schemas.microsoft.com/office/drawing/2014/main" id="{4A791789-5A0B-4761-A1FF-8081ED77EAF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7171" name="Text Box 2">
            <a:extLst>
              <a:ext uri="{FF2B5EF4-FFF2-40B4-BE49-F238E27FC236}">
                <a16:creationId xmlns:a16="http://schemas.microsoft.com/office/drawing/2014/main" id="{B9C73E61-0A73-4BAF-A95D-F91DF2BAAA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52500" y="1752591"/>
            <a:ext cx="7467600" cy="20621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dirty="0">
                <a:latin typeface="Tahoma" panose="020B0604030504040204" pitchFamily="34" charset="0"/>
              </a:rPr>
              <a:t>In a complete tree, every level that can be filled is filled.   Any levels that are not full have all nodes shifted as far left as possible.</a:t>
            </a:r>
          </a:p>
        </p:txBody>
      </p:sp>
      <p:grpSp>
        <p:nvGrpSpPr>
          <p:cNvPr id="3" name="Group 2" descr="The same complete tree as last slide:&#10;Row 0: 15&#10;Row 1: 11, 10&#10;Row 2: 7, 8, 9">
            <a:extLst>
              <a:ext uri="{FF2B5EF4-FFF2-40B4-BE49-F238E27FC236}">
                <a16:creationId xmlns:a16="http://schemas.microsoft.com/office/drawing/2014/main" id="{89EEAB1E-84C5-A1B9-F951-1F967D0A74F3}"/>
              </a:ext>
            </a:extLst>
          </p:cNvPr>
          <p:cNvGrpSpPr/>
          <p:nvPr/>
        </p:nvGrpSpPr>
        <p:grpSpPr>
          <a:xfrm>
            <a:off x="2590800" y="4267200"/>
            <a:ext cx="2667000" cy="1524000"/>
            <a:chOff x="2590800" y="4267200"/>
            <a:chExt cx="2667000" cy="1524000"/>
          </a:xfrm>
        </p:grpSpPr>
        <p:sp>
          <p:nvSpPr>
            <p:cNvPr id="7172" name="Oval 4">
              <a:extLst>
                <a:ext uri="{FF2B5EF4-FFF2-40B4-BE49-F238E27FC236}">
                  <a16:creationId xmlns:a16="http://schemas.microsoft.com/office/drawing/2014/main" id="{B06B07EB-E8AD-4D30-9B45-973D34F583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62400" y="4267200"/>
              <a:ext cx="533400" cy="457200"/>
            </a:xfrm>
            <a:prstGeom prst="ellipse">
              <a:avLst/>
            </a:prstGeom>
            <a:solidFill>
              <a:srgbClr val="99CC00">
                <a:alpha val="49019"/>
              </a:srgbClr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7173" name="Oval 5">
              <a:extLst>
                <a:ext uri="{FF2B5EF4-FFF2-40B4-BE49-F238E27FC236}">
                  <a16:creationId xmlns:a16="http://schemas.microsoft.com/office/drawing/2014/main" id="{F9318233-CF98-4525-AAF8-BEC37DEB311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0400" y="4800600"/>
              <a:ext cx="533400" cy="457200"/>
            </a:xfrm>
            <a:prstGeom prst="ellipse">
              <a:avLst/>
            </a:prstGeom>
            <a:solidFill>
              <a:srgbClr val="99CC00">
                <a:alpha val="49019"/>
              </a:srgbClr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7174" name="Oval 6">
              <a:extLst>
                <a:ext uri="{FF2B5EF4-FFF2-40B4-BE49-F238E27FC236}">
                  <a16:creationId xmlns:a16="http://schemas.microsoft.com/office/drawing/2014/main" id="{2B0C3334-B7B8-498D-A11A-9E6CBA84AD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0800" y="5334000"/>
              <a:ext cx="533400" cy="457200"/>
            </a:xfrm>
            <a:prstGeom prst="ellipse">
              <a:avLst/>
            </a:prstGeom>
            <a:solidFill>
              <a:srgbClr val="99CC00">
                <a:alpha val="49019"/>
              </a:srgbClr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7175" name="Oval 7">
              <a:extLst>
                <a:ext uri="{FF2B5EF4-FFF2-40B4-BE49-F238E27FC236}">
                  <a16:creationId xmlns:a16="http://schemas.microsoft.com/office/drawing/2014/main" id="{B470711B-F845-4F46-A21D-A386B3798C0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57600" y="5334000"/>
              <a:ext cx="533400" cy="457200"/>
            </a:xfrm>
            <a:prstGeom prst="ellipse">
              <a:avLst/>
            </a:prstGeom>
            <a:solidFill>
              <a:srgbClr val="99CC00">
                <a:alpha val="49019"/>
              </a:srgbClr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7176" name="Oval 8">
              <a:extLst>
                <a:ext uri="{FF2B5EF4-FFF2-40B4-BE49-F238E27FC236}">
                  <a16:creationId xmlns:a16="http://schemas.microsoft.com/office/drawing/2014/main" id="{5D2D24D8-DC5D-458C-BC87-1D34B5A3822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24400" y="4724400"/>
              <a:ext cx="533400" cy="457200"/>
            </a:xfrm>
            <a:prstGeom prst="ellipse">
              <a:avLst/>
            </a:prstGeom>
            <a:solidFill>
              <a:srgbClr val="99CC00">
                <a:alpha val="49019"/>
              </a:srgbClr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  <p:sp>
          <p:nvSpPr>
            <p:cNvPr id="7177" name="Oval 9">
              <a:extLst>
                <a:ext uri="{FF2B5EF4-FFF2-40B4-BE49-F238E27FC236}">
                  <a16:creationId xmlns:a16="http://schemas.microsoft.com/office/drawing/2014/main" id="{ECB6DFCB-77B2-4731-A9C1-504726EDDD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9600" y="5334000"/>
              <a:ext cx="533400" cy="457200"/>
            </a:xfrm>
            <a:prstGeom prst="ellipse">
              <a:avLst/>
            </a:prstGeom>
            <a:solidFill>
              <a:srgbClr val="99CC00">
                <a:alpha val="49019"/>
              </a:srgbClr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endParaRPr lang="en-US" altLang="en-US" sz="2400">
                <a:latin typeface="Tahoma" panose="020B06040305040402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C52FCB2-285A-1558-163A-C14BA2809FEC}"/>
              </a:ext>
            </a:extLst>
          </p:cNvPr>
          <p:cNvSpPr/>
          <p:nvPr/>
        </p:nvSpPr>
        <p:spPr>
          <a:xfrm>
            <a:off x="1778606" y="457660"/>
            <a:ext cx="5586787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The Shape Rule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Footer Placeholder 3">
            <a:extLst>
              <a:ext uri="{FF2B5EF4-FFF2-40B4-BE49-F238E27FC236}">
                <a16:creationId xmlns:a16="http://schemas.microsoft.com/office/drawing/2014/main" id="{FEB2E8ED-B041-4B76-8553-E261EA2B674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6147" name="Text Box 2">
            <a:extLst>
              <a:ext uri="{FF2B5EF4-FFF2-40B4-BE49-F238E27FC236}">
                <a16:creationId xmlns:a16="http://schemas.microsoft.com/office/drawing/2014/main" id="{2E0D3C14-0106-4A1C-AD54-5E83D9B22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2106535"/>
            <a:ext cx="701040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3600" u="sng" dirty="0">
                <a:latin typeface="Tahoma" panose="020B0604030504040204" pitchFamily="34" charset="0"/>
              </a:rPr>
              <a:t>Every</a:t>
            </a:r>
            <a:r>
              <a:rPr lang="en-US" altLang="en-US" sz="3600" dirty="0">
                <a:latin typeface="Tahoma" panose="020B0604030504040204" pitchFamily="34" charset="0"/>
              </a:rPr>
              <a:t> parent will always be larger than its children.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DA6708-70C0-671C-F6B9-03A969308BE1}"/>
              </a:ext>
            </a:extLst>
          </p:cNvPr>
          <p:cNvSpPr/>
          <p:nvPr/>
        </p:nvSpPr>
        <p:spPr>
          <a:xfrm>
            <a:off x="1955739" y="457660"/>
            <a:ext cx="5232523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The Heap Rule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Footer Placeholder 3">
            <a:extLst>
              <a:ext uri="{FF2B5EF4-FFF2-40B4-BE49-F238E27FC236}">
                <a16:creationId xmlns:a16="http://schemas.microsoft.com/office/drawing/2014/main" id="{FEB2E8ED-B041-4B76-8553-E261EA2B674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6147" name="Text Box 2">
            <a:extLst>
              <a:ext uri="{FF2B5EF4-FFF2-40B4-BE49-F238E27FC236}">
                <a16:creationId xmlns:a16="http://schemas.microsoft.com/office/drawing/2014/main" id="{2E0D3C14-0106-4A1C-AD54-5E83D9B22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2106535"/>
            <a:ext cx="7924800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3600" u="sng" dirty="0">
                <a:latin typeface="Tahoma" panose="020B0604030504040204" pitchFamily="34" charset="0"/>
              </a:rPr>
              <a:t>Heaps are Max Heaps by default: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3600" dirty="0">
                <a:latin typeface="Tahoma" panose="020B0604030504040204" pitchFamily="34" charset="0"/>
              </a:rPr>
              <a:t>Every parent will always be larger than its children. 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36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3600" dirty="0">
                <a:latin typeface="Tahoma" panose="020B0604030504040204" pitchFamily="34" charset="0"/>
              </a:rPr>
              <a:t>Min Heaps:  In a min heap the rule is that a parent is smaller than its children.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DA6708-70C0-671C-F6B9-03A969308BE1}"/>
              </a:ext>
            </a:extLst>
          </p:cNvPr>
          <p:cNvSpPr/>
          <p:nvPr/>
        </p:nvSpPr>
        <p:spPr>
          <a:xfrm>
            <a:off x="540294" y="457660"/>
            <a:ext cx="8063426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cap="none" spc="0" dirty="0">
                <a:ln w="22225">
                  <a:solidFill>
                    <a:schemeClr val="accent2"/>
                  </a:solidFill>
                  <a:prstDash val="solid"/>
                </a:ln>
                <a:solidFill>
                  <a:schemeClr val="accent2">
                    <a:lumMod val="40000"/>
                    <a:lumOff val="60000"/>
                  </a:schemeClr>
                </a:solidFill>
                <a:effectLst/>
              </a:rPr>
              <a:t>Max Heap vs Min Heap</a:t>
            </a:r>
          </a:p>
        </p:txBody>
      </p:sp>
    </p:spTree>
    <p:extLst>
      <p:ext uri="{BB962C8B-B14F-4D97-AF65-F5344CB8AC3E}">
        <p14:creationId xmlns:p14="http://schemas.microsoft.com/office/powerpoint/2010/main" val="20592846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Footer Placeholder 3">
            <a:extLst>
              <a:ext uri="{FF2B5EF4-FFF2-40B4-BE49-F238E27FC236}">
                <a16:creationId xmlns:a16="http://schemas.microsoft.com/office/drawing/2014/main" id="{EA273072-D245-4A32-AFCA-8817BA57D44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8195" name="Text Box 2">
            <a:extLst>
              <a:ext uri="{FF2B5EF4-FFF2-40B4-BE49-F238E27FC236}">
                <a16:creationId xmlns:a16="http://schemas.microsoft.com/office/drawing/2014/main" id="{28F45B2C-2400-4BAA-B231-BDFB22A7F8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913" y="1905000"/>
            <a:ext cx="4856162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A Heap is a </a:t>
            </a:r>
            <a:r>
              <a:rPr lang="en-US" altLang="en-US" sz="2800" u="sng">
                <a:latin typeface="Tahoma" panose="020B0604030504040204" pitchFamily="34" charset="0"/>
              </a:rPr>
              <a:t>complete</a:t>
            </a:r>
            <a:r>
              <a:rPr lang="en-US" altLang="en-US" sz="2800">
                <a:latin typeface="Tahoma" panose="020B0604030504040204" pitchFamily="34" charset="0"/>
              </a:rPr>
              <a:t> tree.</a:t>
            </a:r>
          </a:p>
        </p:txBody>
      </p:sp>
      <p:grpSp>
        <p:nvGrpSpPr>
          <p:cNvPr id="8196" name="Group 1" descr="The same complete tree again:&#10;Row 0: 15&#10;Row 1: 11, 10&#10;Row 2: 7, 8, 9">
            <a:extLst>
              <a:ext uri="{FF2B5EF4-FFF2-40B4-BE49-F238E27FC236}">
                <a16:creationId xmlns:a16="http://schemas.microsoft.com/office/drawing/2014/main" id="{7EE11D7F-48D6-4A9F-B56E-CCFB4EE93BF6}"/>
              </a:ext>
            </a:extLst>
          </p:cNvPr>
          <p:cNvGrpSpPr>
            <a:grpSpLocks/>
          </p:cNvGrpSpPr>
          <p:nvPr/>
        </p:nvGrpSpPr>
        <p:grpSpPr bwMode="auto">
          <a:xfrm>
            <a:off x="509588" y="2884488"/>
            <a:ext cx="2667000" cy="1524000"/>
            <a:chOff x="2590800" y="3733800"/>
            <a:chExt cx="2667000" cy="1524000"/>
          </a:xfrm>
        </p:grpSpPr>
        <p:sp>
          <p:nvSpPr>
            <p:cNvPr id="8208" name="Oval 3">
              <a:extLst>
                <a:ext uri="{FF2B5EF4-FFF2-40B4-BE49-F238E27FC236}">
                  <a16:creationId xmlns:a16="http://schemas.microsoft.com/office/drawing/2014/main" id="{CD56CE58-0F88-43E7-9A68-74EC8E176E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62400" y="3733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Tahoma" panose="020B0604030504040204" pitchFamily="34" charset="0"/>
                </a:rPr>
                <a:t>15</a:t>
              </a:r>
            </a:p>
          </p:txBody>
        </p:sp>
        <p:sp>
          <p:nvSpPr>
            <p:cNvPr id="8209" name="Oval 4">
              <a:extLst>
                <a:ext uri="{FF2B5EF4-FFF2-40B4-BE49-F238E27FC236}">
                  <a16:creationId xmlns:a16="http://schemas.microsoft.com/office/drawing/2014/main" id="{A22485CD-1FD7-41D8-9A9E-22D134B8A2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0400" y="42672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11</a:t>
              </a:r>
            </a:p>
          </p:txBody>
        </p:sp>
        <p:sp>
          <p:nvSpPr>
            <p:cNvPr id="8210" name="Oval 5">
              <a:extLst>
                <a:ext uri="{FF2B5EF4-FFF2-40B4-BE49-F238E27FC236}">
                  <a16:creationId xmlns:a16="http://schemas.microsoft.com/office/drawing/2014/main" id="{282DC1BD-A743-4A3B-88D9-35E38CAA3B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0800" y="48006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7</a:t>
              </a:r>
            </a:p>
          </p:txBody>
        </p:sp>
        <p:sp>
          <p:nvSpPr>
            <p:cNvPr id="8211" name="Oval 6">
              <a:extLst>
                <a:ext uri="{FF2B5EF4-FFF2-40B4-BE49-F238E27FC236}">
                  <a16:creationId xmlns:a16="http://schemas.microsoft.com/office/drawing/2014/main" id="{97857560-E357-407C-9E9F-F20EBE864E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57600" y="48006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8</a:t>
              </a:r>
            </a:p>
          </p:txBody>
        </p:sp>
        <p:sp>
          <p:nvSpPr>
            <p:cNvPr id="8212" name="Oval 7">
              <a:extLst>
                <a:ext uri="{FF2B5EF4-FFF2-40B4-BE49-F238E27FC236}">
                  <a16:creationId xmlns:a16="http://schemas.microsoft.com/office/drawing/2014/main" id="{37E35BA3-2D1B-4017-B886-8882254B5D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24400" y="41910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10</a:t>
              </a:r>
            </a:p>
          </p:txBody>
        </p:sp>
        <p:sp>
          <p:nvSpPr>
            <p:cNvPr id="8213" name="Oval 8">
              <a:extLst>
                <a:ext uri="{FF2B5EF4-FFF2-40B4-BE49-F238E27FC236}">
                  <a16:creationId xmlns:a16="http://schemas.microsoft.com/office/drawing/2014/main" id="{05945FD9-2C4B-481E-82B1-CC2A35214CF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19600" y="48006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9</a:t>
              </a:r>
            </a:p>
          </p:txBody>
        </p:sp>
      </p:grpSp>
      <p:sp>
        <p:nvSpPr>
          <p:cNvPr id="8197" name="WordArt 11">
            <a:extLst>
              <a:ext uri="{FF2B5EF4-FFF2-40B4-BE49-F238E27FC236}">
                <a16:creationId xmlns:a16="http://schemas.microsoft.com/office/drawing/2014/main" id="{350334BE-1E5D-4705-8BC6-A9364349A62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371600" y="533400"/>
            <a:ext cx="62484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heap</a:t>
            </a:r>
          </a:p>
        </p:txBody>
      </p:sp>
      <p:sp>
        <p:nvSpPr>
          <p:cNvPr id="8198" name="Text Box 2">
            <a:extLst>
              <a:ext uri="{FF2B5EF4-FFF2-40B4-BE49-F238E27FC236}">
                <a16:creationId xmlns:a16="http://schemas.microsoft.com/office/drawing/2014/main" id="{346D05C8-BABF-409A-9D7D-A5C33F037EF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1775" y="4643438"/>
            <a:ext cx="3875088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[ 15, 11, 10, 7, 8, 9 ]</a:t>
            </a:r>
          </a:p>
        </p:txBody>
      </p:sp>
      <p:grpSp>
        <p:nvGrpSpPr>
          <p:cNvPr id="8199" name="Group 2" descr="Not a complete tree:&#10;Row 0:&#10;Root: 15&#10;Row 1:&#10;Left child of 15: 11&#10;Right child of 15: 10&#10;Row 2:&#10;Left child of 11: 7&#10;Left child of 10: 8&#10;Right child of 10: 9">
            <a:extLst>
              <a:ext uri="{FF2B5EF4-FFF2-40B4-BE49-F238E27FC236}">
                <a16:creationId xmlns:a16="http://schemas.microsoft.com/office/drawing/2014/main" id="{BC133F8E-3ACF-4D94-A0CB-3BD3F50912B0}"/>
              </a:ext>
            </a:extLst>
          </p:cNvPr>
          <p:cNvGrpSpPr>
            <a:grpSpLocks/>
          </p:cNvGrpSpPr>
          <p:nvPr/>
        </p:nvGrpSpPr>
        <p:grpSpPr bwMode="auto">
          <a:xfrm>
            <a:off x="4819650" y="3990975"/>
            <a:ext cx="3086100" cy="1524000"/>
            <a:chOff x="4991100" y="3429000"/>
            <a:chExt cx="3086100" cy="1524000"/>
          </a:xfrm>
        </p:grpSpPr>
        <p:sp>
          <p:nvSpPr>
            <p:cNvPr id="8202" name="Oval 3">
              <a:extLst>
                <a:ext uri="{FF2B5EF4-FFF2-40B4-BE49-F238E27FC236}">
                  <a16:creationId xmlns:a16="http://schemas.microsoft.com/office/drawing/2014/main" id="{F551CE62-77F3-440C-9D20-E845175A63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62700" y="34290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Tahoma" panose="020B0604030504040204" pitchFamily="34" charset="0"/>
                </a:rPr>
                <a:t>15</a:t>
              </a:r>
            </a:p>
          </p:txBody>
        </p:sp>
        <p:sp>
          <p:nvSpPr>
            <p:cNvPr id="8203" name="Oval 4">
              <a:extLst>
                <a:ext uri="{FF2B5EF4-FFF2-40B4-BE49-F238E27FC236}">
                  <a16:creationId xmlns:a16="http://schemas.microsoft.com/office/drawing/2014/main" id="{B144DAD3-73CC-43A8-B4E9-8301854452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00700" y="39624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latin typeface="Tahoma" panose="020B0604030504040204" pitchFamily="34" charset="0"/>
                </a:rPr>
                <a:t>11</a:t>
              </a:r>
            </a:p>
          </p:txBody>
        </p:sp>
        <p:sp>
          <p:nvSpPr>
            <p:cNvPr id="8204" name="Oval 5">
              <a:extLst>
                <a:ext uri="{FF2B5EF4-FFF2-40B4-BE49-F238E27FC236}">
                  <a16:creationId xmlns:a16="http://schemas.microsoft.com/office/drawing/2014/main" id="{2BE5EAE0-FC09-4411-A6D2-7541223168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91100" y="4495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7</a:t>
              </a:r>
            </a:p>
          </p:txBody>
        </p:sp>
        <p:sp>
          <p:nvSpPr>
            <p:cNvPr id="8205" name="Oval 6">
              <a:extLst>
                <a:ext uri="{FF2B5EF4-FFF2-40B4-BE49-F238E27FC236}">
                  <a16:creationId xmlns:a16="http://schemas.microsoft.com/office/drawing/2014/main" id="{7435D8B3-3CE8-4440-A9D4-B672415517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781800" y="4495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8</a:t>
              </a:r>
            </a:p>
          </p:txBody>
        </p:sp>
        <p:sp>
          <p:nvSpPr>
            <p:cNvPr id="8206" name="Oval 7">
              <a:extLst>
                <a:ext uri="{FF2B5EF4-FFF2-40B4-BE49-F238E27FC236}">
                  <a16:creationId xmlns:a16="http://schemas.microsoft.com/office/drawing/2014/main" id="{D9F2F040-A0E7-4356-8726-8249FE6FF62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24700" y="38862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10</a:t>
              </a:r>
            </a:p>
          </p:txBody>
        </p:sp>
        <p:sp>
          <p:nvSpPr>
            <p:cNvPr id="8207" name="Oval 8">
              <a:extLst>
                <a:ext uri="{FF2B5EF4-FFF2-40B4-BE49-F238E27FC236}">
                  <a16:creationId xmlns:a16="http://schemas.microsoft.com/office/drawing/2014/main" id="{4414EC26-E91F-41DA-869D-9E6D896CE1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543800" y="4495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>
                  <a:latin typeface="Tahoma" panose="020B0604030504040204" pitchFamily="34" charset="0"/>
                </a:rPr>
                <a:t>9</a:t>
              </a:r>
            </a:p>
          </p:txBody>
        </p:sp>
      </p:grpSp>
      <p:sp>
        <p:nvSpPr>
          <p:cNvPr id="8200" name="Text Box 2">
            <a:extLst>
              <a:ext uri="{FF2B5EF4-FFF2-40B4-BE49-F238E27FC236}">
                <a16:creationId xmlns:a16="http://schemas.microsoft.com/office/drawing/2014/main" id="{C4F30C29-B91C-478D-99BD-03DD9FE7A03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30663" y="5711825"/>
            <a:ext cx="4664075" cy="522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[ 15, 11, 10, 7,</a:t>
            </a:r>
            <a:r>
              <a:rPr lang="en-US" altLang="en-US" sz="2800">
                <a:solidFill>
                  <a:srgbClr val="C00000"/>
                </a:solidFill>
                <a:latin typeface="Tahoma" panose="020B0604030504040204" pitchFamily="34" charset="0"/>
              </a:rPr>
              <a:t>null</a:t>
            </a:r>
            <a:r>
              <a:rPr lang="en-US" altLang="en-US" sz="2800">
                <a:latin typeface="Tahoma" panose="020B0604030504040204" pitchFamily="34" charset="0"/>
              </a:rPr>
              <a:t>, 8, 9 ]</a:t>
            </a:r>
          </a:p>
        </p:txBody>
      </p:sp>
      <p:sp>
        <p:nvSpPr>
          <p:cNvPr id="8201" name="Text Box 2">
            <a:extLst>
              <a:ext uri="{FF2B5EF4-FFF2-40B4-BE49-F238E27FC236}">
                <a16:creationId xmlns:a16="http://schemas.microsoft.com/office/drawing/2014/main" id="{E43C1F41-CB6D-4C29-ABD5-464611DCD1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10138" y="3308350"/>
            <a:ext cx="2732087" cy="523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solidFill>
                  <a:srgbClr val="C00000"/>
                </a:solidFill>
                <a:latin typeface="Tahoma" panose="020B0604030504040204" pitchFamily="34" charset="0"/>
              </a:rPr>
              <a:t>Not complete: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Footer Placeholder 3">
            <a:extLst>
              <a:ext uri="{FF2B5EF4-FFF2-40B4-BE49-F238E27FC236}">
                <a16:creationId xmlns:a16="http://schemas.microsoft.com/office/drawing/2014/main" id="{F41CBFCC-2455-469A-9A86-A4F5A2FE584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0243" name="Text Box 2">
            <a:extLst>
              <a:ext uri="{FF2B5EF4-FFF2-40B4-BE49-F238E27FC236}">
                <a16:creationId xmlns:a16="http://schemas.microsoft.com/office/drawing/2014/main" id="{E3D9E709-66C4-490C-928A-42218C1A307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925" y="590550"/>
            <a:ext cx="1841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10244" name="Text Box 4">
            <a:extLst>
              <a:ext uri="{FF2B5EF4-FFF2-40B4-BE49-F238E27FC236}">
                <a16:creationId xmlns:a16="http://schemas.microsoft.com/office/drawing/2014/main" id="{8B9B497E-82DA-4683-A09A-FEDEEAA998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8125" y="4781550"/>
            <a:ext cx="1841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10245" name="WordArt 22">
            <a:extLst>
              <a:ext uri="{FF2B5EF4-FFF2-40B4-BE49-F238E27FC236}">
                <a16:creationId xmlns:a16="http://schemas.microsoft.com/office/drawing/2014/main" id="{D49C1834-3604-41FC-BC83-AF33057FD5A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371600" y="533400"/>
            <a:ext cx="62484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max heap</a:t>
            </a:r>
          </a:p>
        </p:txBody>
      </p:sp>
      <p:sp>
        <p:nvSpPr>
          <p:cNvPr id="10246" name="Text Box 23">
            <a:extLst>
              <a:ext uri="{FF2B5EF4-FFF2-40B4-BE49-F238E27FC236}">
                <a16:creationId xmlns:a16="http://schemas.microsoft.com/office/drawing/2014/main" id="{155864BE-96D8-45DD-8CE6-32D3DB3B31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0742" y="4419600"/>
            <a:ext cx="7217040" cy="954107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A heap is a max heap by default. 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Every parent is larger than its children.</a:t>
            </a:r>
          </a:p>
        </p:txBody>
      </p:sp>
      <p:grpSp>
        <p:nvGrpSpPr>
          <p:cNvPr id="2" name="Group 1" descr="Here is a verbal description of the given max heap:&#10;&#10;The tree has the number **90** as its root node. This root has two children:  &#10;&#10;- The left child is **45**, which has two children:&#10;  - The left child of **45** is **30**.&#10;  - The right child of **45** is **39**.&#10;&#10;- The right child of the root (**90**) is **43**, which has one child:&#10;  - The left child of **43** is **38**.&#10;&#10;This structure follows the max-heap property: each parent node is greater than or equal to its child nodes.">
            <a:extLst>
              <a:ext uri="{FF2B5EF4-FFF2-40B4-BE49-F238E27FC236}">
                <a16:creationId xmlns:a16="http://schemas.microsoft.com/office/drawing/2014/main" id="{5E3BCAE1-7508-F198-1364-66865DDA6287}"/>
              </a:ext>
            </a:extLst>
          </p:cNvPr>
          <p:cNvGrpSpPr/>
          <p:nvPr/>
        </p:nvGrpSpPr>
        <p:grpSpPr>
          <a:xfrm>
            <a:off x="1219200" y="2133600"/>
            <a:ext cx="5834063" cy="1524000"/>
            <a:chOff x="1219200" y="2133600"/>
            <a:chExt cx="5834063" cy="1524000"/>
          </a:xfrm>
        </p:grpSpPr>
        <p:sp>
          <p:nvSpPr>
            <p:cNvPr id="10247" name="Oval 24">
              <a:extLst>
                <a:ext uri="{FF2B5EF4-FFF2-40B4-BE49-F238E27FC236}">
                  <a16:creationId xmlns:a16="http://schemas.microsoft.com/office/drawing/2014/main" id="{45EFDA91-CB09-42D1-A151-F2F5822F91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574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>
                  <a:latin typeface="Tahoma" panose="020B0604030504040204" pitchFamily="34" charset="0"/>
                </a:rPr>
                <a:t>45</a:t>
              </a:r>
            </a:p>
          </p:txBody>
        </p:sp>
        <p:sp>
          <p:nvSpPr>
            <p:cNvPr id="10248" name="Oval 25">
              <a:extLst>
                <a:ext uri="{FF2B5EF4-FFF2-40B4-BE49-F238E27FC236}">
                  <a16:creationId xmlns:a16="http://schemas.microsoft.com/office/drawing/2014/main" id="{C12C4548-4738-433B-BA53-1BB896FABA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19200" y="32004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>
                  <a:latin typeface="Tahoma" panose="020B0604030504040204" pitchFamily="34" charset="0"/>
                </a:rPr>
                <a:t>30</a:t>
              </a:r>
            </a:p>
          </p:txBody>
        </p:sp>
        <p:sp>
          <p:nvSpPr>
            <p:cNvPr id="10249" name="Oval 26">
              <a:extLst>
                <a:ext uri="{FF2B5EF4-FFF2-40B4-BE49-F238E27FC236}">
                  <a16:creationId xmlns:a16="http://schemas.microsoft.com/office/drawing/2014/main" id="{A2896CD4-6A38-4F77-8D2A-4B0673198D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5600" y="32004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>
                  <a:latin typeface="Tahoma" panose="020B0604030504040204" pitchFamily="34" charset="0"/>
                </a:rPr>
                <a:t>39</a:t>
              </a:r>
            </a:p>
          </p:txBody>
        </p:sp>
        <p:sp>
          <p:nvSpPr>
            <p:cNvPr id="10250" name="Oval 27">
              <a:extLst>
                <a:ext uri="{FF2B5EF4-FFF2-40B4-BE49-F238E27FC236}">
                  <a16:creationId xmlns:a16="http://schemas.microsoft.com/office/drawing/2014/main" id="{4F638107-F838-4502-9723-AF273EB52A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48400" y="26670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>
                  <a:latin typeface="Tahoma" panose="020B0604030504040204" pitchFamily="34" charset="0"/>
                </a:rPr>
                <a:t>43</a:t>
              </a:r>
            </a:p>
          </p:txBody>
        </p:sp>
        <p:sp>
          <p:nvSpPr>
            <p:cNvPr id="10251" name="Oval 28">
              <a:extLst>
                <a:ext uri="{FF2B5EF4-FFF2-40B4-BE49-F238E27FC236}">
                  <a16:creationId xmlns:a16="http://schemas.microsoft.com/office/drawing/2014/main" id="{C9F90B9C-90A9-457F-8ED6-98ABFE59073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10200" y="32004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 dirty="0">
                  <a:latin typeface="Tahoma" panose="020B0604030504040204" pitchFamily="34" charset="0"/>
                </a:rPr>
                <a:t>38</a:t>
              </a:r>
            </a:p>
          </p:txBody>
        </p:sp>
        <p:sp>
          <p:nvSpPr>
            <p:cNvPr id="10252" name="Oval 29">
              <a:extLst>
                <a:ext uri="{FF2B5EF4-FFF2-40B4-BE49-F238E27FC236}">
                  <a16:creationId xmlns:a16="http://schemas.microsoft.com/office/drawing/2014/main" id="{036E3018-D6EB-4D5D-800A-DF319A8E1A1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91000" y="2133600"/>
              <a:ext cx="804863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b="0">
                  <a:latin typeface="Tahoma" panose="020B0604030504040204" pitchFamily="34" charset="0"/>
                </a:rPr>
                <a:t>90</a:t>
              </a:r>
            </a:p>
          </p:txBody>
        </p:sp>
        <p:sp>
          <p:nvSpPr>
            <p:cNvPr id="10253" name="Line 30">
              <a:extLst>
                <a:ext uri="{FF2B5EF4-FFF2-40B4-BE49-F238E27FC236}">
                  <a16:creationId xmlns:a16="http://schemas.microsoft.com/office/drawing/2014/main" id="{81C24A32-F4BB-4518-ABDB-B12D891E34AE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819400" y="2438400"/>
              <a:ext cx="1371600" cy="3048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4" name="Line 31">
              <a:extLst>
                <a:ext uri="{FF2B5EF4-FFF2-40B4-BE49-F238E27FC236}">
                  <a16:creationId xmlns:a16="http://schemas.microsoft.com/office/drawing/2014/main" id="{63983A78-B2F6-4E07-89C2-DB848BC89AC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029200" y="2438400"/>
              <a:ext cx="1219200" cy="3048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5" name="Line 32">
              <a:extLst>
                <a:ext uri="{FF2B5EF4-FFF2-40B4-BE49-F238E27FC236}">
                  <a16:creationId xmlns:a16="http://schemas.microsoft.com/office/drawing/2014/main" id="{DF1B7CED-F550-4A2E-8ABB-1C59315A1646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1905000" y="3048000"/>
              <a:ext cx="2286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6" name="Line 33">
              <a:extLst>
                <a:ext uri="{FF2B5EF4-FFF2-40B4-BE49-F238E27FC236}">
                  <a16:creationId xmlns:a16="http://schemas.microsoft.com/office/drawing/2014/main" id="{315F1981-45FD-4CCF-95F0-EE217C97AF0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096000" y="3048000"/>
              <a:ext cx="2286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257" name="Line 34">
              <a:extLst>
                <a:ext uri="{FF2B5EF4-FFF2-40B4-BE49-F238E27FC236}">
                  <a16:creationId xmlns:a16="http://schemas.microsoft.com/office/drawing/2014/main" id="{6DBE72F8-D9E0-4A9A-A7CA-48E79799103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743200" y="3048000"/>
              <a:ext cx="304800" cy="152400"/>
            </a:xfrm>
            <a:prstGeom prst="line">
              <a:avLst/>
            </a:prstGeom>
            <a:noFill/>
            <a:ln w="25400">
              <a:solidFill>
                <a:srgbClr val="FF0000"/>
              </a:solidFill>
              <a:round/>
              <a:headEnd type="none" w="sm" len="sm"/>
              <a:tailEnd type="triangle" w="sm" len="sm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Footer Placeholder 3">
            <a:extLst>
              <a:ext uri="{FF2B5EF4-FFF2-40B4-BE49-F238E27FC236}">
                <a16:creationId xmlns:a16="http://schemas.microsoft.com/office/drawing/2014/main" id="{88B70949-74B1-4008-901C-D0BC11E78B5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9219" name="Text Box 2">
            <a:extLst>
              <a:ext uri="{FF2B5EF4-FFF2-40B4-BE49-F238E27FC236}">
                <a16:creationId xmlns:a16="http://schemas.microsoft.com/office/drawing/2014/main" id="{81FE6518-0EC9-4541-9157-9349A8C1FD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2925" y="590550"/>
            <a:ext cx="1841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9220" name="Text Box 16">
            <a:extLst>
              <a:ext uri="{FF2B5EF4-FFF2-40B4-BE49-F238E27FC236}">
                <a16:creationId xmlns:a16="http://schemas.microsoft.com/office/drawing/2014/main" id="{43C2963B-39CF-4059-AC9B-929E5588A0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08125" y="4781550"/>
            <a:ext cx="1841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chemeClr val="tx1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9221" name="Text Box 17">
            <a:extLst>
              <a:ext uri="{FF2B5EF4-FFF2-40B4-BE49-F238E27FC236}">
                <a16:creationId xmlns:a16="http://schemas.microsoft.com/office/drawing/2014/main" id="{C33BECF0-F50B-464B-9E35-0931A8D16B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79656" y="4419600"/>
            <a:ext cx="6845144" cy="954107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A min heap is a binary tree that has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a root smaller than all of its children.</a:t>
            </a:r>
          </a:p>
        </p:txBody>
      </p:sp>
      <p:sp>
        <p:nvSpPr>
          <p:cNvPr id="9222" name="Oval 20">
            <a:extLst>
              <a:ext uri="{FF2B5EF4-FFF2-40B4-BE49-F238E27FC236}">
                <a16:creationId xmlns:a16="http://schemas.microsoft.com/office/drawing/2014/main" id="{6DEF2BE8-E9B9-45C9-BBFD-ABE5402ED4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0" y="2667000"/>
            <a:ext cx="804863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b="0">
                <a:latin typeface="Tahoma" panose="020B0604030504040204" pitchFamily="34" charset="0"/>
              </a:rPr>
              <a:t>18</a:t>
            </a:r>
          </a:p>
        </p:txBody>
      </p:sp>
      <p:sp>
        <p:nvSpPr>
          <p:cNvPr id="9223" name="Oval 21">
            <a:extLst>
              <a:ext uri="{FF2B5EF4-FFF2-40B4-BE49-F238E27FC236}">
                <a16:creationId xmlns:a16="http://schemas.microsoft.com/office/drawing/2014/main" id="{1A2FDAB2-9EB1-4666-A6C3-B155705C2C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1219200" y="3200400"/>
            <a:ext cx="804863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b="0">
                <a:latin typeface="Tahoma" panose="020B0604030504040204" pitchFamily="34" charset="0"/>
              </a:rPr>
              <a:t>20</a:t>
            </a:r>
          </a:p>
        </p:txBody>
      </p:sp>
      <p:sp>
        <p:nvSpPr>
          <p:cNvPr id="9224" name="Oval 22">
            <a:extLst>
              <a:ext uri="{FF2B5EF4-FFF2-40B4-BE49-F238E27FC236}">
                <a16:creationId xmlns:a16="http://schemas.microsoft.com/office/drawing/2014/main" id="{6924B271-5790-4519-A45E-83B152C5B8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95600" y="3200400"/>
            <a:ext cx="804863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b="0">
                <a:latin typeface="Tahoma" panose="020B0604030504040204" pitchFamily="34" charset="0"/>
              </a:rPr>
              <a:t>21</a:t>
            </a:r>
          </a:p>
        </p:txBody>
      </p:sp>
      <p:sp>
        <p:nvSpPr>
          <p:cNvPr id="9225" name="Oval 23">
            <a:extLst>
              <a:ext uri="{FF2B5EF4-FFF2-40B4-BE49-F238E27FC236}">
                <a16:creationId xmlns:a16="http://schemas.microsoft.com/office/drawing/2014/main" id="{230A692C-1025-4260-ACA3-04BFA69AC71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400" y="2667000"/>
            <a:ext cx="804863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b="0">
                <a:latin typeface="Tahoma" panose="020B0604030504040204" pitchFamily="34" charset="0"/>
              </a:rPr>
              <a:t>23</a:t>
            </a:r>
          </a:p>
        </p:txBody>
      </p:sp>
      <p:sp>
        <p:nvSpPr>
          <p:cNvPr id="9226" name="Oval 24">
            <a:extLst>
              <a:ext uri="{FF2B5EF4-FFF2-40B4-BE49-F238E27FC236}">
                <a16:creationId xmlns:a16="http://schemas.microsoft.com/office/drawing/2014/main" id="{165FD51E-8ECA-4B7D-8059-2A345445D8D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10200" y="3200400"/>
            <a:ext cx="804863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b="0">
                <a:latin typeface="Tahoma" panose="020B0604030504040204" pitchFamily="34" charset="0"/>
              </a:rPr>
              <a:t>25</a:t>
            </a:r>
          </a:p>
        </p:txBody>
      </p:sp>
      <p:sp>
        <p:nvSpPr>
          <p:cNvPr id="9227" name="Oval 28">
            <a:extLst>
              <a:ext uri="{FF2B5EF4-FFF2-40B4-BE49-F238E27FC236}">
                <a16:creationId xmlns:a16="http://schemas.microsoft.com/office/drawing/2014/main" id="{9D22314A-B560-466F-B452-DEB030A09F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91000" y="2133600"/>
            <a:ext cx="804863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b="0">
                <a:latin typeface="Tahoma" panose="020B0604030504040204" pitchFamily="34" charset="0"/>
              </a:rPr>
              <a:t>9</a:t>
            </a:r>
          </a:p>
        </p:txBody>
      </p:sp>
      <p:sp>
        <p:nvSpPr>
          <p:cNvPr id="9228" name="Line 29">
            <a:extLst>
              <a:ext uri="{FF2B5EF4-FFF2-40B4-BE49-F238E27FC236}">
                <a16:creationId xmlns:a16="http://schemas.microsoft.com/office/drawing/2014/main" id="{E16653E3-BFC8-4B50-BAA6-244ACECC843D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2819400" y="2438400"/>
            <a:ext cx="1371600" cy="3048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29" name="Line 30">
            <a:extLst>
              <a:ext uri="{FF2B5EF4-FFF2-40B4-BE49-F238E27FC236}">
                <a16:creationId xmlns:a16="http://schemas.microsoft.com/office/drawing/2014/main" id="{59DF05AB-DA0C-46E5-98D4-ADFCB35F5FE7}"/>
              </a:ext>
            </a:extLst>
          </p:cNvPr>
          <p:cNvSpPr>
            <a:spLocks noChangeShapeType="1"/>
          </p:cNvSpPr>
          <p:nvPr/>
        </p:nvSpPr>
        <p:spPr bwMode="auto">
          <a:xfrm>
            <a:off x="5029200" y="2438400"/>
            <a:ext cx="1219200" cy="3048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0" name="Line 31">
            <a:extLst>
              <a:ext uri="{FF2B5EF4-FFF2-40B4-BE49-F238E27FC236}">
                <a16:creationId xmlns:a16="http://schemas.microsoft.com/office/drawing/2014/main" id="{CCAE417B-FB32-47AB-B831-94ACAFFACC8B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1905000" y="3048000"/>
            <a:ext cx="228600" cy="1524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1" name="Line 32">
            <a:extLst>
              <a:ext uri="{FF2B5EF4-FFF2-40B4-BE49-F238E27FC236}">
                <a16:creationId xmlns:a16="http://schemas.microsoft.com/office/drawing/2014/main" id="{AB1666AD-BEA0-49EE-A175-3A287577B460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6096000" y="3048000"/>
            <a:ext cx="228600" cy="1524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2" name="Line 33">
            <a:extLst>
              <a:ext uri="{FF2B5EF4-FFF2-40B4-BE49-F238E27FC236}">
                <a16:creationId xmlns:a16="http://schemas.microsoft.com/office/drawing/2014/main" id="{10CC1D37-CAC8-49C2-8293-8D0B7F29AC0D}"/>
              </a:ext>
            </a:extLst>
          </p:cNvPr>
          <p:cNvSpPr>
            <a:spLocks noChangeShapeType="1"/>
          </p:cNvSpPr>
          <p:nvPr/>
        </p:nvSpPr>
        <p:spPr bwMode="auto">
          <a:xfrm>
            <a:off x="2743200" y="3048000"/>
            <a:ext cx="304800" cy="152400"/>
          </a:xfrm>
          <a:prstGeom prst="line">
            <a:avLst/>
          </a:prstGeom>
          <a:noFill/>
          <a:ln w="25400">
            <a:solidFill>
              <a:srgbClr val="FF0000"/>
            </a:solidFill>
            <a:round/>
            <a:headEnd type="none" w="sm" len="sm"/>
            <a:tailEnd type="triangl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/>
          </a:p>
        </p:txBody>
      </p:sp>
      <p:sp>
        <p:nvSpPr>
          <p:cNvPr id="9233" name="WordArt 35">
            <a:extLst>
              <a:ext uri="{FF2B5EF4-FFF2-40B4-BE49-F238E27FC236}">
                <a16:creationId xmlns:a16="http://schemas.microsoft.com/office/drawing/2014/main" id="{3CA16B09-B570-4F86-844F-D4ED187C87B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371600" y="533400"/>
            <a:ext cx="62484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min heap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Footer Placeholder 3">
            <a:extLst>
              <a:ext uri="{FF2B5EF4-FFF2-40B4-BE49-F238E27FC236}">
                <a16:creationId xmlns:a16="http://schemas.microsoft.com/office/drawing/2014/main" id="{48BC4439-46E0-4526-846E-92DD0D5A6BF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1267" name="Oval 3">
            <a:extLst>
              <a:ext uri="{FF2B5EF4-FFF2-40B4-BE49-F238E27FC236}">
                <a16:creationId xmlns:a16="http://schemas.microsoft.com/office/drawing/2014/main" id="{D5D7034F-1B65-4204-9D0D-280002BB3E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0400" y="24384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15</a:t>
            </a:r>
          </a:p>
        </p:txBody>
      </p:sp>
      <p:sp>
        <p:nvSpPr>
          <p:cNvPr id="11268" name="Oval 4">
            <a:extLst>
              <a:ext uri="{FF2B5EF4-FFF2-40B4-BE49-F238E27FC236}">
                <a16:creationId xmlns:a16="http://schemas.microsoft.com/office/drawing/2014/main" id="{87D2B4F3-2264-4F09-9D98-58BAFE4708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48400" y="29718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11</a:t>
            </a:r>
          </a:p>
        </p:txBody>
      </p:sp>
      <p:sp>
        <p:nvSpPr>
          <p:cNvPr id="11269" name="Oval 5">
            <a:extLst>
              <a:ext uri="{FF2B5EF4-FFF2-40B4-BE49-F238E27FC236}">
                <a16:creationId xmlns:a16="http://schemas.microsoft.com/office/drawing/2014/main" id="{D66976BC-2112-43D5-87C2-654793002F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8800" y="35052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7</a:t>
            </a:r>
          </a:p>
        </p:txBody>
      </p:sp>
      <p:sp>
        <p:nvSpPr>
          <p:cNvPr id="11270" name="Oval 6">
            <a:extLst>
              <a:ext uri="{FF2B5EF4-FFF2-40B4-BE49-F238E27FC236}">
                <a16:creationId xmlns:a16="http://schemas.microsoft.com/office/drawing/2014/main" id="{C5211BDA-185B-42CC-859F-C5022F63BD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05600" y="35052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8</a:t>
            </a:r>
          </a:p>
        </p:txBody>
      </p:sp>
      <p:sp>
        <p:nvSpPr>
          <p:cNvPr id="11271" name="Oval 7">
            <a:extLst>
              <a:ext uri="{FF2B5EF4-FFF2-40B4-BE49-F238E27FC236}">
                <a16:creationId xmlns:a16="http://schemas.microsoft.com/office/drawing/2014/main" id="{E9120756-8CE8-45CF-9076-BEEA457A70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2400" y="28956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10</a:t>
            </a:r>
          </a:p>
        </p:txBody>
      </p:sp>
      <p:sp>
        <p:nvSpPr>
          <p:cNvPr id="11272" name="Oval 8">
            <a:extLst>
              <a:ext uri="{FF2B5EF4-FFF2-40B4-BE49-F238E27FC236}">
                <a16:creationId xmlns:a16="http://schemas.microsoft.com/office/drawing/2014/main" id="{8B2B2AB2-A63C-41A1-ACE5-49E64E17EEB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67600" y="35052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9</a:t>
            </a:r>
          </a:p>
        </p:txBody>
      </p:sp>
      <p:sp>
        <p:nvSpPr>
          <p:cNvPr id="11273" name="Text Box 16">
            <a:extLst>
              <a:ext uri="{FF2B5EF4-FFF2-40B4-BE49-F238E27FC236}">
                <a16:creationId xmlns:a16="http://schemas.microsoft.com/office/drawing/2014/main" id="{2DA5CA1E-E0C4-4FFF-BFC4-1B639D2E57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28800" y="4572000"/>
            <a:ext cx="4876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sp>
        <p:nvSpPr>
          <p:cNvPr id="11274" name="Text Box 17">
            <a:extLst>
              <a:ext uri="{FF2B5EF4-FFF2-40B4-BE49-F238E27FC236}">
                <a16:creationId xmlns:a16="http://schemas.microsoft.com/office/drawing/2014/main" id="{F4AFC753-6101-40B4-AE27-ABCC51AC518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81800" y="1905000"/>
            <a:ext cx="1371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root</a:t>
            </a:r>
          </a:p>
        </p:txBody>
      </p:sp>
      <p:sp>
        <p:nvSpPr>
          <p:cNvPr id="11275" name="WordArt 18">
            <a:extLst>
              <a:ext uri="{FF2B5EF4-FFF2-40B4-BE49-F238E27FC236}">
                <a16:creationId xmlns:a16="http://schemas.microsoft.com/office/drawing/2014/main" id="{0CB84B1E-BDBE-4F32-B1DE-922646A3640C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371600" y="533400"/>
            <a:ext cx="62484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heap</a:t>
            </a:r>
          </a:p>
        </p:txBody>
      </p:sp>
      <p:graphicFrame>
        <p:nvGraphicFramePr>
          <p:cNvPr id="61476" name="Group 36">
            <a:extLst>
              <a:ext uri="{FF2B5EF4-FFF2-40B4-BE49-F238E27FC236}">
                <a16:creationId xmlns:a16="http://schemas.microsoft.com/office/drawing/2014/main" id="{A2DD67B3-4BB5-46FD-A24C-F2BAA63497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2912239"/>
              </p:ext>
            </p:extLst>
          </p:nvPr>
        </p:nvGraphicFramePr>
        <p:xfrm>
          <a:off x="1752600" y="5029200"/>
          <a:ext cx="6019800" cy="5842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Text Box 4">
            <a:extLst>
              <a:ext uri="{FF2B5EF4-FFF2-40B4-BE49-F238E27FC236}">
                <a16:creationId xmlns:a16="http://schemas.microsoft.com/office/drawing/2014/main" id="{AE8A51B1-FBDA-F08E-29E1-D09DFCC18E0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905000"/>
            <a:ext cx="5181600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Because a heap will always be a </a:t>
            </a:r>
            <a:r>
              <a:rPr lang="en-US" altLang="en-US" sz="2800" u="sng" dirty="0">
                <a:latin typeface="Tahoma" panose="020B0604030504040204" pitchFamily="34" charset="0"/>
              </a:rPr>
              <a:t>complete tree</a:t>
            </a:r>
            <a:r>
              <a:rPr lang="en-US" altLang="en-US" sz="2800" dirty="0">
                <a:latin typeface="Tahoma" panose="020B0604030504040204" pitchFamily="34" charset="0"/>
              </a:rPr>
              <a:t>, it makes sense to use an array to store the values.	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Footer Placeholder 3">
            <a:extLst>
              <a:ext uri="{FF2B5EF4-FFF2-40B4-BE49-F238E27FC236}">
                <a16:creationId xmlns:a16="http://schemas.microsoft.com/office/drawing/2014/main" id="{639E4277-861A-4435-AD04-10F7082EA0F2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xfrm>
            <a:off x="6096000" y="6260405"/>
            <a:ext cx="2895600" cy="457200"/>
          </a:xfrm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2291" name="Text Box 3">
            <a:extLst>
              <a:ext uri="{FF2B5EF4-FFF2-40B4-BE49-F238E27FC236}">
                <a16:creationId xmlns:a16="http://schemas.microsoft.com/office/drawing/2014/main" id="{FF0A6C0A-32E3-465F-84AF-DA81D208C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7525" y="2343150"/>
            <a:ext cx="184150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</p:txBody>
      </p:sp>
      <p:sp>
        <p:nvSpPr>
          <p:cNvPr id="12293" name="WordArt 13">
            <a:extLst>
              <a:ext uri="{FF2B5EF4-FFF2-40B4-BE49-F238E27FC236}">
                <a16:creationId xmlns:a16="http://schemas.microsoft.com/office/drawing/2014/main" id="{8FC0B0A8-334E-4C99-A5E8-6580CE580BC5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371600" y="533400"/>
            <a:ext cx="62484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array-based tree</a:t>
            </a:r>
          </a:p>
        </p:txBody>
      </p:sp>
      <p:sp>
        <p:nvSpPr>
          <p:cNvPr id="12294" name="Text Box 14">
            <a:extLst>
              <a:ext uri="{FF2B5EF4-FFF2-40B4-BE49-F238E27FC236}">
                <a16:creationId xmlns:a16="http://schemas.microsoft.com/office/drawing/2014/main" id="{494354C1-420C-437C-9016-9441B3AEB56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3962400"/>
            <a:ext cx="1447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28687" name="Group 15">
            <a:extLst>
              <a:ext uri="{FF2B5EF4-FFF2-40B4-BE49-F238E27FC236}">
                <a16:creationId xmlns:a16="http://schemas.microsoft.com/office/drawing/2014/main" id="{42865627-43DC-4CCF-9750-5E367E5C79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7724538"/>
              </p:ext>
            </p:extLst>
          </p:nvPr>
        </p:nvGraphicFramePr>
        <p:xfrm>
          <a:off x="1447800" y="4419600"/>
          <a:ext cx="6019800" cy="11684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94554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Oval 3">
            <a:extLst>
              <a:ext uri="{FF2B5EF4-FFF2-40B4-BE49-F238E27FC236}">
                <a16:creationId xmlns:a16="http://schemas.microsoft.com/office/drawing/2014/main" id="{160357CF-A330-1CBC-A93C-4D6F8A2D6E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86600" y="22860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15</a:t>
            </a:r>
          </a:p>
        </p:txBody>
      </p:sp>
      <p:sp>
        <p:nvSpPr>
          <p:cNvPr id="3" name="Oval 4">
            <a:extLst>
              <a:ext uri="{FF2B5EF4-FFF2-40B4-BE49-F238E27FC236}">
                <a16:creationId xmlns:a16="http://schemas.microsoft.com/office/drawing/2014/main" id="{A49515C6-ED33-EEF1-A74A-2B94DD4FFD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4600" y="28194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chemeClr val="accent6">
                    <a:lumMod val="75000"/>
                  </a:schemeClr>
                </a:solidFill>
                <a:latin typeface="Tahoma" panose="020B0604030504040204" pitchFamily="34" charset="0"/>
              </a:rPr>
              <a:t>11</a:t>
            </a:r>
          </a:p>
        </p:txBody>
      </p:sp>
      <p:sp>
        <p:nvSpPr>
          <p:cNvPr id="4" name="Oval 5">
            <a:extLst>
              <a:ext uri="{FF2B5EF4-FFF2-40B4-BE49-F238E27FC236}">
                <a16:creationId xmlns:a16="http://schemas.microsoft.com/office/drawing/2014/main" id="{F4AF231E-277C-0E06-5748-846AD149530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00" y="33528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7030A0"/>
                </a:solidFill>
                <a:latin typeface="Tahoma" panose="020B0604030504040204" pitchFamily="34" charset="0"/>
              </a:rPr>
              <a:t>7</a:t>
            </a:r>
          </a:p>
        </p:txBody>
      </p:sp>
      <p:sp>
        <p:nvSpPr>
          <p:cNvPr id="5" name="Oval 6">
            <a:extLst>
              <a:ext uri="{FF2B5EF4-FFF2-40B4-BE49-F238E27FC236}">
                <a16:creationId xmlns:a16="http://schemas.microsoft.com/office/drawing/2014/main" id="{C1E7B078-183C-51D7-77AF-374FBD5658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781800" y="33528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7030A0"/>
                </a:solidFill>
                <a:latin typeface="Tahoma" panose="020B0604030504040204" pitchFamily="34" charset="0"/>
              </a:rPr>
              <a:t>8</a:t>
            </a:r>
          </a:p>
        </p:txBody>
      </p:sp>
      <p:sp>
        <p:nvSpPr>
          <p:cNvPr id="6" name="Oval 7">
            <a:extLst>
              <a:ext uri="{FF2B5EF4-FFF2-40B4-BE49-F238E27FC236}">
                <a16:creationId xmlns:a16="http://schemas.microsoft.com/office/drawing/2014/main" id="{7A06ECE1-6F9D-0272-8CC2-7B18E605D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48600" y="27432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chemeClr val="accent6">
                    <a:lumMod val="75000"/>
                  </a:schemeClr>
                </a:solidFill>
                <a:latin typeface="Tahoma" panose="020B0604030504040204" pitchFamily="34" charset="0"/>
              </a:rPr>
              <a:t>10</a:t>
            </a:r>
          </a:p>
        </p:txBody>
      </p:sp>
      <p:sp>
        <p:nvSpPr>
          <p:cNvPr id="7" name="Oval 8">
            <a:extLst>
              <a:ext uri="{FF2B5EF4-FFF2-40B4-BE49-F238E27FC236}">
                <a16:creationId xmlns:a16="http://schemas.microsoft.com/office/drawing/2014/main" id="{4F466385-48E5-7518-3CAC-805A5C64E68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43800" y="33528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7030A0"/>
                </a:solidFill>
                <a:latin typeface="Tahoma" panose="020B0604030504040204" pitchFamily="34" charset="0"/>
              </a:rPr>
              <a:t>9</a:t>
            </a:r>
          </a:p>
        </p:txBody>
      </p:sp>
      <p:sp>
        <p:nvSpPr>
          <p:cNvPr id="8" name="Text Box 17">
            <a:extLst>
              <a:ext uri="{FF2B5EF4-FFF2-40B4-BE49-F238E27FC236}">
                <a16:creationId xmlns:a16="http://schemas.microsoft.com/office/drawing/2014/main" id="{17FB23E2-1B4D-40B1-141C-37EE4A500D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0" y="1752600"/>
            <a:ext cx="1371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root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A9E9CB5C-833E-1FC8-6496-2E454B12B7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9600" y="1905000"/>
            <a:ext cx="4648200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What formula would give the location of the left child of a node? 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4CDFE2C8-2B3D-E5D8-835A-836C90DC215E}"/>
              </a:ext>
            </a:extLst>
          </p:cNvPr>
          <p:cNvSpPr/>
          <p:nvPr/>
        </p:nvSpPr>
        <p:spPr bwMode="auto">
          <a:xfrm>
            <a:off x="3034145" y="4152768"/>
            <a:ext cx="1884219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B65BD53E-F372-2FA8-9E55-A60E07E7E3B5}"/>
              </a:ext>
            </a:extLst>
          </p:cNvPr>
          <p:cNvSpPr/>
          <p:nvPr/>
        </p:nvSpPr>
        <p:spPr bwMode="auto">
          <a:xfrm>
            <a:off x="3983181" y="4141351"/>
            <a:ext cx="2874819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oter Placeholder 3">
            <a:extLst>
              <a:ext uri="{FF2B5EF4-FFF2-40B4-BE49-F238E27FC236}">
                <a16:creationId xmlns:a16="http://schemas.microsoft.com/office/drawing/2014/main" id="{60D5BFC9-301A-46D6-83BC-2524604398C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3315" name="Text Box 4">
            <a:extLst>
              <a:ext uri="{FF2B5EF4-FFF2-40B4-BE49-F238E27FC236}">
                <a16:creationId xmlns:a16="http://schemas.microsoft.com/office/drawing/2014/main" id="{2A0C5DC9-F78C-49D6-BA7B-72BF5E299A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3938588"/>
            <a:ext cx="7467600" cy="1754326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000099"/>
                </a:solidFill>
                <a:latin typeface="Tahoma" panose="020B0604030504040204" pitchFamily="34" charset="0"/>
              </a:rPr>
              <a:t>left = 2*x + 1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chemeClr val="accent2"/>
              </a:solidFill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left child of 11 node = 2*1 + 1 = 3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left child of 10 node = 2*2 + 1 = 5</a:t>
            </a:r>
          </a:p>
        </p:txBody>
      </p:sp>
      <p:sp>
        <p:nvSpPr>
          <p:cNvPr id="13316" name="WordArt 6">
            <a:extLst>
              <a:ext uri="{FF2B5EF4-FFF2-40B4-BE49-F238E27FC236}">
                <a16:creationId xmlns:a16="http://schemas.microsoft.com/office/drawing/2014/main" id="{CF01B528-738C-4FE4-9D07-BEAC91B0659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371600" y="533400"/>
            <a:ext cx="62484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array-based tree</a:t>
            </a:r>
          </a:p>
        </p:txBody>
      </p:sp>
      <p:sp>
        <p:nvSpPr>
          <p:cNvPr id="2" name="Text Box 14">
            <a:extLst>
              <a:ext uri="{FF2B5EF4-FFF2-40B4-BE49-F238E27FC236}">
                <a16:creationId xmlns:a16="http://schemas.microsoft.com/office/drawing/2014/main" id="{BB61C4C9-E786-15F6-6ECF-CBE7E8F472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1752600"/>
            <a:ext cx="1447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3" name="Group 15">
            <a:extLst>
              <a:ext uri="{FF2B5EF4-FFF2-40B4-BE49-F238E27FC236}">
                <a16:creationId xmlns:a16="http://schemas.microsoft.com/office/drawing/2014/main" id="{5BDD8606-8EDC-8DF0-C335-0FA3DEB1FB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7831835"/>
              </p:ext>
            </p:extLst>
          </p:nvPr>
        </p:nvGraphicFramePr>
        <p:xfrm>
          <a:off x="1447800" y="2209800"/>
          <a:ext cx="6019800" cy="11684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94554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A52E3AD-ABE3-071A-FA32-5C829CCD507B}"/>
              </a:ext>
            </a:extLst>
          </p:cNvPr>
          <p:cNvSpPr/>
          <p:nvPr/>
        </p:nvSpPr>
        <p:spPr bwMode="auto">
          <a:xfrm>
            <a:off x="3034145" y="1916417"/>
            <a:ext cx="1884219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DDFEF83-A313-EF48-DE62-42D8735EE140}"/>
              </a:ext>
            </a:extLst>
          </p:cNvPr>
          <p:cNvSpPr/>
          <p:nvPr/>
        </p:nvSpPr>
        <p:spPr bwMode="auto">
          <a:xfrm>
            <a:off x="3983181" y="1905000"/>
            <a:ext cx="2874819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oter Placeholder 3">
            <a:extLst>
              <a:ext uri="{FF2B5EF4-FFF2-40B4-BE49-F238E27FC236}">
                <a16:creationId xmlns:a16="http://schemas.microsoft.com/office/drawing/2014/main" id="{60D5BFC9-301A-46D6-83BC-2524604398C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3315" name="Text Box 4">
            <a:extLst>
              <a:ext uri="{FF2B5EF4-FFF2-40B4-BE49-F238E27FC236}">
                <a16:creationId xmlns:a16="http://schemas.microsoft.com/office/drawing/2014/main" id="{2A0C5DC9-F78C-49D6-BA7B-72BF5E299A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3938588"/>
            <a:ext cx="7467600" cy="1754326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000099"/>
                </a:solidFill>
                <a:highlight>
                  <a:srgbClr val="FFFF00"/>
                </a:highlight>
                <a:latin typeface="Tahoma" panose="020B0604030504040204" pitchFamily="34" charset="0"/>
              </a:rPr>
              <a:t>right</a:t>
            </a:r>
            <a:r>
              <a:rPr lang="en-US" altLang="en-US" sz="2400" dirty="0">
                <a:solidFill>
                  <a:srgbClr val="000099"/>
                </a:solidFill>
                <a:latin typeface="Tahoma" panose="020B0604030504040204" pitchFamily="34" charset="0"/>
              </a:rPr>
              <a:t> = 2*x + 2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chemeClr val="accent2"/>
              </a:solidFill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right child of 11 node = 2*1 + 2 = 4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right child of 10 node = 2*2 + 2 = 6</a:t>
            </a:r>
          </a:p>
        </p:txBody>
      </p:sp>
      <p:sp>
        <p:nvSpPr>
          <p:cNvPr id="13316" name="WordArt 6">
            <a:extLst>
              <a:ext uri="{FF2B5EF4-FFF2-40B4-BE49-F238E27FC236}">
                <a16:creationId xmlns:a16="http://schemas.microsoft.com/office/drawing/2014/main" id="{CF01B528-738C-4FE4-9D07-BEAC91B0659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371600" y="533400"/>
            <a:ext cx="62484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array-based tree</a:t>
            </a:r>
          </a:p>
        </p:txBody>
      </p:sp>
      <p:sp>
        <p:nvSpPr>
          <p:cNvPr id="2" name="Text Box 14">
            <a:extLst>
              <a:ext uri="{FF2B5EF4-FFF2-40B4-BE49-F238E27FC236}">
                <a16:creationId xmlns:a16="http://schemas.microsoft.com/office/drawing/2014/main" id="{BB61C4C9-E786-15F6-6ECF-CBE7E8F472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1752600"/>
            <a:ext cx="1447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3" name="Group 15">
            <a:extLst>
              <a:ext uri="{FF2B5EF4-FFF2-40B4-BE49-F238E27FC236}">
                <a16:creationId xmlns:a16="http://schemas.microsoft.com/office/drawing/2014/main" id="{5BDD8606-8EDC-8DF0-C335-0FA3DEB1FB37}"/>
              </a:ext>
            </a:extLst>
          </p:cNvPr>
          <p:cNvGraphicFramePr>
            <a:graphicFrameLocks noGrp="1"/>
          </p:cNvGraphicFramePr>
          <p:nvPr/>
        </p:nvGraphicFramePr>
        <p:xfrm>
          <a:off x="1447800" y="2209800"/>
          <a:ext cx="6019800" cy="11684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94554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A52E3AD-ABE3-071A-FA32-5C829CCD507B}"/>
              </a:ext>
            </a:extLst>
          </p:cNvPr>
          <p:cNvSpPr/>
          <p:nvPr/>
        </p:nvSpPr>
        <p:spPr bwMode="auto">
          <a:xfrm>
            <a:off x="3048000" y="1916417"/>
            <a:ext cx="2819400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DDFEF83-A313-EF48-DE62-42D8735EE140}"/>
              </a:ext>
            </a:extLst>
          </p:cNvPr>
          <p:cNvSpPr/>
          <p:nvPr/>
        </p:nvSpPr>
        <p:spPr bwMode="auto">
          <a:xfrm>
            <a:off x="3997036" y="1905000"/>
            <a:ext cx="3699164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995192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oter Placeholder 3">
            <a:extLst>
              <a:ext uri="{FF2B5EF4-FFF2-40B4-BE49-F238E27FC236}">
                <a16:creationId xmlns:a16="http://schemas.microsoft.com/office/drawing/2014/main" id="{60D5BFC9-301A-46D6-83BC-2524604398C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3315" name="Text Box 4">
            <a:extLst>
              <a:ext uri="{FF2B5EF4-FFF2-40B4-BE49-F238E27FC236}">
                <a16:creationId xmlns:a16="http://schemas.microsoft.com/office/drawing/2014/main" id="{2A0C5DC9-F78C-49D6-BA7B-72BF5E299A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3938588"/>
            <a:ext cx="7467600" cy="1754326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000099"/>
                </a:solidFill>
                <a:highlight>
                  <a:srgbClr val="FFFF00"/>
                </a:highlight>
                <a:latin typeface="Tahoma" panose="020B0604030504040204" pitchFamily="34" charset="0"/>
              </a:rPr>
              <a:t>parent</a:t>
            </a:r>
            <a:r>
              <a:rPr lang="en-US" altLang="en-US" sz="2400" dirty="0">
                <a:solidFill>
                  <a:srgbClr val="000099"/>
                </a:solidFill>
                <a:latin typeface="Tahoma" panose="020B0604030504040204" pitchFamily="34" charset="0"/>
              </a:rPr>
              <a:t> = </a:t>
            </a:r>
            <a:r>
              <a:rPr lang="en-US" altLang="en-US" sz="2400" dirty="0">
                <a:solidFill>
                  <a:srgbClr val="FF0000"/>
                </a:solidFill>
                <a:latin typeface="Tahoma" panose="020B0604030504040204" pitchFamily="34" charset="0"/>
              </a:rPr>
              <a:t>1/2 x - 1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chemeClr val="accent2"/>
              </a:solidFill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Parent of 7 node = 1/2 (3 – 1) = 1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Parent of 8 node = 1/2 (4 – 1) = 1</a:t>
            </a:r>
          </a:p>
        </p:txBody>
      </p:sp>
      <p:sp>
        <p:nvSpPr>
          <p:cNvPr id="13316" name="WordArt 6">
            <a:extLst>
              <a:ext uri="{FF2B5EF4-FFF2-40B4-BE49-F238E27FC236}">
                <a16:creationId xmlns:a16="http://schemas.microsoft.com/office/drawing/2014/main" id="{CF01B528-738C-4FE4-9D07-BEAC91B0659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371600" y="533400"/>
            <a:ext cx="62484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array-based tree</a:t>
            </a:r>
          </a:p>
        </p:txBody>
      </p:sp>
      <p:sp>
        <p:nvSpPr>
          <p:cNvPr id="2" name="Text Box 14">
            <a:extLst>
              <a:ext uri="{FF2B5EF4-FFF2-40B4-BE49-F238E27FC236}">
                <a16:creationId xmlns:a16="http://schemas.microsoft.com/office/drawing/2014/main" id="{BB61C4C9-E786-15F6-6ECF-CBE7E8F472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1752600"/>
            <a:ext cx="1447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3" name="Group 15">
            <a:extLst>
              <a:ext uri="{FF2B5EF4-FFF2-40B4-BE49-F238E27FC236}">
                <a16:creationId xmlns:a16="http://schemas.microsoft.com/office/drawing/2014/main" id="{5BDD8606-8EDC-8DF0-C335-0FA3DEB1FB37}"/>
              </a:ext>
            </a:extLst>
          </p:cNvPr>
          <p:cNvGraphicFramePr>
            <a:graphicFrameLocks noGrp="1"/>
          </p:cNvGraphicFramePr>
          <p:nvPr/>
        </p:nvGraphicFramePr>
        <p:xfrm>
          <a:off x="1447800" y="2209800"/>
          <a:ext cx="6019800" cy="11684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94554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A52E3AD-ABE3-071A-FA32-5C829CCD507B}"/>
              </a:ext>
            </a:extLst>
          </p:cNvPr>
          <p:cNvSpPr/>
          <p:nvPr/>
        </p:nvSpPr>
        <p:spPr bwMode="auto">
          <a:xfrm flipH="1">
            <a:off x="3048000" y="1916417"/>
            <a:ext cx="1870364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DDFEF83-A313-EF48-DE62-42D8735EE140}"/>
              </a:ext>
            </a:extLst>
          </p:cNvPr>
          <p:cNvSpPr/>
          <p:nvPr/>
        </p:nvSpPr>
        <p:spPr bwMode="auto">
          <a:xfrm flipH="1">
            <a:off x="3048000" y="1905000"/>
            <a:ext cx="2819400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6830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Footer Placeholder 3">
            <a:extLst>
              <a:ext uri="{FF2B5EF4-FFF2-40B4-BE49-F238E27FC236}">
                <a16:creationId xmlns:a16="http://schemas.microsoft.com/office/drawing/2014/main" id="{60D5BFC9-301A-46D6-83BC-2524604398C0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3315" name="Text Box 4">
            <a:extLst>
              <a:ext uri="{FF2B5EF4-FFF2-40B4-BE49-F238E27FC236}">
                <a16:creationId xmlns:a16="http://schemas.microsoft.com/office/drawing/2014/main" id="{2A0C5DC9-F78C-49D6-BA7B-72BF5E299A1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3938588"/>
            <a:ext cx="7467600" cy="1754326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000099"/>
                </a:solidFill>
                <a:highlight>
                  <a:srgbClr val="FFFF00"/>
                </a:highlight>
                <a:latin typeface="Tahoma" panose="020B0604030504040204" pitchFamily="34" charset="0"/>
              </a:rPr>
              <a:t>parent</a:t>
            </a:r>
            <a:r>
              <a:rPr lang="en-US" altLang="en-US" sz="2400" dirty="0">
                <a:solidFill>
                  <a:srgbClr val="000099"/>
                </a:solidFill>
                <a:latin typeface="Tahoma" panose="020B0604030504040204" pitchFamily="34" charset="0"/>
              </a:rPr>
              <a:t> = 1/2 (x – 1)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solidFill>
                <a:schemeClr val="accent2"/>
              </a:solidFill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Parent of 7 node = 1/2 (3 – 1) = 1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>
                <a:solidFill>
                  <a:schemeClr val="accent2"/>
                </a:solidFill>
                <a:latin typeface="Tahoma" panose="020B0604030504040204" pitchFamily="34" charset="0"/>
              </a:rPr>
              <a:t>Parent of 8 node = 1/2 (4 – 1) = 1</a:t>
            </a:r>
          </a:p>
        </p:txBody>
      </p:sp>
      <p:sp>
        <p:nvSpPr>
          <p:cNvPr id="13316" name="WordArt 6">
            <a:extLst>
              <a:ext uri="{FF2B5EF4-FFF2-40B4-BE49-F238E27FC236}">
                <a16:creationId xmlns:a16="http://schemas.microsoft.com/office/drawing/2014/main" id="{CF01B528-738C-4FE4-9D07-BEAC91B06592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371600" y="533400"/>
            <a:ext cx="62484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array-based tree</a:t>
            </a:r>
          </a:p>
        </p:txBody>
      </p:sp>
      <p:sp>
        <p:nvSpPr>
          <p:cNvPr id="2" name="Text Box 14">
            <a:extLst>
              <a:ext uri="{FF2B5EF4-FFF2-40B4-BE49-F238E27FC236}">
                <a16:creationId xmlns:a16="http://schemas.microsoft.com/office/drawing/2014/main" id="{BB61C4C9-E786-15F6-6ECF-CBE7E8F472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7800" y="1752600"/>
            <a:ext cx="1447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 dirty="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3" name="Group 15">
            <a:extLst>
              <a:ext uri="{FF2B5EF4-FFF2-40B4-BE49-F238E27FC236}">
                <a16:creationId xmlns:a16="http://schemas.microsoft.com/office/drawing/2014/main" id="{5BDD8606-8EDC-8DF0-C335-0FA3DEB1FB37}"/>
              </a:ext>
            </a:extLst>
          </p:cNvPr>
          <p:cNvGraphicFramePr>
            <a:graphicFrameLocks noGrp="1"/>
          </p:cNvGraphicFramePr>
          <p:nvPr/>
        </p:nvGraphicFramePr>
        <p:xfrm>
          <a:off x="1447800" y="2209800"/>
          <a:ext cx="6019800" cy="11684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0</a:t>
                      </a:r>
                    </a:p>
                  </a:txBody>
                  <a:tcPr anchor="ctr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1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2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3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4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Tahoma" pitchFamily="34" charset="0"/>
                        </a:rPr>
                        <a:t>5</a:t>
                      </a:r>
                    </a:p>
                  </a:txBody>
                  <a:tcPr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5945543"/>
                  </a:ext>
                </a:extLst>
              </a:tr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rgbClr val="000099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A52E3AD-ABE3-071A-FA32-5C829CCD507B}"/>
              </a:ext>
            </a:extLst>
          </p:cNvPr>
          <p:cNvSpPr/>
          <p:nvPr/>
        </p:nvSpPr>
        <p:spPr bwMode="auto">
          <a:xfrm flipH="1">
            <a:off x="3048000" y="1916417"/>
            <a:ext cx="1870364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3DDFEF83-A313-EF48-DE62-42D8735EE140}"/>
              </a:ext>
            </a:extLst>
          </p:cNvPr>
          <p:cNvSpPr/>
          <p:nvPr/>
        </p:nvSpPr>
        <p:spPr bwMode="auto">
          <a:xfrm flipH="1">
            <a:off x="3048000" y="1905000"/>
            <a:ext cx="2819400" cy="419231"/>
          </a:xfrm>
          <a:custGeom>
            <a:avLst/>
            <a:gdLst>
              <a:gd name="connsiteX0" fmla="*/ 0 w 1939637"/>
              <a:gd name="connsiteY0" fmla="*/ 251286 h 389831"/>
              <a:gd name="connsiteX1" fmla="*/ 547255 w 1939637"/>
              <a:gd name="connsiteY1" fmla="*/ 57322 h 389831"/>
              <a:gd name="connsiteX2" fmla="*/ 1239982 w 1939637"/>
              <a:gd name="connsiteY2" fmla="*/ 8831 h 389831"/>
              <a:gd name="connsiteX3" fmla="*/ 1759528 w 1939637"/>
              <a:gd name="connsiteY3" fmla="*/ 209722 h 389831"/>
              <a:gd name="connsiteX4" fmla="*/ 1939637 w 1939637"/>
              <a:gd name="connsiteY4" fmla="*/ 389831 h 389831"/>
              <a:gd name="connsiteX0" fmla="*/ 0 w 1884219"/>
              <a:gd name="connsiteY0" fmla="*/ 365159 h 392868"/>
              <a:gd name="connsiteX1" fmla="*/ 491837 w 1884219"/>
              <a:gd name="connsiteY1" fmla="*/ 60359 h 392868"/>
              <a:gd name="connsiteX2" fmla="*/ 1184564 w 1884219"/>
              <a:gd name="connsiteY2" fmla="*/ 11868 h 392868"/>
              <a:gd name="connsiteX3" fmla="*/ 1704110 w 1884219"/>
              <a:gd name="connsiteY3" fmla="*/ 212759 h 392868"/>
              <a:gd name="connsiteX4" fmla="*/ 1884219 w 1884219"/>
              <a:gd name="connsiteY4" fmla="*/ 392868 h 392868"/>
              <a:gd name="connsiteX0" fmla="*/ 0 w 1884219"/>
              <a:gd name="connsiteY0" fmla="*/ 354658 h 382367"/>
              <a:gd name="connsiteX1" fmla="*/ 339437 w 1884219"/>
              <a:gd name="connsiteY1" fmla="*/ 126058 h 382367"/>
              <a:gd name="connsiteX2" fmla="*/ 1184564 w 1884219"/>
              <a:gd name="connsiteY2" fmla="*/ 1367 h 382367"/>
              <a:gd name="connsiteX3" fmla="*/ 1704110 w 1884219"/>
              <a:gd name="connsiteY3" fmla="*/ 202258 h 382367"/>
              <a:gd name="connsiteX4" fmla="*/ 1884219 w 1884219"/>
              <a:gd name="connsiteY4" fmla="*/ 382367 h 382367"/>
              <a:gd name="connsiteX0" fmla="*/ 0 w 1884219"/>
              <a:gd name="connsiteY0" fmla="*/ 360029 h 387738"/>
              <a:gd name="connsiteX1" fmla="*/ 339437 w 1884219"/>
              <a:gd name="connsiteY1" fmla="*/ 131429 h 387738"/>
              <a:gd name="connsiteX2" fmla="*/ 706582 w 1884219"/>
              <a:gd name="connsiteY2" fmla="*/ 55229 h 387738"/>
              <a:gd name="connsiteX3" fmla="*/ 1184564 w 1884219"/>
              <a:gd name="connsiteY3" fmla="*/ 6738 h 387738"/>
              <a:gd name="connsiteX4" fmla="*/ 1704110 w 1884219"/>
              <a:gd name="connsiteY4" fmla="*/ 207629 h 387738"/>
              <a:gd name="connsiteX5" fmla="*/ 1884219 w 1884219"/>
              <a:gd name="connsiteY5" fmla="*/ 387738 h 387738"/>
              <a:gd name="connsiteX0" fmla="*/ 0 w 1884219"/>
              <a:gd name="connsiteY0" fmla="*/ 391522 h 419231"/>
              <a:gd name="connsiteX1" fmla="*/ 339437 w 1884219"/>
              <a:gd name="connsiteY1" fmla="*/ 162922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256310 w 1884219"/>
              <a:gd name="connsiteY1" fmla="*/ 176777 h 419231"/>
              <a:gd name="connsiteX2" fmla="*/ 692728 w 1884219"/>
              <a:gd name="connsiteY2" fmla="*/ 10522 h 419231"/>
              <a:gd name="connsiteX3" fmla="*/ 1184564 w 1884219"/>
              <a:gd name="connsiteY3" fmla="*/ 38231 h 419231"/>
              <a:gd name="connsiteX4" fmla="*/ 1704110 w 1884219"/>
              <a:gd name="connsiteY4" fmla="*/ 239122 h 419231"/>
              <a:gd name="connsiteX5" fmla="*/ 1884219 w 1884219"/>
              <a:gd name="connsiteY5" fmla="*/ 419231 h 419231"/>
              <a:gd name="connsiteX0" fmla="*/ 0 w 1884219"/>
              <a:gd name="connsiteY0" fmla="*/ 391522 h 419231"/>
              <a:gd name="connsiteX1" fmla="*/ 96982 w 1884219"/>
              <a:gd name="connsiteY1" fmla="*/ 308396 h 419231"/>
              <a:gd name="connsiteX2" fmla="*/ 256310 w 1884219"/>
              <a:gd name="connsiteY2" fmla="*/ 176777 h 419231"/>
              <a:gd name="connsiteX3" fmla="*/ 692728 w 1884219"/>
              <a:gd name="connsiteY3" fmla="*/ 10522 h 419231"/>
              <a:gd name="connsiteX4" fmla="*/ 1184564 w 1884219"/>
              <a:gd name="connsiteY4" fmla="*/ 38231 h 419231"/>
              <a:gd name="connsiteX5" fmla="*/ 1704110 w 1884219"/>
              <a:gd name="connsiteY5" fmla="*/ 239122 h 419231"/>
              <a:gd name="connsiteX6" fmla="*/ 1884219 w 1884219"/>
              <a:gd name="connsiteY6" fmla="*/ 419231 h 4192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84219" h="419231">
                <a:moveTo>
                  <a:pt x="0" y="391522"/>
                </a:moveTo>
                <a:cubicBezTo>
                  <a:pt x="20782" y="377668"/>
                  <a:pt x="54264" y="344187"/>
                  <a:pt x="96982" y="308396"/>
                </a:cubicBezTo>
                <a:cubicBezTo>
                  <a:pt x="139700" y="272605"/>
                  <a:pt x="157019" y="226423"/>
                  <a:pt x="256310" y="176777"/>
                </a:cubicBezTo>
                <a:cubicBezTo>
                  <a:pt x="355601" y="127131"/>
                  <a:pt x="551874" y="31304"/>
                  <a:pt x="692728" y="10522"/>
                </a:cubicBezTo>
                <a:cubicBezTo>
                  <a:pt x="833582" y="-10260"/>
                  <a:pt x="1016000" y="131"/>
                  <a:pt x="1184564" y="38231"/>
                </a:cubicBezTo>
                <a:cubicBezTo>
                  <a:pt x="1353128" y="76331"/>
                  <a:pt x="1587501" y="175622"/>
                  <a:pt x="1704110" y="239122"/>
                </a:cubicBezTo>
                <a:cubicBezTo>
                  <a:pt x="1820719" y="302622"/>
                  <a:pt x="1852469" y="360926"/>
                  <a:pt x="1884219" y="419231"/>
                </a:cubicBezTo>
              </a:path>
            </a:pathLst>
          </a:custGeom>
          <a:noFill/>
          <a:ln w="28575" cap="flat" cmpd="sng" algn="ctr">
            <a:solidFill>
              <a:srgbClr val="0070C0"/>
            </a:solidFill>
            <a:prstDash val="solid"/>
            <a:round/>
            <a:headEnd type="none" w="med" len="med"/>
            <a:tailEnd type="triangle" w="med" len="med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Tahom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234926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Footer Placeholder 3">
            <a:extLst>
              <a:ext uri="{FF2B5EF4-FFF2-40B4-BE49-F238E27FC236}">
                <a16:creationId xmlns:a16="http://schemas.microsoft.com/office/drawing/2014/main" id="{79E9CB33-3ECA-4F1C-9830-53FB6AE183C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4339" name="WordArt 3">
            <a:extLst>
              <a:ext uri="{FF2B5EF4-FFF2-40B4-BE49-F238E27FC236}">
                <a16:creationId xmlns:a16="http://schemas.microsoft.com/office/drawing/2014/main" id="{09F05F84-2BB8-459F-8C0A-19C2D8363047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981200" y="457200"/>
            <a:ext cx="4876800" cy="609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add</a:t>
            </a:r>
          </a:p>
        </p:txBody>
      </p:sp>
      <p:sp>
        <p:nvSpPr>
          <p:cNvPr id="14340" name="Text Box 4">
            <a:extLst>
              <a:ext uri="{FF2B5EF4-FFF2-40B4-BE49-F238E27FC236}">
                <a16:creationId xmlns:a16="http://schemas.microsoft.com/office/drawing/2014/main" id="{E0FE57FF-D88F-433F-9D72-0F0ED0B867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1828800"/>
            <a:ext cx="7580313" cy="35083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The easiest way to add a new item to a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heap implemented with an array is to</a:t>
            </a:r>
            <a:br>
              <a:rPr lang="en-US" altLang="en-US" sz="2800">
                <a:latin typeface="Tahoma" panose="020B0604030504040204" pitchFamily="34" charset="0"/>
              </a:rPr>
            </a:br>
            <a:r>
              <a:rPr lang="en-US" altLang="en-US" sz="2800">
                <a:latin typeface="Tahoma" panose="020B0604030504040204" pitchFamily="34" charset="0"/>
              </a:rPr>
              <a:t>add the new value at the end of the array</a:t>
            </a:r>
            <a:br>
              <a:rPr lang="en-US" altLang="en-US" sz="2800">
                <a:latin typeface="Tahoma" panose="020B0604030504040204" pitchFamily="34" charset="0"/>
              </a:rPr>
            </a:br>
            <a:r>
              <a:rPr lang="en-US" altLang="en-US" sz="2800">
                <a:latin typeface="Tahoma" panose="020B0604030504040204" pitchFamily="34" charset="0"/>
              </a:rPr>
              <a:t>and then move the new item up the tree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as far as it needs to go.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add will use swapUp to restructure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the tree so that it remains a heap.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Footer Placeholder 3">
            <a:extLst>
              <a:ext uri="{FF2B5EF4-FFF2-40B4-BE49-F238E27FC236}">
                <a16:creationId xmlns:a16="http://schemas.microsoft.com/office/drawing/2014/main" id="{27C47EF3-6BBD-4243-9AAC-70AA61E76B0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5363" name="Oval 4">
            <a:extLst>
              <a:ext uri="{FF2B5EF4-FFF2-40B4-BE49-F238E27FC236}">
                <a16:creationId xmlns:a16="http://schemas.microsoft.com/office/drawing/2014/main" id="{C666959C-B082-4041-8EF7-83DAFAB669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22860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15</a:t>
            </a:r>
          </a:p>
        </p:txBody>
      </p:sp>
      <p:sp>
        <p:nvSpPr>
          <p:cNvPr id="15364" name="Oval 5">
            <a:extLst>
              <a:ext uri="{FF2B5EF4-FFF2-40B4-BE49-F238E27FC236}">
                <a16:creationId xmlns:a16="http://schemas.microsoft.com/office/drawing/2014/main" id="{1DCF00EF-6114-4903-90D2-28FD173F4C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28194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11</a:t>
            </a:r>
          </a:p>
        </p:txBody>
      </p:sp>
      <p:sp>
        <p:nvSpPr>
          <p:cNvPr id="15365" name="Oval 6">
            <a:extLst>
              <a:ext uri="{FF2B5EF4-FFF2-40B4-BE49-F238E27FC236}">
                <a16:creationId xmlns:a16="http://schemas.microsoft.com/office/drawing/2014/main" id="{C5DA303B-C82B-4347-BF89-F0BEC9978E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4600" y="33528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7</a:t>
            </a:r>
          </a:p>
        </p:txBody>
      </p:sp>
      <p:sp>
        <p:nvSpPr>
          <p:cNvPr id="15366" name="Oval 7">
            <a:extLst>
              <a:ext uri="{FF2B5EF4-FFF2-40B4-BE49-F238E27FC236}">
                <a16:creationId xmlns:a16="http://schemas.microsoft.com/office/drawing/2014/main" id="{A154C241-AA57-4518-8693-F71A033136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1400" y="33528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8</a:t>
            </a:r>
          </a:p>
        </p:txBody>
      </p:sp>
      <p:sp>
        <p:nvSpPr>
          <p:cNvPr id="15367" name="Oval 8">
            <a:extLst>
              <a:ext uri="{FF2B5EF4-FFF2-40B4-BE49-F238E27FC236}">
                <a16:creationId xmlns:a16="http://schemas.microsoft.com/office/drawing/2014/main" id="{03A0F057-217A-4883-8B88-9D61AAF677CD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8200" y="27432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rgbClr val="00B050"/>
                </a:solidFill>
                <a:latin typeface="Tahoma" panose="020B0604030504040204" pitchFamily="34" charset="0"/>
              </a:rPr>
              <a:t>10</a:t>
            </a:r>
          </a:p>
        </p:txBody>
      </p:sp>
      <p:sp>
        <p:nvSpPr>
          <p:cNvPr id="15368" name="Oval 9">
            <a:extLst>
              <a:ext uri="{FF2B5EF4-FFF2-40B4-BE49-F238E27FC236}">
                <a16:creationId xmlns:a16="http://schemas.microsoft.com/office/drawing/2014/main" id="{4A51E9D9-32B0-4035-AF72-DE0F818A3F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33528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9</a:t>
            </a:r>
          </a:p>
        </p:txBody>
      </p:sp>
      <p:sp>
        <p:nvSpPr>
          <p:cNvPr id="15369" name="Text Box 10">
            <a:extLst>
              <a:ext uri="{FF2B5EF4-FFF2-40B4-BE49-F238E27FC236}">
                <a16:creationId xmlns:a16="http://schemas.microsoft.com/office/drawing/2014/main" id="{CE0D10A6-976C-4915-9D4E-737678FC5B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57600" y="1752600"/>
            <a:ext cx="1371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root</a:t>
            </a:r>
          </a:p>
        </p:txBody>
      </p:sp>
      <p:sp>
        <p:nvSpPr>
          <p:cNvPr id="15371" name="WordArt 14">
            <a:extLst>
              <a:ext uri="{FF2B5EF4-FFF2-40B4-BE49-F238E27FC236}">
                <a16:creationId xmlns:a16="http://schemas.microsoft.com/office/drawing/2014/main" id="{26572449-6D4B-471E-AB65-526CC11F77D5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981200" y="457200"/>
            <a:ext cx="4876800" cy="609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swapUp</a:t>
            </a:r>
          </a:p>
        </p:txBody>
      </p:sp>
      <p:sp>
        <p:nvSpPr>
          <p:cNvPr id="15372" name="Text Box 15">
            <a:extLst>
              <a:ext uri="{FF2B5EF4-FFF2-40B4-BE49-F238E27FC236}">
                <a16:creationId xmlns:a16="http://schemas.microsoft.com/office/drawing/2014/main" id="{10B16E40-274A-46EC-8992-7FB8A6A83E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4267200"/>
            <a:ext cx="640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62498" name="Group 34">
            <a:extLst>
              <a:ext uri="{FF2B5EF4-FFF2-40B4-BE49-F238E27FC236}">
                <a16:creationId xmlns:a16="http://schemas.microsoft.com/office/drawing/2014/main" id="{4EBDA24C-B63E-40A7-9C47-55F2DCCAAD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2955089"/>
              </p:ext>
            </p:extLst>
          </p:nvPr>
        </p:nvGraphicFramePr>
        <p:xfrm>
          <a:off x="914400" y="4724400"/>
          <a:ext cx="7023100" cy="5842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sz="2400" b="1" i="0" u="none" strike="noStrike" cap="none" normalizeH="0" baseline="0" dirty="0">
                        <a:ln>
                          <a:noFill/>
                        </a:ln>
                        <a:solidFill>
                          <a:srgbClr val="FF3300"/>
                        </a:solidFill>
                        <a:effectLst/>
                        <a:latin typeface="Tahoma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8" name="Group 7">
            <a:extLst>
              <a:ext uri="{FF2B5EF4-FFF2-40B4-BE49-F238E27FC236}">
                <a16:creationId xmlns:a16="http://schemas.microsoft.com/office/drawing/2014/main" id="{DBC1A5CE-C623-F4BD-1571-AE588994A5A2}"/>
              </a:ext>
            </a:extLst>
          </p:cNvPr>
          <p:cNvGrpSpPr/>
          <p:nvPr/>
        </p:nvGrpSpPr>
        <p:grpSpPr>
          <a:xfrm>
            <a:off x="5105400" y="3352800"/>
            <a:ext cx="2590800" cy="1856432"/>
            <a:chOff x="5105400" y="3352800"/>
            <a:chExt cx="2590800" cy="1856432"/>
          </a:xfrm>
        </p:grpSpPr>
        <p:sp>
          <p:nvSpPr>
            <p:cNvPr id="15370" name="Oval 11">
              <a:extLst>
                <a:ext uri="{FF2B5EF4-FFF2-40B4-BE49-F238E27FC236}">
                  <a16:creationId xmlns:a16="http://schemas.microsoft.com/office/drawing/2014/main" id="{AA614C30-783B-4D20-B831-22061704C1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05400" y="3352800"/>
              <a:ext cx="533400" cy="457200"/>
            </a:xfrm>
            <a:prstGeom prst="ellipse">
              <a:avLst/>
            </a:prstGeom>
            <a:solidFill>
              <a:srgbClr val="CCFFCC"/>
            </a:solidFill>
            <a:ln w="12700">
              <a:solidFill>
                <a:schemeClr val="tx1"/>
              </a:solidFill>
              <a:round/>
              <a:headEnd type="none" w="sm" len="sm"/>
              <a:tailEnd type="none" w="sm" len="sm"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400" dirty="0">
                  <a:solidFill>
                    <a:srgbClr val="7030A0"/>
                  </a:solidFill>
                  <a:latin typeface="Tahoma" panose="020B0604030504040204" pitchFamily="34" charset="0"/>
                </a:rPr>
                <a:t>12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D34B447-189C-DA55-1E78-C66F0F71FEFD}"/>
                </a:ext>
              </a:extLst>
            </p:cNvPr>
            <p:cNvSpPr txBox="1"/>
            <p:nvPr/>
          </p:nvSpPr>
          <p:spPr>
            <a:xfrm>
              <a:off x="7010400" y="4747567"/>
              <a:ext cx="685800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200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sz="2400" b="1" i="0" u="none" strike="noStrike" cap="none" normalizeH="0" baseline="0" dirty="0">
                  <a:ln>
                    <a:noFill/>
                  </a:ln>
                  <a:solidFill>
                    <a:srgbClr val="7030A0"/>
                  </a:solidFill>
                  <a:effectLst/>
                  <a:latin typeface="Tahoma" pitchFamily="34" charset="0"/>
                </a:rPr>
                <a:t>12</a:t>
              </a:r>
            </a:p>
          </p:txBody>
        </p: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ABB47756-D9C7-AEE5-76CC-079AA6C4C247}"/>
              </a:ext>
            </a:extLst>
          </p:cNvPr>
          <p:cNvSpPr txBox="1"/>
          <p:nvPr/>
        </p:nvSpPr>
        <p:spPr>
          <a:xfrm>
            <a:off x="533400" y="1577109"/>
            <a:ext cx="1981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>
                <a:solidFill>
                  <a:srgbClr val="7030A0"/>
                </a:solidFill>
              </a:rPr>
              <a:t>a</a:t>
            </a:r>
            <a:r>
              <a:rPr kumimoji="0" lang="en-US" sz="2400" b="1" i="0" u="none" strike="noStrike" cap="none" normalizeH="0" baseline="0" dirty="0">
                <a:ln>
                  <a:noFill/>
                </a:ln>
                <a:solidFill>
                  <a:srgbClr val="7030A0"/>
                </a:solidFill>
                <a:effectLst/>
                <a:latin typeface="Tahoma" pitchFamily="34" charset="0"/>
              </a:rPr>
              <a:t>dd(12)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Footer Placeholder 3">
            <a:extLst>
              <a:ext uri="{FF2B5EF4-FFF2-40B4-BE49-F238E27FC236}">
                <a16:creationId xmlns:a16="http://schemas.microsoft.com/office/drawing/2014/main" id="{C7086906-D50D-44D1-8291-67E5AB90615C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6387" name="Oval 3">
            <a:extLst>
              <a:ext uri="{FF2B5EF4-FFF2-40B4-BE49-F238E27FC236}">
                <a16:creationId xmlns:a16="http://schemas.microsoft.com/office/drawing/2014/main" id="{04B08345-9EE5-4552-B29E-8D045FD67F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22860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rgbClr val="00B050"/>
                </a:solidFill>
                <a:latin typeface="Tahoma" panose="020B0604030504040204" pitchFamily="34" charset="0"/>
              </a:rPr>
              <a:t>15</a:t>
            </a:r>
          </a:p>
        </p:txBody>
      </p:sp>
      <p:sp>
        <p:nvSpPr>
          <p:cNvPr id="16388" name="Oval 4">
            <a:extLst>
              <a:ext uri="{FF2B5EF4-FFF2-40B4-BE49-F238E27FC236}">
                <a16:creationId xmlns:a16="http://schemas.microsoft.com/office/drawing/2014/main" id="{EF026D5E-3566-4791-A94E-1C853573DA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28194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11</a:t>
            </a:r>
          </a:p>
        </p:txBody>
      </p:sp>
      <p:sp>
        <p:nvSpPr>
          <p:cNvPr id="16389" name="Oval 5">
            <a:extLst>
              <a:ext uri="{FF2B5EF4-FFF2-40B4-BE49-F238E27FC236}">
                <a16:creationId xmlns:a16="http://schemas.microsoft.com/office/drawing/2014/main" id="{93EB0E0F-DC6F-4A8E-873E-924379C7B4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4600" y="33528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7</a:t>
            </a:r>
          </a:p>
        </p:txBody>
      </p:sp>
      <p:sp>
        <p:nvSpPr>
          <p:cNvPr id="16390" name="Oval 6">
            <a:extLst>
              <a:ext uri="{FF2B5EF4-FFF2-40B4-BE49-F238E27FC236}">
                <a16:creationId xmlns:a16="http://schemas.microsoft.com/office/drawing/2014/main" id="{DF744C43-0428-460F-8F4E-3EBA301E62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1400" y="33528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8</a:t>
            </a:r>
          </a:p>
        </p:txBody>
      </p:sp>
      <p:sp>
        <p:nvSpPr>
          <p:cNvPr id="16391" name="Oval 7">
            <a:extLst>
              <a:ext uri="{FF2B5EF4-FFF2-40B4-BE49-F238E27FC236}">
                <a16:creationId xmlns:a16="http://schemas.microsoft.com/office/drawing/2014/main" id="{9DB1E140-87CD-4312-8639-1E0FE75BCF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8200" y="27432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dirty="0">
                <a:solidFill>
                  <a:srgbClr val="7030A0"/>
                </a:solidFill>
                <a:latin typeface="Tahoma" panose="020B0604030504040204" pitchFamily="34" charset="0"/>
              </a:rPr>
              <a:t>12</a:t>
            </a:r>
          </a:p>
        </p:txBody>
      </p:sp>
      <p:sp>
        <p:nvSpPr>
          <p:cNvPr id="16392" name="Oval 8">
            <a:extLst>
              <a:ext uri="{FF2B5EF4-FFF2-40B4-BE49-F238E27FC236}">
                <a16:creationId xmlns:a16="http://schemas.microsoft.com/office/drawing/2014/main" id="{EBB20D89-AB44-4377-B625-898CEE7FC03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33528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9</a:t>
            </a:r>
          </a:p>
        </p:txBody>
      </p:sp>
      <p:sp>
        <p:nvSpPr>
          <p:cNvPr id="16393" name="Text Box 9">
            <a:extLst>
              <a:ext uri="{FF2B5EF4-FFF2-40B4-BE49-F238E27FC236}">
                <a16:creationId xmlns:a16="http://schemas.microsoft.com/office/drawing/2014/main" id="{B6FCF144-9ADE-433D-99CF-A7BBBAE241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57600" y="1752600"/>
            <a:ext cx="1371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root</a:t>
            </a:r>
          </a:p>
        </p:txBody>
      </p:sp>
      <p:sp>
        <p:nvSpPr>
          <p:cNvPr id="16394" name="Oval 10">
            <a:extLst>
              <a:ext uri="{FF2B5EF4-FFF2-40B4-BE49-F238E27FC236}">
                <a16:creationId xmlns:a16="http://schemas.microsoft.com/office/drawing/2014/main" id="{53A83D33-82FD-4EB9-9579-76195BED78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5400" y="33528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10</a:t>
            </a:r>
          </a:p>
        </p:txBody>
      </p:sp>
      <p:sp>
        <p:nvSpPr>
          <p:cNvPr id="16395" name="WordArt 14">
            <a:extLst>
              <a:ext uri="{FF2B5EF4-FFF2-40B4-BE49-F238E27FC236}">
                <a16:creationId xmlns:a16="http://schemas.microsoft.com/office/drawing/2014/main" id="{51DC4F83-F02D-494F-B1A5-135EC413E3E8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981200" y="457200"/>
            <a:ext cx="4876800" cy="609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swapUp</a:t>
            </a:r>
          </a:p>
        </p:txBody>
      </p:sp>
      <p:sp>
        <p:nvSpPr>
          <p:cNvPr id="16396" name="Text Box 32">
            <a:extLst>
              <a:ext uri="{FF2B5EF4-FFF2-40B4-BE49-F238E27FC236}">
                <a16:creationId xmlns:a16="http://schemas.microsoft.com/office/drawing/2014/main" id="{6D56320F-0A8A-48EC-9239-0E2FDB0799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4267200"/>
            <a:ext cx="640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63521" name="Group 33">
            <a:extLst>
              <a:ext uri="{FF2B5EF4-FFF2-40B4-BE49-F238E27FC236}">
                <a16:creationId xmlns:a16="http://schemas.microsoft.com/office/drawing/2014/main" id="{0D709862-4132-464C-863D-D965FB59A7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384046"/>
              </p:ext>
            </p:extLst>
          </p:nvPr>
        </p:nvGraphicFramePr>
        <p:xfrm>
          <a:off x="914400" y="4724400"/>
          <a:ext cx="7023100" cy="5842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00B050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latin typeface="Tahoma" pitchFamily="34" charset="0"/>
                        </a:rPr>
                        <a:t>12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C333FDD0-FDB1-BD04-7146-8AB88837E98F}"/>
              </a:ext>
            </a:extLst>
          </p:cNvPr>
          <p:cNvSpPr txBox="1"/>
          <p:nvPr/>
        </p:nvSpPr>
        <p:spPr>
          <a:xfrm>
            <a:off x="533400" y="1577109"/>
            <a:ext cx="1981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dirty="0" err="1">
                <a:solidFill>
                  <a:srgbClr val="FF3300"/>
                </a:solidFill>
              </a:rPr>
              <a:t>swapUp</a:t>
            </a:r>
            <a:r>
              <a:rPr lang="en-US" dirty="0">
                <a:solidFill>
                  <a:srgbClr val="FF3300"/>
                </a:solidFill>
              </a:rPr>
              <a:t>()</a:t>
            </a:r>
            <a:endParaRPr kumimoji="0" lang="en-US" sz="2400" b="1" i="0" u="none" strike="noStrike" cap="none" normalizeH="0" baseline="0" dirty="0">
              <a:ln>
                <a:noFill/>
              </a:ln>
              <a:solidFill>
                <a:srgbClr val="FF3300"/>
              </a:solidFill>
              <a:effectLst/>
              <a:latin typeface="Tahoma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BC853762-519A-4C4F-A55A-9D27B07ED18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>
              <a:defRPr/>
            </a:pPr>
            <a:endParaRPr lang="en-US">
              <a:latin typeface="+mn-lt"/>
            </a:endParaRPr>
          </a:p>
          <a:p>
            <a:pPr>
              <a:defRPr/>
            </a:pPr>
            <a:endParaRPr lang="en-US" b="0"/>
          </a:p>
          <a:p>
            <a:pPr>
              <a:defRPr/>
            </a:pPr>
            <a:endParaRPr lang="en-US"/>
          </a:p>
          <a:p>
            <a:pPr>
              <a:defRPr/>
            </a:pPr>
            <a:r>
              <a:rPr lang="en-US"/>
              <a:t>© A+ Computer Science  -  www.apluscompsci.com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E90B3ED-5B96-43BE-9976-D786A3B040DA}"/>
              </a:ext>
            </a:extLst>
          </p:cNvPr>
          <p:cNvSpPr txBox="1"/>
          <p:nvPr/>
        </p:nvSpPr>
        <p:spPr>
          <a:xfrm>
            <a:off x="914400" y="685800"/>
            <a:ext cx="7239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cap="small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Swapping Elements in an Array:</a:t>
            </a:r>
            <a:endParaRPr lang="en-US" sz="3600" cap="small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B96BF00-4D35-4AC6-A66C-1EBE55B8B7A3}"/>
              </a:ext>
            </a:extLst>
          </p:cNvPr>
          <p:cNvSpPr txBox="1"/>
          <p:nvPr/>
        </p:nvSpPr>
        <p:spPr>
          <a:xfrm>
            <a:off x="990600" y="1676400"/>
            <a:ext cx="73914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swap(int[] ray, int start, int stop)</a:t>
            </a:r>
            <a:br>
              <a:rPr lang="en-US" sz="360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</a:br>
            <a:r>
              <a:rPr lang="en-US" sz="360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{</a:t>
            </a:r>
            <a:endParaRPr lang="en-US" sz="3600" dirty="0">
              <a:effectLst/>
            </a:endParaRPr>
          </a:p>
          <a:p>
            <a:r>
              <a:rPr lang="en-US" sz="360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   int temp = ray[start];</a:t>
            </a:r>
            <a:endParaRPr lang="en-US" sz="3600" dirty="0">
              <a:effectLst/>
            </a:endParaRPr>
          </a:p>
          <a:p>
            <a:r>
              <a:rPr lang="en-US" sz="360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   ray[start] = ray[stop];</a:t>
            </a:r>
            <a:endParaRPr lang="en-US" sz="3600" dirty="0">
              <a:effectLst/>
            </a:endParaRPr>
          </a:p>
          <a:p>
            <a:r>
              <a:rPr lang="en-US" sz="360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   ray[stop] = temp;</a:t>
            </a:r>
            <a:endParaRPr lang="en-US" sz="3600" dirty="0">
              <a:effectLst/>
            </a:endParaRPr>
          </a:p>
          <a:p>
            <a:r>
              <a:rPr lang="en-US" sz="360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}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4025717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Footer Placeholder 3">
            <a:extLst>
              <a:ext uri="{FF2B5EF4-FFF2-40B4-BE49-F238E27FC236}">
                <a16:creationId xmlns:a16="http://schemas.microsoft.com/office/drawing/2014/main" id="{FEC12786-53A5-450F-B27E-EDA83FD2C43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7411" name="Text Box 11">
            <a:extLst>
              <a:ext uri="{FF2B5EF4-FFF2-40B4-BE49-F238E27FC236}">
                <a16:creationId xmlns:a16="http://schemas.microsoft.com/office/drawing/2014/main" id="{2306292D-E868-4EC1-A1BD-4FC3043E3A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5400" y="1219200"/>
            <a:ext cx="6705600" cy="47894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int bot = length-1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while( bot&gt;0 )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{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    int parent = (bot-1)/2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    if list[parent] &lt; list[bot]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       swap list[parent] and list[bot]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       bot = parent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   else 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       stop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>
                <a:latin typeface="Tahoma" panose="020B0604030504040204" pitchFamily="34" charset="0"/>
              </a:rPr>
              <a:t>}</a:t>
            </a:r>
          </a:p>
        </p:txBody>
      </p:sp>
      <p:sp>
        <p:nvSpPr>
          <p:cNvPr id="17412" name="WordArt 14">
            <a:extLst>
              <a:ext uri="{FF2B5EF4-FFF2-40B4-BE49-F238E27FC236}">
                <a16:creationId xmlns:a16="http://schemas.microsoft.com/office/drawing/2014/main" id="{1977562D-6DE4-4D5B-8F73-353F51587BE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981200" y="457200"/>
            <a:ext cx="4876800" cy="609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swapUp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Footer Placeholder 3">
            <a:extLst>
              <a:ext uri="{FF2B5EF4-FFF2-40B4-BE49-F238E27FC236}">
                <a16:creationId xmlns:a16="http://schemas.microsoft.com/office/drawing/2014/main" id="{FEC12786-53A5-450F-B27E-EDA83FD2C43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7411" name="Text Box 11">
            <a:extLst>
              <a:ext uri="{FF2B5EF4-FFF2-40B4-BE49-F238E27FC236}">
                <a16:creationId xmlns:a16="http://schemas.microsoft.com/office/drawing/2014/main" id="{2306292D-E868-4EC1-A1BD-4FC3043E3A7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66800" y="1219200"/>
            <a:ext cx="7924800" cy="39703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800" dirty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int bot = length-1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int parent = (bot-1)/2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while( bot&gt;0 and list[parent] &lt; list[bot])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{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    swap list[parent] and list[bot]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    bot = parent</a:t>
            </a:r>
          </a:p>
          <a:p>
            <a:pPr>
              <a:spcBef>
                <a:spcPct val="0"/>
              </a:spcBef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    parent = (bot-1)/2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800" dirty="0">
                <a:latin typeface="Tahoma" panose="020B0604030504040204" pitchFamily="34" charset="0"/>
              </a:rPr>
              <a:t>}</a:t>
            </a:r>
          </a:p>
        </p:txBody>
      </p:sp>
      <p:sp>
        <p:nvSpPr>
          <p:cNvPr id="17412" name="WordArt 14">
            <a:extLst>
              <a:ext uri="{FF2B5EF4-FFF2-40B4-BE49-F238E27FC236}">
                <a16:creationId xmlns:a16="http://schemas.microsoft.com/office/drawing/2014/main" id="{1977562D-6DE4-4D5B-8F73-353F51587BE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981200" y="457200"/>
            <a:ext cx="4876800" cy="609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swapUp</a:t>
            </a:r>
          </a:p>
        </p:txBody>
      </p:sp>
    </p:spTree>
    <p:extLst>
      <p:ext uri="{BB962C8B-B14F-4D97-AF65-F5344CB8AC3E}">
        <p14:creationId xmlns:p14="http://schemas.microsoft.com/office/powerpoint/2010/main" val="24419183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Footer Placeholder 3">
            <a:extLst>
              <a:ext uri="{FF2B5EF4-FFF2-40B4-BE49-F238E27FC236}">
                <a16:creationId xmlns:a16="http://schemas.microsoft.com/office/drawing/2014/main" id="{7E062428-28CB-4A5B-9389-D1CC16CA4BE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8435" name="Text Box 3">
            <a:extLst>
              <a:ext uri="{FF2B5EF4-FFF2-40B4-BE49-F238E27FC236}">
                <a16:creationId xmlns:a16="http://schemas.microsoft.com/office/drawing/2014/main" id="{A94F099D-DFAC-44F2-8937-27A3DB8BB7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2000" y="1600200"/>
            <a:ext cx="7772400" cy="31130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swapUp starts access at the bottom of tree</a:t>
            </a:r>
            <a:endParaRPr lang="en-US" altLang="en-US" sz="1800">
              <a:solidFill>
                <a:srgbClr val="FF3300"/>
              </a:solidFill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>
              <a:solidFill>
                <a:srgbClr val="FF3300"/>
              </a:solidFill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swapUp checks to see that the bottom index has not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gone past the root of tree.   The root is at index position 0.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Next, locate bottom’s parent = (bot–1) / 2.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Check if bottom is larger than its parent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   If it is  </a:t>
            </a:r>
            <a:r>
              <a:rPr lang="en-US" altLang="en-US" sz="1800">
                <a:latin typeface="Tahoma" panose="020B0604030504040204" pitchFamily="34" charset="0"/>
                <a:sym typeface="Wingdings" panose="05000000000000000000" pitchFamily="2" charset="2"/>
              </a:rPr>
              <a:t></a:t>
            </a:r>
            <a:r>
              <a:rPr lang="en-US" altLang="en-US" sz="1800">
                <a:latin typeface="Tahoma" panose="020B0604030504040204" pitchFamily="34" charset="0"/>
              </a:rPr>
              <a:t>     swap bottom and parent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Finally, set bottom to parent and start the process over.</a:t>
            </a:r>
          </a:p>
        </p:txBody>
      </p:sp>
      <p:sp>
        <p:nvSpPr>
          <p:cNvPr id="18436" name="WordArt 40">
            <a:extLst>
              <a:ext uri="{FF2B5EF4-FFF2-40B4-BE49-F238E27FC236}">
                <a16:creationId xmlns:a16="http://schemas.microsoft.com/office/drawing/2014/main" id="{3FB77FDE-95A7-4EFF-9EF2-8E601B1A1894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981200" y="457200"/>
            <a:ext cx="4876800" cy="609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swapUp</a:t>
            </a:r>
          </a:p>
        </p:txBody>
      </p:sp>
      <p:sp>
        <p:nvSpPr>
          <p:cNvPr id="18437" name="Text Box 42">
            <a:extLst>
              <a:ext uri="{FF2B5EF4-FFF2-40B4-BE49-F238E27FC236}">
                <a16:creationId xmlns:a16="http://schemas.microsoft.com/office/drawing/2014/main" id="{42F1A3A0-5B85-4CC7-AFC2-C66FEF6BA9B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5486400"/>
            <a:ext cx="7620000" cy="406400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  <a:latin typeface="Tahoma" panose="020B0604030504040204" pitchFamily="34" charset="0"/>
              </a:rPr>
              <a:t>This method can be written iteratively or recursively.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8" name="Footer Placeholder 3">
            <a:extLst>
              <a:ext uri="{FF2B5EF4-FFF2-40B4-BE49-F238E27FC236}">
                <a16:creationId xmlns:a16="http://schemas.microsoft.com/office/drawing/2014/main" id="{22828E46-2891-4AB0-9207-5EFD201E37E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9459" name="WordArt 2">
            <a:extLst>
              <a:ext uri="{FF2B5EF4-FFF2-40B4-BE49-F238E27FC236}">
                <a16:creationId xmlns:a16="http://schemas.microsoft.com/office/drawing/2014/main" id="{A0949C4E-995F-42BF-9697-201C4AAD96FB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447800" y="457200"/>
            <a:ext cx="53340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remove max</a:t>
            </a:r>
          </a:p>
        </p:txBody>
      </p:sp>
      <p:sp>
        <p:nvSpPr>
          <p:cNvPr id="19460" name="Text Box 3">
            <a:extLst>
              <a:ext uri="{FF2B5EF4-FFF2-40B4-BE49-F238E27FC236}">
                <a16:creationId xmlns:a16="http://schemas.microsoft.com/office/drawing/2014/main" id="{7F112E06-8875-443B-97E0-CD56DA6C585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200" y="1981200"/>
            <a:ext cx="8001000" cy="44735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When you remove from a Heap, you are taking off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the largest value or value with the highest priority.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You just take the top value off and save it.</a:t>
            </a:r>
          </a:p>
          <a:p>
            <a:pPr>
              <a:spcBef>
                <a:spcPct val="0"/>
              </a:spcBef>
              <a:buFontTx/>
              <a:buNone/>
            </a:pPr>
            <a:br>
              <a:rPr lang="en-US" altLang="en-US" sz="2400">
                <a:latin typeface="Tahoma" panose="020B0604030504040204" pitchFamily="34" charset="0"/>
              </a:rPr>
            </a:br>
            <a:r>
              <a:rPr lang="en-US" altLang="en-US" sz="2400">
                <a:latin typeface="Tahoma" panose="020B0604030504040204" pitchFamily="34" charset="0"/>
              </a:rPr>
              <a:t>Next, you move the last item in the tree to the root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and move the new root down the tree as far as it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can go.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remove will use swapDown to restructure the tree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so it remains a heap.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Footer Placeholder 3">
            <a:extLst>
              <a:ext uri="{FF2B5EF4-FFF2-40B4-BE49-F238E27FC236}">
                <a16:creationId xmlns:a16="http://schemas.microsoft.com/office/drawing/2014/main" id="{A0C23FF2-D673-4048-AEA6-5A39D10D370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14339" name="Oval 3">
            <a:extLst>
              <a:ext uri="{FF2B5EF4-FFF2-40B4-BE49-F238E27FC236}">
                <a16:creationId xmlns:a16="http://schemas.microsoft.com/office/drawing/2014/main" id="{445FDC42-9204-4B86-84A3-1BEF411AF8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22860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15</a:t>
            </a:r>
          </a:p>
        </p:txBody>
      </p:sp>
      <p:sp>
        <p:nvSpPr>
          <p:cNvPr id="20484" name="Oval 4">
            <a:extLst>
              <a:ext uri="{FF2B5EF4-FFF2-40B4-BE49-F238E27FC236}">
                <a16:creationId xmlns:a16="http://schemas.microsoft.com/office/drawing/2014/main" id="{1D0136D5-1C5C-4EBB-8D3A-A3FB92F737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24200" y="28194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11</a:t>
            </a:r>
          </a:p>
        </p:txBody>
      </p:sp>
      <p:sp>
        <p:nvSpPr>
          <p:cNvPr id="20485" name="Oval 5">
            <a:extLst>
              <a:ext uri="{FF2B5EF4-FFF2-40B4-BE49-F238E27FC236}">
                <a16:creationId xmlns:a16="http://schemas.microsoft.com/office/drawing/2014/main" id="{26BF09F4-7208-42C6-A033-894C5EE961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14600" y="33528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7</a:t>
            </a:r>
          </a:p>
        </p:txBody>
      </p:sp>
      <p:sp>
        <p:nvSpPr>
          <p:cNvPr id="20486" name="Oval 6">
            <a:extLst>
              <a:ext uri="{FF2B5EF4-FFF2-40B4-BE49-F238E27FC236}">
                <a16:creationId xmlns:a16="http://schemas.microsoft.com/office/drawing/2014/main" id="{F762E51D-133F-42DB-BAB0-7E29C9E968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81400" y="33528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8</a:t>
            </a:r>
          </a:p>
        </p:txBody>
      </p:sp>
      <p:sp>
        <p:nvSpPr>
          <p:cNvPr id="20487" name="Oval 7">
            <a:extLst>
              <a:ext uri="{FF2B5EF4-FFF2-40B4-BE49-F238E27FC236}">
                <a16:creationId xmlns:a16="http://schemas.microsoft.com/office/drawing/2014/main" id="{F82FE0BC-7C3F-4AAE-9DEC-D09E9D1ABC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48200" y="27432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12</a:t>
            </a:r>
          </a:p>
        </p:txBody>
      </p:sp>
      <p:sp>
        <p:nvSpPr>
          <p:cNvPr id="20488" name="Oval 8">
            <a:extLst>
              <a:ext uri="{FF2B5EF4-FFF2-40B4-BE49-F238E27FC236}">
                <a16:creationId xmlns:a16="http://schemas.microsoft.com/office/drawing/2014/main" id="{85A29DCB-F00F-4FB0-86BE-1473D98D465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3400" y="33528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9</a:t>
            </a:r>
          </a:p>
        </p:txBody>
      </p:sp>
      <p:sp>
        <p:nvSpPr>
          <p:cNvPr id="20489" name="Text Box 9">
            <a:extLst>
              <a:ext uri="{FF2B5EF4-FFF2-40B4-BE49-F238E27FC236}">
                <a16:creationId xmlns:a16="http://schemas.microsoft.com/office/drawing/2014/main" id="{59BC939E-5C28-44F9-B50A-54A2480613D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57600" y="1752600"/>
            <a:ext cx="13716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root</a:t>
            </a:r>
          </a:p>
        </p:txBody>
      </p:sp>
      <p:sp>
        <p:nvSpPr>
          <p:cNvPr id="14346" name="Oval 10">
            <a:extLst>
              <a:ext uri="{FF2B5EF4-FFF2-40B4-BE49-F238E27FC236}">
                <a16:creationId xmlns:a16="http://schemas.microsoft.com/office/drawing/2014/main" id="{4730851D-44B5-45C5-89C2-52F14EBC2A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05400" y="3352800"/>
            <a:ext cx="533400" cy="457200"/>
          </a:xfrm>
          <a:prstGeom prst="ellipse">
            <a:avLst/>
          </a:prstGeom>
          <a:solidFill>
            <a:srgbClr val="CCFFCC"/>
          </a:solidFill>
          <a:ln w="12700">
            <a:solidFill>
              <a:schemeClr val="tx1"/>
            </a:solidFill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10</a:t>
            </a:r>
          </a:p>
        </p:txBody>
      </p:sp>
      <p:sp>
        <p:nvSpPr>
          <p:cNvPr id="20491" name="WordArt 14">
            <a:extLst>
              <a:ext uri="{FF2B5EF4-FFF2-40B4-BE49-F238E27FC236}">
                <a16:creationId xmlns:a16="http://schemas.microsoft.com/office/drawing/2014/main" id="{9EE04C0C-D36F-46E4-8DC1-AC12AF27DF79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981200" y="457200"/>
            <a:ext cx="4876800" cy="609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Remove Max</a:t>
            </a:r>
          </a:p>
        </p:txBody>
      </p:sp>
      <p:sp>
        <p:nvSpPr>
          <p:cNvPr id="20492" name="Text Box 32">
            <a:extLst>
              <a:ext uri="{FF2B5EF4-FFF2-40B4-BE49-F238E27FC236}">
                <a16:creationId xmlns:a16="http://schemas.microsoft.com/office/drawing/2014/main" id="{2ED1F31D-1339-4203-BE8F-0EB6D60A7D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4400" y="4267200"/>
            <a:ext cx="6400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400">
                <a:latin typeface="Tahoma" panose="020B0604030504040204" pitchFamily="34" charset="0"/>
              </a:rPr>
              <a:t>root</a:t>
            </a:r>
          </a:p>
        </p:txBody>
      </p:sp>
      <p:graphicFrame>
        <p:nvGraphicFramePr>
          <p:cNvPr id="63521" name="Group 33">
            <a:extLst>
              <a:ext uri="{FF2B5EF4-FFF2-40B4-BE49-F238E27FC236}">
                <a16:creationId xmlns:a16="http://schemas.microsoft.com/office/drawing/2014/main" id="{9C0082FD-8C2B-4870-AE8E-ACDC23FB6D37}"/>
              </a:ext>
            </a:extLst>
          </p:cNvPr>
          <p:cNvGraphicFramePr>
            <a:graphicFrameLocks noGrp="1"/>
          </p:cNvGraphicFramePr>
          <p:nvPr/>
        </p:nvGraphicFramePr>
        <p:xfrm>
          <a:off x="914400" y="4724400"/>
          <a:ext cx="7023100" cy="584200"/>
        </p:xfrm>
        <a:graphic>
          <a:graphicData uri="http://schemas.openxmlformats.org/drawingml/2006/table">
            <a:tbl>
              <a:tblPr/>
              <a:tblGrid>
                <a:gridCol w="1003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84200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15</a:t>
                      </a: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11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12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7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8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9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Tahoma" pitchFamily="34" charset="0"/>
                        </a:rPr>
                        <a:t>10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FFFFCC">
                        <a:alpha val="5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20511" name="Rectangle 1">
            <a:extLst>
              <a:ext uri="{FF2B5EF4-FFF2-40B4-BE49-F238E27FC236}">
                <a16:creationId xmlns:a16="http://schemas.microsoft.com/office/drawing/2014/main" id="{05B98C52-CC3C-45DB-8FFE-6C6B004E5E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90600" y="4724400"/>
            <a:ext cx="914400" cy="533400"/>
          </a:xfrm>
          <a:prstGeom prst="rect">
            <a:avLst/>
          </a:prstGeom>
          <a:solidFill>
            <a:schemeClr val="accent1"/>
          </a:solidFill>
          <a:ln w="9525" algn="ctr">
            <a:solidFill>
              <a:schemeClr val="tx1"/>
            </a:solidFill>
            <a:round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Tahoma" panose="020B0604030504040204" pitchFamily="34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6" presetClass="exit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circle(out)">
                                      <p:cBhvr>
                                        <p:cTn id="10" dur="2000"/>
                                        <p:tgtEl>
                                          <p:spTgt spid="635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1999"/>
                                          </p:stCondLst>
                                        </p:cTn>
                                        <p:tgtEl>
                                          <p:spTgt spid="635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 nodeType="clickPar">
                      <p:stCondLst>
                        <p:cond delay="indefinite"/>
                      </p:stCondLst>
                      <p:childTnLst>
                        <p:par>
                          <p:cTn id="13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4" presetID="0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11111E-6 1.27168E-6 C -0.0059 -0.02451 -0.01945 -0.04601 -0.0349 -0.06127 C -0.04028 -0.07237 -0.0474 -0.0844 -0.05712 -0.08879 C -0.06129 -0.09457 -0.0658 -0.09688 -0.07136 -0.09942 C -0.0724 -0.10081 -0.07326 -0.10266 -0.07465 -0.10359 C -0.07761 -0.10567 -0.0842 -0.10798 -0.0842 -0.10798 C -0.08906 -0.11445 -0.09323 -0.11492 -0.09844 -0.12047 C -0.10417 -0.12671 -0.09913 -0.12463 -0.10642 -0.13318 C -0.1092 -0.13665 -0.11198 -0.14104 -0.1158 -0.14174 C -0.11945 -0.14243 -0.12326 -0.14312 -0.12691 -0.14382 C -0.12951 -0.14451 -0.1349 -0.1459 -0.1349 -0.1459 " pathEditMode="relative" ptsTypes="ffffffffffA">
                                      <p:cBhvr>
                                        <p:cTn id="15" dur="2000" fill="hold"/>
                                        <p:tgtEl>
                                          <p:spTgt spid="143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339" grpId="0" animBg="1"/>
      <p:bldP spid="1434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Footer Placeholder 3">
            <a:extLst>
              <a:ext uri="{FF2B5EF4-FFF2-40B4-BE49-F238E27FC236}">
                <a16:creationId xmlns:a16="http://schemas.microsoft.com/office/drawing/2014/main" id="{7CAD0032-120B-42B9-BE7A-7A628EAD0FE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2531" name="Text Box 3">
            <a:extLst>
              <a:ext uri="{FF2B5EF4-FFF2-40B4-BE49-F238E27FC236}">
                <a16:creationId xmlns:a16="http://schemas.microsoft.com/office/drawing/2014/main" id="{4899B1CA-D5B1-4692-B70D-1F5B3AF707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447800"/>
            <a:ext cx="6943725" cy="36623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swapDown starts access at the root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swapDown first generates the index values of the root’s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children.         </a:t>
            </a:r>
            <a:r>
              <a:rPr lang="en-US" altLang="en-US" sz="1800">
                <a:solidFill>
                  <a:srgbClr val="FF3300"/>
                </a:solidFill>
                <a:latin typeface="Tahoma" panose="020B0604030504040204" pitchFamily="34" charset="0"/>
              </a:rPr>
              <a:t>root * 2 + 1        root * 2 + 2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>
              <a:solidFill>
                <a:srgbClr val="FF3300"/>
              </a:solidFill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Make sure root is less than bottom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Find the largest child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Determine if largest child is larger than root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    If it is  </a:t>
            </a:r>
            <a:r>
              <a:rPr lang="en-US" altLang="en-US" sz="1800">
                <a:latin typeface="Tahoma" panose="020B0604030504040204" pitchFamily="34" charset="0"/>
                <a:sym typeface="Wingdings" panose="05000000000000000000" pitchFamily="2" charset="2"/>
              </a:rPr>
              <a:t></a:t>
            </a:r>
            <a:r>
              <a:rPr lang="en-US" altLang="en-US" sz="1800">
                <a:latin typeface="Tahoma" panose="020B0604030504040204" pitchFamily="34" charset="0"/>
              </a:rPr>
              <a:t>     swap largest child and root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Root is set to the index of the largest child and the process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Tahoma" panose="020B0604030504040204" pitchFamily="34" charset="0"/>
              </a:rPr>
              <a:t>starts over again.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1800">
              <a:latin typeface="Tahoma" panose="020B0604030504040204" pitchFamily="34" charset="0"/>
            </a:endParaRPr>
          </a:p>
        </p:txBody>
      </p:sp>
      <p:sp>
        <p:nvSpPr>
          <p:cNvPr id="22532" name="WordArt 11">
            <a:extLst>
              <a:ext uri="{FF2B5EF4-FFF2-40B4-BE49-F238E27FC236}">
                <a16:creationId xmlns:a16="http://schemas.microsoft.com/office/drawing/2014/main" id="{977A7560-D10B-40CF-8AFE-C969D2E58E1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447800" y="457200"/>
            <a:ext cx="53340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swapDown</a:t>
            </a:r>
          </a:p>
        </p:txBody>
      </p:sp>
      <p:sp>
        <p:nvSpPr>
          <p:cNvPr id="22533" name="Text Box 12">
            <a:extLst>
              <a:ext uri="{FF2B5EF4-FFF2-40B4-BE49-F238E27FC236}">
                <a16:creationId xmlns:a16="http://schemas.microsoft.com/office/drawing/2014/main" id="{E14701DC-2DA2-4E7D-9D5A-202B755CE2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5800" y="5486400"/>
            <a:ext cx="7620000" cy="406400"/>
          </a:xfrm>
          <a:prstGeom prst="rect">
            <a:avLst/>
          </a:prstGeom>
          <a:noFill/>
          <a:ln w="9525">
            <a:solidFill>
              <a:srgbClr val="0000FF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50000"/>
              </a:spcBef>
              <a:buFontTx/>
              <a:buNone/>
            </a:pPr>
            <a:r>
              <a:rPr lang="en-US" altLang="en-US" sz="2000">
                <a:solidFill>
                  <a:schemeClr val="accent2"/>
                </a:solidFill>
                <a:latin typeface="Tahoma" panose="020B0604030504040204" pitchFamily="34" charset="0"/>
              </a:rPr>
              <a:t>This method can be written iteratively or recursively.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Footer Placeholder 3">
            <a:extLst>
              <a:ext uri="{FF2B5EF4-FFF2-40B4-BE49-F238E27FC236}">
                <a16:creationId xmlns:a16="http://schemas.microsoft.com/office/drawing/2014/main" id="{0CC5503A-82D4-49A3-9B59-69C25B990C65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1507" name="Text Box 3">
            <a:extLst>
              <a:ext uri="{FF2B5EF4-FFF2-40B4-BE49-F238E27FC236}">
                <a16:creationId xmlns:a16="http://schemas.microsoft.com/office/drawing/2014/main" id="{6F7AF38A-3533-4DFD-92FA-FEEF8F258A9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1600" y="1447800"/>
            <a:ext cx="7010400" cy="4968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int root=0;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while(root&lt;list.size())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0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define max and left and right indexes</a:t>
            </a:r>
          </a:p>
          <a:p>
            <a:pPr>
              <a:spcBef>
                <a:spcPct val="0"/>
              </a:spcBef>
              <a:buFontTx/>
              <a:buNone/>
            </a:pPr>
            <a:endParaRPr lang="en-US" altLang="en-US" sz="20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if left child exists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    if right child exists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         find max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    else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         max is left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 else   stop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 if max &gt; root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	swap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         root = max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Tahoma" panose="020B0604030504040204" pitchFamily="34" charset="0"/>
              </a:rPr>
              <a:t>    else  stop</a:t>
            </a:r>
          </a:p>
        </p:txBody>
      </p:sp>
      <p:sp>
        <p:nvSpPr>
          <p:cNvPr id="21508" name="WordArt 8">
            <a:extLst>
              <a:ext uri="{FF2B5EF4-FFF2-40B4-BE49-F238E27FC236}">
                <a16:creationId xmlns:a16="http://schemas.microsoft.com/office/drawing/2014/main" id="{BF0095C2-DD32-4CFC-AF8D-8875C1D3A6DA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447800" y="457200"/>
            <a:ext cx="5334000" cy="8382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FFFF00"/>
                  </a:solidFill>
                  <a:round/>
                  <a:headEnd/>
                  <a:tailEnd/>
                </a:ln>
                <a:solidFill>
                  <a:srgbClr val="0000FF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swapDown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Footer Placeholder 3">
            <a:extLst>
              <a:ext uri="{FF2B5EF4-FFF2-40B4-BE49-F238E27FC236}">
                <a16:creationId xmlns:a16="http://schemas.microsoft.com/office/drawing/2014/main" id="{271EB884-01DD-4080-8AEF-3AB9A895D3C8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>
          <a:noFill/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800"/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 b="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endParaRPr lang="en-US" altLang="en-US" sz="800">
              <a:latin typeface="Tahoma" panose="020B0604030504040204" pitchFamily="34" charset="0"/>
            </a:endParaRP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800">
                <a:latin typeface="Tahoma" panose="020B0604030504040204" pitchFamily="34" charset="0"/>
              </a:rPr>
              <a:t>© A+ Computer Science  -  www.apluscompsci.com</a:t>
            </a:r>
          </a:p>
        </p:txBody>
      </p:sp>
      <p:sp>
        <p:nvSpPr>
          <p:cNvPr id="23555" name="WordArt 2">
            <a:extLst>
              <a:ext uri="{FF2B5EF4-FFF2-40B4-BE49-F238E27FC236}">
                <a16:creationId xmlns:a16="http://schemas.microsoft.com/office/drawing/2014/main" id="{DF1EE058-28A7-4752-84D1-55BB8A3F1AFE}"/>
              </a:ext>
            </a:extLst>
          </p:cNvPr>
          <p:cNvSpPr>
            <a:spLocks noChangeArrowheads="1" noChangeShapeType="1" noTextEdit="1"/>
          </p:cNvSpPr>
          <p:nvPr/>
        </p:nvSpPr>
        <p:spPr bwMode="auto">
          <a:xfrm>
            <a:off x="1143000" y="1295400"/>
            <a:ext cx="6934200" cy="3657600"/>
          </a:xfrm>
          <a:prstGeom prst="rect">
            <a:avLst/>
          </a:prstGeom>
        </p:spPr>
        <p:txBody>
          <a:bodyPr wrap="none" fromWordArt="1">
            <a:prstTxWarp prst="textPlain">
              <a:avLst>
                <a:gd name="adj" fmla="val 50000"/>
              </a:avLst>
            </a:prstTxWarp>
          </a:bodyPr>
          <a:lstStyle/>
          <a:p>
            <a:pPr algn="ctr"/>
            <a:r>
              <a:rPr lang="en-US" sz="3600" kern="10">
                <a:ln w="9525">
                  <a:solidFill>
                    <a:srgbClr val="333399"/>
                  </a:solidFill>
                  <a:round/>
                  <a:headEnd type="none" w="sm" len="sm"/>
                  <a:tailEnd type="none" w="sm" len="sm"/>
                </a:ln>
                <a:solidFill>
                  <a:srgbClr val="00FF00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Start work</a:t>
            </a:r>
          </a:p>
          <a:p>
            <a:pPr algn="ctr"/>
            <a:r>
              <a:rPr lang="en-US" sz="3600" kern="10">
                <a:ln w="9525">
                  <a:solidFill>
                    <a:srgbClr val="333399"/>
                  </a:solidFill>
                  <a:round/>
                  <a:headEnd type="none" w="sm" len="sm"/>
                  <a:tailEnd type="none" w="sm" len="sm"/>
                </a:ln>
                <a:solidFill>
                  <a:srgbClr val="00FF00"/>
                </a:solidFill>
                <a:effectLst>
                  <a:outerShdw dist="35921" dir="2700000" algn="ctr" rotWithShape="0">
                    <a:srgbClr val="C0C0C0"/>
                  </a:outerShdw>
                </a:effectLst>
                <a:latin typeface="Impact" panose="020B0806030902050204" pitchFamily="34" charset="0"/>
              </a:rPr>
              <a:t>on Lab 18a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 Presentation">
  <a:themeElements>
    <a:clrScheme name="Blank Presentation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Blank Presentation">
      <a:majorFont>
        <a:latin typeface="Times New Roman"/>
        <a:ea typeface=""/>
        <a:cs typeface=""/>
      </a:majorFont>
      <a:minorFont>
        <a:latin typeface="Times New Roma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1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C:\Program Files\Microsoft Office\Templates\Blank Presentation.pot</Template>
  <TotalTime>1186</TotalTime>
  <Words>1346</Words>
  <Application>Microsoft Office PowerPoint</Application>
  <PresentationFormat>On-screen Show (4:3)</PresentationFormat>
  <Paragraphs>421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Impact</vt:lpstr>
      <vt:lpstr>Tahoma</vt:lpstr>
      <vt:lpstr>Times New Roman</vt:lpstr>
      <vt:lpstr>Blank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>www.apluscompsci.com</Manager>
  <Company>www.apluscompsci.com</Company>
  <LinksUpToDate>false</LinksUpToDate>
  <SharedDoc>false</SharedDoc>
  <HyperlinkBase>www.apluscompsci.com</HyperlinkBase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Heaps</dc:title>
  <dc:subject>Heaps</dc:subject>
  <dc:creator>A+ Computer Science</dc:creator>
  <cp:keywords>www.apluscompsci.com</cp:keywords>
  <dc:description>Heaps_x000d_
©A+ Computer Science_x000d_
www.apluscompsci.com</dc:description>
  <cp:lastModifiedBy>Weldon Jasik</cp:lastModifiedBy>
  <cp:revision>228</cp:revision>
  <dcterms:created xsi:type="dcterms:W3CDTF">1999-09-27T16:27:24Z</dcterms:created>
  <dcterms:modified xsi:type="dcterms:W3CDTF">2024-11-25T13:29:17Z</dcterms:modified>
  <cp:category>www.apluscompsci.com</cp:category>
</cp:coreProperties>
</file>