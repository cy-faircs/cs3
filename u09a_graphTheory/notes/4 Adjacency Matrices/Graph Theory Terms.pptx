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9"/>
  </p:notesMasterIdLst>
  <p:sldIdLst>
    <p:sldId id="301" r:id="rId2"/>
    <p:sldId id="284" r:id="rId3"/>
    <p:sldId id="303" r:id="rId4"/>
    <p:sldId id="704" r:id="rId5"/>
    <p:sldId id="674" r:id="rId6"/>
    <p:sldId id="675" r:id="rId7"/>
    <p:sldId id="703" r:id="rId8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990033"/>
    <a:srgbClr val="EAECF0"/>
    <a:srgbClr val="2D5CB9"/>
    <a:srgbClr val="2C5C80"/>
    <a:srgbClr val="FF7F7F"/>
    <a:srgbClr val="FAFBC1"/>
    <a:srgbClr val="FFFFEB"/>
    <a:srgbClr val="FFCC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6" autoAdjust="0"/>
    <p:restoredTop sz="86469" autoAdjust="0"/>
  </p:normalViewPr>
  <p:slideViewPr>
    <p:cSldViewPr snapToGrid="0" snapToObjects="1">
      <p:cViewPr varScale="1">
        <p:scale>
          <a:sx n="69" d="100"/>
          <a:sy n="69" d="100"/>
        </p:scale>
        <p:origin x="1642" y="58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66" d="100"/>
          <a:sy n="66" d="100"/>
        </p:scale>
        <p:origin x="-1386" y="-72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A3A56D3-CCF0-49D4-B894-F71230D540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E12CEF7-9947-45A0-A360-28F020756A0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7119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E4CE83E-661C-4C48-ACEA-D16F33CF261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CBC30EA-0CA5-4ABA-9C83-EAEF8D419A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942" y="3330419"/>
            <a:ext cx="6816518" cy="3154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87E512ED-C3DC-47F6-9110-DB8B5805BA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4E41A777-3887-4F22-A37D-EFBF494372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119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2804723-5E0A-4B8F-BB8E-4A9C77F631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matrix is always symmetric for an undirected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591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3EF193-4943-4729-B49A-5F18930730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03923F-8830-40E5-9515-288C42BF860B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E0BAA8-8C81-4387-8BAD-FC5D7FFE6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8A87836-FFA9-4670-9F79-C7E32C5F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It’s difficult to be sure you’ve found all walks of a length greater than one by hand, so we multiply matrices instead.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B2501A6-21C6-49FF-8A23-4451C8F056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B789F-1B28-4C6C-B6CD-B73EEEBDB5A4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20002E8-CF06-4D4B-96F1-91C5DB288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1769132-EDD7-4970-9FEE-9C7A565BD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B2501A6-21C6-49FF-8A23-4451C8F056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B789F-1B28-4C6C-B6CD-B73EEEBDB5A4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20002E8-CF06-4D4B-96F1-91C5DB288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1769132-EDD7-4970-9FEE-9C7A565BD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07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113EA9-178C-4489-922E-F6FAF50276B9}"/>
              </a:ext>
            </a:extLst>
          </p:cNvPr>
          <p:cNvSpPr/>
          <p:nvPr userDrawn="1"/>
        </p:nvSpPr>
        <p:spPr>
          <a:xfrm>
            <a:off x="496133" y="300335"/>
            <a:ext cx="131318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Java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2D8BB-CC46-422B-B9B7-695C3725ACE4}"/>
              </a:ext>
            </a:extLst>
          </p:cNvPr>
          <p:cNvSpPr/>
          <p:nvPr userDrawn="1"/>
        </p:nvSpPr>
        <p:spPr>
          <a:xfrm>
            <a:off x="478188" y="1224260"/>
            <a:ext cx="42443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Object 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754607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4071-794B-4701-A7DC-39C50A89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4AC8-73D2-4AAD-9193-481E7E4A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7884-52FD-48CD-AAE8-C43F57EE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E1F91A5-696C-4070-9C3C-613CEAE4D6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97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973BA-09F2-4966-A1FD-F7077096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9F1F5-98A9-445C-BF66-7172C843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03D7-1EAD-46DE-A6BE-DCAED6D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030EF13-7497-4CFD-9EB1-248DA4F85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2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1630F-A09D-4EE7-93A3-A2B2B481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C01B6-64E4-4D59-8C09-A4B6D24D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19DD-0B36-4DA9-8BBE-65C6E5D6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128F8CC0-22B8-4BB4-BD05-2FA2C3E73A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31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AA27-7E15-9B2D-7DFA-AC2ED93E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5AB66-8111-B439-1113-CC0BD4DF80F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F1A16-3B58-FBB5-8F89-2D03B43A0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E915A-1BC2-D59A-745B-DD6799F0C4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C0A84-250E-3E19-9BA2-565EA0A1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98C81-B7EB-56B3-DA7F-F08DC00D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0A101E0-D20B-4DFA-B124-96412FF285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22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5">
            <a:extLst>
              <a:ext uri="{FF2B5EF4-FFF2-40B4-BE49-F238E27FC236}">
                <a16:creationId xmlns:a16="http://schemas.microsoft.com/office/drawing/2014/main" id="{97A36CA0-EC99-448B-ABF9-AC948CD33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26">
            <a:extLst>
              <a:ext uri="{FF2B5EF4-FFF2-40B4-BE49-F238E27FC236}">
                <a16:creationId xmlns:a16="http://schemas.microsoft.com/office/drawing/2014/main" id="{6C5CB5D8-089D-4CA0-B8E5-BD0FEBD01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75" name="Rectangle 27">
            <a:extLst>
              <a:ext uri="{FF2B5EF4-FFF2-40B4-BE49-F238E27FC236}">
                <a16:creationId xmlns:a16="http://schemas.microsoft.com/office/drawing/2014/main" id="{353BC887-0D79-4553-B463-99B0C75FD1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6" name="Rectangle 28">
            <a:extLst>
              <a:ext uri="{FF2B5EF4-FFF2-40B4-BE49-F238E27FC236}">
                <a16:creationId xmlns:a16="http://schemas.microsoft.com/office/drawing/2014/main" id="{E4C00373-27A8-46C3-B716-4FE131D0CF0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7" name="Rectangle 29">
            <a:extLst>
              <a:ext uri="{FF2B5EF4-FFF2-40B4-BE49-F238E27FC236}">
                <a16:creationId xmlns:a16="http://schemas.microsoft.com/office/drawing/2014/main" id="{8F7AD570-5738-409B-9275-31BBF81312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897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Lab 01</a:t>
            </a:r>
            <a:fld id="{99B86487-F13D-4A55-9790-54C5D96315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31" descr="javaVert">
            <a:extLst>
              <a:ext uri="{FF2B5EF4-FFF2-40B4-BE49-F238E27FC236}">
                <a16:creationId xmlns:a16="http://schemas.microsoft.com/office/drawing/2014/main" id="{FD7EF5FD-22D5-4013-80B0-299ED91C5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Monotype Sorts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60" name="Rectangle 72">
            <a:extLst>
              <a:ext uri="{FF2B5EF4-FFF2-40B4-BE49-F238E27FC236}">
                <a16:creationId xmlns:a16="http://schemas.microsoft.com/office/drawing/2014/main" id="{CC0F3F12-7D07-B536-9C8E-520CB77B1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246187"/>
          </a:xfrm>
        </p:spPr>
        <p:txBody>
          <a:bodyPr/>
          <a:lstStyle/>
          <a:p>
            <a:r>
              <a:rPr lang="en-US" altLang="en-US" sz="4000" dirty="0"/>
              <a:t>Adjacency Matrix Representation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0E9411F3-521C-C824-2AB6-38D5D686D2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737905"/>
            <a:ext cx="7274312" cy="6096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237AC1"/>
                </a:solidFill>
              </a:rPr>
              <a:t>Example: Undirected Graph G (V, E)</a:t>
            </a:r>
          </a:p>
        </p:txBody>
      </p:sp>
      <p:grpSp>
        <p:nvGrpSpPr>
          <p:cNvPr id="2" name="Group 1" descr="Undirected graph:&#10;Vertices = {u, v, w}&#10;Edges = {(u,v), (v,w), (u,w)&#10;Adjacency list:&#10;u connects to v, w&#10;v connects to u, w&#10;w connects to u, v">
            <a:extLst>
              <a:ext uri="{FF2B5EF4-FFF2-40B4-BE49-F238E27FC236}">
                <a16:creationId xmlns:a16="http://schemas.microsoft.com/office/drawing/2014/main" id="{D46F5C5D-1656-6EFF-87E9-7BDC87DF30B6}"/>
              </a:ext>
            </a:extLst>
          </p:cNvPr>
          <p:cNvGrpSpPr/>
          <p:nvPr/>
        </p:nvGrpSpPr>
        <p:grpSpPr>
          <a:xfrm>
            <a:off x="1268450" y="3249650"/>
            <a:ext cx="2741613" cy="2264811"/>
            <a:chOff x="1752600" y="3124200"/>
            <a:chExt cx="1752600" cy="1447800"/>
          </a:xfrm>
        </p:grpSpPr>
        <p:sp>
          <p:nvSpPr>
            <p:cNvPr id="63564" name="Oval 76">
              <a:extLst>
                <a:ext uri="{FF2B5EF4-FFF2-40B4-BE49-F238E27FC236}">
                  <a16:creationId xmlns:a16="http://schemas.microsoft.com/office/drawing/2014/main" id="{F0D31671-6DD8-4E0F-6FC3-39084293F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1242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63565" name="Oval 77">
              <a:extLst>
                <a:ext uri="{FF2B5EF4-FFF2-40B4-BE49-F238E27FC236}">
                  <a16:creationId xmlns:a16="http://schemas.microsoft.com/office/drawing/2014/main" id="{7167EC96-76DE-F170-32E0-E43BD3800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63566" name="Oval 78">
              <a:extLst>
                <a:ext uri="{FF2B5EF4-FFF2-40B4-BE49-F238E27FC236}">
                  <a16:creationId xmlns:a16="http://schemas.microsoft.com/office/drawing/2014/main" id="{C2326F7A-A220-26D6-1361-90367C169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63567" name="Line 79">
              <a:extLst>
                <a:ext uri="{FF2B5EF4-FFF2-40B4-BE49-F238E27FC236}">
                  <a16:creationId xmlns:a16="http://schemas.microsoft.com/office/drawing/2014/main" id="{77CEA9F1-BF22-6746-02AB-DE44C12C1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43434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63568" name="Line 80">
              <a:extLst>
                <a:ext uri="{FF2B5EF4-FFF2-40B4-BE49-F238E27FC236}">
                  <a16:creationId xmlns:a16="http://schemas.microsoft.com/office/drawing/2014/main" id="{DC40311B-03F3-6706-9060-49B9BE359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457" y="3455794"/>
              <a:ext cx="489845" cy="756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63569" name="Line 81">
              <a:extLst>
                <a:ext uri="{FF2B5EF4-FFF2-40B4-BE49-F238E27FC236}">
                  <a16:creationId xmlns:a16="http://schemas.microsoft.com/office/drawing/2014/main" id="{456C17EA-46B1-B5A1-F18C-ABBDF9F47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7894" y="3490942"/>
              <a:ext cx="473833" cy="7565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63563" name="Group 75">
            <a:extLst>
              <a:ext uri="{FF2B5EF4-FFF2-40B4-BE49-F238E27FC236}">
                <a16:creationId xmlns:a16="http://schemas.microsoft.com/office/drawing/2014/main" id="{FBB803EF-B854-6B6E-41E9-1E1D3593CE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43557178"/>
              </p:ext>
            </p:extLst>
          </p:nvPr>
        </p:nvGraphicFramePr>
        <p:xfrm>
          <a:off x="5145088" y="2959100"/>
          <a:ext cx="3572192" cy="3033966"/>
        </p:xfrm>
        <a:graphic>
          <a:graphicData uri="http://schemas.openxmlformats.org/drawingml/2006/table">
            <a:tbl>
              <a:tblPr firstRow="1"/>
              <a:tblGrid>
                <a:gridCol w="693630">
                  <a:extLst>
                    <a:ext uri="{9D8B030D-6E8A-4147-A177-3AD203B41FA5}">
                      <a16:colId xmlns:a16="http://schemas.microsoft.com/office/drawing/2014/main" val="786565958"/>
                    </a:ext>
                  </a:extLst>
                </a:gridCol>
                <a:gridCol w="946600">
                  <a:extLst>
                    <a:ext uri="{9D8B030D-6E8A-4147-A177-3AD203B41FA5}">
                      <a16:colId xmlns:a16="http://schemas.microsoft.com/office/drawing/2014/main" val="3313857573"/>
                    </a:ext>
                  </a:extLst>
                </a:gridCol>
                <a:gridCol w="948640">
                  <a:extLst>
                    <a:ext uri="{9D8B030D-6E8A-4147-A177-3AD203B41FA5}">
                      <a16:colId xmlns:a16="http://schemas.microsoft.com/office/drawing/2014/main" val="516218188"/>
                    </a:ext>
                  </a:extLst>
                </a:gridCol>
                <a:gridCol w="983322">
                  <a:extLst>
                    <a:ext uri="{9D8B030D-6E8A-4147-A177-3AD203B41FA5}">
                      <a16:colId xmlns:a16="http://schemas.microsoft.com/office/drawing/2014/main" val="2950054208"/>
                    </a:ext>
                  </a:extLst>
                </a:gridCol>
              </a:tblGrid>
              <a:tr h="66588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505327"/>
                  </a:ext>
                </a:extLst>
              </a:tr>
              <a:tr h="7283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29795"/>
                  </a:ext>
                </a:extLst>
              </a:tr>
              <a:tr h="7283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363009"/>
                  </a:ext>
                </a:extLst>
              </a:tr>
              <a:tr h="7283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3675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662BC6A-76B4-AEDB-F768-209F6C40D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158" y="200646"/>
            <a:ext cx="7793037" cy="1462087"/>
          </a:xfrm>
        </p:spPr>
        <p:txBody>
          <a:bodyPr/>
          <a:lstStyle/>
          <a:p>
            <a:pPr algn="ctr"/>
            <a:r>
              <a:rPr lang="en-US" altLang="en-US" sz="4000" dirty="0"/>
              <a:t>Adjacency List Representation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76BE7C9-FF58-FDE6-8D99-05D02CE6D6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72158" y="1611139"/>
            <a:ext cx="7351712" cy="87788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en-US" sz="2800" dirty="0"/>
              <a:t>	Each node (vertex) has a list of which nodes (vertex) it is adjacent.</a:t>
            </a:r>
          </a:p>
        </p:txBody>
      </p:sp>
      <p:grpSp>
        <p:nvGrpSpPr>
          <p:cNvPr id="2" name="Group 1" descr="Undirected graph:&#10;Vertices = {u, v, w}&#10;Edges = {(u,v), (v,w), (u,w)&#10;Adjacency list:&#10;u connects to v, w&#10;v connects to u, w&#10;w connects to u, v">
            <a:extLst>
              <a:ext uri="{FF2B5EF4-FFF2-40B4-BE49-F238E27FC236}">
                <a16:creationId xmlns:a16="http://schemas.microsoft.com/office/drawing/2014/main" id="{61E0DA18-A896-CAF9-8BA2-6C753E1BB198}"/>
              </a:ext>
            </a:extLst>
          </p:cNvPr>
          <p:cNvGrpSpPr/>
          <p:nvPr/>
        </p:nvGrpSpPr>
        <p:grpSpPr>
          <a:xfrm>
            <a:off x="970448" y="3361289"/>
            <a:ext cx="2741613" cy="2264811"/>
            <a:chOff x="1752600" y="3124200"/>
            <a:chExt cx="1752600" cy="1447800"/>
          </a:xfrm>
        </p:grpSpPr>
        <p:sp>
          <p:nvSpPr>
            <p:cNvPr id="3" name="Oval 76">
              <a:extLst>
                <a:ext uri="{FF2B5EF4-FFF2-40B4-BE49-F238E27FC236}">
                  <a16:creationId xmlns:a16="http://schemas.microsoft.com/office/drawing/2014/main" id="{A281BB77-EEB9-A3AD-1A1C-281C9E73E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1242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4" name="Oval 77">
              <a:extLst>
                <a:ext uri="{FF2B5EF4-FFF2-40B4-BE49-F238E27FC236}">
                  <a16:creationId xmlns:a16="http://schemas.microsoft.com/office/drawing/2014/main" id="{7BCB21C2-463E-8621-664E-045B71263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5" name="Oval 78">
              <a:extLst>
                <a:ext uri="{FF2B5EF4-FFF2-40B4-BE49-F238E27FC236}">
                  <a16:creationId xmlns:a16="http://schemas.microsoft.com/office/drawing/2014/main" id="{36163AF5-A659-0E5F-BF62-E71ED80C8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6" name="Line 79">
              <a:extLst>
                <a:ext uri="{FF2B5EF4-FFF2-40B4-BE49-F238E27FC236}">
                  <a16:creationId xmlns:a16="http://schemas.microsoft.com/office/drawing/2014/main" id="{A4E857E2-4385-EF62-A1D2-3E3B5E414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43434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7" name="Line 80">
              <a:extLst>
                <a:ext uri="{FF2B5EF4-FFF2-40B4-BE49-F238E27FC236}">
                  <a16:creationId xmlns:a16="http://schemas.microsoft.com/office/drawing/2014/main" id="{067B4242-E05D-240F-6E4C-499A8E96B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457" y="3455794"/>
              <a:ext cx="489845" cy="756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8" name="Line 81">
              <a:extLst>
                <a:ext uri="{FF2B5EF4-FFF2-40B4-BE49-F238E27FC236}">
                  <a16:creationId xmlns:a16="http://schemas.microsoft.com/office/drawing/2014/main" id="{03F5A133-6526-8997-48A3-5315F8FC59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7894" y="3490942"/>
              <a:ext cx="473833" cy="7565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38948" name="Group 36">
            <a:extLst>
              <a:ext uri="{FF2B5EF4-FFF2-40B4-BE49-F238E27FC236}">
                <a16:creationId xmlns:a16="http://schemas.microsoft.com/office/drawing/2014/main" id="{ADE96BCC-A8D7-F877-E80F-AE809C5C59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21727589"/>
              </p:ext>
            </p:extLst>
          </p:nvPr>
        </p:nvGraphicFramePr>
        <p:xfrm>
          <a:off x="4343400" y="3276600"/>
          <a:ext cx="4114800" cy="2349500"/>
        </p:xfrm>
        <a:graphic>
          <a:graphicData uri="http://schemas.openxmlformats.org/drawingml/2006/table">
            <a:tbl>
              <a:tblPr firstRow="1"/>
              <a:tblGrid>
                <a:gridCol w="1165302">
                  <a:extLst>
                    <a:ext uri="{9D8B030D-6E8A-4147-A177-3AD203B41FA5}">
                      <a16:colId xmlns:a16="http://schemas.microsoft.com/office/drawing/2014/main" val="1639822813"/>
                    </a:ext>
                  </a:extLst>
                </a:gridCol>
                <a:gridCol w="2949498">
                  <a:extLst>
                    <a:ext uri="{9D8B030D-6E8A-4147-A177-3AD203B41FA5}">
                      <a16:colId xmlns:a16="http://schemas.microsoft.com/office/drawing/2014/main" val="796191183"/>
                    </a:ext>
                  </a:extLst>
                </a:gridCol>
              </a:tblGrid>
              <a:tr h="6381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Adjacency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889925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 , 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588810"/>
                  </a:ext>
                </a:extLst>
              </a:tr>
              <a:tr h="568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w, 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029709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 ,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712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CE5DFA9F-17B6-54F1-45DE-4BE549B04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Adjacency Matrix Representation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5C4CB663-6FAB-CFEA-4A75-63D4625995E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59086" y="1732735"/>
            <a:ext cx="6705600" cy="6096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237AC1"/>
                </a:solidFill>
              </a:rPr>
              <a:t>Example: directed Graph G (V, E)</a:t>
            </a:r>
          </a:p>
        </p:txBody>
      </p:sp>
      <p:grpSp>
        <p:nvGrpSpPr>
          <p:cNvPr id="9" name="Group 8" descr="Directed graph:&#10;Vertices = {u, v, w}&#10;Edges = {(u,w), (v,u), (v,w), (w,v)} &#10;Adjacency list:&#10;u connects to w&#10;v connects to u and w&#10;w connects to v">
            <a:extLst>
              <a:ext uri="{FF2B5EF4-FFF2-40B4-BE49-F238E27FC236}">
                <a16:creationId xmlns:a16="http://schemas.microsoft.com/office/drawing/2014/main" id="{9CC4CC02-9156-B89C-5E15-549788BE3F35}"/>
              </a:ext>
            </a:extLst>
          </p:cNvPr>
          <p:cNvGrpSpPr/>
          <p:nvPr/>
        </p:nvGrpSpPr>
        <p:grpSpPr>
          <a:xfrm>
            <a:off x="1150938" y="2912663"/>
            <a:ext cx="2741613" cy="2264811"/>
            <a:chOff x="1011974" y="2101076"/>
            <a:chExt cx="2741613" cy="2264811"/>
          </a:xfrm>
        </p:grpSpPr>
        <p:sp>
          <p:nvSpPr>
            <p:cNvPr id="10" name="Oval 76">
              <a:extLst>
                <a:ext uri="{FF2B5EF4-FFF2-40B4-BE49-F238E27FC236}">
                  <a16:creationId xmlns:a16="http://schemas.microsoft.com/office/drawing/2014/main" id="{EC0D4406-5B1B-74A9-F7DF-BC1900C25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779" y="2101076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11" name="Oval 77">
              <a:extLst>
                <a:ext uri="{FF2B5EF4-FFF2-40B4-BE49-F238E27FC236}">
                  <a16:creationId xmlns:a16="http://schemas.microsoft.com/office/drawing/2014/main" id="{1339627D-9FE9-DABD-264A-C5A955EA0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97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12" name="Oval 78">
              <a:extLst>
                <a:ext uri="{FF2B5EF4-FFF2-40B4-BE49-F238E27FC236}">
                  <a16:creationId xmlns:a16="http://schemas.microsoft.com/office/drawing/2014/main" id="{11519C63-C550-008F-D6D0-332E5CA77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8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13" name="Line 79">
              <a:extLst>
                <a:ext uri="{FF2B5EF4-FFF2-40B4-BE49-F238E27FC236}">
                  <a16:creationId xmlns:a16="http://schemas.microsoft.com/office/drawing/2014/main" id="{08F0613E-E59D-AAEC-E9B3-A6C18C11A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977" y="4008285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4" name="Line 80">
              <a:extLst>
                <a:ext uri="{FF2B5EF4-FFF2-40B4-BE49-F238E27FC236}">
                  <a16:creationId xmlns:a16="http://schemas.microsoft.com/office/drawing/2014/main" id="{76B2458C-05BD-50CC-3F29-ACBC1A27C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884" y="2619792"/>
              <a:ext cx="766270" cy="11835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5" name="Line 81">
              <a:extLst>
                <a:ext uri="{FF2B5EF4-FFF2-40B4-BE49-F238E27FC236}">
                  <a16:creationId xmlns:a16="http://schemas.microsoft.com/office/drawing/2014/main" id="{9F3F6363-41EE-C0B5-6820-D3B2BE0E52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3906" y="2674775"/>
              <a:ext cx="741223" cy="11835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6" name="Line 79">
              <a:extLst>
                <a:ext uri="{FF2B5EF4-FFF2-40B4-BE49-F238E27FC236}">
                  <a16:creationId xmlns:a16="http://schemas.microsoft.com/office/drawing/2014/main" id="{33A9F1E5-334C-E888-6DF4-75D56AF0AD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6565" y="4127232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67588" name="Group 4">
            <a:extLst>
              <a:ext uri="{FF2B5EF4-FFF2-40B4-BE49-F238E27FC236}">
                <a16:creationId xmlns:a16="http://schemas.microsoft.com/office/drawing/2014/main" id="{4A87E2F5-DF72-7F65-9239-5683BE5323C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01030659"/>
              </p:ext>
            </p:extLst>
          </p:nvPr>
        </p:nvGraphicFramePr>
        <p:xfrm>
          <a:off x="5145087" y="2959100"/>
          <a:ext cx="3446266" cy="2952800"/>
        </p:xfrm>
        <a:graphic>
          <a:graphicData uri="http://schemas.openxmlformats.org/drawingml/2006/table">
            <a:tbl>
              <a:tblPr firstRow="1"/>
              <a:tblGrid>
                <a:gridCol w="669178">
                  <a:extLst>
                    <a:ext uri="{9D8B030D-6E8A-4147-A177-3AD203B41FA5}">
                      <a16:colId xmlns:a16="http://schemas.microsoft.com/office/drawing/2014/main" val="2225065435"/>
                    </a:ext>
                  </a:extLst>
                </a:gridCol>
                <a:gridCol w="913231">
                  <a:extLst>
                    <a:ext uri="{9D8B030D-6E8A-4147-A177-3AD203B41FA5}">
                      <a16:colId xmlns:a16="http://schemas.microsoft.com/office/drawing/2014/main" val="2471064601"/>
                    </a:ext>
                  </a:extLst>
                </a:gridCol>
                <a:gridCol w="915199">
                  <a:extLst>
                    <a:ext uri="{9D8B030D-6E8A-4147-A177-3AD203B41FA5}">
                      <a16:colId xmlns:a16="http://schemas.microsoft.com/office/drawing/2014/main" val="839284778"/>
                    </a:ext>
                  </a:extLst>
                </a:gridCol>
                <a:gridCol w="948658">
                  <a:extLst>
                    <a:ext uri="{9D8B030D-6E8A-4147-A177-3AD203B41FA5}">
                      <a16:colId xmlns:a16="http://schemas.microsoft.com/office/drawing/2014/main" val="4260457229"/>
                    </a:ext>
                  </a:extLst>
                </a:gridCol>
              </a:tblGrid>
              <a:tr h="6424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631584"/>
                  </a:ext>
                </a:extLst>
              </a:tr>
              <a:tr h="702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797848"/>
                  </a:ext>
                </a:extLst>
              </a:tr>
              <a:tr h="702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636155"/>
                  </a:ext>
                </a:extLst>
              </a:tr>
              <a:tr h="702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3889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662BC6A-76B4-AEDB-F768-209F6C40D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157" y="174626"/>
            <a:ext cx="7793037" cy="1462087"/>
          </a:xfrm>
        </p:spPr>
        <p:txBody>
          <a:bodyPr/>
          <a:lstStyle/>
          <a:p>
            <a:pPr algn="ctr"/>
            <a:r>
              <a:rPr lang="en-US" altLang="en-US" sz="4000" dirty="0"/>
              <a:t>Adjacency List Representation</a:t>
            </a:r>
          </a:p>
        </p:txBody>
      </p:sp>
      <p:grpSp>
        <p:nvGrpSpPr>
          <p:cNvPr id="17" name="Group 16" descr="Directed graph:&#10;Vertices = {u, v, w}&#10;Edges = {(u,w), (v,u), (v,w), (w,v)} &#10;Adjacency list:&#10;u connects to w&#10;v connects to u and w&#10;w connects to v">
            <a:extLst>
              <a:ext uri="{FF2B5EF4-FFF2-40B4-BE49-F238E27FC236}">
                <a16:creationId xmlns:a16="http://schemas.microsoft.com/office/drawing/2014/main" id="{2B5E21A9-89B6-9DF3-B3F1-1C77062D8F6A}"/>
              </a:ext>
            </a:extLst>
          </p:cNvPr>
          <p:cNvGrpSpPr/>
          <p:nvPr/>
        </p:nvGrpSpPr>
        <p:grpSpPr>
          <a:xfrm>
            <a:off x="1123484" y="1978415"/>
            <a:ext cx="2741613" cy="2264811"/>
            <a:chOff x="1011974" y="2101076"/>
            <a:chExt cx="2741613" cy="2264811"/>
          </a:xfrm>
        </p:grpSpPr>
        <p:sp>
          <p:nvSpPr>
            <p:cNvPr id="10" name="Oval 76">
              <a:extLst>
                <a:ext uri="{FF2B5EF4-FFF2-40B4-BE49-F238E27FC236}">
                  <a16:creationId xmlns:a16="http://schemas.microsoft.com/office/drawing/2014/main" id="{BDBD84CA-DACA-923C-D2A6-4F72DF11E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779" y="2101076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11" name="Oval 77">
              <a:extLst>
                <a:ext uri="{FF2B5EF4-FFF2-40B4-BE49-F238E27FC236}">
                  <a16:creationId xmlns:a16="http://schemas.microsoft.com/office/drawing/2014/main" id="{BA2E3F55-2C93-261D-F456-CF35C9B79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97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12" name="Oval 78">
              <a:extLst>
                <a:ext uri="{FF2B5EF4-FFF2-40B4-BE49-F238E27FC236}">
                  <a16:creationId xmlns:a16="http://schemas.microsoft.com/office/drawing/2014/main" id="{2FF0317E-C8C3-0B7F-62B1-ED6B4079F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8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13" name="Line 79">
              <a:extLst>
                <a:ext uri="{FF2B5EF4-FFF2-40B4-BE49-F238E27FC236}">
                  <a16:creationId xmlns:a16="http://schemas.microsoft.com/office/drawing/2014/main" id="{A953BEFB-CF87-1397-E1CB-5BC7FD87D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977" y="4008285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4" name="Line 80">
              <a:extLst>
                <a:ext uri="{FF2B5EF4-FFF2-40B4-BE49-F238E27FC236}">
                  <a16:creationId xmlns:a16="http://schemas.microsoft.com/office/drawing/2014/main" id="{6D3B5294-789A-C17F-C8FC-2F5119445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884" y="2619792"/>
              <a:ext cx="766270" cy="11835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5" name="Line 81">
              <a:extLst>
                <a:ext uri="{FF2B5EF4-FFF2-40B4-BE49-F238E27FC236}">
                  <a16:creationId xmlns:a16="http://schemas.microsoft.com/office/drawing/2014/main" id="{DF318A06-2BF0-2BDA-908A-5F9A3B4D8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3906" y="2674775"/>
              <a:ext cx="741223" cy="11835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6" name="Line 79">
              <a:extLst>
                <a:ext uri="{FF2B5EF4-FFF2-40B4-BE49-F238E27FC236}">
                  <a16:creationId xmlns:a16="http://schemas.microsoft.com/office/drawing/2014/main" id="{1E18CEAF-8378-1738-1DB9-E0460ED0E1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6565" y="4127232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38948" name="Group 36">
            <a:extLst>
              <a:ext uri="{FF2B5EF4-FFF2-40B4-BE49-F238E27FC236}">
                <a16:creationId xmlns:a16="http://schemas.microsoft.com/office/drawing/2014/main" id="{ADE96BCC-A8D7-F877-E80F-AE809C5C59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25424303"/>
              </p:ext>
            </p:extLst>
          </p:nvPr>
        </p:nvGraphicFramePr>
        <p:xfrm>
          <a:off x="4454910" y="1882701"/>
          <a:ext cx="4114800" cy="2349500"/>
        </p:xfrm>
        <a:graphic>
          <a:graphicData uri="http://schemas.openxmlformats.org/drawingml/2006/table">
            <a:tbl>
              <a:tblPr firstRow="1"/>
              <a:tblGrid>
                <a:gridCol w="1064941">
                  <a:extLst>
                    <a:ext uri="{9D8B030D-6E8A-4147-A177-3AD203B41FA5}">
                      <a16:colId xmlns:a16="http://schemas.microsoft.com/office/drawing/2014/main" val="1639822813"/>
                    </a:ext>
                  </a:extLst>
                </a:gridCol>
                <a:gridCol w="3049859">
                  <a:extLst>
                    <a:ext uri="{9D8B030D-6E8A-4147-A177-3AD203B41FA5}">
                      <a16:colId xmlns:a16="http://schemas.microsoft.com/office/drawing/2014/main" val="796191183"/>
                    </a:ext>
                  </a:extLst>
                </a:gridCol>
              </a:tblGrid>
              <a:tr h="6381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Adjacency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889925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588810"/>
                  </a:ext>
                </a:extLst>
              </a:tr>
              <a:tr h="568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u, 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029709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71223"/>
                  </a:ext>
                </a:extLst>
              </a:tr>
            </a:tbl>
          </a:graphicData>
        </a:graphic>
      </p:graphicFrame>
      <p:sp>
        <p:nvSpPr>
          <p:cNvPr id="38915" name="Rectangle 3">
            <a:extLst>
              <a:ext uri="{FF2B5EF4-FFF2-40B4-BE49-F238E27FC236}">
                <a16:creationId xmlns:a16="http://schemas.microsoft.com/office/drawing/2014/main" id="{576BE7C9-FF58-FDE6-8D99-05D02CE6D6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18805" y="4852325"/>
            <a:ext cx="7351712" cy="877887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sz="2800" dirty="0"/>
              <a:t>Note that here (</a:t>
            </a:r>
            <a:r>
              <a:rPr lang="en-US" altLang="en-US" sz="2800" dirty="0" err="1"/>
              <a:t>v,w</a:t>
            </a:r>
            <a:r>
              <a:rPr lang="en-US" altLang="en-US" sz="2800" dirty="0"/>
              <a:t>) and (</a:t>
            </a:r>
            <a:r>
              <a:rPr lang="en-US" altLang="en-US" sz="2800" dirty="0" err="1"/>
              <a:t>w,v</a:t>
            </a:r>
            <a:r>
              <a:rPr lang="en-US" altLang="en-US" sz="2800" dirty="0"/>
              <a:t>) are considered separate edges, while in an undirected graph they would be considered two ways to write the same edge </a:t>
            </a:r>
            <a:r>
              <a:rPr lang="en-US" altLang="en-US" sz="2800" u="sng" dirty="0"/>
              <a:t>and wouldn’t both be listed.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3920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309F6BEF-77E2-4D32-B878-D4120D866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Walks in Adjacency Matrices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5673CD53-C556-42EB-A397-08EBD93B9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How many walks of length 2 exists in this Adjacency matrix? </a:t>
            </a:r>
          </a:p>
        </p:txBody>
      </p:sp>
      <p:graphicFrame>
        <p:nvGraphicFramePr>
          <p:cNvPr id="8" name="Table 7" descr="The adjacency matrix">
            <a:extLst>
              <a:ext uri="{FF2B5EF4-FFF2-40B4-BE49-F238E27FC236}">
                <a16:creationId xmlns:a16="http://schemas.microsoft.com/office/drawing/2014/main" id="{619D650B-D2F5-4A3F-95CD-9F310E58F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145149"/>
              </p:ext>
            </p:extLst>
          </p:nvPr>
        </p:nvGraphicFramePr>
        <p:xfrm>
          <a:off x="2857500" y="3125688"/>
          <a:ext cx="3429000" cy="2243140"/>
        </p:xfrm>
        <a:graphic>
          <a:graphicData uri="http://schemas.openxmlformats.org/drawingml/2006/table">
            <a:tbl>
              <a:tblPr firstRow="1"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90BB70D-BC8C-42FD-B9E8-BCDEEAA74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4" name="Picture 2" descr="The first row of one matrix is multiplied by the first column of an identical matrix to get the top left entry in the resultant matrix. &#10;The matrix is a 3 by 3 matrix:&#10;0 1 1&#10;1 0 0&#10;1 0 0&#10;To multiple the first row, 0 1 1, by the first column, 0 1 1, you multiply the first times first, then second times second, then third times third, and then sum the results, like so:&#10;0*0 + 1*1 + 1*1 = 2">
            <a:extLst>
              <a:ext uri="{FF2B5EF4-FFF2-40B4-BE49-F238E27FC236}">
                <a16:creationId xmlns:a16="http://schemas.microsoft.com/office/drawing/2014/main" id="{FF3F6163-B9FB-4419-B236-33CA5ECA5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65151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90BB70D-BC8C-42FD-B9E8-BCDEEAA74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o calculate the element in the second row, first column in the resultant matrix, the second row of second matrix is multiplied by the first column of the second matrix. &#10;Both matrices are 3 by 3 matrices.&#10;Matrix A:&#10;1 0 2&#10;3 1 0&#10;5 -1 2&#10;Matrix B: &#10;2 -1 0&#10;5 1 -1&#10;-2 0 0&#10;To multiple the second row of the first matrix, 3 1 0, by the first column of the second matrix, 2 5 -2, you multiply the first times first, then second times second, then third times third, and then sum the results, like so:&#10;3*2 + 1*5 + 0*-2 = 11">
            <a:extLst>
              <a:ext uri="{FF2B5EF4-FFF2-40B4-BE49-F238E27FC236}">
                <a16:creationId xmlns:a16="http://schemas.microsoft.com/office/drawing/2014/main" id="{C0589C27-47CB-34B5-7120-E33FE963B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85914"/>
            <a:ext cx="8699406" cy="350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993078"/>
      </p:ext>
    </p:extLst>
  </p:cSld>
  <p:clrMapOvr>
    <a:masterClrMapping/>
  </p:clrMapOvr>
</p:sld>
</file>

<file path=ppt/theme/theme1.xml><?xml version="1.0" encoding="utf-8"?>
<a:theme xmlns:a="http://schemas.openxmlformats.org/drawingml/2006/main" name="Dads Tie">
  <a:themeElements>
    <a:clrScheme name="Dad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s Ti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d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Designs\Dads Tie.pot</Template>
  <TotalTime>10551</TotalTime>
  <Words>236</Words>
  <Application>Microsoft Office PowerPoint</Application>
  <PresentationFormat>On-screen Show (4:3)</PresentationFormat>
  <Paragraphs>91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Monotype Sorts</vt:lpstr>
      <vt:lpstr>Tahoma</vt:lpstr>
      <vt:lpstr>Times New Roman</vt:lpstr>
      <vt:lpstr>Wingdings</vt:lpstr>
      <vt:lpstr>Dads Tie</vt:lpstr>
      <vt:lpstr>Adjacency Matrix Representation</vt:lpstr>
      <vt:lpstr>Adjacency List Representation</vt:lpstr>
      <vt:lpstr>Adjacency Matrix Representation</vt:lpstr>
      <vt:lpstr>Adjacency List Representation</vt:lpstr>
      <vt:lpstr>Counting Walks in Adjacency Matrices</vt:lpstr>
      <vt:lpstr>Matrix Multiplication</vt:lpstr>
      <vt:lpstr>Matrix Multiplication</vt:lpstr>
    </vt:vector>
  </TitlesOfParts>
  <Company>Skylight Publishing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Methods</dc:title>
  <dc:subject>Chapter 7</dc:subject>
  <dc:creator>Maria Litvin and Gary Litvin</dc:creator>
  <cp:lastModifiedBy>Weldon Jasik</cp:lastModifiedBy>
  <cp:revision>683</cp:revision>
  <cp:lastPrinted>2021-05-14T18:26:42Z</cp:lastPrinted>
  <dcterms:created xsi:type="dcterms:W3CDTF">2002-08-16T13:24:03Z</dcterms:created>
  <dcterms:modified xsi:type="dcterms:W3CDTF">2025-03-07T16:14:35Z</dcterms:modified>
</cp:coreProperties>
</file>