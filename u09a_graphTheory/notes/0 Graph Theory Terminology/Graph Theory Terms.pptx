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9" r:id="rId1"/>
  </p:sldMasterIdLst>
  <p:notesMasterIdLst>
    <p:notesMasterId r:id="rId47"/>
  </p:notesMasterIdLst>
  <p:sldIdLst>
    <p:sldId id="589" r:id="rId2"/>
    <p:sldId id="665" r:id="rId3"/>
    <p:sldId id="666" r:id="rId4"/>
    <p:sldId id="701" r:id="rId5"/>
    <p:sldId id="667" r:id="rId6"/>
    <p:sldId id="668" r:id="rId7"/>
    <p:sldId id="697" r:id="rId8"/>
    <p:sldId id="301" r:id="rId9"/>
    <p:sldId id="284" r:id="rId10"/>
    <p:sldId id="303" r:id="rId11"/>
    <p:sldId id="704" r:id="rId12"/>
    <p:sldId id="673" r:id="rId13"/>
    <p:sldId id="694" r:id="rId14"/>
    <p:sldId id="708" r:id="rId15"/>
    <p:sldId id="677" r:id="rId16"/>
    <p:sldId id="689" r:id="rId17"/>
    <p:sldId id="700" r:id="rId18"/>
    <p:sldId id="699" r:id="rId19"/>
    <p:sldId id="698" r:id="rId20"/>
    <p:sldId id="693" r:id="rId21"/>
    <p:sldId id="682" r:id="rId22"/>
    <p:sldId id="709" r:id="rId23"/>
    <p:sldId id="695" r:id="rId24"/>
    <p:sldId id="710" r:id="rId25"/>
    <p:sldId id="683" r:id="rId26"/>
    <p:sldId id="712" r:id="rId27"/>
    <p:sldId id="684" r:id="rId28"/>
    <p:sldId id="685" r:id="rId29"/>
    <p:sldId id="678" r:id="rId30"/>
    <p:sldId id="692" r:id="rId31"/>
    <p:sldId id="690" r:id="rId32"/>
    <p:sldId id="687" r:id="rId33"/>
    <p:sldId id="705" r:id="rId34"/>
    <p:sldId id="706" r:id="rId35"/>
    <p:sldId id="676" r:id="rId36"/>
    <p:sldId id="702" r:id="rId37"/>
    <p:sldId id="669" r:id="rId38"/>
    <p:sldId id="696" r:id="rId39"/>
    <p:sldId id="670" r:id="rId40"/>
    <p:sldId id="671" r:id="rId41"/>
    <p:sldId id="672" r:id="rId42"/>
    <p:sldId id="674" r:id="rId43"/>
    <p:sldId id="675" r:id="rId44"/>
    <p:sldId id="703" r:id="rId45"/>
    <p:sldId id="691" r:id="rId46"/>
  </p:sldIdLst>
  <p:sldSz cx="9144000" cy="6858000" type="screen4x3"/>
  <p:notesSz cx="9296400" cy="7010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08" userDrawn="1">
          <p15:clr>
            <a:srgbClr val="A4A3A4"/>
          </p15:clr>
        </p15:guide>
        <p15:guide id="2" pos="292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D5CB9"/>
    <a:srgbClr val="0066FF"/>
    <a:srgbClr val="008000"/>
    <a:srgbClr val="990033"/>
    <a:srgbClr val="EAECF0"/>
    <a:srgbClr val="2C5C80"/>
    <a:srgbClr val="FF7F7F"/>
    <a:srgbClr val="FAFBC1"/>
    <a:srgbClr val="FFFFEB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265" autoAdjust="0"/>
    <p:restoredTop sz="86469" autoAdjust="0"/>
  </p:normalViewPr>
  <p:slideViewPr>
    <p:cSldViewPr snapToGrid="0" snapToObjects="1">
      <p:cViewPr varScale="1">
        <p:scale>
          <a:sx n="69" d="100"/>
          <a:sy n="69" d="100"/>
        </p:scale>
        <p:origin x="1205" y="58"/>
      </p:cViewPr>
      <p:guideLst>
        <p:guide orient="horz" pos="2160"/>
        <p:guide pos="2880"/>
      </p:guideLst>
    </p:cSldViewPr>
  </p:slideViewPr>
  <p:outlineViewPr>
    <p:cViewPr>
      <p:scale>
        <a:sx n="66" d="100"/>
        <a:sy n="66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>
        <p:scale>
          <a:sx n="66" d="100"/>
          <a:sy n="66" d="100"/>
        </p:scale>
        <p:origin x="-1386" y="-72"/>
      </p:cViewPr>
      <p:guideLst>
        <p:guide orient="horz" pos="2208"/>
        <p:guide pos="292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>
            <a:extLst>
              <a:ext uri="{FF2B5EF4-FFF2-40B4-BE49-F238E27FC236}">
                <a16:creationId xmlns:a16="http://schemas.microsoft.com/office/drawing/2014/main" id="{0A3A56D3-CCF0-49D4-B894-F71230D540D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4029282" cy="350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3" name="Rectangle 3">
            <a:extLst>
              <a:ext uri="{FF2B5EF4-FFF2-40B4-BE49-F238E27FC236}">
                <a16:creationId xmlns:a16="http://schemas.microsoft.com/office/drawing/2014/main" id="{8E12CEF7-9947-45A0-A360-28F020756A0E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5267119" y="0"/>
            <a:ext cx="4029282" cy="350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DE4CE83E-661C-4C48-ACEA-D16F33CF261F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895600" y="525463"/>
            <a:ext cx="3505200" cy="26289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5" name="Rectangle 5">
            <a:extLst>
              <a:ext uri="{FF2B5EF4-FFF2-40B4-BE49-F238E27FC236}">
                <a16:creationId xmlns:a16="http://schemas.microsoft.com/office/drawing/2014/main" id="{5CBC30EA-0CA5-4ABA-9C83-EAEF8D419AE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39942" y="3330419"/>
            <a:ext cx="6816518" cy="31544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366" name="Rectangle 6">
            <a:extLst>
              <a:ext uri="{FF2B5EF4-FFF2-40B4-BE49-F238E27FC236}">
                <a16:creationId xmlns:a16="http://schemas.microsoft.com/office/drawing/2014/main" id="{87E512ED-C3DC-47F6-9110-DB8B5805BA1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6659641"/>
            <a:ext cx="4029282" cy="3507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7" name="Rectangle 7">
            <a:extLst>
              <a:ext uri="{FF2B5EF4-FFF2-40B4-BE49-F238E27FC236}">
                <a16:creationId xmlns:a16="http://schemas.microsoft.com/office/drawing/2014/main" id="{4E41A777-3887-4F22-A37D-EFBF4943722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267119" y="6659641"/>
            <a:ext cx="4029282" cy="3507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pPr>
              <a:defRPr/>
            </a:pPr>
            <a:fld id="{62804723-5E0A-4B8F-BB8E-4A9C77F6315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>
            <a:extLst>
              <a:ext uri="{FF2B5EF4-FFF2-40B4-BE49-F238E27FC236}">
                <a16:creationId xmlns:a16="http://schemas.microsoft.com/office/drawing/2014/main" id="{F3E624E7-8C29-4118-8A64-602C4ED59A8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109388A-D003-4731-944E-91E11F7C51B4}" type="slidenum">
              <a:rPr lang="en-US" altLang="en-US" smtClean="0"/>
              <a:pPr>
                <a:spcBef>
                  <a:spcPct val="0"/>
                </a:spcBef>
              </a:pPr>
              <a:t>1</a:t>
            </a:fld>
            <a:endParaRPr lang="en-US" altLang="en-US"/>
          </a:p>
        </p:txBody>
      </p:sp>
      <p:sp>
        <p:nvSpPr>
          <p:cNvPr id="10243" name="Rectangle 2">
            <a:extLst>
              <a:ext uri="{FF2B5EF4-FFF2-40B4-BE49-F238E27FC236}">
                <a16:creationId xmlns:a16="http://schemas.microsoft.com/office/drawing/2014/main" id="{883F7EAD-C1B4-47F5-AD3A-83D4457DE73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4" name="Rectangle 3">
            <a:extLst>
              <a:ext uri="{FF2B5EF4-FFF2-40B4-BE49-F238E27FC236}">
                <a16:creationId xmlns:a16="http://schemas.microsoft.com/office/drawing/2014/main" id="{ADCE907C-FCDB-4F3E-8CB1-5393D6A13E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7">
            <a:extLst>
              <a:ext uri="{FF2B5EF4-FFF2-40B4-BE49-F238E27FC236}">
                <a16:creationId xmlns:a16="http://schemas.microsoft.com/office/drawing/2014/main" id="{D84EF23F-42A0-43AA-B3EE-F96C1EEC62C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761CB46-38A3-4949-8FC2-E64B4CEC7EE8}" type="slidenum">
              <a:rPr lang="en-US" altLang="en-US" smtClean="0"/>
              <a:pPr>
                <a:spcBef>
                  <a:spcPct val="0"/>
                </a:spcBef>
              </a:pPr>
              <a:t>2</a:t>
            </a:fld>
            <a:endParaRPr lang="en-US" altLang="en-US"/>
          </a:p>
        </p:txBody>
      </p:sp>
      <p:sp>
        <p:nvSpPr>
          <p:cNvPr id="13315" name="Rectangle 2">
            <a:extLst>
              <a:ext uri="{FF2B5EF4-FFF2-40B4-BE49-F238E27FC236}">
                <a16:creationId xmlns:a16="http://schemas.microsoft.com/office/drawing/2014/main" id="{95D70ADD-79A9-4238-A966-8E88320F9C4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316" name="Rectangle 3">
            <a:extLst>
              <a:ext uri="{FF2B5EF4-FFF2-40B4-BE49-F238E27FC236}">
                <a16:creationId xmlns:a16="http://schemas.microsoft.com/office/drawing/2014/main" id="{1AAEDC63-65C5-486B-A707-2A457E44C5C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>
            <a:extLst>
              <a:ext uri="{FF2B5EF4-FFF2-40B4-BE49-F238E27FC236}">
                <a16:creationId xmlns:a16="http://schemas.microsoft.com/office/drawing/2014/main" id="{E7756A29-C85A-4564-8F3B-4755182F293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DAAA84FB-1136-45A8-B5E7-B558EEAD291B}" type="slidenum">
              <a:rPr lang="en-US" altLang="en-US" smtClean="0"/>
              <a:pPr>
                <a:spcBef>
                  <a:spcPct val="0"/>
                </a:spcBef>
              </a:pPr>
              <a:t>3</a:t>
            </a:fld>
            <a:endParaRPr lang="en-US" altLang="en-US"/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91403F32-60CD-434C-A5A8-825FB2B3447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2BE259F3-B574-4D0F-8612-1EAB3BEDFAC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>
            <a:extLst>
              <a:ext uri="{FF2B5EF4-FFF2-40B4-BE49-F238E27FC236}">
                <a16:creationId xmlns:a16="http://schemas.microsoft.com/office/drawing/2014/main" id="{F3E624E7-8C29-4118-8A64-602C4ED59A8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109388A-D003-4731-944E-91E11F7C51B4}" type="slidenum">
              <a:rPr lang="en-US" altLang="en-US" smtClean="0"/>
              <a:pPr>
                <a:spcBef>
                  <a:spcPct val="0"/>
                </a:spcBef>
              </a:pPr>
              <a:t>4</a:t>
            </a:fld>
            <a:endParaRPr lang="en-US" altLang="en-US"/>
          </a:p>
        </p:txBody>
      </p:sp>
      <p:sp>
        <p:nvSpPr>
          <p:cNvPr id="10243" name="Rectangle 2">
            <a:extLst>
              <a:ext uri="{FF2B5EF4-FFF2-40B4-BE49-F238E27FC236}">
                <a16:creationId xmlns:a16="http://schemas.microsoft.com/office/drawing/2014/main" id="{883F7EAD-C1B4-47F5-AD3A-83D4457DE73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4" name="Rectangle 3">
            <a:extLst>
              <a:ext uri="{FF2B5EF4-FFF2-40B4-BE49-F238E27FC236}">
                <a16:creationId xmlns:a16="http://schemas.microsoft.com/office/drawing/2014/main" id="{ADCE907C-FCDB-4F3E-8CB1-5393D6A13E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148024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>
            <a:extLst>
              <a:ext uri="{FF2B5EF4-FFF2-40B4-BE49-F238E27FC236}">
                <a16:creationId xmlns:a16="http://schemas.microsoft.com/office/drawing/2014/main" id="{FD5C0523-BC9A-4330-B5F0-D2572593058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679EAA8-8781-4B03-9602-AE54125BF06C}" type="slidenum">
              <a:rPr lang="en-US" altLang="en-US" smtClean="0"/>
              <a:pPr>
                <a:spcBef>
                  <a:spcPct val="0"/>
                </a:spcBef>
              </a:pPr>
              <a:t>5</a:t>
            </a:fld>
            <a:endParaRPr lang="en-US" alt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769BD531-0B47-4D83-BB19-1A086FFD508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E05AF2C9-87B0-4245-ABE7-3A3C462FC1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>
            <a:extLst>
              <a:ext uri="{FF2B5EF4-FFF2-40B4-BE49-F238E27FC236}">
                <a16:creationId xmlns:a16="http://schemas.microsoft.com/office/drawing/2014/main" id="{2168EA49-7CD3-4F10-A461-8047E0CB216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D084B301-B1B0-45AF-9530-EDB061678FAB}" type="slidenum">
              <a:rPr lang="en-US" altLang="en-US" smtClean="0"/>
              <a:pPr>
                <a:spcBef>
                  <a:spcPct val="0"/>
                </a:spcBef>
              </a:pPr>
              <a:t>6</a:t>
            </a:fld>
            <a:endParaRPr lang="en-US" altLang="en-US"/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EA5E95EE-84AB-4869-B2F2-7C0C37712B1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EE8167BD-DD46-447A-B925-6413465BB68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>
            <a:extLst>
              <a:ext uri="{FF2B5EF4-FFF2-40B4-BE49-F238E27FC236}">
                <a16:creationId xmlns:a16="http://schemas.microsoft.com/office/drawing/2014/main" id="{2168EA49-7CD3-4F10-A461-8047E0CB216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D084B301-B1B0-45AF-9530-EDB061678FAB}" type="slidenum">
              <a:rPr lang="en-US" altLang="en-US" smtClean="0"/>
              <a:pPr>
                <a:spcBef>
                  <a:spcPct val="0"/>
                </a:spcBef>
              </a:pPr>
              <a:t>7</a:t>
            </a:fld>
            <a:endParaRPr lang="en-US" altLang="en-US"/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EA5E95EE-84AB-4869-B2F2-7C0C37712B1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EE8167BD-DD46-447A-B925-6413465BB68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884508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the matrix is always symmetric for an undirected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2804723-5E0A-4B8F-BB8E-4A9C77F63159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444434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>
            <a:extLst>
              <a:ext uri="{FF2B5EF4-FFF2-40B4-BE49-F238E27FC236}">
                <a16:creationId xmlns:a16="http://schemas.microsoft.com/office/drawing/2014/main" id="{A8FB91A2-DF17-42EE-899A-0D2E08318B8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0E9DCE5-23D2-4147-ABBD-7442DDB225B4}" type="slidenum">
              <a:rPr lang="en-US" altLang="en-US" smtClean="0"/>
              <a:pPr>
                <a:spcBef>
                  <a:spcPct val="0"/>
                </a:spcBef>
              </a:pPr>
              <a:t>12</a:t>
            </a:fld>
            <a:endParaRPr lang="en-US" altLang="en-US"/>
          </a:p>
        </p:txBody>
      </p:sp>
      <p:sp>
        <p:nvSpPr>
          <p:cNvPr id="33795" name="Rectangle 2">
            <a:extLst>
              <a:ext uri="{FF2B5EF4-FFF2-40B4-BE49-F238E27FC236}">
                <a16:creationId xmlns:a16="http://schemas.microsoft.com/office/drawing/2014/main" id="{21F27E37-99A4-4E91-9D31-7C7661696DD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>
            <a:extLst>
              <a:ext uri="{FF2B5EF4-FFF2-40B4-BE49-F238E27FC236}">
                <a16:creationId xmlns:a16="http://schemas.microsoft.com/office/drawing/2014/main" id="{A6D40A98-F81A-4592-90CB-450A32B2E74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>
            <a:extLst>
              <a:ext uri="{FF2B5EF4-FFF2-40B4-BE49-F238E27FC236}">
                <a16:creationId xmlns:a16="http://schemas.microsoft.com/office/drawing/2014/main" id="{FD5C0523-BC9A-4330-B5F0-D2572593058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679EAA8-8781-4B03-9602-AE54125BF06C}" type="slidenum">
              <a:rPr lang="en-US" altLang="en-US" smtClean="0"/>
              <a:pPr>
                <a:spcBef>
                  <a:spcPct val="0"/>
                </a:spcBef>
              </a:pPr>
              <a:t>13</a:t>
            </a:fld>
            <a:endParaRPr lang="en-US" alt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769BD531-0B47-4D83-BB19-1A086FFD508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E05AF2C9-87B0-4245-ABE7-3A3C462FC1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968584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>
            <a:extLst>
              <a:ext uri="{FF2B5EF4-FFF2-40B4-BE49-F238E27FC236}">
                <a16:creationId xmlns:a16="http://schemas.microsoft.com/office/drawing/2014/main" id="{FD5C0523-BC9A-4330-B5F0-D2572593058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679EAA8-8781-4B03-9602-AE54125BF06C}" type="slidenum">
              <a:rPr lang="en-US" altLang="en-US" smtClean="0"/>
              <a:pPr>
                <a:spcBef>
                  <a:spcPct val="0"/>
                </a:spcBef>
              </a:pPr>
              <a:t>14</a:t>
            </a:fld>
            <a:endParaRPr lang="en-US" alt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769BD531-0B47-4D83-BB19-1A086FFD508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E05AF2C9-87B0-4245-ABE7-3A3C462FC1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34302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2804723-5E0A-4B8F-BB8E-4A9C77F63159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186608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cycle/circular graph is a cycle. I.e. it contains one cycle, and that cycle traverses all of the vertices.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2804723-5E0A-4B8F-BB8E-4A9C77F63159}" type="slidenum">
              <a:rPr lang="en-US" altLang="en-US" smtClean="0"/>
              <a:pPr>
                <a:defRPr/>
              </a:pPr>
              <a:t>32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384355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cycle/circular graph is a cycle. I.e. it contains one cycle, and that cycle traverses all of the vertices.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2804723-5E0A-4B8F-BB8E-4A9C77F63159}" type="slidenum">
              <a:rPr lang="en-US" altLang="en-US" smtClean="0"/>
              <a:pPr>
                <a:defRPr/>
              </a:pPr>
              <a:t>33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189122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cycle/circular graph is a cycle. I.e. it contains one cycle, and that cycle traverses all of the vertices.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2804723-5E0A-4B8F-BB8E-4A9C77F63159}" type="slidenum">
              <a:rPr lang="en-US" altLang="en-US" smtClean="0"/>
              <a:pPr>
                <a:defRPr/>
              </a:pPr>
              <a:t>34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156938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>
            <a:extLst>
              <a:ext uri="{FF2B5EF4-FFF2-40B4-BE49-F238E27FC236}">
                <a16:creationId xmlns:a16="http://schemas.microsoft.com/office/drawing/2014/main" id="{20592198-DDAE-4809-BDC8-A30D5D87FEC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90940BB-AD1B-4E7A-B500-4E2F10EBBF9A}" type="slidenum">
              <a:rPr lang="en-US" altLang="en-US" smtClean="0"/>
              <a:pPr>
                <a:spcBef>
                  <a:spcPct val="0"/>
                </a:spcBef>
              </a:pPr>
              <a:t>35</a:t>
            </a:fld>
            <a:endParaRPr lang="en-US" altLang="en-US"/>
          </a:p>
        </p:txBody>
      </p:sp>
      <p:sp>
        <p:nvSpPr>
          <p:cNvPr id="35843" name="Rectangle 2">
            <a:extLst>
              <a:ext uri="{FF2B5EF4-FFF2-40B4-BE49-F238E27FC236}">
                <a16:creationId xmlns:a16="http://schemas.microsoft.com/office/drawing/2014/main" id="{37D77245-550A-4837-8BF3-4569C9D9914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>
            <a:extLst>
              <a:ext uri="{FF2B5EF4-FFF2-40B4-BE49-F238E27FC236}">
                <a16:creationId xmlns:a16="http://schemas.microsoft.com/office/drawing/2014/main" id="{4D6683EF-DA40-4BC6-AA03-99E7AB65183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>
            <a:extLst>
              <a:ext uri="{FF2B5EF4-FFF2-40B4-BE49-F238E27FC236}">
                <a16:creationId xmlns:a16="http://schemas.microsoft.com/office/drawing/2014/main" id="{20592198-DDAE-4809-BDC8-A30D5D87FEC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90940BB-AD1B-4E7A-B500-4E2F10EBBF9A}" type="slidenum">
              <a:rPr lang="en-US" altLang="en-US" smtClean="0"/>
              <a:pPr>
                <a:spcBef>
                  <a:spcPct val="0"/>
                </a:spcBef>
              </a:pPr>
              <a:t>36</a:t>
            </a:fld>
            <a:endParaRPr lang="en-US" altLang="en-US"/>
          </a:p>
        </p:txBody>
      </p:sp>
      <p:sp>
        <p:nvSpPr>
          <p:cNvPr id="35843" name="Rectangle 2">
            <a:extLst>
              <a:ext uri="{FF2B5EF4-FFF2-40B4-BE49-F238E27FC236}">
                <a16:creationId xmlns:a16="http://schemas.microsoft.com/office/drawing/2014/main" id="{37D77245-550A-4837-8BF3-4569C9D9914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>
            <a:extLst>
              <a:ext uri="{FF2B5EF4-FFF2-40B4-BE49-F238E27FC236}">
                <a16:creationId xmlns:a16="http://schemas.microsoft.com/office/drawing/2014/main" id="{4D6683EF-DA40-4BC6-AA03-99E7AB65183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914609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>
            <a:extLst>
              <a:ext uri="{FF2B5EF4-FFF2-40B4-BE49-F238E27FC236}">
                <a16:creationId xmlns:a16="http://schemas.microsoft.com/office/drawing/2014/main" id="{50ECCBEB-EF98-4DA8-8364-AC8CAFF6433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4500A2E-5E0F-4DF5-B1D6-61F9C2508182}" type="slidenum">
              <a:rPr lang="en-US" altLang="en-US" smtClean="0"/>
              <a:pPr>
                <a:spcBef>
                  <a:spcPct val="0"/>
                </a:spcBef>
              </a:pPr>
              <a:t>37</a:t>
            </a:fld>
            <a:endParaRPr lang="en-US" altLang="en-US"/>
          </a:p>
        </p:txBody>
      </p:sp>
      <p:sp>
        <p:nvSpPr>
          <p:cNvPr id="21507" name="Rectangle 2">
            <a:extLst>
              <a:ext uri="{FF2B5EF4-FFF2-40B4-BE49-F238E27FC236}">
                <a16:creationId xmlns:a16="http://schemas.microsoft.com/office/drawing/2014/main" id="{D9048E90-767D-4B96-B641-B082C68DF54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>
            <a:extLst>
              <a:ext uri="{FF2B5EF4-FFF2-40B4-BE49-F238E27FC236}">
                <a16:creationId xmlns:a16="http://schemas.microsoft.com/office/drawing/2014/main" id="{6FE09486-8D8E-4A82-B03B-20885E5EE6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>
            <a:extLst>
              <a:ext uri="{FF2B5EF4-FFF2-40B4-BE49-F238E27FC236}">
                <a16:creationId xmlns:a16="http://schemas.microsoft.com/office/drawing/2014/main" id="{50ECCBEB-EF98-4DA8-8364-AC8CAFF6433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4500A2E-5E0F-4DF5-B1D6-61F9C2508182}" type="slidenum">
              <a:rPr lang="en-US" altLang="en-US" smtClean="0"/>
              <a:pPr>
                <a:spcBef>
                  <a:spcPct val="0"/>
                </a:spcBef>
              </a:pPr>
              <a:t>38</a:t>
            </a:fld>
            <a:endParaRPr lang="en-US" altLang="en-US"/>
          </a:p>
        </p:txBody>
      </p:sp>
      <p:sp>
        <p:nvSpPr>
          <p:cNvPr id="21507" name="Rectangle 2">
            <a:extLst>
              <a:ext uri="{FF2B5EF4-FFF2-40B4-BE49-F238E27FC236}">
                <a16:creationId xmlns:a16="http://schemas.microsoft.com/office/drawing/2014/main" id="{D9048E90-767D-4B96-B641-B082C68DF54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>
            <a:extLst>
              <a:ext uri="{FF2B5EF4-FFF2-40B4-BE49-F238E27FC236}">
                <a16:creationId xmlns:a16="http://schemas.microsoft.com/office/drawing/2014/main" id="{6FE09486-8D8E-4A82-B03B-20885E5EE6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707883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9F7198E8-68E1-4D95-945A-3BDBD25E36D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F14E81A2-5839-4621-9386-B89B2EC8C886}" type="slidenum">
              <a:rPr lang="en-US" altLang="en-US" smtClean="0"/>
              <a:pPr>
                <a:spcBef>
                  <a:spcPct val="0"/>
                </a:spcBef>
              </a:pPr>
              <a:t>39</a:t>
            </a:fld>
            <a:endParaRPr lang="en-US" altLang="en-US"/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57841AEF-FC7F-4234-976B-DDEC7F1FA47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79F087D7-987E-4DEE-B30B-44FCD9D6A8F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>
            <a:extLst>
              <a:ext uri="{FF2B5EF4-FFF2-40B4-BE49-F238E27FC236}">
                <a16:creationId xmlns:a16="http://schemas.microsoft.com/office/drawing/2014/main" id="{C257D90F-7D11-4FF2-80BF-C3A63D5E1CB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8B95B2C-A6B0-4AEF-9BDA-B44197B54551}" type="slidenum">
              <a:rPr lang="en-US" altLang="en-US" smtClean="0"/>
              <a:pPr>
                <a:spcBef>
                  <a:spcPct val="0"/>
                </a:spcBef>
              </a:pPr>
              <a:t>40</a:t>
            </a:fld>
            <a:endParaRPr lang="en-US" altLang="en-US"/>
          </a:p>
        </p:txBody>
      </p:sp>
      <p:sp>
        <p:nvSpPr>
          <p:cNvPr id="25603" name="Rectangle 2">
            <a:extLst>
              <a:ext uri="{FF2B5EF4-FFF2-40B4-BE49-F238E27FC236}">
                <a16:creationId xmlns:a16="http://schemas.microsoft.com/office/drawing/2014/main" id="{91159ED7-99A3-4E53-A3DD-15517904D93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>
            <a:extLst>
              <a:ext uri="{FF2B5EF4-FFF2-40B4-BE49-F238E27FC236}">
                <a16:creationId xmlns:a16="http://schemas.microsoft.com/office/drawing/2014/main" id="{949828A7-32A5-4AEF-A28E-CCB80B54108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>
            <a:extLst>
              <a:ext uri="{FF2B5EF4-FFF2-40B4-BE49-F238E27FC236}">
                <a16:creationId xmlns:a16="http://schemas.microsoft.com/office/drawing/2014/main" id="{45DD90E9-6325-4B0D-8297-635A1C4E7FC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51C117CE-42F3-4EE2-9210-265200134494}" type="slidenum">
              <a:rPr lang="en-US" altLang="en-US" smtClean="0"/>
              <a:pPr>
                <a:spcBef>
                  <a:spcPct val="0"/>
                </a:spcBef>
              </a:pPr>
              <a:t>41</a:t>
            </a:fld>
            <a:endParaRPr lang="en-US" altLang="en-US"/>
          </a:p>
        </p:txBody>
      </p:sp>
      <p:sp>
        <p:nvSpPr>
          <p:cNvPr id="27651" name="Rectangle 2">
            <a:extLst>
              <a:ext uri="{FF2B5EF4-FFF2-40B4-BE49-F238E27FC236}">
                <a16:creationId xmlns:a16="http://schemas.microsoft.com/office/drawing/2014/main" id="{05DABA64-D186-4CA9-A0D3-9ACB00F686D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>
            <a:extLst>
              <a:ext uri="{FF2B5EF4-FFF2-40B4-BE49-F238E27FC236}">
                <a16:creationId xmlns:a16="http://schemas.microsoft.com/office/drawing/2014/main" id="{38A867E9-5688-4C85-8C51-7E77235752F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>
            <a:extLst>
              <a:ext uri="{FF2B5EF4-FFF2-40B4-BE49-F238E27FC236}">
                <a16:creationId xmlns:a16="http://schemas.microsoft.com/office/drawing/2014/main" id="{883EF193-4943-4729-B49A-5F189307301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B03923F-8830-40E5-9515-288C42BF860B}" type="slidenum">
              <a:rPr lang="en-US" altLang="en-US" smtClean="0"/>
              <a:pPr>
                <a:spcBef>
                  <a:spcPct val="0"/>
                </a:spcBef>
              </a:pPr>
              <a:t>42</a:t>
            </a:fld>
            <a:endParaRPr lang="en-US" altLang="en-US"/>
          </a:p>
        </p:txBody>
      </p:sp>
      <p:sp>
        <p:nvSpPr>
          <p:cNvPr id="29699" name="Rectangle 2">
            <a:extLst>
              <a:ext uri="{FF2B5EF4-FFF2-40B4-BE49-F238E27FC236}">
                <a16:creationId xmlns:a16="http://schemas.microsoft.com/office/drawing/2014/main" id="{D7E0BAA8-8C81-4387-8BAD-FC5D7FFE6BF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>
            <a:extLst>
              <a:ext uri="{FF2B5EF4-FFF2-40B4-BE49-F238E27FC236}">
                <a16:creationId xmlns:a16="http://schemas.microsoft.com/office/drawing/2014/main" id="{48A87836-FFA9-4670-9F79-C7E32C5FFC9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/>
              <a:t>It’s difficult to be sure you’ve found all walks of a length greater than one by hand, so we multiply matrices instead.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>
            <a:extLst>
              <a:ext uri="{FF2B5EF4-FFF2-40B4-BE49-F238E27FC236}">
                <a16:creationId xmlns:a16="http://schemas.microsoft.com/office/drawing/2014/main" id="{EB2501A6-21C6-49FF-8A23-4451C8F056C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9ADB789F-1B28-4C6C-B6CD-B73EEEBDB5A4}" type="slidenum">
              <a:rPr lang="en-US" altLang="en-US" smtClean="0"/>
              <a:pPr>
                <a:spcBef>
                  <a:spcPct val="0"/>
                </a:spcBef>
              </a:pPr>
              <a:t>43</a:t>
            </a:fld>
            <a:endParaRPr lang="en-US" altLang="en-US"/>
          </a:p>
        </p:txBody>
      </p:sp>
      <p:sp>
        <p:nvSpPr>
          <p:cNvPr id="31747" name="Rectangle 2">
            <a:extLst>
              <a:ext uri="{FF2B5EF4-FFF2-40B4-BE49-F238E27FC236}">
                <a16:creationId xmlns:a16="http://schemas.microsoft.com/office/drawing/2014/main" id="{020002E8-CF06-4D4B-96F1-91C5DB2883F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>
            <a:extLst>
              <a:ext uri="{FF2B5EF4-FFF2-40B4-BE49-F238E27FC236}">
                <a16:creationId xmlns:a16="http://schemas.microsoft.com/office/drawing/2014/main" id="{A1769132-EDD7-4970-9FEE-9C7A565BD1C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>
            <a:extLst>
              <a:ext uri="{FF2B5EF4-FFF2-40B4-BE49-F238E27FC236}">
                <a16:creationId xmlns:a16="http://schemas.microsoft.com/office/drawing/2014/main" id="{EB2501A6-21C6-49FF-8A23-4451C8F056C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9ADB789F-1B28-4C6C-B6CD-B73EEEBDB5A4}" type="slidenum">
              <a:rPr lang="en-US" altLang="en-US" smtClean="0"/>
              <a:pPr>
                <a:spcBef>
                  <a:spcPct val="0"/>
                </a:spcBef>
              </a:pPr>
              <a:t>44</a:t>
            </a:fld>
            <a:endParaRPr lang="en-US" altLang="en-US"/>
          </a:p>
        </p:txBody>
      </p:sp>
      <p:sp>
        <p:nvSpPr>
          <p:cNvPr id="31747" name="Rectangle 2">
            <a:extLst>
              <a:ext uri="{FF2B5EF4-FFF2-40B4-BE49-F238E27FC236}">
                <a16:creationId xmlns:a16="http://schemas.microsoft.com/office/drawing/2014/main" id="{020002E8-CF06-4D4B-96F1-91C5DB2883F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>
            <a:extLst>
              <a:ext uri="{FF2B5EF4-FFF2-40B4-BE49-F238E27FC236}">
                <a16:creationId xmlns:a16="http://schemas.microsoft.com/office/drawing/2014/main" id="{A1769132-EDD7-4970-9FEE-9C7A565BD1C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074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_Title Slide">
    <p:bg>
      <p:bgPr>
        <a:gradFill rotWithShape="0">
          <a:gsLst>
            <a:gs pos="0">
              <a:srgbClr val="03D4A8"/>
            </a:gs>
            <a:gs pos="25000">
              <a:srgbClr val="21D6E0"/>
            </a:gs>
            <a:gs pos="75000">
              <a:srgbClr val="0087E6"/>
            </a:gs>
            <a:gs pos="100000">
              <a:srgbClr val="005CB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A113EA9-178C-4489-922E-F6FAF50276B9}"/>
              </a:ext>
            </a:extLst>
          </p:cNvPr>
          <p:cNvSpPr/>
          <p:nvPr userDrawn="1"/>
        </p:nvSpPr>
        <p:spPr>
          <a:xfrm>
            <a:off x="496133" y="300335"/>
            <a:ext cx="131318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4400" b="1" dirty="0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cs typeface="+mn-cs"/>
              </a:rPr>
              <a:t>Java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C2D8BB-CC46-422B-B9B7-695C3725ACE4}"/>
              </a:ext>
            </a:extLst>
          </p:cNvPr>
          <p:cNvSpPr/>
          <p:nvPr userDrawn="1"/>
        </p:nvSpPr>
        <p:spPr>
          <a:xfrm>
            <a:off x="478188" y="1224260"/>
            <a:ext cx="424430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 dirty="0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cs typeface="+mn-cs"/>
              </a:rPr>
              <a:t>Object Oriented Programming</a:t>
            </a:r>
          </a:p>
        </p:txBody>
      </p:sp>
    </p:spTree>
    <p:extLst>
      <p:ext uri="{BB962C8B-B14F-4D97-AF65-F5344CB8AC3E}">
        <p14:creationId xmlns:p14="http://schemas.microsoft.com/office/powerpoint/2010/main" val="7546078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4071-794B-4701-A7DC-39C50A89B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24AC8-73D2-4AAD-9193-481E7E4AA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67884-52FD-48CD-AAE8-C43F57EE6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Lab 01-</a:t>
            </a:r>
            <a:fld id="{FE1F91A5-696C-4070-9C3C-613CEAE4D6B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02979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9973BA-09F2-4966-A1FD-F70770969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F9F1F5-98A9-445C-BF66-7172C843D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9603D7-1EAD-46DE-A6BE-DCAED6DB5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Lab 01-</a:t>
            </a:r>
            <a:fld id="{F030EF13-7497-4CFD-9EB1-248DA4F8547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46253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91630F-A09D-4EE7-93A3-A2B2B4818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5C01B6-64E4-4D59-8C09-A4B6D24DA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7A19DD-0B36-4DA9-8BBE-65C6E5D65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Lab 01-</a:t>
            </a:r>
            <a:fld id="{128F8CC0-22B8-4BB4-BD05-2FA2C3E73A1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6317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4AA27-7E15-9B2D-7DFA-AC2ED93EF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0938" y="214313"/>
            <a:ext cx="7793037" cy="146208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A5AB66-8111-B439-1113-CC0BD4DF80FF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182688" y="2017713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DF1A16-3B58-FBB5-8F89-2D03B43A0B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45088" y="2017713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2E915A-1BC2-D59A-745B-DD6799F0C4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62050" y="6243638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EC0A84-250E-3E19-9BA2-565EA0A16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57600" y="6243638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B98C81-B7EB-56B3-DA7F-F08DC00DD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42150" y="6243638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D0A101E0-D20B-4DFA-B124-96412FF2857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22034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5">
            <a:extLst>
              <a:ext uri="{FF2B5EF4-FFF2-40B4-BE49-F238E27FC236}">
                <a16:creationId xmlns:a16="http://schemas.microsoft.com/office/drawing/2014/main" id="{97A36CA0-EC99-448B-ABF9-AC948CD337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173163" y="4572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26">
            <a:extLst>
              <a:ext uri="{FF2B5EF4-FFF2-40B4-BE49-F238E27FC236}">
                <a16:creationId xmlns:a16="http://schemas.microsoft.com/office/drawing/2014/main" id="{6C5CB5D8-089D-4CA0-B8E5-BD0FEBD01EB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173163" y="1981200"/>
            <a:ext cx="77724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75" name="Rectangle 27">
            <a:extLst>
              <a:ext uri="{FF2B5EF4-FFF2-40B4-BE49-F238E27FC236}">
                <a16:creationId xmlns:a16="http://schemas.microsoft.com/office/drawing/2014/main" id="{353BC887-0D79-4553-B463-99B0C75FD133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173163" y="6265863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50000"/>
              </a:spcBef>
              <a:defRPr sz="14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76" name="Rectangle 28">
            <a:extLst>
              <a:ext uri="{FF2B5EF4-FFF2-40B4-BE49-F238E27FC236}">
                <a16:creationId xmlns:a16="http://schemas.microsoft.com/office/drawing/2014/main" id="{E4C00373-27A8-46C3-B716-4FE131D0CF0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5814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0" hangingPunct="0">
              <a:spcBef>
                <a:spcPct val="50000"/>
              </a:spcBef>
              <a:defRPr sz="14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77" name="Rectangle 29">
            <a:extLst>
              <a:ext uri="{FF2B5EF4-FFF2-40B4-BE49-F238E27FC236}">
                <a16:creationId xmlns:a16="http://schemas.microsoft.com/office/drawing/2014/main" id="{8F7AD570-5738-409B-9275-31BBF813129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162800" y="64897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50000"/>
              </a:spcBef>
              <a:defRPr sz="14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en-US"/>
              <a:t>Lab 01</a:t>
            </a:r>
            <a:fld id="{99B86487-F13D-4A55-9790-54C5D963159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1031" name="Picture 31" descr="javaVert">
            <a:extLst>
              <a:ext uri="{FF2B5EF4-FFF2-40B4-BE49-F238E27FC236}">
                <a16:creationId xmlns:a16="http://schemas.microsoft.com/office/drawing/2014/main" id="{FD7EF5FD-22D5-4013-80B0-299ED91C5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572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83" r:id="rId2"/>
    <p:sldLayoutId id="2147483884" r:id="rId3"/>
    <p:sldLayoutId id="2147483885" r:id="rId4"/>
    <p:sldLayoutId id="2147483886" r:id="rId5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60000"/>
        <a:buFont typeface="Monotype Sorts"/>
        <a:buChar char="l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6146954-1A4C-4AC3-9AE7-9FE20AFEB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9329" y="193187"/>
            <a:ext cx="5821251" cy="1143000"/>
          </a:xfrm>
        </p:spPr>
        <p:txBody>
          <a:bodyPr/>
          <a:lstStyle/>
          <a:p>
            <a:r>
              <a:rPr lang="en-US" sz="6600" b="1" dirty="0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cs typeface="+mn-cs"/>
              </a:rPr>
              <a:t>Graph Theory</a:t>
            </a:r>
            <a:endParaRPr lang="en-US" sz="6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51223-A6A1-6379-98CB-CC6CB6E4368D}"/>
              </a:ext>
            </a:extLst>
          </p:cNvPr>
          <p:cNvSpPr txBox="1"/>
          <p:nvPr/>
        </p:nvSpPr>
        <p:spPr>
          <a:xfrm>
            <a:off x="1247670" y="4526280"/>
            <a:ext cx="744050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4000" dirty="0">
                <a:latin typeface="Consolas" panose="020B0609020204030204" pitchFamily="49" charset="0"/>
              </a:rPr>
              <a:t>V = {A, B, C, D, E, F}</a:t>
            </a:r>
          </a:p>
          <a:p>
            <a:r>
              <a:rPr lang="en-US" altLang="en-US" sz="4000" dirty="0">
                <a:latin typeface="Consolas" panose="020B0609020204030204" pitchFamily="49" charset="0"/>
              </a:rPr>
              <a:t>E = {(A,B), (B,C), (B,D),</a:t>
            </a:r>
            <a:br>
              <a:rPr lang="en-US" altLang="en-US" sz="4000" dirty="0">
                <a:latin typeface="Consolas" panose="020B0609020204030204" pitchFamily="49" charset="0"/>
              </a:rPr>
            </a:br>
            <a:r>
              <a:rPr lang="en-US" altLang="en-US" sz="4000" dirty="0">
                <a:latin typeface="Consolas" panose="020B0609020204030204" pitchFamily="49" charset="0"/>
              </a:rPr>
              <a:t>     (C,E), (D,E), (E,F)}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819C93-CF6C-0382-EB23-3977CD93BD95}"/>
              </a:ext>
            </a:extLst>
          </p:cNvPr>
          <p:cNvSpPr txBox="1"/>
          <p:nvPr/>
        </p:nvSpPr>
        <p:spPr>
          <a:xfrm>
            <a:off x="1360964" y="1653961"/>
            <a:ext cx="744050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4000" dirty="0">
                <a:latin typeface="Lucida Sans" panose="020B0602030504020204" pitchFamily="34" charset="0"/>
                <a:cs typeface="Times New Roman" panose="02020603050405020304" pitchFamily="18" charset="0"/>
              </a:rPr>
              <a:t>A </a:t>
            </a:r>
            <a:r>
              <a:rPr lang="en-US" altLang="en-US" sz="4000" b="1" i="1" dirty="0">
                <a:latin typeface="Lucida Sans" panose="020B0602030504020204" pitchFamily="34" charset="0"/>
                <a:cs typeface="Times New Roman" panose="02020603050405020304" pitchFamily="18" charset="0"/>
              </a:rPr>
              <a:t>graph</a:t>
            </a:r>
            <a:r>
              <a:rPr lang="en-US" altLang="en-US" sz="4000" dirty="0">
                <a:latin typeface="Lucida Sans" panose="020B0602030504020204" pitchFamily="34" charset="0"/>
                <a:cs typeface="Times New Roman" panose="02020603050405020304" pitchFamily="18" charset="0"/>
              </a:rPr>
              <a:t> is a set of </a:t>
            </a:r>
            <a:r>
              <a:rPr lang="en-US" altLang="en-US" sz="4000" b="1" dirty="0">
                <a:latin typeface="Lucida Sans" panose="020B0602030504020204" pitchFamily="34" charset="0"/>
                <a:cs typeface="Times New Roman" panose="02020603050405020304" pitchFamily="18" charset="0"/>
              </a:rPr>
              <a:t>nodes</a:t>
            </a:r>
            <a:r>
              <a:rPr lang="en-US" altLang="en-US" sz="4000" dirty="0">
                <a:latin typeface="Lucida Sans" panose="020B0602030504020204" pitchFamily="34" charset="0"/>
                <a:cs typeface="Times New Roman" panose="02020603050405020304" pitchFamily="18" charset="0"/>
              </a:rPr>
              <a:t> (a.k.a. </a:t>
            </a:r>
            <a:r>
              <a:rPr lang="en-US" altLang="en-US" sz="4000" b="1" dirty="0">
                <a:latin typeface="Lucida Sans" panose="020B0602030504020204" pitchFamily="34" charset="0"/>
                <a:cs typeface="Times New Roman" panose="02020603050405020304" pitchFamily="18" charset="0"/>
              </a:rPr>
              <a:t>vertices</a:t>
            </a:r>
            <a:r>
              <a:rPr lang="en-US" altLang="en-US" sz="4000" dirty="0">
                <a:latin typeface="Lucida Sans" panose="020B0602030504020204" pitchFamily="34" charset="0"/>
                <a:cs typeface="Times New Roman" panose="02020603050405020304" pitchFamily="18" charset="0"/>
              </a:rPr>
              <a:t>) where some pairs are connected by </a:t>
            </a:r>
            <a:r>
              <a:rPr lang="en-US" altLang="en-US" sz="4000" b="1" dirty="0">
                <a:latin typeface="Lucida Sans" panose="020B0602030504020204" pitchFamily="34" charset="0"/>
                <a:cs typeface="Times New Roman" panose="02020603050405020304" pitchFamily="18" charset="0"/>
              </a:rPr>
              <a:t>links</a:t>
            </a:r>
            <a:r>
              <a:rPr lang="en-US" altLang="en-US" sz="4000" dirty="0">
                <a:latin typeface="Lucida Sans" panose="020B0602030504020204" pitchFamily="34" charset="0"/>
                <a:cs typeface="Times New Roman" panose="02020603050405020304" pitchFamily="18" charset="0"/>
              </a:rPr>
              <a:t> (a.k.a. </a:t>
            </a:r>
            <a:r>
              <a:rPr lang="en-US" altLang="en-US" sz="4000" b="1" dirty="0">
                <a:latin typeface="Lucida Sans" panose="020B0602030504020204" pitchFamily="34" charset="0"/>
                <a:cs typeface="Times New Roman" panose="02020603050405020304" pitchFamily="18" charset="0"/>
              </a:rPr>
              <a:t>edges</a:t>
            </a:r>
            <a:r>
              <a:rPr lang="en-US" altLang="en-US" sz="4000" dirty="0">
                <a:latin typeface="Lucida Sans" panose="020B0602030504020204" pitchFamily="34" charset="0"/>
                <a:cs typeface="Times New Roman" panose="02020603050405020304" pitchFamily="18" charset="0"/>
              </a:rPr>
              <a:t>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1" name="Rectangle 2">
            <a:extLst>
              <a:ext uri="{FF2B5EF4-FFF2-40B4-BE49-F238E27FC236}">
                <a16:creationId xmlns:a16="http://schemas.microsoft.com/office/drawing/2014/main" id="{43740D95-5C2E-4E03-B0D8-24E4E49CDFE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Undirected Graph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92" name="Rectangle 6">
            <a:extLst>
              <a:ext uri="{FF2B5EF4-FFF2-40B4-BE49-F238E27FC236}">
                <a16:creationId xmlns:a16="http://schemas.microsoft.com/office/drawing/2014/main" id="{BCD9759D-990E-46A7-9503-5B94AA5740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438703"/>
            <a:ext cx="73914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In an </a:t>
            </a:r>
            <a:r>
              <a:rPr kumimoji="0" lang="en-US" altLang="en-US" b="1" dirty="0">
                <a:latin typeface="Abadi" panose="020B0604020104020204" pitchFamily="34" charset="0"/>
                <a:cs typeface="Aldhabi" panose="020F0502020204030204" pitchFamily="2" charset="-78"/>
              </a:rPr>
              <a:t>undirected graph</a:t>
            </a: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, each </a:t>
            </a:r>
            <a: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  <a:t>edge </a:t>
            </a:r>
            <a:b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</a:br>
            <a: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  <a:t>links two vertices symmetrically</a:t>
            </a: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. </a:t>
            </a:r>
          </a:p>
          <a:p>
            <a:pPr algn="ctr" eaLnBrk="1" hangingPunct="1">
              <a:spcBef>
                <a:spcPct val="0"/>
              </a:spcBef>
              <a:buClrTx/>
              <a:buSzTx/>
              <a:buNone/>
            </a:pPr>
            <a:r>
              <a:rPr kumimoji="0" lang="en-US" altLang="en-US" sz="3200" dirty="0">
                <a:latin typeface="Abadi" panose="020B0604020104020204" pitchFamily="34" charset="0"/>
                <a:cs typeface="Aldhabi" panose="020F0502020204030204" pitchFamily="2" charset="-78"/>
              </a:rPr>
              <a:t>(i.e. every edge is bi-directional)</a:t>
            </a:r>
            <a:endParaRPr lang="en-US" sz="3200" dirty="0"/>
          </a:p>
        </p:txBody>
      </p:sp>
      <p:pic>
        <p:nvPicPr>
          <p:cNvPr id="12293" name="Picture 3" descr="An undirected graph.&#10;Edges:&#10;{(A,B), (B,C), (B,D), (C,E), (D,E), (E,F)}&#10;Adjacency list&#10;A : B&#10;B : A, C, D&#10;C : B, E&#10;D : B, E&#10;E : C, D, F&#10;F : E&#10;">
            <a:extLst>
              <a:ext uri="{FF2B5EF4-FFF2-40B4-BE49-F238E27FC236}">
                <a16:creationId xmlns:a16="http://schemas.microsoft.com/office/drawing/2014/main" id="{D625C29B-4E6F-4416-BA62-CBE4B3F168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9350" y="3665210"/>
            <a:ext cx="4305300" cy="2686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7" name="Rectangle 2">
            <a:extLst>
              <a:ext uri="{FF2B5EF4-FFF2-40B4-BE49-F238E27FC236}">
                <a16:creationId xmlns:a16="http://schemas.microsoft.com/office/drawing/2014/main" id="{03071706-63E5-4EF3-91F0-83A5985B6A3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Directed Graph</a:t>
            </a:r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4B03FA6-B3B4-9F1A-9D0D-E13D4EE829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400" y="1430661"/>
            <a:ext cx="73914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In a </a:t>
            </a:r>
            <a:r>
              <a:rPr kumimoji="0" lang="en-US" altLang="en-US" b="1" dirty="0">
                <a:latin typeface="Abadi" panose="020B0604020104020204" pitchFamily="34" charset="0"/>
                <a:cs typeface="Aldhabi" panose="020F0502020204030204" pitchFamily="2" charset="-78"/>
              </a:rPr>
              <a:t>directed graph</a:t>
            </a: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, each </a:t>
            </a:r>
            <a: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  <a:t>edge </a:t>
            </a:r>
            <a:b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</a:br>
            <a: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  <a:t>links two vertices asymmetrically</a:t>
            </a: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. </a:t>
            </a:r>
          </a:p>
        </p:txBody>
      </p:sp>
      <p:pic>
        <p:nvPicPr>
          <p:cNvPr id="16388" name="Picture 2" descr="A directed graph.&#10;Edges:&#10;{(A,B), (B,C), (C,E), (D,B), (E, D), (E,F)}Adjacency list&#10;A : B&#10;B : C&#10;C : E&#10;D : B&#10;E : D, F&#10;F : none&#10;">
            <a:extLst>
              <a:ext uri="{FF2B5EF4-FFF2-40B4-BE49-F238E27FC236}">
                <a16:creationId xmlns:a16="http://schemas.microsoft.com/office/drawing/2014/main" id="{50599D1D-F190-412C-B478-16466C84D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1113" y="2908300"/>
            <a:ext cx="4286250" cy="266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6146954-1A4C-4AC3-9AE7-9FE20AFEB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9329" y="193187"/>
            <a:ext cx="5821251" cy="1143000"/>
          </a:xfrm>
        </p:spPr>
        <p:txBody>
          <a:bodyPr/>
          <a:lstStyle/>
          <a:p>
            <a:pPr algn="ctr"/>
            <a:r>
              <a:rPr lang="en-US" sz="6600" b="1" dirty="0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cs typeface="+mn-cs"/>
              </a:rPr>
              <a:t>Edges list</a:t>
            </a:r>
            <a:endParaRPr lang="en-US" sz="6600" dirty="0"/>
          </a:p>
        </p:txBody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C4B6C3FD-E8C4-4BE9-A416-44A3967FA23F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308630" y="1700531"/>
            <a:ext cx="7178357" cy="2678430"/>
          </a:xfrm>
        </p:spPr>
        <p:txBody>
          <a:bodyPr/>
          <a:lstStyle/>
          <a:p>
            <a:pPr marL="0" indent="0">
              <a:spcBef>
                <a:spcPct val="50000"/>
              </a:spcBef>
              <a:buSzPct val="100000"/>
              <a:buFont typeface="Monotype Sorts"/>
              <a:buNone/>
            </a:pPr>
            <a:r>
              <a:rPr lang="en-US" altLang="en-US" sz="4000" b="1" dirty="0">
                <a:latin typeface="Lucida Sans" panose="020B0602030504020204" pitchFamily="34" charset="0"/>
                <a:cs typeface="Times New Roman" panose="02020603050405020304" pitchFamily="18" charset="0"/>
              </a:rPr>
              <a:t>The type of graph must be specified since the same lists of vertices is used for directed and undirected.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51223-A6A1-6379-98CB-CC6CB6E4368D}"/>
              </a:ext>
            </a:extLst>
          </p:cNvPr>
          <p:cNvSpPr txBox="1"/>
          <p:nvPr/>
        </p:nvSpPr>
        <p:spPr>
          <a:xfrm>
            <a:off x="1308630" y="4603901"/>
            <a:ext cx="744050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4000" dirty="0">
                <a:latin typeface="Consolas" panose="020B0609020204030204" pitchFamily="49" charset="0"/>
              </a:rPr>
              <a:t>V = {A, B, C, D, E, F}</a:t>
            </a:r>
          </a:p>
          <a:p>
            <a:r>
              <a:rPr lang="en-US" altLang="en-US" sz="4000" dirty="0">
                <a:latin typeface="Consolas" panose="020B0609020204030204" pitchFamily="49" charset="0"/>
              </a:rPr>
              <a:t>E = {(A,B), (B,C), (C,E),</a:t>
            </a:r>
            <a:br>
              <a:rPr lang="en-US" altLang="en-US" sz="4000" dirty="0">
                <a:latin typeface="Consolas" panose="020B0609020204030204" pitchFamily="49" charset="0"/>
              </a:rPr>
            </a:br>
            <a:r>
              <a:rPr lang="en-US" altLang="en-US" sz="4000" dirty="0">
                <a:latin typeface="Consolas" panose="020B0609020204030204" pitchFamily="49" charset="0"/>
              </a:rPr>
              <a:t>     (D,B), (E,D), (E,F)}</a:t>
            </a:r>
          </a:p>
        </p:txBody>
      </p:sp>
    </p:spTree>
    <p:extLst>
      <p:ext uri="{BB962C8B-B14F-4D97-AF65-F5344CB8AC3E}">
        <p14:creationId xmlns:p14="http://schemas.microsoft.com/office/powerpoint/2010/main" val="2027511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Rectangle 2">
            <a:extLst>
              <a:ext uri="{FF2B5EF4-FFF2-40B4-BE49-F238E27FC236}">
                <a16:creationId xmlns:a16="http://schemas.microsoft.com/office/drawing/2014/main" id="{9FB342F6-413F-4F08-8C67-213AF7166F2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03014" y="304198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  <a:t>Adjacency Matrix for a</a:t>
            </a:r>
            <a:b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</a:br>
            <a: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  <a:t>Directed Graph</a:t>
            </a:r>
            <a:endParaRPr lang="en-US" altLang="en-US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50E6B5C8-E77E-7C3C-1729-3AC6542D49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7281" y="1593214"/>
            <a:ext cx="73914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Abadi" panose="020B0604020104020204" pitchFamily="34" charset="0"/>
              </a:rPr>
              <a:t>The row labels are the sources, and </a:t>
            </a:r>
            <a:br>
              <a:rPr kumimoji="0" lang="en-US" altLang="en-US" dirty="0">
                <a:latin typeface="Abadi" panose="020B0604020104020204" pitchFamily="34" charset="0"/>
              </a:rPr>
            </a:br>
            <a:r>
              <a:rPr kumimoji="0" lang="en-US" altLang="en-US" dirty="0">
                <a:latin typeface="Abadi" panose="020B0604020104020204" pitchFamily="34" charset="0"/>
              </a:rPr>
              <a:t>the column headers are the destinations.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415B824-E4D0-4022-AECE-073194110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4725617"/>
              </p:ext>
            </p:extLst>
          </p:nvPr>
        </p:nvGraphicFramePr>
        <p:xfrm>
          <a:off x="809413" y="2963333"/>
          <a:ext cx="4267200" cy="3480435"/>
        </p:xfrm>
        <a:graphic>
          <a:graphicData uri="http://schemas.openxmlformats.org/drawingml/2006/table">
            <a:tbl>
              <a:tblPr firstRow="1"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8436" name="Picture 2" descr="An undirected graph.&#10;Edges:&#10;{(A,B), (B,C), (B,D), (C,E), (D,E), (E,F)}Adjacency list&#10;A : B&#10;B : A, C, D&#10;C : B, E&#10;D : B, E&#10;E : C, D, F&#10;F : E&#10;">
            <a:extLst>
              <a:ext uri="{FF2B5EF4-FFF2-40B4-BE49-F238E27FC236}">
                <a16:creationId xmlns:a16="http://schemas.microsoft.com/office/drawing/2014/main" id="{3F8B650F-2F78-4FC6-907B-8008E82698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6814" y="3347509"/>
            <a:ext cx="3484563" cy="2168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2">
            <a:extLst>
              <a:ext uri="{FF2B5EF4-FFF2-40B4-BE49-F238E27FC236}">
                <a16:creationId xmlns:a16="http://schemas.microsoft.com/office/drawing/2014/main" id="{C23492E9-9033-41E5-986C-EA39402730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488363" cy="1143000"/>
          </a:xfrm>
        </p:spPr>
        <p:txBody>
          <a:bodyPr/>
          <a:lstStyle/>
          <a:p>
            <a:pPr algn="ctr"/>
            <a:r>
              <a:rPr lang="en-US" altLang="en-US" sz="4000" b="1" dirty="0">
                <a:latin typeface="Abadi" panose="020B0604020104020204" pitchFamily="34" charset="0"/>
                <a:cs typeface="Times New Roman" panose="02020603050405020304" pitchFamily="18" charset="0"/>
              </a:rPr>
              <a:t>Adjacency Matrix for </a:t>
            </a:r>
            <a:br>
              <a:rPr lang="en-US" altLang="en-US" sz="4000" b="1" dirty="0">
                <a:latin typeface="Abadi" panose="020B0604020104020204" pitchFamily="34" charset="0"/>
                <a:cs typeface="Times New Roman" panose="02020603050405020304" pitchFamily="18" charset="0"/>
              </a:rPr>
            </a:br>
            <a:r>
              <a:rPr lang="en-US" altLang="en-US" sz="4000" b="1" dirty="0">
                <a:latin typeface="Abadi" panose="020B0604020104020204" pitchFamily="34" charset="0"/>
                <a:cs typeface="Times New Roman" panose="02020603050405020304" pitchFamily="18" charset="0"/>
              </a:rPr>
              <a:t>an Undirected Graph</a:t>
            </a:r>
            <a:endParaRPr lang="en-US" altLang="en-US" sz="4000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FBEFAC4-22A1-4ABF-998F-CC9FB54FD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219893"/>
              </p:ext>
            </p:extLst>
          </p:nvPr>
        </p:nvGraphicFramePr>
        <p:xfrm>
          <a:off x="864024" y="1933257"/>
          <a:ext cx="4267200" cy="3480435"/>
        </p:xfrm>
        <a:graphic>
          <a:graphicData uri="http://schemas.openxmlformats.org/drawingml/2006/table">
            <a:tbl>
              <a:tblPr firstRow="1"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4341" name="Picture 3" descr="An undirected graph.&#10;Edges:&#10;{(A,B), (B,C), (B,D), (C,E), (D,E), (E,F)}&#10;Adjacency list&#10;A : B&#10;B : A, C, D&#10;C : B, E&#10;D : B, E&#10;E : C, D, F&#10;F : E&#10;">
            <a:extLst>
              <a:ext uri="{FF2B5EF4-FFF2-40B4-BE49-F238E27FC236}">
                <a16:creationId xmlns:a16="http://schemas.microsoft.com/office/drawing/2014/main" id="{4D753D09-FF53-4ABD-AF39-A63F2D6A5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5826" y="2493377"/>
            <a:ext cx="3484563" cy="2173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2">
            <a:extLst>
              <a:ext uri="{FF2B5EF4-FFF2-40B4-BE49-F238E27FC236}">
                <a16:creationId xmlns:a16="http://schemas.microsoft.com/office/drawing/2014/main" id="{C23492E9-9033-41E5-986C-EA39402730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  <a:t>Adjacency Matrix for </a:t>
            </a:r>
            <a:b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</a:br>
            <a: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  <a:t>an Undirected Graph</a:t>
            </a:r>
            <a:endParaRPr lang="en-US" altLang="en-US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62B20E7C-7490-2A0A-78E4-E7F3A96381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0828" y="1563687"/>
            <a:ext cx="739140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3600" dirty="0">
                <a:solidFill>
                  <a:srgbClr val="2C5C80"/>
                </a:solidFill>
                <a:latin typeface="Abadi" panose="020B0604020104020204" pitchFamily="34" charset="0"/>
              </a:rPr>
              <a:t>An undirected graph’s matrix will be symmetric about the major diagonal.</a:t>
            </a:r>
          </a:p>
        </p:txBody>
      </p:sp>
      <p:pic>
        <p:nvPicPr>
          <p:cNvPr id="14341" name="Picture 3" descr="An undirected graph.&#10;Edges:&#10;{(A,B), (B,C), (B,D), (C,E), (D,E), (E,F)}&#10;Adjacency list&#10;A : B&#10;B : A, C, D&#10;C : B, E&#10;D : B, E&#10;E : C, D, F&#10;F : E&#10;">
            <a:extLst>
              <a:ext uri="{FF2B5EF4-FFF2-40B4-BE49-F238E27FC236}">
                <a16:creationId xmlns:a16="http://schemas.microsoft.com/office/drawing/2014/main" id="{4D753D09-FF53-4ABD-AF39-A63F2D6A5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" y="3568324"/>
            <a:ext cx="3484563" cy="2173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FBEFAC4-22A1-4ABF-998F-CC9FB54FD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4939549"/>
              </p:ext>
            </p:extLst>
          </p:nvPr>
        </p:nvGraphicFramePr>
        <p:xfrm>
          <a:off x="4388169" y="3039846"/>
          <a:ext cx="4267200" cy="3480435"/>
        </p:xfrm>
        <a:graphic>
          <a:graphicData uri="http://schemas.openxmlformats.org/drawingml/2006/table">
            <a:tbl>
              <a:tblPr firstRow="1"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254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60" name="Rectangle 72">
            <a:extLst>
              <a:ext uri="{FF2B5EF4-FFF2-40B4-BE49-F238E27FC236}">
                <a16:creationId xmlns:a16="http://schemas.microsoft.com/office/drawing/2014/main" id="{CC0F3F12-7D07-B536-9C8E-520CB77B1E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150938" y="214313"/>
            <a:ext cx="7793037" cy="1246187"/>
          </a:xfrm>
        </p:spPr>
        <p:txBody>
          <a:bodyPr/>
          <a:lstStyle/>
          <a:p>
            <a:r>
              <a:rPr lang="en-US" altLang="en-US" sz="4000" dirty="0"/>
              <a:t>Adjacency Matrix Representation</a:t>
            </a:r>
          </a:p>
        </p:txBody>
      </p:sp>
      <p:sp>
        <p:nvSpPr>
          <p:cNvPr id="63491" name="Rectangle 3">
            <a:extLst>
              <a:ext uri="{FF2B5EF4-FFF2-40B4-BE49-F238E27FC236}">
                <a16:creationId xmlns:a16="http://schemas.microsoft.com/office/drawing/2014/main" id="{0E9411F3-521C-C824-2AB6-38D5D686D20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066800" y="1737905"/>
            <a:ext cx="7274312" cy="609600"/>
          </a:xfrm>
        </p:spPr>
        <p:txBody>
          <a:bodyPr/>
          <a:lstStyle/>
          <a:p>
            <a:pPr marL="0" indent="0">
              <a:buNone/>
            </a:pPr>
            <a:r>
              <a:rPr lang="en-US" altLang="en-US" dirty="0">
                <a:solidFill>
                  <a:srgbClr val="237AC1"/>
                </a:solidFill>
              </a:rPr>
              <a:t>Example: Undirected Graph G (V, E)</a:t>
            </a:r>
          </a:p>
        </p:txBody>
      </p:sp>
      <p:grpSp>
        <p:nvGrpSpPr>
          <p:cNvPr id="2" name="Group 1" descr="Undirected graph:&#10;Vertices = {u, v, w}&#10;Edges = {(u,v), (v,w), (u,w)&#10;Adjacency list:&#10;u connects to v, w&#10;v connects to u, w&#10;w connects to u, v">
            <a:extLst>
              <a:ext uri="{FF2B5EF4-FFF2-40B4-BE49-F238E27FC236}">
                <a16:creationId xmlns:a16="http://schemas.microsoft.com/office/drawing/2014/main" id="{D46F5C5D-1656-6EFF-87E9-7BDC87DF30B6}"/>
              </a:ext>
            </a:extLst>
          </p:cNvPr>
          <p:cNvGrpSpPr/>
          <p:nvPr/>
        </p:nvGrpSpPr>
        <p:grpSpPr>
          <a:xfrm>
            <a:off x="1268450" y="3249650"/>
            <a:ext cx="2741613" cy="2264811"/>
            <a:chOff x="1752600" y="3124200"/>
            <a:chExt cx="1752600" cy="1447800"/>
          </a:xfrm>
        </p:grpSpPr>
        <p:sp>
          <p:nvSpPr>
            <p:cNvPr id="63564" name="Oval 76">
              <a:extLst>
                <a:ext uri="{FF2B5EF4-FFF2-40B4-BE49-F238E27FC236}">
                  <a16:creationId xmlns:a16="http://schemas.microsoft.com/office/drawing/2014/main" id="{F0D31671-6DD8-4E0F-6FC3-39084293F3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3124200"/>
              <a:ext cx="381000" cy="381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u</a:t>
              </a:r>
            </a:p>
          </p:txBody>
        </p:sp>
        <p:sp>
          <p:nvSpPr>
            <p:cNvPr id="63565" name="Oval 77">
              <a:extLst>
                <a:ext uri="{FF2B5EF4-FFF2-40B4-BE49-F238E27FC236}">
                  <a16:creationId xmlns:a16="http://schemas.microsoft.com/office/drawing/2014/main" id="{7167EC96-76DE-F170-32E0-E43BD38000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52600" y="4191000"/>
              <a:ext cx="381000" cy="381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v</a:t>
              </a:r>
            </a:p>
          </p:txBody>
        </p:sp>
        <p:sp>
          <p:nvSpPr>
            <p:cNvPr id="63566" name="Oval 78">
              <a:extLst>
                <a:ext uri="{FF2B5EF4-FFF2-40B4-BE49-F238E27FC236}">
                  <a16:creationId xmlns:a16="http://schemas.microsoft.com/office/drawing/2014/main" id="{C2326F7A-A220-26D6-1361-90367C1691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4191000"/>
              <a:ext cx="381000" cy="381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 dirty="0"/>
                <a:t>w</a:t>
              </a:r>
            </a:p>
          </p:txBody>
        </p:sp>
        <p:sp>
          <p:nvSpPr>
            <p:cNvPr id="63567" name="Line 79">
              <a:extLst>
                <a:ext uri="{FF2B5EF4-FFF2-40B4-BE49-F238E27FC236}">
                  <a16:creationId xmlns:a16="http://schemas.microsoft.com/office/drawing/2014/main" id="{77CEA9F1-BF22-6746-02AB-DE44C12C12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33600" y="4343400"/>
              <a:ext cx="9906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63568" name="Line 80">
              <a:extLst>
                <a:ext uri="{FF2B5EF4-FFF2-40B4-BE49-F238E27FC236}">
                  <a16:creationId xmlns:a16="http://schemas.microsoft.com/office/drawing/2014/main" id="{DC40311B-03F3-6706-9060-49B9BE359A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457" y="3455794"/>
              <a:ext cx="489845" cy="7565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63569" name="Line 81">
              <a:extLst>
                <a:ext uri="{FF2B5EF4-FFF2-40B4-BE49-F238E27FC236}">
                  <a16:creationId xmlns:a16="http://schemas.microsoft.com/office/drawing/2014/main" id="{456C17EA-46B1-B5A1-F18C-ABBDF9F4713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47894" y="3490942"/>
              <a:ext cx="473833" cy="75659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</p:grpSp>
      <p:graphicFrame>
        <p:nvGraphicFramePr>
          <p:cNvPr id="63563" name="Group 75">
            <a:extLst>
              <a:ext uri="{FF2B5EF4-FFF2-40B4-BE49-F238E27FC236}">
                <a16:creationId xmlns:a16="http://schemas.microsoft.com/office/drawing/2014/main" id="{FBB803EF-B854-6B6E-41E9-1E1D3593CE85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5145088" y="2959100"/>
          <a:ext cx="3572192" cy="3033966"/>
        </p:xfrm>
        <a:graphic>
          <a:graphicData uri="http://schemas.openxmlformats.org/drawingml/2006/table">
            <a:tbl>
              <a:tblPr firstRow="1"/>
              <a:tblGrid>
                <a:gridCol w="693630">
                  <a:extLst>
                    <a:ext uri="{9D8B030D-6E8A-4147-A177-3AD203B41FA5}">
                      <a16:colId xmlns:a16="http://schemas.microsoft.com/office/drawing/2014/main" val="786565958"/>
                    </a:ext>
                  </a:extLst>
                </a:gridCol>
                <a:gridCol w="946600">
                  <a:extLst>
                    <a:ext uri="{9D8B030D-6E8A-4147-A177-3AD203B41FA5}">
                      <a16:colId xmlns:a16="http://schemas.microsoft.com/office/drawing/2014/main" val="3313857573"/>
                    </a:ext>
                  </a:extLst>
                </a:gridCol>
                <a:gridCol w="948640">
                  <a:extLst>
                    <a:ext uri="{9D8B030D-6E8A-4147-A177-3AD203B41FA5}">
                      <a16:colId xmlns:a16="http://schemas.microsoft.com/office/drawing/2014/main" val="516218188"/>
                    </a:ext>
                  </a:extLst>
                </a:gridCol>
                <a:gridCol w="983322">
                  <a:extLst>
                    <a:ext uri="{9D8B030D-6E8A-4147-A177-3AD203B41FA5}">
                      <a16:colId xmlns:a16="http://schemas.microsoft.com/office/drawing/2014/main" val="2950054208"/>
                    </a:ext>
                  </a:extLst>
                </a:gridCol>
              </a:tblGrid>
              <a:tr h="66588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en-US" sz="4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7509" marR="117509" marT="58755" marB="58755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</a:t>
                      </a:r>
                      <a:endParaRPr kumimoji="0" lang="en-US" altLang="en-US" sz="32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</a:t>
                      </a:r>
                      <a:endParaRPr kumimoji="0" lang="en-US" altLang="en-US" sz="32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</a:t>
                      </a:r>
                      <a:endParaRPr kumimoji="0" lang="en-US" altLang="en-US" sz="32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5505327"/>
                  </a:ext>
                </a:extLst>
              </a:tr>
              <a:tr h="728312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</a:t>
                      </a:r>
                      <a:endParaRPr kumimoji="0" lang="en-US" altLang="en-US" sz="32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7509" marR="117509" marT="58755" marB="58755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9129795"/>
                  </a:ext>
                </a:extLst>
              </a:tr>
              <a:tr h="728312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</a:t>
                      </a:r>
                      <a:endParaRPr kumimoji="0" lang="en-US" altLang="en-US" sz="32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7509" marR="117509" marT="58755" marB="58755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363009"/>
                  </a:ext>
                </a:extLst>
              </a:tr>
              <a:tr h="728312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</a:t>
                      </a:r>
                      <a:endParaRPr kumimoji="0" lang="en-US" altLang="en-US" sz="32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7509" marR="117509" marT="58755" marB="58755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23675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87692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>
            <a:extLst>
              <a:ext uri="{FF2B5EF4-FFF2-40B4-BE49-F238E27FC236}">
                <a16:creationId xmlns:a16="http://schemas.microsoft.com/office/drawing/2014/main" id="{7662BC6A-76B4-AEDB-F768-209F6C40D0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72158" y="200646"/>
            <a:ext cx="7793037" cy="1462087"/>
          </a:xfrm>
        </p:spPr>
        <p:txBody>
          <a:bodyPr/>
          <a:lstStyle/>
          <a:p>
            <a:pPr algn="ctr"/>
            <a:r>
              <a:rPr lang="en-US" altLang="en-US" sz="4000" dirty="0"/>
              <a:t>Adjacency List Representation</a:t>
            </a:r>
          </a:p>
        </p:txBody>
      </p:sp>
      <p:sp>
        <p:nvSpPr>
          <p:cNvPr id="38915" name="Rectangle 3">
            <a:extLst>
              <a:ext uri="{FF2B5EF4-FFF2-40B4-BE49-F238E27FC236}">
                <a16:creationId xmlns:a16="http://schemas.microsoft.com/office/drawing/2014/main" id="{576BE7C9-FF58-FDE6-8D99-05D02CE6D62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872158" y="1611139"/>
            <a:ext cx="7351712" cy="877887"/>
          </a:xfrm>
        </p:spPr>
        <p:txBody>
          <a:bodyPr/>
          <a:lstStyle/>
          <a:p>
            <a:pPr algn="just">
              <a:buFont typeface="Wingdings" panose="05000000000000000000" pitchFamily="2" charset="2"/>
              <a:buNone/>
            </a:pPr>
            <a:r>
              <a:rPr lang="en-US" altLang="en-US" sz="2800" dirty="0"/>
              <a:t>	Each node (vertex) has a list of which nodes (vertex) it is adjacent.</a:t>
            </a:r>
          </a:p>
        </p:txBody>
      </p:sp>
      <p:grpSp>
        <p:nvGrpSpPr>
          <p:cNvPr id="2" name="Group 1" descr="Undirected graph:&#10;Vertices = {u, v, w}&#10;Edges = {(u,v), (v,w), (u,w)&#10;Adjacency list:&#10;u connects to v, w&#10;v connects to u, w&#10;w connects to u, v">
            <a:extLst>
              <a:ext uri="{FF2B5EF4-FFF2-40B4-BE49-F238E27FC236}">
                <a16:creationId xmlns:a16="http://schemas.microsoft.com/office/drawing/2014/main" id="{61E0DA18-A896-CAF9-8BA2-6C753E1BB198}"/>
              </a:ext>
            </a:extLst>
          </p:cNvPr>
          <p:cNvGrpSpPr/>
          <p:nvPr/>
        </p:nvGrpSpPr>
        <p:grpSpPr>
          <a:xfrm>
            <a:off x="970448" y="3361289"/>
            <a:ext cx="2741613" cy="2264811"/>
            <a:chOff x="1752600" y="3124200"/>
            <a:chExt cx="1752600" cy="1447800"/>
          </a:xfrm>
        </p:grpSpPr>
        <p:sp>
          <p:nvSpPr>
            <p:cNvPr id="3" name="Oval 76">
              <a:extLst>
                <a:ext uri="{FF2B5EF4-FFF2-40B4-BE49-F238E27FC236}">
                  <a16:creationId xmlns:a16="http://schemas.microsoft.com/office/drawing/2014/main" id="{A281BB77-EEB9-A3AD-1A1C-281C9E73E5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3124200"/>
              <a:ext cx="381000" cy="381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u</a:t>
              </a:r>
            </a:p>
          </p:txBody>
        </p:sp>
        <p:sp>
          <p:nvSpPr>
            <p:cNvPr id="4" name="Oval 77">
              <a:extLst>
                <a:ext uri="{FF2B5EF4-FFF2-40B4-BE49-F238E27FC236}">
                  <a16:creationId xmlns:a16="http://schemas.microsoft.com/office/drawing/2014/main" id="{7BCB21C2-463E-8621-664E-045B712637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52600" y="4191000"/>
              <a:ext cx="381000" cy="381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v</a:t>
              </a:r>
            </a:p>
          </p:txBody>
        </p:sp>
        <p:sp>
          <p:nvSpPr>
            <p:cNvPr id="5" name="Oval 78">
              <a:extLst>
                <a:ext uri="{FF2B5EF4-FFF2-40B4-BE49-F238E27FC236}">
                  <a16:creationId xmlns:a16="http://schemas.microsoft.com/office/drawing/2014/main" id="{36163AF5-A659-0E5F-BF62-E71ED80C87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4191000"/>
              <a:ext cx="381000" cy="381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 dirty="0"/>
                <a:t>w</a:t>
              </a:r>
            </a:p>
          </p:txBody>
        </p:sp>
        <p:sp>
          <p:nvSpPr>
            <p:cNvPr id="6" name="Line 79">
              <a:extLst>
                <a:ext uri="{FF2B5EF4-FFF2-40B4-BE49-F238E27FC236}">
                  <a16:creationId xmlns:a16="http://schemas.microsoft.com/office/drawing/2014/main" id="{A4E857E2-4385-EF62-A1D2-3E3B5E4145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33600" y="4343400"/>
              <a:ext cx="9906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7" name="Line 80">
              <a:extLst>
                <a:ext uri="{FF2B5EF4-FFF2-40B4-BE49-F238E27FC236}">
                  <a16:creationId xmlns:a16="http://schemas.microsoft.com/office/drawing/2014/main" id="{067B4242-E05D-240F-6E4C-499A8E96BF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457" y="3455794"/>
              <a:ext cx="489845" cy="7565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8" name="Line 81">
              <a:extLst>
                <a:ext uri="{FF2B5EF4-FFF2-40B4-BE49-F238E27FC236}">
                  <a16:creationId xmlns:a16="http://schemas.microsoft.com/office/drawing/2014/main" id="{03F5A133-6526-8997-48A3-5315F8FC599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47894" y="3490942"/>
              <a:ext cx="473833" cy="75659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</p:grpSp>
      <p:graphicFrame>
        <p:nvGraphicFramePr>
          <p:cNvPr id="38948" name="Group 36">
            <a:extLst>
              <a:ext uri="{FF2B5EF4-FFF2-40B4-BE49-F238E27FC236}">
                <a16:creationId xmlns:a16="http://schemas.microsoft.com/office/drawing/2014/main" id="{ADE96BCC-A8D7-F877-E80F-AE809C5C596F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4343400" y="3276600"/>
          <a:ext cx="4114800" cy="2349500"/>
        </p:xfrm>
        <a:graphic>
          <a:graphicData uri="http://schemas.openxmlformats.org/drawingml/2006/table">
            <a:tbl>
              <a:tblPr firstRow="1"/>
              <a:tblGrid>
                <a:gridCol w="1165302">
                  <a:extLst>
                    <a:ext uri="{9D8B030D-6E8A-4147-A177-3AD203B41FA5}">
                      <a16:colId xmlns:a16="http://schemas.microsoft.com/office/drawing/2014/main" val="1639822813"/>
                    </a:ext>
                  </a:extLst>
                </a:gridCol>
                <a:gridCol w="2949498">
                  <a:extLst>
                    <a:ext uri="{9D8B030D-6E8A-4147-A177-3AD203B41FA5}">
                      <a16:colId xmlns:a16="http://schemas.microsoft.com/office/drawing/2014/main" val="796191183"/>
                    </a:ext>
                  </a:extLst>
                </a:gridCol>
              </a:tblGrid>
              <a:tr h="6381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node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Adjacency List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889925"/>
                  </a:ext>
                </a:extLst>
              </a:tr>
              <a:tr h="5715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 , w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1588810"/>
                  </a:ext>
                </a:extLst>
              </a:tr>
              <a:tr h="568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w, u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3029709"/>
                  </a:ext>
                </a:extLst>
              </a:tr>
              <a:tr h="5715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 , v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93712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77908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2">
            <a:extLst>
              <a:ext uri="{FF2B5EF4-FFF2-40B4-BE49-F238E27FC236}">
                <a16:creationId xmlns:a16="http://schemas.microsoft.com/office/drawing/2014/main" id="{CE5DFA9F-17B6-54F1-45DE-4BE549B04E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4000" dirty="0"/>
              <a:t>Adjacency Matrix Representation</a:t>
            </a:r>
          </a:p>
        </p:txBody>
      </p:sp>
      <p:sp>
        <p:nvSpPr>
          <p:cNvPr id="67587" name="Rectangle 3">
            <a:extLst>
              <a:ext uri="{FF2B5EF4-FFF2-40B4-BE49-F238E27FC236}">
                <a16:creationId xmlns:a16="http://schemas.microsoft.com/office/drawing/2014/main" id="{5C4CB663-6FAB-CFEA-4A75-63D4625995E4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259086" y="1732735"/>
            <a:ext cx="6705600" cy="609600"/>
          </a:xfrm>
        </p:spPr>
        <p:txBody>
          <a:bodyPr/>
          <a:lstStyle/>
          <a:p>
            <a:pPr marL="0" indent="0">
              <a:buNone/>
            </a:pPr>
            <a:r>
              <a:rPr lang="en-US" altLang="en-US" dirty="0">
                <a:solidFill>
                  <a:srgbClr val="237AC1"/>
                </a:solidFill>
              </a:rPr>
              <a:t>Example: directed Graph G (V, E)</a:t>
            </a:r>
          </a:p>
        </p:txBody>
      </p:sp>
      <p:grpSp>
        <p:nvGrpSpPr>
          <p:cNvPr id="9" name="Group 8" descr="Directed graph:&#10;Vertices = {u, v, w}&#10;Edges = {(u,w), (v,u), (v,w), (w,v)} &#10;Adjacency list:&#10;u connects to w&#10;v connects to u and w&#10;w connects to v">
            <a:extLst>
              <a:ext uri="{FF2B5EF4-FFF2-40B4-BE49-F238E27FC236}">
                <a16:creationId xmlns:a16="http://schemas.microsoft.com/office/drawing/2014/main" id="{9CC4CC02-9156-B89C-5E15-549788BE3F35}"/>
              </a:ext>
            </a:extLst>
          </p:cNvPr>
          <p:cNvGrpSpPr/>
          <p:nvPr/>
        </p:nvGrpSpPr>
        <p:grpSpPr>
          <a:xfrm>
            <a:off x="1150938" y="2912663"/>
            <a:ext cx="2741613" cy="2264811"/>
            <a:chOff x="1011974" y="2101076"/>
            <a:chExt cx="2741613" cy="2264811"/>
          </a:xfrm>
        </p:grpSpPr>
        <p:sp>
          <p:nvSpPr>
            <p:cNvPr id="10" name="Oval 76">
              <a:extLst>
                <a:ext uri="{FF2B5EF4-FFF2-40B4-BE49-F238E27FC236}">
                  <a16:creationId xmlns:a16="http://schemas.microsoft.com/office/drawing/2014/main" id="{EC0D4406-5B1B-74A9-F7DF-BC1900C259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84779" y="2101076"/>
              <a:ext cx="596003" cy="596003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u</a:t>
              </a:r>
            </a:p>
          </p:txBody>
        </p:sp>
        <p:sp>
          <p:nvSpPr>
            <p:cNvPr id="11" name="Oval 77">
              <a:extLst>
                <a:ext uri="{FF2B5EF4-FFF2-40B4-BE49-F238E27FC236}">
                  <a16:creationId xmlns:a16="http://schemas.microsoft.com/office/drawing/2014/main" id="{1339627D-9FE9-DABD-264A-C5A955EA06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1974" y="3769884"/>
              <a:ext cx="596003" cy="596003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v</a:t>
              </a:r>
            </a:p>
          </p:txBody>
        </p:sp>
        <p:sp>
          <p:nvSpPr>
            <p:cNvPr id="12" name="Oval 78">
              <a:extLst>
                <a:ext uri="{FF2B5EF4-FFF2-40B4-BE49-F238E27FC236}">
                  <a16:creationId xmlns:a16="http://schemas.microsoft.com/office/drawing/2014/main" id="{11519C63-C550-008F-D6D0-332E5CA77F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57584" y="3769884"/>
              <a:ext cx="596003" cy="596003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 dirty="0"/>
                <a:t>w</a:t>
              </a:r>
            </a:p>
          </p:txBody>
        </p:sp>
        <p:sp>
          <p:nvSpPr>
            <p:cNvPr id="13" name="Line 79">
              <a:extLst>
                <a:ext uri="{FF2B5EF4-FFF2-40B4-BE49-F238E27FC236}">
                  <a16:creationId xmlns:a16="http://schemas.microsoft.com/office/drawing/2014/main" id="{08F0613E-E59D-AAEC-E9B3-A6C18C11A2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07977" y="4008285"/>
              <a:ext cx="154960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14" name="Line 80">
              <a:extLst>
                <a:ext uri="{FF2B5EF4-FFF2-40B4-BE49-F238E27FC236}">
                  <a16:creationId xmlns:a16="http://schemas.microsoft.com/office/drawing/2014/main" id="{76B2458C-05BD-50CC-3F29-ACBC1A27CB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83884" y="2619792"/>
              <a:ext cx="766270" cy="118354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15" name="Line 81">
              <a:extLst>
                <a:ext uri="{FF2B5EF4-FFF2-40B4-BE49-F238E27FC236}">
                  <a16:creationId xmlns:a16="http://schemas.microsoft.com/office/drawing/2014/main" id="{9F3F6363-41EE-C0B5-6820-D3B2BE0E524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73906" y="2674775"/>
              <a:ext cx="741223" cy="118354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16" name="Line 79">
              <a:extLst>
                <a:ext uri="{FF2B5EF4-FFF2-40B4-BE49-F238E27FC236}">
                  <a16:creationId xmlns:a16="http://schemas.microsoft.com/office/drawing/2014/main" id="{33A9F1E5-334C-E888-6DF4-75D56AF0AD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626565" y="4127232"/>
              <a:ext cx="154960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</p:grpSp>
      <p:graphicFrame>
        <p:nvGraphicFramePr>
          <p:cNvPr id="67588" name="Group 4">
            <a:extLst>
              <a:ext uri="{FF2B5EF4-FFF2-40B4-BE49-F238E27FC236}">
                <a16:creationId xmlns:a16="http://schemas.microsoft.com/office/drawing/2014/main" id="{4A87E2F5-DF72-7F65-9239-5683BE5323CA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5145087" y="2959100"/>
          <a:ext cx="3446266" cy="2952800"/>
        </p:xfrm>
        <a:graphic>
          <a:graphicData uri="http://schemas.openxmlformats.org/drawingml/2006/table">
            <a:tbl>
              <a:tblPr firstRow="1"/>
              <a:tblGrid>
                <a:gridCol w="669178">
                  <a:extLst>
                    <a:ext uri="{9D8B030D-6E8A-4147-A177-3AD203B41FA5}">
                      <a16:colId xmlns:a16="http://schemas.microsoft.com/office/drawing/2014/main" val="2225065435"/>
                    </a:ext>
                  </a:extLst>
                </a:gridCol>
                <a:gridCol w="913231">
                  <a:extLst>
                    <a:ext uri="{9D8B030D-6E8A-4147-A177-3AD203B41FA5}">
                      <a16:colId xmlns:a16="http://schemas.microsoft.com/office/drawing/2014/main" val="2471064601"/>
                    </a:ext>
                  </a:extLst>
                </a:gridCol>
                <a:gridCol w="915199">
                  <a:extLst>
                    <a:ext uri="{9D8B030D-6E8A-4147-A177-3AD203B41FA5}">
                      <a16:colId xmlns:a16="http://schemas.microsoft.com/office/drawing/2014/main" val="839284778"/>
                    </a:ext>
                  </a:extLst>
                </a:gridCol>
                <a:gridCol w="948658">
                  <a:extLst>
                    <a:ext uri="{9D8B030D-6E8A-4147-A177-3AD203B41FA5}">
                      <a16:colId xmlns:a16="http://schemas.microsoft.com/office/drawing/2014/main" val="4260457229"/>
                    </a:ext>
                  </a:extLst>
                </a:gridCol>
              </a:tblGrid>
              <a:tr h="642411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en-US" sz="4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3367" marR="113367" marT="56683" marB="5668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</a:t>
                      </a:r>
                      <a:endParaRPr kumimoji="0" lang="en-US" altLang="en-US" sz="36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</a:t>
                      </a:r>
                      <a:endParaRPr kumimoji="0" lang="en-US" altLang="en-US" sz="36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</a:t>
                      </a:r>
                      <a:endParaRPr kumimoji="0" lang="en-US" altLang="en-US" sz="36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1631584"/>
                  </a:ext>
                </a:extLst>
              </a:tr>
              <a:tr h="7026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</a:t>
                      </a:r>
                      <a:endParaRPr kumimoji="0" lang="en-US" altLang="en-US" sz="36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3367" marR="113367" marT="56683" marB="5668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5797848"/>
                  </a:ext>
                </a:extLst>
              </a:tr>
              <a:tr h="7026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</a:t>
                      </a:r>
                      <a:endParaRPr kumimoji="0" lang="en-US" altLang="en-US" sz="36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3367" marR="113367" marT="56683" marB="5668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636155"/>
                  </a:ext>
                </a:extLst>
              </a:tr>
              <a:tr h="7026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</a:t>
                      </a:r>
                      <a:endParaRPr kumimoji="0" lang="en-US" altLang="en-US" sz="36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3367" marR="113367" marT="56683" marB="5668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3889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9316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>
            <a:extLst>
              <a:ext uri="{FF2B5EF4-FFF2-40B4-BE49-F238E27FC236}">
                <a16:creationId xmlns:a16="http://schemas.microsoft.com/office/drawing/2014/main" id="{7662BC6A-76B4-AEDB-F768-209F6C40D0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72157" y="174626"/>
            <a:ext cx="7793037" cy="1462087"/>
          </a:xfrm>
        </p:spPr>
        <p:txBody>
          <a:bodyPr/>
          <a:lstStyle/>
          <a:p>
            <a:pPr algn="ctr"/>
            <a:r>
              <a:rPr lang="en-US" altLang="en-US" sz="4000" dirty="0"/>
              <a:t>Adjacency List Representation</a:t>
            </a:r>
          </a:p>
        </p:txBody>
      </p:sp>
      <p:grpSp>
        <p:nvGrpSpPr>
          <p:cNvPr id="17" name="Group 16" descr="Directed graph:&#10;Vertices = {u, v, w}&#10;Edges = {(u,w), (v,u), (v,w), (w,v)} &#10;Adjacency list:&#10;u connects to w&#10;v connects to u and w&#10;w connects to v">
            <a:extLst>
              <a:ext uri="{FF2B5EF4-FFF2-40B4-BE49-F238E27FC236}">
                <a16:creationId xmlns:a16="http://schemas.microsoft.com/office/drawing/2014/main" id="{2B5E21A9-89B6-9DF3-B3F1-1C77062D8F6A}"/>
              </a:ext>
            </a:extLst>
          </p:cNvPr>
          <p:cNvGrpSpPr/>
          <p:nvPr/>
        </p:nvGrpSpPr>
        <p:grpSpPr>
          <a:xfrm>
            <a:off x="1123484" y="1978415"/>
            <a:ext cx="2741613" cy="2264811"/>
            <a:chOff x="1011974" y="2101076"/>
            <a:chExt cx="2741613" cy="2264811"/>
          </a:xfrm>
        </p:grpSpPr>
        <p:sp>
          <p:nvSpPr>
            <p:cNvPr id="10" name="Oval 76">
              <a:extLst>
                <a:ext uri="{FF2B5EF4-FFF2-40B4-BE49-F238E27FC236}">
                  <a16:creationId xmlns:a16="http://schemas.microsoft.com/office/drawing/2014/main" id="{BDBD84CA-DACA-923C-D2A6-4F72DF11E2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84779" y="2101076"/>
              <a:ext cx="596003" cy="596003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u</a:t>
              </a:r>
            </a:p>
          </p:txBody>
        </p:sp>
        <p:sp>
          <p:nvSpPr>
            <p:cNvPr id="11" name="Oval 77">
              <a:extLst>
                <a:ext uri="{FF2B5EF4-FFF2-40B4-BE49-F238E27FC236}">
                  <a16:creationId xmlns:a16="http://schemas.microsoft.com/office/drawing/2014/main" id="{BA2E3F55-2C93-261D-F456-CF35C9B79A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1974" y="3769884"/>
              <a:ext cx="596003" cy="596003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v</a:t>
              </a:r>
            </a:p>
          </p:txBody>
        </p:sp>
        <p:sp>
          <p:nvSpPr>
            <p:cNvPr id="12" name="Oval 78">
              <a:extLst>
                <a:ext uri="{FF2B5EF4-FFF2-40B4-BE49-F238E27FC236}">
                  <a16:creationId xmlns:a16="http://schemas.microsoft.com/office/drawing/2014/main" id="{2FF0317E-C8C3-0B7F-62B1-ED6B4079F2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57584" y="3769884"/>
              <a:ext cx="596003" cy="596003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 dirty="0"/>
                <a:t>w</a:t>
              </a:r>
            </a:p>
          </p:txBody>
        </p:sp>
        <p:sp>
          <p:nvSpPr>
            <p:cNvPr id="13" name="Line 79">
              <a:extLst>
                <a:ext uri="{FF2B5EF4-FFF2-40B4-BE49-F238E27FC236}">
                  <a16:creationId xmlns:a16="http://schemas.microsoft.com/office/drawing/2014/main" id="{A953BEFB-CF87-1397-E1CB-5BC7FD87D0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07977" y="4008285"/>
              <a:ext cx="154960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14" name="Line 80">
              <a:extLst>
                <a:ext uri="{FF2B5EF4-FFF2-40B4-BE49-F238E27FC236}">
                  <a16:creationId xmlns:a16="http://schemas.microsoft.com/office/drawing/2014/main" id="{6D3B5294-789A-C17F-C8FC-2F51194457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83884" y="2619792"/>
              <a:ext cx="766270" cy="118354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15" name="Line 81">
              <a:extLst>
                <a:ext uri="{FF2B5EF4-FFF2-40B4-BE49-F238E27FC236}">
                  <a16:creationId xmlns:a16="http://schemas.microsoft.com/office/drawing/2014/main" id="{DF318A06-2BF0-2BDA-908A-5F9A3B4D815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73906" y="2674775"/>
              <a:ext cx="741223" cy="118354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16" name="Line 79">
              <a:extLst>
                <a:ext uri="{FF2B5EF4-FFF2-40B4-BE49-F238E27FC236}">
                  <a16:creationId xmlns:a16="http://schemas.microsoft.com/office/drawing/2014/main" id="{1E18CEAF-8378-1738-1DB9-E0460ED0E17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626565" y="4127232"/>
              <a:ext cx="154960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</p:grpSp>
      <p:graphicFrame>
        <p:nvGraphicFramePr>
          <p:cNvPr id="38948" name="Group 36">
            <a:extLst>
              <a:ext uri="{FF2B5EF4-FFF2-40B4-BE49-F238E27FC236}">
                <a16:creationId xmlns:a16="http://schemas.microsoft.com/office/drawing/2014/main" id="{ADE96BCC-A8D7-F877-E80F-AE809C5C596F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4454910" y="1882701"/>
          <a:ext cx="4114800" cy="2349500"/>
        </p:xfrm>
        <a:graphic>
          <a:graphicData uri="http://schemas.openxmlformats.org/drawingml/2006/table">
            <a:tbl>
              <a:tblPr firstRow="1"/>
              <a:tblGrid>
                <a:gridCol w="1064941">
                  <a:extLst>
                    <a:ext uri="{9D8B030D-6E8A-4147-A177-3AD203B41FA5}">
                      <a16:colId xmlns:a16="http://schemas.microsoft.com/office/drawing/2014/main" val="1639822813"/>
                    </a:ext>
                  </a:extLst>
                </a:gridCol>
                <a:gridCol w="3049859">
                  <a:extLst>
                    <a:ext uri="{9D8B030D-6E8A-4147-A177-3AD203B41FA5}">
                      <a16:colId xmlns:a16="http://schemas.microsoft.com/office/drawing/2014/main" val="796191183"/>
                    </a:ext>
                  </a:extLst>
                </a:gridCol>
              </a:tblGrid>
              <a:tr h="6381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node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Adjacency List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889925"/>
                  </a:ext>
                </a:extLst>
              </a:tr>
              <a:tr h="5715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1588810"/>
                  </a:ext>
                </a:extLst>
              </a:tr>
              <a:tr h="568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u, w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3029709"/>
                  </a:ext>
                </a:extLst>
              </a:tr>
              <a:tr h="5715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9371223"/>
                  </a:ext>
                </a:extLst>
              </a:tr>
            </a:tbl>
          </a:graphicData>
        </a:graphic>
      </p:graphicFrame>
      <p:sp>
        <p:nvSpPr>
          <p:cNvPr id="38915" name="Rectangle 3">
            <a:extLst>
              <a:ext uri="{FF2B5EF4-FFF2-40B4-BE49-F238E27FC236}">
                <a16:creationId xmlns:a16="http://schemas.microsoft.com/office/drawing/2014/main" id="{576BE7C9-FF58-FDE6-8D99-05D02CE6D62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018805" y="4852325"/>
            <a:ext cx="7351712" cy="877887"/>
          </a:xfrm>
        </p:spPr>
        <p:txBody>
          <a:bodyPr/>
          <a:lstStyle/>
          <a:p>
            <a:pPr marL="0" indent="0" algn="just">
              <a:buFont typeface="Wingdings" panose="05000000000000000000" pitchFamily="2" charset="2"/>
              <a:buNone/>
            </a:pPr>
            <a:r>
              <a:rPr lang="en-US" altLang="en-US" sz="2800" dirty="0"/>
              <a:t>Note that here (</a:t>
            </a:r>
            <a:r>
              <a:rPr lang="en-US" altLang="en-US" sz="2800" dirty="0" err="1"/>
              <a:t>v,w</a:t>
            </a:r>
            <a:r>
              <a:rPr lang="en-US" altLang="en-US" sz="2800" dirty="0"/>
              <a:t>) and (</a:t>
            </a:r>
            <a:r>
              <a:rPr lang="en-US" altLang="en-US" sz="2800" dirty="0" err="1"/>
              <a:t>w,v</a:t>
            </a:r>
            <a:r>
              <a:rPr lang="en-US" altLang="en-US" sz="2800" dirty="0"/>
              <a:t>) are considered separate edges, while in an undirected graph they would be considered two ways to write the same edge </a:t>
            </a:r>
            <a:r>
              <a:rPr lang="en-US" altLang="en-US" sz="2800" u="sng" dirty="0"/>
              <a:t>and wouldn’t both be listed.</a:t>
            </a: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9141333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2">
            <a:extLst>
              <a:ext uri="{FF2B5EF4-FFF2-40B4-BE49-F238E27FC236}">
                <a16:creationId xmlns:a16="http://schemas.microsoft.com/office/drawing/2014/main" id="{04CC0DD7-EC72-4318-B200-88EEC7DFF84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  <a:t>Weighted Graph</a:t>
            </a:r>
            <a:endParaRPr lang="en-US" altLang="en-US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2772" name="Rectangle 7">
            <a:extLst>
              <a:ext uri="{FF2B5EF4-FFF2-40B4-BE49-F238E27FC236}">
                <a16:creationId xmlns:a16="http://schemas.microsoft.com/office/drawing/2014/main" id="{19D92B2F-FA0C-4D0B-8D45-CF2E6A2459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7734" y="1357418"/>
            <a:ext cx="73914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Abadi" panose="020B0604020104020204" pitchFamily="34" charset="0"/>
              </a:rPr>
              <a:t>A weighted graph associates a value (weight) with every </a:t>
            </a:r>
            <a:r>
              <a:rPr kumimoji="0" lang="en-US" altLang="en-US" u="sng" dirty="0">
                <a:latin typeface="Abadi" panose="020B0604020104020204" pitchFamily="34" charset="0"/>
              </a:rPr>
              <a:t>edge</a:t>
            </a:r>
            <a:r>
              <a:rPr kumimoji="0" lang="en-US" altLang="en-US" dirty="0">
                <a:latin typeface="Abadi" panose="020B0604020104020204" pitchFamily="34" charset="0"/>
              </a:rPr>
              <a:t> in the graph.</a:t>
            </a:r>
          </a:p>
        </p:txBody>
      </p:sp>
      <p:pic>
        <p:nvPicPr>
          <p:cNvPr id="2050" name="Picture 2" descr="A weighted, directed graph:&#10;Edges:&#10;{(A,B,8.7),(A,F,3.8),(B,C,1.3),(B,E,7.5),(C,D,2.1),(D,E,1.9),(E,B,5.8),(E,C,-5.0),(E,D,3.1),(F,A,8.0),(F,E,12.0)}&#10;Adjacency list:&#10;A : B (8.7), F (3.8)&#10;B : C (1.3), E (7.5)&#10;C : D (2.1)&#10;D : E (1.9)&#10;E : B (5.8), C (-5.0), D (3.1)&#10;F : A (8.0)">
            <a:extLst>
              <a:ext uri="{FF2B5EF4-FFF2-40B4-BE49-F238E27FC236}">
                <a16:creationId xmlns:a16="http://schemas.microsoft.com/office/drawing/2014/main" id="{1156F688-016E-40E1-BFA5-EFB52E4E6D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4360" y="2832901"/>
            <a:ext cx="5796279" cy="3962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Rectangle 2">
            <a:extLst>
              <a:ext uri="{FF2B5EF4-FFF2-40B4-BE49-F238E27FC236}">
                <a16:creationId xmlns:a16="http://schemas.microsoft.com/office/drawing/2014/main" id="{9FB342F6-413F-4F08-8C67-213AF7166F2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-152400"/>
            <a:ext cx="8488363" cy="1143000"/>
          </a:xfrm>
        </p:spPr>
        <p:txBody>
          <a:bodyPr/>
          <a:lstStyle/>
          <a:p>
            <a:pPr algn="ctr"/>
            <a:r>
              <a:rPr lang="en-US" altLang="en-US" sz="3600" b="1" dirty="0">
                <a:latin typeface="Abadi" panose="020B0604020104020204" pitchFamily="34" charset="0"/>
                <a:cs typeface="Times New Roman" panose="02020603050405020304" pitchFamily="18" charset="0"/>
              </a:rPr>
              <a:t>Adjacency Matrix for a Weighted Graph</a:t>
            </a:r>
            <a:endParaRPr lang="en-US" altLang="en-US" sz="3600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Picture 2" descr="A weighted, directed graph:&#10;Edges:&#10;{(A,B,8.7),(A,F,3.8),(B,C,1.3),(B,E,7.5),(C,D,2.1),(D,E,1.9),(E,B,5.8),(E,C,-5.0),(E,D,3.1),(F,A,8.0),(F,E,12.0)}&#10;Adjacency list:&#10;A : B (8.7), F (3.8)&#10;B : C (1.3), E (7.5)&#10;C : D (2.1)&#10;D : E (1.9)&#10;E : B (5.8), C (-5.0), D (3.1)&#10;F : A (8.0)">
            <a:extLst>
              <a:ext uri="{FF2B5EF4-FFF2-40B4-BE49-F238E27FC236}">
                <a16:creationId xmlns:a16="http://schemas.microsoft.com/office/drawing/2014/main" id="{0BB0CF8C-BC6D-4EC2-BB87-3436677820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854995"/>
            <a:ext cx="5214887" cy="3564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02A837B-CE03-4B31-A89E-4E2349C141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1204667"/>
              </p:ext>
            </p:extLst>
          </p:nvPr>
        </p:nvGraphicFramePr>
        <p:xfrm>
          <a:off x="3922398" y="3312012"/>
          <a:ext cx="5214888" cy="3545990"/>
        </p:xfrm>
        <a:graphic>
          <a:graphicData uri="http://schemas.openxmlformats.org/drawingml/2006/table">
            <a:tbl>
              <a:tblPr firstRow="1"/>
              <a:tblGrid>
                <a:gridCol w="7449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8.7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3.8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1.3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7.5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2.1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1.9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5.8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-5.0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3.1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8.0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12.0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5788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A weighted, directed graph:&#10;Edges:&#10;{(A,B,8.7),(A,F,3.8),(B,C,1.3),(B,E,7.5),(C,D,2.1),(D,E,1.9),(E,B,5.8),(E,C,-5.0),(E,D,3.1),(F,A,8.0),(F,E,12.0)}&#10;Adjacency list:&#10;A : B (8.7), F (3.8)&#10;B : C (1.3), E (7.5)&#10;C : D (2.1)&#10;D : E (1.9)&#10;E : B (5.8), C (-5.0), D (3.1)&#10;F : A (8.0)">
            <a:extLst>
              <a:ext uri="{FF2B5EF4-FFF2-40B4-BE49-F238E27FC236}">
                <a16:creationId xmlns:a16="http://schemas.microsoft.com/office/drawing/2014/main" id="{0BB0CF8C-BC6D-4EC2-BB87-3436677820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331" y="267624"/>
            <a:ext cx="5214887" cy="3564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435" name="Rectangle 2">
            <a:extLst>
              <a:ext uri="{FF2B5EF4-FFF2-40B4-BE49-F238E27FC236}">
                <a16:creationId xmlns:a16="http://schemas.microsoft.com/office/drawing/2014/main" id="{9FB342F6-413F-4F08-8C67-213AF7166F2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770436" y="113435"/>
            <a:ext cx="4373563" cy="1143000"/>
          </a:xfrm>
        </p:spPr>
        <p:txBody>
          <a:bodyPr/>
          <a:lstStyle/>
          <a:p>
            <a:pPr algn="ctr"/>
            <a:r>
              <a:rPr lang="en-US" altLang="en-US" sz="3600" b="1" dirty="0">
                <a:latin typeface="Abadi" panose="020B0604020104020204" pitchFamily="34" charset="0"/>
                <a:cs typeface="Times New Roman" panose="02020603050405020304" pitchFamily="18" charset="0"/>
              </a:rPr>
              <a:t>Adjacency List for a Weighted Graph</a:t>
            </a:r>
            <a:endParaRPr lang="en-US" altLang="en-US" sz="3600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Group 36">
            <a:extLst>
              <a:ext uri="{FF2B5EF4-FFF2-40B4-BE49-F238E27FC236}">
                <a16:creationId xmlns:a16="http://schemas.microsoft.com/office/drawing/2014/main" id="{8F8DBB47-6051-6963-8C2E-41E91A676E8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7891219"/>
              </p:ext>
            </p:extLst>
          </p:nvPr>
        </p:nvGraphicFramePr>
        <p:xfrm>
          <a:off x="4075768" y="2781849"/>
          <a:ext cx="5068231" cy="4064000"/>
        </p:xfrm>
        <a:graphic>
          <a:graphicData uri="http://schemas.openxmlformats.org/drawingml/2006/table">
            <a:tbl>
              <a:tblPr firstRow="1"/>
              <a:tblGrid>
                <a:gridCol w="1311696">
                  <a:extLst>
                    <a:ext uri="{9D8B030D-6E8A-4147-A177-3AD203B41FA5}">
                      <a16:colId xmlns:a16="http://schemas.microsoft.com/office/drawing/2014/main" val="1639822813"/>
                    </a:ext>
                  </a:extLst>
                </a:gridCol>
                <a:gridCol w="3756535">
                  <a:extLst>
                    <a:ext uri="{9D8B030D-6E8A-4147-A177-3AD203B41FA5}">
                      <a16:colId xmlns:a16="http://schemas.microsoft.com/office/drawing/2014/main" val="796191183"/>
                    </a:ext>
                  </a:extLst>
                </a:gridCol>
              </a:tblGrid>
              <a:tr h="6381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node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Adjacency List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889925"/>
                  </a:ext>
                </a:extLst>
              </a:tr>
              <a:tr h="5715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B(8.7), F(3.8)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1588810"/>
                  </a:ext>
                </a:extLst>
              </a:tr>
              <a:tr h="568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C(1.3), E(7.5)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3029709"/>
                  </a:ext>
                </a:extLst>
              </a:tr>
              <a:tr h="5715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D(2.1)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937122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E(1.9)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048885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B(5.8), C(-5.0), D(3.1)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9165087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A(8.0), E(12.0)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2543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23439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AD906-B001-E87F-F9B8-79A747432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228600"/>
            <a:ext cx="8001000" cy="1086971"/>
          </a:xfrm>
        </p:spPr>
        <p:txBody>
          <a:bodyPr/>
          <a:lstStyle/>
          <a:p>
            <a:pPr algn="ctr"/>
            <a:r>
              <a:rPr lang="en-US" dirty="0"/>
              <a:t>Simple vs Non-simple Graphs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A3D846-829A-09B7-33A1-4C1219323773}"/>
              </a:ext>
            </a:extLst>
          </p:cNvPr>
          <p:cNvSpPr/>
          <p:nvPr/>
        </p:nvSpPr>
        <p:spPr>
          <a:xfrm>
            <a:off x="838200" y="1636129"/>
            <a:ext cx="78486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simple graph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has no loops or </a:t>
            </a:r>
            <a:b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</a:b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multiple edges between nodes</a:t>
            </a:r>
            <a:endParaRPr lang="en-US" sz="3200" dirty="0"/>
          </a:p>
        </p:txBody>
      </p:sp>
      <p:pic>
        <p:nvPicPr>
          <p:cNvPr id="3" name="Picture 2" descr="SimpleGraph: This image shows an undirected graph with four vertices arranged as a rectangle, with edges connecting all pairs. No two nodes have more than one edge connecting them or loops connecting back to themselves. ">
            <a:extLst>
              <a:ext uri="{FF2B5EF4-FFF2-40B4-BE49-F238E27FC236}">
                <a16:creationId xmlns:a16="http://schemas.microsoft.com/office/drawing/2014/main" id="{76FF09C4-59FD-3DC1-C17D-4E5BD8B68D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45" t="42030" r="10541" b="23202"/>
          <a:stretch/>
        </p:blipFill>
        <p:spPr bwMode="auto">
          <a:xfrm>
            <a:off x="1310640" y="3307079"/>
            <a:ext cx="3153808" cy="27432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267" name="Picture 2" descr="This graph represents a multigraph (a.k.a. non-simple), as it includes multiple edges between a pair of vertices and because it has a loop. Either would have made it non-simple.">
            <a:extLst>
              <a:ext uri="{FF2B5EF4-FFF2-40B4-BE49-F238E27FC236}">
                <a16:creationId xmlns:a16="http://schemas.microsoft.com/office/drawing/2014/main" id="{EADFBF2C-AC03-494A-A62F-4506648A5A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01" t="42030" r="50948" b="23202"/>
          <a:stretch/>
        </p:blipFill>
        <p:spPr bwMode="auto">
          <a:xfrm>
            <a:off x="5082540" y="3271762"/>
            <a:ext cx="3749706" cy="27381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169E67-8591-7992-6566-23078A5871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66283" y="-1260012"/>
            <a:ext cx="7772400" cy="1143000"/>
          </a:xfrm>
        </p:spPr>
        <p:txBody>
          <a:bodyPr/>
          <a:lstStyle/>
          <a:p>
            <a:r>
              <a:rPr lang="en-US" dirty="0"/>
              <a:t>Simple undirected graphs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F98179-362F-4165-8D9A-85D1CBE5C024}"/>
              </a:ext>
            </a:extLst>
          </p:cNvPr>
          <p:cNvSpPr/>
          <p:nvPr/>
        </p:nvSpPr>
        <p:spPr>
          <a:xfrm>
            <a:off x="825122" y="200514"/>
            <a:ext cx="8133173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3200" b="1" dirty="0">
                <a:solidFill>
                  <a:srgbClr val="7030A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simple</a:t>
            </a: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3200" b="1" dirty="0">
                <a:solidFill>
                  <a:srgbClr val="7030A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undirected</a:t>
            </a: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3200" b="1" dirty="0">
                <a:solidFill>
                  <a:srgbClr val="7030A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graph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never has multiple links between a pair of vertices.</a:t>
            </a:r>
          </a:p>
          <a:p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Nor does it have loops.</a:t>
            </a:r>
            <a:endParaRPr lang="en-US" sz="3200" dirty="0"/>
          </a:p>
        </p:txBody>
      </p:sp>
      <p:grpSp>
        <p:nvGrpSpPr>
          <p:cNvPr id="31" name="Group 30" descr="A simple undirected graph:&#10;Edges:&#10;{(5,11), (11,2), (11,7), (11,9), (7,8), (8,9), (8,3), (3,10)}">
            <a:extLst>
              <a:ext uri="{FF2B5EF4-FFF2-40B4-BE49-F238E27FC236}">
                <a16:creationId xmlns:a16="http://schemas.microsoft.com/office/drawing/2014/main" id="{D24143F3-05D2-B3D3-F46E-1CD6E50F729B}"/>
              </a:ext>
            </a:extLst>
          </p:cNvPr>
          <p:cNvGrpSpPr/>
          <p:nvPr/>
        </p:nvGrpSpPr>
        <p:grpSpPr>
          <a:xfrm>
            <a:off x="2002760" y="1896274"/>
            <a:ext cx="5228653" cy="4203972"/>
            <a:chOff x="2067339" y="1765689"/>
            <a:chExt cx="5228653" cy="4203972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CF0D250E-36B3-0901-A214-86F77CCD8098}"/>
                </a:ext>
              </a:extLst>
            </p:cNvPr>
            <p:cNvSpPr/>
            <p:nvPr/>
          </p:nvSpPr>
          <p:spPr bwMode="auto">
            <a:xfrm>
              <a:off x="2067339" y="1769165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5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05A00DC-99A9-FE84-8649-95A8B4881D44}"/>
                </a:ext>
              </a:extLst>
            </p:cNvPr>
            <p:cNvSpPr/>
            <p:nvPr/>
          </p:nvSpPr>
          <p:spPr bwMode="auto">
            <a:xfrm>
              <a:off x="4209558" y="1767427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7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7F42D8A-5CD7-21B7-C1F5-1FF240FA229A}"/>
                </a:ext>
              </a:extLst>
            </p:cNvPr>
            <p:cNvSpPr/>
            <p:nvPr/>
          </p:nvSpPr>
          <p:spPr bwMode="auto">
            <a:xfrm>
              <a:off x="6461106" y="1765689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2EE3F24-07B7-67DA-17E5-161B34F233FB}"/>
                </a:ext>
              </a:extLst>
            </p:cNvPr>
            <p:cNvSpPr/>
            <p:nvPr/>
          </p:nvSpPr>
          <p:spPr bwMode="auto">
            <a:xfrm>
              <a:off x="2067339" y="3450219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10E303E-05E5-ABFC-873B-8659645421FF}"/>
                </a:ext>
              </a:extLst>
            </p:cNvPr>
            <p:cNvSpPr/>
            <p:nvPr/>
          </p:nvSpPr>
          <p:spPr bwMode="auto">
            <a:xfrm>
              <a:off x="2067339" y="5131273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2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A9957FD-B03B-68BC-C364-75BF87D05AF3}"/>
                </a:ext>
              </a:extLst>
            </p:cNvPr>
            <p:cNvSpPr/>
            <p:nvPr/>
          </p:nvSpPr>
          <p:spPr bwMode="auto">
            <a:xfrm>
              <a:off x="4219496" y="3450617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8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477416E7-BEEC-A3B3-B406-8370ACE8B32B}"/>
                </a:ext>
              </a:extLst>
            </p:cNvPr>
            <p:cNvSpPr/>
            <p:nvPr/>
          </p:nvSpPr>
          <p:spPr bwMode="auto">
            <a:xfrm>
              <a:off x="4219100" y="5154652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9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687EE45-66BA-E847-913A-A5ABD1DF5324}"/>
                </a:ext>
              </a:extLst>
            </p:cNvPr>
            <p:cNvSpPr/>
            <p:nvPr/>
          </p:nvSpPr>
          <p:spPr bwMode="auto">
            <a:xfrm>
              <a:off x="6480983" y="5154651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10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01C7321-C1EE-1F5D-F241-33FA66775D4A}"/>
                </a:ext>
              </a:extLst>
            </p:cNvPr>
            <p:cNvCxnSpPr>
              <a:stCxn id="2" idx="4"/>
              <a:endCxn id="7" idx="0"/>
            </p:cNvCxnSpPr>
            <p:nvPr/>
          </p:nvCxnSpPr>
          <p:spPr bwMode="auto">
            <a:xfrm>
              <a:off x="2474844" y="2584174"/>
              <a:ext cx="0" cy="866045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838C2EA-0933-D534-5EF4-E6BF331FEBD7}"/>
                </a:ext>
              </a:extLst>
            </p:cNvPr>
            <p:cNvCxnSpPr>
              <a:stCxn id="5" idx="3"/>
              <a:endCxn id="7" idx="7"/>
            </p:cNvCxnSpPr>
            <p:nvPr/>
          </p:nvCxnSpPr>
          <p:spPr bwMode="auto">
            <a:xfrm flipH="1">
              <a:off x="2762993" y="2463081"/>
              <a:ext cx="1565920" cy="1106493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EEEFF4C-DF52-7514-25E5-32FF23D799A1}"/>
                </a:ext>
              </a:extLst>
            </p:cNvPr>
            <p:cNvCxnSpPr>
              <a:cxnSpLocks/>
              <a:stCxn id="5" idx="4"/>
              <a:endCxn id="9" idx="0"/>
            </p:cNvCxnSpPr>
            <p:nvPr/>
          </p:nvCxnSpPr>
          <p:spPr bwMode="auto">
            <a:xfrm>
              <a:off x="4617063" y="2582436"/>
              <a:ext cx="9938" cy="868181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D35BAF8-A174-BFB4-1C3D-824922173C0E}"/>
                </a:ext>
              </a:extLst>
            </p:cNvPr>
            <p:cNvCxnSpPr>
              <a:stCxn id="7" idx="4"/>
              <a:endCxn id="8" idx="0"/>
            </p:cNvCxnSpPr>
            <p:nvPr/>
          </p:nvCxnSpPr>
          <p:spPr bwMode="auto">
            <a:xfrm>
              <a:off x="2474844" y="4265228"/>
              <a:ext cx="0" cy="866045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C6B2309-C976-5701-4806-FCFFC051E24F}"/>
                </a:ext>
              </a:extLst>
            </p:cNvPr>
            <p:cNvCxnSpPr>
              <a:stCxn id="7" idx="5"/>
              <a:endCxn id="10" idx="1"/>
            </p:cNvCxnSpPr>
            <p:nvPr/>
          </p:nvCxnSpPr>
          <p:spPr bwMode="auto">
            <a:xfrm>
              <a:off x="2762993" y="4145873"/>
              <a:ext cx="1575462" cy="1128134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C980631-7DDF-D81C-D9CE-FA50C04F720F}"/>
                </a:ext>
              </a:extLst>
            </p:cNvPr>
            <p:cNvCxnSpPr>
              <a:endCxn id="10" idx="0"/>
            </p:cNvCxnSpPr>
            <p:nvPr/>
          </p:nvCxnSpPr>
          <p:spPr bwMode="auto">
            <a:xfrm>
              <a:off x="4617062" y="4273800"/>
              <a:ext cx="9543" cy="880852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AE1CE91-5701-F638-0933-EF64F580C78F}"/>
                </a:ext>
              </a:extLst>
            </p:cNvPr>
            <p:cNvCxnSpPr>
              <a:stCxn id="6" idx="3"/>
              <a:endCxn id="9" idx="7"/>
            </p:cNvCxnSpPr>
            <p:nvPr/>
          </p:nvCxnSpPr>
          <p:spPr bwMode="auto">
            <a:xfrm flipH="1">
              <a:off x="4915150" y="2461343"/>
              <a:ext cx="1665311" cy="1108629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9A20C33-3FEF-E13D-C334-3A7714A9F077}"/>
                </a:ext>
              </a:extLst>
            </p:cNvPr>
            <p:cNvCxnSpPr>
              <a:stCxn id="6" idx="4"/>
              <a:endCxn id="11" idx="0"/>
            </p:cNvCxnSpPr>
            <p:nvPr/>
          </p:nvCxnSpPr>
          <p:spPr bwMode="auto">
            <a:xfrm>
              <a:off x="6868611" y="2580698"/>
              <a:ext cx="19877" cy="2573953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C54400A-03B8-BA27-9E8F-F8C97DF855F2}"/>
                </a:ext>
              </a:extLst>
            </p:cNvPr>
            <p:cNvCxnSpPr>
              <a:cxnSpLocks/>
              <a:stCxn id="7" idx="5"/>
              <a:endCxn id="11" idx="1"/>
            </p:cNvCxnSpPr>
            <p:nvPr/>
          </p:nvCxnSpPr>
          <p:spPr bwMode="auto">
            <a:xfrm>
              <a:off x="2762993" y="4145873"/>
              <a:ext cx="3837345" cy="1128133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044AA281-4D31-F6A4-68A8-EE47712BE046}"/>
              </a:ext>
            </a:extLst>
          </p:cNvPr>
          <p:cNvSpPr/>
          <p:nvPr/>
        </p:nvSpPr>
        <p:spPr>
          <a:xfrm>
            <a:off x="2239601" y="6226346"/>
            <a:ext cx="655651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Note that this is an 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unweighted graph.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4828048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0BB99436-4891-ACDB-B190-30B1D23173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76010" y="-1297084"/>
            <a:ext cx="7772400" cy="1143000"/>
          </a:xfrm>
        </p:spPr>
        <p:txBody>
          <a:bodyPr/>
          <a:lstStyle/>
          <a:p>
            <a:r>
              <a:rPr lang="en-US" dirty="0"/>
              <a:t>Non-simple undirected graphs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F98179-362F-4165-8D9A-85D1CBE5C024}"/>
              </a:ext>
            </a:extLst>
          </p:cNvPr>
          <p:cNvSpPr/>
          <p:nvPr/>
        </p:nvSpPr>
        <p:spPr>
          <a:xfrm>
            <a:off x="825122" y="200514"/>
            <a:ext cx="8133173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2800" b="1" dirty="0">
                <a:solidFill>
                  <a:srgbClr val="C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non-simple undirected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graph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never has multiple links between a pair of vertices.</a:t>
            </a:r>
          </a:p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Nor does it have loops. </a:t>
            </a:r>
            <a:endParaRPr lang="en-US" sz="2800" dirty="0"/>
          </a:p>
        </p:txBody>
      </p:sp>
      <p:grpSp>
        <p:nvGrpSpPr>
          <p:cNvPr id="4" name="Group 3" descr="A non-simple undirected graph:&#10;Edges:&#10;{(5,11), (11,11), (11,2), (11,7), (11,9), (7,8), (8,9), (8,3), (3,10), (3,10)}&#10;Notice that (11,11) is a loop and edge (3,10) appears twice.">
            <a:extLst>
              <a:ext uri="{FF2B5EF4-FFF2-40B4-BE49-F238E27FC236}">
                <a16:creationId xmlns:a16="http://schemas.microsoft.com/office/drawing/2014/main" id="{6AEEB695-3A6E-E1B5-D020-96ABA0F9A929}"/>
              </a:ext>
            </a:extLst>
          </p:cNvPr>
          <p:cNvGrpSpPr/>
          <p:nvPr/>
        </p:nvGrpSpPr>
        <p:grpSpPr>
          <a:xfrm>
            <a:off x="1557391" y="1664743"/>
            <a:ext cx="5783749" cy="4203972"/>
            <a:chOff x="1557391" y="1664743"/>
            <a:chExt cx="5783749" cy="4203972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8CA5A26-F4F7-726E-4324-900ECA700DBD}"/>
                </a:ext>
              </a:extLst>
            </p:cNvPr>
            <p:cNvGrpSpPr/>
            <p:nvPr/>
          </p:nvGrpSpPr>
          <p:grpSpPr>
            <a:xfrm>
              <a:off x="2112487" y="1664743"/>
              <a:ext cx="5228653" cy="4203972"/>
              <a:chOff x="2112487" y="1664743"/>
              <a:chExt cx="5228653" cy="4203972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CF0D250E-36B3-0901-A214-86F77CCD8098}"/>
                  </a:ext>
                </a:extLst>
              </p:cNvPr>
              <p:cNvSpPr/>
              <p:nvPr/>
            </p:nvSpPr>
            <p:spPr bwMode="auto">
              <a:xfrm>
                <a:off x="2112487" y="1668219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5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05A00DC-99A9-FE84-8649-95A8B4881D44}"/>
                  </a:ext>
                </a:extLst>
              </p:cNvPr>
              <p:cNvSpPr/>
              <p:nvPr/>
            </p:nvSpPr>
            <p:spPr bwMode="auto">
              <a:xfrm>
                <a:off x="4254706" y="1666481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7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7F42D8A-5CD7-21B7-C1F5-1FF240FA229A}"/>
                  </a:ext>
                </a:extLst>
              </p:cNvPr>
              <p:cNvSpPr/>
              <p:nvPr/>
            </p:nvSpPr>
            <p:spPr bwMode="auto">
              <a:xfrm>
                <a:off x="6506254" y="1664743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B2EE3F24-07B7-67DA-17E5-161B34F233FB}"/>
                  </a:ext>
                </a:extLst>
              </p:cNvPr>
              <p:cNvSpPr/>
              <p:nvPr/>
            </p:nvSpPr>
            <p:spPr bwMode="auto">
              <a:xfrm>
                <a:off x="2112487" y="3349273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11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10E303E-05E5-ABFC-873B-8659645421FF}"/>
                  </a:ext>
                </a:extLst>
              </p:cNvPr>
              <p:cNvSpPr/>
              <p:nvPr/>
            </p:nvSpPr>
            <p:spPr bwMode="auto">
              <a:xfrm>
                <a:off x="2112487" y="5030327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2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AA9957FD-B03B-68BC-C364-75BF87D05AF3}"/>
                  </a:ext>
                </a:extLst>
              </p:cNvPr>
              <p:cNvSpPr/>
              <p:nvPr/>
            </p:nvSpPr>
            <p:spPr bwMode="auto">
              <a:xfrm>
                <a:off x="4264644" y="3349671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8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477416E7-BEEC-A3B3-B406-8370ACE8B32B}"/>
                  </a:ext>
                </a:extLst>
              </p:cNvPr>
              <p:cNvSpPr/>
              <p:nvPr/>
            </p:nvSpPr>
            <p:spPr bwMode="auto">
              <a:xfrm>
                <a:off x="4264248" y="5053706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9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6687EE45-66BA-E847-913A-A5ABD1DF5324}"/>
                  </a:ext>
                </a:extLst>
              </p:cNvPr>
              <p:cNvSpPr/>
              <p:nvPr/>
            </p:nvSpPr>
            <p:spPr bwMode="auto">
              <a:xfrm>
                <a:off x="6526131" y="5053705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10</a:t>
                </a:r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501C7321-C1EE-1F5D-F241-33FA66775D4A}"/>
                  </a:ext>
                </a:extLst>
              </p:cNvPr>
              <p:cNvCxnSpPr>
                <a:stCxn id="2" idx="4"/>
                <a:endCxn id="7" idx="0"/>
              </p:cNvCxnSpPr>
              <p:nvPr/>
            </p:nvCxnSpPr>
            <p:spPr bwMode="auto">
              <a:xfrm>
                <a:off x="2519992" y="2483228"/>
                <a:ext cx="0" cy="866045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E838C2EA-0933-D534-5EF4-E6BF331FEBD7}"/>
                  </a:ext>
                </a:extLst>
              </p:cNvPr>
              <p:cNvCxnSpPr>
                <a:stCxn id="5" idx="3"/>
                <a:endCxn id="7" idx="7"/>
              </p:cNvCxnSpPr>
              <p:nvPr/>
            </p:nvCxnSpPr>
            <p:spPr bwMode="auto">
              <a:xfrm flipH="1">
                <a:off x="2808141" y="2362135"/>
                <a:ext cx="1565920" cy="1106493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EEEFF4C-DF52-7514-25E5-32FF23D799A1}"/>
                  </a:ext>
                </a:extLst>
              </p:cNvPr>
              <p:cNvCxnSpPr>
                <a:cxnSpLocks/>
                <a:stCxn id="5" idx="4"/>
                <a:endCxn id="9" idx="0"/>
              </p:cNvCxnSpPr>
              <p:nvPr/>
            </p:nvCxnSpPr>
            <p:spPr bwMode="auto">
              <a:xfrm>
                <a:off x="4662211" y="2481490"/>
                <a:ext cx="9938" cy="868181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D35BAF8-A174-BFB4-1C3D-824922173C0E}"/>
                  </a:ext>
                </a:extLst>
              </p:cNvPr>
              <p:cNvCxnSpPr>
                <a:stCxn id="7" idx="4"/>
                <a:endCxn id="8" idx="0"/>
              </p:cNvCxnSpPr>
              <p:nvPr/>
            </p:nvCxnSpPr>
            <p:spPr bwMode="auto">
              <a:xfrm>
                <a:off x="2519992" y="4164282"/>
                <a:ext cx="0" cy="866045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CC6B2309-C976-5701-4806-FCFFC051E24F}"/>
                  </a:ext>
                </a:extLst>
              </p:cNvPr>
              <p:cNvCxnSpPr>
                <a:stCxn id="7" idx="5"/>
                <a:endCxn id="10" idx="1"/>
              </p:cNvCxnSpPr>
              <p:nvPr/>
            </p:nvCxnSpPr>
            <p:spPr bwMode="auto">
              <a:xfrm>
                <a:off x="2808141" y="4044927"/>
                <a:ext cx="1575462" cy="1128134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AC980631-7DDF-D81C-D9CE-FA50C04F720F}"/>
                  </a:ext>
                </a:extLst>
              </p:cNvPr>
              <p:cNvCxnSpPr>
                <a:endCxn id="10" idx="0"/>
              </p:cNvCxnSpPr>
              <p:nvPr/>
            </p:nvCxnSpPr>
            <p:spPr bwMode="auto">
              <a:xfrm>
                <a:off x="4662210" y="4172854"/>
                <a:ext cx="9543" cy="880852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AAE1CE91-5701-F638-0933-EF64F580C78F}"/>
                  </a:ext>
                </a:extLst>
              </p:cNvPr>
              <p:cNvCxnSpPr>
                <a:stCxn id="6" idx="3"/>
                <a:endCxn id="9" idx="7"/>
              </p:cNvCxnSpPr>
              <p:nvPr/>
            </p:nvCxnSpPr>
            <p:spPr bwMode="auto">
              <a:xfrm flipH="1">
                <a:off x="4960298" y="2360397"/>
                <a:ext cx="1665311" cy="1108629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9A20C33-3FEF-E13D-C334-3A7714A9F077}"/>
                  </a:ext>
                </a:extLst>
              </p:cNvPr>
              <p:cNvCxnSpPr>
                <a:stCxn id="6" idx="4"/>
                <a:endCxn id="11" idx="0"/>
              </p:cNvCxnSpPr>
              <p:nvPr/>
            </p:nvCxnSpPr>
            <p:spPr bwMode="auto">
              <a:xfrm>
                <a:off x="6913759" y="2479752"/>
                <a:ext cx="19877" cy="2573953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rgbClr val="C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0C54400A-03B8-BA27-9E8F-F8C97DF855F2}"/>
                  </a:ext>
                </a:extLst>
              </p:cNvPr>
              <p:cNvCxnSpPr>
                <a:stCxn id="7" idx="5"/>
                <a:endCxn id="11" idx="1"/>
              </p:cNvCxnSpPr>
              <p:nvPr/>
            </p:nvCxnSpPr>
            <p:spPr bwMode="auto">
              <a:xfrm>
                <a:off x="2808141" y="4044927"/>
                <a:ext cx="3837345" cy="1128133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62A5514A-34AF-AA0F-3169-C6ADA4645EEA}"/>
                  </a:ext>
                </a:extLst>
              </p:cNvPr>
              <p:cNvSpPr/>
              <p:nvPr/>
            </p:nvSpPr>
            <p:spPr bwMode="auto">
              <a:xfrm>
                <a:off x="6987209" y="2484783"/>
                <a:ext cx="89526" cy="2568922"/>
              </a:xfrm>
              <a:custGeom>
                <a:avLst/>
                <a:gdLst>
                  <a:gd name="connsiteX0" fmla="*/ 0 w 89526"/>
                  <a:gd name="connsiteY0" fmla="*/ 0 h 2604052"/>
                  <a:gd name="connsiteX1" fmla="*/ 49695 w 89526"/>
                  <a:gd name="connsiteY1" fmla="*/ 457200 h 2604052"/>
                  <a:gd name="connsiteX2" fmla="*/ 89452 w 89526"/>
                  <a:gd name="connsiteY2" fmla="*/ 1321904 h 2604052"/>
                  <a:gd name="connsiteX3" fmla="*/ 39756 w 89526"/>
                  <a:gd name="connsiteY3" fmla="*/ 2196547 h 2604052"/>
                  <a:gd name="connsiteX4" fmla="*/ 0 w 89526"/>
                  <a:gd name="connsiteY4" fmla="*/ 2604052 h 2604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9526" h="2604052">
                    <a:moveTo>
                      <a:pt x="0" y="0"/>
                    </a:moveTo>
                    <a:cubicBezTo>
                      <a:pt x="17393" y="118441"/>
                      <a:pt x="34786" y="236883"/>
                      <a:pt x="49695" y="457200"/>
                    </a:cubicBezTo>
                    <a:cubicBezTo>
                      <a:pt x="64604" y="677517"/>
                      <a:pt x="91108" y="1032013"/>
                      <a:pt x="89452" y="1321904"/>
                    </a:cubicBezTo>
                    <a:cubicBezTo>
                      <a:pt x="87796" y="1611795"/>
                      <a:pt x="54665" y="1982856"/>
                      <a:pt x="39756" y="2196547"/>
                    </a:cubicBezTo>
                    <a:cubicBezTo>
                      <a:pt x="24847" y="2410238"/>
                      <a:pt x="12423" y="2507145"/>
                      <a:pt x="0" y="2604052"/>
                    </a:cubicBezTo>
                  </a:path>
                </a:pathLst>
              </a:custGeom>
              <a:noFill/>
              <a:ln w="19050" cap="flat" cmpd="sng" algn="ctr">
                <a:solidFill>
                  <a:srgbClr val="C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</p:grp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3697EE1-83D9-16B1-0ACE-88C2869915E0}"/>
                </a:ext>
              </a:extLst>
            </p:cNvPr>
            <p:cNvSpPr/>
            <p:nvPr/>
          </p:nvSpPr>
          <p:spPr bwMode="auto">
            <a:xfrm rot="796684">
              <a:off x="1557391" y="3152184"/>
              <a:ext cx="725540" cy="473993"/>
            </a:xfrm>
            <a:custGeom>
              <a:avLst/>
              <a:gdLst>
                <a:gd name="connsiteX0" fmla="*/ 520731 w 520731"/>
                <a:gd name="connsiteY0" fmla="*/ 229217 h 582839"/>
                <a:gd name="connsiteX1" fmla="*/ 461096 w 520731"/>
                <a:gd name="connsiteY1" fmla="*/ 80130 h 582839"/>
                <a:gd name="connsiteX2" fmla="*/ 252374 w 520731"/>
                <a:gd name="connsiteY2" fmla="*/ 617 h 582839"/>
                <a:gd name="connsiteX3" fmla="*/ 53592 w 520731"/>
                <a:gd name="connsiteY3" fmla="*/ 119886 h 582839"/>
                <a:gd name="connsiteX4" fmla="*/ 3896 w 520731"/>
                <a:gd name="connsiteY4" fmla="*/ 358425 h 582839"/>
                <a:gd name="connsiteX5" fmla="*/ 133105 w 520731"/>
                <a:gd name="connsiteY5" fmla="*/ 557208 h 582839"/>
                <a:gd name="connsiteX6" fmla="*/ 361705 w 520731"/>
                <a:gd name="connsiteY6" fmla="*/ 577086 h 582839"/>
                <a:gd name="connsiteX7" fmla="*/ 441218 w 520731"/>
                <a:gd name="connsiteY7" fmla="*/ 527391 h 582839"/>
                <a:gd name="connsiteX8" fmla="*/ 451157 w 520731"/>
                <a:gd name="connsiteY8" fmla="*/ 527391 h 582839"/>
                <a:gd name="connsiteX9" fmla="*/ 451157 w 520731"/>
                <a:gd name="connsiteY9" fmla="*/ 527391 h 58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20731" h="582839">
                  <a:moveTo>
                    <a:pt x="520731" y="229217"/>
                  </a:moveTo>
                  <a:cubicBezTo>
                    <a:pt x="513276" y="173723"/>
                    <a:pt x="505822" y="118230"/>
                    <a:pt x="461096" y="80130"/>
                  </a:cubicBezTo>
                  <a:cubicBezTo>
                    <a:pt x="416370" y="42030"/>
                    <a:pt x="320291" y="-6009"/>
                    <a:pt x="252374" y="617"/>
                  </a:cubicBezTo>
                  <a:cubicBezTo>
                    <a:pt x="184457" y="7243"/>
                    <a:pt x="95005" y="60251"/>
                    <a:pt x="53592" y="119886"/>
                  </a:cubicBezTo>
                  <a:cubicBezTo>
                    <a:pt x="12179" y="179521"/>
                    <a:pt x="-9356" y="285538"/>
                    <a:pt x="3896" y="358425"/>
                  </a:cubicBezTo>
                  <a:cubicBezTo>
                    <a:pt x="17148" y="431312"/>
                    <a:pt x="73470" y="520765"/>
                    <a:pt x="133105" y="557208"/>
                  </a:cubicBezTo>
                  <a:cubicBezTo>
                    <a:pt x="192740" y="593651"/>
                    <a:pt x="310353" y="582056"/>
                    <a:pt x="361705" y="577086"/>
                  </a:cubicBezTo>
                  <a:cubicBezTo>
                    <a:pt x="413057" y="572117"/>
                    <a:pt x="441218" y="527391"/>
                    <a:pt x="441218" y="527391"/>
                  </a:cubicBezTo>
                  <a:cubicBezTo>
                    <a:pt x="456127" y="519109"/>
                    <a:pt x="451157" y="527391"/>
                    <a:pt x="451157" y="527391"/>
                  </a:cubicBezTo>
                  <a:lnTo>
                    <a:pt x="451157" y="527391"/>
                  </a:lnTo>
                </a:path>
              </a:pathLst>
            </a:custGeom>
            <a:noFill/>
            <a:ln w="28575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044AA281-4D31-F6A4-68A8-EE47712BE046}"/>
              </a:ext>
            </a:extLst>
          </p:cNvPr>
          <p:cNvSpPr/>
          <p:nvPr/>
        </p:nvSpPr>
        <p:spPr>
          <a:xfrm>
            <a:off x="1682041" y="6046958"/>
            <a:ext cx="655651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Note that this is an 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unweighted graph.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3476866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7BA3270-D9A0-78D3-3AF7-A6BA81184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78803" y="-1324804"/>
            <a:ext cx="7772400" cy="1143000"/>
          </a:xfrm>
        </p:spPr>
        <p:txBody>
          <a:bodyPr/>
          <a:lstStyle/>
          <a:p>
            <a:r>
              <a:rPr lang="en-US" dirty="0"/>
              <a:t>Simple directed graphs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F98179-362F-4165-8D9A-85D1CBE5C024}"/>
              </a:ext>
            </a:extLst>
          </p:cNvPr>
          <p:cNvSpPr/>
          <p:nvPr/>
        </p:nvSpPr>
        <p:spPr>
          <a:xfrm>
            <a:off x="1355035" y="231254"/>
            <a:ext cx="78486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2800" b="1" dirty="0">
                <a:solidFill>
                  <a:srgbClr val="008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simple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2800" b="1" dirty="0">
                <a:solidFill>
                  <a:srgbClr val="008000"/>
                </a:solidFill>
                <a:latin typeface="Arial" panose="020B0604020202020204" pitchFamily="34" charset="0"/>
              </a:rPr>
              <a:t>directed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graph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has no multiple arrows </a:t>
            </a:r>
            <a:r>
              <a:rPr lang="en-US" sz="2800" u="sng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with same source and target nodes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.</a:t>
            </a:r>
            <a:endParaRPr lang="en-US" sz="2800" dirty="0"/>
          </a:p>
        </p:txBody>
      </p:sp>
      <p:grpSp>
        <p:nvGrpSpPr>
          <p:cNvPr id="2" name="Group 1" descr="A simple directed graph:&#10;Edges:&#10;{(5,11), (11,2), (11,7), (11,9), (7,8), (8,9), (8,3), (3,10)}">
            <a:extLst>
              <a:ext uri="{FF2B5EF4-FFF2-40B4-BE49-F238E27FC236}">
                <a16:creationId xmlns:a16="http://schemas.microsoft.com/office/drawing/2014/main" id="{30EEA521-3B18-2ED9-4BC8-85BC89CFE29A}"/>
              </a:ext>
            </a:extLst>
          </p:cNvPr>
          <p:cNvGrpSpPr/>
          <p:nvPr/>
        </p:nvGrpSpPr>
        <p:grpSpPr>
          <a:xfrm>
            <a:off x="1937174" y="1448043"/>
            <a:ext cx="5498924" cy="4419600"/>
            <a:chOff x="1937174" y="1448043"/>
            <a:chExt cx="5498924" cy="4419600"/>
          </a:xfrm>
        </p:grpSpPr>
        <p:pic>
          <p:nvPicPr>
            <p:cNvPr id="10242" name="Picture 2">
              <a:extLst>
                <a:ext uri="{FF2B5EF4-FFF2-40B4-BE49-F238E27FC236}">
                  <a16:creationId xmlns:a16="http://schemas.microsoft.com/office/drawing/2014/main" id="{89578853-F977-4648-B583-D71A0E43EC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37174" y="1448043"/>
              <a:ext cx="5498924" cy="4419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F8474E6C-8065-4897-9DD7-CF314FC1EAD8}"/>
                </a:ext>
              </a:extLst>
            </p:cNvPr>
            <p:cNvSpPr/>
            <p:nvPr/>
          </p:nvSpPr>
          <p:spPr bwMode="auto">
            <a:xfrm>
              <a:off x="6980922" y="2352386"/>
              <a:ext cx="253855" cy="2530699"/>
            </a:xfrm>
            <a:custGeom>
              <a:avLst/>
              <a:gdLst>
                <a:gd name="connsiteX0" fmla="*/ 51515 w 253855"/>
                <a:gd name="connsiteY0" fmla="*/ 2530699 h 2530699"/>
                <a:gd name="connsiteX1" fmla="*/ 141667 w 253855"/>
                <a:gd name="connsiteY1" fmla="*/ 2279561 h 2530699"/>
                <a:gd name="connsiteX2" fmla="*/ 231819 w 253855"/>
                <a:gd name="connsiteY2" fmla="*/ 1539025 h 2530699"/>
                <a:gd name="connsiteX3" fmla="*/ 251138 w 253855"/>
                <a:gd name="connsiteY3" fmla="*/ 991673 h 2530699"/>
                <a:gd name="connsiteX4" fmla="*/ 186743 w 253855"/>
                <a:gd name="connsiteY4" fmla="*/ 476518 h 2530699"/>
                <a:gd name="connsiteX5" fmla="*/ 0 w 253855"/>
                <a:gd name="connsiteY5" fmla="*/ 0 h 2530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855" h="2530699">
                  <a:moveTo>
                    <a:pt x="51515" y="2530699"/>
                  </a:moveTo>
                  <a:cubicBezTo>
                    <a:pt x="81565" y="2487769"/>
                    <a:pt x="111616" y="2444840"/>
                    <a:pt x="141667" y="2279561"/>
                  </a:cubicBezTo>
                  <a:cubicBezTo>
                    <a:pt x="171718" y="2114282"/>
                    <a:pt x="213574" y="1753673"/>
                    <a:pt x="231819" y="1539025"/>
                  </a:cubicBezTo>
                  <a:cubicBezTo>
                    <a:pt x="250064" y="1324377"/>
                    <a:pt x="258651" y="1168757"/>
                    <a:pt x="251138" y="991673"/>
                  </a:cubicBezTo>
                  <a:cubicBezTo>
                    <a:pt x="243625" y="814589"/>
                    <a:pt x="228599" y="641797"/>
                    <a:pt x="186743" y="476518"/>
                  </a:cubicBezTo>
                  <a:cubicBezTo>
                    <a:pt x="144887" y="311239"/>
                    <a:pt x="72443" y="155619"/>
                    <a:pt x="0" y="0"/>
                  </a:cubicBezTo>
                </a:path>
              </a:pathLst>
            </a:custGeom>
            <a:noFill/>
            <a:ln w="38100" cap="flat" cmpd="sng" algn="ctr">
              <a:solidFill>
                <a:srgbClr val="008000"/>
              </a:solidFill>
              <a:prstDash val="solid"/>
              <a:round/>
              <a:headEnd type="none" w="med" len="med"/>
              <a:tailEnd type="triangle" w="lg" len="lg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rgbClr val="008000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0709BF73-6175-2CC1-2A3C-99FCD22CD1B7}"/>
              </a:ext>
            </a:extLst>
          </p:cNvPr>
          <p:cNvSpPr/>
          <p:nvPr/>
        </p:nvSpPr>
        <p:spPr>
          <a:xfrm>
            <a:off x="1613452" y="5868715"/>
            <a:ext cx="655651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Note that this is an 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unweighted graph.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821160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3206153-19CE-DD8C-63A3-3D11DCC5D2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85800" y="-1332185"/>
            <a:ext cx="7772400" cy="1143000"/>
          </a:xfrm>
        </p:spPr>
        <p:txBody>
          <a:bodyPr/>
          <a:lstStyle/>
          <a:p>
            <a:r>
              <a:rPr lang="en-US" dirty="0"/>
              <a:t>Non-simple directed graphs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F98179-362F-4165-8D9A-85D1CBE5C024}"/>
              </a:ext>
            </a:extLst>
          </p:cNvPr>
          <p:cNvSpPr/>
          <p:nvPr/>
        </p:nvSpPr>
        <p:spPr>
          <a:xfrm>
            <a:off x="1295400" y="274785"/>
            <a:ext cx="78486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2800" b="1" dirty="0">
                <a:solidFill>
                  <a:srgbClr val="C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non-simple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2800" b="1" dirty="0">
                <a:solidFill>
                  <a:srgbClr val="C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directed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graph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has multiple arrows with same source and target nodes.</a:t>
            </a:r>
            <a:endParaRPr lang="en-US" sz="2800" dirty="0"/>
          </a:p>
        </p:txBody>
      </p:sp>
      <p:grpSp>
        <p:nvGrpSpPr>
          <p:cNvPr id="6" name="Group 5" descr="A non-simple directed graph:&#10;Edges:&#10;{(5,11), (11,2), (11,9), (7,11), (7,8), (8,9), (3,8), (3,10), (3,10)}&#10;Notice that edge (3,10) appears twice.">
            <a:extLst>
              <a:ext uri="{FF2B5EF4-FFF2-40B4-BE49-F238E27FC236}">
                <a16:creationId xmlns:a16="http://schemas.microsoft.com/office/drawing/2014/main" id="{9BAC3EEB-8AF5-4050-F6B1-37E95A5C0E7C}"/>
              </a:ext>
            </a:extLst>
          </p:cNvPr>
          <p:cNvGrpSpPr/>
          <p:nvPr/>
        </p:nvGrpSpPr>
        <p:grpSpPr>
          <a:xfrm>
            <a:off x="1937174" y="1449115"/>
            <a:ext cx="5498924" cy="4419600"/>
            <a:chOff x="1937174" y="1548507"/>
            <a:chExt cx="5498924" cy="4419600"/>
          </a:xfrm>
        </p:grpSpPr>
        <p:pic>
          <p:nvPicPr>
            <p:cNvPr id="10242" name="Picture 2">
              <a:extLst>
                <a:ext uri="{FF2B5EF4-FFF2-40B4-BE49-F238E27FC236}">
                  <a16:creationId xmlns:a16="http://schemas.microsoft.com/office/drawing/2014/main" id="{89578853-F977-4648-B583-D71A0E43EC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37174" y="1548507"/>
              <a:ext cx="5498924" cy="4419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F8474E6C-8065-4897-9DD7-CF314FC1EAD8}"/>
                </a:ext>
              </a:extLst>
            </p:cNvPr>
            <p:cNvSpPr/>
            <p:nvPr/>
          </p:nvSpPr>
          <p:spPr bwMode="auto">
            <a:xfrm flipV="1">
              <a:off x="7041881" y="2355573"/>
              <a:ext cx="253855" cy="2638293"/>
            </a:xfrm>
            <a:custGeom>
              <a:avLst/>
              <a:gdLst>
                <a:gd name="connsiteX0" fmla="*/ 51515 w 253855"/>
                <a:gd name="connsiteY0" fmla="*/ 2530699 h 2530699"/>
                <a:gd name="connsiteX1" fmla="*/ 141667 w 253855"/>
                <a:gd name="connsiteY1" fmla="*/ 2279561 h 2530699"/>
                <a:gd name="connsiteX2" fmla="*/ 231819 w 253855"/>
                <a:gd name="connsiteY2" fmla="*/ 1539025 h 2530699"/>
                <a:gd name="connsiteX3" fmla="*/ 251138 w 253855"/>
                <a:gd name="connsiteY3" fmla="*/ 991673 h 2530699"/>
                <a:gd name="connsiteX4" fmla="*/ 186743 w 253855"/>
                <a:gd name="connsiteY4" fmla="*/ 476518 h 2530699"/>
                <a:gd name="connsiteX5" fmla="*/ 0 w 253855"/>
                <a:gd name="connsiteY5" fmla="*/ 0 h 2530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855" h="2530699">
                  <a:moveTo>
                    <a:pt x="51515" y="2530699"/>
                  </a:moveTo>
                  <a:cubicBezTo>
                    <a:pt x="81565" y="2487769"/>
                    <a:pt x="111616" y="2444840"/>
                    <a:pt x="141667" y="2279561"/>
                  </a:cubicBezTo>
                  <a:cubicBezTo>
                    <a:pt x="171718" y="2114282"/>
                    <a:pt x="213574" y="1753673"/>
                    <a:pt x="231819" y="1539025"/>
                  </a:cubicBezTo>
                  <a:cubicBezTo>
                    <a:pt x="250064" y="1324377"/>
                    <a:pt x="258651" y="1168757"/>
                    <a:pt x="251138" y="991673"/>
                  </a:cubicBezTo>
                  <a:cubicBezTo>
                    <a:pt x="243625" y="814589"/>
                    <a:pt x="228599" y="641797"/>
                    <a:pt x="186743" y="476518"/>
                  </a:cubicBezTo>
                  <a:cubicBezTo>
                    <a:pt x="144887" y="311239"/>
                    <a:pt x="72443" y="155619"/>
                    <a:pt x="0" y="0"/>
                  </a:cubicBezTo>
                </a:path>
              </a:pathLst>
            </a:custGeom>
            <a:noFill/>
            <a:ln w="3810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triangle" w="lg" len="lg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7F0055A-1BFF-AD4D-591F-CA0DC05B5665}"/>
              </a:ext>
            </a:extLst>
          </p:cNvPr>
          <p:cNvSpPr/>
          <p:nvPr/>
        </p:nvSpPr>
        <p:spPr>
          <a:xfrm>
            <a:off x="1613452" y="5868715"/>
            <a:ext cx="655651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Note that this is an 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unweighted graph.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9229243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3922115-7ED9-3828-9C75-9E931266DCE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83643" y="147249"/>
            <a:ext cx="8560357" cy="707886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gency FB" panose="020B0503020202020204" pitchFamily="34" charset="0"/>
                <a:ea typeface="STHupo" panose="02010800040101010101" pitchFamily="2" charset="-122"/>
                <a:cs typeface="Arial" panose="020B0604020202020204" pitchFamily="34" charset="0"/>
              </a:rPr>
              <a:t>Connected/Disconnected Graphs &amp; Components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7E3967-380C-AB1A-9937-D6552AEE23CD}"/>
              </a:ext>
            </a:extLst>
          </p:cNvPr>
          <p:cNvSpPr txBox="1"/>
          <p:nvPr/>
        </p:nvSpPr>
        <p:spPr>
          <a:xfrm>
            <a:off x="1025912" y="1002348"/>
            <a:ext cx="788948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Abadi" panose="020B0604020104020204" pitchFamily="34" charset="0"/>
                <a:ea typeface="STHupo" panose="02010800040101010101" pitchFamily="2" charset="-122"/>
              </a:rPr>
              <a:t>A graph is connected if there is a </a:t>
            </a:r>
            <a:br>
              <a:rPr lang="en-US" sz="3600" dirty="0">
                <a:latin typeface="Abadi" panose="020B0604020104020204" pitchFamily="34" charset="0"/>
                <a:ea typeface="STHupo" panose="02010800040101010101" pitchFamily="2" charset="-122"/>
              </a:rPr>
            </a:br>
            <a:r>
              <a:rPr lang="en-US" sz="3600" dirty="0">
                <a:latin typeface="Abadi" panose="020B0604020104020204" pitchFamily="34" charset="0"/>
                <a:ea typeface="STHupo" panose="02010800040101010101" pitchFamily="2" charset="-122"/>
              </a:rPr>
              <a:t>path between any two vertices. In a disconnected graph the various connected pieces of a are called components of the graph.</a:t>
            </a:r>
          </a:p>
        </p:txBody>
      </p:sp>
      <p:pic>
        <p:nvPicPr>
          <p:cNvPr id="1026" name="Picture 2" descr="See the source image">
            <a:extLst>
              <a:ext uri="{FF2B5EF4-FFF2-40B4-BE49-F238E27FC236}">
                <a16:creationId xmlns:a16="http://schemas.microsoft.com/office/drawing/2014/main" id="{89AB2FCB-E8C4-47BD-8B74-8414457BA7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67" t="49115" r="50873" b="11111"/>
          <a:stretch/>
        </p:blipFill>
        <p:spPr bwMode="auto">
          <a:xfrm>
            <a:off x="834407" y="3865092"/>
            <a:ext cx="3882559" cy="2727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AF0789C-FD6C-412E-8F3D-83487D0C2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8001000" y="5562600"/>
            <a:ext cx="914400" cy="609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pic>
        <p:nvPicPr>
          <p:cNvPr id="5" name="Picture 2" descr="See the source image">
            <a:extLst>
              <a:ext uri="{FF2B5EF4-FFF2-40B4-BE49-F238E27FC236}">
                <a16:creationId xmlns:a16="http://schemas.microsoft.com/office/drawing/2014/main" id="{AE964768-8933-521B-3124-26FAB02453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43" t="49115" r="11016" b="15203"/>
          <a:stretch/>
        </p:blipFill>
        <p:spPr bwMode="auto">
          <a:xfrm>
            <a:off x="5820937" y="4061174"/>
            <a:ext cx="3094462" cy="2447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76135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4088EA4-E047-98D7-7604-76ACDA9731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85800" y="-1305576"/>
            <a:ext cx="7772400" cy="1143000"/>
          </a:xfrm>
        </p:spPr>
        <p:txBody>
          <a:bodyPr/>
          <a:lstStyle/>
          <a:p>
            <a:r>
              <a:rPr lang="en-US" dirty="0"/>
              <a:t>Practice classifying a graph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1139994B-73D7-4AB7-8E13-C60036ACFC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4501" y="171027"/>
            <a:ext cx="7696200" cy="52322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Classify the graph: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ext Box 2">
            <a:extLst>
              <a:ext uri="{FF2B5EF4-FFF2-40B4-BE49-F238E27FC236}">
                <a16:creationId xmlns:a16="http://schemas.microsoft.com/office/drawing/2014/main" id="{8A19E84F-4EC8-675D-1CC7-C6A50B526E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981" y="865274"/>
            <a:ext cx="7952728" cy="52322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lang="en-US" altLang="en-US" sz="2800" b="1" dirty="0">
                <a:solidFill>
                  <a:srgbClr val="2F5496"/>
                </a:solidFill>
                <a:latin typeface="Comic Sans MS" panose="030F0702030302020204" pitchFamily="66" charset="0"/>
              </a:rPr>
              <a:t> </a:t>
            </a:r>
            <a:r>
              <a:rPr lang="en-US" altLang="en-US" sz="1800" b="1" dirty="0">
                <a:solidFill>
                  <a:srgbClr val="2F5496"/>
                </a:solidFill>
                <a:latin typeface="Comic Sans MS" panose="030F0702030302020204" pitchFamily="66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 simple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 </a:t>
            </a:r>
            <a:r>
              <a:rPr lang="en-US" altLang="en-US" sz="2800" b="1" dirty="0">
                <a:solidFill>
                  <a:srgbClr val="2F5496"/>
                </a:solidFill>
                <a:latin typeface="Comic Sans MS" panose="030F0702030302020204" pitchFamily="66" charset="0"/>
              </a:rPr>
              <a:t> </a:t>
            </a:r>
            <a:r>
              <a:rPr lang="en-US" altLang="en-US" sz="2000" b="1" dirty="0">
                <a:solidFill>
                  <a:srgbClr val="2F5496"/>
                </a:solidFill>
                <a:latin typeface="Comic Sans MS" panose="030F0702030302020204" pitchFamily="66" charset="0"/>
              </a:rPr>
              <a:t> </a:t>
            </a:r>
            <a:r>
              <a:rPr lang="en-US" altLang="en-US" sz="2800" b="1" dirty="0">
                <a:solidFill>
                  <a:srgbClr val="2F5496"/>
                </a:solidFill>
                <a:latin typeface="Comic Sans MS" panose="030F0702030302020204" pitchFamily="66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directed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   weighted    cyclic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 Box 2">
            <a:extLst>
              <a:ext uri="{FF2B5EF4-FFF2-40B4-BE49-F238E27FC236}">
                <a16:creationId xmlns:a16="http://schemas.microsoft.com/office/drawing/2014/main" id="{04FA207E-63F9-E167-46E8-3455AAF99D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9679" y="1388494"/>
            <a:ext cx="8155944" cy="52322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non-simple  undirected  unweighted  acyclic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1AA239-0D6D-6416-5807-5C314D49CE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879679" y="1463040"/>
            <a:ext cx="1951574" cy="44867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837482-473B-A1CC-17F6-A80605F550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2891771" y="902547"/>
            <a:ext cx="1951574" cy="44867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6DC26E-C89F-92BA-EBF8-2D6454C386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120609" y="1463040"/>
            <a:ext cx="1951574" cy="44867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078E9A-E8EC-8A92-7C64-65CD032398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192426" y="1449489"/>
            <a:ext cx="1951574" cy="44867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5E4413-28CC-34C7-2ABE-91D22D3D7D0F}"/>
              </a:ext>
            </a:extLst>
          </p:cNvPr>
          <p:cNvSpPr txBox="1"/>
          <p:nvPr/>
        </p:nvSpPr>
        <p:spPr>
          <a:xfrm>
            <a:off x="6623573" y="2001379"/>
            <a:ext cx="2412050" cy="1313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connected</a:t>
            </a:r>
          </a:p>
          <a:p>
            <a:pPr>
              <a:lnSpc>
                <a:spcPct val="150000"/>
              </a:lnSpc>
            </a:pPr>
            <a:r>
              <a:rPr lang="en-US" altLang="en-US" sz="2800" b="1" dirty="0">
                <a:solidFill>
                  <a:srgbClr val="2F5496"/>
                </a:solidFill>
                <a:latin typeface="Comic Sans MS" panose="030F0702030302020204" pitchFamily="66" charset="0"/>
              </a:rPr>
              <a:t>disconnected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rgbClr val="2F5496"/>
              </a:solidFill>
              <a:effectLst/>
              <a:latin typeface="Comic Sans MS" panose="030F0702030302020204" pitchFamily="66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53935D-D88C-9A8F-EA62-E407EF6BDE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6623573" y="2192007"/>
            <a:ext cx="1951574" cy="44867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grpSp>
        <p:nvGrpSpPr>
          <p:cNvPr id="15" name="Group 14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Nodes: all above plus Fish 2 which is not connected to others.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&#10;&#10;- Fish 2 is not connected to any other node.">
            <a:extLst>
              <a:ext uri="{FF2B5EF4-FFF2-40B4-BE49-F238E27FC236}">
                <a16:creationId xmlns:a16="http://schemas.microsoft.com/office/drawing/2014/main" id="{32DD52F1-CDDF-2D02-BE5A-1AEC6F229BD7}"/>
              </a:ext>
            </a:extLst>
          </p:cNvPr>
          <p:cNvGrpSpPr/>
          <p:nvPr/>
        </p:nvGrpSpPr>
        <p:grpSpPr>
          <a:xfrm>
            <a:off x="685800" y="2228590"/>
            <a:ext cx="5513554" cy="4612683"/>
            <a:chOff x="685800" y="2228590"/>
            <a:chExt cx="5513554" cy="4612683"/>
          </a:xfrm>
        </p:grpSpPr>
        <p:pic>
          <p:nvPicPr>
            <p:cNvPr id="2050" name="Picture 2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Mr. Krabs, Fish 1, 23m)}&#10;Nodes: all above plus Fish 2 which is not connected to others.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&#10;- Fish 2 is not connected to any other node.">
              <a:extLst>
                <a:ext uri="{FF2B5EF4-FFF2-40B4-BE49-F238E27FC236}">
                  <a16:creationId xmlns:a16="http://schemas.microsoft.com/office/drawing/2014/main" id="{DEBE3A29-AAB7-4A23-BDDA-DC865CD2CF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03" r="5588" b="2919"/>
            <a:stretch>
              <a:fillRect/>
            </a:stretch>
          </p:blipFill>
          <p:spPr bwMode="auto">
            <a:xfrm>
              <a:off x="685800" y="2228590"/>
              <a:ext cx="5513554" cy="46126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A418EAC-527F-C1FD-6D86-31BED14506C4}"/>
                </a:ext>
              </a:extLst>
            </p:cNvPr>
            <p:cNvSpPr/>
            <p:nvPr/>
          </p:nvSpPr>
          <p:spPr bwMode="auto">
            <a:xfrm>
              <a:off x="2568251" y="3989907"/>
              <a:ext cx="2254622" cy="1140893"/>
            </a:xfrm>
            <a:custGeom>
              <a:avLst/>
              <a:gdLst>
                <a:gd name="connsiteX0" fmla="*/ 0 w 2776653"/>
                <a:gd name="connsiteY0" fmla="*/ 0 h 1405053"/>
                <a:gd name="connsiteX1" fmla="*/ 334536 w 2776653"/>
                <a:gd name="connsiteY1" fmla="*/ 167268 h 1405053"/>
                <a:gd name="connsiteX2" fmla="*/ 1025912 w 2776653"/>
                <a:gd name="connsiteY2" fmla="*/ 412595 h 1405053"/>
                <a:gd name="connsiteX3" fmla="*/ 1973766 w 2776653"/>
                <a:gd name="connsiteY3" fmla="*/ 758283 h 1405053"/>
                <a:gd name="connsiteX4" fmla="*/ 2442117 w 2776653"/>
                <a:gd name="connsiteY4" fmla="*/ 1148575 h 1405053"/>
                <a:gd name="connsiteX5" fmla="*/ 2776653 w 2776653"/>
                <a:gd name="connsiteY5" fmla="*/ 1405053 h 1405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76653" h="1405053">
                  <a:moveTo>
                    <a:pt x="0" y="0"/>
                  </a:moveTo>
                  <a:cubicBezTo>
                    <a:pt x="81775" y="49251"/>
                    <a:pt x="163551" y="98502"/>
                    <a:pt x="334536" y="167268"/>
                  </a:cubicBezTo>
                  <a:cubicBezTo>
                    <a:pt x="505521" y="236034"/>
                    <a:pt x="1025912" y="412595"/>
                    <a:pt x="1025912" y="412595"/>
                  </a:cubicBezTo>
                  <a:cubicBezTo>
                    <a:pt x="1299117" y="511097"/>
                    <a:pt x="1737732" y="635620"/>
                    <a:pt x="1973766" y="758283"/>
                  </a:cubicBezTo>
                  <a:cubicBezTo>
                    <a:pt x="2209800" y="880946"/>
                    <a:pt x="2308303" y="1040780"/>
                    <a:pt x="2442117" y="1148575"/>
                  </a:cubicBezTo>
                  <a:cubicBezTo>
                    <a:pt x="2575931" y="1256370"/>
                    <a:pt x="2676292" y="1330711"/>
                    <a:pt x="2776653" y="1405053"/>
                  </a:cubicBezTo>
                </a:path>
              </a:pathLst>
            </a:cu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3ED9DBA7-FA49-9287-4865-8BE5DBF95D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27643" y="4438217"/>
              <a:ext cx="244357" cy="2036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8567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4088EA4-E047-98D7-7604-76ACDA9731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85800" y="-1305576"/>
            <a:ext cx="7772400" cy="1143000"/>
          </a:xfrm>
        </p:spPr>
        <p:txBody>
          <a:bodyPr/>
          <a:lstStyle/>
          <a:p>
            <a:r>
              <a:rPr lang="en-US" dirty="0"/>
              <a:t>Practice classifying a graph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1139994B-73D7-4AB7-8E13-C60036ACFC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8745" y="289932"/>
            <a:ext cx="7935323" cy="1384995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If Fish 2 was removed, it would be a s</a:t>
            </a:r>
            <a:r>
              <a:rPr lang="en-US" altLang="en-US" sz="2800" b="1" dirty="0">
                <a:solidFill>
                  <a:srgbClr val="2F5496"/>
                </a:solidFill>
                <a:latin typeface="Comic Sans MS" panose="030F0702030302020204" pitchFamily="66" charset="0"/>
              </a:rPr>
              <a:t>imple connected graph, which is the type of graph we’ll typically study.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16" name="Group 15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<a:extLst>
              <a:ext uri="{FF2B5EF4-FFF2-40B4-BE49-F238E27FC236}">
                <a16:creationId xmlns:a16="http://schemas.microsoft.com/office/drawing/2014/main" id="{DC7A1B28-9B86-45D6-32DC-4BA5F37D84CE}"/>
              </a:ext>
            </a:extLst>
          </p:cNvPr>
          <p:cNvGrpSpPr/>
          <p:nvPr/>
        </p:nvGrpSpPr>
        <p:grpSpPr>
          <a:xfrm>
            <a:off x="1346039" y="2023710"/>
            <a:ext cx="6953123" cy="4544358"/>
            <a:chOff x="1346039" y="2023710"/>
            <a:chExt cx="6953123" cy="4544358"/>
          </a:xfrm>
        </p:grpSpPr>
        <p:pic>
          <p:nvPicPr>
            <p:cNvPr id="2050" name="Picture 2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  <a:extLst>
                <a:ext uri="{FF2B5EF4-FFF2-40B4-BE49-F238E27FC236}">
                  <a16:creationId xmlns:a16="http://schemas.microsoft.com/office/drawing/2014/main" id="{DEBE3A29-AAB7-4A23-BDDA-DC865CD2CF8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03" r="5588" b="24159"/>
            <a:stretch/>
          </p:blipFill>
          <p:spPr bwMode="auto">
            <a:xfrm>
              <a:off x="1346039" y="2023710"/>
              <a:ext cx="6953123" cy="45443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7984DF4-F2CF-F1FD-7EE2-FAC2CAD70D67}"/>
                </a:ext>
              </a:extLst>
            </p:cNvPr>
            <p:cNvSpPr/>
            <p:nvPr/>
          </p:nvSpPr>
          <p:spPr bwMode="auto">
            <a:xfrm>
              <a:off x="3746810" y="4248615"/>
              <a:ext cx="2776653" cy="1405053"/>
            </a:xfrm>
            <a:custGeom>
              <a:avLst/>
              <a:gdLst>
                <a:gd name="connsiteX0" fmla="*/ 0 w 2776653"/>
                <a:gd name="connsiteY0" fmla="*/ 0 h 1405053"/>
                <a:gd name="connsiteX1" fmla="*/ 334536 w 2776653"/>
                <a:gd name="connsiteY1" fmla="*/ 167268 h 1405053"/>
                <a:gd name="connsiteX2" fmla="*/ 1025912 w 2776653"/>
                <a:gd name="connsiteY2" fmla="*/ 412595 h 1405053"/>
                <a:gd name="connsiteX3" fmla="*/ 1973766 w 2776653"/>
                <a:gd name="connsiteY3" fmla="*/ 758283 h 1405053"/>
                <a:gd name="connsiteX4" fmla="*/ 2442117 w 2776653"/>
                <a:gd name="connsiteY4" fmla="*/ 1148575 h 1405053"/>
                <a:gd name="connsiteX5" fmla="*/ 2776653 w 2776653"/>
                <a:gd name="connsiteY5" fmla="*/ 1405053 h 1405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76653" h="1405053">
                  <a:moveTo>
                    <a:pt x="0" y="0"/>
                  </a:moveTo>
                  <a:cubicBezTo>
                    <a:pt x="81775" y="49251"/>
                    <a:pt x="163551" y="98502"/>
                    <a:pt x="334536" y="167268"/>
                  </a:cubicBezTo>
                  <a:cubicBezTo>
                    <a:pt x="505521" y="236034"/>
                    <a:pt x="1025912" y="412595"/>
                    <a:pt x="1025912" y="412595"/>
                  </a:cubicBezTo>
                  <a:cubicBezTo>
                    <a:pt x="1299117" y="511097"/>
                    <a:pt x="1737732" y="635620"/>
                    <a:pt x="1973766" y="758283"/>
                  </a:cubicBezTo>
                  <a:cubicBezTo>
                    <a:pt x="2209800" y="880946"/>
                    <a:pt x="2308303" y="1040780"/>
                    <a:pt x="2442117" y="1148575"/>
                  </a:cubicBezTo>
                  <a:cubicBezTo>
                    <a:pt x="2575931" y="1256370"/>
                    <a:pt x="2676292" y="1330711"/>
                    <a:pt x="2776653" y="1405053"/>
                  </a:cubicBezTo>
                </a:path>
              </a:pathLst>
            </a:cu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8E205C3D-1818-D4D8-1F0A-0D5DC49969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07728" y="4798741"/>
              <a:ext cx="300935" cy="2507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832624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89250-89E5-9D35-552F-D14AA47C29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87363" y="-1143000"/>
            <a:ext cx="7772400" cy="1143000"/>
          </a:xfrm>
        </p:spPr>
        <p:txBody>
          <a:bodyPr/>
          <a:lstStyle/>
          <a:p>
            <a:r>
              <a:rPr lang="en-US" dirty="0"/>
              <a:t>Walk 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B52DB0-C138-4F28-BAF0-55441BBBF32B}"/>
              </a:ext>
            </a:extLst>
          </p:cNvPr>
          <p:cNvSpPr/>
          <p:nvPr/>
        </p:nvSpPr>
        <p:spPr>
          <a:xfrm>
            <a:off x="762000" y="388203"/>
            <a:ext cx="8153400" cy="1316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 </a:t>
            </a:r>
            <a:r>
              <a:rPr lang="en-US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walk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 is a 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sequence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 of 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edges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 which joins </a:t>
            </a:r>
            <a:b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</a:b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sequence of 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vertices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</a:p>
          <a:p>
            <a:pPr marL="0" marR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Sponge Bob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 Patrick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 Sponge Bob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Gary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Karen)</a:t>
            </a:r>
          </a:p>
        </p:txBody>
      </p:sp>
      <p:grpSp>
        <p:nvGrpSpPr>
          <p:cNvPr id="11" name="Group 10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<a:extLst>
              <a:ext uri="{FF2B5EF4-FFF2-40B4-BE49-F238E27FC236}">
                <a16:creationId xmlns:a16="http://schemas.microsoft.com/office/drawing/2014/main" id="{DC99B5A8-1172-4B61-F98D-16D835CA870F}"/>
              </a:ext>
            </a:extLst>
          </p:cNvPr>
          <p:cNvGrpSpPr/>
          <p:nvPr/>
        </p:nvGrpSpPr>
        <p:grpSpPr>
          <a:xfrm>
            <a:off x="1346039" y="2023710"/>
            <a:ext cx="6953123" cy="4544358"/>
            <a:chOff x="1346039" y="2023710"/>
            <a:chExt cx="6953123" cy="4544358"/>
          </a:xfrm>
        </p:grpSpPr>
        <p:pic>
          <p:nvPicPr>
            <p:cNvPr id="12" name="Picture 2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  <a:extLst>
                <a:ext uri="{FF2B5EF4-FFF2-40B4-BE49-F238E27FC236}">
                  <a16:creationId xmlns:a16="http://schemas.microsoft.com/office/drawing/2014/main" id="{2A0AC0C7-F529-67CA-F3B5-74CD1127169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03" r="5588" b="24159"/>
            <a:stretch/>
          </p:blipFill>
          <p:spPr bwMode="auto">
            <a:xfrm>
              <a:off x="1346039" y="2023710"/>
              <a:ext cx="6953123" cy="45443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231C345-1E11-94AF-1AAC-39DF6CEA437B}"/>
                </a:ext>
              </a:extLst>
            </p:cNvPr>
            <p:cNvSpPr/>
            <p:nvPr/>
          </p:nvSpPr>
          <p:spPr bwMode="auto">
            <a:xfrm>
              <a:off x="3746810" y="4248615"/>
              <a:ext cx="2776653" cy="1405053"/>
            </a:xfrm>
            <a:custGeom>
              <a:avLst/>
              <a:gdLst>
                <a:gd name="connsiteX0" fmla="*/ 0 w 2776653"/>
                <a:gd name="connsiteY0" fmla="*/ 0 h 1405053"/>
                <a:gd name="connsiteX1" fmla="*/ 334536 w 2776653"/>
                <a:gd name="connsiteY1" fmla="*/ 167268 h 1405053"/>
                <a:gd name="connsiteX2" fmla="*/ 1025912 w 2776653"/>
                <a:gd name="connsiteY2" fmla="*/ 412595 h 1405053"/>
                <a:gd name="connsiteX3" fmla="*/ 1973766 w 2776653"/>
                <a:gd name="connsiteY3" fmla="*/ 758283 h 1405053"/>
                <a:gd name="connsiteX4" fmla="*/ 2442117 w 2776653"/>
                <a:gd name="connsiteY4" fmla="*/ 1148575 h 1405053"/>
                <a:gd name="connsiteX5" fmla="*/ 2776653 w 2776653"/>
                <a:gd name="connsiteY5" fmla="*/ 1405053 h 1405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76653" h="1405053">
                  <a:moveTo>
                    <a:pt x="0" y="0"/>
                  </a:moveTo>
                  <a:cubicBezTo>
                    <a:pt x="81775" y="49251"/>
                    <a:pt x="163551" y="98502"/>
                    <a:pt x="334536" y="167268"/>
                  </a:cubicBezTo>
                  <a:cubicBezTo>
                    <a:pt x="505521" y="236034"/>
                    <a:pt x="1025912" y="412595"/>
                    <a:pt x="1025912" y="412595"/>
                  </a:cubicBezTo>
                  <a:cubicBezTo>
                    <a:pt x="1299117" y="511097"/>
                    <a:pt x="1737732" y="635620"/>
                    <a:pt x="1973766" y="758283"/>
                  </a:cubicBezTo>
                  <a:cubicBezTo>
                    <a:pt x="2209800" y="880946"/>
                    <a:pt x="2308303" y="1040780"/>
                    <a:pt x="2442117" y="1148575"/>
                  </a:cubicBezTo>
                  <a:cubicBezTo>
                    <a:pt x="2575931" y="1256370"/>
                    <a:pt x="2676292" y="1330711"/>
                    <a:pt x="2776653" y="1405053"/>
                  </a:cubicBezTo>
                </a:path>
              </a:pathLst>
            </a:cu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F2AF0BBA-F230-3B63-6D79-F1BABA8C36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07728" y="4798741"/>
              <a:ext cx="300935" cy="2507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28862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89250-89E5-9D35-552F-D14AA47C29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87363" y="-1143000"/>
            <a:ext cx="7772400" cy="1143000"/>
          </a:xfrm>
        </p:spPr>
        <p:txBody>
          <a:bodyPr/>
          <a:lstStyle/>
          <a:p>
            <a:r>
              <a:rPr lang="en-US" dirty="0"/>
              <a:t>Walk 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B52DB0-C138-4F28-BAF0-55441BBBF32B}"/>
              </a:ext>
            </a:extLst>
          </p:cNvPr>
          <p:cNvSpPr/>
          <p:nvPr/>
        </p:nvSpPr>
        <p:spPr>
          <a:xfrm>
            <a:off x="762000" y="287844"/>
            <a:ext cx="8153400" cy="14397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 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closed walk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 is a</a:t>
            </a:r>
            <a:r>
              <a:rPr lang="en-US" sz="28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walk that starts and ends at the same vertex.</a:t>
            </a:r>
            <a:endParaRPr lang="en-US" sz="2800" dirty="0">
              <a:solidFill>
                <a:srgbClr val="222222"/>
              </a:solidFill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0" marR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Sponge Bob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 Patrick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 Karen 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 Patrick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 Sponge Bob </a:t>
            </a:r>
          </a:p>
        </p:txBody>
      </p:sp>
      <p:grpSp>
        <p:nvGrpSpPr>
          <p:cNvPr id="5" name="Group 4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<a:extLst>
              <a:ext uri="{FF2B5EF4-FFF2-40B4-BE49-F238E27FC236}">
                <a16:creationId xmlns:a16="http://schemas.microsoft.com/office/drawing/2014/main" id="{65B091BF-79BE-BBC1-9D74-C22CDB4D32F2}"/>
              </a:ext>
            </a:extLst>
          </p:cNvPr>
          <p:cNvGrpSpPr/>
          <p:nvPr/>
        </p:nvGrpSpPr>
        <p:grpSpPr>
          <a:xfrm>
            <a:off x="1346039" y="2023710"/>
            <a:ext cx="6953123" cy="4544358"/>
            <a:chOff x="1346039" y="2023710"/>
            <a:chExt cx="6953123" cy="4544358"/>
          </a:xfrm>
        </p:grpSpPr>
        <p:pic>
          <p:nvPicPr>
            <p:cNvPr id="6" name="Picture 2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  <a:extLst>
                <a:ext uri="{FF2B5EF4-FFF2-40B4-BE49-F238E27FC236}">
                  <a16:creationId xmlns:a16="http://schemas.microsoft.com/office/drawing/2014/main" id="{06556072-9AF7-0C5F-7E65-D29E409A70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03" r="5588" b="24159"/>
            <a:stretch/>
          </p:blipFill>
          <p:spPr bwMode="auto">
            <a:xfrm>
              <a:off x="1346039" y="2023710"/>
              <a:ext cx="6953123" cy="45443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8AEABF1-56D9-8F4A-930A-FE8E5404FB8A}"/>
                </a:ext>
              </a:extLst>
            </p:cNvPr>
            <p:cNvSpPr/>
            <p:nvPr/>
          </p:nvSpPr>
          <p:spPr bwMode="auto">
            <a:xfrm>
              <a:off x="3746810" y="4248615"/>
              <a:ext cx="2776653" cy="1405053"/>
            </a:xfrm>
            <a:custGeom>
              <a:avLst/>
              <a:gdLst>
                <a:gd name="connsiteX0" fmla="*/ 0 w 2776653"/>
                <a:gd name="connsiteY0" fmla="*/ 0 h 1405053"/>
                <a:gd name="connsiteX1" fmla="*/ 334536 w 2776653"/>
                <a:gd name="connsiteY1" fmla="*/ 167268 h 1405053"/>
                <a:gd name="connsiteX2" fmla="*/ 1025912 w 2776653"/>
                <a:gd name="connsiteY2" fmla="*/ 412595 h 1405053"/>
                <a:gd name="connsiteX3" fmla="*/ 1973766 w 2776653"/>
                <a:gd name="connsiteY3" fmla="*/ 758283 h 1405053"/>
                <a:gd name="connsiteX4" fmla="*/ 2442117 w 2776653"/>
                <a:gd name="connsiteY4" fmla="*/ 1148575 h 1405053"/>
                <a:gd name="connsiteX5" fmla="*/ 2776653 w 2776653"/>
                <a:gd name="connsiteY5" fmla="*/ 1405053 h 1405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76653" h="1405053">
                  <a:moveTo>
                    <a:pt x="0" y="0"/>
                  </a:moveTo>
                  <a:cubicBezTo>
                    <a:pt x="81775" y="49251"/>
                    <a:pt x="163551" y="98502"/>
                    <a:pt x="334536" y="167268"/>
                  </a:cubicBezTo>
                  <a:cubicBezTo>
                    <a:pt x="505521" y="236034"/>
                    <a:pt x="1025912" y="412595"/>
                    <a:pt x="1025912" y="412595"/>
                  </a:cubicBezTo>
                  <a:cubicBezTo>
                    <a:pt x="1299117" y="511097"/>
                    <a:pt x="1737732" y="635620"/>
                    <a:pt x="1973766" y="758283"/>
                  </a:cubicBezTo>
                  <a:cubicBezTo>
                    <a:pt x="2209800" y="880946"/>
                    <a:pt x="2308303" y="1040780"/>
                    <a:pt x="2442117" y="1148575"/>
                  </a:cubicBezTo>
                  <a:cubicBezTo>
                    <a:pt x="2575931" y="1256370"/>
                    <a:pt x="2676292" y="1330711"/>
                    <a:pt x="2776653" y="1405053"/>
                  </a:cubicBezTo>
                </a:path>
              </a:pathLst>
            </a:cu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4DFA03A-7FF1-50B4-7219-11EA018C5E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07728" y="4798741"/>
              <a:ext cx="300935" cy="2507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873865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6AC4DB-409E-B1D6-5328-136A9ABE5D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14400" y="-1143000"/>
            <a:ext cx="7772400" cy="1143000"/>
          </a:xfrm>
        </p:spPr>
        <p:txBody>
          <a:bodyPr/>
          <a:lstStyle/>
          <a:p>
            <a:r>
              <a:rPr lang="en-US" dirty="0"/>
              <a:t>Trail 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B52DB0-C138-4F28-BAF0-55441BBBF32B}"/>
              </a:ext>
            </a:extLst>
          </p:cNvPr>
          <p:cNvSpPr/>
          <p:nvPr/>
        </p:nvSpPr>
        <p:spPr>
          <a:xfrm>
            <a:off x="685800" y="142876"/>
            <a:ext cx="8346688" cy="1318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200" dirty="0"/>
              <a:t>A </a:t>
            </a:r>
            <a:r>
              <a:rPr lang="en-US" sz="3200" b="1" dirty="0"/>
              <a:t>trail</a:t>
            </a:r>
            <a:r>
              <a:rPr lang="en-US" sz="3200" dirty="0"/>
              <a:t> is a </a:t>
            </a:r>
            <a:r>
              <a:rPr lang="en-US" sz="3200" i="1" dirty="0"/>
              <a:t>walk</a:t>
            </a:r>
            <a:r>
              <a:rPr lang="en-US" sz="3200" dirty="0"/>
              <a:t> in which all </a:t>
            </a:r>
            <a:r>
              <a:rPr lang="en-US" sz="3200" u="sng" dirty="0"/>
              <a:t>edges</a:t>
            </a:r>
            <a:r>
              <a:rPr lang="en-US" sz="3200" dirty="0"/>
              <a:t> are distinct. </a:t>
            </a:r>
            <a:br>
              <a:rPr lang="en-US" sz="2800" dirty="0"/>
            </a:b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Sponge Bob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 Gary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 Patrick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 Sponge Bob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 Mr. Krabs</a:t>
            </a:r>
            <a:endParaRPr lang="en-US" sz="2800" dirty="0"/>
          </a:p>
        </p:txBody>
      </p:sp>
      <p:grpSp>
        <p:nvGrpSpPr>
          <p:cNvPr id="6" name="Group 5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<a:extLst>
              <a:ext uri="{FF2B5EF4-FFF2-40B4-BE49-F238E27FC236}">
                <a16:creationId xmlns:a16="http://schemas.microsoft.com/office/drawing/2014/main" id="{44F9E4E3-573E-318B-5908-72B282288E71}"/>
              </a:ext>
            </a:extLst>
          </p:cNvPr>
          <p:cNvGrpSpPr/>
          <p:nvPr/>
        </p:nvGrpSpPr>
        <p:grpSpPr>
          <a:xfrm>
            <a:off x="1346039" y="2023710"/>
            <a:ext cx="6953123" cy="4544358"/>
            <a:chOff x="1346039" y="2023710"/>
            <a:chExt cx="6953123" cy="4544358"/>
          </a:xfrm>
        </p:grpSpPr>
        <p:pic>
          <p:nvPicPr>
            <p:cNvPr id="7" name="Picture 2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  <a:extLst>
                <a:ext uri="{FF2B5EF4-FFF2-40B4-BE49-F238E27FC236}">
                  <a16:creationId xmlns:a16="http://schemas.microsoft.com/office/drawing/2014/main" id="{5F39D935-AA97-7A78-B1EF-563FA034B21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03" r="5588" b="24159"/>
            <a:stretch/>
          </p:blipFill>
          <p:spPr bwMode="auto">
            <a:xfrm>
              <a:off x="1346039" y="2023710"/>
              <a:ext cx="6953123" cy="45443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29ED2D69-A4BE-DB44-449D-FC0E412F80E8}"/>
                </a:ext>
              </a:extLst>
            </p:cNvPr>
            <p:cNvSpPr/>
            <p:nvPr/>
          </p:nvSpPr>
          <p:spPr bwMode="auto">
            <a:xfrm>
              <a:off x="3746810" y="4248615"/>
              <a:ext cx="2776653" cy="1405053"/>
            </a:xfrm>
            <a:custGeom>
              <a:avLst/>
              <a:gdLst>
                <a:gd name="connsiteX0" fmla="*/ 0 w 2776653"/>
                <a:gd name="connsiteY0" fmla="*/ 0 h 1405053"/>
                <a:gd name="connsiteX1" fmla="*/ 334536 w 2776653"/>
                <a:gd name="connsiteY1" fmla="*/ 167268 h 1405053"/>
                <a:gd name="connsiteX2" fmla="*/ 1025912 w 2776653"/>
                <a:gd name="connsiteY2" fmla="*/ 412595 h 1405053"/>
                <a:gd name="connsiteX3" fmla="*/ 1973766 w 2776653"/>
                <a:gd name="connsiteY3" fmla="*/ 758283 h 1405053"/>
                <a:gd name="connsiteX4" fmla="*/ 2442117 w 2776653"/>
                <a:gd name="connsiteY4" fmla="*/ 1148575 h 1405053"/>
                <a:gd name="connsiteX5" fmla="*/ 2776653 w 2776653"/>
                <a:gd name="connsiteY5" fmla="*/ 1405053 h 1405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76653" h="1405053">
                  <a:moveTo>
                    <a:pt x="0" y="0"/>
                  </a:moveTo>
                  <a:cubicBezTo>
                    <a:pt x="81775" y="49251"/>
                    <a:pt x="163551" y="98502"/>
                    <a:pt x="334536" y="167268"/>
                  </a:cubicBezTo>
                  <a:cubicBezTo>
                    <a:pt x="505521" y="236034"/>
                    <a:pt x="1025912" y="412595"/>
                    <a:pt x="1025912" y="412595"/>
                  </a:cubicBezTo>
                  <a:cubicBezTo>
                    <a:pt x="1299117" y="511097"/>
                    <a:pt x="1737732" y="635620"/>
                    <a:pt x="1973766" y="758283"/>
                  </a:cubicBezTo>
                  <a:cubicBezTo>
                    <a:pt x="2209800" y="880946"/>
                    <a:pt x="2308303" y="1040780"/>
                    <a:pt x="2442117" y="1148575"/>
                  </a:cubicBezTo>
                  <a:cubicBezTo>
                    <a:pt x="2575931" y="1256370"/>
                    <a:pt x="2676292" y="1330711"/>
                    <a:pt x="2776653" y="1405053"/>
                  </a:cubicBezTo>
                </a:path>
              </a:pathLst>
            </a:cu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1FC5E99-DF36-86F7-9092-3C166B5349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07728" y="4798741"/>
              <a:ext cx="300935" cy="2507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863026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6AC4DB-409E-B1D6-5328-136A9ABE5D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14400" y="-1143000"/>
            <a:ext cx="7772400" cy="1143000"/>
          </a:xfrm>
        </p:spPr>
        <p:txBody>
          <a:bodyPr/>
          <a:lstStyle/>
          <a:p>
            <a:r>
              <a:rPr lang="en-US" dirty="0"/>
              <a:t>Trail 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B52DB0-C138-4F28-BAF0-55441BBBF32B}"/>
              </a:ext>
            </a:extLst>
          </p:cNvPr>
          <p:cNvSpPr/>
          <p:nvPr/>
        </p:nvSpPr>
        <p:spPr>
          <a:xfrm>
            <a:off x="627256" y="0"/>
            <a:ext cx="8346688" cy="21380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600" dirty="0"/>
              <a:t>A </a:t>
            </a:r>
            <a:r>
              <a:rPr lang="en-US" sz="3600" b="1" dirty="0"/>
              <a:t>closed trail</a:t>
            </a:r>
            <a:r>
              <a:rPr lang="en-US" sz="3600" dirty="0"/>
              <a:t> is known as a </a:t>
            </a:r>
            <a:r>
              <a:rPr lang="en-US" sz="3600" b="1" dirty="0"/>
              <a:t>circuit</a:t>
            </a:r>
            <a:r>
              <a:rPr lang="en-US" sz="3600" dirty="0"/>
              <a:t>. </a:t>
            </a:r>
            <a:br>
              <a:rPr lang="en-US" sz="3200" dirty="0"/>
            </a:b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Sponge Bob 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 Patrick 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 Gary 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 Karen 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b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</a:b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Plankton 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 Gary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 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 Sponge Bob</a:t>
            </a:r>
            <a:endParaRPr lang="en-US" sz="3200" dirty="0"/>
          </a:p>
        </p:txBody>
      </p:sp>
      <p:grpSp>
        <p:nvGrpSpPr>
          <p:cNvPr id="6" name="Group 5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<a:extLst>
              <a:ext uri="{FF2B5EF4-FFF2-40B4-BE49-F238E27FC236}">
                <a16:creationId xmlns:a16="http://schemas.microsoft.com/office/drawing/2014/main" id="{44F9E4E3-573E-318B-5908-72B282288E71}"/>
              </a:ext>
            </a:extLst>
          </p:cNvPr>
          <p:cNvGrpSpPr/>
          <p:nvPr/>
        </p:nvGrpSpPr>
        <p:grpSpPr>
          <a:xfrm>
            <a:off x="1382582" y="2187493"/>
            <a:ext cx="6953123" cy="4544358"/>
            <a:chOff x="1346039" y="2023710"/>
            <a:chExt cx="6953123" cy="4544358"/>
          </a:xfrm>
        </p:grpSpPr>
        <p:pic>
          <p:nvPicPr>
            <p:cNvPr id="7" name="Picture 2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  <a:extLst>
                <a:ext uri="{FF2B5EF4-FFF2-40B4-BE49-F238E27FC236}">
                  <a16:creationId xmlns:a16="http://schemas.microsoft.com/office/drawing/2014/main" id="{5F39D935-AA97-7A78-B1EF-563FA034B21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03" r="5588" b="24159"/>
            <a:stretch/>
          </p:blipFill>
          <p:spPr bwMode="auto">
            <a:xfrm>
              <a:off x="1346039" y="2023710"/>
              <a:ext cx="6953123" cy="45443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29ED2D69-A4BE-DB44-449D-FC0E412F80E8}"/>
                </a:ext>
              </a:extLst>
            </p:cNvPr>
            <p:cNvSpPr/>
            <p:nvPr/>
          </p:nvSpPr>
          <p:spPr bwMode="auto">
            <a:xfrm>
              <a:off x="3746810" y="4248615"/>
              <a:ext cx="2776653" cy="1405053"/>
            </a:xfrm>
            <a:custGeom>
              <a:avLst/>
              <a:gdLst>
                <a:gd name="connsiteX0" fmla="*/ 0 w 2776653"/>
                <a:gd name="connsiteY0" fmla="*/ 0 h 1405053"/>
                <a:gd name="connsiteX1" fmla="*/ 334536 w 2776653"/>
                <a:gd name="connsiteY1" fmla="*/ 167268 h 1405053"/>
                <a:gd name="connsiteX2" fmla="*/ 1025912 w 2776653"/>
                <a:gd name="connsiteY2" fmla="*/ 412595 h 1405053"/>
                <a:gd name="connsiteX3" fmla="*/ 1973766 w 2776653"/>
                <a:gd name="connsiteY3" fmla="*/ 758283 h 1405053"/>
                <a:gd name="connsiteX4" fmla="*/ 2442117 w 2776653"/>
                <a:gd name="connsiteY4" fmla="*/ 1148575 h 1405053"/>
                <a:gd name="connsiteX5" fmla="*/ 2776653 w 2776653"/>
                <a:gd name="connsiteY5" fmla="*/ 1405053 h 1405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76653" h="1405053">
                  <a:moveTo>
                    <a:pt x="0" y="0"/>
                  </a:moveTo>
                  <a:cubicBezTo>
                    <a:pt x="81775" y="49251"/>
                    <a:pt x="163551" y="98502"/>
                    <a:pt x="334536" y="167268"/>
                  </a:cubicBezTo>
                  <a:cubicBezTo>
                    <a:pt x="505521" y="236034"/>
                    <a:pt x="1025912" y="412595"/>
                    <a:pt x="1025912" y="412595"/>
                  </a:cubicBezTo>
                  <a:cubicBezTo>
                    <a:pt x="1299117" y="511097"/>
                    <a:pt x="1737732" y="635620"/>
                    <a:pt x="1973766" y="758283"/>
                  </a:cubicBezTo>
                  <a:cubicBezTo>
                    <a:pt x="2209800" y="880946"/>
                    <a:pt x="2308303" y="1040780"/>
                    <a:pt x="2442117" y="1148575"/>
                  </a:cubicBezTo>
                  <a:cubicBezTo>
                    <a:pt x="2575931" y="1256370"/>
                    <a:pt x="2676292" y="1330711"/>
                    <a:pt x="2776653" y="1405053"/>
                  </a:cubicBezTo>
                </a:path>
              </a:pathLst>
            </a:cu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1FC5E99-DF36-86F7-9092-3C166B5349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07728" y="4798741"/>
              <a:ext cx="300935" cy="2507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648973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CBDE8A9-B597-44F0-13D3-EA2EBED92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199" y="-1143000"/>
            <a:ext cx="7772400" cy="1143000"/>
          </a:xfrm>
        </p:spPr>
        <p:txBody>
          <a:bodyPr/>
          <a:lstStyle/>
          <a:p>
            <a:r>
              <a:rPr lang="en-US" dirty="0"/>
              <a:t>Path 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B52DB0-C138-4F28-BAF0-55441BBBF32B}"/>
              </a:ext>
            </a:extLst>
          </p:cNvPr>
          <p:cNvSpPr/>
          <p:nvPr/>
        </p:nvSpPr>
        <p:spPr>
          <a:xfrm>
            <a:off x="685800" y="388203"/>
            <a:ext cx="8229600" cy="15225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A </a:t>
            </a:r>
            <a:r>
              <a:rPr lang="en-US" sz="2800" b="1" dirty="0"/>
              <a:t>path</a:t>
            </a:r>
            <a:r>
              <a:rPr lang="en-US" sz="2800" dirty="0"/>
              <a:t> is a </a:t>
            </a:r>
            <a:r>
              <a:rPr lang="en-US" sz="2800" i="1" dirty="0"/>
              <a:t>trail</a:t>
            </a:r>
            <a:r>
              <a:rPr lang="en-US" sz="2800" dirty="0"/>
              <a:t> in which all </a:t>
            </a:r>
            <a:r>
              <a:rPr lang="en-US" sz="2800" u="sng" dirty="0"/>
              <a:t>vertices</a:t>
            </a:r>
            <a:r>
              <a:rPr lang="en-US" sz="2800" dirty="0"/>
              <a:t> are distinct</a:t>
            </a:r>
            <a:br>
              <a:rPr lang="en-US" sz="2800" dirty="0"/>
            </a:br>
            <a:r>
              <a:rPr lang="en-US" sz="2800" dirty="0"/>
              <a:t>(except perhaps the start and ending vertices).  </a:t>
            </a:r>
          </a:p>
          <a:p>
            <a:pPr algn="ctr">
              <a:lnSpc>
                <a:spcPct val="150000"/>
              </a:lnSpc>
            </a:pP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Sponge Bob 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 Gary 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 Patrick 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 Karen</a:t>
            </a:r>
            <a:endParaRPr lang="en-US" sz="2800" dirty="0"/>
          </a:p>
        </p:txBody>
      </p:sp>
      <p:grpSp>
        <p:nvGrpSpPr>
          <p:cNvPr id="6" name="Group 5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<a:extLst>
              <a:ext uri="{FF2B5EF4-FFF2-40B4-BE49-F238E27FC236}">
                <a16:creationId xmlns:a16="http://schemas.microsoft.com/office/drawing/2014/main" id="{501D24A4-1D0B-E8A8-AAFF-0186DA685120}"/>
              </a:ext>
            </a:extLst>
          </p:cNvPr>
          <p:cNvGrpSpPr/>
          <p:nvPr/>
        </p:nvGrpSpPr>
        <p:grpSpPr>
          <a:xfrm>
            <a:off x="1346039" y="2135220"/>
            <a:ext cx="6953123" cy="4544358"/>
            <a:chOff x="1346039" y="2023710"/>
            <a:chExt cx="6953123" cy="4544358"/>
          </a:xfrm>
        </p:grpSpPr>
        <p:pic>
          <p:nvPicPr>
            <p:cNvPr id="7" name="Picture 2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  <a:extLst>
                <a:ext uri="{FF2B5EF4-FFF2-40B4-BE49-F238E27FC236}">
                  <a16:creationId xmlns:a16="http://schemas.microsoft.com/office/drawing/2014/main" id="{A101E2B7-0629-A65C-01B7-BBAEDB7425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03" r="5588" b="24159"/>
            <a:stretch/>
          </p:blipFill>
          <p:spPr bwMode="auto">
            <a:xfrm>
              <a:off x="1346039" y="2023710"/>
              <a:ext cx="6953123" cy="45443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A7B3287-D16E-B5AD-5CCE-6C81D6A5FA57}"/>
                </a:ext>
              </a:extLst>
            </p:cNvPr>
            <p:cNvSpPr/>
            <p:nvPr/>
          </p:nvSpPr>
          <p:spPr bwMode="auto">
            <a:xfrm>
              <a:off x="3746810" y="4248615"/>
              <a:ext cx="2776653" cy="1405053"/>
            </a:xfrm>
            <a:custGeom>
              <a:avLst/>
              <a:gdLst>
                <a:gd name="connsiteX0" fmla="*/ 0 w 2776653"/>
                <a:gd name="connsiteY0" fmla="*/ 0 h 1405053"/>
                <a:gd name="connsiteX1" fmla="*/ 334536 w 2776653"/>
                <a:gd name="connsiteY1" fmla="*/ 167268 h 1405053"/>
                <a:gd name="connsiteX2" fmla="*/ 1025912 w 2776653"/>
                <a:gd name="connsiteY2" fmla="*/ 412595 h 1405053"/>
                <a:gd name="connsiteX3" fmla="*/ 1973766 w 2776653"/>
                <a:gd name="connsiteY3" fmla="*/ 758283 h 1405053"/>
                <a:gd name="connsiteX4" fmla="*/ 2442117 w 2776653"/>
                <a:gd name="connsiteY4" fmla="*/ 1148575 h 1405053"/>
                <a:gd name="connsiteX5" fmla="*/ 2776653 w 2776653"/>
                <a:gd name="connsiteY5" fmla="*/ 1405053 h 1405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76653" h="1405053">
                  <a:moveTo>
                    <a:pt x="0" y="0"/>
                  </a:moveTo>
                  <a:cubicBezTo>
                    <a:pt x="81775" y="49251"/>
                    <a:pt x="163551" y="98502"/>
                    <a:pt x="334536" y="167268"/>
                  </a:cubicBezTo>
                  <a:cubicBezTo>
                    <a:pt x="505521" y="236034"/>
                    <a:pt x="1025912" y="412595"/>
                    <a:pt x="1025912" y="412595"/>
                  </a:cubicBezTo>
                  <a:cubicBezTo>
                    <a:pt x="1299117" y="511097"/>
                    <a:pt x="1737732" y="635620"/>
                    <a:pt x="1973766" y="758283"/>
                  </a:cubicBezTo>
                  <a:cubicBezTo>
                    <a:pt x="2209800" y="880946"/>
                    <a:pt x="2308303" y="1040780"/>
                    <a:pt x="2442117" y="1148575"/>
                  </a:cubicBezTo>
                  <a:cubicBezTo>
                    <a:pt x="2575931" y="1256370"/>
                    <a:pt x="2676292" y="1330711"/>
                    <a:pt x="2776653" y="1405053"/>
                  </a:cubicBezTo>
                </a:path>
              </a:pathLst>
            </a:cu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ACE8296-2DD9-BF31-8733-54F2C3ED20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07728" y="4798741"/>
              <a:ext cx="300935" cy="2507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164074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210F908-8EDD-5195-68FC-786F5E58AC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771226" y="-709624"/>
            <a:ext cx="4572000" cy="52322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  <a:uLnTx/>
                <a:uFillTx/>
                <a:latin typeface="Abadi" panose="020B0604020104020204" pitchFamily="34" charset="0"/>
                <a:ea typeface="+mn-ea"/>
                <a:cs typeface="Arial" panose="020B0604020202020204" pitchFamily="34" charset="0"/>
              </a:rPr>
              <a:t>Cycle 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B52DB0-C138-4F28-BAF0-55441BBBF32B}"/>
              </a:ext>
            </a:extLst>
          </p:cNvPr>
          <p:cNvSpPr/>
          <p:nvPr/>
        </p:nvSpPr>
        <p:spPr>
          <a:xfrm>
            <a:off x="685800" y="171456"/>
            <a:ext cx="8229600" cy="12147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A </a:t>
            </a:r>
            <a:r>
              <a:rPr lang="en-US" sz="3600" b="1" dirty="0"/>
              <a:t>closed path </a:t>
            </a:r>
            <a:r>
              <a:rPr lang="en-US" sz="3600" dirty="0"/>
              <a:t>is known as a </a:t>
            </a:r>
            <a:r>
              <a:rPr lang="en-US" sz="3600" b="1" dirty="0"/>
              <a:t>cycle</a:t>
            </a:r>
            <a:r>
              <a:rPr lang="en-US" sz="3600" dirty="0"/>
              <a:t>.</a:t>
            </a:r>
          </a:p>
          <a:p>
            <a:pPr algn="ctr">
              <a:lnSpc>
                <a:spcPct val="150000"/>
              </a:lnSpc>
            </a:pP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Gary 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 Patrick 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 Karen  Gary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47096A-2A5E-9AAE-7D28-6004407F11A9}"/>
              </a:ext>
            </a:extLst>
          </p:cNvPr>
          <p:cNvSpPr txBox="1"/>
          <p:nvPr/>
        </p:nvSpPr>
        <p:spPr>
          <a:xfrm>
            <a:off x="795866" y="5753400"/>
            <a:ext cx="37761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Abadi" panose="020B0604020104020204" pitchFamily="34" charset="0"/>
              </a:rPr>
              <a:t>A cycle </a:t>
            </a:r>
            <a:r>
              <a:rPr lang="en-US" b="1" u="sng" dirty="0">
                <a:solidFill>
                  <a:schemeClr val="accent2">
                    <a:lumMod val="75000"/>
                  </a:schemeClr>
                </a:solidFill>
                <a:latin typeface="Abadi" panose="020B0604020104020204" pitchFamily="34" charset="0"/>
              </a:rPr>
              <a:t>contains a path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Abadi" panose="020B0604020104020204" pitchFamily="34" charset="0"/>
              </a:rPr>
              <a:t>, </a:t>
            </a:r>
            <a:br>
              <a:rPr lang="en-US" b="1" dirty="0">
                <a:solidFill>
                  <a:schemeClr val="accent2">
                    <a:lumMod val="75000"/>
                  </a:schemeClr>
                </a:solidFill>
                <a:latin typeface="Abadi" panose="020B0604020104020204" pitchFamily="34" charset="0"/>
              </a:rPr>
            </a:b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Abadi" panose="020B0604020104020204" pitchFamily="34" charset="0"/>
              </a:rPr>
              <a:t>but is not itself a path.</a:t>
            </a:r>
            <a:endParaRPr lang="en-US" dirty="0"/>
          </a:p>
        </p:txBody>
      </p:sp>
      <p:grpSp>
        <p:nvGrpSpPr>
          <p:cNvPr id="7" name="Group 6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<a:extLst>
              <a:ext uri="{FF2B5EF4-FFF2-40B4-BE49-F238E27FC236}">
                <a16:creationId xmlns:a16="http://schemas.microsoft.com/office/drawing/2014/main" id="{5FD3EE7F-90BA-DE8F-99D6-B2217AE02F58}"/>
              </a:ext>
            </a:extLst>
          </p:cNvPr>
          <p:cNvGrpSpPr/>
          <p:nvPr/>
        </p:nvGrpSpPr>
        <p:grpSpPr>
          <a:xfrm>
            <a:off x="1346039" y="2023710"/>
            <a:ext cx="6953123" cy="4544358"/>
            <a:chOff x="1346039" y="2023710"/>
            <a:chExt cx="6953123" cy="4544358"/>
          </a:xfrm>
        </p:grpSpPr>
        <p:pic>
          <p:nvPicPr>
            <p:cNvPr id="8" name="Picture 2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  <a:extLst>
                <a:ext uri="{FF2B5EF4-FFF2-40B4-BE49-F238E27FC236}">
                  <a16:creationId xmlns:a16="http://schemas.microsoft.com/office/drawing/2014/main" id="{60A8361E-EE8F-F16A-92AC-12C3B042651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03" r="5588" b="24159"/>
            <a:stretch/>
          </p:blipFill>
          <p:spPr bwMode="auto">
            <a:xfrm>
              <a:off x="1346039" y="2023710"/>
              <a:ext cx="6953123" cy="45443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6E7AFB8-FB2B-6FE6-DC7A-A85662B7C7F9}"/>
                </a:ext>
              </a:extLst>
            </p:cNvPr>
            <p:cNvSpPr/>
            <p:nvPr/>
          </p:nvSpPr>
          <p:spPr bwMode="auto">
            <a:xfrm>
              <a:off x="3746810" y="4248615"/>
              <a:ext cx="2776653" cy="1405053"/>
            </a:xfrm>
            <a:custGeom>
              <a:avLst/>
              <a:gdLst>
                <a:gd name="connsiteX0" fmla="*/ 0 w 2776653"/>
                <a:gd name="connsiteY0" fmla="*/ 0 h 1405053"/>
                <a:gd name="connsiteX1" fmla="*/ 334536 w 2776653"/>
                <a:gd name="connsiteY1" fmla="*/ 167268 h 1405053"/>
                <a:gd name="connsiteX2" fmla="*/ 1025912 w 2776653"/>
                <a:gd name="connsiteY2" fmla="*/ 412595 h 1405053"/>
                <a:gd name="connsiteX3" fmla="*/ 1973766 w 2776653"/>
                <a:gd name="connsiteY3" fmla="*/ 758283 h 1405053"/>
                <a:gd name="connsiteX4" fmla="*/ 2442117 w 2776653"/>
                <a:gd name="connsiteY4" fmla="*/ 1148575 h 1405053"/>
                <a:gd name="connsiteX5" fmla="*/ 2776653 w 2776653"/>
                <a:gd name="connsiteY5" fmla="*/ 1405053 h 1405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76653" h="1405053">
                  <a:moveTo>
                    <a:pt x="0" y="0"/>
                  </a:moveTo>
                  <a:cubicBezTo>
                    <a:pt x="81775" y="49251"/>
                    <a:pt x="163551" y="98502"/>
                    <a:pt x="334536" y="167268"/>
                  </a:cubicBezTo>
                  <a:cubicBezTo>
                    <a:pt x="505521" y="236034"/>
                    <a:pt x="1025912" y="412595"/>
                    <a:pt x="1025912" y="412595"/>
                  </a:cubicBezTo>
                  <a:cubicBezTo>
                    <a:pt x="1299117" y="511097"/>
                    <a:pt x="1737732" y="635620"/>
                    <a:pt x="1973766" y="758283"/>
                  </a:cubicBezTo>
                  <a:cubicBezTo>
                    <a:pt x="2209800" y="880946"/>
                    <a:pt x="2308303" y="1040780"/>
                    <a:pt x="2442117" y="1148575"/>
                  </a:cubicBezTo>
                  <a:cubicBezTo>
                    <a:pt x="2575931" y="1256370"/>
                    <a:pt x="2676292" y="1330711"/>
                    <a:pt x="2776653" y="1405053"/>
                  </a:cubicBezTo>
                </a:path>
              </a:pathLst>
            </a:cu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20EFAA9-AE46-8037-AC1D-6FD72307E8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07728" y="4798741"/>
              <a:ext cx="300935" cy="2507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834788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A31BA-5954-9DCA-DFB9-391AE5E0F0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584" y="-1335132"/>
            <a:ext cx="7772400" cy="1143000"/>
          </a:xfrm>
        </p:spPr>
        <p:txBody>
          <a:bodyPr/>
          <a:lstStyle/>
          <a:p>
            <a:r>
              <a:rPr lang="en-US" dirty="0"/>
              <a:t>Classifying Walks 1</a:t>
            </a: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02D5625A-2016-4987-AD81-09F13E3A7F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046" y="114077"/>
            <a:ext cx="729615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en-US" altLang="en-US" sz="2800" b="1" dirty="0">
                <a:latin typeface="Tekton Pro" panose="020F0603020208020904" pitchFamily="34" charset="0"/>
              </a:rPr>
              <a:t>Given a group of edges &amp; nodes from a graph</a:t>
            </a:r>
            <a:endParaRPr lang="en-US" altLang="en-US" b="1" dirty="0">
              <a:latin typeface="Tekton Pro" panose="020F0603020208020904" pitchFamily="34" charset="0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83BB410-2390-4A57-915A-9CE680743E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 bwMode="auto">
          <a:xfrm>
            <a:off x="2286000" y="680478"/>
            <a:ext cx="533400" cy="994532"/>
          </a:xfrm>
          <a:prstGeom prst="line">
            <a:avLst/>
          </a:prstGeom>
          <a:noFill/>
          <a:ln w="38100" algn="ctr">
            <a:solidFill>
              <a:srgbClr val="008000"/>
            </a:solidFill>
            <a:round/>
            <a:headEnd/>
            <a:tailEnd/>
          </a:ln>
        </p:spPr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A7BF7BD-C5E3-48E4-B049-ED3B1D762319}"/>
              </a:ext>
            </a:extLst>
          </p:cNvPr>
          <p:cNvSpPr txBox="1"/>
          <p:nvPr/>
        </p:nvSpPr>
        <p:spPr>
          <a:xfrm>
            <a:off x="2715367" y="871007"/>
            <a:ext cx="49808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dirty="0"/>
              <a:t>i.e. possible to traverse?</a:t>
            </a:r>
          </a:p>
        </p:txBody>
      </p:sp>
      <p:sp>
        <p:nvSpPr>
          <p:cNvPr id="8196" name="TextBox 8">
            <a:extLst>
              <a:ext uri="{FF2B5EF4-FFF2-40B4-BE49-F238E27FC236}">
                <a16:creationId xmlns:a16="http://schemas.microsoft.com/office/drawing/2014/main" id="{16EE7FFD-980D-465B-94AC-66A026DCE0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28662" y="1663756"/>
            <a:ext cx="23862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en-US" altLang="en-US" sz="2800" b="1" dirty="0">
                <a:latin typeface="Tekton Pro" panose="020F0603020208020904" pitchFamily="34" charset="0"/>
              </a:rPr>
              <a:t>Walk</a:t>
            </a:r>
            <a:endParaRPr lang="en-US" altLang="en-US" b="1" dirty="0">
              <a:latin typeface="Tekton Pro" panose="020F0603020208020904" pitchFamily="34" charset="0"/>
            </a:endParaRPr>
          </a:p>
        </p:txBody>
      </p:sp>
      <p:cxnSp>
        <p:nvCxnSpPr>
          <p:cNvPr id="8202" name="Straight Connector 26">
            <a:extLst>
              <a:ext uri="{FF2B5EF4-FFF2-40B4-BE49-F238E27FC236}">
                <a16:creationId xmlns:a16="http://schemas.microsoft.com/office/drawing/2014/main" id="{3C762799-7C57-4703-ADB9-A381875FFD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stCxn id="8196" idx="2"/>
          </p:cNvCxnSpPr>
          <p:nvPr/>
        </p:nvCxnSpPr>
        <p:spPr bwMode="auto">
          <a:xfrm>
            <a:off x="2921794" y="2186976"/>
            <a:ext cx="431006" cy="957834"/>
          </a:xfrm>
          <a:prstGeom prst="line">
            <a:avLst/>
          </a:prstGeom>
          <a:noFill/>
          <a:ln w="38100" algn="ctr">
            <a:solidFill>
              <a:srgbClr val="008000"/>
            </a:solidFill>
            <a:round/>
            <a:headEnd/>
            <a:tailEnd/>
          </a:ln>
        </p:spPr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BCD13CC-4E5A-49D0-83C7-3B87C0F33B1E}"/>
              </a:ext>
            </a:extLst>
          </p:cNvPr>
          <p:cNvSpPr txBox="1"/>
          <p:nvPr/>
        </p:nvSpPr>
        <p:spPr>
          <a:xfrm>
            <a:off x="3352800" y="2279239"/>
            <a:ext cx="49808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/>
              <a:t>edges distinct? (i.e. edges don’t repeat)</a:t>
            </a:r>
          </a:p>
        </p:txBody>
      </p:sp>
      <p:sp>
        <p:nvSpPr>
          <p:cNvPr id="8204" name="TextBox 31">
            <a:extLst>
              <a:ext uri="{FF2B5EF4-FFF2-40B4-BE49-F238E27FC236}">
                <a16:creationId xmlns:a16="http://schemas.microsoft.com/office/drawing/2014/main" id="{65E0B670-9FA3-48B2-9142-DB8D86769E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43651" y="3144810"/>
            <a:ext cx="2241801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en-US" altLang="en-US" sz="2800" b="1" dirty="0">
                <a:latin typeface="Tekton Pro" panose="020F0603020208020904" pitchFamily="34" charset="0"/>
              </a:rPr>
              <a:t>Trail</a:t>
            </a:r>
            <a:endParaRPr lang="en-US" altLang="en-US" b="1" dirty="0">
              <a:latin typeface="Tekton Pro" panose="020F0603020208020904" pitchFamily="34" charset="0"/>
            </a:endParaRPr>
          </a:p>
        </p:txBody>
      </p:sp>
      <p:cxnSp>
        <p:nvCxnSpPr>
          <p:cNvPr id="8203" name="Straight Connector 29">
            <a:extLst>
              <a:ext uri="{FF2B5EF4-FFF2-40B4-BE49-F238E27FC236}">
                <a16:creationId xmlns:a16="http://schemas.microsoft.com/office/drawing/2014/main" id="{2E21D6FE-456F-4B7B-89FD-5AC4F03AB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stCxn id="8204" idx="2"/>
          </p:cNvCxnSpPr>
          <p:nvPr/>
        </p:nvCxnSpPr>
        <p:spPr bwMode="auto">
          <a:xfrm>
            <a:off x="3464552" y="3668030"/>
            <a:ext cx="574048" cy="1132570"/>
          </a:xfrm>
          <a:prstGeom prst="line">
            <a:avLst/>
          </a:prstGeom>
          <a:noFill/>
          <a:ln w="38100" algn="ctr">
            <a:solidFill>
              <a:srgbClr val="008000"/>
            </a:solidFill>
            <a:round/>
            <a:headEnd/>
            <a:tailEnd/>
          </a:ln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BF23B18-6762-45FA-803C-EA4722AA1487}"/>
              </a:ext>
            </a:extLst>
          </p:cNvPr>
          <p:cNvSpPr txBox="1"/>
          <p:nvPr/>
        </p:nvSpPr>
        <p:spPr>
          <a:xfrm>
            <a:off x="3953377" y="3897097"/>
            <a:ext cx="22937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/>
              <a:t>vertices distinct?</a:t>
            </a:r>
          </a:p>
        </p:txBody>
      </p:sp>
      <p:sp>
        <p:nvSpPr>
          <p:cNvPr id="8207" name="TextBox 36">
            <a:extLst>
              <a:ext uri="{FF2B5EF4-FFF2-40B4-BE49-F238E27FC236}">
                <a16:creationId xmlns:a16="http://schemas.microsoft.com/office/drawing/2014/main" id="{BF9861FE-581F-4AFF-9225-F1A278F438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1524" y="4744402"/>
            <a:ext cx="1994151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en-US" altLang="en-US" sz="2800" b="1" dirty="0">
                <a:latin typeface="Tekton Pro" panose="020F0603020208020904" pitchFamily="34" charset="0"/>
              </a:rPr>
              <a:t>Path</a:t>
            </a:r>
            <a:endParaRPr lang="en-US" altLang="en-US" b="1" dirty="0">
              <a:latin typeface="Tekton Pro" panose="020F06030202080209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C06C510-D5FE-49B2-91A1-45C727852948}"/>
              </a:ext>
            </a:extLst>
          </p:cNvPr>
          <p:cNvSpPr txBox="1"/>
          <p:nvPr/>
        </p:nvSpPr>
        <p:spPr>
          <a:xfrm>
            <a:off x="4241192" y="5498455"/>
            <a:ext cx="17445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/>
              <a:t>start=end?</a:t>
            </a:r>
          </a:p>
        </p:txBody>
      </p:sp>
      <p:sp>
        <p:nvSpPr>
          <p:cNvPr id="8210" name="TextBox 39">
            <a:extLst>
              <a:ext uri="{FF2B5EF4-FFF2-40B4-BE49-F238E27FC236}">
                <a16:creationId xmlns:a16="http://schemas.microsoft.com/office/drawing/2014/main" id="{F910A171-A922-4E8F-8A7F-51F1EBFDB8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43684" y="6220048"/>
            <a:ext cx="16002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en-US" altLang="en-US" sz="2800" b="1" dirty="0">
                <a:latin typeface="Tekton Pro" panose="020F0603020208020904" pitchFamily="34" charset="0"/>
              </a:rPr>
              <a:t>Cycle</a:t>
            </a:r>
            <a:endParaRPr lang="en-US" altLang="en-US" b="1" dirty="0">
              <a:latin typeface="Tekton Pro" panose="020F0603020208020904" pitchFamily="34" charset="0"/>
            </a:endParaRPr>
          </a:p>
        </p:txBody>
      </p:sp>
      <p:cxnSp>
        <p:nvCxnSpPr>
          <p:cNvPr id="8209" name="Straight Connector 38">
            <a:extLst>
              <a:ext uri="{FF2B5EF4-FFF2-40B4-BE49-F238E27FC236}">
                <a16:creationId xmlns:a16="http://schemas.microsoft.com/office/drawing/2014/main" id="{6FDE98A9-7EC0-4E68-AFC1-082D6A807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stCxn id="8207" idx="2"/>
            <a:endCxn id="8210" idx="0"/>
          </p:cNvCxnSpPr>
          <p:nvPr/>
        </p:nvCxnSpPr>
        <p:spPr bwMode="auto">
          <a:xfrm>
            <a:off x="4038600" y="5267622"/>
            <a:ext cx="405184" cy="952426"/>
          </a:xfrm>
          <a:prstGeom prst="line">
            <a:avLst/>
          </a:prstGeom>
          <a:noFill/>
          <a:ln w="38100" algn="ctr">
            <a:solidFill>
              <a:srgbClr val="008000"/>
            </a:solidFill>
            <a:round/>
            <a:headEnd/>
            <a:tailEnd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CD4FB93-E45A-0E5B-23BB-5DD04F8CBE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19976" y="-1317252"/>
            <a:ext cx="7772400" cy="1143000"/>
          </a:xfrm>
        </p:spPr>
        <p:txBody>
          <a:bodyPr/>
          <a:lstStyle/>
          <a:p>
            <a:pPr algn="ctr"/>
            <a:r>
              <a:rPr lang="en-US" sz="4000" b="1" dirty="0"/>
              <a:t>Classifying Walks 2</a:t>
            </a:r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01B32195-ABBD-BA9D-649F-3AE5C740D733}"/>
              </a:ext>
            </a:extLst>
          </p:cNvPr>
          <p:cNvSpPr txBox="1">
            <a:spLocks/>
          </p:cNvSpPr>
          <p:nvPr/>
        </p:nvSpPr>
        <p:spPr bwMode="auto">
          <a:xfrm>
            <a:off x="865581" y="195968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9pPr>
          </a:lstStyle>
          <a:p>
            <a:pPr algn="ctr"/>
            <a:r>
              <a:rPr lang="en-US" b="1" kern="0"/>
              <a:t>Classifying Types of Walks</a:t>
            </a:r>
            <a:endParaRPr lang="en-US" b="1" kern="0" dirty="0"/>
          </a:p>
        </p:txBody>
      </p:sp>
      <p:graphicFrame>
        <p:nvGraphicFramePr>
          <p:cNvPr id="5" name="Table 4" descr="Classifying types of walks">
            <a:extLst>
              <a:ext uri="{FF2B5EF4-FFF2-40B4-BE49-F238E27FC236}">
                <a16:creationId xmlns:a16="http://schemas.microsoft.com/office/drawing/2014/main" id="{2A8E8476-985C-65D5-66E2-FCF3C566D4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2357974"/>
              </p:ext>
            </p:extLst>
          </p:nvPr>
        </p:nvGraphicFramePr>
        <p:xfrm>
          <a:off x="591014" y="1628893"/>
          <a:ext cx="8430324" cy="31089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419815">
                  <a:extLst>
                    <a:ext uri="{9D8B030D-6E8A-4147-A177-3AD203B41FA5}">
                      <a16:colId xmlns:a16="http://schemas.microsoft.com/office/drawing/2014/main" val="2986153984"/>
                    </a:ext>
                  </a:extLst>
                </a:gridCol>
                <a:gridCol w="2977376">
                  <a:extLst>
                    <a:ext uri="{9D8B030D-6E8A-4147-A177-3AD203B41FA5}">
                      <a16:colId xmlns:a16="http://schemas.microsoft.com/office/drawing/2014/main" val="4248156122"/>
                    </a:ext>
                  </a:extLst>
                </a:gridCol>
                <a:gridCol w="3033133">
                  <a:extLst>
                    <a:ext uri="{9D8B030D-6E8A-4147-A177-3AD203B41FA5}">
                      <a16:colId xmlns:a16="http://schemas.microsoft.com/office/drawing/2014/main" val="42102925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chemeClr val="bg1"/>
                          </a:solidFill>
                        </a:rPr>
                        <a:t>Edges </a:t>
                      </a:r>
                      <a:br>
                        <a:rPr lang="en-US" sz="3600" b="1" dirty="0">
                          <a:solidFill>
                            <a:schemeClr val="bg1"/>
                          </a:solidFill>
                        </a:rPr>
                      </a:br>
                      <a:r>
                        <a:rPr lang="en-US" sz="3600" b="1" dirty="0">
                          <a:solidFill>
                            <a:schemeClr val="bg1"/>
                          </a:solidFill>
                        </a:rPr>
                        <a:t>may repeat</a:t>
                      </a:r>
                      <a:endParaRPr lang="en-US" sz="3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chemeClr val="bg1"/>
                          </a:solidFill>
                        </a:rPr>
                        <a:t>Vertices </a:t>
                      </a:r>
                      <a:br>
                        <a:rPr lang="en-US" sz="3600" b="1" dirty="0">
                          <a:solidFill>
                            <a:schemeClr val="bg1"/>
                          </a:solidFill>
                        </a:rPr>
                      </a:br>
                      <a:r>
                        <a:rPr lang="en-US" sz="3600" b="1" dirty="0">
                          <a:solidFill>
                            <a:schemeClr val="bg1"/>
                          </a:solidFill>
                        </a:rPr>
                        <a:t>may repeat</a:t>
                      </a:r>
                      <a:endParaRPr lang="en-US" sz="3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715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Walk</a:t>
                      </a:r>
                      <a:endParaRPr lang="en-US" sz="3600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rgbClr val="2D5CB9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kern="1200" dirty="0">
                          <a:solidFill>
                            <a:srgbClr val="2D5CB9"/>
                          </a:solidFill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7478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Trail</a:t>
                      </a:r>
                      <a:endParaRPr lang="en-US" sz="3600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no</a:t>
                      </a:r>
                      <a:endParaRPr lang="en-US" sz="36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kern="1200" dirty="0">
                          <a:solidFill>
                            <a:srgbClr val="2D5CB9"/>
                          </a:solidFill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6558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Path</a:t>
                      </a:r>
                      <a:endParaRPr lang="en-US" sz="3600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no</a:t>
                      </a:r>
                      <a:endParaRPr lang="en-US" sz="36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no*</a:t>
                      </a:r>
                      <a:endParaRPr lang="en-US" sz="3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77914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E2E5C0B-9FD5-A5E0-5DF5-27BF764017A0}"/>
              </a:ext>
            </a:extLst>
          </p:cNvPr>
          <p:cNvSpPr txBox="1"/>
          <p:nvPr/>
        </p:nvSpPr>
        <p:spPr>
          <a:xfrm>
            <a:off x="800596" y="5608312"/>
            <a:ext cx="80111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3600" b="1" dirty="0">
                <a:latin typeface="Calibri" panose="020F0502020204030204" pitchFamily="34" charset="0"/>
                <a:ea typeface="Times New Roman" panose="02020603050405020304" pitchFamily="18" charset="0"/>
              </a:rPr>
              <a:t>* Except the start and end can match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2636846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774C7-8127-5661-A2C9-9FFD71FBE2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-1143000"/>
            <a:ext cx="7772400" cy="1143000"/>
          </a:xfrm>
        </p:spPr>
        <p:txBody>
          <a:bodyPr/>
          <a:lstStyle/>
          <a:p>
            <a:r>
              <a:rPr lang="en-US" dirty="0"/>
              <a:t>Classifying walk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77F4A3-EB29-4135-B016-5E5587945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0"/>
            <a:ext cx="990600" cy="685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pic>
        <p:nvPicPr>
          <p:cNvPr id="27" name="Picture 2" descr="A diagram explaining the types of walks, where a walk as any possible traversal of part or all of a graph.&#10;A walk is a path in nothing repeats or it's a trail if only vertices repeat.&#10;Every path is technically also a trail and a walk.&#10;A path is a cycle if it's closed. Technically a cycle is a path with one edge added to take you back to the start.&#10;A trail is a circuit if it's closed.  Every cycle is also a circuit.">
            <a:extLst>
              <a:ext uri="{FF2B5EF4-FFF2-40B4-BE49-F238E27FC236}">
                <a16:creationId xmlns:a16="http://schemas.microsoft.com/office/drawing/2014/main" id="{D6F05885-D828-4E2C-A719-43DF4EC886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740"/>
          <a:stretch/>
        </p:blipFill>
        <p:spPr bwMode="auto">
          <a:xfrm>
            <a:off x="152400" y="850232"/>
            <a:ext cx="8839200" cy="4390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26009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91A75D7-86A5-ADE5-6FA6-FEB6CBA4A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85800" y="-1337582"/>
            <a:ext cx="7772400" cy="1143000"/>
          </a:xfrm>
        </p:spPr>
        <p:txBody>
          <a:bodyPr/>
          <a:lstStyle/>
          <a:p>
            <a:r>
              <a:rPr lang="en-US" sz="4000" dirty="0"/>
              <a:t>Cyclic Graphs and Cycle Graphs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B0E8E12-E4D6-40D2-BB74-F40D65063E0D}"/>
              </a:ext>
            </a:extLst>
          </p:cNvPr>
          <p:cNvSpPr/>
          <p:nvPr/>
        </p:nvSpPr>
        <p:spPr>
          <a:xfrm>
            <a:off x="995679" y="204692"/>
            <a:ext cx="7568771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" marR="0" algn="ctr">
              <a:spcBef>
                <a:spcPts val="0"/>
              </a:spcBef>
              <a:spcAft>
                <a:spcPts val="0"/>
              </a:spcAft>
            </a:pP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cyclic graph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3200" u="sng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contains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a cycle.</a:t>
            </a:r>
            <a:endParaRPr lang="en-US" sz="4000" dirty="0">
              <a:ea typeface="Times New Roman" panose="02020603050405020304" pitchFamily="18" charset="0"/>
            </a:endParaRPr>
          </a:p>
        </p:txBody>
      </p:sp>
      <p:pic>
        <p:nvPicPr>
          <p:cNvPr id="4098" name="Picture 2" descr="An undirected graph:&#10;Adjacency list:&#10;a : f&#10;b : c, e, h&#10;c : b, d, f&#10;d : c, e&#10;e : b, d&#10;f : a, g&#10;g : f&#10;h : b&#10;The graph is cyclic because the walk bcde is a cycle.">
            <a:extLst>
              <a:ext uri="{FF2B5EF4-FFF2-40B4-BE49-F238E27FC236}">
                <a16:creationId xmlns:a16="http://schemas.microsoft.com/office/drawing/2014/main" id="{BAA4C94D-8255-46E7-ADD5-4A5F7CAA80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504" y="907017"/>
            <a:ext cx="4284068" cy="2838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 descr="A directed graph:&#10;A : B&#10;B : C&#10;C : D&#10;D : E, F&#10;E : B&#10;F : none&#10;The graph is cyclic because of cycle BCDE.">
            <a:extLst>
              <a:ext uri="{FF2B5EF4-FFF2-40B4-BE49-F238E27FC236}">
                <a16:creationId xmlns:a16="http://schemas.microsoft.com/office/drawing/2014/main" id="{6D1CB03D-4821-024A-CD97-ED22EE9AB891}"/>
              </a:ext>
            </a:extLst>
          </p:cNvPr>
          <p:cNvGrpSpPr/>
          <p:nvPr/>
        </p:nvGrpSpPr>
        <p:grpSpPr>
          <a:xfrm>
            <a:off x="4504809" y="1281999"/>
            <a:ext cx="4532473" cy="2454885"/>
            <a:chOff x="3505200" y="3681212"/>
            <a:chExt cx="5346168" cy="2895600"/>
          </a:xfrm>
        </p:grpSpPr>
        <p:pic>
          <p:nvPicPr>
            <p:cNvPr id="3076" name="Picture 4">
              <a:extLst>
                <a:ext uri="{FF2B5EF4-FFF2-40B4-BE49-F238E27FC236}">
                  <a16:creationId xmlns:a16="http://schemas.microsoft.com/office/drawing/2014/main" id="{F5AF548D-38A9-47BF-A81C-9BE9864F52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05200" y="3681212"/>
              <a:ext cx="5346168" cy="2895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29C7A68-210E-44AC-8773-53FEC4D85A7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41644" y="4256468"/>
              <a:ext cx="514080" cy="582766"/>
            </a:xfrm>
            <a:prstGeom prst="straightConnector1">
              <a:avLst/>
            </a:prstGeom>
            <a:solidFill>
              <a:schemeClr val="accent1"/>
            </a:solidFill>
            <a:ln w="38100" cap="flat" cmpd="sng" algn="ctr">
              <a:solidFill>
                <a:srgbClr val="FF7F7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78232D2-5D89-4796-8243-7F2F2C3429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832242" y="4301544"/>
              <a:ext cx="478196" cy="537690"/>
            </a:xfrm>
            <a:prstGeom prst="straightConnector1">
              <a:avLst/>
            </a:prstGeom>
            <a:solidFill>
              <a:schemeClr val="accent1"/>
            </a:solidFill>
            <a:ln w="38100" cap="flat" cmpd="sng" algn="ctr">
              <a:solidFill>
                <a:srgbClr val="FF7F7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E34F410-3B84-438B-B4FF-7C8822A56BEB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6815138" y="5310188"/>
              <a:ext cx="478631" cy="561975"/>
            </a:xfrm>
            <a:prstGeom prst="straightConnector1">
              <a:avLst/>
            </a:prstGeom>
            <a:solidFill>
              <a:schemeClr val="accent1"/>
            </a:solidFill>
            <a:ln w="38100" cap="flat" cmpd="sng" algn="ctr">
              <a:solidFill>
                <a:srgbClr val="FF7F7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C00015C9-381C-4CB7-8DCE-EFF40C2A22C5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5841644" y="5310188"/>
              <a:ext cx="496356" cy="561975"/>
            </a:xfrm>
            <a:prstGeom prst="straightConnector1">
              <a:avLst/>
            </a:prstGeom>
            <a:solidFill>
              <a:schemeClr val="accent1"/>
            </a:solidFill>
            <a:ln w="38100" cap="flat" cmpd="sng" algn="ctr">
              <a:solidFill>
                <a:srgbClr val="FF7F7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4CD014F5-2F22-4851-C77F-9ABF609ADC1C}"/>
              </a:ext>
            </a:extLst>
          </p:cNvPr>
          <p:cNvSpPr/>
          <p:nvPr/>
        </p:nvSpPr>
        <p:spPr>
          <a:xfrm>
            <a:off x="978744" y="3854435"/>
            <a:ext cx="789153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" marR="0">
              <a:spcBef>
                <a:spcPts val="0"/>
              </a:spcBef>
              <a:spcAft>
                <a:spcPts val="0"/>
              </a:spcAft>
            </a:pP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cycle graph / circular graph </a:t>
            </a:r>
            <a:r>
              <a:rPr lang="en-US" sz="3200" u="sng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is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a cycle.</a:t>
            </a:r>
            <a:endParaRPr lang="en-US" sz="4000" dirty="0">
              <a:ea typeface="Times New Roman" panose="02020603050405020304" pitchFamily="18" charset="0"/>
            </a:endParaRPr>
          </a:p>
        </p:txBody>
      </p:sp>
      <p:pic>
        <p:nvPicPr>
          <p:cNvPr id="5" name="Picture 2" descr="A cycle/circular graph is a cycle. I.e. it contains one cycle, and that cycle traverses all of the vertices.&#10;Three examples are shown.&#10;Graph 1 contains three nodes and is drawn as a triangle:&#10;A : B&#10;B : C&#10;C : A&#10;Cycle ABCA traverses all nodes, so it's a cycle graph.&#10;Graph 2 is composed of four nodes and is drawn as a square. You can start at any node and traverse all of them, ending up back at your starting node, so it's also a cycle graph.&#10;The third graph contains five node and is drawn as a pentagon. It's also a cycle graph.">
            <a:extLst>
              <a:ext uri="{FF2B5EF4-FFF2-40B4-BE49-F238E27FC236}">
                <a16:creationId xmlns:a16="http://schemas.microsoft.com/office/drawing/2014/main" id="{34202338-936E-2FB7-636B-106F87560F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625"/>
          <a:stretch/>
        </p:blipFill>
        <p:spPr bwMode="auto">
          <a:xfrm>
            <a:off x="978744" y="4556760"/>
            <a:ext cx="7696200" cy="2410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2288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91A75D7-86A5-ADE5-6FA6-FEB6CBA4A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85800" y="-1337582"/>
            <a:ext cx="7772400" cy="1143000"/>
          </a:xfrm>
        </p:spPr>
        <p:txBody>
          <a:bodyPr/>
          <a:lstStyle/>
          <a:p>
            <a:r>
              <a:rPr lang="en-US" sz="4000" dirty="0"/>
              <a:t>Cyclic Graphs and Cycle Graphs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B0E8E12-E4D6-40D2-BB74-F40D65063E0D}"/>
              </a:ext>
            </a:extLst>
          </p:cNvPr>
          <p:cNvSpPr/>
          <p:nvPr/>
        </p:nvSpPr>
        <p:spPr>
          <a:xfrm>
            <a:off x="995679" y="204692"/>
            <a:ext cx="7568771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" marR="0" algn="ctr">
              <a:spcBef>
                <a:spcPts val="0"/>
              </a:spcBef>
              <a:spcAft>
                <a:spcPts val="0"/>
              </a:spcAft>
            </a:pP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An </a:t>
            </a: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acyclic graph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3200" u="sng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contains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no cycles.</a:t>
            </a:r>
            <a:endParaRPr lang="en-US" sz="4000" dirty="0">
              <a:ea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D014F5-2F22-4851-C77F-9ABF609ADC1C}"/>
              </a:ext>
            </a:extLst>
          </p:cNvPr>
          <p:cNvSpPr/>
          <p:nvPr/>
        </p:nvSpPr>
        <p:spPr>
          <a:xfrm>
            <a:off x="834299" y="5776145"/>
            <a:ext cx="789153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" marR="0" algn="ctr">
              <a:spcBef>
                <a:spcPts val="0"/>
              </a:spcBef>
              <a:spcAft>
                <a:spcPts val="0"/>
              </a:spcAft>
            </a:pPr>
            <a:r>
              <a:rPr lang="en-US" sz="36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It’s also known as a </a:t>
            </a:r>
            <a:r>
              <a:rPr lang="en-US" sz="36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tree</a:t>
            </a:r>
            <a:r>
              <a:rPr lang="en-US" sz="36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.</a:t>
            </a:r>
            <a:endParaRPr lang="en-US" sz="4400" dirty="0">
              <a:ea typeface="Times New Roman" panose="02020603050405020304" pitchFamily="18" charset="0"/>
            </a:endParaRPr>
          </a:p>
        </p:txBody>
      </p:sp>
      <p:pic>
        <p:nvPicPr>
          <p:cNvPr id="1026" name="Picture 2" descr="An undirected acyclic graph.&#10;Edges:&#10;{(1,4), (4,2), (4,3), (4,5), (5,7)}">
            <a:extLst>
              <a:ext uri="{FF2B5EF4-FFF2-40B4-BE49-F238E27FC236}">
                <a16:creationId xmlns:a16="http://schemas.microsoft.com/office/drawing/2014/main" id="{9ACD4A65-0713-4D80-CE46-B40673C599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0915" y="1188741"/>
            <a:ext cx="3640177" cy="4246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56426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91A75D7-86A5-ADE5-6FA6-FEB6CBA4A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85800" y="-1337582"/>
            <a:ext cx="7772400" cy="1143000"/>
          </a:xfrm>
        </p:spPr>
        <p:txBody>
          <a:bodyPr/>
          <a:lstStyle/>
          <a:p>
            <a:r>
              <a:rPr lang="en-US" sz="4000" dirty="0"/>
              <a:t>Cyclic Graphs and Cycle Graphs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B0E8E12-E4D6-40D2-BB74-F40D65063E0D}"/>
              </a:ext>
            </a:extLst>
          </p:cNvPr>
          <p:cNvSpPr/>
          <p:nvPr/>
        </p:nvSpPr>
        <p:spPr>
          <a:xfrm>
            <a:off x="889429" y="433706"/>
            <a:ext cx="77724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" marR="0" algn="ctr">
              <a:spcBef>
                <a:spcPts val="0"/>
              </a:spcBef>
              <a:spcAft>
                <a:spcPts val="0"/>
              </a:spcAft>
            </a:pP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Directed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acyclic graphs (DAGs)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b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</a:br>
            <a:r>
              <a:rPr lang="en-US" sz="32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have numerous scientific and computational applications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.</a:t>
            </a:r>
            <a:endParaRPr lang="en-US" sz="4000" dirty="0">
              <a:ea typeface="Times New Roman" panose="02020603050405020304" pitchFamily="18" charset="0"/>
            </a:endParaRPr>
          </a:p>
        </p:txBody>
      </p:sp>
      <p:pic>
        <p:nvPicPr>
          <p:cNvPr id="2050" name="Picture 2" descr="A Directed Acyclic Graph (DAG).&#10;Edges:&#10;{(1,2), (1,3), (2,4), (2,5)}">
            <a:extLst>
              <a:ext uri="{FF2B5EF4-FFF2-40B4-BE49-F238E27FC236}">
                <a16:creationId xmlns:a16="http://schemas.microsoft.com/office/drawing/2014/main" id="{49B04352-864A-D69B-F802-DECF4C0E67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2270" y="2562131"/>
            <a:ext cx="4779459" cy="3413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79238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2">
            <a:extLst>
              <a:ext uri="{FF2B5EF4-FFF2-40B4-BE49-F238E27FC236}">
                <a16:creationId xmlns:a16="http://schemas.microsoft.com/office/drawing/2014/main" id="{6F94ABCA-7BF8-4877-B1A1-1265DE58A61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984250"/>
          </a:xfrm>
        </p:spPr>
        <p:txBody>
          <a:bodyPr/>
          <a:lstStyle/>
          <a:p>
            <a:pPr algn="ctr"/>
            <a:r>
              <a:rPr lang="en-US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Complete Graph</a:t>
            </a:r>
            <a:endParaRPr lang="en-US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820" name="Rectangle 7">
            <a:extLst>
              <a:ext uri="{FF2B5EF4-FFF2-40B4-BE49-F238E27FC236}">
                <a16:creationId xmlns:a16="http://schemas.microsoft.com/office/drawing/2014/main" id="{139C87A0-4CFD-4B9D-911B-09418F9BA8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067" y="990600"/>
            <a:ext cx="8141546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800" dirty="0"/>
              <a:t>A </a:t>
            </a:r>
            <a:r>
              <a:rPr lang="en-US" altLang="en-US" sz="2800" b="1" dirty="0"/>
              <a:t>simple undirected graph </a:t>
            </a:r>
            <a:r>
              <a:rPr lang="en-US" altLang="en-US" sz="2800" dirty="0"/>
              <a:t>in which every pair of distinct vertices is connected by a unique edge.</a:t>
            </a:r>
          </a:p>
        </p:txBody>
      </p:sp>
      <p:pic>
        <p:nvPicPr>
          <p:cNvPr id="34821" name="Picture 4" descr="K2 is composed of two nodes connected to each other via one edge.&#10;K3 is composed of three nodes connected to each other via three edges.&#10;K4 is composed of four nodes connected to each other via six edges.&#10;K5 is composed of five nodes connected to each other via ten edges.&#10;K6 is composed of six nodes connected to each other via fifteen edges.&#10;K7 is composed of seven nodes connected to each other via twenty-one edges.&#10;&#10;">
            <a:extLst>
              <a:ext uri="{FF2B5EF4-FFF2-40B4-BE49-F238E27FC236}">
                <a16:creationId xmlns:a16="http://schemas.microsoft.com/office/drawing/2014/main" id="{FB8D5924-69EE-41BB-B483-19445C2739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286000"/>
            <a:ext cx="5867400" cy="451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2">
            <a:extLst>
              <a:ext uri="{FF2B5EF4-FFF2-40B4-BE49-F238E27FC236}">
                <a16:creationId xmlns:a16="http://schemas.microsoft.com/office/drawing/2014/main" id="{6F94ABCA-7BF8-4877-B1A1-1265DE58A61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55637" y="-1228090"/>
            <a:ext cx="8488363" cy="984250"/>
          </a:xfrm>
        </p:spPr>
        <p:txBody>
          <a:bodyPr/>
          <a:lstStyle/>
          <a:p>
            <a:pPr algn="ctr"/>
            <a:r>
              <a:rPr lang="en-US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K5 through K12</a:t>
            </a:r>
            <a:endParaRPr lang="en-US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 descr="Complete graphs K5 through K12 are shown with their number of edges:&#10;K5 has 10 edges&#10;K6 has 15 edges&#10;K7 has 21 edges&#10;K8 has 28 edges&#10;K9 has 36 edges&#10;K10 has 45 edges&#10;K11 has 55 edges&#10;K12 has 66 edges&#10;">
            <a:extLst>
              <a:ext uri="{FF2B5EF4-FFF2-40B4-BE49-F238E27FC236}">
                <a16:creationId xmlns:a16="http://schemas.microsoft.com/office/drawing/2014/main" id="{4466A5CA-E09C-9EEC-9DF1-5CA1883D02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42" t="33292" r="1768" b="1503"/>
          <a:stretch/>
        </p:blipFill>
        <p:spPr>
          <a:xfrm>
            <a:off x="0" y="0"/>
            <a:ext cx="9144000" cy="551589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3D7D68A-D568-A0B4-5D9C-4C41D2EB7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5515895"/>
            <a:ext cx="9144000" cy="1342105"/>
          </a:xfrm>
          <a:prstGeom prst="rect">
            <a:avLst/>
          </a:prstGeom>
          <a:solidFill>
            <a:srgbClr val="EAECF0"/>
          </a:solidFill>
          <a:ln w="9525" cap="flat" cmpd="sng" algn="ctr">
            <a:solidFill>
              <a:srgbClr val="EAEC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82585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Rectangle 2">
            <a:extLst>
              <a:ext uri="{FF2B5EF4-FFF2-40B4-BE49-F238E27FC236}">
                <a16:creationId xmlns:a16="http://schemas.microsoft.com/office/drawing/2014/main" id="{457AD8ED-394C-4315-AB11-20BCF350DE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Practice finding Walks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484" name="Rectangle 7">
            <a:extLst>
              <a:ext uri="{FF2B5EF4-FFF2-40B4-BE49-F238E27FC236}">
                <a16:creationId xmlns:a16="http://schemas.microsoft.com/office/drawing/2014/main" id="{93C66925-D73A-445D-ABDC-FE88A0FC1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300" y="1137722"/>
            <a:ext cx="73914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Times New Roman" panose="02020603050405020304" pitchFamily="18" charset="0"/>
              </a:rPr>
              <a:t>A </a:t>
            </a:r>
            <a:r>
              <a:rPr kumimoji="0" lang="en-US" altLang="en-US" b="1" dirty="0">
                <a:latin typeface="Times New Roman" panose="02020603050405020304" pitchFamily="18" charset="0"/>
              </a:rPr>
              <a:t>walk</a:t>
            </a:r>
            <a:r>
              <a:rPr kumimoji="0" lang="en-US" altLang="en-US" dirty="0">
                <a:latin typeface="Times New Roman" panose="02020603050405020304" pitchFamily="18" charset="0"/>
              </a:rPr>
              <a:t> is a sequence of vertices </a:t>
            </a:r>
            <a:br>
              <a:rPr kumimoji="0" lang="en-US" altLang="en-US" dirty="0">
                <a:latin typeface="Times New Roman" panose="02020603050405020304" pitchFamily="18" charset="0"/>
              </a:rPr>
            </a:br>
            <a:r>
              <a:rPr kumimoji="0" lang="en-US" altLang="en-US" dirty="0">
                <a:latin typeface="Times New Roman" panose="02020603050405020304" pitchFamily="18" charset="0"/>
              </a:rPr>
              <a:t>that is possible to traverse.</a:t>
            </a:r>
          </a:p>
        </p:txBody>
      </p:sp>
      <p:grpSp>
        <p:nvGrpSpPr>
          <p:cNvPr id="5" name="Group 4" descr="A directed graph:&#10;&#10;A connects to A, B, and D&#10;D connects to C&#10;C connects to F&#10;F connects to B&#10;B connects to E&#10;E connects to A">
            <a:extLst>
              <a:ext uri="{FF2B5EF4-FFF2-40B4-BE49-F238E27FC236}">
                <a16:creationId xmlns:a16="http://schemas.microsoft.com/office/drawing/2014/main" id="{FF4E5A41-0A0E-2493-3C86-8AB454C93377}"/>
              </a:ext>
            </a:extLst>
          </p:cNvPr>
          <p:cNvGrpSpPr/>
          <p:nvPr/>
        </p:nvGrpSpPr>
        <p:grpSpPr>
          <a:xfrm>
            <a:off x="1295400" y="2590800"/>
            <a:ext cx="3989388" cy="2819400"/>
            <a:chOff x="1295400" y="2590800"/>
            <a:chExt cx="3989388" cy="2819400"/>
          </a:xfrm>
        </p:grpSpPr>
        <p:pic>
          <p:nvPicPr>
            <p:cNvPr id="20485" name="Picture 2" descr="A directed graph:&#10;&#10;A connects to A, B, and D&#10;D connects to C&#10;C connects to F&#10;F connects to B&#10;B connects to E&#10;E connects to A">
              <a:extLst>
                <a:ext uri="{FF2B5EF4-FFF2-40B4-BE49-F238E27FC236}">
                  <a16:creationId xmlns:a16="http://schemas.microsoft.com/office/drawing/2014/main" id="{CA31B198-4A7A-477D-BD5D-D4B4247268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5400" y="2590800"/>
              <a:ext cx="3989388" cy="2819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785A33D0-5C55-477B-E8EA-A68F6F256B7E}"/>
                </a:ext>
              </a:extLst>
            </p:cNvPr>
            <p:cNvSpPr/>
            <p:nvPr/>
          </p:nvSpPr>
          <p:spPr bwMode="auto">
            <a:xfrm rot="295007">
              <a:off x="3029386" y="2732321"/>
              <a:ext cx="311923" cy="358750"/>
            </a:xfrm>
            <a:custGeom>
              <a:avLst/>
              <a:gdLst>
                <a:gd name="connsiteX0" fmla="*/ 111265 w 311810"/>
                <a:gd name="connsiteY0" fmla="*/ 318993 h 318993"/>
                <a:gd name="connsiteX1" fmla="*/ 31752 w 311810"/>
                <a:gd name="connsiteY1" fmla="*/ 239480 h 318993"/>
                <a:gd name="connsiteX2" fmla="*/ 1935 w 311810"/>
                <a:gd name="connsiteY2" fmla="*/ 70515 h 318993"/>
                <a:gd name="connsiteX3" fmla="*/ 81448 w 311810"/>
                <a:gd name="connsiteY3" fmla="*/ 941 h 318993"/>
                <a:gd name="connsiteX4" fmla="*/ 250413 w 311810"/>
                <a:gd name="connsiteY4" fmla="*/ 40697 h 318993"/>
                <a:gd name="connsiteX5" fmla="*/ 310048 w 311810"/>
                <a:gd name="connsiteY5" fmla="*/ 179845 h 318993"/>
                <a:gd name="connsiteX6" fmla="*/ 290170 w 311810"/>
                <a:gd name="connsiteY6" fmla="*/ 299115 h 318993"/>
                <a:gd name="connsiteX0" fmla="*/ 121317 w 311923"/>
                <a:gd name="connsiteY0" fmla="*/ 358750 h 358750"/>
                <a:gd name="connsiteX1" fmla="*/ 31865 w 311923"/>
                <a:gd name="connsiteY1" fmla="*/ 239480 h 358750"/>
                <a:gd name="connsiteX2" fmla="*/ 2048 w 311923"/>
                <a:gd name="connsiteY2" fmla="*/ 70515 h 358750"/>
                <a:gd name="connsiteX3" fmla="*/ 81561 w 311923"/>
                <a:gd name="connsiteY3" fmla="*/ 941 h 358750"/>
                <a:gd name="connsiteX4" fmla="*/ 250526 w 311923"/>
                <a:gd name="connsiteY4" fmla="*/ 40697 h 358750"/>
                <a:gd name="connsiteX5" fmla="*/ 310161 w 311923"/>
                <a:gd name="connsiteY5" fmla="*/ 179845 h 358750"/>
                <a:gd name="connsiteX6" fmla="*/ 290283 w 311923"/>
                <a:gd name="connsiteY6" fmla="*/ 299115 h 35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1923" h="358750">
                  <a:moveTo>
                    <a:pt x="121317" y="358750"/>
                  </a:moveTo>
                  <a:cubicBezTo>
                    <a:pt x="90671" y="339700"/>
                    <a:pt x="51743" y="287519"/>
                    <a:pt x="31865" y="239480"/>
                  </a:cubicBezTo>
                  <a:cubicBezTo>
                    <a:pt x="11987" y="191441"/>
                    <a:pt x="-6235" y="110272"/>
                    <a:pt x="2048" y="70515"/>
                  </a:cubicBezTo>
                  <a:cubicBezTo>
                    <a:pt x="10331" y="30758"/>
                    <a:pt x="40148" y="5911"/>
                    <a:pt x="81561" y="941"/>
                  </a:cubicBezTo>
                  <a:cubicBezTo>
                    <a:pt x="122974" y="-4029"/>
                    <a:pt x="212426" y="10880"/>
                    <a:pt x="250526" y="40697"/>
                  </a:cubicBezTo>
                  <a:cubicBezTo>
                    <a:pt x="288626" y="70514"/>
                    <a:pt x="303535" y="136775"/>
                    <a:pt x="310161" y="179845"/>
                  </a:cubicBezTo>
                  <a:cubicBezTo>
                    <a:pt x="316787" y="222915"/>
                    <a:pt x="303535" y="261015"/>
                    <a:pt x="290283" y="299115"/>
                  </a:cubicBezTo>
                </a:path>
              </a:pathLst>
            </a:cu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" name="Rectangle 7">
            <a:extLst>
              <a:ext uri="{FF2B5EF4-FFF2-40B4-BE49-F238E27FC236}">
                <a16:creationId xmlns:a16="http://schemas.microsoft.com/office/drawing/2014/main" id="{A79766A8-53C8-B8E7-8DA4-CF63942F7C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5595" y="2581487"/>
            <a:ext cx="325267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Which is not a walk?</a:t>
            </a:r>
          </a:p>
        </p:txBody>
      </p:sp>
      <p:sp>
        <p:nvSpPr>
          <p:cNvPr id="20486" name="TextBox 7">
            <a:extLst>
              <a:ext uri="{FF2B5EF4-FFF2-40B4-BE49-F238E27FC236}">
                <a16:creationId xmlns:a16="http://schemas.microsoft.com/office/drawing/2014/main" id="{012E6CD6-F753-4C69-B126-19D1BB9295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3061" y="3124200"/>
            <a:ext cx="1399742" cy="2677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FCF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ABEA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ABEAD 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FBEABE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FBEADC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FCD</a:t>
            </a:r>
          </a:p>
        </p:txBody>
      </p:sp>
      <p:sp>
        <p:nvSpPr>
          <p:cNvPr id="3" name="TextBox 7" descr="FCD is not a walk">
            <a:extLst>
              <a:ext uri="{FF2B5EF4-FFF2-40B4-BE49-F238E27FC236}">
                <a16:creationId xmlns:a16="http://schemas.microsoft.com/office/drawing/2014/main" id="{26083098-9307-9F08-70A0-1C7166EDC4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3061" y="5340191"/>
            <a:ext cx="784189" cy="461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FCD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7FB3777-90A6-B41B-BA1F-65645182E1A2}"/>
              </a:ext>
            </a:extLst>
          </p:cNvPr>
          <p:cNvCxnSpPr>
            <a:cxnSpLocks/>
          </p:cNvCxnSpPr>
          <p:nvPr/>
        </p:nvCxnSpPr>
        <p:spPr bwMode="auto">
          <a:xfrm flipV="1">
            <a:off x="2486722" y="5174166"/>
            <a:ext cx="111512" cy="830997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2D5CB9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75E4A48-9CFC-5800-0175-42290CADFEB8}"/>
              </a:ext>
            </a:extLst>
          </p:cNvPr>
          <p:cNvSpPr txBox="1"/>
          <p:nvPr/>
        </p:nvSpPr>
        <p:spPr>
          <a:xfrm>
            <a:off x="631584" y="5938890"/>
            <a:ext cx="56465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2D5CB9"/>
                </a:solidFill>
                <a:latin typeface="Abadi" panose="020B0604020104020204" pitchFamily="34" charset="0"/>
              </a:rPr>
              <a:t>Since this is a directed graph, (F, C) and (C, F) are considered distinct edges!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0486" grpId="0"/>
      <p:bldP spid="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Rectangle 2">
            <a:extLst>
              <a:ext uri="{FF2B5EF4-FFF2-40B4-BE49-F238E27FC236}">
                <a16:creationId xmlns:a16="http://schemas.microsoft.com/office/drawing/2014/main" id="{457AD8ED-394C-4315-AB11-20BCF350DE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Practice finding Trails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484" name="Rectangle 7">
            <a:extLst>
              <a:ext uri="{FF2B5EF4-FFF2-40B4-BE49-F238E27FC236}">
                <a16:creationId xmlns:a16="http://schemas.microsoft.com/office/drawing/2014/main" id="{93C66925-D73A-445D-ABDC-FE88A0FC1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5681" y="1179998"/>
            <a:ext cx="73914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Times New Roman" panose="02020603050405020304" pitchFamily="18" charset="0"/>
              </a:rPr>
              <a:t>A </a:t>
            </a:r>
            <a:r>
              <a:rPr kumimoji="0" lang="en-US" altLang="en-US" b="1" dirty="0">
                <a:latin typeface="Times New Roman" panose="02020603050405020304" pitchFamily="18" charset="0"/>
              </a:rPr>
              <a:t>trail</a:t>
            </a:r>
            <a:r>
              <a:rPr kumimoji="0" lang="en-US" altLang="en-US" dirty="0">
                <a:latin typeface="Times New Roman" panose="02020603050405020304" pitchFamily="18" charset="0"/>
              </a:rPr>
              <a:t> is a walk where </a:t>
            </a:r>
            <a:br>
              <a:rPr kumimoji="0" lang="en-US" altLang="en-US" dirty="0">
                <a:latin typeface="Times New Roman" panose="02020603050405020304" pitchFamily="18" charset="0"/>
              </a:rPr>
            </a:br>
            <a:r>
              <a:rPr kumimoji="0" lang="en-US" altLang="en-US" b="1" dirty="0">
                <a:latin typeface="Times New Roman" panose="02020603050405020304" pitchFamily="18" charset="0"/>
              </a:rPr>
              <a:t>none of the edges repeat</a:t>
            </a:r>
            <a:r>
              <a:rPr kumimoji="0" lang="en-US" altLang="en-US" dirty="0">
                <a:latin typeface="Times New Roman" panose="02020603050405020304" pitchFamily="18" charset="0"/>
              </a:rPr>
              <a:t>.</a:t>
            </a:r>
          </a:p>
        </p:txBody>
      </p:sp>
      <p:grpSp>
        <p:nvGrpSpPr>
          <p:cNvPr id="5" name="Group 4" descr="A directed graph:&#10;&#10;A connects to A, B, and D&#10;D connects to C&#10;C connects to F&#10;F connects to B&#10;B connects to E&#10;E connects to A">
            <a:extLst>
              <a:ext uri="{FF2B5EF4-FFF2-40B4-BE49-F238E27FC236}">
                <a16:creationId xmlns:a16="http://schemas.microsoft.com/office/drawing/2014/main" id="{CB899262-D813-623A-E349-CCE6B45EA849}"/>
              </a:ext>
            </a:extLst>
          </p:cNvPr>
          <p:cNvGrpSpPr/>
          <p:nvPr/>
        </p:nvGrpSpPr>
        <p:grpSpPr>
          <a:xfrm>
            <a:off x="1295400" y="2590800"/>
            <a:ext cx="3989388" cy="2819400"/>
            <a:chOff x="1295400" y="2590800"/>
            <a:chExt cx="3989388" cy="2819400"/>
          </a:xfrm>
        </p:grpSpPr>
        <p:pic>
          <p:nvPicPr>
            <p:cNvPr id="20485" name="Picture 2" descr="A directed graph:&#10;&#10;A connects to A, B, and D&#10;D connects to C&#10;C connects to F&#10;F connects to B&#10;B connects to E&#10;E connects to A">
              <a:extLst>
                <a:ext uri="{FF2B5EF4-FFF2-40B4-BE49-F238E27FC236}">
                  <a16:creationId xmlns:a16="http://schemas.microsoft.com/office/drawing/2014/main" id="{CA31B198-4A7A-477D-BD5D-D4B4247268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5400" y="2590800"/>
              <a:ext cx="3989388" cy="2819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CE2092A9-A883-3119-0ECF-306AE910EA4E}"/>
                </a:ext>
              </a:extLst>
            </p:cNvPr>
            <p:cNvSpPr/>
            <p:nvPr/>
          </p:nvSpPr>
          <p:spPr bwMode="auto">
            <a:xfrm rot="295007">
              <a:off x="3029386" y="2732321"/>
              <a:ext cx="311923" cy="358750"/>
            </a:xfrm>
            <a:custGeom>
              <a:avLst/>
              <a:gdLst>
                <a:gd name="connsiteX0" fmla="*/ 111265 w 311810"/>
                <a:gd name="connsiteY0" fmla="*/ 318993 h 318993"/>
                <a:gd name="connsiteX1" fmla="*/ 31752 w 311810"/>
                <a:gd name="connsiteY1" fmla="*/ 239480 h 318993"/>
                <a:gd name="connsiteX2" fmla="*/ 1935 w 311810"/>
                <a:gd name="connsiteY2" fmla="*/ 70515 h 318993"/>
                <a:gd name="connsiteX3" fmla="*/ 81448 w 311810"/>
                <a:gd name="connsiteY3" fmla="*/ 941 h 318993"/>
                <a:gd name="connsiteX4" fmla="*/ 250413 w 311810"/>
                <a:gd name="connsiteY4" fmla="*/ 40697 h 318993"/>
                <a:gd name="connsiteX5" fmla="*/ 310048 w 311810"/>
                <a:gd name="connsiteY5" fmla="*/ 179845 h 318993"/>
                <a:gd name="connsiteX6" fmla="*/ 290170 w 311810"/>
                <a:gd name="connsiteY6" fmla="*/ 299115 h 318993"/>
                <a:gd name="connsiteX0" fmla="*/ 121317 w 311923"/>
                <a:gd name="connsiteY0" fmla="*/ 358750 h 358750"/>
                <a:gd name="connsiteX1" fmla="*/ 31865 w 311923"/>
                <a:gd name="connsiteY1" fmla="*/ 239480 h 358750"/>
                <a:gd name="connsiteX2" fmla="*/ 2048 w 311923"/>
                <a:gd name="connsiteY2" fmla="*/ 70515 h 358750"/>
                <a:gd name="connsiteX3" fmla="*/ 81561 w 311923"/>
                <a:gd name="connsiteY3" fmla="*/ 941 h 358750"/>
                <a:gd name="connsiteX4" fmla="*/ 250526 w 311923"/>
                <a:gd name="connsiteY4" fmla="*/ 40697 h 358750"/>
                <a:gd name="connsiteX5" fmla="*/ 310161 w 311923"/>
                <a:gd name="connsiteY5" fmla="*/ 179845 h 358750"/>
                <a:gd name="connsiteX6" fmla="*/ 290283 w 311923"/>
                <a:gd name="connsiteY6" fmla="*/ 299115 h 35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1923" h="358750">
                  <a:moveTo>
                    <a:pt x="121317" y="358750"/>
                  </a:moveTo>
                  <a:cubicBezTo>
                    <a:pt x="90671" y="339700"/>
                    <a:pt x="51743" y="287519"/>
                    <a:pt x="31865" y="239480"/>
                  </a:cubicBezTo>
                  <a:cubicBezTo>
                    <a:pt x="11987" y="191441"/>
                    <a:pt x="-6235" y="110272"/>
                    <a:pt x="2048" y="70515"/>
                  </a:cubicBezTo>
                  <a:cubicBezTo>
                    <a:pt x="10331" y="30758"/>
                    <a:pt x="40148" y="5911"/>
                    <a:pt x="81561" y="941"/>
                  </a:cubicBezTo>
                  <a:cubicBezTo>
                    <a:pt x="122974" y="-4029"/>
                    <a:pt x="212426" y="10880"/>
                    <a:pt x="250526" y="40697"/>
                  </a:cubicBezTo>
                  <a:cubicBezTo>
                    <a:pt x="288626" y="70514"/>
                    <a:pt x="303535" y="136775"/>
                    <a:pt x="310161" y="179845"/>
                  </a:cubicBezTo>
                  <a:cubicBezTo>
                    <a:pt x="316787" y="222915"/>
                    <a:pt x="303535" y="261015"/>
                    <a:pt x="290283" y="299115"/>
                  </a:cubicBezTo>
                </a:path>
              </a:pathLst>
            </a:cu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" name="Rectangle 7">
            <a:extLst>
              <a:ext uri="{FF2B5EF4-FFF2-40B4-BE49-F238E27FC236}">
                <a16:creationId xmlns:a16="http://schemas.microsoft.com/office/drawing/2014/main" id="{3B2566DE-6C6E-B0F3-7CC0-31F6669C78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5595" y="2581487"/>
            <a:ext cx="33813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Which is not a trail?</a:t>
            </a:r>
          </a:p>
        </p:txBody>
      </p:sp>
      <p:sp>
        <p:nvSpPr>
          <p:cNvPr id="20486" name="TextBox 7">
            <a:extLst>
              <a:ext uri="{FF2B5EF4-FFF2-40B4-BE49-F238E27FC236}">
                <a16:creationId xmlns:a16="http://schemas.microsoft.com/office/drawing/2014/main" id="{012E6CD6-F753-4C69-B126-19D1BB9295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2950" y="3043152"/>
            <a:ext cx="1399742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FCF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ABEA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ABEAD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FBEABE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FBEADC</a:t>
            </a:r>
          </a:p>
        </p:txBody>
      </p:sp>
      <p:sp>
        <p:nvSpPr>
          <p:cNvPr id="4" name="TextBox 7" descr="FCF, FBEABE, and FCD are not trails">
            <a:extLst>
              <a:ext uri="{FF2B5EF4-FFF2-40B4-BE49-F238E27FC236}">
                <a16:creationId xmlns:a16="http://schemas.microsoft.com/office/drawing/2014/main" id="{B9079B1B-CFEA-D359-B411-BB418F2BAC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2950" y="3043152"/>
            <a:ext cx="1364476" cy="23083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kumimoji="0" lang="en-US" altLang="en-US" sz="2400" b="1" dirty="0">
              <a:solidFill>
                <a:srgbClr val="008000"/>
              </a:solidFill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kumimoji="0" lang="en-US" altLang="en-US" sz="2400" strike="sngStrike" dirty="0">
              <a:solidFill>
                <a:srgbClr val="C00000"/>
              </a:solidFill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kumimoji="0" lang="en-US" altLang="en-US" sz="2400" b="1" dirty="0">
              <a:solidFill>
                <a:srgbClr val="008000"/>
              </a:solidFill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kumimoji="0" lang="en-US" altLang="en-US" sz="2400" b="1" dirty="0">
              <a:solidFill>
                <a:srgbClr val="008000"/>
              </a:solidFill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FBEABE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kumimoji="0" lang="en-US" altLang="en-US" sz="2400" b="1" dirty="0">
              <a:solidFill>
                <a:srgbClr val="008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6707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0486" grpId="0"/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2">
            <a:extLst>
              <a:ext uri="{FF2B5EF4-FFF2-40B4-BE49-F238E27FC236}">
                <a16:creationId xmlns:a16="http://schemas.microsoft.com/office/drawing/2014/main" id="{60764AD1-394C-43A7-8AD0-A101433CC53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Practice finding Paths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532" name="Rectangle 7">
            <a:extLst>
              <a:ext uri="{FF2B5EF4-FFF2-40B4-BE49-F238E27FC236}">
                <a16:creationId xmlns:a16="http://schemas.microsoft.com/office/drawing/2014/main" id="{6785E5E7-DF26-41F9-969A-11F89BB937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0375" y="1144250"/>
            <a:ext cx="8055187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Times New Roman" panose="02020603050405020304" pitchFamily="18" charset="0"/>
              </a:rPr>
              <a:t>A </a:t>
            </a:r>
            <a:r>
              <a:rPr kumimoji="0" lang="en-US" altLang="en-US" b="1" dirty="0">
                <a:latin typeface="Times New Roman" panose="02020603050405020304" pitchFamily="18" charset="0"/>
              </a:rPr>
              <a:t>path</a:t>
            </a:r>
            <a:r>
              <a:rPr kumimoji="0" lang="en-US" altLang="en-US" dirty="0">
                <a:latin typeface="Times New Roman" panose="02020603050405020304" pitchFamily="18" charset="0"/>
              </a:rPr>
              <a:t> is a walk where </a:t>
            </a:r>
            <a:r>
              <a:rPr kumimoji="0" lang="en-US" altLang="en-US" b="1" dirty="0">
                <a:latin typeface="Times New Roman" panose="02020603050405020304" pitchFamily="18" charset="0"/>
              </a:rPr>
              <a:t>none of the edges or vertices repeat (except maybe the last)</a:t>
            </a:r>
            <a:r>
              <a:rPr kumimoji="0" lang="en-US" altLang="en-US" dirty="0">
                <a:latin typeface="Times New Roman" panose="02020603050405020304" pitchFamily="18" charset="0"/>
              </a:rPr>
              <a:t>.</a:t>
            </a:r>
          </a:p>
        </p:txBody>
      </p:sp>
      <p:grpSp>
        <p:nvGrpSpPr>
          <p:cNvPr id="6" name="Group 5" descr="A directed graph:&#10;&#10;A connects to A, B, and D&#10;D connects to C&#10;C connects to F&#10;F connects to B&#10;B connects to E&#10;E connects to A">
            <a:extLst>
              <a:ext uri="{FF2B5EF4-FFF2-40B4-BE49-F238E27FC236}">
                <a16:creationId xmlns:a16="http://schemas.microsoft.com/office/drawing/2014/main" id="{A334251E-17B8-084F-271F-1A3876FC9ABD}"/>
              </a:ext>
            </a:extLst>
          </p:cNvPr>
          <p:cNvGrpSpPr/>
          <p:nvPr/>
        </p:nvGrpSpPr>
        <p:grpSpPr>
          <a:xfrm>
            <a:off x="1295400" y="2590800"/>
            <a:ext cx="3989388" cy="2819400"/>
            <a:chOff x="1295400" y="2590800"/>
            <a:chExt cx="3989388" cy="2819400"/>
          </a:xfrm>
        </p:grpSpPr>
        <p:pic>
          <p:nvPicPr>
            <p:cNvPr id="22533" name="Picture 2" descr="A directed graph:&#10;&#10;A connects to A, B, and D&#10;D connects to C&#10;C connects to F&#10;F connects to B&#10;B connects to E&#10;E connects to A">
              <a:extLst>
                <a:ext uri="{FF2B5EF4-FFF2-40B4-BE49-F238E27FC236}">
                  <a16:creationId xmlns:a16="http://schemas.microsoft.com/office/drawing/2014/main" id="{C075331A-FEC0-4017-B0DA-B9992E2069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5400" y="2590800"/>
              <a:ext cx="3989388" cy="2819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324D99F2-BEFA-8E96-CE0D-BA090A8B4B0C}"/>
                </a:ext>
              </a:extLst>
            </p:cNvPr>
            <p:cNvSpPr/>
            <p:nvPr/>
          </p:nvSpPr>
          <p:spPr bwMode="auto">
            <a:xfrm rot="295007">
              <a:off x="3029386" y="2732321"/>
              <a:ext cx="311923" cy="358750"/>
            </a:xfrm>
            <a:custGeom>
              <a:avLst/>
              <a:gdLst>
                <a:gd name="connsiteX0" fmla="*/ 111265 w 311810"/>
                <a:gd name="connsiteY0" fmla="*/ 318993 h 318993"/>
                <a:gd name="connsiteX1" fmla="*/ 31752 w 311810"/>
                <a:gd name="connsiteY1" fmla="*/ 239480 h 318993"/>
                <a:gd name="connsiteX2" fmla="*/ 1935 w 311810"/>
                <a:gd name="connsiteY2" fmla="*/ 70515 h 318993"/>
                <a:gd name="connsiteX3" fmla="*/ 81448 w 311810"/>
                <a:gd name="connsiteY3" fmla="*/ 941 h 318993"/>
                <a:gd name="connsiteX4" fmla="*/ 250413 w 311810"/>
                <a:gd name="connsiteY4" fmla="*/ 40697 h 318993"/>
                <a:gd name="connsiteX5" fmla="*/ 310048 w 311810"/>
                <a:gd name="connsiteY5" fmla="*/ 179845 h 318993"/>
                <a:gd name="connsiteX6" fmla="*/ 290170 w 311810"/>
                <a:gd name="connsiteY6" fmla="*/ 299115 h 318993"/>
                <a:gd name="connsiteX0" fmla="*/ 121317 w 311923"/>
                <a:gd name="connsiteY0" fmla="*/ 358750 h 358750"/>
                <a:gd name="connsiteX1" fmla="*/ 31865 w 311923"/>
                <a:gd name="connsiteY1" fmla="*/ 239480 h 358750"/>
                <a:gd name="connsiteX2" fmla="*/ 2048 w 311923"/>
                <a:gd name="connsiteY2" fmla="*/ 70515 h 358750"/>
                <a:gd name="connsiteX3" fmla="*/ 81561 w 311923"/>
                <a:gd name="connsiteY3" fmla="*/ 941 h 358750"/>
                <a:gd name="connsiteX4" fmla="*/ 250526 w 311923"/>
                <a:gd name="connsiteY4" fmla="*/ 40697 h 358750"/>
                <a:gd name="connsiteX5" fmla="*/ 310161 w 311923"/>
                <a:gd name="connsiteY5" fmla="*/ 179845 h 358750"/>
                <a:gd name="connsiteX6" fmla="*/ 290283 w 311923"/>
                <a:gd name="connsiteY6" fmla="*/ 299115 h 35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1923" h="358750">
                  <a:moveTo>
                    <a:pt x="121317" y="358750"/>
                  </a:moveTo>
                  <a:cubicBezTo>
                    <a:pt x="90671" y="339700"/>
                    <a:pt x="51743" y="287519"/>
                    <a:pt x="31865" y="239480"/>
                  </a:cubicBezTo>
                  <a:cubicBezTo>
                    <a:pt x="11987" y="191441"/>
                    <a:pt x="-6235" y="110272"/>
                    <a:pt x="2048" y="70515"/>
                  </a:cubicBezTo>
                  <a:cubicBezTo>
                    <a:pt x="10331" y="30758"/>
                    <a:pt x="40148" y="5911"/>
                    <a:pt x="81561" y="941"/>
                  </a:cubicBezTo>
                  <a:cubicBezTo>
                    <a:pt x="122974" y="-4029"/>
                    <a:pt x="212426" y="10880"/>
                    <a:pt x="250526" y="40697"/>
                  </a:cubicBezTo>
                  <a:cubicBezTo>
                    <a:pt x="288626" y="70514"/>
                    <a:pt x="303535" y="136775"/>
                    <a:pt x="310161" y="179845"/>
                  </a:cubicBezTo>
                  <a:cubicBezTo>
                    <a:pt x="316787" y="222915"/>
                    <a:pt x="303535" y="261015"/>
                    <a:pt x="290283" y="299115"/>
                  </a:cubicBezTo>
                </a:path>
              </a:pathLst>
            </a:cu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3" name="Rectangle 7">
            <a:extLst>
              <a:ext uri="{FF2B5EF4-FFF2-40B4-BE49-F238E27FC236}">
                <a16:creationId xmlns:a16="http://schemas.microsoft.com/office/drawing/2014/main" id="{99336366-53AB-A881-B2D4-81FA5657FA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5595" y="2391843"/>
            <a:ext cx="357779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Which trail is not a path?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23A1F3-194C-4CBB-B956-546EF65BB421}"/>
              </a:ext>
            </a:extLst>
          </p:cNvPr>
          <p:cNvSpPr txBox="1"/>
          <p:nvPr/>
        </p:nvSpPr>
        <p:spPr>
          <a:xfrm>
            <a:off x="5823637" y="2919580"/>
            <a:ext cx="1451038" cy="19389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AA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b="1" dirty="0"/>
              <a:t>FCF</a:t>
            </a:r>
            <a:endParaRPr kumimoji="0" lang="en-US" altLang="en-US" sz="240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ABEA</a:t>
            </a:r>
          </a:p>
          <a:p>
            <a:pPr eaLnBrk="1" hangingPunct="1"/>
            <a:r>
              <a:rPr lang="en-US" altLang="en-US" b="1" dirty="0"/>
              <a:t>ABEAD</a:t>
            </a:r>
            <a:endParaRPr kumimoji="0" lang="en-US" altLang="en-US" sz="2400" strike="sngStrike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FBEADC</a:t>
            </a:r>
          </a:p>
        </p:txBody>
      </p:sp>
      <p:sp>
        <p:nvSpPr>
          <p:cNvPr id="4" name="TextBox 3" descr="AA, FCF, ABEA, ABEAD, FBEABE, and FCD&#10;are not paths.">
            <a:extLst>
              <a:ext uri="{FF2B5EF4-FFF2-40B4-BE49-F238E27FC236}">
                <a16:creationId xmlns:a16="http://schemas.microsoft.com/office/drawing/2014/main" id="{7B5708AF-34D6-BABE-ECF2-EC24124966E4}"/>
              </a:ext>
            </a:extLst>
          </p:cNvPr>
          <p:cNvSpPr txBox="1"/>
          <p:nvPr/>
        </p:nvSpPr>
        <p:spPr>
          <a:xfrm>
            <a:off x="5823637" y="2919580"/>
            <a:ext cx="1263487" cy="1569660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AA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b="1" strike="sngStrike" dirty="0">
                <a:solidFill>
                  <a:srgbClr val="C00000"/>
                </a:solidFill>
              </a:rPr>
              <a:t>FCF</a:t>
            </a:r>
            <a:endParaRPr kumimoji="0" lang="en-US" altLang="en-US" sz="2400" strike="sngStrike" dirty="0">
              <a:solidFill>
                <a:srgbClr val="C00000"/>
              </a:solidFill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ABEA</a:t>
            </a:r>
          </a:p>
          <a:p>
            <a:pPr eaLnBrk="1" hangingPunct="1"/>
            <a:r>
              <a:rPr lang="en-US" altLang="en-US" b="1" strike="sngStrike" dirty="0">
                <a:solidFill>
                  <a:srgbClr val="C00000"/>
                </a:solidFill>
              </a:rPr>
              <a:t>ABEAD</a:t>
            </a:r>
            <a:endParaRPr kumimoji="0" lang="en-US" altLang="en-US" sz="2400" b="1" strike="sngStrike" dirty="0">
              <a:solidFill>
                <a:srgbClr val="C00000"/>
              </a:solidFill>
            </a:endParaRP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CFCEB24F-4D92-9CC2-D79C-E137A60DD8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0376" y="5709285"/>
            <a:ext cx="8055187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800" i="1" dirty="0">
                <a:latin typeface="Times New Roman" panose="02020603050405020304" pitchFamily="18" charset="0"/>
              </a:rPr>
              <a:t>A trail could be a single path, or it could be multiple connected paths.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Rectangle 2">
            <a:extLst>
              <a:ext uri="{FF2B5EF4-FFF2-40B4-BE49-F238E27FC236}">
                <a16:creationId xmlns:a16="http://schemas.microsoft.com/office/drawing/2014/main" id="{EDFD8AA1-61EA-4464-A556-9AA06858A10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Practice finding Cycles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80" name="Rectangle 7">
            <a:extLst>
              <a:ext uri="{FF2B5EF4-FFF2-40B4-BE49-F238E27FC236}">
                <a16:creationId xmlns:a16="http://schemas.microsoft.com/office/drawing/2014/main" id="{D09AB982-36F7-4CD7-9F9E-402CF08B23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5681" y="1232913"/>
            <a:ext cx="73914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Times New Roman" panose="02020603050405020304" pitchFamily="18" charset="0"/>
              </a:rPr>
              <a:t>A </a:t>
            </a:r>
            <a:r>
              <a:rPr kumimoji="0" lang="en-US" altLang="en-US" b="1" dirty="0">
                <a:latin typeface="Times New Roman" panose="02020603050405020304" pitchFamily="18" charset="0"/>
              </a:rPr>
              <a:t>cycle</a:t>
            </a:r>
            <a:r>
              <a:rPr kumimoji="0" lang="en-US" altLang="en-US" dirty="0">
                <a:latin typeface="Times New Roman" panose="02020603050405020304" pitchFamily="18" charset="0"/>
              </a:rPr>
              <a:t> is </a:t>
            </a:r>
            <a:r>
              <a:rPr kumimoji="0" lang="en-US" altLang="en-US" b="1" dirty="0">
                <a:latin typeface="Times New Roman" panose="02020603050405020304" pitchFamily="18" charset="0"/>
              </a:rPr>
              <a:t>a closed path</a:t>
            </a:r>
            <a:r>
              <a:rPr kumimoji="0" lang="en-US" altLang="en-US" dirty="0">
                <a:latin typeface="Times New Roman" panose="02020603050405020304" pitchFamily="18" charset="0"/>
              </a:rPr>
              <a:t>. I.e. no vertices repeat except for the first and last vertices.</a:t>
            </a:r>
          </a:p>
        </p:txBody>
      </p:sp>
      <p:grpSp>
        <p:nvGrpSpPr>
          <p:cNvPr id="5" name="Group 4" descr="A directed graph:&#10;&#10;A connects to A, B, and D&#10;D connects to C&#10;C connects to F&#10;F connects to B&#10;B connects to E&#10;E connects to A">
            <a:extLst>
              <a:ext uri="{FF2B5EF4-FFF2-40B4-BE49-F238E27FC236}">
                <a16:creationId xmlns:a16="http://schemas.microsoft.com/office/drawing/2014/main" id="{6FDA4BB8-7AB4-0F28-25C3-2024C9364F57}"/>
              </a:ext>
            </a:extLst>
          </p:cNvPr>
          <p:cNvGrpSpPr/>
          <p:nvPr/>
        </p:nvGrpSpPr>
        <p:grpSpPr>
          <a:xfrm>
            <a:off x="1295400" y="2590800"/>
            <a:ext cx="3989388" cy="2819400"/>
            <a:chOff x="1295400" y="2590800"/>
            <a:chExt cx="3989388" cy="2819400"/>
          </a:xfrm>
        </p:grpSpPr>
        <p:pic>
          <p:nvPicPr>
            <p:cNvPr id="24581" name="Picture 2" descr="A directed graph:&#10;&#10;A connects to A, B, and D&#10;D connects to C&#10;C connects to F&#10;F connects to B&#10;B connects to E&#10;E connects to A">
              <a:extLst>
                <a:ext uri="{FF2B5EF4-FFF2-40B4-BE49-F238E27FC236}">
                  <a16:creationId xmlns:a16="http://schemas.microsoft.com/office/drawing/2014/main" id="{E3D8930F-5FF5-400B-8B43-F5A5E84F6D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5400" y="2590800"/>
              <a:ext cx="3989388" cy="2819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F4E2B937-5D5A-5C1C-21E4-725932534BFD}"/>
                </a:ext>
              </a:extLst>
            </p:cNvPr>
            <p:cNvSpPr/>
            <p:nvPr/>
          </p:nvSpPr>
          <p:spPr bwMode="auto">
            <a:xfrm rot="295007">
              <a:off x="3029386" y="2732321"/>
              <a:ext cx="311923" cy="358750"/>
            </a:xfrm>
            <a:custGeom>
              <a:avLst/>
              <a:gdLst>
                <a:gd name="connsiteX0" fmla="*/ 111265 w 311810"/>
                <a:gd name="connsiteY0" fmla="*/ 318993 h 318993"/>
                <a:gd name="connsiteX1" fmla="*/ 31752 w 311810"/>
                <a:gd name="connsiteY1" fmla="*/ 239480 h 318993"/>
                <a:gd name="connsiteX2" fmla="*/ 1935 w 311810"/>
                <a:gd name="connsiteY2" fmla="*/ 70515 h 318993"/>
                <a:gd name="connsiteX3" fmla="*/ 81448 w 311810"/>
                <a:gd name="connsiteY3" fmla="*/ 941 h 318993"/>
                <a:gd name="connsiteX4" fmla="*/ 250413 w 311810"/>
                <a:gd name="connsiteY4" fmla="*/ 40697 h 318993"/>
                <a:gd name="connsiteX5" fmla="*/ 310048 w 311810"/>
                <a:gd name="connsiteY5" fmla="*/ 179845 h 318993"/>
                <a:gd name="connsiteX6" fmla="*/ 290170 w 311810"/>
                <a:gd name="connsiteY6" fmla="*/ 299115 h 318993"/>
                <a:gd name="connsiteX0" fmla="*/ 121317 w 311923"/>
                <a:gd name="connsiteY0" fmla="*/ 358750 h 358750"/>
                <a:gd name="connsiteX1" fmla="*/ 31865 w 311923"/>
                <a:gd name="connsiteY1" fmla="*/ 239480 h 358750"/>
                <a:gd name="connsiteX2" fmla="*/ 2048 w 311923"/>
                <a:gd name="connsiteY2" fmla="*/ 70515 h 358750"/>
                <a:gd name="connsiteX3" fmla="*/ 81561 w 311923"/>
                <a:gd name="connsiteY3" fmla="*/ 941 h 358750"/>
                <a:gd name="connsiteX4" fmla="*/ 250526 w 311923"/>
                <a:gd name="connsiteY4" fmla="*/ 40697 h 358750"/>
                <a:gd name="connsiteX5" fmla="*/ 310161 w 311923"/>
                <a:gd name="connsiteY5" fmla="*/ 179845 h 358750"/>
                <a:gd name="connsiteX6" fmla="*/ 290283 w 311923"/>
                <a:gd name="connsiteY6" fmla="*/ 299115 h 35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1923" h="358750">
                  <a:moveTo>
                    <a:pt x="121317" y="358750"/>
                  </a:moveTo>
                  <a:cubicBezTo>
                    <a:pt x="90671" y="339700"/>
                    <a:pt x="51743" y="287519"/>
                    <a:pt x="31865" y="239480"/>
                  </a:cubicBezTo>
                  <a:cubicBezTo>
                    <a:pt x="11987" y="191441"/>
                    <a:pt x="-6235" y="110272"/>
                    <a:pt x="2048" y="70515"/>
                  </a:cubicBezTo>
                  <a:cubicBezTo>
                    <a:pt x="10331" y="30758"/>
                    <a:pt x="40148" y="5911"/>
                    <a:pt x="81561" y="941"/>
                  </a:cubicBezTo>
                  <a:cubicBezTo>
                    <a:pt x="122974" y="-4029"/>
                    <a:pt x="212426" y="10880"/>
                    <a:pt x="250526" y="40697"/>
                  </a:cubicBezTo>
                  <a:cubicBezTo>
                    <a:pt x="288626" y="70514"/>
                    <a:pt x="303535" y="136775"/>
                    <a:pt x="310161" y="179845"/>
                  </a:cubicBezTo>
                  <a:cubicBezTo>
                    <a:pt x="316787" y="222915"/>
                    <a:pt x="303535" y="261015"/>
                    <a:pt x="290283" y="299115"/>
                  </a:cubicBezTo>
                </a:path>
              </a:pathLst>
            </a:cu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" name="Rectangle 7">
            <a:extLst>
              <a:ext uri="{FF2B5EF4-FFF2-40B4-BE49-F238E27FC236}">
                <a16:creationId xmlns:a16="http://schemas.microsoft.com/office/drawing/2014/main" id="{731108A5-9004-FC87-8F34-D22449604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5595" y="2581487"/>
            <a:ext cx="362996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Which walk is not a cycle?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BECA63-12F3-44E3-AF63-F7F0D9861C07}"/>
              </a:ext>
            </a:extLst>
          </p:cNvPr>
          <p:cNvSpPr txBox="1"/>
          <p:nvPr/>
        </p:nvSpPr>
        <p:spPr>
          <a:xfrm>
            <a:off x="5916246" y="3043152"/>
            <a:ext cx="1451038" cy="2677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AA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FCF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b="1" dirty="0"/>
              <a:t>ABEA</a:t>
            </a:r>
          </a:p>
          <a:p>
            <a:pPr eaLnBrk="1" hangingPunct="1"/>
            <a:r>
              <a:rPr lang="en-US" altLang="en-US" strike="sngStrike" dirty="0"/>
              <a:t>ABEAD</a:t>
            </a:r>
            <a:endParaRPr kumimoji="0" lang="en-US" altLang="en-US" sz="2400" strike="sngStrike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latin typeface="Times New Roman" panose="02020603050405020304" pitchFamily="18" charset="0"/>
              </a:rPr>
              <a:t>FBEABE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FBEADC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latin typeface="Times New Roman" panose="02020603050405020304" pitchFamily="18" charset="0"/>
              </a:rPr>
              <a:t>FCD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A82EA1-0B05-72B4-FE5E-36B492C8FF31}"/>
              </a:ext>
            </a:extLst>
          </p:cNvPr>
          <p:cNvSpPr txBox="1"/>
          <p:nvPr/>
        </p:nvSpPr>
        <p:spPr>
          <a:xfrm>
            <a:off x="5916246" y="3043152"/>
            <a:ext cx="1451038" cy="2677656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b="1" dirty="0">
              <a:solidFill>
                <a:srgbClr val="008000"/>
              </a:solidFill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kumimoji="0" lang="en-US" altLang="en-US" sz="2400" strike="sngStrike" dirty="0">
              <a:solidFill>
                <a:srgbClr val="C00000"/>
              </a:solidFill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b="1" dirty="0">
              <a:solidFill>
                <a:srgbClr val="008000"/>
              </a:solidFill>
            </a:endParaRPr>
          </a:p>
          <a:p>
            <a:pPr eaLnBrk="1" hangingPunct="1"/>
            <a:r>
              <a:rPr lang="en-US" altLang="en-US" strike="sngStrike" dirty="0">
                <a:solidFill>
                  <a:srgbClr val="C00000"/>
                </a:solidFill>
              </a:rPr>
              <a:t>ABEAD</a:t>
            </a:r>
            <a:endParaRPr kumimoji="0" lang="en-US" altLang="en-US" sz="2400" strike="sngStrike" dirty="0">
              <a:solidFill>
                <a:srgbClr val="C00000"/>
              </a:solidFill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FBEABE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FBEADC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FCD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2">
            <a:extLst>
              <a:ext uri="{FF2B5EF4-FFF2-40B4-BE49-F238E27FC236}">
                <a16:creationId xmlns:a16="http://schemas.microsoft.com/office/drawing/2014/main" id="{11B77141-AB65-489C-ADEA-AD26BE5B3F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Length of a Walk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628" name="Rectangle 7">
            <a:extLst>
              <a:ext uri="{FF2B5EF4-FFF2-40B4-BE49-F238E27FC236}">
                <a16:creationId xmlns:a16="http://schemas.microsoft.com/office/drawing/2014/main" id="{189A66FD-D4E8-46F7-A3E2-5038C8CE4C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33525"/>
            <a:ext cx="7391400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The length of a walk is the number of edges that the path uses.</a:t>
            </a:r>
          </a:p>
        </p:txBody>
      </p:sp>
      <p:grpSp>
        <p:nvGrpSpPr>
          <p:cNvPr id="3" name="Group 2" descr="A directed graph:&#10;&#10;A connects to A, B, and D&#10;D connects to C&#10;C connects to F&#10;F connects to B&#10;B connects to E&#10;E connects to A">
            <a:extLst>
              <a:ext uri="{FF2B5EF4-FFF2-40B4-BE49-F238E27FC236}">
                <a16:creationId xmlns:a16="http://schemas.microsoft.com/office/drawing/2014/main" id="{99CB652E-0B49-5714-7AAE-9C90FD3A4791}"/>
              </a:ext>
            </a:extLst>
          </p:cNvPr>
          <p:cNvGrpSpPr/>
          <p:nvPr/>
        </p:nvGrpSpPr>
        <p:grpSpPr>
          <a:xfrm>
            <a:off x="1295400" y="2590800"/>
            <a:ext cx="3989388" cy="2819400"/>
            <a:chOff x="1295400" y="2590800"/>
            <a:chExt cx="3989388" cy="2819400"/>
          </a:xfrm>
        </p:grpSpPr>
        <p:pic>
          <p:nvPicPr>
            <p:cNvPr id="26629" name="Picture 2" descr="A directed graph:&#10;&#10;A connects to A, B, and D&#10;D connects to C&#10;C connects to F&#10;F connects to B&#10;B connects to E&#10;E connects to A">
              <a:extLst>
                <a:ext uri="{FF2B5EF4-FFF2-40B4-BE49-F238E27FC236}">
                  <a16:creationId xmlns:a16="http://schemas.microsoft.com/office/drawing/2014/main" id="{F725BCC2-3DA7-4244-BE45-D1E7A8174AA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5400" y="2590800"/>
              <a:ext cx="3989388" cy="2819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71CCFAF4-F5D9-8053-C011-23A2BAE01564}"/>
                </a:ext>
              </a:extLst>
            </p:cNvPr>
            <p:cNvSpPr/>
            <p:nvPr/>
          </p:nvSpPr>
          <p:spPr bwMode="auto">
            <a:xfrm rot="295007">
              <a:off x="3029386" y="2732321"/>
              <a:ext cx="311923" cy="358750"/>
            </a:xfrm>
            <a:custGeom>
              <a:avLst/>
              <a:gdLst>
                <a:gd name="connsiteX0" fmla="*/ 111265 w 311810"/>
                <a:gd name="connsiteY0" fmla="*/ 318993 h 318993"/>
                <a:gd name="connsiteX1" fmla="*/ 31752 w 311810"/>
                <a:gd name="connsiteY1" fmla="*/ 239480 h 318993"/>
                <a:gd name="connsiteX2" fmla="*/ 1935 w 311810"/>
                <a:gd name="connsiteY2" fmla="*/ 70515 h 318993"/>
                <a:gd name="connsiteX3" fmla="*/ 81448 w 311810"/>
                <a:gd name="connsiteY3" fmla="*/ 941 h 318993"/>
                <a:gd name="connsiteX4" fmla="*/ 250413 w 311810"/>
                <a:gd name="connsiteY4" fmla="*/ 40697 h 318993"/>
                <a:gd name="connsiteX5" fmla="*/ 310048 w 311810"/>
                <a:gd name="connsiteY5" fmla="*/ 179845 h 318993"/>
                <a:gd name="connsiteX6" fmla="*/ 290170 w 311810"/>
                <a:gd name="connsiteY6" fmla="*/ 299115 h 318993"/>
                <a:gd name="connsiteX0" fmla="*/ 121317 w 311923"/>
                <a:gd name="connsiteY0" fmla="*/ 358750 h 358750"/>
                <a:gd name="connsiteX1" fmla="*/ 31865 w 311923"/>
                <a:gd name="connsiteY1" fmla="*/ 239480 h 358750"/>
                <a:gd name="connsiteX2" fmla="*/ 2048 w 311923"/>
                <a:gd name="connsiteY2" fmla="*/ 70515 h 358750"/>
                <a:gd name="connsiteX3" fmla="*/ 81561 w 311923"/>
                <a:gd name="connsiteY3" fmla="*/ 941 h 358750"/>
                <a:gd name="connsiteX4" fmla="*/ 250526 w 311923"/>
                <a:gd name="connsiteY4" fmla="*/ 40697 h 358750"/>
                <a:gd name="connsiteX5" fmla="*/ 310161 w 311923"/>
                <a:gd name="connsiteY5" fmla="*/ 179845 h 358750"/>
                <a:gd name="connsiteX6" fmla="*/ 290283 w 311923"/>
                <a:gd name="connsiteY6" fmla="*/ 299115 h 35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1923" h="358750">
                  <a:moveTo>
                    <a:pt x="121317" y="358750"/>
                  </a:moveTo>
                  <a:cubicBezTo>
                    <a:pt x="90671" y="339700"/>
                    <a:pt x="51743" y="287519"/>
                    <a:pt x="31865" y="239480"/>
                  </a:cubicBezTo>
                  <a:cubicBezTo>
                    <a:pt x="11987" y="191441"/>
                    <a:pt x="-6235" y="110272"/>
                    <a:pt x="2048" y="70515"/>
                  </a:cubicBezTo>
                  <a:cubicBezTo>
                    <a:pt x="10331" y="30758"/>
                    <a:pt x="40148" y="5911"/>
                    <a:pt x="81561" y="941"/>
                  </a:cubicBezTo>
                  <a:cubicBezTo>
                    <a:pt x="122974" y="-4029"/>
                    <a:pt x="212426" y="10880"/>
                    <a:pt x="250526" y="40697"/>
                  </a:cubicBezTo>
                  <a:cubicBezTo>
                    <a:pt x="288626" y="70514"/>
                    <a:pt x="303535" y="136775"/>
                    <a:pt x="310161" y="179845"/>
                  </a:cubicBezTo>
                  <a:cubicBezTo>
                    <a:pt x="316787" y="222915"/>
                    <a:pt x="303535" y="261015"/>
                    <a:pt x="290283" y="299115"/>
                  </a:cubicBezTo>
                </a:path>
              </a:pathLst>
            </a:cu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6630" name="TextBox 7">
            <a:extLst>
              <a:ext uri="{FF2B5EF4-FFF2-40B4-BE49-F238E27FC236}">
                <a16:creationId xmlns:a16="http://schemas.microsoft.com/office/drawing/2014/main" id="{B3A34AB9-E1B2-4954-9A77-3330BE188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2950" y="3124200"/>
            <a:ext cx="270619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tabLst>
                <a:tab pos="1262063" algn="l"/>
              </a:tabLst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tabLst>
                <a:tab pos="1262063" algn="l"/>
              </a:tabLst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tabLst>
                <a:tab pos="1262063" algn="l"/>
              </a:tabLs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tabLst>
                <a:tab pos="1262063" algn="l"/>
              </a:tabLst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tabLst>
                <a:tab pos="1262063" algn="l"/>
              </a:tabLst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1262063" algn="l"/>
              </a:tabLst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1262063" algn="l"/>
              </a:tabLst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1262063" algn="l"/>
              </a:tabLst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1262063" algn="l"/>
              </a:tabLst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AA	– length 1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AD	– length 1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ABEA	– length 3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FBEADC – length 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2">
            <a:extLst>
              <a:ext uri="{FF2B5EF4-FFF2-40B4-BE49-F238E27FC236}">
                <a16:creationId xmlns:a16="http://schemas.microsoft.com/office/drawing/2014/main" id="{309F6BEF-77E2-4D32-B878-D4120D86645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Counting Walks in Adjacency Matrices</a:t>
            </a:r>
            <a:endParaRPr lang="en-US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676" name="Rectangle 7">
            <a:extLst>
              <a:ext uri="{FF2B5EF4-FFF2-40B4-BE49-F238E27FC236}">
                <a16:creationId xmlns:a16="http://schemas.microsoft.com/office/drawing/2014/main" id="{5673CD53-C556-42EB-A397-08EBD93B9C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33525"/>
            <a:ext cx="73914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Times New Roman" panose="02020603050405020304" pitchFamily="18" charset="0"/>
              </a:rPr>
              <a:t>How many walks of length 2 exists in this Adjacency matrix? </a:t>
            </a:r>
          </a:p>
        </p:txBody>
      </p:sp>
      <p:graphicFrame>
        <p:nvGraphicFramePr>
          <p:cNvPr id="8" name="Table 7" descr="The adjacency matrix">
            <a:extLst>
              <a:ext uri="{FF2B5EF4-FFF2-40B4-BE49-F238E27FC236}">
                <a16:creationId xmlns:a16="http://schemas.microsoft.com/office/drawing/2014/main" id="{619D650B-D2F5-4A3F-95CD-9F310E58FF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4145149"/>
              </p:ext>
            </p:extLst>
          </p:nvPr>
        </p:nvGraphicFramePr>
        <p:xfrm>
          <a:off x="2857500" y="3125688"/>
          <a:ext cx="3429000" cy="2243140"/>
        </p:xfrm>
        <a:graphic>
          <a:graphicData uri="http://schemas.openxmlformats.org/drawingml/2006/table">
            <a:tbl>
              <a:tblPr firstRow="1"/>
              <a:tblGrid>
                <a:gridCol w="857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078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32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dirty="0">
                          <a:latin typeface="Calibri"/>
                          <a:ea typeface="Calibri"/>
                          <a:cs typeface="Times New Roman"/>
                        </a:rPr>
                        <a:t>A</a:t>
                      </a:r>
                      <a:endParaRPr lang="en-US" sz="32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>
                          <a:latin typeface="Calibri"/>
                          <a:ea typeface="Calibri"/>
                          <a:cs typeface="Times New Roman"/>
                        </a:rPr>
                        <a:t>B</a:t>
                      </a:r>
                      <a:endParaRPr lang="en-US" sz="32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>
                          <a:latin typeface="Calibri"/>
                          <a:ea typeface="Calibri"/>
                          <a:cs typeface="Times New Roman"/>
                        </a:rPr>
                        <a:t>C</a:t>
                      </a:r>
                      <a:endParaRPr lang="en-US" sz="32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78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dirty="0">
                          <a:latin typeface="Calibri"/>
                          <a:ea typeface="Calibri"/>
                          <a:cs typeface="Times New Roman"/>
                        </a:rPr>
                        <a:t>A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dirty="0">
                          <a:latin typeface="Calibri"/>
                          <a:ea typeface="Calibri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latin typeface="Calibri"/>
                          <a:ea typeface="Calibri"/>
                          <a:cs typeface="Times New Roman"/>
                        </a:rPr>
                        <a:t>1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latin typeface="Calibri"/>
                          <a:ea typeface="Calibri"/>
                          <a:cs typeface="Times New Roman"/>
                        </a:rPr>
                        <a:t>1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78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dirty="0">
                          <a:latin typeface="Calibri"/>
                          <a:ea typeface="Calibri"/>
                          <a:cs typeface="Times New Roman"/>
                        </a:rPr>
                        <a:t>B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dirty="0">
                          <a:latin typeface="Calibri"/>
                          <a:ea typeface="Calibri"/>
                          <a:cs typeface="Times New Roman"/>
                        </a:rPr>
                        <a:t>1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latin typeface="Calibri"/>
                          <a:ea typeface="Calibri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latin typeface="Calibri"/>
                          <a:ea typeface="Calibri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78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dirty="0">
                          <a:latin typeface="Calibri"/>
                          <a:ea typeface="Calibri"/>
                          <a:cs typeface="Times New Roman"/>
                        </a:rPr>
                        <a:t>C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latin typeface="Calibri"/>
                          <a:ea typeface="Calibri"/>
                          <a:cs typeface="Times New Roman"/>
                        </a:rPr>
                        <a:t>1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latin typeface="Calibri"/>
                          <a:ea typeface="Calibri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dirty="0">
                          <a:latin typeface="Calibri"/>
                          <a:ea typeface="Calibri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3" name="Rectangle 2">
            <a:extLst>
              <a:ext uri="{FF2B5EF4-FFF2-40B4-BE49-F238E27FC236}">
                <a16:creationId xmlns:a16="http://schemas.microsoft.com/office/drawing/2014/main" id="{790BB70D-BC8C-42FD-B9E8-BCDEEAA74E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 Multiplication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24" name="Picture 2" descr="The first row of one matrix is multiplied by the first column of an identical matrix to get the top left entry in the resultant matrix. &#10;The matrix is a 3 by 3 matrix:&#10;0 1 1&#10;1 0 0&#10;1 0 0&#10;To multiple the first row, 0 1 1, by the first column, 0 1 1, you multiply the first times first, then second times second, then third times third, and then sum the results, like so:&#10;0*0 + 1*1 + 1*1 = 2">
            <a:extLst>
              <a:ext uri="{FF2B5EF4-FFF2-40B4-BE49-F238E27FC236}">
                <a16:creationId xmlns:a16="http://schemas.microsoft.com/office/drawing/2014/main" id="{FF3F6163-B9FB-4419-B236-33CA5ECA5B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600200"/>
            <a:ext cx="6515100" cy="3733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3" name="Rectangle 2">
            <a:extLst>
              <a:ext uri="{FF2B5EF4-FFF2-40B4-BE49-F238E27FC236}">
                <a16:creationId xmlns:a16="http://schemas.microsoft.com/office/drawing/2014/main" id="{790BB70D-BC8C-42FD-B9E8-BCDEEAA74E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 Multiplication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To calculate the element in the second row, first column in the resultant matrix, the second row of second matrix is multiplied by the first column of the second matrix. &#10;Both matrices are 3 by 3 matrices.&#10;Matrix A:&#10;1 0 2&#10;3 1 0&#10;5 -1 2&#10;Matrix B: &#10;2 -1 0&#10;5 1 -1&#10;-2 0 0&#10;To multiple the second row of the first matrix, 3 1 0, by the first column of the second matrix, 2 5 -2, you multiply the first times first, then second times second, then third times third, and then sum the results, like so:&#10;3*2 + 1*5 + 0*-2 = 11">
            <a:extLst>
              <a:ext uri="{FF2B5EF4-FFF2-40B4-BE49-F238E27FC236}">
                <a16:creationId xmlns:a16="http://schemas.microsoft.com/office/drawing/2014/main" id="{C0589C27-47CB-34B5-7120-E33FE963B5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585914"/>
            <a:ext cx="8699406" cy="35069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69930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6CB0F-75EA-A019-A47B-F8ACB6542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123" y="274320"/>
            <a:ext cx="7772400" cy="1143000"/>
          </a:xfrm>
        </p:spPr>
        <p:txBody>
          <a:bodyPr/>
          <a:lstStyle/>
          <a:p>
            <a:pPr algn="ctr"/>
            <a:r>
              <a:rPr lang="en-US" b="1" dirty="0"/>
              <a:t>Old terminology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A271D-8FD1-4FB5-ABBA-BD80110A0AE0}"/>
              </a:ext>
            </a:extLst>
          </p:cNvPr>
          <p:cNvSpPr/>
          <p:nvPr/>
        </p:nvSpPr>
        <p:spPr>
          <a:xfrm>
            <a:off x="1066800" y="1911821"/>
            <a:ext cx="7848600" cy="30343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4400" dirty="0">
                <a:solidFill>
                  <a:srgbClr val="282829"/>
                </a:solidFill>
                <a:latin typeface="-apple-system"/>
              </a:rPr>
              <a:t>FYI, some older texts use the terms </a:t>
            </a:r>
            <a:r>
              <a:rPr lang="en-US" sz="4400" b="1" dirty="0">
                <a:solidFill>
                  <a:srgbClr val="990033"/>
                </a:solidFill>
                <a:latin typeface="-apple-system"/>
              </a:rPr>
              <a:t>path</a:t>
            </a:r>
            <a:r>
              <a:rPr lang="en-US" sz="4400" dirty="0">
                <a:solidFill>
                  <a:srgbClr val="990033"/>
                </a:solidFill>
                <a:latin typeface="-apple-system"/>
              </a:rPr>
              <a:t> </a:t>
            </a:r>
            <a:r>
              <a:rPr lang="en-US" sz="4400" b="1" dirty="0">
                <a:solidFill>
                  <a:srgbClr val="990033"/>
                </a:solidFill>
                <a:latin typeface="-apple-system"/>
              </a:rPr>
              <a:t>and</a:t>
            </a:r>
            <a:r>
              <a:rPr lang="en-US" sz="4400" dirty="0">
                <a:solidFill>
                  <a:srgbClr val="990033"/>
                </a:solidFill>
                <a:latin typeface="-apple-system"/>
              </a:rPr>
              <a:t> </a:t>
            </a:r>
            <a:r>
              <a:rPr lang="en-US" sz="4400" b="1" dirty="0">
                <a:solidFill>
                  <a:srgbClr val="990033"/>
                </a:solidFill>
                <a:latin typeface="-apple-system"/>
              </a:rPr>
              <a:t>simple path</a:t>
            </a:r>
            <a:r>
              <a:rPr lang="en-US" sz="4400" dirty="0">
                <a:solidFill>
                  <a:srgbClr val="990033"/>
                </a:solidFill>
                <a:latin typeface="-apple-system"/>
              </a:rPr>
              <a:t> </a:t>
            </a:r>
            <a:r>
              <a:rPr lang="en-US" sz="4400" dirty="0">
                <a:solidFill>
                  <a:srgbClr val="282829"/>
                </a:solidFill>
                <a:latin typeface="-apple-system"/>
              </a:rPr>
              <a:t>where we use </a:t>
            </a:r>
            <a:r>
              <a:rPr lang="en-US" sz="4400" b="1" dirty="0">
                <a:solidFill>
                  <a:srgbClr val="008000"/>
                </a:solidFill>
                <a:latin typeface="-apple-system"/>
              </a:rPr>
              <a:t>walk</a:t>
            </a:r>
            <a:r>
              <a:rPr lang="en-US" sz="4400" dirty="0">
                <a:solidFill>
                  <a:srgbClr val="008000"/>
                </a:solidFill>
                <a:latin typeface="-apple-system"/>
              </a:rPr>
              <a:t> </a:t>
            </a:r>
            <a:r>
              <a:rPr lang="en-US" sz="4400" b="1" dirty="0">
                <a:solidFill>
                  <a:srgbClr val="008000"/>
                </a:solidFill>
                <a:latin typeface="-apple-system"/>
              </a:rPr>
              <a:t>and</a:t>
            </a:r>
            <a:r>
              <a:rPr lang="en-US" sz="4400" dirty="0">
                <a:solidFill>
                  <a:srgbClr val="008000"/>
                </a:solidFill>
                <a:latin typeface="-apple-system"/>
              </a:rPr>
              <a:t> </a:t>
            </a:r>
            <a:r>
              <a:rPr lang="en-US" sz="4400" b="1" dirty="0">
                <a:solidFill>
                  <a:srgbClr val="008000"/>
                </a:solidFill>
                <a:latin typeface="-apple-system"/>
              </a:rPr>
              <a:t>path</a:t>
            </a:r>
            <a:r>
              <a:rPr lang="en-US" sz="4400" dirty="0">
                <a:solidFill>
                  <a:srgbClr val="282829"/>
                </a:solidFill>
                <a:latin typeface="-apple-system"/>
              </a:rPr>
              <a:t>.  : (</a:t>
            </a:r>
          </a:p>
        </p:txBody>
      </p:sp>
    </p:spTree>
    <p:extLst>
      <p:ext uri="{BB962C8B-B14F-4D97-AF65-F5344CB8AC3E}">
        <p14:creationId xmlns:p14="http://schemas.microsoft.com/office/powerpoint/2010/main" val="2043752655"/>
      </p:ext>
    </p:extLst>
  </p:cSld>
  <p:clrMapOvr>
    <a:masterClrMapping/>
  </p:clrMapOvr>
</p:sld>
</file>

<file path=ppt/theme/theme1.xml><?xml version="1.0" encoding="utf-8"?>
<a:theme xmlns:a="http://schemas.openxmlformats.org/drawingml/2006/main" name="Dads Tie">
  <a:themeElements>
    <a:clrScheme name="Dads Tie 2">
      <a:dk1>
        <a:srgbClr val="000000"/>
      </a:dk1>
      <a:lt1>
        <a:srgbClr val="FFFFFF"/>
      </a:lt1>
      <a:dk2>
        <a:srgbClr val="003366"/>
      </a:dk2>
      <a:lt2>
        <a:srgbClr val="5490A8"/>
      </a:lt2>
      <a:accent1>
        <a:srgbClr val="0099CC"/>
      </a:accent1>
      <a:accent2>
        <a:srgbClr val="3366CC"/>
      </a:accent2>
      <a:accent3>
        <a:srgbClr val="FFFFFF"/>
      </a:accent3>
      <a:accent4>
        <a:srgbClr val="000000"/>
      </a:accent4>
      <a:accent5>
        <a:srgbClr val="AACAE2"/>
      </a:accent5>
      <a:accent6>
        <a:srgbClr val="2D5CB9"/>
      </a:accent6>
      <a:hlink>
        <a:srgbClr val="99CCFF"/>
      </a:hlink>
      <a:folHlink>
        <a:srgbClr val="E1E1B7"/>
      </a:folHlink>
    </a:clrScheme>
    <a:fontScheme name="Dads Ti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Dads Tie 1">
        <a:dk1>
          <a:srgbClr val="5490A8"/>
        </a:dk1>
        <a:lt1>
          <a:srgbClr val="DDDDDD"/>
        </a:lt1>
        <a:dk2>
          <a:srgbClr val="00172E"/>
        </a:dk2>
        <a:lt2>
          <a:srgbClr val="CCECFF"/>
        </a:lt2>
        <a:accent1>
          <a:srgbClr val="0099CC"/>
        </a:accent1>
        <a:accent2>
          <a:srgbClr val="3366CC"/>
        </a:accent2>
        <a:accent3>
          <a:srgbClr val="AAABAD"/>
        </a:accent3>
        <a:accent4>
          <a:srgbClr val="BDBDBD"/>
        </a:accent4>
        <a:accent5>
          <a:srgbClr val="AACAE2"/>
        </a:accent5>
        <a:accent6>
          <a:srgbClr val="2D5CB9"/>
        </a:accent6>
        <a:hlink>
          <a:srgbClr val="99CCFF"/>
        </a:hlink>
        <a:folHlink>
          <a:srgbClr val="E1E1B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ds Tie 2">
        <a:dk1>
          <a:srgbClr val="000000"/>
        </a:dk1>
        <a:lt1>
          <a:srgbClr val="FFFFFF"/>
        </a:lt1>
        <a:dk2>
          <a:srgbClr val="003366"/>
        </a:dk2>
        <a:lt2>
          <a:srgbClr val="5490A8"/>
        </a:lt2>
        <a:accent1>
          <a:srgbClr val="0099CC"/>
        </a:accent1>
        <a:accent2>
          <a:srgbClr val="3366CC"/>
        </a:accent2>
        <a:accent3>
          <a:srgbClr val="FFFFFF"/>
        </a:accent3>
        <a:accent4>
          <a:srgbClr val="000000"/>
        </a:accent4>
        <a:accent5>
          <a:srgbClr val="AACAE2"/>
        </a:accent5>
        <a:accent6>
          <a:srgbClr val="2D5CB9"/>
        </a:accent6>
        <a:hlink>
          <a:srgbClr val="99CCFF"/>
        </a:hlink>
        <a:folHlink>
          <a:srgbClr val="E1E1B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ds Tie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ds Tie 4">
        <a:dk1>
          <a:srgbClr val="000000"/>
        </a:dk1>
        <a:lt1>
          <a:srgbClr val="FFFFFF"/>
        </a:lt1>
        <a:dk2>
          <a:srgbClr val="666633"/>
        </a:dk2>
        <a:lt2>
          <a:srgbClr val="908A6C"/>
        </a:lt2>
        <a:accent1>
          <a:srgbClr val="808000"/>
        </a:accent1>
        <a:accent2>
          <a:srgbClr val="996633"/>
        </a:accent2>
        <a:accent3>
          <a:srgbClr val="FFFFFF"/>
        </a:accent3>
        <a:accent4>
          <a:srgbClr val="000000"/>
        </a:accent4>
        <a:accent5>
          <a:srgbClr val="C0C0AA"/>
        </a:accent5>
        <a:accent6>
          <a:srgbClr val="8A5C2D"/>
        </a:accent6>
        <a:hlink>
          <a:srgbClr val="CCCC00"/>
        </a:hlink>
        <a:folHlink>
          <a:srgbClr val="D6DE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ds Tie 5">
        <a:dk1>
          <a:srgbClr val="000000"/>
        </a:dk1>
        <a:lt1>
          <a:srgbClr val="FFFFFF"/>
        </a:lt1>
        <a:dk2>
          <a:srgbClr val="181848"/>
        </a:dk2>
        <a:lt2>
          <a:srgbClr val="656F97"/>
        </a:lt2>
        <a:accent1>
          <a:srgbClr val="6666FF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B8B8FF"/>
        </a:accent5>
        <a:accent6>
          <a:srgbClr val="2D2D8A"/>
        </a:accent6>
        <a:hlink>
          <a:srgbClr val="9A9ABC"/>
        </a:hlink>
        <a:folHlink>
          <a:srgbClr val="D2B6C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ds Tie 6">
        <a:dk1>
          <a:srgbClr val="CC0066"/>
        </a:dk1>
        <a:lt1>
          <a:srgbClr val="FFFFFF"/>
        </a:lt1>
        <a:dk2>
          <a:srgbClr val="000000"/>
        </a:dk2>
        <a:lt2>
          <a:srgbClr val="CC0099"/>
        </a:lt2>
        <a:accent1>
          <a:srgbClr val="FF9900"/>
        </a:accent1>
        <a:accent2>
          <a:srgbClr val="CC6600"/>
        </a:accent2>
        <a:accent3>
          <a:srgbClr val="AAAAAA"/>
        </a:accent3>
        <a:accent4>
          <a:srgbClr val="DADADA"/>
        </a:accent4>
        <a:accent5>
          <a:srgbClr val="FFCAAA"/>
        </a:accent5>
        <a:accent6>
          <a:srgbClr val="B95C00"/>
        </a:accent6>
        <a:hlink>
          <a:srgbClr val="009900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Office\Templates\Presentation Designs\Dads Tie.pot</Template>
  <TotalTime>10958</TotalTime>
  <Words>1670</Words>
  <Application>Microsoft Office PowerPoint</Application>
  <PresentationFormat>On-screen Show (4:3)</PresentationFormat>
  <Paragraphs>506</Paragraphs>
  <Slides>45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60" baseType="lpstr">
      <vt:lpstr>Abadi</vt:lpstr>
      <vt:lpstr>Agency FB</vt:lpstr>
      <vt:lpstr>-apple-system</vt:lpstr>
      <vt:lpstr>Arial</vt:lpstr>
      <vt:lpstr>Calibri</vt:lpstr>
      <vt:lpstr>Comic Sans MS</vt:lpstr>
      <vt:lpstr>Consolas</vt:lpstr>
      <vt:lpstr>Lucida Sans</vt:lpstr>
      <vt:lpstr>Monotype Sorts</vt:lpstr>
      <vt:lpstr>Source Sans Pro SemiBold</vt:lpstr>
      <vt:lpstr>Tahoma</vt:lpstr>
      <vt:lpstr>Tekton Pro</vt:lpstr>
      <vt:lpstr>Times New Roman</vt:lpstr>
      <vt:lpstr>Wingdings</vt:lpstr>
      <vt:lpstr>Dads Tie</vt:lpstr>
      <vt:lpstr>Graph Theory</vt:lpstr>
      <vt:lpstr>Undirected Graph</vt:lpstr>
      <vt:lpstr>Directed Graph</vt:lpstr>
      <vt:lpstr>Edges list</vt:lpstr>
      <vt:lpstr>Adjacency Matrix for a Directed Graph</vt:lpstr>
      <vt:lpstr>Adjacency Matrix for  an Undirected Graph</vt:lpstr>
      <vt:lpstr>Adjacency Matrix for  an Undirected Graph</vt:lpstr>
      <vt:lpstr>Adjacency Matrix Representation</vt:lpstr>
      <vt:lpstr>Adjacency List Representation</vt:lpstr>
      <vt:lpstr>Adjacency Matrix Representation</vt:lpstr>
      <vt:lpstr>Adjacency List Representation</vt:lpstr>
      <vt:lpstr>Weighted Graph</vt:lpstr>
      <vt:lpstr>Adjacency Matrix for a Weighted Graph</vt:lpstr>
      <vt:lpstr>Adjacency List for a Weighted Graph</vt:lpstr>
      <vt:lpstr>Simple vs Non-simple Graphs</vt:lpstr>
      <vt:lpstr>Simple undirected graphs</vt:lpstr>
      <vt:lpstr>Non-simple undirected graphs</vt:lpstr>
      <vt:lpstr>Simple directed graphs</vt:lpstr>
      <vt:lpstr>Non-simple directed graphs</vt:lpstr>
      <vt:lpstr>Connected/Disconnected Graphs &amp; Components</vt:lpstr>
      <vt:lpstr>Practice classifying a graph</vt:lpstr>
      <vt:lpstr>Practice classifying a graph</vt:lpstr>
      <vt:lpstr>Walk definition</vt:lpstr>
      <vt:lpstr>Walk definition</vt:lpstr>
      <vt:lpstr>Trail definition</vt:lpstr>
      <vt:lpstr>Trail definition</vt:lpstr>
      <vt:lpstr>Path definition</vt:lpstr>
      <vt:lpstr>Cycle definition</vt:lpstr>
      <vt:lpstr>Classifying Walks 1</vt:lpstr>
      <vt:lpstr>Classifying Walks 2</vt:lpstr>
      <vt:lpstr>Classifying walk 3</vt:lpstr>
      <vt:lpstr>Cyclic Graphs and Cycle Graphs</vt:lpstr>
      <vt:lpstr>Cyclic Graphs and Cycle Graphs</vt:lpstr>
      <vt:lpstr>Cyclic Graphs and Cycle Graphs</vt:lpstr>
      <vt:lpstr>Complete Graph</vt:lpstr>
      <vt:lpstr>K5 through K12</vt:lpstr>
      <vt:lpstr>Practice finding Walks</vt:lpstr>
      <vt:lpstr>Practice finding Trails</vt:lpstr>
      <vt:lpstr>Practice finding Paths</vt:lpstr>
      <vt:lpstr>Practice finding Cycles</vt:lpstr>
      <vt:lpstr>Length of a Walk</vt:lpstr>
      <vt:lpstr>Counting Walks in Adjacency Matrices</vt:lpstr>
      <vt:lpstr>Matrix Multiplication</vt:lpstr>
      <vt:lpstr>Matrix Multiplication</vt:lpstr>
      <vt:lpstr>Old terminology</vt:lpstr>
    </vt:vector>
  </TitlesOfParts>
  <Company>Skylight Publishing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Methods</dc:title>
  <dc:subject>Chapter 7</dc:subject>
  <dc:creator>Maria Litvin and Gary Litvin</dc:creator>
  <cp:lastModifiedBy>Weldon Jasik</cp:lastModifiedBy>
  <cp:revision>704</cp:revision>
  <cp:lastPrinted>2021-05-14T18:26:42Z</cp:lastPrinted>
  <dcterms:created xsi:type="dcterms:W3CDTF">2002-08-16T13:24:03Z</dcterms:created>
  <dcterms:modified xsi:type="dcterms:W3CDTF">2025-03-19T14:40:37Z</dcterms:modified>
</cp:coreProperties>
</file>