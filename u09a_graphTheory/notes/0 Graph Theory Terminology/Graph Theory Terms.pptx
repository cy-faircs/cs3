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</p:sldMasterIdLst>
  <p:notesMasterIdLst>
    <p:notesMasterId r:id="rId34"/>
  </p:notesMasterIdLst>
  <p:sldIdLst>
    <p:sldId id="589" r:id="rId2"/>
    <p:sldId id="665" r:id="rId3"/>
    <p:sldId id="666" r:id="rId4"/>
    <p:sldId id="667" r:id="rId5"/>
    <p:sldId id="668" r:id="rId6"/>
    <p:sldId id="697" r:id="rId7"/>
    <p:sldId id="673" r:id="rId8"/>
    <p:sldId id="694" r:id="rId9"/>
    <p:sldId id="686" r:id="rId10"/>
    <p:sldId id="689" r:id="rId11"/>
    <p:sldId id="700" r:id="rId12"/>
    <p:sldId id="699" r:id="rId13"/>
    <p:sldId id="698" r:id="rId14"/>
    <p:sldId id="693" r:id="rId15"/>
    <p:sldId id="695" r:id="rId16"/>
    <p:sldId id="683" r:id="rId17"/>
    <p:sldId id="684" r:id="rId18"/>
    <p:sldId id="685" r:id="rId19"/>
    <p:sldId id="678" r:id="rId20"/>
    <p:sldId id="692" r:id="rId21"/>
    <p:sldId id="690" r:id="rId22"/>
    <p:sldId id="687" r:id="rId23"/>
    <p:sldId id="682" r:id="rId24"/>
    <p:sldId id="676" r:id="rId25"/>
    <p:sldId id="669" r:id="rId26"/>
    <p:sldId id="696" r:id="rId27"/>
    <p:sldId id="670" r:id="rId28"/>
    <p:sldId id="671" r:id="rId29"/>
    <p:sldId id="672" r:id="rId30"/>
    <p:sldId id="674" r:id="rId31"/>
    <p:sldId id="675" r:id="rId32"/>
    <p:sldId id="691" r:id="rId33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08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2C5C80"/>
    <a:srgbClr val="FF7F7F"/>
    <a:srgbClr val="FAFBC1"/>
    <a:srgbClr val="FFFFEB"/>
    <a:srgbClr val="FFCC66"/>
    <a:srgbClr val="0066FF"/>
    <a:srgbClr val="0033CC"/>
    <a:srgbClr val="FF9900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28" autoAdjust="0"/>
    <p:restoredTop sz="93452" autoAdjust="0"/>
  </p:normalViewPr>
  <p:slideViewPr>
    <p:cSldViewPr snapToGrid="0" snapToObjects="1">
      <p:cViewPr varScale="1">
        <p:scale>
          <a:sx n="113" d="100"/>
          <a:sy n="113" d="100"/>
        </p:scale>
        <p:origin x="1104" y="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>
        <p:scale>
          <a:sx n="66" d="100"/>
          <a:sy n="66" d="100"/>
        </p:scale>
        <p:origin x="-1386" y="-72"/>
      </p:cViewPr>
      <p:guideLst>
        <p:guide orient="horz" pos="2208"/>
        <p:guide pos="292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0A3A56D3-CCF0-49D4-B894-F71230D540D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8E12CEF7-9947-45A0-A360-28F020756A0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5267119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E4CE83E-661C-4C48-ACEA-D16F33CF261F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95600" y="525463"/>
            <a:ext cx="3505200" cy="2628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5CBC30EA-0CA5-4ABA-9C83-EAEF8D419AE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9942" y="3330419"/>
            <a:ext cx="6816518" cy="3154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>
            <a:extLst>
              <a:ext uri="{FF2B5EF4-FFF2-40B4-BE49-F238E27FC236}">
                <a16:creationId xmlns:a16="http://schemas.microsoft.com/office/drawing/2014/main" id="{87E512ED-C3DC-47F6-9110-DB8B5805BA1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>
            <a:extLst>
              <a:ext uri="{FF2B5EF4-FFF2-40B4-BE49-F238E27FC236}">
                <a16:creationId xmlns:a16="http://schemas.microsoft.com/office/drawing/2014/main" id="{4E41A777-3887-4F22-A37D-EFBF494372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7119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pPr>
              <a:defRPr/>
            </a:pPr>
            <a:fld id="{62804723-5E0A-4B8F-BB8E-4A9C77F631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F3E624E7-8C29-4118-8A64-602C4ED59A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09388A-D003-4731-944E-91E11F7C51B4}" type="slidenum">
              <a:rPr lang="en-US" altLang="en-US" smtClean="0"/>
              <a:pPr>
                <a:spcBef>
                  <a:spcPct val="0"/>
                </a:spcBef>
              </a:pPr>
              <a:t>1</a:t>
            </a:fld>
            <a:endParaRPr lang="en-US" altLang="en-US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883F7EAD-C1B4-47F5-AD3A-83D4457DE7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ADCE907C-FCDB-4F3E-8CB1-5393D6A13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D84EF23F-42A0-43AA-B3EE-F96C1EEC62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761CB46-38A3-4949-8FC2-E64B4CEC7EE8}" type="slidenum">
              <a:rPr lang="en-US" altLang="en-US" smtClean="0"/>
              <a:pPr>
                <a:spcBef>
                  <a:spcPct val="0"/>
                </a:spcBef>
              </a:pPr>
              <a:t>2</a:t>
            </a:fld>
            <a:endParaRPr lang="en-US" altLang="en-US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95D70ADD-79A9-4238-A966-8E88320F9C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1AAEDC63-65C5-486B-A707-2A457E44C5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E7756A29-C85A-4564-8F3B-4755182F29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AAA84FB-1136-45A8-B5E7-B558EEAD291B}" type="slidenum">
              <a:rPr lang="en-US" altLang="en-US" smtClean="0"/>
              <a:pPr>
                <a:spcBef>
                  <a:spcPct val="0"/>
                </a:spcBef>
              </a:pPr>
              <a:t>3</a:t>
            </a:fld>
            <a:endParaRPr lang="en-U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91403F32-60CD-434C-A5A8-825FB2B344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2BE259F3-B574-4D0F-8612-1EAB3BEDFA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4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5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6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88450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>
            <a:extLst>
              <a:ext uri="{FF2B5EF4-FFF2-40B4-BE49-F238E27FC236}">
                <a16:creationId xmlns:a16="http://schemas.microsoft.com/office/drawing/2014/main" id="{A8FB91A2-DF17-42EE-899A-0D2E08318B8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0E9DCE5-23D2-4147-ABBD-7442DDB225B4}" type="slidenum">
              <a:rPr lang="en-US" altLang="en-US" smtClean="0"/>
              <a:pPr>
                <a:spcBef>
                  <a:spcPct val="0"/>
                </a:spcBef>
              </a:pPr>
              <a:t>7</a:t>
            </a:fld>
            <a:endParaRPr lang="en-US" altLang="en-US"/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21F27E37-99A4-4E91-9D31-7C7661696DD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A6D40A98-F81A-4592-90CB-450A32B2E7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8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6858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86608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0592198-DDAE-4809-BDC8-A30D5D87FE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90940BB-AD1B-4E7A-B500-4E2F10EBBF9A}" type="slidenum">
              <a:rPr lang="en-US" altLang="en-US" smtClean="0"/>
              <a:pPr>
                <a:spcBef>
                  <a:spcPct val="0"/>
                </a:spcBef>
              </a:pPr>
              <a:t>24</a:t>
            </a:fld>
            <a:endParaRPr lang="en-US" altLang="en-US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37D77245-550A-4837-8BF3-4569C9D991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4D6683EF-DA40-4BC6-AA03-99E7AB6518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50ECCBEB-EF98-4DA8-8364-AC8CAFF643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4500A2E-5E0F-4DF5-B1D6-61F9C2508182}" type="slidenum">
              <a:rPr lang="en-US" altLang="en-US" smtClean="0"/>
              <a:pPr>
                <a:spcBef>
                  <a:spcPct val="0"/>
                </a:spcBef>
              </a:pPr>
              <a:t>25</a:t>
            </a:fld>
            <a:endParaRPr lang="en-U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D9048E90-767D-4B96-B641-B082C68DF5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E09486-8D8E-4A82-B03B-20885E5EE6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50ECCBEB-EF98-4DA8-8364-AC8CAFF643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4500A2E-5E0F-4DF5-B1D6-61F9C2508182}" type="slidenum">
              <a:rPr lang="en-US" altLang="en-US" smtClean="0"/>
              <a:pPr>
                <a:spcBef>
                  <a:spcPct val="0"/>
                </a:spcBef>
              </a:pPr>
              <a:t>26</a:t>
            </a:fld>
            <a:endParaRPr lang="en-U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D9048E90-767D-4B96-B641-B082C68DF5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E09486-8D8E-4A82-B03B-20885E5EE6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07883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9F7198E8-68E1-4D95-945A-3BDBD25E36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14E81A2-5839-4621-9386-B89B2EC8C886}" type="slidenum">
              <a:rPr lang="en-US" altLang="en-US" smtClean="0"/>
              <a:pPr>
                <a:spcBef>
                  <a:spcPct val="0"/>
                </a:spcBef>
              </a:pPr>
              <a:t>27</a:t>
            </a:fld>
            <a:endParaRPr lang="en-US" altLang="en-US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57841AEF-FC7F-4234-976B-DDEC7F1FA47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79F087D7-987E-4DEE-B30B-44FCD9D6A8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C257D90F-7D11-4FF2-80BF-C3A63D5E1CB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8B95B2C-A6B0-4AEF-9BDA-B44197B54551}" type="slidenum">
              <a:rPr lang="en-US" altLang="en-US" smtClean="0"/>
              <a:pPr>
                <a:spcBef>
                  <a:spcPct val="0"/>
                </a:spcBef>
              </a:pPr>
              <a:t>28</a:t>
            </a:fld>
            <a:endParaRPr lang="en-US" altLang="en-US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91159ED7-99A3-4E53-A3DD-15517904D9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949828A7-32A5-4AEF-A28E-CCB80B5410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45DD90E9-6325-4B0D-8297-635A1C4E7F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1C117CE-42F3-4EE2-9210-265200134494}" type="slidenum">
              <a:rPr lang="en-US" altLang="en-US" smtClean="0"/>
              <a:pPr>
                <a:spcBef>
                  <a:spcPct val="0"/>
                </a:spcBef>
              </a:pPr>
              <a:t>29</a:t>
            </a:fld>
            <a:endParaRPr lang="en-US" altLang="en-US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05DABA64-D186-4CA9-A0D3-9ACB00F686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38A867E9-5688-4C85-8C51-7E77235752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>
            <a:extLst>
              <a:ext uri="{FF2B5EF4-FFF2-40B4-BE49-F238E27FC236}">
                <a16:creationId xmlns:a16="http://schemas.microsoft.com/office/drawing/2014/main" id="{883EF193-4943-4729-B49A-5F18930730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B03923F-8830-40E5-9515-288C42BF860B}" type="slidenum">
              <a:rPr lang="en-US" altLang="en-US" smtClean="0"/>
              <a:pPr>
                <a:spcBef>
                  <a:spcPct val="0"/>
                </a:spcBef>
              </a:pPr>
              <a:t>30</a:t>
            </a:fld>
            <a:endParaRPr lang="en-US" altLang="en-US"/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D7E0BAA8-8C81-4387-8BAD-FC5D7FFE6B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48A87836-FFA9-4670-9F79-C7E32C5FFC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>
            <a:extLst>
              <a:ext uri="{FF2B5EF4-FFF2-40B4-BE49-F238E27FC236}">
                <a16:creationId xmlns:a16="http://schemas.microsoft.com/office/drawing/2014/main" id="{EB2501A6-21C6-49FF-8A23-4451C8F056C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ADB789F-1B28-4C6C-B6CD-B73EEEBDB5A4}" type="slidenum">
              <a:rPr lang="en-US" altLang="en-US" smtClean="0"/>
              <a:pPr>
                <a:spcBef>
                  <a:spcPct val="0"/>
                </a:spcBef>
              </a:pPr>
              <a:t>31</a:t>
            </a:fld>
            <a:endParaRPr lang="en-US" altLang="en-US"/>
          </a:p>
        </p:txBody>
      </p:sp>
      <p:sp>
        <p:nvSpPr>
          <p:cNvPr id="31747" name="Rectangle 2">
            <a:extLst>
              <a:ext uri="{FF2B5EF4-FFF2-40B4-BE49-F238E27FC236}">
                <a16:creationId xmlns:a16="http://schemas.microsoft.com/office/drawing/2014/main" id="{020002E8-CF06-4D4B-96F1-91C5DB2883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>
            <a:extLst>
              <a:ext uri="{FF2B5EF4-FFF2-40B4-BE49-F238E27FC236}">
                <a16:creationId xmlns:a16="http://schemas.microsoft.com/office/drawing/2014/main" id="{A1769132-EDD7-4970-9FEE-9C7A565BD1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Title Slide">
    <p:bg>
      <p:bgPr>
        <a:gradFill rotWithShape="0">
          <a:gsLst>
            <a:gs pos="0">
              <a:srgbClr val="03D4A8"/>
            </a:gs>
            <a:gs pos="25000">
              <a:srgbClr val="21D6E0"/>
            </a:gs>
            <a:gs pos="75000">
              <a:srgbClr val="0087E6"/>
            </a:gs>
            <a:gs pos="100000">
              <a:srgbClr val="005CB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113EA9-178C-4489-922E-F6FAF50276B9}"/>
              </a:ext>
            </a:extLst>
          </p:cNvPr>
          <p:cNvSpPr/>
          <p:nvPr userDrawn="1"/>
        </p:nvSpPr>
        <p:spPr>
          <a:xfrm>
            <a:off x="496133" y="300335"/>
            <a:ext cx="1313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44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Java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C2D8BB-CC46-422B-B9B7-695C3725ACE4}"/>
              </a:ext>
            </a:extLst>
          </p:cNvPr>
          <p:cNvSpPr/>
          <p:nvPr userDrawn="1"/>
        </p:nvSpPr>
        <p:spPr>
          <a:xfrm>
            <a:off x="478188" y="1224260"/>
            <a:ext cx="42443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Object Oriented Programming</a:t>
            </a:r>
          </a:p>
        </p:txBody>
      </p:sp>
    </p:spTree>
    <p:extLst>
      <p:ext uri="{BB962C8B-B14F-4D97-AF65-F5344CB8AC3E}">
        <p14:creationId xmlns:p14="http://schemas.microsoft.com/office/powerpoint/2010/main" val="754607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4071-794B-4701-A7DC-39C50A89B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24AC8-73D2-4AAD-9193-481E7E4AA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67884-52FD-48CD-AAE8-C43F57EE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E1F91A5-696C-4070-9C3C-613CEAE4D6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02979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9973BA-09F2-4966-A1FD-F7077096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F9F1F5-98A9-445C-BF66-7172C843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9603D7-1EAD-46DE-A6BE-DCAED6D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030EF13-7497-4CFD-9EB1-248DA4F854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46253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1630F-A09D-4EE7-93A3-A2B2B4818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5C01B6-64E4-4D59-8C09-A4B6D24DA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A19DD-0B36-4DA9-8BBE-65C6E5D6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128F8CC0-22B8-4BB4-BD05-2FA2C3E73A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6317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5">
            <a:extLst>
              <a:ext uri="{FF2B5EF4-FFF2-40B4-BE49-F238E27FC236}">
                <a16:creationId xmlns:a16="http://schemas.microsoft.com/office/drawing/2014/main" id="{97A36CA0-EC99-448B-ABF9-AC948CD337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73163" y="4572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26">
            <a:extLst>
              <a:ext uri="{FF2B5EF4-FFF2-40B4-BE49-F238E27FC236}">
                <a16:creationId xmlns:a16="http://schemas.microsoft.com/office/drawing/2014/main" id="{6C5CB5D8-089D-4CA0-B8E5-BD0FEBD01E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73163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75" name="Rectangle 27">
            <a:extLst>
              <a:ext uri="{FF2B5EF4-FFF2-40B4-BE49-F238E27FC236}">
                <a16:creationId xmlns:a16="http://schemas.microsoft.com/office/drawing/2014/main" id="{353BC887-0D79-4553-B463-99B0C75FD13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73163" y="6265863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6" name="Rectangle 28">
            <a:extLst>
              <a:ext uri="{FF2B5EF4-FFF2-40B4-BE49-F238E27FC236}">
                <a16:creationId xmlns:a16="http://schemas.microsoft.com/office/drawing/2014/main" id="{E4C00373-27A8-46C3-B716-4FE131D0CF0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814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7" name="Rectangle 29">
            <a:extLst>
              <a:ext uri="{FF2B5EF4-FFF2-40B4-BE49-F238E27FC236}">
                <a16:creationId xmlns:a16="http://schemas.microsoft.com/office/drawing/2014/main" id="{8F7AD570-5738-409B-9275-31BBF813129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62800" y="64897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50000"/>
              </a:spcBef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Lab 01</a:t>
            </a:r>
            <a:fld id="{99B86487-F13D-4A55-9790-54C5D96315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31" descr="javaVert">
            <a:extLst>
              <a:ext uri="{FF2B5EF4-FFF2-40B4-BE49-F238E27FC236}">
                <a16:creationId xmlns:a16="http://schemas.microsoft.com/office/drawing/2014/main" id="{FD7EF5FD-22D5-4013-80B0-299ED91C5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72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83" r:id="rId2"/>
    <p:sldLayoutId id="2147483884" r:id="rId3"/>
    <p:sldLayoutId id="2147483885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Monotype Sorts"/>
        <a:buChar char="l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3">
            <a:extLst>
              <a:ext uri="{FF2B5EF4-FFF2-40B4-BE49-F238E27FC236}">
                <a16:creationId xmlns:a16="http://schemas.microsoft.com/office/drawing/2014/main" id="{C4B6C3FD-E8C4-4BE9-A416-44A3967FA23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125750" y="2167890"/>
            <a:ext cx="7178357" cy="3569123"/>
          </a:xfrm>
        </p:spPr>
        <p:txBody>
          <a:bodyPr/>
          <a:lstStyle/>
          <a:p>
            <a:pPr marL="0" indent="0">
              <a:spcBef>
                <a:spcPct val="50000"/>
              </a:spcBef>
              <a:buSzPct val="100000"/>
              <a:buFont typeface="Monotype Sorts"/>
              <a:buNone/>
            </a:pP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A </a:t>
            </a:r>
            <a:r>
              <a:rPr lang="en-US" altLang="en-US" sz="4000" b="1" i="1" dirty="0">
                <a:latin typeface="Lucida Sans" panose="020B0602030504020204" pitchFamily="34" charset="0"/>
                <a:cs typeface="Times New Roman" panose="02020603050405020304" pitchFamily="18" charset="0"/>
              </a:rPr>
              <a:t>graph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 is a set of nodes (a.k.a. vertices) where some pairs are connected by links (a.k.a. edges).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146954-1A4C-4AC3-9AE7-9FE20AFEB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29" y="193187"/>
            <a:ext cx="5821251" cy="1143000"/>
          </a:xfrm>
        </p:spPr>
        <p:txBody>
          <a:bodyPr/>
          <a:lstStyle/>
          <a:p>
            <a:r>
              <a:rPr lang="en-US" sz="66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Graph Theory</a:t>
            </a:r>
            <a:endParaRPr lang="en-US" sz="6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2">
            <a:extLst>
              <a:ext uri="{FF2B5EF4-FFF2-40B4-BE49-F238E27FC236}">
                <a16:creationId xmlns:a16="http://schemas.microsoft.com/office/drawing/2014/main" id="{43740D95-5C2E-4E03-B0D8-24E4E49CDF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Undirected Graph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92" name="Rectangle 6">
            <a:extLst>
              <a:ext uri="{FF2B5EF4-FFF2-40B4-BE49-F238E27FC236}">
                <a16:creationId xmlns:a16="http://schemas.microsoft.com/office/drawing/2014/main" id="{BCD9759D-990E-46A7-9503-5B94AA574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438703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an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undirected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</p:txBody>
      </p:sp>
      <p:pic>
        <p:nvPicPr>
          <p:cNvPr id="12293" name="Picture 3">
            <a:extLst>
              <a:ext uri="{FF2B5EF4-FFF2-40B4-BE49-F238E27FC236}">
                <a16:creationId xmlns:a16="http://schemas.microsoft.com/office/drawing/2014/main" id="{D625C29B-4E6F-4416-BA62-CBE4B3F16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731" y="2994918"/>
            <a:ext cx="4305300" cy="268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274D2F-166F-2E45-18EE-4E4A7FCA19B9}"/>
              </a:ext>
            </a:extLst>
          </p:cNvPr>
          <p:cNvSpPr txBox="1"/>
          <p:nvPr/>
        </p:nvSpPr>
        <p:spPr>
          <a:xfrm>
            <a:off x="1259840" y="5834310"/>
            <a:ext cx="71983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en-US" sz="3200" dirty="0">
                <a:latin typeface="Abadi" panose="020B0604020104020204" pitchFamily="34" charset="0"/>
                <a:cs typeface="Aldhabi" panose="020F0502020204030204" pitchFamily="2" charset="-78"/>
              </a:rPr>
              <a:t>I.e. every edge is bi-directional.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>
            <a:extLst>
              <a:ext uri="{FF2B5EF4-FFF2-40B4-BE49-F238E27FC236}">
                <a16:creationId xmlns:a16="http://schemas.microsoft.com/office/drawing/2014/main" id="{03071706-63E5-4EF3-91F0-83A5985B6A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Directed Graph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388" name="Picture 2" descr="http://www.journyx.com/images/images/directed%20graph.png">
            <a:extLst>
              <a:ext uri="{FF2B5EF4-FFF2-40B4-BE49-F238E27FC236}">
                <a16:creationId xmlns:a16="http://schemas.microsoft.com/office/drawing/2014/main" id="{50599D1D-F190-412C-B478-16466C84D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1113" y="2908300"/>
            <a:ext cx="4286250" cy="266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6">
            <a:extLst>
              <a:ext uri="{FF2B5EF4-FFF2-40B4-BE49-F238E27FC236}">
                <a16:creationId xmlns:a16="http://schemas.microsoft.com/office/drawing/2014/main" id="{94B03FA6-B3B4-9F1A-9D0D-E13D4EE82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400" y="1430661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asymmetrically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3014" y="304198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8436" name="Picture 2" descr="http://www.journyx.com/images/images/directed%20graph.png">
            <a:extLst>
              <a:ext uri="{FF2B5EF4-FFF2-40B4-BE49-F238E27FC236}">
                <a16:creationId xmlns:a16="http://schemas.microsoft.com/office/drawing/2014/main" id="{3F8B650F-2F78-4FC6-907B-8008E8269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9400" y="3347509"/>
            <a:ext cx="3484563" cy="216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415B824-E4D0-4022-AECE-073194110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59405"/>
              </p:ext>
            </p:extLst>
          </p:nvPr>
        </p:nvGraphicFramePr>
        <p:xfrm>
          <a:off x="809413" y="2963333"/>
          <a:ext cx="4267200" cy="348043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Rectangle 7">
            <a:extLst>
              <a:ext uri="{FF2B5EF4-FFF2-40B4-BE49-F238E27FC236}">
                <a16:creationId xmlns:a16="http://schemas.microsoft.com/office/drawing/2014/main" id="{50E6B5C8-E77E-7C3C-1729-3AC6542D4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7281" y="1593214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The row labels are the sources, and </a:t>
            </a:r>
            <a:br>
              <a:rPr kumimoji="0" lang="en-US" altLang="en-US" dirty="0">
                <a:latin typeface="Abadi" panose="020B0604020104020204" pitchFamily="34" charset="0"/>
              </a:rPr>
            </a:br>
            <a:r>
              <a:rPr kumimoji="0" lang="en-US" altLang="en-US" dirty="0">
                <a:latin typeface="Abadi" panose="020B0604020104020204" pitchFamily="34" charset="0"/>
              </a:rPr>
              <a:t>the column headers are the destinations.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sz="40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341" name="Picture 3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5826" y="2493377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337488"/>
              </p:ext>
            </p:extLst>
          </p:nvPr>
        </p:nvGraphicFramePr>
        <p:xfrm>
          <a:off x="864024" y="1933257"/>
          <a:ext cx="4267200" cy="348043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341" name="Picture 3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3568324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724979"/>
              </p:ext>
            </p:extLst>
          </p:nvPr>
        </p:nvGraphicFramePr>
        <p:xfrm>
          <a:off x="4388169" y="3039846"/>
          <a:ext cx="4267200" cy="348043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Rectangle 7">
            <a:extLst>
              <a:ext uri="{FF2B5EF4-FFF2-40B4-BE49-F238E27FC236}">
                <a16:creationId xmlns:a16="http://schemas.microsoft.com/office/drawing/2014/main" id="{62B20E7C-7490-2A0A-78E4-E7F3A9638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828" y="1563687"/>
            <a:ext cx="73914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3600" dirty="0">
                <a:solidFill>
                  <a:srgbClr val="2C5C80"/>
                </a:solidFill>
                <a:latin typeface="Abadi" panose="020B0604020104020204" pitchFamily="34" charset="0"/>
              </a:rPr>
              <a:t>An undirected graph’s matrix will be symmetric about the major diagonal.</a:t>
            </a:r>
          </a:p>
        </p:txBody>
      </p:sp>
    </p:spTree>
    <p:extLst>
      <p:ext uri="{BB962C8B-B14F-4D97-AF65-F5344CB8AC3E}">
        <p14:creationId xmlns:p14="http://schemas.microsoft.com/office/powerpoint/2010/main" val="60254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2">
            <a:extLst>
              <a:ext uri="{FF2B5EF4-FFF2-40B4-BE49-F238E27FC236}">
                <a16:creationId xmlns:a16="http://schemas.microsoft.com/office/drawing/2014/main" id="{04CC0DD7-EC72-4318-B200-88EEC7DFF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Weighted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2772" name="Rectangle 7">
            <a:extLst>
              <a:ext uri="{FF2B5EF4-FFF2-40B4-BE49-F238E27FC236}">
                <a16:creationId xmlns:a16="http://schemas.microsoft.com/office/drawing/2014/main" id="{19D92B2F-FA0C-4D0B-8D45-CF2E6A245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734" y="1357418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A weighted graph associates a value (weight) with every </a:t>
            </a:r>
            <a:r>
              <a:rPr kumimoji="0" lang="en-US" altLang="en-US" u="sng" dirty="0">
                <a:latin typeface="Abadi" panose="020B0604020104020204" pitchFamily="34" charset="0"/>
              </a:rPr>
              <a:t>edge</a:t>
            </a:r>
            <a:r>
              <a:rPr kumimoji="0" lang="en-US" altLang="en-US" dirty="0">
                <a:latin typeface="Abadi" panose="020B0604020104020204" pitchFamily="34" charset="0"/>
              </a:rPr>
              <a:t> in the graph.</a:t>
            </a:r>
          </a:p>
        </p:txBody>
      </p:sp>
      <p:pic>
        <p:nvPicPr>
          <p:cNvPr id="2050" name="Picture 2" descr="See the source image">
            <a:extLst>
              <a:ext uri="{FF2B5EF4-FFF2-40B4-BE49-F238E27FC236}">
                <a16:creationId xmlns:a16="http://schemas.microsoft.com/office/drawing/2014/main" id="{1156F688-016E-40E1-BFA5-EFB52E4E6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4360" y="2832901"/>
            <a:ext cx="5796279" cy="3962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 Weighted Graph</a:t>
            </a:r>
            <a:endParaRPr lang="en-US" altLang="en-US" sz="36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2" descr="See the source image">
            <a:extLst>
              <a:ext uri="{FF2B5EF4-FFF2-40B4-BE49-F238E27FC236}">
                <a16:creationId xmlns:a16="http://schemas.microsoft.com/office/drawing/2014/main" id="{0BB0CF8C-BC6D-4EC2-BB87-343667782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854995"/>
            <a:ext cx="5214887" cy="3564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2A837B-CE03-4B31-A89E-4E2349C14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496859"/>
              </p:ext>
            </p:extLst>
          </p:nvPr>
        </p:nvGraphicFramePr>
        <p:xfrm>
          <a:off x="3922398" y="3312012"/>
          <a:ext cx="5214888" cy="3545990"/>
        </p:xfrm>
        <a:graphic>
          <a:graphicData uri="http://schemas.openxmlformats.org/drawingml/2006/table">
            <a:tbl>
              <a:tblPr/>
              <a:tblGrid>
                <a:gridCol w="744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7.5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2.1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5.8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-5.0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578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950495" y="457200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loops or multiple edges between nodes</a:t>
            </a:r>
            <a:endParaRPr lang="en-US" sz="2800" dirty="0"/>
          </a:p>
        </p:txBody>
      </p:sp>
      <p:pic>
        <p:nvPicPr>
          <p:cNvPr id="3074" name="Picture 2" descr="SimpleGraph">
            <a:extLst>
              <a:ext uri="{FF2B5EF4-FFF2-40B4-BE49-F238E27FC236}">
                <a16:creationId xmlns:a16="http://schemas.microsoft.com/office/drawing/2014/main" id="{21B1DC57-7F56-40BD-9CC8-BD29F2392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209800"/>
            <a:ext cx="7772400" cy="27433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7">
            <a:extLst>
              <a:ext uri="{FF2B5EF4-FFF2-40B4-BE49-F238E27FC236}">
                <a16:creationId xmlns:a16="http://schemas.microsoft.com/office/drawing/2014/main" id="{4C1DC08E-ADF4-F629-A845-B2FBBFEC29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99" y="4114165"/>
            <a:ext cx="8098367" cy="1077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  Simple	       multigraph  	 multigraph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 </a:t>
            </a:r>
            <a:r>
              <a:rPr kumimoji="0" lang="en-US" altLang="en-US" sz="2400" dirty="0">
                <a:latin typeface="Abadi" panose="020B0604020104020204" pitchFamily="34" charset="0"/>
              </a:rPr>
              <a:t> </a:t>
            </a:r>
            <a:r>
              <a:rPr kumimoji="0" lang="en-US" altLang="en-US" dirty="0">
                <a:latin typeface="Abadi" panose="020B0604020104020204" pitchFamily="34" charset="0"/>
              </a:rPr>
              <a:t> graph   </a:t>
            </a:r>
            <a:r>
              <a:rPr kumimoji="0" lang="en-US" altLang="en-US" sz="900" dirty="0">
                <a:latin typeface="Abadi" panose="020B0604020104020204" pitchFamily="34" charset="0"/>
              </a:rPr>
              <a:t> </a:t>
            </a:r>
            <a:r>
              <a:rPr kumimoji="0" lang="en-US" altLang="en-US" dirty="0">
                <a:latin typeface="Abadi" panose="020B0604020104020204" pitchFamily="34" charset="0"/>
              </a:rPr>
              <a:t> </a:t>
            </a:r>
            <a:r>
              <a:rPr kumimoji="0" lang="en-US" altLang="en-US" sz="1200" dirty="0">
                <a:latin typeface="Abadi" panose="020B0604020104020204" pitchFamily="34" charset="0"/>
              </a:rPr>
              <a:t> </a:t>
            </a:r>
            <a:r>
              <a:rPr kumimoji="0" lang="en-US" altLang="en-US" dirty="0">
                <a:latin typeface="Abadi" panose="020B0604020104020204" pitchFamily="34" charset="0"/>
              </a:rPr>
              <a:t>   w/multiple edges   </a:t>
            </a:r>
            <a:r>
              <a:rPr kumimoji="0" lang="en-US" altLang="en-US" sz="1400" dirty="0">
                <a:latin typeface="Abadi" panose="020B0604020104020204" pitchFamily="34" charset="0"/>
              </a:rPr>
              <a:t> </a:t>
            </a:r>
            <a:r>
              <a:rPr kumimoji="0" lang="en-US" altLang="en-US" dirty="0">
                <a:latin typeface="Abadi" panose="020B0604020104020204" pitchFamily="34" charset="0"/>
              </a:rPr>
              <a:t>with loops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2307CE-2E57-2A84-5BEB-36BE1944458A}"/>
              </a:ext>
            </a:extLst>
          </p:cNvPr>
          <p:cNvSpPr/>
          <p:nvPr/>
        </p:nvSpPr>
        <p:spPr bwMode="auto">
          <a:xfrm>
            <a:off x="3833707" y="2234878"/>
            <a:ext cx="860213" cy="284802"/>
          </a:xfrm>
          <a:custGeom>
            <a:avLst/>
            <a:gdLst>
              <a:gd name="connsiteX0" fmla="*/ 0 w 860213"/>
              <a:gd name="connsiteY0" fmla="*/ 284802 h 284802"/>
              <a:gd name="connsiteX1" fmla="*/ 94826 w 860213"/>
              <a:gd name="connsiteY1" fmla="*/ 189975 h 284802"/>
              <a:gd name="connsiteX2" fmla="*/ 155786 w 860213"/>
              <a:gd name="connsiteY2" fmla="*/ 129015 h 284802"/>
              <a:gd name="connsiteX3" fmla="*/ 257386 w 860213"/>
              <a:gd name="connsiteY3" fmla="*/ 68055 h 284802"/>
              <a:gd name="connsiteX4" fmla="*/ 345440 w 860213"/>
              <a:gd name="connsiteY4" fmla="*/ 27415 h 284802"/>
              <a:gd name="connsiteX5" fmla="*/ 467360 w 860213"/>
              <a:gd name="connsiteY5" fmla="*/ 322 h 284802"/>
              <a:gd name="connsiteX6" fmla="*/ 636693 w 860213"/>
              <a:gd name="connsiteY6" fmla="*/ 13869 h 284802"/>
              <a:gd name="connsiteX7" fmla="*/ 738293 w 860213"/>
              <a:gd name="connsiteY7" fmla="*/ 34189 h 284802"/>
              <a:gd name="connsiteX8" fmla="*/ 860213 w 860213"/>
              <a:gd name="connsiteY8" fmla="*/ 81602 h 284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60213" h="284802">
                <a:moveTo>
                  <a:pt x="0" y="284802"/>
                </a:moveTo>
                <a:lnTo>
                  <a:pt x="94826" y="189975"/>
                </a:lnTo>
                <a:cubicBezTo>
                  <a:pt x="120790" y="164010"/>
                  <a:pt x="128693" y="149335"/>
                  <a:pt x="155786" y="129015"/>
                </a:cubicBezTo>
                <a:cubicBezTo>
                  <a:pt x="182879" y="108695"/>
                  <a:pt x="225777" y="84988"/>
                  <a:pt x="257386" y="68055"/>
                </a:cubicBezTo>
                <a:cubicBezTo>
                  <a:pt x="288995" y="51122"/>
                  <a:pt x="310444" y="38704"/>
                  <a:pt x="345440" y="27415"/>
                </a:cubicBezTo>
                <a:cubicBezTo>
                  <a:pt x="380436" y="16126"/>
                  <a:pt x="418818" y="2580"/>
                  <a:pt x="467360" y="322"/>
                </a:cubicBezTo>
                <a:cubicBezTo>
                  <a:pt x="515902" y="-1936"/>
                  <a:pt x="591538" y="8224"/>
                  <a:pt x="636693" y="13869"/>
                </a:cubicBezTo>
                <a:cubicBezTo>
                  <a:pt x="681849" y="19513"/>
                  <a:pt x="701040" y="22900"/>
                  <a:pt x="738293" y="34189"/>
                </a:cubicBezTo>
                <a:cubicBezTo>
                  <a:pt x="775546" y="45478"/>
                  <a:pt x="817879" y="63540"/>
                  <a:pt x="860213" y="81602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472F16-1F27-9CFD-7212-AB06586C7480}"/>
              </a:ext>
            </a:extLst>
          </p:cNvPr>
          <p:cNvCxnSpPr/>
          <p:nvPr/>
        </p:nvCxnSpPr>
        <p:spPr bwMode="auto">
          <a:xfrm flipV="1">
            <a:off x="3881120" y="2377440"/>
            <a:ext cx="812800" cy="20320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470093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multiple links between a pair of vertices. Nor does it have loops.</a:t>
            </a:r>
            <a:endParaRPr lang="en-US" sz="28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24143F3-05D2-B3D3-F46E-1CD6E50F729B}"/>
              </a:ext>
            </a:extLst>
          </p:cNvPr>
          <p:cNvGrpSpPr/>
          <p:nvPr/>
        </p:nvGrpSpPr>
        <p:grpSpPr>
          <a:xfrm>
            <a:off x="2112487" y="1664743"/>
            <a:ext cx="5228653" cy="4203972"/>
            <a:chOff x="2067339" y="1765689"/>
            <a:chExt cx="5228653" cy="420397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F0D250E-36B3-0901-A214-86F77CCD8098}"/>
                </a:ext>
              </a:extLst>
            </p:cNvPr>
            <p:cNvSpPr/>
            <p:nvPr/>
          </p:nvSpPr>
          <p:spPr bwMode="auto">
            <a:xfrm>
              <a:off x="2067339" y="1769165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5A00DC-99A9-FE84-8649-95A8B4881D44}"/>
                </a:ext>
              </a:extLst>
            </p:cNvPr>
            <p:cNvSpPr/>
            <p:nvPr/>
          </p:nvSpPr>
          <p:spPr bwMode="auto">
            <a:xfrm>
              <a:off x="4209558" y="176742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7F42D8A-5CD7-21B7-C1F5-1FF240FA229A}"/>
                </a:ext>
              </a:extLst>
            </p:cNvPr>
            <p:cNvSpPr/>
            <p:nvPr/>
          </p:nvSpPr>
          <p:spPr bwMode="auto">
            <a:xfrm>
              <a:off x="6461106" y="176568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2EE3F24-07B7-67DA-17E5-161B34F233FB}"/>
                </a:ext>
              </a:extLst>
            </p:cNvPr>
            <p:cNvSpPr/>
            <p:nvPr/>
          </p:nvSpPr>
          <p:spPr bwMode="auto">
            <a:xfrm>
              <a:off x="2067339" y="345021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10E303E-05E5-ABFC-873B-8659645421FF}"/>
                </a:ext>
              </a:extLst>
            </p:cNvPr>
            <p:cNvSpPr/>
            <p:nvPr/>
          </p:nvSpPr>
          <p:spPr bwMode="auto">
            <a:xfrm>
              <a:off x="2067339" y="5131273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A9957FD-B03B-68BC-C364-75BF87D05AF3}"/>
                </a:ext>
              </a:extLst>
            </p:cNvPr>
            <p:cNvSpPr/>
            <p:nvPr/>
          </p:nvSpPr>
          <p:spPr bwMode="auto">
            <a:xfrm>
              <a:off x="4219496" y="345061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8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77416E7-BEEC-A3B3-B406-8370ACE8B32B}"/>
                </a:ext>
              </a:extLst>
            </p:cNvPr>
            <p:cNvSpPr/>
            <p:nvPr/>
          </p:nvSpPr>
          <p:spPr bwMode="auto">
            <a:xfrm>
              <a:off x="4219100" y="5154652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9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687EE45-66BA-E847-913A-A5ABD1DF5324}"/>
                </a:ext>
              </a:extLst>
            </p:cNvPr>
            <p:cNvSpPr/>
            <p:nvPr/>
          </p:nvSpPr>
          <p:spPr bwMode="auto">
            <a:xfrm>
              <a:off x="6480983" y="5154651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10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1C7321-C1EE-1F5D-F241-33FA66775D4A}"/>
                </a:ext>
              </a:extLst>
            </p:cNvPr>
            <p:cNvCxnSpPr>
              <a:stCxn id="2" idx="4"/>
              <a:endCxn id="7" idx="0"/>
            </p:cNvCxnSpPr>
            <p:nvPr/>
          </p:nvCxnSpPr>
          <p:spPr bwMode="auto">
            <a:xfrm>
              <a:off x="2474844" y="2584174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838C2EA-0933-D534-5EF4-E6BF331FEBD7}"/>
                </a:ext>
              </a:extLst>
            </p:cNvPr>
            <p:cNvCxnSpPr>
              <a:stCxn id="5" idx="3"/>
              <a:endCxn id="7" idx="7"/>
            </p:cNvCxnSpPr>
            <p:nvPr/>
          </p:nvCxnSpPr>
          <p:spPr bwMode="auto">
            <a:xfrm flipH="1">
              <a:off x="2762993" y="2463081"/>
              <a:ext cx="1565920" cy="110649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EEEFF4C-DF52-7514-25E5-32FF23D799A1}"/>
                </a:ext>
              </a:extLst>
            </p:cNvPr>
            <p:cNvCxnSpPr>
              <a:cxnSpLocks/>
              <a:stCxn id="5" idx="4"/>
              <a:endCxn id="9" idx="0"/>
            </p:cNvCxnSpPr>
            <p:nvPr/>
          </p:nvCxnSpPr>
          <p:spPr bwMode="auto">
            <a:xfrm>
              <a:off x="4617063" y="2582436"/>
              <a:ext cx="9938" cy="868181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35BAF8-A174-BFB4-1C3D-824922173C0E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474844" y="4265228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C6B2309-C976-5701-4806-FCFFC051E24F}"/>
                </a:ext>
              </a:extLst>
            </p:cNvPr>
            <p:cNvCxnSpPr>
              <a:stCxn id="7" idx="5"/>
              <a:endCxn id="10" idx="1"/>
            </p:cNvCxnSpPr>
            <p:nvPr/>
          </p:nvCxnSpPr>
          <p:spPr bwMode="auto">
            <a:xfrm>
              <a:off x="2762993" y="4145873"/>
              <a:ext cx="1575462" cy="112813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980631-7DDF-D81C-D9CE-FA50C04F720F}"/>
                </a:ext>
              </a:extLst>
            </p:cNvPr>
            <p:cNvCxnSpPr>
              <a:endCxn id="10" idx="0"/>
            </p:cNvCxnSpPr>
            <p:nvPr/>
          </p:nvCxnSpPr>
          <p:spPr bwMode="auto">
            <a:xfrm>
              <a:off x="4617062" y="4273800"/>
              <a:ext cx="9543" cy="880852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AE1CE91-5701-F638-0933-EF64F580C78F}"/>
                </a:ext>
              </a:extLst>
            </p:cNvPr>
            <p:cNvCxnSpPr>
              <a:stCxn id="6" idx="3"/>
              <a:endCxn id="9" idx="7"/>
            </p:cNvCxnSpPr>
            <p:nvPr/>
          </p:nvCxnSpPr>
          <p:spPr bwMode="auto">
            <a:xfrm flipH="1">
              <a:off x="4915150" y="2461343"/>
              <a:ext cx="1665311" cy="1108629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9A20C33-3FEF-E13D-C334-3A7714A9F077}"/>
                </a:ext>
              </a:extLst>
            </p:cNvPr>
            <p:cNvCxnSpPr>
              <a:stCxn id="6" idx="4"/>
              <a:endCxn id="11" idx="0"/>
            </p:cNvCxnSpPr>
            <p:nvPr/>
          </p:nvCxnSpPr>
          <p:spPr bwMode="auto">
            <a:xfrm>
              <a:off x="6868611" y="2580698"/>
              <a:ext cx="19877" cy="257395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4400A-03B8-BA27-9E8F-F8C97DF855F2}"/>
                </a:ext>
              </a:extLst>
            </p:cNvPr>
            <p:cNvCxnSpPr>
              <a:stCxn id="7" idx="5"/>
              <a:endCxn id="11" idx="1"/>
            </p:cNvCxnSpPr>
            <p:nvPr/>
          </p:nvCxnSpPr>
          <p:spPr bwMode="auto">
            <a:xfrm>
              <a:off x="2762993" y="4145873"/>
              <a:ext cx="3837345" cy="112813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1682041" y="6046958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82804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 undirected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has multiple links between a pair of vertices. </a:t>
            </a:r>
            <a:endParaRPr lang="en-US" sz="28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1682041" y="6046958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8CA5A26-F4F7-726E-4324-900ECA700DBD}"/>
              </a:ext>
            </a:extLst>
          </p:cNvPr>
          <p:cNvGrpSpPr/>
          <p:nvPr/>
        </p:nvGrpSpPr>
        <p:grpSpPr>
          <a:xfrm>
            <a:off x="2112487" y="1664743"/>
            <a:ext cx="5228653" cy="4203972"/>
            <a:chOff x="2112487" y="1664743"/>
            <a:chExt cx="5228653" cy="420397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F0D250E-36B3-0901-A214-86F77CCD8098}"/>
                </a:ext>
              </a:extLst>
            </p:cNvPr>
            <p:cNvSpPr/>
            <p:nvPr/>
          </p:nvSpPr>
          <p:spPr bwMode="auto">
            <a:xfrm>
              <a:off x="2112487" y="166821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5A00DC-99A9-FE84-8649-95A8B4881D44}"/>
                </a:ext>
              </a:extLst>
            </p:cNvPr>
            <p:cNvSpPr/>
            <p:nvPr/>
          </p:nvSpPr>
          <p:spPr bwMode="auto">
            <a:xfrm>
              <a:off x="4254706" y="1666481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7F42D8A-5CD7-21B7-C1F5-1FF240FA229A}"/>
                </a:ext>
              </a:extLst>
            </p:cNvPr>
            <p:cNvSpPr/>
            <p:nvPr/>
          </p:nvSpPr>
          <p:spPr bwMode="auto">
            <a:xfrm>
              <a:off x="6506254" y="1664743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2EE3F24-07B7-67DA-17E5-161B34F233FB}"/>
                </a:ext>
              </a:extLst>
            </p:cNvPr>
            <p:cNvSpPr/>
            <p:nvPr/>
          </p:nvSpPr>
          <p:spPr bwMode="auto">
            <a:xfrm>
              <a:off x="2112487" y="3349273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10E303E-05E5-ABFC-873B-8659645421FF}"/>
                </a:ext>
              </a:extLst>
            </p:cNvPr>
            <p:cNvSpPr/>
            <p:nvPr/>
          </p:nvSpPr>
          <p:spPr bwMode="auto">
            <a:xfrm>
              <a:off x="2112487" y="503032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A9957FD-B03B-68BC-C364-75BF87D05AF3}"/>
                </a:ext>
              </a:extLst>
            </p:cNvPr>
            <p:cNvSpPr/>
            <p:nvPr/>
          </p:nvSpPr>
          <p:spPr bwMode="auto">
            <a:xfrm>
              <a:off x="4264644" y="3349671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8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77416E7-BEEC-A3B3-B406-8370ACE8B32B}"/>
                </a:ext>
              </a:extLst>
            </p:cNvPr>
            <p:cNvSpPr/>
            <p:nvPr/>
          </p:nvSpPr>
          <p:spPr bwMode="auto">
            <a:xfrm>
              <a:off x="4264248" y="5053706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9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687EE45-66BA-E847-913A-A5ABD1DF5324}"/>
                </a:ext>
              </a:extLst>
            </p:cNvPr>
            <p:cNvSpPr/>
            <p:nvPr/>
          </p:nvSpPr>
          <p:spPr bwMode="auto">
            <a:xfrm>
              <a:off x="6526131" y="5053705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10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1C7321-C1EE-1F5D-F241-33FA66775D4A}"/>
                </a:ext>
              </a:extLst>
            </p:cNvPr>
            <p:cNvCxnSpPr>
              <a:stCxn id="2" idx="4"/>
              <a:endCxn id="7" idx="0"/>
            </p:cNvCxnSpPr>
            <p:nvPr/>
          </p:nvCxnSpPr>
          <p:spPr bwMode="auto">
            <a:xfrm>
              <a:off x="2519992" y="2483228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838C2EA-0933-D534-5EF4-E6BF331FEBD7}"/>
                </a:ext>
              </a:extLst>
            </p:cNvPr>
            <p:cNvCxnSpPr>
              <a:stCxn id="5" idx="3"/>
              <a:endCxn id="7" idx="7"/>
            </p:cNvCxnSpPr>
            <p:nvPr/>
          </p:nvCxnSpPr>
          <p:spPr bwMode="auto">
            <a:xfrm flipH="1">
              <a:off x="2808141" y="2362135"/>
              <a:ext cx="1565920" cy="110649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EEEFF4C-DF52-7514-25E5-32FF23D799A1}"/>
                </a:ext>
              </a:extLst>
            </p:cNvPr>
            <p:cNvCxnSpPr>
              <a:cxnSpLocks/>
              <a:stCxn id="5" idx="4"/>
              <a:endCxn id="9" idx="0"/>
            </p:cNvCxnSpPr>
            <p:nvPr/>
          </p:nvCxnSpPr>
          <p:spPr bwMode="auto">
            <a:xfrm>
              <a:off x="4662211" y="2481490"/>
              <a:ext cx="9938" cy="868181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35BAF8-A174-BFB4-1C3D-824922173C0E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519992" y="4164282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C6B2309-C976-5701-4806-FCFFC051E24F}"/>
                </a:ext>
              </a:extLst>
            </p:cNvPr>
            <p:cNvCxnSpPr>
              <a:stCxn id="7" idx="5"/>
              <a:endCxn id="10" idx="1"/>
            </p:cNvCxnSpPr>
            <p:nvPr/>
          </p:nvCxnSpPr>
          <p:spPr bwMode="auto">
            <a:xfrm>
              <a:off x="2808141" y="4044927"/>
              <a:ext cx="1575462" cy="112813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980631-7DDF-D81C-D9CE-FA50C04F720F}"/>
                </a:ext>
              </a:extLst>
            </p:cNvPr>
            <p:cNvCxnSpPr>
              <a:endCxn id="10" idx="0"/>
            </p:cNvCxnSpPr>
            <p:nvPr/>
          </p:nvCxnSpPr>
          <p:spPr bwMode="auto">
            <a:xfrm>
              <a:off x="4662210" y="4172854"/>
              <a:ext cx="9543" cy="880852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AE1CE91-5701-F638-0933-EF64F580C78F}"/>
                </a:ext>
              </a:extLst>
            </p:cNvPr>
            <p:cNvCxnSpPr>
              <a:stCxn id="6" idx="3"/>
              <a:endCxn id="9" idx="7"/>
            </p:cNvCxnSpPr>
            <p:nvPr/>
          </p:nvCxnSpPr>
          <p:spPr bwMode="auto">
            <a:xfrm flipH="1">
              <a:off x="4960298" y="2360397"/>
              <a:ext cx="1665311" cy="1108629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9A20C33-3FEF-E13D-C334-3A7714A9F077}"/>
                </a:ext>
              </a:extLst>
            </p:cNvPr>
            <p:cNvCxnSpPr>
              <a:stCxn id="6" idx="4"/>
              <a:endCxn id="11" idx="0"/>
            </p:cNvCxnSpPr>
            <p:nvPr/>
          </p:nvCxnSpPr>
          <p:spPr bwMode="auto">
            <a:xfrm>
              <a:off x="6913759" y="2479752"/>
              <a:ext cx="19877" cy="257395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4400A-03B8-BA27-9E8F-F8C97DF855F2}"/>
                </a:ext>
              </a:extLst>
            </p:cNvPr>
            <p:cNvCxnSpPr>
              <a:stCxn id="7" idx="5"/>
              <a:endCxn id="11" idx="1"/>
            </p:cNvCxnSpPr>
            <p:nvPr/>
          </p:nvCxnSpPr>
          <p:spPr bwMode="auto">
            <a:xfrm>
              <a:off x="2808141" y="4044927"/>
              <a:ext cx="3837345" cy="112813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A5514A-34AF-AA0F-3169-C6ADA4645EEA}"/>
                </a:ext>
              </a:extLst>
            </p:cNvPr>
            <p:cNvSpPr/>
            <p:nvPr/>
          </p:nvSpPr>
          <p:spPr bwMode="auto">
            <a:xfrm>
              <a:off x="6987209" y="2484783"/>
              <a:ext cx="89526" cy="2568922"/>
            </a:xfrm>
            <a:custGeom>
              <a:avLst/>
              <a:gdLst>
                <a:gd name="connsiteX0" fmla="*/ 0 w 89526"/>
                <a:gd name="connsiteY0" fmla="*/ 0 h 2604052"/>
                <a:gd name="connsiteX1" fmla="*/ 49695 w 89526"/>
                <a:gd name="connsiteY1" fmla="*/ 457200 h 2604052"/>
                <a:gd name="connsiteX2" fmla="*/ 89452 w 89526"/>
                <a:gd name="connsiteY2" fmla="*/ 1321904 h 2604052"/>
                <a:gd name="connsiteX3" fmla="*/ 39756 w 89526"/>
                <a:gd name="connsiteY3" fmla="*/ 2196547 h 2604052"/>
                <a:gd name="connsiteX4" fmla="*/ 0 w 89526"/>
                <a:gd name="connsiteY4" fmla="*/ 2604052 h 2604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526" h="2604052">
                  <a:moveTo>
                    <a:pt x="0" y="0"/>
                  </a:moveTo>
                  <a:cubicBezTo>
                    <a:pt x="17393" y="118441"/>
                    <a:pt x="34786" y="236883"/>
                    <a:pt x="49695" y="457200"/>
                  </a:cubicBezTo>
                  <a:cubicBezTo>
                    <a:pt x="64604" y="677517"/>
                    <a:pt x="91108" y="1032013"/>
                    <a:pt x="89452" y="1321904"/>
                  </a:cubicBezTo>
                  <a:cubicBezTo>
                    <a:pt x="87796" y="1611795"/>
                    <a:pt x="54665" y="1982856"/>
                    <a:pt x="39756" y="2196547"/>
                  </a:cubicBezTo>
                  <a:cubicBezTo>
                    <a:pt x="24847" y="2410238"/>
                    <a:pt x="12423" y="2507145"/>
                    <a:pt x="0" y="2604052"/>
                  </a:cubicBezTo>
                </a:path>
              </a:pathLst>
            </a:custGeom>
            <a:noFill/>
            <a:ln w="1905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C130F3C-A8B0-4537-33EA-2220CEBFA4F7}"/>
              </a:ext>
            </a:extLst>
          </p:cNvPr>
          <p:cNvSpPr txBox="1"/>
          <p:nvPr/>
        </p:nvSpPr>
        <p:spPr>
          <a:xfrm>
            <a:off x="825122" y="108093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Nor does it have loops.</a:t>
            </a:r>
            <a:endParaRPr lang="en-US" sz="28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3697EE1-83D9-16B1-0ACE-88C2869915E0}"/>
              </a:ext>
            </a:extLst>
          </p:cNvPr>
          <p:cNvSpPr/>
          <p:nvPr/>
        </p:nvSpPr>
        <p:spPr bwMode="auto">
          <a:xfrm rot="796684">
            <a:off x="1557391" y="3152184"/>
            <a:ext cx="725540" cy="473993"/>
          </a:xfrm>
          <a:custGeom>
            <a:avLst/>
            <a:gdLst>
              <a:gd name="connsiteX0" fmla="*/ 520731 w 520731"/>
              <a:gd name="connsiteY0" fmla="*/ 229217 h 582839"/>
              <a:gd name="connsiteX1" fmla="*/ 461096 w 520731"/>
              <a:gd name="connsiteY1" fmla="*/ 80130 h 582839"/>
              <a:gd name="connsiteX2" fmla="*/ 252374 w 520731"/>
              <a:gd name="connsiteY2" fmla="*/ 617 h 582839"/>
              <a:gd name="connsiteX3" fmla="*/ 53592 w 520731"/>
              <a:gd name="connsiteY3" fmla="*/ 119886 h 582839"/>
              <a:gd name="connsiteX4" fmla="*/ 3896 w 520731"/>
              <a:gd name="connsiteY4" fmla="*/ 358425 h 582839"/>
              <a:gd name="connsiteX5" fmla="*/ 133105 w 520731"/>
              <a:gd name="connsiteY5" fmla="*/ 557208 h 582839"/>
              <a:gd name="connsiteX6" fmla="*/ 361705 w 520731"/>
              <a:gd name="connsiteY6" fmla="*/ 577086 h 582839"/>
              <a:gd name="connsiteX7" fmla="*/ 441218 w 520731"/>
              <a:gd name="connsiteY7" fmla="*/ 527391 h 582839"/>
              <a:gd name="connsiteX8" fmla="*/ 451157 w 520731"/>
              <a:gd name="connsiteY8" fmla="*/ 527391 h 582839"/>
              <a:gd name="connsiteX9" fmla="*/ 451157 w 520731"/>
              <a:gd name="connsiteY9" fmla="*/ 527391 h 582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0731" h="582839">
                <a:moveTo>
                  <a:pt x="520731" y="229217"/>
                </a:moveTo>
                <a:cubicBezTo>
                  <a:pt x="513276" y="173723"/>
                  <a:pt x="505822" y="118230"/>
                  <a:pt x="461096" y="80130"/>
                </a:cubicBezTo>
                <a:cubicBezTo>
                  <a:pt x="416370" y="42030"/>
                  <a:pt x="320291" y="-6009"/>
                  <a:pt x="252374" y="617"/>
                </a:cubicBezTo>
                <a:cubicBezTo>
                  <a:pt x="184457" y="7243"/>
                  <a:pt x="95005" y="60251"/>
                  <a:pt x="53592" y="119886"/>
                </a:cubicBezTo>
                <a:cubicBezTo>
                  <a:pt x="12179" y="179521"/>
                  <a:pt x="-9356" y="285538"/>
                  <a:pt x="3896" y="358425"/>
                </a:cubicBezTo>
                <a:cubicBezTo>
                  <a:pt x="17148" y="431312"/>
                  <a:pt x="73470" y="520765"/>
                  <a:pt x="133105" y="557208"/>
                </a:cubicBezTo>
                <a:cubicBezTo>
                  <a:pt x="192740" y="593651"/>
                  <a:pt x="310353" y="582056"/>
                  <a:pt x="361705" y="577086"/>
                </a:cubicBezTo>
                <a:cubicBezTo>
                  <a:pt x="413057" y="572117"/>
                  <a:pt x="441218" y="527391"/>
                  <a:pt x="441218" y="527391"/>
                </a:cubicBezTo>
                <a:cubicBezTo>
                  <a:pt x="456127" y="519109"/>
                  <a:pt x="451157" y="527391"/>
                  <a:pt x="451157" y="527391"/>
                </a:cubicBezTo>
                <a:lnTo>
                  <a:pt x="451157" y="527391"/>
                </a:lnTo>
              </a:path>
            </a:pathLst>
          </a:cu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8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355035" y="231254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multiple arrows </a:t>
            </a:r>
            <a:r>
              <a:rPr lang="en-US" sz="28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with same source and target nodes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0EEA521-3B18-2ED9-4BC8-85BC89CFE29A}"/>
              </a:ext>
            </a:extLst>
          </p:cNvPr>
          <p:cNvGrpSpPr/>
          <p:nvPr/>
        </p:nvGrpSpPr>
        <p:grpSpPr>
          <a:xfrm>
            <a:off x="1937174" y="1448043"/>
            <a:ext cx="5498924" cy="4419600"/>
            <a:chOff x="1937174" y="1448043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448043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>
              <a:off x="6980922" y="2352386"/>
              <a:ext cx="253855" cy="2530699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008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rgbClr val="008000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709BF73-6175-2CC1-2A3C-99FCD22CD1B7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2116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295400" y="274785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multiple arrows with same source and target nodes.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BAC3EEB-8AF5-4050-F6B1-37E95A5C0E7C}"/>
              </a:ext>
            </a:extLst>
          </p:cNvPr>
          <p:cNvGrpSpPr/>
          <p:nvPr/>
        </p:nvGrpSpPr>
        <p:grpSpPr>
          <a:xfrm>
            <a:off x="1937174" y="1449115"/>
            <a:ext cx="5498924" cy="4419600"/>
            <a:chOff x="1937174" y="1548507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548507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 flipV="1">
              <a:off x="7041881" y="2355573"/>
              <a:ext cx="253855" cy="2638293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7F0055A-1BFF-AD4D-591F-CA0DC05B5665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229243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89AB2FCB-E8C4-47BD-8B74-8414457BA7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7" t="12223" r="4167" b="11111"/>
          <a:stretch/>
        </p:blipFill>
        <p:spPr bwMode="auto">
          <a:xfrm>
            <a:off x="762000" y="685800"/>
            <a:ext cx="8153400" cy="525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AF0789C-FD6C-412E-8F3D-83487D0C262C}"/>
              </a:ext>
            </a:extLst>
          </p:cNvPr>
          <p:cNvSpPr/>
          <p:nvPr/>
        </p:nvSpPr>
        <p:spPr bwMode="auto">
          <a:xfrm>
            <a:off x="8001000" y="5562600"/>
            <a:ext cx="914400" cy="609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135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762000" y="388203"/>
            <a:ext cx="8153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 </a:t>
            </a: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walk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is a finite or infinite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sequence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edges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which joins a sequence 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vertices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  (SB-P-SB-G-K-PL-K-P-SB)</a:t>
            </a:r>
            <a:endParaRPr lang="en-US" sz="3200" dirty="0">
              <a:ea typeface="Times New Roman" panose="02020603050405020304" pitchFamily="18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75A91E9-8FC0-4D5F-BCB7-6D1F552BD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415626" y="1321708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2886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388203"/>
            <a:ext cx="82296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 </a:t>
            </a:r>
            <a:r>
              <a:rPr lang="en-US" b="1" dirty="0"/>
              <a:t>trail</a:t>
            </a:r>
            <a:r>
              <a:rPr lang="en-US" dirty="0"/>
              <a:t> is a </a:t>
            </a:r>
            <a:r>
              <a:rPr lang="en-US" i="1" dirty="0"/>
              <a:t>walk</a:t>
            </a:r>
            <a:r>
              <a:rPr lang="en-US" dirty="0"/>
              <a:t> in which all edges are distinct. </a:t>
            </a:r>
            <a:br>
              <a:rPr lang="en-US" dirty="0"/>
            </a:br>
            <a:r>
              <a:rPr lang="en-US" dirty="0"/>
              <a:t>(SB-G-P-SB-MK)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D962FF2-F857-9AFC-BB67-3E74DA3AE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415626" y="1321708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86302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388203"/>
            <a:ext cx="8229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 </a:t>
            </a:r>
            <a:r>
              <a:rPr lang="en-US" b="1" dirty="0"/>
              <a:t>path</a:t>
            </a:r>
            <a:r>
              <a:rPr lang="en-US" dirty="0"/>
              <a:t> is a </a:t>
            </a:r>
            <a:r>
              <a:rPr lang="en-US" i="1" dirty="0"/>
              <a:t>trail</a:t>
            </a:r>
            <a:r>
              <a:rPr lang="en-US" dirty="0"/>
              <a:t> in which all vertices are distinct.  (SB-G-P)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5B3502E2-4DDC-CE0A-F0D3-1BDA3467B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415626" y="1321708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1640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171456"/>
            <a:ext cx="82296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b="1" dirty="0"/>
              <a:t>cycle</a:t>
            </a:r>
            <a:r>
              <a:rPr lang="en-US" dirty="0"/>
              <a:t> is a </a:t>
            </a:r>
            <a:r>
              <a:rPr lang="en-US" i="1" dirty="0"/>
              <a:t>closed path</a:t>
            </a:r>
            <a:r>
              <a:rPr lang="en-US" dirty="0"/>
              <a:t>.  I.e. it is a </a:t>
            </a:r>
            <a:r>
              <a:rPr lang="en-US" i="1" dirty="0"/>
              <a:t>path</a:t>
            </a:r>
            <a:r>
              <a:rPr lang="en-US" dirty="0"/>
              <a:t> PLUS an edge which connects back to the starting vertex.  (G-P-K-G)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423FC4B-3710-3837-F824-5DEE84C79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2120053" y="1150252"/>
            <a:ext cx="6617547" cy="5536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10F908-8EDD-5195-68FC-786F5E58AC1C}"/>
              </a:ext>
            </a:extLst>
          </p:cNvPr>
          <p:cNvSpPr txBox="1"/>
          <p:nvPr/>
        </p:nvSpPr>
        <p:spPr>
          <a:xfrm>
            <a:off x="1031240" y="5688490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A cycle </a:t>
            </a:r>
            <a:r>
              <a:rPr lang="en-US" sz="2800" b="1" u="sng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contains a path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, </a:t>
            </a:r>
            <a:b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</a:b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but is not itself a path.</a:t>
            </a:r>
          </a:p>
        </p:txBody>
      </p:sp>
    </p:spTree>
    <p:extLst>
      <p:ext uri="{BB962C8B-B14F-4D97-AF65-F5344CB8AC3E}">
        <p14:creationId xmlns:p14="http://schemas.microsoft.com/office/powerpoint/2010/main" val="1383478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TextBox 8">
            <a:extLst>
              <a:ext uri="{FF2B5EF4-FFF2-40B4-BE49-F238E27FC236}">
                <a16:creationId xmlns:a16="http://schemas.microsoft.com/office/drawing/2014/main" id="{16EE7FFD-980D-465B-94AC-66A026DCE0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8662" y="1663756"/>
            <a:ext cx="23862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Walk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CD13CC-4E5A-49D0-83C7-3B87C0F33B1E}"/>
              </a:ext>
            </a:extLst>
          </p:cNvPr>
          <p:cNvSpPr txBox="1"/>
          <p:nvPr/>
        </p:nvSpPr>
        <p:spPr>
          <a:xfrm>
            <a:off x="2728246" y="2351049"/>
            <a:ext cx="32045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edges distinct?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F23B18-6762-45FA-803C-EA4722AA1487}"/>
              </a:ext>
            </a:extLst>
          </p:cNvPr>
          <p:cNvSpPr txBox="1"/>
          <p:nvPr/>
        </p:nvSpPr>
        <p:spPr>
          <a:xfrm>
            <a:off x="3953377" y="3897097"/>
            <a:ext cx="22937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vertices distinct?</a:t>
            </a:r>
          </a:p>
        </p:txBody>
      </p:sp>
      <p:cxnSp>
        <p:nvCxnSpPr>
          <p:cNvPr id="8202" name="Straight Connector 26">
            <a:extLst>
              <a:ext uri="{FF2B5EF4-FFF2-40B4-BE49-F238E27FC236}">
                <a16:creationId xmlns:a16="http://schemas.microsoft.com/office/drawing/2014/main" id="{3C762799-7C57-4703-ADB9-A381875FFD0D}"/>
              </a:ext>
            </a:extLst>
          </p:cNvPr>
          <p:cNvCxnSpPr>
            <a:cxnSpLocks/>
            <a:stCxn id="8196" idx="2"/>
          </p:cNvCxnSpPr>
          <p:nvPr/>
        </p:nvCxnSpPr>
        <p:spPr bwMode="auto">
          <a:xfrm>
            <a:off x="2921794" y="2186976"/>
            <a:ext cx="431006" cy="957834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cxnSp>
        <p:nvCxnSpPr>
          <p:cNvPr id="8203" name="Straight Connector 29">
            <a:extLst>
              <a:ext uri="{FF2B5EF4-FFF2-40B4-BE49-F238E27FC236}">
                <a16:creationId xmlns:a16="http://schemas.microsoft.com/office/drawing/2014/main" id="{2E21D6FE-456F-4B7B-89FD-5AC4F03AB893}"/>
              </a:ext>
            </a:extLst>
          </p:cNvPr>
          <p:cNvCxnSpPr>
            <a:cxnSpLocks/>
            <a:stCxn id="8204" idx="2"/>
          </p:cNvCxnSpPr>
          <p:nvPr/>
        </p:nvCxnSpPr>
        <p:spPr bwMode="auto">
          <a:xfrm>
            <a:off x="3464552" y="3668030"/>
            <a:ext cx="574048" cy="1132570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8204" name="TextBox 31">
            <a:extLst>
              <a:ext uri="{FF2B5EF4-FFF2-40B4-BE49-F238E27FC236}">
                <a16:creationId xmlns:a16="http://schemas.microsoft.com/office/drawing/2014/main" id="{65E0B670-9FA3-48B2-9142-DB8D86769E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3651" y="3144810"/>
            <a:ext cx="224180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Trail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06C510-D5FE-49B2-91A1-45C727852948}"/>
              </a:ext>
            </a:extLst>
          </p:cNvPr>
          <p:cNvSpPr txBox="1"/>
          <p:nvPr/>
        </p:nvSpPr>
        <p:spPr>
          <a:xfrm>
            <a:off x="4241192" y="5498455"/>
            <a:ext cx="1744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start=end?</a:t>
            </a:r>
          </a:p>
        </p:txBody>
      </p:sp>
      <p:sp>
        <p:nvSpPr>
          <p:cNvPr id="8207" name="TextBox 36">
            <a:extLst>
              <a:ext uri="{FF2B5EF4-FFF2-40B4-BE49-F238E27FC236}">
                <a16:creationId xmlns:a16="http://schemas.microsoft.com/office/drawing/2014/main" id="{BF9861FE-581F-4AFF-9225-F1A278F438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1524" y="4744402"/>
            <a:ext cx="199415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Path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9" name="Straight Connector 38">
            <a:extLst>
              <a:ext uri="{FF2B5EF4-FFF2-40B4-BE49-F238E27FC236}">
                <a16:creationId xmlns:a16="http://schemas.microsoft.com/office/drawing/2014/main" id="{6FDE98A9-7EC0-4E68-AFC1-082D6A807588}"/>
              </a:ext>
            </a:extLst>
          </p:cNvPr>
          <p:cNvCxnSpPr>
            <a:cxnSpLocks/>
            <a:stCxn id="8207" idx="2"/>
            <a:endCxn id="8210" idx="0"/>
          </p:cNvCxnSpPr>
          <p:nvPr/>
        </p:nvCxnSpPr>
        <p:spPr bwMode="auto">
          <a:xfrm>
            <a:off x="4038600" y="5267622"/>
            <a:ext cx="405184" cy="952426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8210" name="TextBox 39">
            <a:extLst>
              <a:ext uri="{FF2B5EF4-FFF2-40B4-BE49-F238E27FC236}">
                <a16:creationId xmlns:a16="http://schemas.microsoft.com/office/drawing/2014/main" id="{F910A171-A922-4E8F-8A7F-51F1EBFDB8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43684" y="6220048"/>
            <a:ext cx="1600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Cycle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83BB410-2390-4A57-915A-9CE680743E8F}"/>
              </a:ext>
            </a:extLst>
          </p:cNvPr>
          <p:cNvCxnSpPr>
            <a:cxnSpLocks/>
          </p:cNvCxnSpPr>
          <p:nvPr/>
        </p:nvCxnSpPr>
        <p:spPr bwMode="auto">
          <a:xfrm>
            <a:off x="2286000" y="680478"/>
            <a:ext cx="533400" cy="994532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28" name="TextBox 8">
            <a:extLst>
              <a:ext uri="{FF2B5EF4-FFF2-40B4-BE49-F238E27FC236}">
                <a16:creationId xmlns:a16="http://schemas.microsoft.com/office/drawing/2014/main" id="{02D5625A-2016-4987-AD81-09F13E3A7F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047" y="114077"/>
            <a:ext cx="645020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Group of edges &amp; nodes from a Graph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7BF7BD-C5E3-48E4-B049-ED3B1D762319}"/>
              </a:ext>
            </a:extLst>
          </p:cNvPr>
          <p:cNvSpPr txBox="1"/>
          <p:nvPr/>
        </p:nvSpPr>
        <p:spPr>
          <a:xfrm>
            <a:off x="2715367" y="871007"/>
            <a:ext cx="49808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/>
              <a:t>i.e. possible to traverse?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036D72F-8265-4A0B-8B00-A02AA966CDDD}"/>
              </a:ext>
            </a:extLst>
          </p:cNvPr>
          <p:cNvSpPr/>
          <p:nvPr/>
        </p:nvSpPr>
        <p:spPr>
          <a:xfrm>
            <a:off x="762000" y="1447800"/>
            <a:ext cx="81534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225675" algn="ctr"/>
                <a:tab pos="6064250" algn="ctr"/>
              </a:tabLst>
            </a:pPr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 	</a:t>
            </a:r>
            <a:r>
              <a:rPr lang="en-US" sz="3200" b="1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Edges may repeat	Vertices may repeat</a:t>
            </a:r>
            <a:endParaRPr lang="en-US" sz="3200" dirty="0">
              <a:ea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178050" algn="ctr"/>
                <a:tab pos="6064250" algn="ctr"/>
              </a:tabLst>
            </a:pPr>
            <a:r>
              <a:rPr lang="en-US" sz="3200" b="1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Walk</a:t>
            </a:r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	yes	yes</a:t>
            </a:r>
            <a:endParaRPr lang="en-US" sz="3200" dirty="0">
              <a:ea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178050" algn="ctr"/>
                <a:tab pos="6064250" algn="ctr"/>
              </a:tabLst>
            </a:pPr>
            <a:r>
              <a:rPr lang="en-US" sz="3200" b="1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Trail</a:t>
            </a:r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	</a:t>
            </a:r>
            <a:r>
              <a:rPr lang="en-US" sz="3200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no</a:t>
            </a:r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	yes</a:t>
            </a:r>
            <a:endParaRPr lang="en-US" sz="3200" dirty="0">
              <a:ea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178050" algn="ctr"/>
                <a:tab pos="6064250" algn="ctr"/>
              </a:tabLst>
            </a:pPr>
            <a:r>
              <a:rPr lang="en-US" sz="3200" b="1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Path</a:t>
            </a:r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	</a:t>
            </a:r>
            <a:r>
              <a:rPr lang="en-US" sz="3200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no</a:t>
            </a:r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	</a:t>
            </a:r>
            <a:r>
              <a:rPr lang="en-US" sz="3200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no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1028700" algn="ctr"/>
                <a:tab pos="2400300" algn="ctr"/>
              </a:tabLst>
            </a:pPr>
            <a:endParaRPr lang="en-US" sz="3200" dirty="0">
              <a:ea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1028700" algn="ctr"/>
                <a:tab pos="2400300" algn="ctr"/>
              </a:tabLst>
            </a:pPr>
            <a:endParaRPr lang="en-US" sz="3200" dirty="0">
              <a:ea typeface="Times New Roman" panose="02020603050405020304" pitchFamily="18" charset="0"/>
            </a:endParaRPr>
          </a:p>
          <a:p>
            <a:pPr marL="1311275" marR="0" indent="-1311275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       Cycle</a:t>
            </a:r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  =  A path  </a:t>
            </a:r>
            <a:r>
              <a:rPr lang="en-US" sz="3200" dirty="0">
                <a:solidFill>
                  <a:srgbClr val="0080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+</a:t>
            </a:r>
            <a:endParaRPr lang="en-US" sz="3200" dirty="0">
              <a:ea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77CCB-B290-4F8B-B88F-5CAA1BC62373}"/>
              </a:ext>
            </a:extLst>
          </p:cNvPr>
          <p:cNvSpPr/>
          <p:nvPr/>
        </p:nvSpPr>
        <p:spPr>
          <a:xfrm>
            <a:off x="4648200" y="4114800"/>
            <a:ext cx="38100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an edge that takes </a:t>
            </a:r>
          </a:p>
          <a:p>
            <a:r>
              <a:rPr lang="en-US" sz="3200" dirty="0">
                <a:solidFill>
                  <a:srgbClr val="7030A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you back to the start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636846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77F4A3-EB29-4135-B016-5E5587945684}"/>
              </a:ext>
            </a:extLst>
          </p:cNvPr>
          <p:cNvSpPr/>
          <p:nvPr/>
        </p:nvSpPr>
        <p:spPr bwMode="auto">
          <a:xfrm>
            <a:off x="0" y="0"/>
            <a:ext cx="9906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D6F05885-D828-4E2C-A719-43DF4EC88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850232"/>
            <a:ext cx="8839200" cy="4811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2600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995679" y="204692"/>
            <a:ext cx="75687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cyclic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contains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a cycle.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4098" name="Picture 2" descr="See the source image">
            <a:extLst>
              <a:ext uri="{FF2B5EF4-FFF2-40B4-BE49-F238E27FC236}">
                <a16:creationId xmlns:a16="http://schemas.microsoft.com/office/drawing/2014/main" id="{BAA4C94D-8255-46E7-ADD5-4A5F7CAA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504" y="907017"/>
            <a:ext cx="4284068" cy="28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D1CB03D-4821-024A-CD97-ED22EE9AB891}"/>
              </a:ext>
            </a:extLst>
          </p:cNvPr>
          <p:cNvGrpSpPr/>
          <p:nvPr/>
        </p:nvGrpSpPr>
        <p:grpSpPr>
          <a:xfrm>
            <a:off x="4504809" y="1281999"/>
            <a:ext cx="4532473" cy="2454885"/>
            <a:chOff x="3505200" y="3681212"/>
            <a:chExt cx="5346168" cy="2895600"/>
          </a:xfrm>
        </p:grpSpPr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F5AF548D-38A9-47BF-A81C-9BE9864F52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05200" y="3681212"/>
              <a:ext cx="5346168" cy="289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29C7A68-210E-44AC-8773-53FEC4D85A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41644" y="4256468"/>
              <a:ext cx="514080" cy="582766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78232D2-5D89-4796-8243-7F2F2C3429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32242" y="4301544"/>
              <a:ext cx="478196" cy="537690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E34F410-3B84-438B-B4FF-7C8822A56BEB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6815138" y="5310188"/>
              <a:ext cx="478631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00015C9-381C-4CB7-8DCE-EFF40C2A22C5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841644" y="5310188"/>
              <a:ext cx="496356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2A1B53A-FFD4-C969-7CCC-719ECB660A5A}"/>
              </a:ext>
            </a:extLst>
          </p:cNvPr>
          <p:cNvGrpSpPr/>
          <p:nvPr/>
        </p:nvGrpSpPr>
        <p:grpSpPr>
          <a:xfrm>
            <a:off x="978744" y="3854435"/>
            <a:ext cx="7891530" cy="3112651"/>
            <a:chOff x="978744" y="3854435"/>
            <a:chExt cx="7891530" cy="31126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CD014F5-2F22-4851-C77F-9ABF609ADC1C}"/>
                </a:ext>
              </a:extLst>
            </p:cNvPr>
            <p:cNvSpPr/>
            <p:nvPr/>
          </p:nvSpPr>
          <p:spPr>
            <a:xfrm>
              <a:off x="978744" y="3854435"/>
              <a:ext cx="7891530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5240" marR="0">
                <a:spcBef>
                  <a:spcPts val="0"/>
                </a:spcBef>
                <a:spcAft>
                  <a:spcPts val="0"/>
                </a:spcAft>
              </a:pPr>
              <a:r>
                <a:rPr lang="en-US" sz="3200" dirty="0">
                  <a:solidFill>
                    <a:srgbClr val="222222"/>
                  </a:solidFill>
                  <a:latin typeface="Arial" panose="020B0604020202020204" pitchFamily="34" charset="0"/>
                  <a:ea typeface="Times New Roman" panose="02020603050405020304" pitchFamily="18" charset="0"/>
                </a:rPr>
                <a:t>A </a:t>
              </a:r>
              <a:r>
                <a:rPr lang="en-US" sz="3200" b="1" dirty="0">
                  <a:solidFill>
                    <a:srgbClr val="222222"/>
                  </a:solidFill>
                  <a:latin typeface="Arial" panose="020B0604020202020204" pitchFamily="34" charset="0"/>
                  <a:ea typeface="Times New Roman" panose="02020603050405020304" pitchFamily="18" charset="0"/>
                </a:rPr>
                <a:t>cycle graph / circular graph </a:t>
              </a:r>
              <a:r>
                <a:rPr lang="en-US" sz="3200" u="sng" dirty="0">
                  <a:solidFill>
                    <a:srgbClr val="222222"/>
                  </a:solidFill>
                  <a:latin typeface="Arial" panose="020B0604020202020204" pitchFamily="34" charset="0"/>
                  <a:ea typeface="Times New Roman" panose="02020603050405020304" pitchFamily="18" charset="0"/>
                </a:rPr>
                <a:t>is</a:t>
              </a:r>
              <a:r>
                <a:rPr lang="en-US" sz="3200" dirty="0">
                  <a:solidFill>
                    <a:srgbClr val="222222"/>
                  </a:solidFill>
                  <a:latin typeface="Arial" panose="020B0604020202020204" pitchFamily="34" charset="0"/>
                  <a:ea typeface="Times New Roman" panose="02020603050405020304" pitchFamily="18" charset="0"/>
                </a:rPr>
                <a:t> a cycle.</a:t>
              </a:r>
              <a:endParaRPr lang="en-US" sz="4000" dirty="0">
                <a:ea typeface="Times New Roman" panose="02020603050405020304" pitchFamily="18" charset="0"/>
              </a:endParaRPr>
            </a:p>
          </p:txBody>
        </p:sp>
        <p:pic>
          <p:nvPicPr>
            <p:cNvPr id="5" name="Picture 2" descr="See the source image">
              <a:extLst>
                <a:ext uri="{FF2B5EF4-FFF2-40B4-BE49-F238E27FC236}">
                  <a16:creationId xmlns:a16="http://schemas.microsoft.com/office/drawing/2014/main" id="{34202338-936E-2FB7-636B-106F87560F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0625"/>
            <a:stretch/>
          </p:blipFill>
          <p:spPr bwMode="auto">
            <a:xfrm>
              <a:off x="978744" y="4556760"/>
              <a:ext cx="7696200" cy="2410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5228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EBE3A29-AAB7-4A23-BDDA-DC865CD2CF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3" r="5588" b="2919"/>
          <a:stretch>
            <a:fillRect/>
          </a:stretch>
        </p:blipFill>
        <p:spPr bwMode="auto">
          <a:xfrm>
            <a:off x="1971813" y="2245317"/>
            <a:ext cx="5513554" cy="46126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1139994B-73D7-4AB7-8E13-C60036ACF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4501" y="171027"/>
            <a:ext cx="7696200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Classify the graph: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8A19E84F-4EC8-675D-1CC7-C6A50B526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981" y="865274"/>
            <a:ext cx="7952728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1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simple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0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directed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  weighted    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04FA207E-63F9-E167-46E8-3455AAF99D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679" y="1388494"/>
            <a:ext cx="8155944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non-simple  undirected  unweighted  acyclic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1AA239-0D6D-6416-5807-5C314D49CED3}"/>
              </a:ext>
            </a:extLst>
          </p:cNvPr>
          <p:cNvSpPr/>
          <p:nvPr/>
        </p:nvSpPr>
        <p:spPr bwMode="auto">
          <a:xfrm>
            <a:off x="87967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837482-473B-A1CC-17F6-A80605F550F9}"/>
              </a:ext>
            </a:extLst>
          </p:cNvPr>
          <p:cNvSpPr/>
          <p:nvPr/>
        </p:nvSpPr>
        <p:spPr bwMode="auto">
          <a:xfrm>
            <a:off x="2891771" y="902547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6DC26E-C89F-92BA-EBF8-2D6454C386F3}"/>
              </a:ext>
            </a:extLst>
          </p:cNvPr>
          <p:cNvSpPr/>
          <p:nvPr/>
        </p:nvSpPr>
        <p:spPr bwMode="auto">
          <a:xfrm>
            <a:off x="512060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078E9A-E8EC-8A92-7C64-65CD032398C3}"/>
              </a:ext>
            </a:extLst>
          </p:cNvPr>
          <p:cNvSpPr/>
          <p:nvPr/>
        </p:nvSpPr>
        <p:spPr bwMode="auto">
          <a:xfrm>
            <a:off x="7192426" y="1449489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567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6F94ABCA-7BF8-4877-B1A1-1265DE58A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98425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 Graph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820" name="Rectangle 7">
            <a:extLst>
              <a:ext uri="{FF2B5EF4-FFF2-40B4-BE49-F238E27FC236}">
                <a16:creationId xmlns:a16="http://schemas.microsoft.com/office/drawing/2014/main" id="{139C87A0-4CFD-4B9D-911B-09418F9BA8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067" y="990600"/>
            <a:ext cx="8141546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800" dirty="0"/>
              <a:t>A </a:t>
            </a:r>
            <a:r>
              <a:rPr lang="en-US" altLang="en-US" sz="2800" b="1" dirty="0"/>
              <a:t>simple undirected graph </a:t>
            </a:r>
            <a:r>
              <a:rPr lang="en-US" altLang="en-US" sz="2800" dirty="0"/>
              <a:t>in which every pair of distinct vertices is connected by a unique edge.</a:t>
            </a:r>
          </a:p>
        </p:txBody>
      </p:sp>
      <p:pic>
        <p:nvPicPr>
          <p:cNvPr id="34821" name="Picture 4" descr="CompleteGraphs">
            <a:extLst>
              <a:ext uri="{FF2B5EF4-FFF2-40B4-BE49-F238E27FC236}">
                <a16:creationId xmlns:a16="http://schemas.microsoft.com/office/drawing/2014/main" id="{FB8D5924-69EE-41BB-B483-19445C27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286000"/>
            <a:ext cx="5867400" cy="451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>
            <a:extLst>
              <a:ext uri="{FF2B5EF4-FFF2-40B4-BE49-F238E27FC236}">
                <a16:creationId xmlns:a16="http://schemas.microsoft.com/office/drawing/2014/main" id="{457AD8ED-394C-4315-AB11-20BCF350D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Graph Theory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484" name="Rectangle 7">
            <a:extLst>
              <a:ext uri="{FF2B5EF4-FFF2-40B4-BE49-F238E27FC236}">
                <a16:creationId xmlns:a16="http://schemas.microsoft.com/office/drawing/2014/main" id="{93C66925-D73A-445D-ABDC-FE88A0FC1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walk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a sequence of vertices such that from each of its vertices there is an edge to the successor vertex.</a:t>
            </a:r>
          </a:p>
        </p:txBody>
      </p:sp>
      <p:pic>
        <p:nvPicPr>
          <p:cNvPr id="20485" name="Picture 2">
            <a:extLst>
              <a:ext uri="{FF2B5EF4-FFF2-40B4-BE49-F238E27FC236}">
                <a16:creationId xmlns:a16="http://schemas.microsoft.com/office/drawing/2014/main" id="{CA31B198-4A7A-477D-BD5D-D4B424726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2590800"/>
            <a:ext cx="3989388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6" name="TextBox 7">
            <a:extLst>
              <a:ext uri="{FF2B5EF4-FFF2-40B4-BE49-F238E27FC236}">
                <a16:creationId xmlns:a16="http://schemas.microsoft.com/office/drawing/2014/main" id="{012E6CD6-F753-4C69-B126-19D1BB929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3061" y="3124200"/>
            <a:ext cx="1399742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ABEAD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A79766A8-53C8-B8E7-8DA4-CF63942F7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2526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is not a walk?</a:t>
            </a: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26083098-9307-9F08-70A0-1C7166EDC4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16288" y="3124200"/>
            <a:ext cx="1451038" cy="2677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ABEAD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85A33D0-5C55-477B-E8EA-A68F6F256B7E}"/>
              </a:ext>
            </a:extLst>
          </p:cNvPr>
          <p:cNvSpPr/>
          <p:nvPr/>
        </p:nvSpPr>
        <p:spPr bwMode="auto">
          <a:xfrm rot="295007">
            <a:off x="3029386" y="2732321"/>
            <a:ext cx="311923" cy="358750"/>
          </a:xfrm>
          <a:custGeom>
            <a:avLst/>
            <a:gdLst>
              <a:gd name="connsiteX0" fmla="*/ 111265 w 311810"/>
              <a:gd name="connsiteY0" fmla="*/ 318993 h 318993"/>
              <a:gd name="connsiteX1" fmla="*/ 31752 w 311810"/>
              <a:gd name="connsiteY1" fmla="*/ 239480 h 318993"/>
              <a:gd name="connsiteX2" fmla="*/ 1935 w 311810"/>
              <a:gd name="connsiteY2" fmla="*/ 70515 h 318993"/>
              <a:gd name="connsiteX3" fmla="*/ 81448 w 311810"/>
              <a:gd name="connsiteY3" fmla="*/ 941 h 318993"/>
              <a:gd name="connsiteX4" fmla="*/ 250413 w 311810"/>
              <a:gd name="connsiteY4" fmla="*/ 40697 h 318993"/>
              <a:gd name="connsiteX5" fmla="*/ 310048 w 311810"/>
              <a:gd name="connsiteY5" fmla="*/ 179845 h 318993"/>
              <a:gd name="connsiteX6" fmla="*/ 290170 w 311810"/>
              <a:gd name="connsiteY6" fmla="*/ 299115 h 318993"/>
              <a:gd name="connsiteX0" fmla="*/ 121317 w 311923"/>
              <a:gd name="connsiteY0" fmla="*/ 358750 h 358750"/>
              <a:gd name="connsiteX1" fmla="*/ 31865 w 311923"/>
              <a:gd name="connsiteY1" fmla="*/ 239480 h 358750"/>
              <a:gd name="connsiteX2" fmla="*/ 2048 w 311923"/>
              <a:gd name="connsiteY2" fmla="*/ 70515 h 358750"/>
              <a:gd name="connsiteX3" fmla="*/ 81561 w 311923"/>
              <a:gd name="connsiteY3" fmla="*/ 941 h 358750"/>
              <a:gd name="connsiteX4" fmla="*/ 250526 w 311923"/>
              <a:gd name="connsiteY4" fmla="*/ 40697 h 358750"/>
              <a:gd name="connsiteX5" fmla="*/ 310161 w 311923"/>
              <a:gd name="connsiteY5" fmla="*/ 179845 h 358750"/>
              <a:gd name="connsiteX6" fmla="*/ 290283 w 311923"/>
              <a:gd name="connsiteY6" fmla="*/ 299115 h 35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1923" h="358750">
                <a:moveTo>
                  <a:pt x="121317" y="358750"/>
                </a:moveTo>
                <a:cubicBezTo>
                  <a:pt x="90671" y="339700"/>
                  <a:pt x="51743" y="287519"/>
                  <a:pt x="31865" y="239480"/>
                </a:cubicBezTo>
                <a:cubicBezTo>
                  <a:pt x="11987" y="191441"/>
                  <a:pt x="-6235" y="110272"/>
                  <a:pt x="2048" y="70515"/>
                </a:cubicBezTo>
                <a:cubicBezTo>
                  <a:pt x="10331" y="30758"/>
                  <a:pt x="40148" y="5911"/>
                  <a:pt x="81561" y="941"/>
                </a:cubicBezTo>
                <a:cubicBezTo>
                  <a:pt x="122974" y="-4029"/>
                  <a:pt x="212426" y="10880"/>
                  <a:pt x="250526" y="40697"/>
                </a:cubicBezTo>
                <a:cubicBezTo>
                  <a:pt x="288626" y="70514"/>
                  <a:pt x="303535" y="136775"/>
                  <a:pt x="310161" y="179845"/>
                </a:cubicBezTo>
                <a:cubicBezTo>
                  <a:pt x="316787" y="222915"/>
                  <a:pt x="303535" y="261015"/>
                  <a:pt x="290283" y="299115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" grpId="0"/>
      <p:bldP spid="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Number Placeholder 5">
            <a:extLst>
              <a:ext uri="{FF2B5EF4-FFF2-40B4-BE49-F238E27FC236}">
                <a16:creationId xmlns:a16="http://schemas.microsoft.com/office/drawing/2014/main" id="{EE157940-78CB-41CA-9013-A03E97C10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kumimoji="0" lang="en-US" altLang="en-US" sz="1400"/>
              <a:t>Lab 01-</a:t>
            </a:r>
            <a:fld id="{2654BA1C-CD82-4536-BF98-5D82A2D3480F}" type="slidenum">
              <a:rPr kumimoji="0" lang="en-US" altLang="en-US" sz="1400" smtClean="0"/>
              <a:pPr>
                <a:spcBef>
                  <a:spcPct val="50000"/>
                </a:spcBef>
                <a:buClrTx/>
                <a:buSzTx/>
                <a:buFontTx/>
                <a:buNone/>
              </a:pPr>
              <a:t>26</a:t>
            </a:fld>
            <a:endParaRPr kumimoji="0" lang="en-US" altLang="en-US" sz="1400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457AD8ED-394C-4315-AB11-20BCF350D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Graph Theory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484" name="Rectangle 7">
            <a:extLst>
              <a:ext uri="{FF2B5EF4-FFF2-40B4-BE49-F238E27FC236}">
                <a16:creationId xmlns:a16="http://schemas.microsoft.com/office/drawing/2014/main" id="{93C66925-D73A-445D-ABDC-FE88A0FC1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trail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a walk where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none of the edges repeat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.</a:t>
            </a:r>
          </a:p>
        </p:txBody>
      </p:sp>
      <p:pic>
        <p:nvPicPr>
          <p:cNvPr id="20485" name="Picture 2">
            <a:extLst>
              <a:ext uri="{FF2B5EF4-FFF2-40B4-BE49-F238E27FC236}">
                <a16:creationId xmlns:a16="http://schemas.microsoft.com/office/drawing/2014/main" id="{CA31B198-4A7A-477D-BD5D-D4B424726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2590800"/>
            <a:ext cx="3989388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6" name="TextBox 7">
            <a:extLst>
              <a:ext uri="{FF2B5EF4-FFF2-40B4-BE49-F238E27FC236}">
                <a16:creationId xmlns:a16="http://schemas.microsoft.com/office/drawing/2014/main" id="{012E6CD6-F753-4C69-B126-19D1BB929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043152"/>
            <a:ext cx="1399742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2566DE-6C6E-B0F3-7CC0-31F6669C78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38136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is not a trail?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B9079B1B-CFEA-D359-B411-BB418F2BA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043152"/>
            <a:ext cx="1451038" cy="2677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ABEA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ABEAD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2092A9-A883-3119-0ECF-306AE910EA4E}"/>
              </a:ext>
            </a:extLst>
          </p:cNvPr>
          <p:cNvSpPr/>
          <p:nvPr/>
        </p:nvSpPr>
        <p:spPr bwMode="auto">
          <a:xfrm rot="295007">
            <a:off x="3029386" y="2732321"/>
            <a:ext cx="311923" cy="358750"/>
          </a:xfrm>
          <a:custGeom>
            <a:avLst/>
            <a:gdLst>
              <a:gd name="connsiteX0" fmla="*/ 111265 w 311810"/>
              <a:gd name="connsiteY0" fmla="*/ 318993 h 318993"/>
              <a:gd name="connsiteX1" fmla="*/ 31752 w 311810"/>
              <a:gd name="connsiteY1" fmla="*/ 239480 h 318993"/>
              <a:gd name="connsiteX2" fmla="*/ 1935 w 311810"/>
              <a:gd name="connsiteY2" fmla="*/ 70515 h 318993"/>
              <a:gd name="connsiteX3" fmla="*/ 81448 w 311810"/>
              <a:gd name="connsiteY3" fmla="*/ 941 h 318993"/>
              <a:gd name="connsiteX4" fmla="*/ 250413 w 311810"/>
              <a:gd name="connsiteY4" fmla="*/ 40697 h 318993"/>
              <a:gd name="connsiteX5" fmla="*/ 310048 w 311810"/>
              <a:gd name="connsiteY5" fmla="*/ 179845 h 318993"/>
              <a:gd name="connsiteX6" fmla="*/ 290170 w 311810"/>
              <a:gd name="connsiteY6" fmla="*/ 299115 h 318993"/>
              <a:gd name="connsiteX0" fmla="*/ 121317 w 311923"/>
              <a:gd name="connsiteY0" fmla="*/ 358750 h 358750"/>
              <a:gd name="connsiteX1" fmla="*/ 31865 w 311923"/>
              <a:gd name="connsiteY1" fmla="*/ 239480 h 358750"/>
              <a:gd name="connsiteX2" fmla="*/ 2048 w 311923"/>
              <a:gd name="connsiteY2" fmla="*/ 70515 h 358750"/>
              <a:gd name="connsiteX3" fmla="*/ 81561 w 311923"/>
              <a:gd name="connsiteY3" fmla="*/ 941 h 358750"/>
              <a:gd name="connsiteX4" fmla="*/ 250526 w 311923"/>
              <a:gd name="connsiteY4" fmla="*/ 40697 h 358750"/>
              <a:gd name="connsiteX5" fmla="*/ 310161 w 311923"/>
              <a:gd name="connsiteY5" fmla="*/ 179845 h 358750"/>
              <a:gd name="connsiteX6" fmla="*/ 290283 w 311923"/>
              <a:gd name="connsiteY6" fmla="*/ 299115 h 35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1923" h="358750">
                <a:moveTo>
                  <a:pt x="121317" y="358750"/>
                </a:moveTo>
                <a:cubicBezTo>
                  <a:pt x="90671" y="339700"/>
                  <a:pt x="51743" y="287519"/>
                  <a:pt x="31865" y="239480"/>
                </a:cubicBezTo>
                <a:cubicBezTo>
                  <a:pt x="11987" y="191441"/>
                  <a:pt x="-6235" y="110272"/>
                  <a:pt x="2048" y="70515"/>
                </a:cubicBezTo>
                <a:cubicBezTo>
                  <a:pt x="10331" y="30758"/>
                  <a:pt x="40148" y="5911"/>
                  <a:pt x="81561" y="941"/>
                </a:cubicBezTo>
                <a:cubicBezTo>
                  <a:pt x="122974" y="-4029"/>
                  <a:pt x="212426" y="10880"/>
                  <a:pt x="250526" y="40697"/>
                </a:cubicBezTo>
                <a:cubicBezTo>
                  <a:pt x="288626" y="70514"/>
                  <a:pt x="303535" y="136775"/>
                  <a:pt x="310161" y="179845"/>
                </a:cubicBezTo>
                <a:cubicBezTo>
                  <a:pt x="316787" y="222915"/>
                  <a:pt x="303535" y="261015"/>
                  <a:pt x="290283" y="299115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70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" grpId="0"/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>
            <a:extLst>
              <a:ext uri="{FF2B5EF4-FFF2-40B4-BE49-F238E27FC236}">
                <a16:creationId xmlns:a16="http://schemas.microsoft.com/office/drawing/2014/main" id="{60764AD1-394C-43A7-8AD0-A101433CC5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Graph Theory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32" name="Rectangle 7">
            <a:extLst>
              <a:ext uri="{FF2B5EF4-FFF2-40B4-BE49-F238E27FC236}">
                <a16:creationId xmlns:a16="http://schemas.microsoft.com/office/drawing/2014/main" id="{6785E5E7-DF26-41F9-969A-11F89BB93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99" y="1533525"/>
            <a:ext cx="805518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path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a walk where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none of the edges or vertices repeat (except maybe the last)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.</a:t>
            </a:r>
          </a:p>
        </p:txBody>
      </p:sp>
      <p:pic>
        <p:nvPicPr>
          <p:cNvPr id="22533" name="Picture 2">
            <a:extLst>
              <a:ext uri="{FF2B5EF4-FFF2-40B4-BE49-F238E27FC236}">
                <a16:creationId xmlns:a16="http://schemas.microsoft.com/office/drawing/2014/main" id="{C075331A-FEC0-4017-B0DA-B9992E206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2590800"/>
            <a:ext cx="3989388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23A1F3-194C-4CBB-B956-546EF65BB421}"/>
              </a:ext>
            </a:extLst>
          </p:cNvPr>
          <p:cNvSpPr txBox="1"/>
          <p:nvPr/>
        </p:nvSpPr>
        <p:spPr>
          <a:xfrm>
            <a:off x="5823637" y="2934556"/>
            <a:ext cx="1451038" cy="2677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trike="sngStrike" dirty="0"/>
              <a:t>FCF</a:t>
            </a:r>
            <a:endParaRPr kumimoji="0" lang="en-US" altLang="en-US" sz="2400" strike="sngStrike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ABEA</a:t>
            </a:r>
          </a:p>
          <a:p>
            <a:pPr eaLnBrk="1" hangingPunct="1"/>
            <a:r>
              <a:rPr lang="en-US" altLang="en-US" b="1" dirty="0"/>
              <a:t>ABEAD</a:t>
            </a:r>
            <a:endParaRPr kumimoji="0" lang="en-US" altLang="en-US" sz="2400" b="1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CFCEB24F-4D92-9CC2-D79C-E137A60DD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0376" y="5709285"/>
            <a:ext cx="8055187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800" i="1" dirty="0">
                <a:latin typeface="Times New Roman" panose="02020603050405020304" pitchFamily="18" charset="0"/>
              </a:rPr>
              <a:t>A trail could be a single path, or it could be multiple connected paths. 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99336366-53AB-A881-B2D4-81FA5657F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391843"/>
            <a:ext cx="35777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trail is not a path?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708AF-34D6-BABE-ECF2-EC24124966E4}"/>
              </a:ext>
            </a:extLst>
          </p:cNvPr>
          <p:cNvSpPr txBox="1"/>
          <p:nvPr/>
        </p:nvSpPr>
        <p:spPr>
          <a:xfrm>
            <a:off x="5823637" y="2934556"/>
            <a:ext cx="1451038" cy="2677656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trike="sngStrike" dirty="0">
                <a:solidFill>
                  <a:srgbClr val="C00000"/>
                </a:solidFill>
              </a:rPr>
              <a:t>FCF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ABEA</a:t>
            </a:r>
          </a:p>
          <a:p>
            <a:pPr eaLnBrk="1" hangingPunct="1"/>
            <a:r>
              <a:rPr lang="en-US" altLang="en-US" b="1" strike="sngStrike" dirty="0">
                <a:solidFill>
                  <a:srgbClr val="C00000"/>
                </a:solidFill>
              </a:rPr>
              <a:t>ABEAD</a:t>
            </a:r>
            <a:endParaRPr kumimoji="0" lang="en-US" altLang="en-US" sz="2400" b="1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solidFill>
                  <a:srgbClr val="008000"/>
                </a:solidFill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24D99F2-BEFA-8E96-CE0D-BA090A8B4B0C}"/>
              </a:ext>
            </a:extLst>
          </p:cNvPr>
          <p:cNvSpPr/>
          <p:nvPr/>
        </p:nvSpPr>
        <p:spPr bwMode="auto">
          <a:xfrm rot="295007">
            <a:off x="3029386" y="2732321"/>
            <a:ext cx="311923" cy="358750"/>
          </a:xfrm>
          <a:custGeom>
            <a:avLst/>
            <a:gdLst>
              <a:gd name="connsiteX0" fmla="*/ 111265 w 311810"/>
              <a:gd name="connsiteY0" fmla="*/ 318993 h 318993"/>
              <a:gd name="connsiteX1" fmla="*/ 31752 w 311810"/>
              <a:gd name="connsiteY1" fmla="*/ 239480 h 318993"/>
              <a:gd name="connsiteX2" fmla="*/ 1935 w 311810"/>
              <a:gd name="connsiteY2" fmla="*/ 70515 h 318993"/>
              <a:gd name="connsiteX3" fmla="*/ 81448 w 311810"/>
              <a:gd name="connsiteY3" fmla="*/ 941 h 318993"/>
              <a:gd name="connsiteX4" fmla="*/ 250413 w 311810"/>
              <a:gd name="connsiteY4" fmla="*/ 40697 h 318993"/>
              <a:gd name="connsiteX5" fmla="*/ 310048 w 311810"/>
              <a:gd name="connsiteY5" fmla="*/ 179845 h 318993"/>
              <a:gd name="connsiteX6" fmla="*/ 290170 w 311810"/>
              <a:gd name="connsiteY6" fmla="*/ 299115 h 318993"/>
              <a:gd name="connsiteX0" fmla="*/ 121317 w 311923"/>
              <a:gd name="connsiteY0" fmla="*/ 358750 h 358750"/>
              <a:gd name="connsiteX1" fmla="*/ 31865 w 311923"/>
              <a:gd name="connsiteY1" fmla="*/ 239480 h 358750"/>
              <a:gd name="connsiteX2" fmla="*/ 2048 w 311923"/>
              <a:gd name="connsiteY2" fmla="*/ 70515 h 358750"/>
              <a:gd name="connsiteX3" fmla="*/ 81561 w 311923"/>
              <a:gd name="connsiteY3" fmla="*/ 941 h 358750"/>
              <a:gd name="connsiteX4" fmla="*/ 250526 w 311923"/>
              <a:gd name="connsiteY4" fmla="*/ 40697 h 358750"/>
              <a:gd name="connsiteX5" fmla="*/ 310161 w 311923"/>
              <a:gd name="connsiteY5" fmla="*/ 179845 h 358750"/>
              <a:gd name="connsiteX6" fmla="*/ 290283 w 311923"/>
              <a:gd name="connsiteY6" fmla="*/ 299115 h 35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1923" h="358750">
                <a:moveTo>
                  <a:pt x="121317" y="358750"/>
                </a:moveTo>
                <a:cubicBezTo>
                  <a:pt x="90671" y="339700"/>
                  <a:pt x="51743" y="287519"/>
                  <a:pt x="31865" y="239480"/>
                </a:cubicBezTo>
                <a:cubicBezTo>
                  <a:pt x="11987" y="191441"/>
                  <a:pt x="-6235" y="110272"/>
                  <a:pt x="2048" y="70515"/>
                </a:cubicBezTo>
                <a:cubicBezTo>
                  <a:pt x="10331" y="30758"/>
                  <a:pt x="40148" y="5911"/>
                  <a:pt x="81561" y="941"/>
                </a:cubicBezTo>
                <a:cubicBezTo>
                  <a:pt x="122974" y="-4029"/>
                  <a:pt x="212426" y="10880"/>
                  <a:pt x="250526" y="40697"/>
                </a:cubicBezTo>
                <a:cubicBezTo>
                  <a:pt x="288626" y="70514"/>
                  <a:pt x="303535" y="136775"/>
                  <a:pt x="310161" y="179845"/>
                </a:cubicBezTo>
                <a:cubicBezTo>
                  <a:pt x="316787" y="222915"/>
                  <a:pt x="303535" y="261015"/>
                  <a:pt x="290283" y="299115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" grpId="0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5">
            <a:extLst>
              <a:ext uri="{FF2B5EF4-FFF2-40B4-BE49-F238E27FC236}">
                <a16:creationId xmlns:a16="http://schemas.microsoft.com/office/drawing/2014/main" id="{CCF34086-1AFB-46F7-A575-DD901A53F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kumimoji="0" lang="en-US" altLang="en-US" sz="1400"/>
              <a:t>Lab 01-</a:t>
            </a:r>
            <a:fld id="{66372F01-8E9A-4977-904A-0704F3C85E6F}" type="slidenum">
              <a:rPr kumimoji="0" lang="en-US" altLang="en-US" sz="1400" smtClean="0"/>
              <a:pPr>
                <a:spcBef>
                  <a:spcPct val="50000"/>
                </a:spcBef>
                <a:buClrTx/>
                <a:buSzTx/>
                <a:buFontTx/>
                <a:buNone/>
              </a:pPr>
              <a:t>28</a:t>
            </a:fld>
            <a:endParaRPr kumimoji="0" lang="en-US" altLang="en-US" sz="1400"/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EDFD8AA1-61EA-4464-A556-9AA06858A1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Graph Theory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80" name="Rectangle 7">
            <a:extLst>
              <a:ext uri="{FF2B5EF4-FFF2-40B4-BE49-F238E27FC236}">
                <a16:creationId xmlns:a16="http://schemas.microsoft.com/office/drawing/2014/main" id="{D09AB982-36F7-4CD7-9F9E-402CF08B2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cycle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 is </a:t>
            </a:r>
            <a:r>
              <a:rPr kumimoji="0" lang="en-US" altLang="en-US" sz="2400" b="1" dirty="0">
                <a:latin typeface="Times New Roman" panose="02020603050405020304" pitchFamily="18" charset="0"/>
              </a:rPr>
              <a:t>a closed path</a:t>
            </a:r>
            <a:r>
              <a:rPr kumimoji="0" lang="en-US" altLang="en-US" sz="2400" dirty="0">
                <a:latin typeface="Times New Roman" panose="02020603050405020304" pitchFamily="18" charset="0"/>
              </a:rPr>
              <a:t>. I.e. no vertices repeat except for the first and last vertices.</a:t>
            </a:r>
          </a:p>
        </p:txBody>
      </p:sp>
      <p:pic>
        <p:nvPicPr>
          <p:cNvPr id="24581" name="Picture 2">
            <a:extLst>
              <a:ext uri="{FF2B5EF4-FFF2-40B4-BE49-F238E27FC236}">
                <a16:creationId xmlns:a16="http://schemas.microsoft.com/office/drawing/2014/main" id="{E3D8930F-5FF5-400B-8B43-F5A5E84F6D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2590800"/>
            <a:ext cx="3989388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BECA63-12F3-44E3-AF63-F7F0D9861C07}"/>
              </a:ext>
            </a:extLst>
          </p:cNvPr>
          <p:cNvSpPr txBox="1"/>
          <p:nvPr/>
        </p:nvSpPr>
        <p:spPr>
          <a:xfrm>
            <a:off x="5916246" y="3043152"/>
            <a:ext cx="1451038" cy="2677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FCF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b="1" dirty="0"/>
              <a:t>ABEA</a:t>
            </a:r>
          </a:p>
          <a:p>
            <a:pPr eaLnBrk="1" hangingPunct="1"/>
            <a:r>
              <a:rPr lang="en-US" altLang="en-US" strike="sngStrike" dirty="0"/>
              <a:t>ABEAD</a:t>
            </a:r>
            <a:endParaRPr kumimoji="0" lang="en-US" altLang="en-US" sz="2400" strike="sngStrike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731108A5-9004-FC87-8F34-D22449604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595" y="2581487"/>
            <a:ext cx="362996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dirty="0">
                <a:latin typeface="Times New Roman" panose="02020603050405020304" pitchFamily="18" charset="0"/>
              </a:rPr>
              <a:t>Which trail is not a cycle?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82EA1-0B05-72B4-FE5E-36B492C8FF31}"/>
              </a:ext>
            </a:extLst>
          </p:cNvPr>
          <p:cNvSpPr txBox="1"/>
          <p:nvPr/>
        </p:nvSpPr>
        <p:spPr>
          <a:xfrm>
            <a:off x="5916246" y="3043152"/>
            <a:ext cx="1451038" cy="2677656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b="1" dirty="0">
                <a:solidFill>
                  <a:srgbClr val="008000"/>
                </a:solidFill>
              </a:rPr>
              <a:t>AA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trike="sngStrike" dirty="0">
                <a:solidFill>
                  <a:srgbClr val="C00000"/>
                </a:solidFill>
              </a:rPr>
              <a:t>FCF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b="1" dirty="0">
                <a:solidFill>
                  <a:srgbClr val="008000"/>
                </a:solidFill>
              </a:rPr>
              <a:t>ABEA</a:t>
            </a:r>
          </a:p>
          <a:p>
            <a:pPr eaLnBrk="1" hangingPunct="1"/>
            <a:r>
              <a:rPr lang="en-US" altLang="en-US" strike="sngStrike" dirty="0">
                <a:solidFill>
                  <a:srgbClr val="C00000"/>
                </a:solidFill>
              </a:rPr>
              <a:t>ABEAD</a:t>
            </a:r>
            <a:endParaRPr kumimoji="0" lang="en-US" altLang="en-US" sz="2400" strike="sngStrike" dirty="0">
              <a:solidFill>
                <a:srgbClr val="C0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FBEABE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b="1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FBEADC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strike="sngStrike" dirty="0">
                <a:solidFill>
                  <a:srgbClr val="C00000"/>
                </a:solidFill>
                <a:latin typeface="Times New Roman" panose="02020603050405020304" pitchFamily="18" charset="0"/>
              </a:rPr>
              <a:t>FCD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4E2B937-5D5A-5C1C-21E4-725932534BFD}"/>
              </a:ext>
            </a:extLst>
          </p:cNvPr>
          <p:cNvSpPr/>
          <p:nvPr/>
        </p:nvSpPr>
        <p:spPr bwMode="auto">
          <a:xfrm rot="295007">
            <a:off x="3029386" y="2732321"/>
            <a:ext cx="311923" cy="358750"/>
          </a:xfrm>
          <a:custGeom>
            <a:avLst/>
            <a:gdLst>
              <a:gd name="connsiteX0" fmla="*/ 111265 w 311810"/>
              <a:gd name="connsiteY0" fmla="*/ 318993 h 318993"/>
              <a:gd name="connsiteX1" fmla="*/ 31752 w 311810"/>
              <a:gd name="connsiteY1" fmla="*/ 239480 h 318993"/>
              <a:gd name="connsiteX2" fmla="*/ 1935 w 311810"/>
              <a:gd name="connsiteY2" fmla="*/ 70515 h 318993"/>
              <a:gd name="connsiteX3" fmla="*/ 81448 w 311810"/>
              <a:gd name="connsiteY3" fmla="*/ 941 h 318993"/>
              <a:gd name="connsiteX4" fmla="*/ 250413 w 311810"/>
              <a:gd name="connsiteY4" fmla="*/ 40697 h 318993"/>
              <a:gd name="connsiteX5" fmla="*/ 310048 w 311810"/>
              <a:gd name="connsiteY5" fmla="*/ 179845 h 318993"/>
              <a:gd name="connsiteX6" fmla="*/ 290170 w 311810"/>
              <a:gd name="connsiteY6" fmla="*/ 299115 h 318993"/>
              <a:gd name="connsiteX0" fmla="*/ 121317 w 311923"/>
              <a:gd name="connsiteY0" fmla="*/ 358750 h 358750"/>
              <a:gd name="connsiteX1" fmla="*/ 31865 w 311923"/>
              <a:gd name="connsiteY1" fmla="*/ 239480 h 358750"/>
              <a:gd name="connsiteX2" fmla="*/ 2048 w 311923"/>
              <a:gd name="connsiteY2" fmla="*/ 70515 h 358750"/>
              <a:gd name="connsiteX3" fmla="*/ 81561 w 311923"/>
              <a:gd name="connsiteY3" fmla="*/ 941 h 358750"/>
              <a:gd name="connsiteX4" fmla="*/ 250526 w 311923"/>
              <a:gd name="connsiteY4" fmla="*/ 40697 h 358750"/>
              <a:gd name="connsiteX5" fmla="*/ 310161 w 311923"/>
              <a:gd name="connsiteY5" fmla="*/ 179845 h 358750"/>
              <a:gd name="connsiteX6" fmla="*/ 290283 w 311923"/>
              <a:gd name="connsiteY6" fmla="*/ 299115 h 35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1923" h="358750">
                <a:moveTo>
                  <a:pt x="121317" y="358750"/>
                </a:moveTo>
                <a:cubicBezTo>
                  <a:pt x="90671" y="339700"/>
                  <a:pt x="51743" y="287519"/>
                  <a:pt x="31865" y="239480"/>
                </a:cubicBezTo>
                <a:cubicBezTo>
                  <a:pt x="11987" y="191441"/>
                  <a:pt x="-6235" y="110272"/>
                  <a:pt x="2048" y="70515"/>
                </a:cubicBezTo>
                <a:cubicBezTo>
                  <a:pt x="10331" y="30758"/>
                  <a:pt x="40148" y="5911"/>
                  <a:pt x="81561" y="941"/>
                </a:cubicBezTo>
                <a:cubicBezTo>
                  <a:pt x="122974" y="-4029"/>
                  <a:pt x="212426" y="10880"/>
                  <a:pt x="250526" y="40697"/>
                </a:cubicBezTo>
                <a:cubicBezTo>
                  <a:pt x="288626" y="70514"/>
                  <a:pt x="303535" y="136775"/>
                  <a:pt x="310161" y="179845"/>
                </a:cubicBezTo>
                <a:cubicBezTo>
                  <a:pt x="316787" y="222915"/>
                  <a:pt x="303535" y="261015"/>
                  <a:pt x="290283" y="299115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Number Placeholder 5">
            <a:extLst>
              <a:ext uri="{FF2B5EF4-FFF2-40B4-BE49-F238E27FC236}">
                <a16:creationId xmlns:a16="http://schemas.microsoft.com/office/drawing/2014/main" id="{B1558AF4-3AB7-4F27-A139-962951628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kumimoji="0" lang="en-US" altLang="en-US" sz="1400"/>
              <a:t>Lab 01-</a:t>
            </a:r>
            <a:fld id="{431ABAAA-E9CE-4637-84AE-2AEDF0749383}" type="slidenum">
              <a:rPr kumimoji="0" lang="en-US" altLang="en-US" sz="1400" smtClean="0"/>
              <a:pPr>
                <a:spcBef>
                  <a:spcPct val="50000"/>
                </a:spcBef>
                <a:buClrTx/>
                <a:buSzTx/>
                <a:buFontTx/>
                <a:buNone/>
              </a:pPr>
              <a:t>29</a:t>
            </a:fld>
            <a:endParaRPr kumimoji="0" lang="en-US" altLang="en-US" sz="1400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11B77141-AB65-489C-ADEA-AD26BE5B3F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Graph Theory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628" name="Rectangle 7">
            <a:extLst>
              <a:ext uri="{FF2B5EF4-FFF2-40B4-BE49-F238E27FC236}">
                <a16:creationId xmlns:a16="http://schemas.microsoft.com/office/drawing/2014/main" id="{189A66FD-D4E8-46F7-A3E2-5038C8CE4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The length of a walk is the number of edges that the path uses.</a:t>
            </a:r>
          </a:p>
        </p:txBody>
      </p:sp>
      <p:pic>
        <p:nvPicPr>
          <p:cNvPr id="26629" name="Picture 2">
            <a:extLst>
              <a:ext uri="{FF2B5EF4-FFF2-40B4-BE49-F238E27FC236}">
                <a16:creationId xmlns:a16="http://schemas.microsoft.com/office/drawing/2014/main" id="{F725BCC2-3DA7-4244-BE45-D1E7A8174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2590800"/>
            <a:ext cx="3989388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30" name="TextBox 7">
            <a:extLst>
              <a:ext uri="{FF2B5EF4-FFF2-40B4-BE49-F238E27FC236}">
                <a16:creationId xmlns:a16="http://schemas.microsoft.com/office/drawing/2014/main" id="{B3A34AB9-E1B2-4954-9A77-3330BE188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950" y="3124200"/>
            <a:ext cx="270619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tabLst>
                <a:tab pos="1262063" algn="l"/>
              </a:tabLst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tabLst>
                <a:tab pos="1262063" algn="l"/>
              </a:tabLst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1262063" algn="l"/>
              </a:tabLs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1262063" algn="l"/>
              </a:tabLst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AA	– length 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AD	– length 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ABEA	– length 3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FBEADC – length 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1CCFAF4-F5D9-8053-C011-23A2BAE01564}"/>
              </a:ext>
            </a:extLst>
          </p:cNvPr>
          <p:cNvSpPr/>
          <p:nvPr/>
        </p:nvSpPr>
        <p:spPr bwMode="auto">
          <a:xfrm rot="295007">
            <a:off x="3029386" y="2732321"/>
            <a:ext cx="311923" cy="358750"/>
          </a:xfrm>
          <a:custGeom>
            <a:avLst/>
            <a:gdLst>
              <a:gd name="connsiteX0" fmla="*/ 111265 w 311810"/>
              <a:gd name="connsiteY0" fmla="*/ 318993 h 318993"/>
              <a:gd name="connsiteX1" fmla="*/ 31752 w 311810"/>
              <a:gd name="connsiteY1" fmla="*/ 239480 h 318993"/>
              <a:gd name="connsiteX2" fmla="*/ 1935 w 311810"/>
              <a:gd name="connsiteY2" fmla="*/ 70515 h 318993"/>
              <a:gd name="connsiteX3" fmla="*/ 81448 w 311810"/>
              <a:gd name="connsiteY3" fmla="*/ 941 h 318993"/>
              <a:gd name="connsiteX4" fmla="*/ 250413 w 311810"/>
              <a:gd name="connsiteY4" fmla="*/ 40697 h 318993"/>
              <a:gd name="connsiteX5" fmla="*/ 310048 w 311810"/>
              <a:gd name="connsiteY5" fmla="*/ 179845 h 318993"/>
              <a:gd name="connsiteX6" fmla="*/ 290170 w 311810"/>
              <a:gd name="connsiteY6" fmla="*/ 299115 h 318993"/>
              <a:gd name="connsiteX0" fmla="*/ 121317 w 311923"/>
              <a:gd name="connsiteY0" fmla="*/ 358750 h 358750"/>
              <a:gd name="connsiteX1" fmla="*/ 31865 w 311923"/>
              <a:gd name="connsiteY1" fmla="*/ 239480 h 358750"/>
              <a:gd name="connsiteX2" fmla="*/ 2048 w 311923"/>
              <a:gd name="connsiteY2" fmla="*/ 70515 h 358750"/>
              <a:gd name="connsiteX3" fmla="*/ 81561 w 311923"/>
              <a:gd name="connsiteY3" fmla="*/ 941 h 358750"/>
              <a:gd name="connsiteX4" fmla="*/ 250526 w 311923"/>
              <a:gd name="connsiteY4" fmla="*/ 40697 h 358750"/>
              <a:gd name="connsiteX5" fmla="*/ 310161 w 311923"/>
              <a:gd name="connsiteY5" fmla="*/ 179845 h 358750"/>
              <a:gd name="connsiteX6" fmla="*/ 290283 w 311923"/>
              <a:gd name="connsiteY6" fmla="*/ 299115 h 35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1923" h="358750">
                <a:moveTo>
                  <a:pt x="121317" y="358750"/>
                </a:moveTo>
                <a:cubicBezTo>
                  <a:pt x="90671" y="339700"/>
                  <a:pt x="51743" y="287519"/>
                  <a:pt x="31865" y="239480"/>
                </a:cubicBezTo>
                <a:cubicBezTo>
                  <a:pt x="11987" y="191441"/>
                  <a:pt x="-6235" y="110272"/>
                  <a:pt x="2048" y="70515"/>
                </a:cubicBezTo>
                <a:cubicBezTo>
                  <a:pt x="10331" y="30758"/>
                  <a:pt x="40148" y="5911"/>
                  <a:pt x="81561" y="941"/>
                </a:cubicBezTo>
                <a:cubicBezTo>
                  <a:pt x="122974" y="-4029"/>
                  <a:pt x="212426" y="10880"/>
                  <a:pt x="250526" y="40697"/>
                </a:cubicBezTo>
                <a:cubicBezTo>
                  <a:pt x="288626" y="70514"/>
                  <a:pt x="303535" y="136775"/>
                  <a:pt x="310161" y="179845"/>
                </a:cubicBezTo>
                <a:cubicBezTo>
                  <a:pt x="316787" y="222915"/>
                  <a:pt x="303535" y="261015"/>
                  <a:pt x="290283" y="299115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Number Placeholder 5">
            <a:extLst>
              <a:ext uri="{FF2B5EF4-FFF2-40B4-BE49-F238E27FC236}">
                <a16:creationId xmlns:a16="http://schemas.microsoft.com/office/drawing/2014/main" id="{5FFE8424-16D7-42A2-A8DF-7566F864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kumimoji="0" lang="en-US" altLang="en-US" sz="1400"/>
              <a:t>Lab 01-</a:t>
            </a:r>
            <a:fld id="{D83731D8-A5DF-4E0F-B01E-63D0DFC8696A}" type="slidenum">
              <a:rPr kumimoji="0" lang="en-US" altLang="en-US" sz="1400" smtClean="0"/>
              <a:pPr>
                <a:spcBef>
                  <a:spcPct val="50000"/>
                </a:spcBef>
                <a:buClrTx/>
                <a:buSzTx/>
                <a:buFontTx/>
                <a:buNone/>
              </a:pPr>
              <a:t>30</a:t>
            </a:fld>
            <a:endParaRPr kumimoji="0" lang="en-US" altLang="en-US" sz="1400"/>
          </a:p>
        </p:txBody>
      </p:sp>
      <p:sp>
        <p:nvSpPr>
          <p:cNvPr id="28675" name="Rectangle 2">
            <a:extLst>
              <a:ext uri="{FF2B5EF4-FFF2-40B4-BE49-F238E27FC236}">
                <a16:creationId xmlns:a16="http://schemas.microsoft.com/office/drawing/2014/main" id="{309F6BEF-77E2-4D32-B878-D4120D8664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Graph Theory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76" name="Rectangle 7">
            <a:extLst>
              <a:ext uri="{FF2B5EF4-FFF2-40B4-BE49-F238E27FC236}">
                <a16:creationId xmlns:a16="http://schemas.microsoft.com/office/drawing/2014/main" id="{5673CD53-C556-42EB-A397-08EBD93B9C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533525"/>
            <a:ext cx="7391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2400" dirty="0">
                <a:latin typeface="Times New Roman" panose="02020603050405020304" pitchFamily="18" charset="0"/>
              </a:rPr>
              <a:t>How many walks of length 2 exists in this Adjacency </a:t>
            </a:r>
            <a:r>
              <a:rPr kumimoji="0" lang="en-US" altLang="en-US" sz="2400">
                <a:latin typeface="Times New Roman" panose="02020603050405020304" pitchFamily="18" charset="0"/>
              </a:rPr>
              <a:t>matrix? </a:t>
            </a:r>
            <a:endParaRPr kumimoji="0" lang="en-US" altLang="en-US" sz="2400" dirty="0">
              <a:latin typeface="Times New Roman" panose="02020603050405020304" pitchFamily="18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19D650B-D2F5-4A3F-95CD-9F310E58FF6F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3048000"/>
          <a:ext cx="3429000" cy="2243140"/>
        </p:xfrm>
        <a:graphic>
          <a:graphicData uri="http://schemas.openxmlformats.org/drawingml/2006/table">
            <a:tbl>
              <a:tblPr/>
              <a:tblGrid>
                <a:gridCol w="85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32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>
                          <a:latin typeface="Calibri"/>
                          <a:ea typeface="Calibri"/>
                          <a:cs typeface="Times New Roman"/>
                        </a:rPr>
                        <a:t>A</a:t>
                      </a:r>
                      <a:endParaRPr lang="en-US" sz="32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>
                          <a:latin typeface="Calibri"/>
                          <a:ea typeface="Calibri"/>
                          <a:cs typeface="Times New Roman"/>
                        </a:rPr>
                        <a:t>B</a:t>
                      </a:r>
                      <a:endParaRPr lang="en-US" sz="32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>
                          <a:latin typeface="Calibri"/>
                          <a:ea typeface="Calibri"/>
                          <a:cs typeface="Times New Roman"/>
                        </a:rPr>
                        <a:t>C</a:t>
                      </a:r>
                      <a:endParaRPr lang="en-US" sz="32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A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B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7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dirty="0">
                          <a:latin typeface="Calibri"/>
                          <a:ea typeface="Calibri"/>
                          <a:cs typeface="Times New Roman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1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latin typeface="Calibri"/>
                          <a:ea typeface="Calibri"/>
                          <a:cs typeface="Times New Roman"/>
                        </a:rPr>
                        <a:t>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>
            <a:extLst>
              <a:ext uri="{FF2B5EF4-FFF2-40B4-BE49-F238E27FC236}">
                <a16:creationId xmlns:a16="http://schemas.microsoft.com/office/drawing/2014/main" id="{32CC7E8D-617B-49C9-ACEA-BC8AA1D62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kumimoji="0" lang="en-US" altLang="en-US" sz="1400"/>
              <a:t>Lab 01-</a:t>
            </a:r>
            <a:fld id="{39845942-FEA4-4E1C-A05D-6E49FDAF825F}" type="slidenum">
              <a:rPr kumimoji="0" lang="en-US" altLang="en-US" sz="1400" smtClean="0"/>
              <a:pPr>
                <a:spcBef>
                  <a:spcPct val="50000"/>
                </a:spcBef>
                <a:buClrTx/>
                <a:buSzTx/>
                <a:buFontTx/>
                <a:buNone/>
              </a:pPr>
              <a:t>31</a:t>
            </a:fld>
            <a:endParaRPr kumimoji="0" lang="en-US" altLang="en-US" sz="1400"/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790BB70D-BC8C-42FD-B9E8-BCDEEAA74E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Matrix Multiplication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24" name="Picture 2">
            <a:extLst>
              <a:ext uri="{FF2B5EF4-FFF2-40B4-BE49-F238E27FC236}">
                <a16:creationId xmlns:a16="http://schemas.microsoft.com/office/drawing/2014/main" id="{FF3F6163-B9FB-4419-B236-33CA5ECA5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600200"/>
            <a:ext cx="6515100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Slide Number Placeholder 3">
            <a:extLst>
              <a:ext uri="{FF2B5EF4-FFF2-40B4-BE49-F238E27FC236}">
                <a16:creationId xmlns:a16="http://schemas.microsoft.com/office/drawing/2014/main" id="{F6B96E0A-D7B0-4A22-B627-D2B0486D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kumimoji="0" lang="en-US" altLang="en-US" sz="1400"/>
              <a:t>Lab 01-</a:t>
            </a:r>
            <a:fld id="{737097F5-D2DC-4688-A598-01F43F3DE639}" type="slidenum">
              <a:rPr kumimoji="0" lang="en-US" altLang="en-US" sz="1400" smtClean="0"/>
              <a:pPr>
                <a:spcBef>
                  <a:spcPct val="50000"/>
                </a:spcBef>
                <a:buClrTx/>
                <a:buSzTx/>
                <a:buFontTx/>
                <a:buNone/>
              </a:pPr>
              <a:t>32</a:t>
            </a:fld>
            <a:endParaRPr kumimoji="0" lang="en-US" altLang="en-US" sz="1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A271D-8FD1-4FB5-ABBA-BD80110A0AE0}"/>
              </a:ext>
            </a:extLst>
          </p:cNvPr>
          <p:cNvSpPr/>
          <p:nvPr/>
        </p:nvSpPr>
        <p:spPr>
          <a:xfrm>
            <a:off x="1066800" y="973667"/>
            <a:ext cx="78486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dirty="0">
                <a:solidFill>
                  <a:srgbClr val="282829"/>
                </a:solidFill>
                <a:latin typeface="-apple-system"/>
              </a:rPr>
              <a:t>FYI, some older texts use the terms </a:t>
            </a:r>
            <a:r>
              <a:rPr lang="en-US" sz="4400" b="1" dirty="0">
                <a:solidFill>
                  <a:srgbClr val="282829"/>
                </a:solidFill>
                <a:latin typeface="-apple-system"/>
              </a:rPr>
              <a:t>path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 and </a:t>
            </a:r>
            <a:r>
              <a:rPr lang="en-US" sz="4400" b="1" dirty="0">
                <a:solidFill>
                  <a:srgbClr val="282829"/>
                </a:solidFill>
                <a:latin typeface="-apple-system"/>
              </a:rPr>
              <a:t>simple path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 where we use </a:t>
            </a:r>
            <a:r>
              <a:rPr lang="en-US" sz="4400" b="1" dirty="0">
                <a:solidFill>
                  <a:srgbClr val="282829"/>
                </a:solidFill>
                <a:latin typeface="-apple-system"/>
              </a:rPr>
              <a:t>walk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 and </a:t>
            </a:r>
            <a:r>
              <a:rPr lang="en-US" sz="4400" b="1" dirty="0">
                <a:solidFill>
                  <a:srgbClr val="282829"/>
                </a:solidFill>
                <a:latin typeface="-apple-system"/>
              </a:rPr>
              <a:t>path</a:t>
            </a:r>
            <a:r>
              <a:rPr lang="en-US" sz="4400" dirty="0">
                <a:solidFill>
                  <a:srgbClr val="282829"/>
                </a:solidFill>
                <a:latin typeface="-apple-system"/>
              </a:rPr>
              <a:t>.  : (</a:t>
            </a:r>
          </a:p>
        </p:txBody>
      </p:sp>
    </p:spTree>
    <p:extLst>
      <p:ext uri="{BB962C8B-B14F-4D97-AF65-F5344CB8AC3E}">
        <p14:creationId xmlns:p14="http://schemas.microsoft.com/office/powerpoint/2010/main" val="2043752655"/>
      </p:ext>
    </p:extLst>
  </p:cSld>
  <p:clrMapOvr>
    <a:masterClrMapping/>
  </p:clrMapOvr>
</p:sld>
</file>

<file path=ppt/theme/theme1.xml><?xml version="1.0" encoding="utf-8"?>
<a:theme xmlns:a="http://schemas.openxmlformats.org/drawingml/2006/main" name="Dads Tie">
  <a:themeElements>
    <a:clrScheme name="Dads Tie 2">
      <a:dk1>
        <a:srgbClr val="000000"/>
      </a:dk1>
      <a:lt1>
        <a:srgbClr val="FFFFFF"/>
      </a:lt1>
      <a:dk2>
        <a:srgbClr val="003366"/>
      </a:dk2>
      <a:lt2>
        <a:srgbClr val="5490A8"/>
      </a:lt2>
      <a:accent1>
        <a:srgbClr val="0099CC"/>
      </a:accent1>
      <a:accent2>
        <a:srgbClr val="3366CC"/>
      </a:accent2>
      <a:accent3>
        <a:srgbClr val="FFFFFF"/>
      </a:accent3>
      <a:accent4>
        <a:srgbClr val="000000"/>
      </a:accent4>
      <a:accent5>
        <a:srgbClr val="AACAE2"/>
      </a:accent5>
      <a:accent6>
        <a:srgbClr val="2D5CB9"/>
      </a:accent6>
      <a:hlink>
        <a:srgbClr val="99CCFF"/>
      </a:hlink>
      <a:folHlink>
        <a:srgbClr val="E1E1B7"/>
      </a:folHlink>
    </a:clrScheme>
    <a:fontScheme name="Dads Ti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ads Tie 1">
        <a:dk1>
          <a:srgbClr val="5490A8"/>
        </a:dk1>
        <a:lt1>
          <a:srgbClr val="DDDDDD"/>
        </a:lt1>
        <a:dk2>
          <a:srgbClr val="00172E"/>
        </a:dk2>
        <a:lt2>
          <a:srgbClr val="CCECFF"/>
        </a:lt2>
        <a:accent1>
          <a:srgbClr val="0099CC"/>
        </a:accent1>
        <a:accent2>
          <a:srgbClr val="3366CC"/>
        </a:accent2>
        <a:accent3>
          <a:srgbClr val="AAABAD"/>
        </a:accent3>
        <a:accent4>
          <a:srgbClr val="BDBDBD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ds Tie 2">
        <a:dk1>
          <a:srgbClr val="000000"/>
        </a:dk1>
        <a:lt1>
          <a:srgbClr val="FFFFFF"/>
        </a:lt1>
        <a:dk2>
          <a:srgbClr val="003366"/>
        </a:dk2>
        <a:lt2>
          <a:srgbClr val="5490A8"/>
        </a:lt2>
        <a:accent1>
          <a:srgbClr val="0099CC"/>
        </a:accent1>
        <a:accent2>
          <a:srgbClr val="3366CC"/>
        </a:accent2>
        <a:accent3>
          <a:srgbClr val="FFFFFF"/>
        </a:accent3>
        <a:accent4>
          <a:srgbClr val="000000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4">
        <a:dk1>
          <a:srgbClr val="000000"/>
        </a:dk1>
        <a:lt1>
          <a:srgbClr val="FFFFFF"/>
        </a:lt1>
        <a:dk2>
          <a:srgbClr val="666633"/>
        </a:dk2>
        <a:lt2>
          <a:srgbClr val="908A6C"/>
        </a:lt2>
        <a:accent1>
          <a:srgbClr val="808000"/>
        </a:accent1>
        <a:accent2>
          <a:srgbClr val="996633"/>
        </a:accent2>
        <a:accent3>
          <a:srgbClr val="FFFFFF"/>
        </a:accent3>
        <a:accent4>
          <a:srgbClr val="000000"/>
        </a:accent4>
        <a:accent5>
          <a:srgbClr val="C0C0AA"/>
        </a:accent5>
        <a:accent6>
          <a:srgbClr val="8A5C2D"/>
        </a:accent6>
        <a:hlink>
          <a:srgbClr val="CCCC00"/>
        </a:hlink>
        <a:folHlink>
          <a:srgbClr val="D6DE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5">
        <a:dk1>
          <a:srgbClr val="000000"/>
        </a:dk1>
        <a:lt1>
          <a:srgbClr val="FFFFFF"/>
        </a:lt1>
        <a:dk2>
          <a:srgbClr val="181848"/>
        </a:dk2>
        <a:lt2>
          <a:srgbClr val="656F97"/>
        </a:lt2>
        <a:accent1>
          <a:srgbClr val="6666FF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B8B8FF"/>
        </a:accent5>
        <a:accent6>
          <a:srgbClr val="2D2D8A"/>
        </a:accent6>
        <a:hlink>
          <a:srgbClr val="9A9ABC"/>
        </a:hlink>
        <a:folHlink>
          <a:srgbClr val="D2B6C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6">
        <a:dk1>
          <a:srgbClr val="CC0066"/>
        </a:dk1>
        <a:lt1>
          <a:srgbClr val="FFFFFF"/>
        </a:lt1>
        <a:dk2>
          <a:srgbClr val="000000"/>
        </a:dk2>
        <a:lt2>
          <a:srgbClr val="CC0099"/>
        </a:lt2>
        <a:accent1>
          <a:srgbClr val="FF9900"/>
        </a:accent1>
        <a:accent2>
          <a:srgbClr val="CC6600"/>
        </a:accent2>
        <a:accent3>
          <a:srgbClr val="AAAAAA"/>
        </a:accent3>
        <a:accent4>
          <a:srgbClr val="DADADA"/>
        </a:accent4>
        <a:accent5>
          <a:srgbClr val="FFCAAA"/>
        </a:accent5>
        <a:accent6>
          <a:srgbClr val="B95C00"/>
        </a:accent6>
        <a:hlink>
          <a:srgbClr val="009900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Office\Templates\Presentation Designs\Dads Tie.pot</Template>
  <TotalTime>10122</TotalTime>
  <Words>998</Words>
  <Application>Microsoft Office PowerPoint</Application>
  <PresentationFormat>On-screen Show (4:3)</PresentationFormat>
  <Paragraphs>386</Paragraphs>
  <Slides>32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4" baseType="lpstr">
      <vt:lpstr>Abadi</vt:lpstr>
      <vt:lpstr>-apple-system</vt:lpstr>
      <vt:lpstr>Arial</vt:lpstr>
      <vt:lpstr>Calibri</vt:lpstr>
      <vt:lpstr>Comic Sans MS</vt:lpstr>
      <vt:lpstr>Lucida Sans</vt:lpstr>
      <vt:lpstr>Monotype Sorts</vt:lpstr>
      <vt:lpstr>Source Sans Pro SemiBold</vt:lpstr>
      <vt:lpstr>Tahoma</vt:lpstr>
      <vt:lpstr>Tekton Pro</vt:lpstr>
      <vt:lpstr>Times New Roman</vt:lpstr>
      <vt:lpstr>Dads Tie</vt:lpstr>
      <vt:lpstr>Graph Theory</vt:lpstr>
      <vt:lpstr>Undirected Graph</vt:lpstr>
      <vt:lpstr>Directed Graph</vt:lpstr>
      <vt:lpstr>Adjacency Matrix for a Directed Graph</vt:lpstr>
      <vt:lpstr>Adjacency Matrix for  an Undirected Graph</vt:lpstr>
      <vt:lpstr>Adjacency Matrix for  an Undirected Graph</vt:lpstr>
      <vt:lpstr>Weighted Graph</vt:lpstr>
      <vt:lpstr>Adjacency Matrix for a Weighted Graph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Complete Graph</vt:lpstr>
      <vt:lpstr>Graph Theory</vt:lpstr>
      <vt:lpstr>Graph Theory</vt:lpstr>
      <vt:lpstr>Graph Theory</vt:lpstr>
      <vt:lpstr>Graph Theory</vt:lpstr>
      <vt:lpstr>Graph Theory</vt:lpstr>
      <vt:lpstr>Graph Theory</vt:lpstr>
      <vt:lpstr>Matrix Multiplication</vt:lpstr>
      <vt:lpstr>PowerPoint Presentation</vt:lpstr>
    </vt:vector>
  </TitlesOfParts>
  <Company>Skylight Publishing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Methods</dc:title>
  <dc:subject>Chapter 7</dc:subject>
  <dc:creator>Maria Litvin and Gary Litvin</dc:creator>
  <cp:lastModifiedBy>Weldon Jasik</cp:lastModifiedBy>
  <cp:revision>643</cp:revision>
  <cp:lastPrinted>2021-05-14T18:26:42Z</cp:lastPrinted>
  <dcterms:created xsi:type="dcterms:W3CDTF">2002-08-16T13:24:03Z</dcterms:created>
  <dcterms:modified xsi:type="dcterms:W3CDTF">2024-03-05T18:35:01Z</dcterms:modified>
</cp:coreProperties>
</file>