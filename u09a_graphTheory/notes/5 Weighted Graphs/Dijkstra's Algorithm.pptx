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1" r:id="rId8"/>
    <p:sldId id="262" r:id="rId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5" autoAdjust="0"/>
    <p:restoredTop sz="94710" autoAdjust="0"/>
  </p:normalViewPr>
  <p:slideViewPr>
    <p:cSldViewPr>
      <p:cViewPr varScale="1">
        <p:scale>
          <a:sx n="67" d="100"/>
          <a:sy n="67" d="100"/>
        </p:scale>
        <p:origin x="984" y="5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45819" y="1069847"/>
            <a:ext cx="8591550" cy="5864860"/>
          </a:xfrm>
          <a:custGeom>
            <a:avLst/>
            <a:gdLst/>
            <a:ahLst/>
            <a:cxnLst/>
            <a:rect l="l" t="t" r="r" b="b"/>
            <a:pathLst>
              <a:path w="8591550" h="5864859">
                <a:moveTo>
                  <a:pt x="0" y="0"/>
                </a:moveTo>
                <a:lnTo>
                  <a:pt x="0" y="5864352"/>
                </a:lnTo>
                <a:lnTo>
                  <a:pt x="8591550" y="5864352"/>
                </a:lnTo>
                <a:lnTo>
                  <a:pt x="8591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38200" y="1066800"/>
            <a:ext cx="8590280" cy="5863590"/>
          </a:xfrm>
          <a:custGeom>
            <a:avLst/>
            <a:gdLst/>
            <a:ahLst/>
            <a:cxnLst/>
            <a:rect l="l" t="t" r="r" b="b"/>
            <a:pathLst>
              <a:path w="8590280" h="5863590">
                <a:moveTo>
                  <a:pt x="8590026" y="0"/>
                </a:moveTo>
                <a:lnTo>
                  <a:pt x="0" y="0"/>
                </a:lnTo>
                <a:lnTo>
                  <a:pt x="0" y="5863590"/>
                </a:lnTo>
              </a:path>
            </a:pathLst>
          </a:custGeom>
          <a:ln w="12700">
            <a:solidFill>
              <a:srgbClr val="B2B2B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57250" y="1066800"/>
            <a:ext cx="8590280" cy="5863590"/>
          </a:xfrm>
          <a:custGeom>
            <a:avLst/>
            <a:gdLst/>
            <a:ahLst/>
            <a:cxnLst/>
            <a:rect l="l" t="t" r="r" b="b"/>
            <a:pathLst>
              <a:path w="8590280" h="5863590">
                <a:moveTo>
                  <a:pt x="8590026" y="0"/>
                </a:moveTo>
                <a:lnTo>
                  <a:pt x="8590026" y="5863590"/>
                </a:lnTo>
                <a:lnTo>
                  <a:pt x="0" y="586359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0" y="0"/>
                </a:moveTo>
                <a:lnTo>
                  <a:pt x="0" y="318516"/>
                </a:lnTo>
                <a:lnTo>
                  <a:pt x="275082" y="318516"/>
                </a:lnTo>
                <a:lnTo>
                  <a:pt x="275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275081" y="0"/>
                </a:moveTo>
                <a:lnTo>
                  <a:pt x="0" y="0"/>
                </a:lnTo>
                <a:lnTo>
                  <a:pt x="0" y="318516"/>
                </a:lnTo>
                <a:lnTo>
                  <a:pt x="275081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96823" y="619505"/>
            <a:ext cx="275590" cy="318770"/>
          </a:xfrm>
          <a:custGeom>
            <a:avLst/>
            <a:gdLst/>
            <a:ahLst/>
            <a:cxnLst/>
            <a:rect l="l" t="t" r="r" b="b"/>
            <a:pathLst>
              <a:path w="275590" h="318769">
                <a:moveTo>
                  <a:pt x="275081" y="318516"/>
                </a:moveTo>
                <a:lnTo>
                  <a:pt x="275081" y="0"/>
                </a:lnTo>
                <a:lnTo>
                  <a:pt x="0" y="318516"/>
                </a:lnTo>
                <a:lnTo>
                  <a:pt x="275081" y="318516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79119" y="1065275"/>
            <a:ext cx="106680" cy="5869305"/>
          </a:xfrm>
          <a:custGeom>
            <a:avLst/>
            <a:gdLst/>
            <a:ahLst/>
            <a:cxnLst/>
            <a:rect l="l" t="t" r="r" b="b"/>
            <a:pathLst>
              <a:path w="106679" h="5869305">
                <a:moveTo>
                  <a:pt x="0" y="0"/>
                </a:moveTo>
                <a:lnTo>
                  <a:pt x="0" y="5868924"/>
                </a:lnTo>
                <a:lnTo>
                  <a:pt x="106680" y="5868924"/>
                </a:lnTo>
                <a:lnTo>
                  <a:pt x="106679" y="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579881" y="1065275"/>
            <a:ext cx="106045" cy="5869305"/>
          </a:xfrm>
          <a:custGeom>
            <a:avLst/>
            <a:gdLst/>
            <a:ahLst/>
            <a:cxnLst/>
            <a:rect l="l" t="t" r="r" b="b"/>
            <a:pathLst>
              <a:path w="106045" h="5869305">
                <a:moveTo>
                  <a:pt x="105918" y="5868924"/>
                </a:moveTo>
                <a:lnTo>
                  <a:pt x="105917" y="0"/>
                </a:lnTo>
                <a:lnTo>
                  <a:pt x="0" y="5868924"/>
                </a:lnTo>
                <a:lnTo>
                  <a:pt x="105918" y="5868924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579881" y="1065275"/>
            <a:ext cx="106045" cy="5869305"/>
          </a:xfrm>
          <a:custGeom>
            <a:avLst/>
            <a:gdLst/>
            <a:ahLst/>
            <a:cxnLst/>
            <a:rect l="l" t="t" r="r" b="b"/>
            <a:pathLst>
              <a:path w="106045" h="5869305">
                <a:moveTo>
                  <a:pt x="105918" y="0"/>
                </a:moveTo>
                <a:lnTo>
                  <a:pt x="0" y="0"/>
                </a:lnTo>
                <a:lnTo>
                  <a:pt x="0" y="5868924"/>
                </a:lnTo>
                <a:lnTo>
                  <a:pt x="105918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9977" y="608076"/>
            <a:ext cx="8378444" cy="365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902" y="1255521"/>
            <a:ext cx="8070595" cy="275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95335" y="7069280"/>
            <a:ext cx="15494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41502" y="7039760"/>
            <a:ext cx="67310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A0033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1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Weighted</a:t>
            </a:r>
            <a:r>
              <a:rPr spc="-60" dirty="0"/>
              <a:t> </a:t>
            </a:r>
            <a:r>
              <a:rPr dirty="0"/>
              <a:t>Graphs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407921"/>
            <a:ext cx="373697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In many applications, each edge 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02" y="1712721"/>
            <a:ext cx="3490595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graph has an associated numerical  value, called 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u="sng" spc="-5" dirty="0">
                <a:latin typeface="Times New Roman"/>
                <a:cs typeface="Times New Roman"/>
              </a:rPr>
              <a:t>weight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106" y="2474721"/>
            <a:ext cx="3550285" cy="138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Usually, the edge weights are non-  </a:t>
            </a:r>
            <a:r>
              <a:rPr sz="2000" spc="-10" dirty="0">
                <a:latin typeface="Times New Roman"/>
                <a:cs typeface="Times New Roman"/>
              </a:rPr>
              <a:t>negative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integers.</a:t>
            </a:r>
            <a:endParaRPr sz="2000">
              <a:latin typeface="Times New Roman"/>
              <a:cs typeface="Times New Roman"/>
            </a:endParaRPr>
          </a:p>
          <a:p>
            <a:pPr marL="12700" marR="36068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Weighted </a:t>
            </a:r>
            <a:r>
              <a:rPr sz="2000" spc="-10" dirty="0">
                <a:latin typeface="Times New Roman"/>
                <a:cs typeface="Times New Roman"/>
              </a:rPr>
              <a:t>graphs </a:t>
            </a:r>
            <a:r>
              <a:rPr sz="2000" spc="-5" dirty="0">
                <a:latin typeface="Times New Roman"/>
                <a:cs typeface="Times New Roman"/>
              </a:rPr>
              <a:t>may be either  </a:t>
            </a:r>
            <a:r>
              <a:rPr sz="2000" spc="-10" dirty="0">
                <a:latin typeface="Times New Roman"/>
                <a:cs typeface="Times New Roman"/>
              </a:rPr>
              <a:t>directed </a:t>
            </a:r>
            <a:r>
              <a:rPr sz="2000" spc="-5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undirected.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6" name="object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7" name="object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8" name="Group 5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7A8B8405-BDD8-32B5-1EFA-4FD3D42E374E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7" name="object 7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553200" y="4273801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70102" y="5065521"/>
            <a:ext cx="7440930" cy="138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weight of an edge is often referred to as the </a:t>
            </a:r>
            <a:r>
              <a:rPr sz="2000" spc="-10" dirty="0">
                <a:latin typeface="Times New Roman"/>
                <a:cs typeface="Times New Roman"/>
              </a:rPr>
              <a:t>"cost" </a:t>
            </a:r>
            <a:r>
              <a:rPr sz="2000" spc="-5" dirty="0">
                <a:latin typeface="Times New Roman"/>
                <a:cs typeface="Times New Roman"/>
              </a:rPr>
              <a:t>of the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In applications, the </a:t>
            </a:r>
            <a:r>
              <a:rPr sz="2000" spc="-10" dirty="0">
                <a:latin typeface="Times New Roman"/>
                <a:cs typeface="Times New Roman"/>
              </a:rPr>
              <a:t>weight </a:t>
            </a:r>
            <a:r>
              <a:rPr sz="2000" spc="-5" dirty="0">
                <a:latin typeface="Times New Roman"/>
                <a:cs typeface="Times New Roman"/>
              </a:rPr>
              <a:t>may be a measure of the length of a route, the  capacity of a line, the energy </a:t>
            </a:r>
            <a:r>
              <a:rPr sz="2000" spc="-10" dirty="0">
                <a:latin typeface="Times New Roman"/>
                <a:cs typeface="Times New Roman"/>
              </a:rPr>
              <a:t>required </a:t>
            </a:r>
            <a:r>
              <a:rPr sz="2000" spc="-5" dirty="0">
                <a:latin typeface="Times New Roman"/>
                <a:cs typeface="Times New Roman"/>
              </a:rPr>
              <a:t>to move </a:t>
            </a:r>
            <a:r>
              <a:rPr sz="2000" spc="-10" dirty="0">
                <a:latin typeface="Times New Roman"/>
                <a:cs typeface="Times New Roman"/>
              </a:rPr>
              <a:t>between </a:t>
            </a:r>
            <a:r>
              <a:rPr sz="2000" spc="-5" dirty="0">
                <a:latin typeface="Times New Roman"/>
                <a:cs typeface="Times New Roman"/>
              </a:rPr>
              <a:t>locations along a  route,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2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Shortest Paths</a:t>
            </a:r>
            <a:r>
              <a:rPr spc="-100" dirty="0"/>
              <a:t> </a:t>
            </a:r>
            <a:r>
              <a:rPr spc="-5" dirty="0"/>
              <a:t>(SSAD)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255521"/>
            <a:ext cx="3735070" cy="153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Given a weighted graph, and a  designated node S, we would like to  find a path of least total </a:t>
            </a:r>
            <a:r>
              <a:rPr sz="2000" spc="-10" dirty="0">
                <a:latin typeface="Times New Roman"/>
                <a:cs typeface="Times New Roman"/>
              </a:rPr>
              <a:t>weight from  </a:t>
            </a:r>
            <a:r>
              <a:rPr sz="2000" spc="-5" dirty="0">
                <a:latin typeface="Times New Roman"/>
                <a:cs typeface="Times New Roman"/>
              </a:rPr>
              <a:t>S to each of the other vertices in the  graph.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02" y="3389119"/>
            <a:ext cx="3729990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total weight of a path is the sum  of the weights of its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edges.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4" name="object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6" name="Group 55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8239E2A2-C5B8-A712-5D25-26BE49FC5449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6" name="object 6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70102" y="4273801"/>
            <a:ext cx="7976234" cy="2022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363345" algn="r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have seen that performing a DFS or BFS on the graph will produce a  spanning tree, but neither of those algorithms takes edge weights into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account.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There is a </a:t>
            </a:r>
            <a:r>
              <a:rPr sz="2000" spc="-10" dirty="0">
                <a:latin typeface="Times New Roman"/>
                <a:cs typeface="Times New Roman"/>
              </a:rPr>
              <a:t>simple, </a:t>
            </a:r>
            <a:r>
              <a:rPr sz="2000" spc="-5" dirty="0">
                <a:latin typeface="Times New Roman"/>
                <a:cs typeface="Times New Roman"/>
              </a:rPr>
              <a:t>greedy </a:t>
            </a:r>
            <a:r>
              <a:rPr sz="2000" spc="-10" dirty="0">
                <a:latin typeface="Times New Roman"/>
                <a:cs typeface="Times New Roman"/>
              </a:rPr>
              <a:t>algorithm </a:t>
            </a:r>
            <a:r>
              <a:rPr sz="2000" spc="-5" dirty="0">
                <a:latin typeface="Times New Roman"/>
                <a:cs typeface="Times New Roman"/>
              </a:rPr>
              <a:t>that will solve this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problem.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3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</a:t>
            </a:r>
            <a:r>
              <a:rPr dirty="0"/>
              <a:t>SSAD</a:t>
            </a:r>
            <a:r>
              <a:rPr spc="-15" dirty="0"/>
              <a:t> </a:t>
            </a:r>
            <a:r>
              <a:rPr spc="-5" dirty="0"/>
              <a:t>Algorithm*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0102" y="1255521"/>
            <a:ext cx="3840479" cy="3060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8224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</a:t>
            </a:r>
            <a:r>
              <a:rPr sz="2000" spc="-10" dirty="0">
                <a:latin typeface="Times New Roman"/>
                <a:cs typeface="Times New Roman"/>
              </a:rPr>
              <a:t>assume </a:t>
            </a:r>
            <a:r>
              <a:rPr sz="2000" spc="-5" dirty="0">
                <a:latin typeface="Times New Roman"/>
                <a:cs typeface="Times New Roman"/>
              </a:rPr>
              <a:t>that there is a path </a:t>
            </a:r>
            <a:r>
              <a:rPr sz="2000" spc="-10" dirty="0">
                <a:latin typeface="Times New Roman"/>
                <a:cs typeface="Times New Roman"/>
              </a:rPr>
              <a:t>from  </a:t>
            </a:r>
            <a:r>
              <a:rPr sz="2000" spc="-5" dirty="0">
                <a:latin typeface="Times New Roman"/>
                <a:cs typeface="Times New Roman"/>
              </a:rPr>
              <a:t>the source vertex </a:t>
            </a:r>
            <a:r>
              <a:rPr sz="2000" i="1" spc="-5" dirty="0">
                <a:latin typeface="Times New Roman"/>
                <a:cs typeface="Times New Roman"/>
              </a:rPr>
              <a:t>s </a:t>
            </a:r>
            <a:r>
              <a:rPr sz="2000" spc="-5" dirty="0">
                <a:latin typeface="Times New Roman"/>
                <a:cs typeface="Times New Roman"/>
              </a:rPr>
              <a:t>to every other  vertex in 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graph.</a:t>
            </a:r>
            <a:endParaRPr sz="2000">
              <a:latin typeface="Times New Roman"/>
              <a:cs typeface="Times New Roman"/>
            </a:endParaRPr>
          </a:p>
          <a:p>
            <a:pPr marL="12700" marR="28511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Let S be the set of vertices whose  minimum </a:t>
            </a:r>
            <a:r>
              <a:rPr sz="2000" spc="-10" dirty="0">
                <a:latin typeface="Times New Roman"/>
                <a:cs typeface="Times New Roman"/>
              </a:rPr>
              <a:t>distance </a:t>
            </a:r>
            <a:r>
              <a:rPr sz="2000" spc="-5" dirty="0">
                <a:latin typeface="Times New Roman"/>
                <a:cs typeface="Times New Roman"/>
              </a:rPr>
              <a:t>from the </a:t>
            </a:r>
            <a:r>
              <a:rPr sz="2000" spc="-10" dirty="0">
                <a:latin typeface="Times New Roman"/>
                <a:cs typeface="Times New Roman"/>
              </a:rPr>
              <a:t>source  </a:t>
            </a:r>
            <a:r>
              <a:rPr sz="2000" spc="-5" dirty="0">
                <a:latin typeface="Times New Roman"/>
                <a:cs typeface="Times New Roman"/>
              </a:rPr>
              <a:t>vertex has been found. </a:t>
            </a:r>
            <a:r>
              <a:rPr sz="2000" spc="-10" dirty="0">
                <a:latin typeface="Times New Roman"/>
                <a:cs typeface="Times New Roman"/>
              </a:rPr>
              <a:t>Initially </a:t>
            </a:r>
            <a:r>
              <a:rPr sz="2000" spc="-5" dirty="0">
                <a:latin typeface="Times New Roman"/>
                <a:cs typeface="Times New Roman"/>
              </a:rPr>
              <a:t>S  contains only the </a:t>
            </a:r>
            <a:r>
              <a:rPr sz="2000" spc="-10" dirty="0">
                <a:latin typeface="Times New Roman"/>
                <a:cs typeface="Times New Roman"/>
              </a:rPr>
              <a:t>source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vertex.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algorithm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iterative, </a:t>
            </a:r>
            <a:r>
              <a:rPr sz="2000" spc="-5" dirty="0">
                <a:latin typeface="Times New Roman"/>
                <a:cs typeface="Times New Roman"/>
              </a:rPr>
              <a:t>adding </a:t>
            </a:r>
            <a:r>
              <a:rPr sz="2000" spc="-10" dirty="0">
                <a:latin typeface="Times New Roman"/>
                <a:cs typeface="Times New Roman"/>
              </a:rPr>
              <a:t>one  </a:t>
            </a:r>
            <a:r>
              <a:rPr sz="2000" spc="-5" dirty="0">
                <a:latin typeface="Times New Roman"/>
                <a:cs typeface="Times New Roman"/>
              </a:rPr>
              <a:t>vertex to S on 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pass.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6" name="object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57" name="object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grpSp>
        <p:nvGrpSpPr>
          <p:cNvPr id="58" name="Group 5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D32FEFB2-C37C-FCC4-855C-12A2C3F01070}"/>
              </a:ext>
            </a:extLst>
          </p:cNvPr>
          <p:cNvGrpSpPr/>
          <p:nvPr/>
        </p:nvGrpSpPr>
        <p:grpSpPr>
          <a:xfrm>
            <a:off x="5334000" y="1371600"/>
            <a:ext cx="3886199" cy="3200907"/>
            <a:chOff x="5334000" y="1371600"/>
            <a:chExt cx="3886199" cy="3200907"/>
          </a:xfrm>
        </p:grpSpPr>
        <p:sp>
          <p:nvSpPr>
            <p:cNvPr id="5" name="object 5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0071" y="1371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355853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00593" y="1584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10">
                  <a:moveTo>
                    <a:pt x="178307" y="0"/>
                  </a:moveTo>
                  <a:lnTo>
                    <a:pt x="130968" y="5718"/>
                  </a:lnTo>
                  <a:lnTo>
                    <a:pt x="88391" y="21872"/>
                  </a:lnTo>
                  <a:lnTo>
                    <a:pt x="52292" y="46958"/>
                  </a:lnTo>
                  <a:lnTo>
                    <a:pt x="24383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3" y="241554"/>
                  </a:lnTo>
                  <a:lnTo>
                    <a:pt x="52292" y="273939"/>
                  </a:lnTo>
                  <a:lnTo>
                    <a:pt x="88391" y="298958"/>
                  </a:lnTo>
                  <a:lnTo>
                    <a:pt x="130968" y="315087"/>
                  </a:lnTo>
                  <a:lnTo>
                    <a:pt x="178307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3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4000" y="2545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29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6503" y="3611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5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6476" y="2225801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5" h="319405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65869" y="2650998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47026" y="4251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5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5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3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1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7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1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30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2695" y="3292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6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6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4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30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4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10778" y="3717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56503" y="1692401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70" h="852805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64402" y="1584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73852" y="2759201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73852" y="2438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7576" y="1905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81771" y="1837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46997" y="2971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29678" y="1905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9678" y="3611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10071" y="3505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019291" y="1397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653524" y="3759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5672580" y="3668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7219432" y="3330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6962647" y="2278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5438645" y="2568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919726" y="1625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977386" y="2707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5579617" y="194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6798818" y="1414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189217" y="3471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7526528" y="3776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408418" y="2557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6113017" y="3014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8932418" y="3319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8517128" y="2100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094218" y="2785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6113017" y="2328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842502" y="6574282"/>
            <a:ext cx="54610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*</a:t>
            </a:r>
            <a:r>
              <a:rPr sz="1400" spc="-10" dirty="0">
                <a:latin typeface="Arial"/>
                <a:cs typeface="Arial"/>
              </a:rPr>
              <a:t>1959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70102" y="4273801"/>
            <a:ext cx="7640955" cy="1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28700" algn="r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We maintain a table D such that for each vertex v, D(v) is the minimum  </a:t>
            </a:r>
            <a:r>
              <a:rPr sz="2000" spc="-10" dirty="0">
                <a:latin typeface="Times New Roman"/>
                <a:cs typeface="Times New Roman"/>
              </a:rPr>
              <a:t>distance </a:t>
            </a:r>
            <a:r>
              <a:rPr sz="2000" spc="-5" dirty="0">
                <a:latin typeface="Times New Roman"/>
                <a:cs typeface="Times New Roman"/>
              </a:rPr>
              <a:t>from the </a:t>
            </a:r>
            <a:r>
              <a:rPr sz="2000" spc="-10" dirty="0">
                <a:latin typeface="Times New Roman"/>
                <a:cs typeface="Times New Roman"/>
              </a:rPr>
              <a:t>source </a:t>
            </a:r>
            <a:r>
              <a:rPr sz="2000" spc="-5" dirty="0">
                <a:latin typeface="Times New Roman"/>
                <a:cs typeface="Times New Roman"/>
              </a:rPr>
              <a:t>vertex to v via </a:t>
            </a:r>
            <a:r>
              <a:rPr sz="2000" spc="-10" dirty="0">
                <a:latin typeface="Times New Roman"/>
                <a:cs typeface="Times New Roman"/>
              </a:rPr>
              <a:t>vertices </a:t>
            </a:r>
            <a:r>
              <a:rPr sz="2000" spc="-5" dirty="0">
                <a:latin typeface="Times New Roman"/>
                <a:cs typeface="Times New Roman"/>
              </a:rPr>
              <a:t>that are </a:t>
            </a:r>
            <a:r>
              <a:rPr sz="2000" spc="-10" dirty="0">
                <a:latin typeface="Times New Roman"/>
                <a:cs typeface="Times New Roman"/>
              </a:rPr>
              <a:t>already </a:t>
            </a:r>
            <a:r>
              <a:rPr sz="2000" spc="-5" dirty="0">
                <a:latin typeface="Times New Roman"/>
                <a:cs typeface="Times New Roman"/>
              </a:rPr>
              <a:t>in S </a:t>
            </a:r>
            <a:r>
              <a:rPr sz="2000" spc="-10" dirty="0">
                <a:latin typeface="Times New Roman"/>
                <a:cs typeface="Times New Roman"/>
              </a:rPr>
              <a:t>(aside  possibly </a:t>
            </a:r>
            <a:r>
              <a:rPr sz="2000" spc="-5" dirty="0">
                <a:latin typeface="Times New Roman"/>
                <a:cs typeface="Times New Roman"/>
              </a:rPr>
              <a:t>from v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itself).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70102" y="5827521"/>
            <a:ext cx="71628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Greed: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81126" y="5827521"/>
            <a:ext cx="6638290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on each iteration, add to S the vertex v not already in S for which  D(v) 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minimal.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80846"/>
            <a:ext cx="273113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Let the source vertex 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1" name="Group 60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7726D2C8-A3C0-A4BD-8C2A-27EDC6F20174}"/>
              </a:ext>
            </a:extLst>
          </p:cNvPr>
          <p:cNvGrpSpPr/>
          <p:nvPr/>
        </p:nvGrpSpPr>
        <p:grpSpPr>
          <a:xfrm>
            <a:off x="5486400" y="1081277"/>
            <a:ext cx="3886199" cy="3200909"/>
            <a:chOff x="5486400" y="1081277"/>
            <a:chExt cx="3886199" cy="3200909"/>
          </a:xfrm>
        </p:grpSpPr>
        <p:sp>
          <p:nvSpPr>
            <p:cNvPr id="5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70102" y="4519929"/>
            <a:ext cx="79248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{a}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99381"/>
              </p:ext>
            </p:extLst>
          </p:nvPr>
        </p:nvGraphicFramePr>
        <p:xfrm>
          <a:off x="3719512" y="4481512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rgbClr val="0000CC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3432302" y="4535170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70104" y="5739118"/>
            <a:ext cx="100330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{a,b}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32302" y="5756655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62" name="object 53">
            <a:extLst>
              <a:ext uri="{FF2B5EF4-FFF2-40B4-BE49-F238E27FC236}">
                <a16:creationId xmlns:a16="http://schemas.microsoft.com/office/drawing/2014/main" id="{C39D23F6-2C0E-3AD8-D3C3-1DC4D48C8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0921"/>
              </p:ext>
            </p:extLst>
          </p:nvPr>
        </p:nvGraphicFramePr>
        <p:xfrm>
          <a:off x="3719512" y="5797424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rgbClr val="0000CC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40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80846"/>
            <a:ext cx="273113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Let the source vertex 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2" name="Group 51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C93CED81-CD03-C659-7D5D-F09BB5F951AB}"/>
              </a:ext>
            </a:extLst>
          </p:cNvPr>
          <p:cNvGrpSpPr/>
          <p:nvPr/>
        </p:nvGrpSpPr>
        <p:grpSpPr>
          <a:xfrm>
            <a:off x="5486400" y="1081277"/>
            <a:ext cx="3886199" cy="3200909"/>
            <a:chOff x="5486400" y="1081277"/>
            <a:chExt cx="3886199" cy="3200909"/>
          </a:xfrm>
        </p:grpSpPr>
        <p:sp>
          <p:nvSpPr>
            <p:cNvPr id="5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62" name="object 6"/>
          <p:cNvSpPr txBox="1"/>
          <p:nvPr/>
        </p:nvSpPr>
        <p:spPr>
          <a:xfrm>
            <a:off x="1376657" y="4655752"/>
            <a:ext cx="135572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3" name="object 7"/>
          <p:cNvSpPr txBox="1"/>
          <p:nvPr/>
        </p:nvSpPr>
        <p:spPr>
          <a:xfrm>
            <a:off x="3448685" y="4495800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4" name="object 8"/>
          <p:cNvSpPr txBox="1"/>
          <p:nvPr/>
        </p:nvSpPr>
        <p:spPr>
          <a:xfrm>
            <a:off x="1376657" y="5722551"/>
            <a:ext cx="162242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c}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9"/>
          <p:cNvSpPr txBox="1"/>
          <p:nvPr/>
        </p:nvSpPr>
        <p:spPr>
          <a:xfrm>
            <a:off x="3448685" y="5740085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5" name="object 53">
            <a:extLst>
              <a:ext uri="{FF2B5EF4-FFF2-40B4-BE49-F238E27FC236}">
                <a16:creationId xmlns:a16="http://schemas.microsoft.com/office/drawing/2014/main" id="{66F00485-6519-792B-CE78-83F7D1C57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573118"/>
              </p:ext>
            </p:extLst>
          </p:nvPr>
        </p:nvGraphicFramePr>
        <p:xfrm>
          <a:off x="3719512" y="4481512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56" name="object 53">
            <a:extLst>
              <a:ext uri="{FF2B5EF4-FFF2-40B4-BE49-F238E27FC236}">
                <a16:creationId xmlns:a16="http://schemas.microsoft.com/office/drawing/2014/main" id="{BDD79ABD-45DC-D546-3314-88446F4C5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99418"/>
              </p:ext>
            </p:extLst>
          </p:nvPr>
        </p:nvGraphicFramePr>
        <p:xfrm>
          <a:off x="3719512" y="5797424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Symbol"/>
                          <a:cs typeface="Symbol"/>
                        </a:rPr>
                        <a:t>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null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78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512571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4</a:t>
            </a:r>
            <a:endParaRPr sz="3000" baseline="2777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9977" y="457200"/>
            <a:ext cx="8378444" cy="365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76" name="object 10"/>
          <p:cNvSpPr txBox="1"/>
          <p:nvPr/>
        </p:nvSpPr>
        <p:spPr>
          <a:xfrm>
            <a:off x="1243904" y="1092012"/>
            <a:ext cx="190373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7" name="object 11"/>
          <p:cNvSpPr txBox="1"/>
          <p:nvPr/>
        </p:nvSpPr>
        <p:spPr>
          <a:xfrm>
            <a:off x="3581400" y="1243157"/>
            <a:ext cx="208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8" name="object 12"/>
          <p:cNvSpPr txBox="1"/>
          <p:nvPr/>
        </p:nvSpPr>
        <p:spPr>
          <a:xfrm>
            <a:off x="1243904" y="2292422"/>
            <a:ext cx="2185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0" name="object 14"/>
          <p:cNvSpPr txBox="1"/>
          <p:nvPr/>
        </p:nvSpPr>
        <p:spPr>
          <a:xfrm>
            <a:off x="1243904" y="3647440"/>
            <a:ext cx="239585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f}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85" name="Group 84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/>
          <p:cNvGrpSpPr/>
          <p:nvPr/>
        </p:nvGrpSpPr>
        <p:grpSpPr>
          <a:xfrm>
            <a:off x="914400" y="4528764"/>
            <a:ext cx="3845560" cy="3167436"/>
            <a:chOff x="5486400" y="1081277"/>
            <a:chExt cx="3886199" cy="3200909"/>
          </a:xfrm>
        </p:grpSpPr>
        <p:sp>
          <p:nvSpPr>
            <p:cNvPr id="86" name="object 5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6"/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7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"/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10"/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11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12"/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13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14"/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15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6"/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7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8"/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9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20"/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21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22"/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23"/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24"/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25"/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26"/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27"/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28"/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29"/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30"/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31"/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32"/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33"/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5" name="object 34"/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6" name="object 35"/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7" name="object 36"/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8" name="object 37"/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19" name="object 38"/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0" name="object 39"/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1" name="object 40"/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2" name="object 41"/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23" name="object 42"/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4" name="object 43"/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5" name="object 44"/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6" name="object 45"/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7" name="object 46"/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 dirty="0">
                <a:latin typeface="Arial"/>
                <a:cs typeface="Arial"/>
              </a:endParaRPr>
            </a:p>
          </p:txBody>
        </p:sp>
        <p:sp>
          <p:nvSpPr>
            <p:cNvPr id="128" name="object 47"/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29" name="object 48"/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0" name="object 49"/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1" name="object 50"/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32" name="object 51"/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graphicFrame>
        <p:nvGraphicFramePr>
          <p:cNvPr id="4" name="object 53">
            <a:extLst>
              <a:ext uri="{FF2B5EF4-FFF2-40B4-BE49-F238E27FC236}">
                <a16:creationId xmlns:a16="http://schemas.microsoft.com/office/drawing/2014/main" id="{66C94437-6108-3BF2-30FA-0988D8C97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04435"/>
              </p:ext>
            </p:extLst>
          </p:nvPr>
        </p:nvGraphicFramePr>
        <p:xfrm>
          <a:off x="3886200" y="1066800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5" name="object 53">
            <a:extLst>
              <a:ext uri="{FF2B5EF4-FFF2-40B4-BE49-F238E27FC236}">
                <a16:creationId xmlns:a16="http://schemas.microsoft.com/office/drawing/2014/main" id="{198B116C-0177-B8DE-8421-033C65150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15978"/>
              </p:ext>
            </p:extLst>
          </p:nvPr>
        </p:nvGraphicFramePr>
        <p:xfrm>
          <a:off x="3886200" y="2362200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6" name="object 53">
            <a:extLst>
              <a:ext uri="{FF2B5EF4-FFF2-40B4-BE49-F238E27FC236}">
                <a16:creationId xmlns:a16="http://schemas.microsoft.com/office/drawing/2014/main" id="{C4A8790F-0AA3-52E2-7F77-1CD1D071E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43726"/>
              </p:ext>
            </p:extLst>
          </p:nvPr>
        </p:nvGraphicFramePr>
        <p:xfrm>
          <a:off x="3886200" y="3691391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d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7" name="object 14">
            <a:extLst>
              <a:ext uri="{FF2B5EF4-FFF2-40B4-BE49-F238E27FC236}">
                <a16:creationId xmlns:a16="http://schemas.microsoft.com/office/drawing/2014/main" id="{5E7D384B-5808-C4D0-28AB-9B5F07D484A1}"/>
              </a:ext>
            </a:extLst>
          </p:cNvPr>
          <p:cNvSpPr txBox="1"/>
          <p:nvPr/>
        </p:nvSpPr>
        <p:spPr>
          <a:xfrm>
            <a:off x="5318699" y="5251538"/>
            <a:ext cx="4663501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200" spc="-5" dirty="0">
                <a:latin typeface="Arial"/>
                <a:cs typeface="Arial"/>
              </a:rPr>
              <a:t>Which distances changed while processing nodes </a:t>
            </a:r>
            <a:br>
              <a:rPr lang="en-US" sz="3200" spc="-5" dirty="0">
                <a:latin typeface="Arial"/>
                <a:cs typeface="Arial"/>
              </a:rPr>
            </a:br>
            <a:r>
              <a:rPr lang="en-US" sz="3200" spc="-5" dirty="0">
                <a:latin typeface="Arial"/>
                <a:cs typeface="Arial"/>
              </a:rPr>
              <a:t>g and f?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84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6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9977" y="457200"/>
            <a:ext cx="8378444" cy="3657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Dijkstra's Algorithm</a:t>
            </a:r>
            <a:r>
              <a:rPr spc="-10" dirty="0"/>
              <a:t> </a:t>
            </a:r>
            <a:r>
              <a:rPr dirty="0"/>
              <a:t>Trace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4400" y="1295400"/>
            <a:ext cx="267779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 f,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376688"/>
            <a:ext cx="287591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S = {a, b, h, c, e, g, f, d,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i}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63" name="Group 62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A20D4907-8C5B-78B4-B148-1F79BA705439}"/>
              </a:ext>
            </a:extLst>
          </p:cNvPr>
          <p:cNvGrpSpPr/>
          <p:nvPr/>
        </p:nvGrpSpPr>
        <p:grpSpPr>
          <a:xfrm>
            <a:off x="990600" y="3581400"/>
            <a:ext cx="3845560" cy="3167436"/>
            <a:chOff x="5486400" y="1081277"/>
            <a:chExt cx="3886199" cy="3200909"/>
          </a:xfrm>
        </p:grpSpPr>
        <p:sp>
          <p:nvSpPr>
            <p:cNvPr id="64" name="object 5">
              <a:extLst>
                <a:ext uri="{FF2B5EF4-FFF2-40B4-BE49-F238E27FC236}">
                  <a16:creationId xmlns:a16="http://schemas.microsoft.com/office/drawing/2014/main" id="{03D49A7A-88B9-5515-F399-0FB6B335A768}"/>
                </a:ext>
              </a:extLst>
            </p:cNvPr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">
              <a:extLst>
                <a:ext uri="{FF2B5EF4-FFF2-40B4-BE49-F238E27FC236}">
                  <a16:creationId xmlns:a16="http://schemas.microsoft.com/office/drawing/2014/main" id="{6057D609-FB31-F38E-2DDF-6FC31856454A}"/>
                </a:ext>
              </a:extLst>
            </p:cNvPr>
            <p:cNvSpPr/>
            <p:nvPr/>
          </p:nvSpPr>
          <p:spPr>
            <a:xfrm>
              <a:off x="6062471" y="108127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09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621"/>
                  </a:lnTo>
                  <a:lnTo>
                    <a:pt x="24186" y="240989"/>
                  </a:lnTo>
                  <a:lnTo>
                    <a:pt x="51911" y="273558"/>
                  </a:lnTo>
                  <a:lnTo>
                    <a:pt x="87827" y="298760"/>
                  </a:lnTo>
                  <a:lnTo>
                    <a:pt x="130263" y="315030"/>
                  </a:lnTo>
                  <a:lnTo>
                    <a:pt x="177546" y="320802"/>
                  </a:lnTo>
                  <a:lnTo>
                    <a:pt x="224507" y="315030"/>
                  </a:lnTo>
                  <a:lnTo>
                    <a:pt x="266728" y="298760"/>
                  </a:lnTo>
                  <a:lnTo>
                    <a:pt x="302514" y="273558"/>
                  </a:lnTo>
                  <a:lnTo>
                    <a:pt x="330171" y="240989"/>
                  </a:lnTo>
                  <a:lnTo>
                    <a:pt x="348008" y="202621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7">
              <a:extLst>
                <a:ext uri="{FF2B5EF4-FFF2-40B4-BE49-F238E27FC236}">
                  <a16:creationId xmlns:a16="http://schemas.microsoft.com/office/drawing/2014/main" id="{CFD8EC1F-B65D-A105-4A64-4A8021F97628}"/>
                </a:ext>
              </a:extLst>
            </p:cNvPr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355853" y="160020"/>
                  </a:move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8">
              <a:extLst>
                <a:ext uri="{FF2B5EF4-FFF2-40B4-BE49-F238E27FC236}">
                  <a16:creationId xmlns:a16="http://schemas.microsoft.com/office/drawing/2014/main" id="{9FDA72B8-24FC-E74A-4E6A-15999270872C}"/>
                </a:ext>
              </a:extLst>
            </p:cNvPr>
            <p:cNvSpPr/>
            <p:nvPr/>
          </p:nvSpPr>
          <p:spPr>
            <a:xfrm>
              <a:off x="7952993" y="1293875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4" h="321309">
                  <a:moveTo>
                    <a:pt x="178307" y="0"/>
                  </a:moveTo>
                  <a:lnTo>
                    <a:pt x="130968" y="5715"/>
                  </a:lnTo>
                  <a:lnTo>
                    <a:pt x="88391" y="21844"/>
                  </a:lnTo>
                  <a:lnTo>
                    <a:pt x="52292" y="46863"/>
                  </a:lnTo>
                  <a:lnTo>
                    <a:pt x="24383" y="79248"/>
                  </a:lnTo>
                  <a:lnTo>
                    <a:pt x="6381" y="117475"/>
                  </a:lnTo>
                  <a:lnTo>
                    <a:pt x="0" y="160020"/>
                  </a:lnTo>
                  <a:lnTo>
                    <a:pt x="6381" y="202886"/>
                  </a:lnTo>
                  <a:lnTo>
                    <a:pt x="24383" y="241328"/>
                  </a:lnTo>
                  <a:lnTo>
                    <a:pt x="52292" y="273843"/>
                  </a:lnTo>
                  <a:lnTo>
                    <a:pt x="88391" y="298929"/>
                  </a:lnTo>
                  <a:lnTo>
                    <a:pt x="130968" y="315083"/>
                  </a:lnTo>
                  <a:lnTo>
                    <a:pt x="178307" y="320802"/>
                  </a:lnTo>
                  <a:lnTo>
                    <a:pt x="225590" y="315083"/>
                  </a:lnTo>
                  <a:lnTo>
                    <a:pt x="268026" y="298929"/>
                  </a:lnTo>
                  <a:lnTo>
                    <a:pt x="303942" y="273843"/>
                  </a:lnTo>
                  <a:lnTo>
                    <a:pt x="331667" y="241328"/>
                  </a:lnTo>
                  <a:lnTo>
                    <a:pt x="349528" y="202886"/>
                  </a:lnTo>
                  <a:lnTo>
                    <a:pt x="355853" y="160020"/>
                  </a:lnTo>
                  <a:lnTo>
                    <a:pt x="349528" y="117475"/>
                  </a:lnTo>
                  <a:lnTo>
                    <a:pt x="331667" y="79247"/>
                  </a:lnTo>
                  <a:lnTo>
                    <a:pt x="303942" y="46862"/>
                  </a:lnTo>
                  <a:lnTo>
                    <a:pt x="268026" y="21843"/>
                  </a:lnTo>
                  <a:lnTo>
                    <a:pt x="225590" y="5714"/>
                  </a:lnTo>
                  <a:lnTo>
                    <a:pt x="17830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9">
              <a:extLst>
                <a:ext uri="{FF2B5EF4-FFF2-40B4-BE49-F238E27FC236}">
                  <a16:creationId xmlns:a16="http://schemas.microsoft.com/office/drawing/2014/main" id="{ACF9AD0D-3618-5652-0D12-A501AF21A62F}"/>
                </a:ext>
              </a:extLst>
            </p:cNvPr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10">
              <a:extLst>
                <a:ext uri="{FF2B5EF4-FFF2-40B4-BE49-F238E27FC236}">
                  <a16:creationId xmlns:a16="http://schemas.microsoft.com/office/drawing/2014/main" id="{0FFB7AA2-2996-021C-0EC8-E5778E33ADED}"/>
                </a:ext>
              </a:extLst>
            </p:cNvPr>
            <p:cNvSpPr/>
            <p:nvPr/>
          </p:nvSpPr>
          <p:spPr>
            <a:xfrm>
              <a:off x="5486400" y="2253995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4066" y="315087"/>
                  </a:lnTo>
                  <a:lnTo>
                    <a:pt x="266502" y="298958"/>
                  </a:lnTo>
                  <a:lnTo>
                    <a:pt x="302418" y="273939"/>
                  </a:lnTo>
                  <a:lnTo>
                    <a:pt x="330143" y="241554"/>
                  </a:lnTo>
                  <a:lnTo>
                    <a:pt x="348004" y="203327"/>
                  </a:lnTo>
                  <a:lnTo>
                    <a:pt x="354330" y="160782"/>
                  </a:lnTo>
                  <a:lnTo>
                    <a:pt x="348004" y="118180"/>
                  </a:lnTo>
                  <a:lnTo>
                    <a:pt x="330143" y="79812"/>
                  </a:lnTo>
                  <a:lnTo>
                    <a:pt x="302418" y="47244"/>
                  </a:lnTo>
                  <a:lnTo>
                    <a:pt x="266502" y="22041"/>
                  </a:lnTo>
                  <a:lnTo>
                    <a:pt x="224066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11">
              <a:extLst>
                <a:ext uri="{FF2B5EF4-FFF2-40B4-BE49-F238E27FC236}">
                  <a16:creationId xmlns:a16="http://schemas.microsoft.com/office/drawing/2014/main" id="{AD4FF3A5-CC3A-5403-27EF-B2F5927A3B3C}"/>
                </a:ext>
              </a:extLst>
            </p:cNvPr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8" y="160782"/>
                  </a:move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12">
              <a:extLst>
                <a:ext uri="{FF2B5EF4-FFF2-40B4-BE49-F238E27FC236}">
                  <a16:creationId xmlns:a16="http://schemas.microsoft.com/office/drawing/2014/main" id="{D249CB96-881B-EE5A-239B-1D6EEFB962F1}"/>
                </a:ext>
              </a:extLst>
            </p:cNvPr>
            <p:cNvSpPr/>
            <p:nvPr/>
          </p:nvSpPr>
          <p:spPr>
            <a:xfrm>
              <a:off x="5708903" y="332079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4" y="0"/>
                  </a:moveTo>
                  <a:lnTo>
                    <a:pt x="129822" y="5771"/>
                  </a:lnTo>
                  <a:lnTo>
                    <a:pt x="87601" y="22041"/>
                  </a:lnTo>
                  <a:lnTo>
                    <a:pt x="51816" y="47244"/>
                  </a:lnTo>
                  <a:lnTo>
                    <a:pt x="24158" y="79812"/>
                  </a:lnTo>
                  <a:lnTo>
                    <a:pt x="6321" y="118180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8180"/>
                  </a:lnTo>
                  <a:lnTo>
                    <a:pt x="329409" y="79812"/>
                  </a:lnTo>
                  <a:lnTo>
                    <a:pt x="301752" y="47244"/>
                  </a:lnTo>
                  <a:lnTo>
                    <a:pt x="265966" y="22041"/>
                  </a:lnTo>
                  <a:lnTo>
                    <a:pt x="223745" y="5771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3">
              <a:extLst>
                <a:ext uri="{FF2B5EF4-FFF2-40B4-BE49-F238E27FC236}">
                  <a16:creationId xmlns:a16="http://schemas.microsoft.com/office/drawing/2014/main" id="{7F9D8C7E-E006-5C37-FF48-6281EEF2785A}"/>
                </a:ext>
              </a:extLst>
            </p:cNvPr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353567" y="159258"/>
                  </a:move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14">
              <a:extLst>
                <a:ext uri="{FF2B5EF4-FFF2-40B4-BE49-F238E27FC236}">
                  <a16:creationId xmlns:a16="http://schemas.microsoft.com/office/drawing/2014/main" id="{3F95CFB8-1854-7E03-778D-4DE71FFD46AC}"/>
                </a:ext>
              </a:extLst>
            </p:cNvPr>
            <p:cNvSpPr/>
            <p:nvPr/>
          </p:nvSpPr>
          <p:spPr>
            <a:xfrm>
              <a:off x="7008876" y="1935479"/>
              <a:ext cx="353695" cy="318770"/>
            </a:xfrm>
            <a:custGeom>
              <a:avLst/>
              <a:gdLst/>
              <a:ahLst/>
              <a:cxnLst/>
              <a:rect l="l" t="t" r="r" b="b"/>
              <a:pathLst>
                <a:path w="353695" h="318769">
                  <a:moveTo>
                    <a:pt x="176783" y="0"/>
                  </a:moveTo>
                  <a:lnTo>
                    <a:pt x="129822" y="5658"/>
                  </a:lnTo>
                  <a:lnTo>
                    <a:pt x="87601" y="21646"/>
                  </a:lnTo>
                  <a:lnTo>
                    <a:pt x="51815" y="46481"/>
                  </a:lnTo>
                  <a:lnTo>
                    <a:pt x="24158" y="78683"/>
                  </a:lnTo>
                  <a:lnTo>
                    <a:pt x="6321" y="116769"/>
                  </a:lnTo>
                  <a:lnTo>
                    <a:pt x="0" y="159258"/>
                  </a:lnTo>
                  <a:lnTo>
                    <a:pt x="6321" y="201746"/>
                  </a:lnTo>
                  <a:lnTo>
                    <a:pt x="24158" y="239832"/>
                  </a:lnTo>
                  <a:lnTo>
                    <a:pt x="51815" y="272034"/>
                  </a:lnTo>
                  <a:lnTo>
                    <a:pt x="87601" y="296869"/>
                  </a:lnTo>
                  <a:lnTo>
                    <a:pt x="129822" y="312857"/>
                  </a:lnTo>
                  <a:lnTo>
                    <a:pt x="176783" y="318516"/>
                  </a:lnTo>
                  <a:lnTo>
                    <a:pt x="223745" y="312857"/>
                  </a:lnTo>
                  <a:lnTo>
                    <a:pt x="265966" y="296869"/>
                  </a:lnTo>
                  <a:lnTo>
                    <a:pt x="301751" y="272034"/>
                  </a:lnTo>
                  <a:lnTo>
                    <a:pt x="329409" y="239832"/>
                  </a:lnTo>
                  <a:lnTo>
                    <a:pt x="347246" y="201746"/>
                  </a:lnTo>
                  <a:lnTo>
                    <a:pt x="353567" y="159258"/>
                  </a:lnTo>
                  <a:lnTo>
                    <a:pt x="347246" y="116769"/>
                  </a:lnTo>
                  <a:lnTo>
                    <a:pt x="329409" y="78683"/>
                  </a:lnTo>
                  <a:lnTo>
                    <a:pt x="301751" y="46481"/>
                  </a:lnTo>
                  <a:lnTo>
                    <a:pt x="265966" y="21646"/>
                  </a:lnTo>
                  <a:lnTo>
                    <a:pt x="223745" y="5658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15">
              <a:extLst>
                <a:ext uri="{FF2B5EF4-FFF2-40B4-BE49-F238E27FC236}">
                  <a16:creationId xmlns:a16="http://schemas.microsoft.com/office/drawing/2014/main" id="{23D83C43-E965-B023-84DE-9B50DD1E3675}"/>
                </a:ext>
              </a:extLst>
            </p:cNvPr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16">
              <a:extLst>
                <a:ext uri="{FF2B5EF4-FFF2-40B4-BE49-F238E27FC236}">
                  <a16:creationId xmlns:a16="http://schemas.microsoft.com/office/drawing/2014/main" id="{36A1A53B-DE81-A30E-D786-E2FCC7321422}"/>
                </a:ext>
              </a:extLst>
            </p:cNvPr>
            <p:cNvSpPr/>
            <p:nvPr/>
          </p:nvSpPr>
          <p:spPr>
            <a:xfrm>
              <a:off x="9018269" y="2360676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4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30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4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17">
              <a:extLst>
                <a:ext uri="{FF2B5EF4-FFF2-40B4-BE49-F238E27FC236}">
                  <a16:creationId xmlns:a16="http://schemas.microsoft.com/office/drawing/2014/main" id="{D9F70000-3178-620C-263C-A6C94F1C1CE9}"/>
                </a:ext>
              </a:extLst>
            </p:cNvPr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353567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18">
              <a:extLst>
                <a:ext uri="{FF2B5EF4-FFF2-40B4-BE49-F238E27FC236}">
                  <a16:creationId xmlns:a16="http://schemas.microsoft.com/office/drawing/2014/main" id="{D081D1B2-C411-CC8F-6A86-242DFDBAA7A3}"/>
                </a:ext>
              </a:extLst>
            </p:cNvPr>
            <p:cNvSpPr/>
            <p:nvPr/>
          </p:nvSpPr>
          <p:spPr>
            <a:xfrm>
              <a:off x="7599426" y="3960876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10">
                  <a:moveTo>
                    <a:pt x="176783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5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886"/>
                  </a:lnTo>
                  <a:lnTo>
                    <a:pt x="24158" y="241328"/>
                  </a:lnTo>
                  <a:lnTo>
                    <a:pt x="51815" y="273843"/>
                  </a:lnTo>
                  <a:lnTo>
                    <a:pt x="87601" y="298929"/>
                  </a:lnTo>
                  <a:lnTo>
                    <a:pt x="129822" y="315083"/>
                  </a:lnTo>
                  <a:lnTo>
                    <a:pt x="176783" y="320802"/>
                  </a:lnTo>
                  <a:lnTo>
                    <a:pt x="223745" y="315083"/>
                  </a:lnTo>
                  <a:lnTo>
                    <a:pt x="265966" y="298929"/>
                  </a:lnTo>
                  <a:lnTo>
                    <a:pt x="301751" y="273843"/>
                  </a:lnTo>
                  <a:lnTo>
                    <a:pt x="329409" y="241328"/>
                  </a:lnTo>
                  <a:lnTo>
                    <a:pt x="347246" y="202886"/>
                  </a:lnTo>
                  <a:lnTo>
                    <a:pt x="353567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1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19">
              <a:extLst>
                <a:ext uri="{FF2B5EF4-FFF2-40B4-BE49-F238E27FC236}">
                  <a16:creationId xmlns:a16="http://schemas.microsoft.com/office/drawing/2014/main" id="{1375DB31-EB91-B4E4-0913-450F648DEF95}"/>
                </a:ext>
              </a:extLst>
            </p:cNvPr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354330" y="159258"/>
                  </a:move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20">
              <a:extLst>
                <a:ext uri="{FF2B5EF4-FFF2-40B4-BE49-F238E27FC236}">
                  <a16:creationId xmlns:a16="http://schemas.microsoft.com/office/drawing/2014/main" id="{94E7E339-8DE4-CA82-2167-EA989275DDF0}"/>
                </a:ext>
              </a:extLst>
            </p:cNvPr>
            <p:cNvSpPr/>
            <p:nvPr/>
          </p:nvSpPr>
          <p:spPr>
            <a:xfrm>
              <a:off x="7245095" y="3002279"/>
              <a:ext cx="354330" cy="318770"/>
            </a:xfrm>
            <a:custGeom>
              <a:avLst/>
              <a:gdLst/>
              <a:ahLst/>
              <a:cxnLst/>
              <a:rect l="l" t="t" r="r" b="b"/>
              <a:pathLst>
                <a:path w="354329" h="318770">
                  <a:moveTo>
                    <a:pt x="177546" y="0"/>
                  </a:moveTo>
                  <a:lnTo>
                    <a:pt x="130263" y="5658"/>
                  </a:lnTo>
                  <a:lnTo>
                    <a:pt x="87827" y="21646"/>
                  </a:lnTo>
                  <a:lnTo>
                    <a:pt x="51911" y="46481"/>
                  </a:lnTo>
                  <a:lnTo>
                    <a:pt x="24186" y="78683"/>
                  </a:lnTo>
                  <a:lnTo>
                    <a:pt x="6325" y="116769"/>
                  </a:lnTo>
                  <a:lnTo>
                    <a:pt x="0" y="159258"/>
                  </a:lnTo>
                  <a:lnTo>
                    <a:pt x="6325" y="201746"/>
                  </a:lnTo>
                  <a:lnTo>
                    <a:pt x="24186" y="239832"/>
                  </a:lnTo>
                  <a:lnTo>
                    <a:pt x="51911" y="272034"/>
                  </a:lnTo>
                  <a:lnTo>
                    <a:pt x="87827" y="296869"/>
                  </a:lnTo>
                  <a:lnTo>
                    <a:pt x="130263" y="312857"/>
                  </a:lnTo>
                  <a:lnTo>
                    <a:pt x="177546" y="318516"/>
                  </a:lnTo>
                  <a:lnTo>
                    <a:pt x="224507" y="312857"/>
                  </a:lnTo>
                  <a:lnTo>
                    <a:pt x="266728" y="296869"/>
                  </a:lnTo>
                  <a:lnTo>
                    <a:pt x="302514" y="272034"/>
                  </a:lnTo>
                  <a:lnTo>
                    <a:pt x="330171" y="239832"/>
                  </a:lnTo>
                  <a:lnTo>
                    <a:pt x="348008" y="201746"/>
                  </a:lnTo>
                  <a:lnTo>
                    <a:pt x="354330" y="159258"/>
                  </a:lnTo>
                  <a:lnTo>
                    <a:pt x="348008" y="116769"/>
                  </a:lnTo>
                  <a:lnTo>
                    <a:pt x="330171" y="78683"/>
                  </a:lnTo>
                  <a:lnTo>
                    <a:pt x="302514" y="46481"/>
                  </a:lnTo>
                  <a:lnTo>
                    <a:pt x="266728" y="21646"/>
                  </a:lnTo>
                  <a:lnTo>
                    <a:pt x="224507" y="5658"/>
                  </a:lnTo>
                  <a:lnTo>
                    <a:pt x="177546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21">
              <a:extLst>
                <a:ext uri="{FF2B5EF4-FFF2-40B4-BE49-F238E27FC236}">
                  <a16:creationId xmlns:a16="http://schemas.microsoft.com/office/drawing/2014/main" id="{1F19B1ED-5B0D-6342-61D5-E400103641C9}"/>
                </a:ext>
              </a:extLst>
            </p:cNvPr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020"/>
                  </a:move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22">
              <a:extLst>
                <a:ext uri="{FF2B5EF4-FFF2-40B4-BE49-F238E27FC236}">
                  <a16:creationId xmlns:a16="http://schemas.microsoft.com/office/drawing/2014/main" id="{FF71D2D4-4B2D-CF58-8ED5-17ADE46EC520}"/>
                </a:ext>
              </a:extLst>
            </p:cNvPr>
            <p:cNvSpPr/>
            <p:nvPr/>
          </p:nvSpPr>
          <p:spPr>
            <a:xfrm>
              <a:off x="8663178" y="3427476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6" y="320802"/>
                  </a:lnTo>
                  <a:lnTo>
                    <a:pt x="224828" y="315083"/>
                  </a:lnTo>
                  <a:lnTo>
                    <a:pt x="267264" y="298929"/>
                  </a:lnTo>
                  <a:lnTo>
                    <a:pt x="303180" y="273843"/>
                  </a:lnTo>
                  <a:lnTo>
                    <a:pt x="330905" y="241328"/>
                  </a:lnTo>
                  <a:lnTo>
                    <a:pt x="348766" y="202886"/>
                  </a:lnTo>
                  <a:lnTo>
                    <a:pt x="355092" y="160020"/>
                  </a:lnTo>
                  <a:lnTo>
                    <a:pt x="348766" y="117475"/>
                  </a:lnTo>
                  <a:lnTo>
                    <a:pt x="330905" y="79247"/>
                  </a:lnTo>
                  <a:lnTo>
                    <a:pt x="303180" y="46862"/>
                  </a:lnTo>
                  <a:lnTo>
                    <a:pt x="267264" y="21843"/>
                  </a:lnTo>
                  <a:lnTo>
                    <a:pt x="224828" y="5714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23">
              <a:extLst>
                <a:ext uri="{FF2B5EF4-FFF2-40B4-BE49-F238E27FC236}">
                  <a16:creationId xmlns:a16="http://schemas.microsoft.com/office/drawing/2014/main" id="{6A94A634-BA11-5E6F-5EE1-C694D93C6915}"/>
                </a:ext>
              </a:extLst>
            </p:cNvPr>
            <p:cNvSpPr/>
            <p:nvPr/>
          </p:nvSpPr>
          <p:spPr>
            <a:xfrm>
              <a:off x="5708903" y="1402080"/>
              <a:ext cx="471170" cy="852169"/>
            </a:xfrm>
            <a:custGeom>
              <a:avLst/>
              <a:gdLst/>
              <a:ahLst/>
              <a:cxnLst/>
              <a:rect l="l" t="t" r="r" b="b"/>
              <a:pathLst>
                <a:path w="471170" h="852169">
                  <a:moveTo>
                    <a:pt x="470915" y="0"/>
                  </a:moveTo>
                  <a:lnTo>
                    <a:pt x="0" y="85191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24">
              <a:extLst>
                <a:ext uri="{FF2B5EF4-FFF2-40B4-BE49-F238E27FC236}">
                  <a16:creationId xmlns:a16="http://schemas.microsoft.com/office/drawing/2014/main" id="{975BB0C7-EE79-CC75-7A90-F8F8F23D16A3}"/>
                </a:ext>
              </a:extLst>
            </p:cNvPr>
            <p:cNvSpPr/>
            <p:nvPr/>
          </p:nvSpPr>
          <p:spPr>
            <a:xfrm>
              <a:off x="6416802" y="1293875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4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5">
              <a:extLst>
                <a:ext uri="{FF2B5EF4-FFF2-40B4-BE49-F238E27FC236}">
                  <a16:creationId xmlns:a16="http://schemas.microsoft.com/office/drawing/2014/main" id="{4B8E74B6-A526-7D66-1DBC-A8A9B72A5ED8}"/>
                </a:ext>
              </a:extLst>
            </p:cNvPr>
            <p:cNvSpPr/>
            <p:nvPr/>
          </p:nvSpPr>
          <p:spPr>
            <a:xfrm>
              <a:off x="5826252" y="2468879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4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6">
              <a:extLst>
                <a:ext uri="{FF2B5EF4-FFF2-40B4-BE49-F238E27FC236}">
                  <a16:creationId xmlns:a16="http://schemas.microsoft.com/office/drawing/2014/main" id="{9ED89261-0D6D-EC90-95EB-ED010F780521}"/>
                </a:ext>
              </a:extLst>
            </p:cNvPr>
            <p:cNvSpPr/>
            <p:nvPr/>
          </p:nvSpPr>
          <p:spPr>
            <a:xfrm>
              <a:off x="5826252" y="21480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27">
              <a:extLst>
                <a:ext uri="{FF2B5EF4-FFF2-40B4-BE49-F238E27FC236}">
                  <a16:creationId xmlns:a16="http://schemas.microsoft.com/office/drawing/2014/main" id="{1BE426E2-C609-C9D7-83C2-32138E84C706}"/>
                </a:ext>
              </a:extLst>
            </p:cNvPr>
            <p:cNvSpPr/>
            <p:nvPr/>
          </p:nvSpPr>
          <p:spPr>
            <a:xfrm>
              <a:off x="8189976" y="1614677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28">
              <a:extLst>
                <a:ext uri="{FF2B5EF4-FFF2-40B4-BE49-F238E27FC236}">
                  <a16:creationId xmlns:a16="http://schemas.microsoft.com/office/drawing/2014/main" id="{4618E266-000A-EC37-1E46-81571E4FD623}"/>
                </a:ext>
              </a:extLst>
            </p:cNvPr>
            <p:cNvSpPr/>
            <p:nvPr/>
          </p:nvSpPr>
          <p:spPr>
            <a:xfrm>
              <a:off x="8234171" y="1547622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09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29">
              <a:extLst>
                <a:ext uri="{FF2B5EF4-FFF2-40B4-BE49-F238E27FC236}">
                  <a16:creationId xmlns:a16="http://schemas.microsoft.com/office/drawing/2014/main" id="{6855285E-C371-3E4E-B3CB-2E6178EB6F86}"/>
                </a:ext>
              </a:extLst>
            </p:cNvPr>
            <p:cNvSpPr/>
            <p:nvPr/>
          </p:nvSpPr>
          <p:spPr>
            <a:xfrm>
              <a:off x="8899397" y="2681477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90" h="746125">
                  <a:moveTo>
                    <a:pt x="236981" y="0"/>
                  </a:moveTo>
                  <a:lnTo>
                    <a:pt x="0" y="7459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30">
              <a:extLst>
                <a:ext uri="{FF2B5EF4-FFF2-40B4-BE49-F238E27FC236}">
                  <a16:creationId xmlns:a16="http://schemas.microsoft.com/office/drawing/2014/main" id="{A7332EB3-D6F6-230E-461E-93ADBA2103F8}"/>
                </a:ext>
              </a:extLst>
            </p:cNvPr>
            <p:cNvSpPr/>
            <p:nvPr/>
          </p:nvSpPr>
          <p:spPr>
            <a:xfrm>
              <a:off x="7482078" y="1614677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31">
              <a:extLst>
                <a:ext uri="{FF2B5EF4-FFF2-40B4-BE49-F238E27FC236}">
                  <a16:creationId xmlns:a16="http://schemas.microsoft.com/office/drawing/2014/main" id="{244F40AF-8B0F-7693-DD63-BE7C9DAC18F9}"/>
                </a:ext>
              </a:extLst>
            </p:cNvPr>
            <p:cNvSpPr/>
            <p:nvPr/>
          </p:nvSpPr>
          <p:spPr>
            <a:xfrm>
              <a:off x="7482078" y="3320796"/>
              <a:ext cx="236220" cy="640080"/>
            </a:xfrm>
            <a:custGeom>
              <a:avLst/>
              <a:gdLst/>
              <a:ahLst/>
              <a:cxnLst/>
              <a:rect l="l" t="t" r="r" b="b"/>
              <a:pathLst>
                <a:path w="236220" h="640079">
                  <a:moveTo>
                    <a:pt x="0" y="0"/>
                  </a:moveTo>
                  <a:lnTo>
                    <a:pt x="236220" y="6400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32">
              <a:extLst>
                <a:ext uri="{FF2B5EF4-FFF2-40B4-BE49-F238E27FC236}">
                  <a16:creationId xmlns:a16="http://schemas.microsoft.com/office/drawing/2014/main" id="{6DF374F9-7D3A-A913-12FA-FE1D64263E25}"/>
                </a:ext>
              </a:extLst>
            </p:cNvPr>
            <p:cNvSpPr/>
            <p:nvPr/>
          </p:nvSpPr>
          <p:spPr>
            <a:xfrm>
              <a:off x="6062471" y="3214877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4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33">
              <a:extLst>
                <a:ext uri="{FF2B5EF4-FFF2-40B4-BE49-F238E27FC236}">
                  <a16:creationId xmlns:a16="http://schemas.microsoft.com/office/drawing/2014/main" id="{AEB15202-99C4-6F97-5614-BD53091C914D}"/>
                </a:ext>
              </a:extLst>
            </p:cNvPr>
            <p:cNvSpPr txBox="1"/>
            <p:nvPr/>
          </p:nvSpPr>
          <p:spPr>
            <a:xfrm>
              <a:off x="6171691" y="1106932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3" name="object 34">
              <a:extLst>
                <a:ext uri="{FF2B5EF4-FFF2-40B4-BE49-F238E27FC236}">
                  <a16:creationId xmlns:a16="http://schemas.microsoft.com/office/drawing/2014/main" id="{AF0E7A82-F588-0475-6609-B41EFCFC06DD}"/>
                </a:ext>
              </a:extLst>
            </p:cNvPr>
            <p:cNvSpPr txBox="1"/>
            <p:nvPr/>
          </p:nvSpPr>
          <p:spPr>
            <a:xfrm>
              <a:off x="8805924" y="3469128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4" name="object 35">
              <a:extLst>
                <a:ext uri="{FF2B5EF4-FFF2-40B4-BE49-F238E27FC236}">
                  <a16:creationId xmlns:a16="http://schemas.microsoft.com/office/drawing/2014/main" id="{F74E78B4-6826-E211-8C19-82CE3A7499BE}"/>
                </a:ext>
              </a:extLst>
            </p:cNvPr>
            <p:cNvSpPr txBox="1"/>
            <p:nvPr/>
          </p:nvSpPr>
          <p:spPr>
            <a:xfrm>
              <a:off x="7705600" y="398347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5" name="object 36">
              <a:extLst>
                <a:ext uri="{FF2B5EF4-FFF2-40B4-BE49-F238E27FC236}">
                  <a16:creationId xmlns:a16="http://schemas.microsoft.com/office/drawing/2014/main" id="{6EB066E4-AC1A-331D-1C98-DC87DA10A726}"/>
                </a:ext>
              </a:extLst>
            </p:cNvPr>
            <p:cNvSpPr txBox="1"/>
            <p:nvPr/>
          </p:nvSpPr>
          <p:spPr>
            <a:xfrm>
              <a:off x="5824980" y="3378455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6" name="object 37">
              <a:extLst>
                <a:ext uri="{FF2B5EF4-FFF2-40B4-BE49-F238E27FC236}">
                  <a16:creationId xmlns:a16="http://schemas.microsoft.com/office/drawing/2014/main" id="{631E13EF-6BBC-2B71-290B-AE8A7F2CE79E}"/>
                </a:ext>
              </a:extLst>
            </p:cNvPr>
            <p:cNvSpPr txBox="1"/>
            <p:nvPr/>
          </p:nvSpPr>
          <p:spPr>
            <a:xfrm>
              <a:off x="7371832" y="304012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7" name="object 38">
              <a:extLst>
                <a:ext uri="{FF2B5EF4-FFF2-40B4-BE49-F238E27FC236}">
                  <a16:creationId xmlns:a16="http://schemas.microsoft.com/office/drawing/2014/main" id="{85E95C68-1E2C-325B-40AF-F244363735F4}"/>
                </a:ext>
              </a:extLst>
            </p:cNvPr>
            <p:cNvSpPr txBox="1"/>
            <p:nvPr/>
          </p:nvSpPr>
          <p:spPr>
            <a:xfrm>
              <a:off x="7115029" y="1987808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8" name="object 39">
              <a:extLst>
                <a:ext uri="{FF2B5EF4-FFF2-40B4-BE49-F238E27FC236}">
                  <a16:creationId xmlns:a16="http://schemas.microsoft.com/office/drawing/2014/main" id="{048CA768-9967-2E33-3732-DF66CE205E33}"/>
                </a:ext>
              </a:extLst>
            </p:cNvPr>
            <p:cNvSpPr txBox="1"/>
            <p:nvPr/>
          </p:nvSpPr>
          <p:spPr>
            <a:xfrm>
              <a:off x="5591027" y="2278131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9" name="object 40">
              <a:extLst>
                <a:ext uri="{FF2B5EF4-FFF2-40B4-BE49-F238E27FC236}">
                  <a16:creationId xmlns:a16="http://schemas.microsoft.com/office/drawing/2014/main" id="{573FF15C-D12D-AC1A-93D3-3DDB46162859}"/>
                </a:ext>
              </a:extLst>
            </p:cNvPr>
            <p:cNvSpPr txBox="1"/>
            <p:nvPr/>
          </p:nvSpPr>
          <p:spPr>
            <a:xfrm>
              <a:off x="8072091" y="133554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00" name="object 41">
              <a:extLst>
                <a:ext uri="{FF2B5EF4-FFF2-40B4-BE49-F238E27FC236}">
                  <a16:creationId xmlns:a16="http://schemas.microsoft.com/office/drawing/2014/main" id="{942A35AD-3D95-0798-1400-F17841301C07}"/>
                </a:ext>
              </a:extLst>
            </p:cNvPr>
            <p:cNvSpPr txBox="1"/>
            <p:nvPr/>
          </p:nvSpPr>
          <p:spPr>
            <a:xfrm>
              <a:off x="9129750" y="2416049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101" name="object 42">
              <a:extLst>
                <a:ext uri="{FF2B5EF4-FFF2-40B4-BE49-F238E27FC236}">
                  <a16:creationId xmlns:a16="http://schemas.microsoft.com/office/drawing/2014/main" id="{75821FE6-57AA-F697-B2D9-92AA4A73100F}"/>
                </a:ext>
              </a:extLst>
            </p:cNvPr>
            <p:cNvSpPr txBox="1"/>
            <p:nvPr/>
          </p:nvSpPr>
          <p:spPr>
            <a:xfrm>
              <a:off x="5732017" y="1657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2" name="object 43">
              <a:extLst>
                <a:ext uri="{FF2B5EF4-FFF2-40B4-BE49-F238E27FC236}">
                  <a16:creationId xmlns:a16="http://schemas.microsoft.com/office/drawing/2014/main" id="{13656C96-FBDD-622F-0671-C786EA2AD92C}"/>
                </a:ext>
              </a:extLst>
            </p:cNvPr>
            <p:cNvSpPr txBox="1"/>
            <p:nvPr/>
          </p:nvSpPr>
          <p:spPr>
            <a:xfrm>
              <a:off x="6951218" y="1123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3" name="object 44">
              <a:extLst>
                <a:ext uri="{FF2B5EF4-FFF2-40B4-BE49-F238E27FC236}">
                  <a16:creationId xmlns:a16="http://schemas.microsoft.com/office/drawing/2014/main" id="{808CEAD5-35A3-A488-541B-D64303DFC5D0}"/>
                </a:ext>
              </a:extLst>
            </p:cNvPr>
            <p:cNvSpPr txBox="1"/>
            <p:nvPr/>
          </p:nvSpPr>
          <p:spPr>
            <a:xfrm>
              <a:off x="6341617" y="3181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4" name="object 45">
              <a:extLst>
                <a:ext uri="{FF2B5EF4-FFF2-40B4-BE49-F238E27FC236}">
                  <a16:creationId xmlns:a16="http://schemas.microsoft.com/office/drawing/2014/main" id="{81240735-6AFF-83B6-E969-A67DC7DB7A05}"/>
                </a:ext>
              </a:extLst>
            </p:cNvPr>
            <p:cNvSpPr txBox="1"/>
            <p:nvPr/>
          </p:nvSpPr>
          <p:spPr>
            <a:xfrm>
              <a:off x="7678928" y="34861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5" name="object 46">
              <a:extLst>
                <a:ext uri="{FF2B5EF4-FFF2-40B4-BE49-F238E27FC236}">
                  <a16:creationId xmlns:a16="http://schemas.microsoft.com/office/drawing/2014/main" id="{836B6A3A-96F8-1AEF-0E97-F6F1401C1B1E}"/>
                </a:ext>
              </a:extLst>
            </p:cNvPr>
            <p:cNvSpPr txBox="1"/>
            <p:nvPr/>
          </p:nvSpPr>
          <p:spPr>
            <a:xfrm>
              <a:off x="7560818" y="2266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6" name="object 47">
              <a:extLst>
                <a:ext uri="{FF2B5EF4-FFF2-40B4-BE49-F238E27FC236}">
                  <a16:creationId xmlns:a16="http://schemas.microsoft.com/office/drawing/2014/main" id="{C61D4B40-7E4E-2CAD-E30A-338310AA64E8}"/>
                </a:ext>
              </a:extLst>
            </p:cNvPr>
            <p:cNvSpPr txBox="1"/>
            <p:nvPr/>
          </p:nvSpPr>
          <p:spPr>
            <a:xfrm>
              <a:off x="6265417" y="27241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7" name="object 48">
              <a:extLst>
                <a:ext uri="{FF2B5EF4-FFF2-40B4-BE49-F238E27FC236}">
                  <a16:creationId xmlns:a16="http://schemas.microsoft.com/office/drawing/2014/main" id="{3DA169F0-DAD9-9EFF-414D-160DFE40C719}"/>
                </a:ext>
              </a:extLst>
            </p:cNvPr>
            <p:cNvSpPr txBox="1"/>
            <p:nvPr/>
          </p:nvSpPr>
          <p:spPr>
            <a:xfrm>
              <a:off x="9084818" y="30289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8" name="object 49">
              <a:extLst>
                <a:ext uri="{FF2B5EF4-FFF2-40B4-BE49-F238E27FC236}">
                  <a16:creationId xmlns:a16="http://schemas.microsoft.com/office/drawing/2014/main" id="{1B1934F6-3768-EBB9-0D57-6F135958AAE6}"/>
                </a:ext>
              </a:extLst>
            </p:cNvPr>
            <p:cNvSpPr txBox="1"/>
            <p:nvPr/>
          </p:nvSpPr>
          <p:spPr>
            <a:xfrm>
              <a:off x="8669528" y="1809750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09" name="object 50">
              <a:extLst>
                <a:ext uri="{FF2B5EF4-FFF2-40B4-BE49-F238E27FC236}">
                  <a16:creationId xmlns:a16="http://schemas.microsoft.com/office/drawing/2014/main" id="{810129B8-3F20-1B50-CC09-EA5C8ED2EAB6}"/>
                </a:ext>
              </a:extLst>
            </p:cNvPr>
            <p:cNvSpPr txBox="1"/>
            <p:nvPr/>
          </p:nvSpPr>
          <p:spPr>
            <a:xfrm>
              <a:off x="8246618" y="24955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10" name="object 51">
              <a:extLst>
                <a:ext uri="{FF2B5EF4-FFF2-40B4-BE49-F238E27FC236}">
                  <a16:creationId xmlns:a16="http://schemas.microsoft.com/office/drawing/2014/main" id="{D4C9DD8C-A96C-3287-ECA0-C7E3861FB0BB}"/>
                </a:ext>
              </a:extLst>
            </p:cNvPr>
            <p:cNvSpPr txBox="1"/>
            <p:nvPr/>
          </p:nvSpPr>
          <p:spPr>
            <a:xfrm>
              <a:off x="6265417" y="2038350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graphicFrame>
        <p:nvGraphicFramePr>
          <p:cNvPr id="9" name="object 53">
            <a:extLst>
              <a:ext uri="{FF2B5EF4-FFF2-40B4-BE49-F238E27FC236}">
                <a16:creationId xmlns:a16="http://schemas.microsoft.com/office/drawing/2014/main" id="{5EF4126E-5257-B591-B994-4041DE81B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122754"/>
              </p:ext>
            </p:extLst>
          </p:nvPr>
        </p:nvGraphicFramePr>
        <p:xfrm>
          <a:off x="3886200" y="1172457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d</a:t>
                      </a:r>
                      <a:endParaRPr sz="1800" b="1" dirty="0">
                        <a:solidFill>
                          <a:srgbClr val="0000CC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graphicFrame>
        <p:nvGraphicFramePr>
          <p:cNvPr id="10" name="object 53">
            <a:extLst>
              <a:ext uri="{FF2B5EF4-FFF2-40B4-BE49-F238E27FC236}">
                <a16:creationId xmlns:a16="http://schemas.microsoft.com/office/drawing/2014/main" id="{3DEBE0F5-FF4A-ECD7-419C-B6C389952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73678"/>
              </p:ext>
            </p:extLst>
          </p:nvPr>
        </p:nvGraphicFramePr>
        <p:xfrm>
          <a:off x="3886200" y="2501648"/>
          <a:ext cx="6172200" cy="1155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1320551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499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c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800" b="1" dirty="0">
                          <a:latin typeface="Arial"/>
                          <a:cs typeface="Arial"/>
                        </a:rPr>
                        <a:t>d</a:t>
                      </a:r>
                      <a:endParaRPr sz="18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g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h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dirty="0">
                          <a:solidFill>
                            <a:srgbClr val="0000CC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25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20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Symbol"/>
                          <a:cs typeface="Symbol"/>
                        </a:rPr>
                        <a:t>35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7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null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c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e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b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US" sz="2000" dirty="0">
                          <a:latin typeface="Arial"/>
                          <a:cs typeface="Arial"/>
                        </a:rPr>
                        <a:t>h</a:t>
                      </a:r>
                      <a:endParaRPr sz="2000" dirty="0">
                        <a:latin typeface="Symbol"/>
                        <a:cs typeface="Symbo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074118"/>
                  </a:ext>
                </a:extLst>
              </a:tr>
            </a:tbl>
          </a:graphicData>
        </a:graphic>
      </p:graphicFrame>
      <p:sp>
        <p:nvSpPr>
          <p:cNvPr id="11" name="object 7">
            <a:extLst>
              <a:ext uri="{FF2B5EF4-FFF2-40B4-BE49-F238E27FC236}">
                <a16:creationId xmlns:a16="http://schemas.microsoft.com/office/drawing/2014/main" id="{67C19C71-F00A-580F-BDEE-41F65B158331}"/>
              </a:ext>
            </a:extLst>
          </p:cNvPr>
          <p:cNvSpPr txBox="1"/>
          <p:nvPr/>
        </p:nvSpPr>
        <p:spPr>
          <a:xfrm>
            <a:off x="5867400" y="4322084"/>
            <a:ext cx="365760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spc="-5" dirty="0">
                <a:latin typeface="Arial"/>
                <a:cs typeface="Arial"/>
              </a:rPr>
              <a:t>What is the shortest path from </a:t>
            </a:r>
            <a:r>
              <a:rPr lang="en-US" sz="3200" b="1" spc="-5" dirty="0">
                <a:latin typeface="Arial"/>
                <a:cs typeface="Arial"/>
              </a:rPr>
              <a:t>a</a:t>
            </a:r>
            <a:r>
              <a:rPr lang="en-US" sz="3200" spc="-5" dirty="0">
                <a:latin typeface="Arial"/>
                <a:cs typeface="Arial"/>
              </a:rPr>
              <a:t> to </a:t>
            </a:r>
            <a:r>
              <a:rPr lang="en-US" sz="3200" b="1" spc="-5" dirty="0" err="1">
                <a:latin typeface="Arial"/>
                <a:cs typeface="Arial"/>
              </a:rPr>
              <a:t>i</a:t>
            </a:r>
            <a:r>
              <a:rPr lang="en-US" sz="3200" spc="-5" dirty="0">
                <a:latin typeface="Arial"/>
                <a:cs typeface="Arial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6D4BC-C86E-46A6-C011-625FDE4F7D46}"/>
              </a:ext>
            </a:extLst>
          </p:cNvPr>
          <p:cNvSpPr txBox="1"/>
          <p:nvPr/>
        </p:nvSpPr>
        <p:spPr>
          <a:xfrm>
            <a:off x="8229600" y="5399371"/>
            <a:ext cx="1393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5" dirty="0" err="1">
                <a:solidFill>
                  <a:srgbClr val="0000CC"/>
                </a:solidFill>
                <a:latin typeface="Arial"/>
                <a:cs typeface="Arial"/>
              </a:rPr>
              <a:t>abhi</a:t>
            </a:r>
            <a:endParaRPr lang="en-US" sz="40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9902" y="663447"/>
            <a:ext cx="206121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Weighted </a:t>
            </a:r>
            <a:r>
              <a:rPr sz="1800" dirty="0">
                <a:latin typeface="Arial"/>
                <a:cs typeface="Arial"/>
              </a:rPr>
              <a:t>Graphs</a:t>
            </a:r>
            <a:r>
              <a:rPr sz="1800" spc="350" dirty="0">
                <a:latin typeface="Arial"/>
                <a:cs typeface="Arial"/>
              </a:rPr>
              <a:t> </a:t>
            </a:r>
            <a:r>
              <a:rPr sz="3000" spc="-7" baseline="2777" dirty="0">
                <a:latin typeface="Arial"/>
                <a:cs typeface="Arial"/>
              </a:rPr>
              <a:t>7</a:t>
            </a:r>
            <a:endParaRPr sz="3000" baseline="2777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3940" y="7023337"/>
            <a:ext cx="287274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Data Structures </a:t>
            </a:r>
            <a:r>
              <a:rPr sz="1600" b="1" dirty="0">
                <a:solidFill>
                  <a:srgbClr val="9A0033"/>
                </a:solidFill>
                <a:latin typeface="Arial"/>
                <a:cs typeface="Arial"/>
              </a:rPr>
              <a:t>&amp;</a:t>
            </a:r>
            <a:r>
              <a:rPr sz="1600" b="1" spc="-70" dirty="0">
                <a:solidFill>
                  <a:srgbClr val="9A003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9A0033"/>
                </a:solidFill>
                <a:latin typeface="Arial"/>
                <a:cs typeface="Arial"/>
              </a:rPr>
              <a:t>Algorithms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pc="-5" dirty="0"/>
              <a:t>CS@VT</a:t>
            </a:r>
          </a:p>
        </p:txBody>
      </p: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0"/>
              </a:lnSpc>
            </a:pPr>
            <a:r>
              <a:rPr spc="-5" dirty="0"/>
              <a:t>©2000-2009</a:t>
            </a:r>
            <a:r>
              <a:rPr spc="-75" dirty="0"/>
              <a:t> </a:t>
            </a:r>
            <a:r>
              <a:rPr spc="-5" dirty="0"/>
              <a:t>McQuain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Limitations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902" y="1179321"/>
            <a:ext cx="8147684" cy="153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Dijkstra's SSAD Algorithm </a:t>
            </a:r>
            <a:r>
              <a:rPr sz="2000" spc="-5" dirty="0">
                <a:latin typeface="Times New Roman"/>
                <a:cs typeface="Times New Roman"/>
              </a:rPr>
              <a:t>only </a:t>
            </a:r>
            <a:r>
              <a:rPr sz="2000" spc="-10" dirty="0">
                <a:latin typeface="Times New Roman"/>
                <a:cs typeface="Times New Roman"/>
              </a:rPr>
              <a:t>works </a:t>
            </a:r>
            <a:r>
              <a:rPr sz="2000" spc="-5" dirty="0">
                <a:latin typeface="Times New Roman"/>
                <a:cs typeface="Times New Roman"/>
              </a:rPr>
              <a:t>for graphs with non-negative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weights.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See the </a:t>
            </a:r>
            <a:r>
              <a:rPr sz="2000" spc="-10" dirty="0">
                <a:latin typeface="Times New Roman"/>
                <a:cs typeface="Times New Roman"/>
              </a:rPr>
              <a:t>Bellman-Ford Algorithm, </a:t>
            </a:r>
            <a:r>
              <a:rPr sz="2000" spc="-5" dirty="0">
                <a:latin typeface="Times New Roman"/>
                <a:cs typeface="Times New Roman"/>
              </a:rPr>
              <a:t>which works even if the weights are negative,  provided there is no </a:t>
            </a:r>
            <a:r>
              <a:rPr sz="2000" i="1" spc="-10" dirty="0">
                <a:latin typeface="Times New Roman"/>
                <a:cs typeface="Times New Roman"/>
              </a:rPr>
              <a:t>negative </a:t>
            </a:r>
            <a:r>
              <a:rPr sz="2000" i="1" spc="-5" dirty="0">
                <a:latin typeface="Times New Roman"/>
                <a:cs typeface="Times New Roman"/>
              </a:rPr>
              <a:t>cycle </a:t>
            </a:r>
            <a:r>
              <a:rPr sz="2000" spc="-5" dirty="0">
                <a:latin typeface="Times New Roman"/>
                <a:cs typeface="Times New Roman"/>
              </a:rPr>
              <a:t>(a cycle </a:t>
            </a:r>
            <a:r>
              <a:rPr sz="2000" spc="-10" dirty="0">
                <a:latin typeface="Times New Roman"/>
                <a:cs typeface="Times New Roman"/>
              </a:rPr>
              <a:t>whose </a:t>
            </a:r>
            <a:r>
              <a:rPr sz="2000" spc="-5" dirty="0">
                <a:latin typeface="Times New Roman"/>
                <a:cs typeface="Times New Roman"/>
              </a:rPr>
              <a:t>total </a:t>
            </a:r>
            <a:r>
              <a:rPr sz="2000" spc="-10" dirty="0">
                <a:latin typeface="Times New Roman"/>
                <a:cs typeface="Times New Roman"/>
              </a:rPr>
              <a:t>weight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negative).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8" name="Group 7" descr="An undirected graph with nine nodes:&#10;a connects to b weight 15 and c weight 25&#10;b connects to a weight 15, e weight 10, h weight 5, and i weight 25&#10;c connects to a weight 25, d weight 10, and e weight 20&#10;d connects to c weight 10&#10;&#10;Connections:&#10;{(a,b,15), (b,h,5), (h,i,15), (b,i,25), (b,e,10), (e,g,5), (e,f,10), (e,c,20), (c,d,10), (c,a,25)}&#10;&#10;Connections (one per line)&#10;a b 15&#10;a c 25&#10;b e 10&#10;b h 5&#10;b i 25&#10;c d 10&#10;c e 20&#10;e f 10&#10;e g 5&#10;h i 15&#10;">
            <a:extLst>
              <a:ext uri="{FF2B5EF4-FFF2-40B4-BE49-F238E27FC236}">
                <a16:creationId xmlns:a16="http://schemas.microsoft.com/office/drawing/2014/main" id="{39C6E93E-B326-EE1C-F03F-AB931D19FF2D}"/>
              </a:ext>
            </a:extLst>
          </p:cNvPr>
          <p:cNvGrpSpPr/>
          <p:nvPr/>
        </p:nvGrpSpPr>
        <p:grpSpPr>
          <a:xfrm>
            <a:off x="5243438" y="3245937"/>
            <a:ext cx="3886200" cy="3200907"/>
            <a:chOff x="1143000" y="3657600"/>
            <a:chExt cx="3886200" cy="3200907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B9225BF-E645-9121-3894-86D182809B9A}"/>
                </a:ext>
              </a:extLst>
            </p:cNvPr>
            <p:cNvSpPr/>
            <p:nvPr/>
          </p:nvSpPr>
          <p:spPr>
            <a:xfrm>
              <a:off x="1719072" y="3657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30" h="321310">
                  <a:moveTo>
                    <a:pt x="354329" y="160020"/>
                  </a:moveTo>
                  <a:lnTo>
                    <a:pt x="348008" y="117475"/>
                  </a:lnTo>
                  <a:lnTo>
                    <a:pt x="330171" y="79247"/>
                  </a:lnTo>
                  <a:lnTo>
                    <a:pt x="302513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5" y="0"/>
                  </a:ln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5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3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29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D32D920-BF11-DC47-C59B-1D77A84B398A}"/>
                </a:ext>
              </a:extLst>
            </p:cNvPr>
            <p:cNvSpPr/>
            <p:nvPr/>
          </p:nvSpPr>
          <p:spPr>
            <a:xfrm>
              <a:off x="1719072" y="3657600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30" h="321310">
                  <a:moveTo>
                    <a:pt x="177545" y="0"/>
                  </a:moveTo>
                  <a:lnTo>
                    <a:pt x="130263" y="5715"/>
                  </a:lnTo>
                  <a:lnTo>
                    <a:pt x="87827" y="21844"/>
                  </a:lnTo>
                  <a:lnTo>
                    <a:pt x="51911" y="46863"/>
                  </a:lnTo>
                  <a:lnTo>
                    <a:pt x="24186" y="79248"/>
                  </a:lnTo>
                  <a:lnTo>
                    <a:pt x="6325" y="117475"/>
                  </a:lnTo>
                  <a:lnTo>
                    <a:pt x="0" y="160020"/>
                  </a:lnTo>
                  <a:lnTo>
                    <a:pt x="6325" y="202886"/>
                  </a:lnTo>
                  <a:lnTo>
                    <a:pt x="24186" y="241328"/>
                  </a:lnTo>
                  <a:lnTo>
                    <a:pt x="51911" y="273843"/>
                  </a:lnTo>
                  <a:lnTo>
                    <a:pt x="87827" y="298929"/>
                  </a:lnTo>
                  <a:lnTo>
                    <a:pt x="130263" y="315083"/>
                  </a:lnTo>
                  <a:lnTo>
                    <a:pt x="177545" y="320802"/>
                  </a:lnTo>
                  <a:lnTo>
                    <a:pt x="224507" y="315083"/>
                  </a:lnTo>
                  <a:lnTo>
                    <a:pt x="266728" y="298929"/>
                  </a:lnTo>
                  <a:lnTo>
                    <a:pt x="302513" y="273843"/>
                  </a:lnTo>
                  <a:lnTo>
                    <a:pt x="330171" y="241328"/>
                  </a:lnTo>
                  <a:lnTo>
                    <a:pt x="348008" y="202886"/>
                  </a:lnTo>
                  <a:lnTo>
                    <a:pt x="354329" y="160020"/>
                  </a:lnTo>
                  <a:lnTo>
                    <a:pt x="348008" y="117475"/>
                  </a:lnTo>
                  <a:lnTo>
                    <a:pt x="330171" y="79247"/>
                  </a:lnTo>
                  <a:lnTo>
                    <a:pt x="302513" y="46862"/>
                  </a:lnTo>
                  <a:lnTo>
                    <a:pt x="266728" y="21843"/>
                  </a:lnTo>
                  <a:lnTo>
                    <a:pt x="224507" y="5714"/>
                  </a:lnTo>
                  <a:lnTo>
                    <a:pt x="17754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30F2DCD-57DE-4C6D-DA37-ADDB1DA1148B}"/>
                </a:ext>
              </a:extLst>
            </p:cNvPr>
            <p:cNvSpPr/>
            <p:nvPr/>
          </p:nvSpPr>
          <p:spPr>
            <a:xfrm>
              <a:off x="3609594" y="3870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5" h="321310">
                  <a:moveTo>
                    <a:pt x="355854" y="160782"/>
                  </a:move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8" y="0"/>
                  </a:lnTo>
                  <a:lnTo>
                    <a:pt x="130968" y="5718"/>
                  </a:lnTo>
                  <a:lnTo>
                    <a:pt x="88392" y="21872"/>
                  </a:lnTo>
                  <a:lnTo>
                    <a:pt x="52292" y="46958"/>
                  </a:lnTo>
                  <a:lnTo>
                    <a:pt x="24384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4" y="241554"/>
                  </a:lnTo>
                  <a:lnTo>
                    <a:pt x="52292" y="273939"/>
                  </a:lnTo>
                  <a:lnTo>
                    <a:pt x="88392" y="298958"/>
                  </a:lnTo>
                  <a:lnTo>
                    <a:pt x="130968" y="315087"/>
                  </a:lnTo>
                  <a:lnTo>
                    <a:pt x="178308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4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E84059A-CDFA-0A94-36D1-47301265F941}"/>
                </a:ext>
              </a:extLst>
            </p:cNvPr>
            <p:cNvSpPr/>
            <p:nvPr/>
          </p:nvSpPr>
          <p:spPr>
            <a:xfrm>
              <a:off x="3609594" y="3870197"/>
              <a:ext cx="356235" cy="321310"/>
            </a:xfrm>
            <a:custGeom>
              <a:avLst/>
              <a:gdLst/>
              <a:ahLst/>
              <a:cxnLst/>
              <a:rect l="l" t="t" r="r" b="b"/>
              <a:pathLst>
                <a:path w="356235" h="321310">
                  <a:moveTo>
                    <a:pt x="178308" y="0"/>
                  </a:moveTo>
                  <a:lnTo>
                    <a:pt x="130968" y="5718"/>
                  </a:lnTo>
                  <a:lnTo>
                    <a:pt x="88392" y="21872"/>
                  </a:lnTo>
                  <a:lnTo>
                    <a:pt x="52292" y="46958"/>
                  </a:lnTo>
                  <a:lnTo>
                    <a:pt x="24384" y="79473"/>
                  </a:lnTo>
                  <a:lnTo>
                    <a:pt x="6381" y="117915"/>
                  </a:lnTo>
                  <a:lnTo>
                    <a:pt x="0" y="160782"/>
                  </a:lnTo>
                  <a:lnTo>
                    <a:pt x="6381" y="203327"/>
                  </a:lnTo>
                  <a:lnTo>
                    <a:pt x="24384" y="241554"/>
                  </a:lnTo>
                  <a:lnTo>
                    <a:pt x="52292" y="273939"/>
                  </a:lnTo>
                  <a:lnTo>
                    <a:pt x="88392" y="298958"/>
                  </a:lnTo>
                  <a:lnTo>
                    <a:pt x="130968" y="315087"/>
                  </a:lnTo>
                  <a:lnTo>
                    <a:pt x="178308" y="320802"/>
                  </a:lnTo>
                  <a:lnTo>
                    <a:pt x="225590" y="315087"/>
                  </a:lnTo>
                  <a:lnTo>
                    <a:pt x="268026" y="298958"/>
                  </a:lnTo>
                  <a:lnTo>
                    <a:pt x="303942" y="273939"/>
                  </a:lnTo>
                  <a:lnTo>
                    <a:pt x="331667" y="241554"/>
                  </a:lnTo>
                  <a:lnTo>
                    <a:pt x="349528" y="203327"/>
                  </a:lnTo>
                  <a:lnTo>
                    <a:pt x="355854" y="160782"/>
                  </a:lnTo>
                  <a:lnTo>
                    <a:pt x="349528" y="117915"/>
                  </a:lnTo>
                  <a:lnTo>
                    <a:pt x="331667" y="79473"/>
                  </a:lnTo>
                  <a:lnTo>
                    <a:pt x="303942" y="46958"/>
                  </a:lnTo>
                  <a:lnTo>
                    <a:pt x="268026" y="21872"/>
                  </a:lnTo>
                  <a:lnTo>
                    <a:pt x="225590" y="5718"/>
                  </a:lnTo>
                  <a:lnTo>
                    <a:pt x="178308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B71E5E8-BEE2-FBBA-D80D-9A3B566EA434}"/>
                </a:ext>
              </a:extLst>
            </p:cNvPr>
            <p:cNvSpPr/>
            <p:nvPr/>
          </p:nvSpPr>
          <p:spPr>
            <a:xfrm>
              <a:off x="1143000" y="4831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30" h="320039">
                  <a:moveTo>
                    <a:pt x="354330" y="160020"/>
                  </a:move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58B6A83-05C6-F848-5A42-A3697805BCD6}"/>
                </a:ext>
              </a:extLst>
            </p:cNvPr>
            <p:cNvSpPr/>
            <p:nvPr/>
          </p:nvSpPr>
          <p:spPr>
            <a:xfrm>
              <a:off x="1143000" y="4831079"/>
              <a:ext cx="354330" cy="320040"/>
            </a:xfrm>
            <a:custGeom>
              <a:avLst/>
              <a:gdLst/>
              <a:ahLst/>
              <a:cxnLst/>
              <a:rect l="l" t="t" r="r" b="b"/>
              <a:pathLst>
                <a:path w="354330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4066" y="314325"/>
                  </a:lnTo>
                  <a:lnTo>
                    <a:pt x="266502" y="298196"/>
                  </a:lnTo>
                  <a:lnTo>
                    <a:pt x="302418" y="273177"/>
                  </a:lnTo>
                  <a:lnTo>
                    <a:pt x="330143" y="240792"/>
                  </a:lnTo>
                  <a:lnTo>
                    <a:pt x="348004" y="202565"/>
                  </a:lnTo>
                  <a:lnTo>
                    <a:pt x="354330" y="160020"/>
                  </a:lnTo>
                  <a:lnTo>
                    <a:pt x="348004" y="117475"/>
                  </a:lnTo>
                  <a:lnTo>
                    <a:pt x="330143" y="79247"/>
                  </a:lnTo>
                  <a:lnTo>
                    <a:pt x="302418" y="46862"/>
                  </a:lnTo>
                  <a:lnTo>
                    <a:pt x="266502" y="21843"/>
                  </a:lnTo>
                  <a:lnTo>
                    <a:pt x="224066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91D573C-ED64-232D-07BE-DB6A5B163486}"/>
                </a:ext>
              </a:extLst>
            </p:cNvPr>
            <p:cNvSpPr/>
            <p:nvPr/>
          </p:nvSpPr>
          <p:spPr>
            <a:xfrm>
              <a:off x="1365503" y="5897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4" h="320039">
                  <a:moveTo>
                    <a:pt x="353568" y="160020"/>
                  </a:move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2A4EA8E-4EAB-0E12-024C-B5DAF724C79F}"/>
                </a:ext>
              </a:extLst>
            </p:cNvPr>
            <p:cNvSpPr/>
            <p:nvPr/>
          </p:nvSpPr>
          <p:spPr>
            <a:xfrm>
              <a:off x="1365503" y="5897879"/>
              <a:ext cx="353695" cy="320040"/>
            </a:xfrm>
            <a:custGeom>
              <a:avLst/>
              <a:gdLst/>
              <a:ahLst/>
              <a:cxnLst/>
              <a:rect l="l" t="t" r="r" b="b"/>
              <a:pathLst>
                <a:path w="353694" h="320039">
                  <a:moveTo>
                    <a:pt x="176784" y="0"/>
                  </a:moveTo>
                  <a:lnTo>
                    <a:pt x="129822" y="5715"/>
                  </a:lnTo>
                  <a:lnTo>
                    <a:pt x="87601" y="21844"/>
                  </a:lnTo>
                  <a:lnTo>
                    <a:pt x="51816" y="46863"/>
                  </a:lnTo>
                  <a:lnTo>
                    <a:pt x="24158" y="79248"/>
                  </a:lnTo>
                  <a:lnTo>
                    <a:pt x="6321" y="117475"/>
                  </a:lnTo>
                  <a:lnTo>
                    <a:pt x="0" y="160020"/>
                  </a:lnTo>
                  <a:lnTo>
                    <a:pt x="6321" y="202565"/>
                  </a:lnTo>
                  <a:lnTo>
                    <a:pt x="24158" y="240792"/>
                  </a:lnTo>
                  <a:lnTo>
                    <a:pt x="51816" y="273177"/>
                  </a:lnTo>
                  <a:lnTo>
                    <a:pt x="87601" y="298196"/>
                  </a:lnTo>
                  <a:lnTo>
                    <a:pt x="129822" y="314325"/>
                  </a:lnTo>
                  <a:lnTo>
                    <a:pt x="176784" y="320040"/>
                  </a:lnTo>
                  <a:lnTo>
                    <a:pt x="223745" y="314325"/>
                  </a:lnTo>
                  <a:lnTo>
                    <a:pt x="265966" y="298196"/>
                  </a:lnTo>
                  <a:lnTo>
                    <a:pt x="301752" y="273177"/>
                  </a:lnTo>
                  <a:lnTo>
                    <a:pt x="329409" y="240792"/>
                  </a:lnTo>
                  <a:lnTo>
                    <a:pt x="347246" y="202565"/>
                  </a:lnTo>
                  <a:lnTo>
                    <a:pt x="353568" y="160020"/>
                  </a:lnTo>
                  <a:lnTo>
                    <a:pt x="347246" y="117475"/>
                  </a:lnTo>
                  <a:lnTo>
                    <a:pt x="329409" y="79247"/>
                  </a:lnTo>
                  <a:lnTo>
                    <a:pt x="301752" y="46862"/>
                  </a:lnTo>
                  <a:lnTo>
                    <a:pt x="265966" y="21843"/>
                  </a:lnTo>
                  <a:lnTo>
                    <a:pt x="223745" y="5714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7BFFB98-E346-E383-2EAA-63404AA30342}"/>
                </a:ext>
              </a:extLst>
            </p:cNvPr>
            <p:cNvSpPr/>
            <p:nvPr/>
          </p:nvSpPr>
          <p:spPr>
            <a:xfrm>
              <a:off x="2665476" y="4511802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4" h="319404">
                  <a:moveTo>
                    <a:pt x="353567" y="159258"/>
                  </a:move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E25DCC4-AFAA-135E-6ED3-8E9F99E80A4C}"/>
                </a:ext>
              </a:extLst>
            </p:cNvPr>
            <p:cNvSpPr/>
            <p:nvPr/>
          </p:nvSpPr>
          <p:spPr>
            <a:xfrm>
              <a:off x="2665476" y="4511802"/>
              <a:ext cx="353695" cy="319405"/>
            </a:xfrm>
            <a:custGeom>
              <a:avLst/>
              <a:gdLst/>
              <a:ahLst/>
              <a:cxnLst/>
              <a:rect l="l" t="t" r="r" b="b"/>
              <a:pathLst>
                <a:path w="353694" h="319404">
                  <a:moveTo>
                    <a:pt x="176783" y="0"/>
                  </a:moveTo>
                  <a:lnTo>
                    <a:pt x="129822" y="5711"/>
                  </a:lnTo>
                  <a:lnTo>
                    <a:pt x="87601" y="21815"/>
                  </a:lnTo>
                  <a:lnTo>
                    <a:pt x="51815" y="46767"/>
                  </a:lnTo>
                  <a:lnTo>
                    <a:pt x="24158" y="79022"/>
                  </a:lnTo>
                  <a:lnTo>
                    <a:pt x="6321" y="117034"/>
                  </a:lnTo>
                  <a:lnTo>
                    <a:pt x="0" y="159258"/>
                  </a:lnTo>
                  <a:lnTo>
                    <a:pt x="6321" y="201803"/>
                  </a:lnTo>
                  <a:lnTo>
                    <a:pt x="24158" y="240030"/>
                  </a:lnTo>
                  <a:lnTo>
                    <a:pt x="51815" y="272415"/>
                  </a:lnTo>
                  <a:lnTo>
                    <a:pt x="87601" y="297434"/>
                  </a:lnTo>
                  <a:lnTo>
                    <a:pt x="129822" y="313563"/>
                  </a:lnTo>
                  <a:lnTo>
                    <a:pt x="176783" y="319278"/>
                  </a:lnTo>
                  <a:lnTo>
                    <a:pt x="223745" y="313563"/>
                  </a:lnTo>
                  <a:lnTo>
                    <a:pt x="265966" y="297434"/>
                  </a:lnTo>
                  <a:lnTo>
                    <a:pt x="301751" y="272415"/>
                  </a:lnTo>
                  <a:lnTo>
                    <a:pt x="329409" y="240030"/>
                  </a:lnTo>
                  <a:lnTo>
                    <a:pt x="347246" y="201803"/>
                  </a:lnTo>
                  <a:lnTo>
                    <a:pt x="353567" y="159258"/>
                  </a:lnTo>
                  <a:lnTo>
                    <a:pt x="347246" y="117034"/>
                  </a:lnTo>
                  <a:lnTo>
                    <a:pt x="329409" y="79022"/>
                  </a:lnTo>
                  <a:lnTo>
                    <a:pt x="301751" y="46767"/>
                  </a:lnTo>
                  <a:lnTo>
                    <a:pt x="265966" y="21815"/>
                  </a:lnTo>
                  <a:lnTo>
                    <a:pt x="223745" y="5711"/>
                  </a:lnTo>
                  <a:lnTo>
                    <a:pt x="17678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A1DB270B-6C90-1BEC-3E32-3EC0BC5098CB}"/>
                </a:ext>
              </a:extLst>
            </p:cNvPr>
            <p:cNvSpPr/>
            <p:nvPr/>
          </p:nvSpPr>
          <p:spPr>
            <a:xfrm>
              <a:off x="4674870" y="493699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354330" y="160782"/>
                  </a:move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4C73C12E-052E-856D-1AB4-66D1D97BCADD}"/>
                </a:ext>
              </a:extLst>
            </p:cNvPr>
            <p:cNvSpPr/>
            <p:nvPr/>
          </p:nvSpPr>
          <p:spPr>
            <a:xfrm>
              <a:off x="4674870" y="4936997"/>
              <a:ext cx="354330" cy="321310"/>
            </a:xfrm>
            <a:custGeom>
              <a:avLst/>
              <a:gdLst/>
              <a:ahLst/>
              <a:cxnLst/>
              <a:rect l="l" t="t" r="r" b="b"/>
              <a:pathLst>
                <a:path w="354329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507" y="315087"/>
                  </a:lnTo>
                  <a:lnTo>
                    <a:pt x="266728" y="298958"/>
                  </a:lnTo>
                  <a:lnTo>
                    <a:pt x="302514" y="273939"/>
                  </a:lnTo>
                  <a:lnTo>
                    <a:pt x="330171" y="241554"/>
                  </a:lnTo>
                  <a:lnTo>
                    <a:pt x="348008" y="203327"/>
                  </a:lnTo>
                  <a:lnTo>
                    <a:pt x="354330" y="160782"/>
                  </a:lnTo>
                  <a:lnTo>
                    <a:pt x="348008" y="117915"/>
                  </a:lnTo>
                  <a:lnTo>
                    <a:pt x="330171" y="79473"/>
                  </a:lnTo>
                  <a:lnTo>
                    <a:pt x="302514" y="46958"/>
                  </a:lnTo>
                  <a:lnTo>
                    <a:pt x="266728" y="21872"/>
                  </a:lnTo>
                  <a:lnTo>
                    <a:pt x="224507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A0CE50F-CFE5-7901-46D0-FE7446B0A570}"/>
                </a:ext>
              </a:extLst>
            </p:cNvPr>
            <p:cNvSpPr/>
            <p:nvPr/>
          </p:nvSpPr>
          <p:spPr>
            <a:xfrm>
              <a:off x="3256026" y="6537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09">
                  <a:moveTo>
                    <a:pt x="353568" y="160782"/>
                  </a:moveTo>
                  <a:lnTo>
                    <a:pt x="347246" y="117915"/>
                  </a:lnTo>
                  <a:lnTo>
                    <a:pt x="329409" y="79473"/>
                  </a:lnTo>
                  <a:lnTo>
                    <a:pt x="301752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4" y="0"/>
                  </a:lnTo>
                  <a:lnTo>
                    <a:pt x="129822" y="5718"/>
                  </a:lnTo>
                  <a:lnTo>
                    <a:pt x="87601" y="21872"/>
                  </a:lnTo>
                  <a:lnTo>
                    <a:pt x="51816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E9AA499-BF3B-ADA8-D3E5-966CB86D0916}"/>
                </a:ext>
              </a:extLst>
            </p:cNvPr>
            <p:cNvSpPr/>
            <p:nvPr/>
          </p:nvSpPr>
          <p:spPr>
            <a:xfrm>
              <a:off x="3256026" y="6537197"/>
              <a:ext cx="353695" cy="321310"/>
            </a:xfrm>
            <a:custGeom>
              <a:avLst/>
              <a:gdLst/>
              <a:ahLst/>
              <a:cxnLst/>
              <a:rect l="l" t="t" r="r" b="b"/>
              <a:pathLst>
                <a:path w="353695" h="321309">
                  <a:moveTo>
                    <a:pt x="176784" y="0"/>
                  </a:moveTo>
                  <a:lnTo>
                    <a:pt x="129822" y="5718"/>
                  </a:lnTo>
                  <a:lnTo>
                    <a:pt x="87601" y="21872"/>
                  </a:lnTo>
                  <a:lnTo>
                    <a:pt x="51816" y="46958"/>
                  </a:lnTo>
                  <a:lnTo>
                    <a:pt x="24158" y="79473"/>
                  </a:lnTo>
                  <a:lnTo>
                    <a:pt x="6321" y="117915"/>
                  </a:lnTo>
                  <a:lnTo>
                    <a:pt x="0" y="160782"/>
                  </a:lnTo>
                  <a:lnTo>
                    <a:pt x="6321" y="203327"/>
                  </a:lnTo>
                  <a:lnTo>
                    <a:pt x="24158" y="241554"/>
                  </a:lnTo>
                  <a:lnTo>
                    <a:pt x="51816" y="273939"/>
                  </a:lnTo>
                  <a:lnTo>
                    <a:pt x="87601" y="298958"/>
                  </a:lnTo>
                  <a:lnTo>
                    <a:pt x="129822" y="315087"/>
                  </a:lnTo>
                  <a:lnTo>
                    <a:pt x="176784" y="320802"/>
                  </a:lnTo>
                  <a:lnTo>
                    <a:pt x="223745" y="315087"/>
                  </a:lnTo>
                  <a:lnTo>
                    <a:pt x="265966" y="298958"/>
                  </a:lnTo>
                  <a:lnTo>
                    <a:pt x="301752" y="273939"/>
                  </a:lnTo>
                  <a:lnTo>
                    <a:pt x="329409" y="241554"/>
                  </a:lnTo>
                  <a:lnTo>
                    <a:pt x="347246" y="203327"/>
                  </a:lnTo>
                  <a:lnTo>
                    <a:pt x="353568" y="160782"/>
                  </a:lnTo>
                  <a:lnTo>
                    <a:pt x="347246" y="117915"/>
                  </a:lnTo>
                  <a:lnTo>
                    <a:pt x="329409" y="79473"/>
                  </a:lnTo>
                  <a:lnTo>
                    <a:pt x="301752" y="46958"/>
                  </a:lnTo>
                  <a:lnTo>
                    <a:pt x="265966" y="21872"/>
                  </a:lnTo>
                  <a:lnTo>
                    <a:pt x="223745" y="5718"/>
                  </a:lnTo>
                  <a:lnTo>
                    <a:pt x="1767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0C96623-C3C4-970E-95A1-BBC5F97F04E3}"/>
                </a:ext>
              </a:extLst>
            </p:cNvPr>
            <p:cNvSpPr/>
            <p:nvPr/>
          </p:nvSpPr>
          <p:spPr>
            <a:xfrm>
              <a:off x="2901695" y="5578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354329" y="159258"/>
                  </a:moveTo>
                  <a:lnTo>
                    <a:pt x="348008" y="117034"/>
                  </a:lnTo>
                  <a:lnTo>
                    <a:pt x="330171" y="79022"/>
                  </a:lnTo>
                  <a:lnTo>
                    <a:pt x="302513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5" y="0"/>
                  </a:ln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5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3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29" y="159258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6105944-9B85-013D-E253-2309E7249C0B}"/>
                </a:ext>
              </a:extLst>
            </p:cNvPr>
            <p:cNvSpPr/>
            <p:nvPr/>
          </p:nvSpPr>
          <p:spPr>
            <a:xfrm>
              <a:off x="2901695" y="5578602"/>
              <a:ext cx="354330" cy="319405"/>
            </a:xfrm>
            <a:custGeom>
              <a:avLst/>
              <a:gdLst/>
              <a:ahLst/>
              <a:cxnLst/>
              <a:rect l="l" t="t" r="r" b="b"/>
              <a:pathLst>
                <a:path w="354329" h="319404">
                  <a:moveTo>
                    <a:pt x="177545" y="0"/>
                  </a:moveTo>
                  <a:lnTo>
                    <a:pt x="130263" y="5711"/>
                  </a:lnTo>
                  <a:lnTo>
                    <a:pt x="87827" y="21815"/>
                  </a:lnTo>
                  <a:lnTo>
                    <a:pt x="51911" y="46767"/>
                  </a:lnTo>
                  <a:lnTo>
                    <a:pt x="24186" y="79022"/>
                  </a:lnTo>
                  <a:lnTo>
                    <a:pt x="6325" y="117034"/>
                  </a:lnTo>
                  <a:lnTo>
                    <a:pt x="0" y="159258"/>
                  </a:lnTo>
                  <a:lnTo>
                    <a:pt x="6325" y="201803"/>
                  </a:lnTo>
                  <a:lnTo>
                    <a:pt x="24186" y="240030"/>
                  </a:lnTo>
                  <a:lnTo>
                    <a:pt x="51911" y="272415"/>
                  </a:lnTo>
                  <a:lnTo>
                    <a:pt x="87827" y="297434"/>
                  </a:lnTo>
                  <a:lnTo>
                    <a:pt x="130263" y="313563"/>
                  </a:lnTo>
                  <a:lnTo>
                    <a:pt x="177545" y="319278"/>
                  </a:lnTo>
                  <a:lnTo>
                    <a:pt x="224507" y="313563"/>
                  </a:lnTo>
                  <a:lnTo>
                    <a:pt x="266728" y="297434"/>
                  </a:lnTo>
                  <a:lnTo>
                    <a:pt x="302513" y="272415"/>
                  </a:lnTo>
                  <a:lnTo>
                    <a:pt x="330171" y="240030"/>
                  </a:lnTo>
                  <a:lnTo>
                    <a:pt x="348008" y="201803"/>
                  </a:lnTo>
                  <a:lnTo>
                    <a:pt x="354329" y="159258"/>
                  </a:lnTo>
                  <a:lnTo>
                    <a:pt x="348008" y="117034"/>
                  </a:lnTo>
                  <a:lnTo>
                    <a:pt x="330171" y="79022"/>
                  </a:lnTo>
                  <a:lnTo>
                    <a:pt x="302513" y="46767"/>
                  </a:lnTo>
                  <a:lnTo>
                    <a:pt x="266728" y="21815"/>
                  </a:lnTo>
                  <a:lnTo>
                    <a:pt x="224507" y="5711"/>
                  </a:lnTo>
                  <a:lnTo>
                    <a:pt x="177545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DC80B5C-8294-4B16-1801-22D4535A34DB}"/>
                </a:ext>
              </a:extLst>
            </p:cNvPr>
            <p:cNvSpPr/>
            <p:nvPr/>
          </p:nvSpPr>
          <p:spPr>
            <a:xfrm>
              <a:off x="4319778" y="6003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355092" y="160782"/>
                  </a:move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922F57E-438A-89F1-9C9C-B141CF054BDB}"/>
                </a:ext>
              </a:extLst>
            </p:cNvPr>
            <p:cNvSpPr/>
            <p:nvPr/>
          </p:nvSpPr>
          <p:spPr>
            <a:xfrm>
              <a:off x="4319778" y="6003797"/>
              <a:ext cx="355600" cy="321310"/>
            </a:xfrm>
            <a:custGeom>
              <a:avLst/>
              <a:gdLst/>
              <a:ahLst/>
              <a:cxnLst/>
              <a:rect l="l" t="t" r="r" b="b"/>
              <a:pathLst>
                <a:path w="355600" h="321310">
                  <a:moveTo>
                    <a:pt x="177546" y="0"/>
                  </a:moveTo>
                  <a:lnTo>
                    <a:pt x="130263" y="5718"/>
                  </a:lnTo>
                  <a:lnTo>
                    <a:pt x="87827" y="21872"/>
                  </a:lnTo>
                  <a:lnTo>
                    <a:pt x="51911" y="46958"/>
                  </a:lnTo>
                  <a:lnTo>
                    <a:pt x="24186" y="79473"/>
                  </a:lnTo>
                  <a:lnTo>
                    <a:pt x="6325" y="117915"/>
                  </a:lnTo>
                  <a:lnTo>
                    <a:pt x="0" y="160782"/>
                  </a:lnTo>
                  <a:lnTo>
                    <a:pt x="6325" y="203327"/>
                  </a:lnTo>
                  <a:lnTo>
                    <a:pt x="24186" y="241554"/>
                  </a:lnTo>
                  <a:lnTo>
                    <a:pt x="51911" y="273939"/>
                  </a:lnTo>
                  <a:lnTo>
                    <a:pt x="87827" y="298958"/>
                  </a:lnTo>
                  <a:lnTo>
                    <a:pt x="130263" y="315087"/>
                  </a:lnTo>
                  <a:lnTo>
                    <a:pt x="177546" y="320802"/>
                  </a:lnTo>
                  <a:lnTo>
                    <a:pt x="224828" y="315087"/>
                  </a:lnTo>
                  <a:lnTo>
                    <a:pt x="267264" y="298958"/>
                  </a:lnTo>
                  <a:lnTo>
                    <a:pt x="303180" y="273939"/>
                  </a:lnTo>
                  <a:lnTo>
                    <a:pt x="330905" y="241554"/>
                  </a:lnTo>
                  <a:lnTo>
                    <a:pt x="348766" y="203327"/>
                  </a:lnTo>
                  <a:lnTo>
                    <a:pt x="355092" y="160782"/>
                  </a:lnTo>
                  <a:lnTo>
                    <a:pt x="348766" y="117915"/>
                  </a:lnTo>
                  <a:lnTo>
                    <a:pt x="330905" y="79473"/>
                  </a:lnTo>
                  <a:lnTo>
                    <a:pt x="303180" y="46958"/>
                  </a:lnTo>
                  <a:lnTo>
                    <a:pt x="267264" y="21872"/>
                  </a:lnTo>
                  <a:lnTo>
                    <a:pt x="224828" y="5718"/>
                  </a:lnTo>
                  <a:lnTo>
                    <a:pt x="177546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0064F3B-D87F-0888-E54D-40E198CE951C}"/>
                </a:ext>
              </a:extLst>
            </p:cNvPr>
            <p:cNvSpPr/>
            <p:nvPr/>
          </p:nvSpPr>
          <p:spPr>
            <a:xfrm>
              <a:off x="1365503" y="3978402"/>
              <a:ext cx="471170" cy="852805"/>
            </a:xfrm>
            <a:custGeom>
              <a:avLst/>
              <a:gdLst/>
              <a:ahLst/>
              <a:cxnLst/>
              <a:rect l="l" t="t" r="r" b="b"/>
              <a:pathLst>
                <a:path w="471169" h="852804">
                  <a:moveTo>
                    <a:pt x="470915" y="0"/>
                  </a:moveTo>
                  <a:lnTo>
                    <a:pt x="0" y="85267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8BD78C7-AFFC-C7BD-923A-FAE5A07E33A4}"/>
                </a:ext>
              </a:extLst>
            </p:cNvPr>
            <p:cNvSpPr/>
            <p:nvPr/>
          </p:nvSpPr>
          <p:spPr>
            <a:xfrm>
              <a:off x="2073401" y="3870197"/>
              <a:ext cx="1536700" cy="108585"/>
            </a:xfrm>
            <a:custGeom>
              <a:avLst/>
              <a:gdLst/>
              <a:ahLst/>
              <a:cxnLst/>
              <a:rect l="l" t="t" r="r" b="b"/>
              <a:pathLst>
                <a:path w="1536700" h="108585">
                  <a:moveTo>
                    <a:pt x="0" y="0"/>
                  </a:moveTo>
                  <a:lnTo>
                    <a:pt x="1536192" y="108203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5028630-2003-6C39-CE1E-2E4EFDC93226}"/>
                </a:ext>
              </a:extLst>
            </p:cNvPr>
            <p:cNvSpPr/>
            <p:nvPr/>
          </p:nvSpPr>
          <p:spPr>
            <a:xfrm>
              <a:off x="1482852" y="5045202"/>
              <a:ext cx="1419225" cy="639445"/>
            </a:xfrm>
            <a:custGeom>
              <a:avLst/>
              <a:gdLst/>
              <a:ahLst/>
              <a:cxnLst/>
              <a:rect l="l" t="t" r="r" b="b"/>
              <a:pathLst>
                <a:path w="1419225" h="639445">
                  <a:moveTo>
                    <a:pt x="0" y="0"/>
                  </a:moveTo>
                  <a:lnTo>
                    <a:pt x="1418844" y="63931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CCCC95F-6303-E625-57A6-0ED67E7CB265}"/>
                </a:ext>
              </a:extLst>
            </p:cNvPr>
            <p:cNvSpPr/>
            <p:nvPr/>
          </p:nvSpPr>
          <p:spPr>
            <a:xfrm>
              <a:off x="1482852" y="47244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5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31610EA-992C-3262-36EC-C8A2B3755999}"/>
                </a:ext>
              </a:extLst>
            </p:cNvPr>
            <p:cNvSpPr/>
            <p:nvPr/>
          </p:nvSpPr>
          <p:spPr>
            <a:xfrm>
              <a:off x="3846576" y="4191000"/>
              <a:ext cx="592455" cy="1812925"/>
            </a:xfrm>
            <a:custGeom>
              <a:avLst/>
              <a:gdLst/>
              <a:ahLst/>
              <a:cxnLst/>
              <a:rect l="l" t="t" r="r" b="b"/>
              <a:pathLst>
                <a:path w="592454" h="1812925">
                  <a:moveTo>
                    <a:pt x="0" y="0"/>
                  </a:moveTo>
                  <a:lnTo>
                    <a:pt x="592074" y="181279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C90C340-77D2-8141-C5A2-51F0601339FA}"/>
                </a:ext>
              </a:extLst>
            </p:cNvPr>
            <p:cNvSpPr/>
            <p:nvPr/>
          </p:nvSpPr>
          <p:spPr>
            <a:xfrm>
              <a:off x="3890771" y="4123944"/>
              <a:ext cx="829310" cy="854710"/>
            </a:xfrm>
            <a:custGeom>
              <a:avLst/>
              <a:gdLst/>
              <a:ahLst/>
              <a:cxnLst/>
              <a:rect l="l" t="t" r="r" b="b"/>
              <a:pathLst>
                <a:path w="829310" h="854710">
                  <a:moveTo>
                    <a:pt x="0" y="0"/>
                  </a:moveTo>
                  <a:lnTo>
                    <a:pt x="829056" y="854202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CC8F698-994D-F274-0ABB-B72785555B14}"/>
                </a:ext>
              </a:extLst>
            </p:cNvPr>
            <p:cNvSpPr/>
            <p:nvPr/>
          </p:nvSpPr>
          <p:spPr>
            <a:xfrm>
              <a:off x="4555997" y="5257800"/>
              <a:ext cx="237490" cy="746125"/>
            </a:xfrm>
            <a:custGeom>
              <a:avLst/>
              <a:gdLst/>
              <a:ahLst/>
              <a:cxnLst/>
              <a:rect l="l" t="t" r="r" b="b"/>
              <a:pathLst>
                <a:path w="237489" h="746125">
                  <a:moveTo>
                    <a:pt x="236982" y="0"/>
                  </a:moveTo>
                  <a:lnTo>
                    <a:pt x="0" y="74599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C387EA1B-0C7A-71EE-C9BD-82E9EC7DA060}"/>
                </a:ext>
              </a:extLst>
            </p:cNvPr>
            <p:cNvSpPr/>
            <p:nvPr/>
          </p:nvSpPr>
          <p:spPr>
            <a:xfrm>
              <a:off x="3138677" y="4191000"/>
              <a:ext cx="590550" cy="1388110"/>
            </a:xfrm>
            <a:custGeom>
              <a:avLst/>
              <a:gdLst/>
              <a:ahLst/>
              <a:cxnLst/>
              <a:rect l="l" t="t" r="r" b="b"/>
              <a:pathLst>
                <a:path w="590550" h="1388110">
                  <a:moveTo>
                    <a:pt x="590550" y="0"/>
                  </a:moveTo>
                  <a:lnTo>
                    <a:pt x="0" y="1387602"/>
                  </a:lnTo>
                </a:path>
              </a:pathLst>
            </a:custGeom>
            <a:ln w="507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420B6B0-1CF7-8172-96E6-0BDCC6ECB46C}"/>
                </a:ext>
              </a:extLst>
            </p:cNvPr>
            <p:cNvSpPr/>
            <p:nvPr/>
          </p:nvSpPr>
          <p:spPr>
            <a:xfrm>
              <a:off x="3138677" y="5897879"/>
              <a:ext cx="236220" cy="639445"/>
            </a:xfrm>
            <a:custGeom>
              <a:avLst/>
              <a:gdLst/>
              <a:ahLst/>
              <a:cxnLst/>
              <a:rect l="l" t="t" r="r" b="b"/>
              <a:pathLst>
                <a:path w="236220" h="639445">
                  <a:moveTo>
                    <a:pt x="0" y="0"/>
                  </a:moveTo>
                  <a:lnTo>
                    <a:pt x="236220" y="639318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02D14200-C356-4704-97A3-0F2A051C1424}"/>
                </a:ext>
              </a:extLst>
            </p:cNvPr>
            <p:cNvSpPr/>
            <p:nvPr/>
          </p:nvSpPr>
          <p:spPr>
            <a:xfrm>
              <a:off x="1719072" y="5791200"/>
              <a:ext cx="1183005" cy="212725"/>
            </a:xfrm>
            <a:custGeom>
              <a:avLst/>
              <a:gdLst/>
              <a:ahLst/>
              <a:cxnLst/>
              <a:rect l="l" t="t" r="r" b="b"/>
              <a:pathLst>
                <a:path w="1183005" h="212725">
                  <a:moveTo>
                    <a:pt x="0" y="212598"/>
                  </a:moveTo>
                  <a:lnTo>
                    <a:pt x="1182624" y="0"/>
                  </a:lnTo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41E5C6B-E95C-AF94-DC28-1AE456D90206}"/>
                </a:ext>
              </a:extLst>
            </p:cNvPr>
            <p:cNvSpPr txBox="1"/>
            <p:nvPr/>
          </p:nvSpPr>
          <p:spPr>
            <a:xfrm>
              <a:off x="1828292" y="3683253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a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40DCD66-99D0-CF4A-E45E-914329C5A0D7}"/>
                </a:ext>
              </a:extLst>
            </p:cNvPr>
            <p:cNvSpPr txBox="1"/>
            <p:nvPr/>
          </p:nvSpPr>
          <p:spPr>
            <a:xfrm>
              <a:off x="4462524" y="6045450"/>
              <a:ext cx="7493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i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851F72C-ED19-FC8B-1C74-B163EDEC31C4}"/>
                </a:ext>
              </a:extLst>
            </p:cNvPr>
            <p:cNvSpPr txBox="1"/>
            <p:nvPr/>
          </p:nvSpPr>
          <p:spPr>
            <a:xfrm>
              <a:off x="3362200" y="6559801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g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8DB5500-544F-3752-313F-32AF7B2FDCBC}"/>
                </a:ext>
              </a:extLst>
            </p:cNvPr>
            <p:cNvSpPr txBox="1"/>
            <p:nvPr/>
          </p:nvSpPr>
          <p:spPr>
            <a:xfrm>
              <a:off x="1481580" y="5954777"/>
              <a:ext cx="8509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f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940139D4-29FC-540C-DB25-106D2D84788A}"/>
                </a:ext>
              </a:extLst>
            </p:cNvPr>
            <p:cNvSpPr txBox="1"/>
            <p:nvPr/>
          </p:nvSpPr>
          <p:spPr>
            <a:xfrm>
              <a:off x="3028432" y="5616445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e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CFFAFDE-F26E-1D8C-6AFA-918CA8D1DB36}"/>
                </a:ext>
              </a:extLst>
            </p:cNvPr>
            <p:cNvSpPr txBox="1"/>
            <p:nvPr/>
          </p:nvSpPr>
          <p:spPr>
            <a:xfrm>
              <a:off x="2771629" y="4564130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d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2955A8C3-9140-C0A9-0ED9-25C106631116}"/>
                </a:ext>
              </a:extLst>
            </p:cNvPr>
            <p:cNvSpPr txBox="1"/>
            <p:nvPr/>
          </p:nvSpPr>
          <p:spPr>
            <a:xfrm>
              <a:off x="1247627" y="4854454"/>
              <a:ext cx="124460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c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8CB54AB6-A582-D7DB-BD8D-EF5E033E462A}"/>
                </a:ext>
              </a:extLst>
            </p:cNvPr>
            <p:cNvSpPr txBox="1"/>
            <p:nvPr/>
          </p:nvSpPr>
          <p:spPr>
            <a:xfrm>
              <a:off x="3728691" y="3911862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CEC9B9AA-6217-6D1E-E128-926406D531EF}"/>
                </a:ext>
              </a:extLst>
            </p:cNvPr>
            <p:cNvSpPr txBox="1"/>
            <p:nvPr/>
          </p:nvSpPr>
          <p:spPr>
            <a:xfrm>
              <a:off x="4786350" y="4993135"/>
              <a:ext cx="133985" cy="224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b="1" spc="-5" dirty="0">
                  <a:latin typeface="Arial"/>
                  <a:cs typeface="Arial"/>
                </a:rPr>
                <a:t>h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6A67BFD-7384-DA4B-7345-42E8B1249E11}"/>
                </a:ext>
              </a:extLst>
            </p:cNvPr>
            <p:cNvSpPr txBox="1"/>
            <p:nvPr/>
          </p:nvSpPr>
          <p:spPr>
            <a:xfrm>
              <a:off x="1388617" y="4233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F9273E4E-3AB4-789A-8CD8-1DDC399F3637}"/>
                </a:ext>
              </a:extLst>
            </p:cNvPr>
            <p:cNvSpPr txBox="1"/>
            <p:nvPr/>
          </p:nvSpPr>
          <p:spPr>
            <a:xfrm>
              <a:off x="2607817" y="3700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EBDA2B22-AD92-8EDC-6391-0D48FE8E953E}"/>
                </a:ext>
              </a:extLst>
            </p:cNvPr>
            <p:cNvSpPr txBox="1"/>
            <p:nvPr/>
          </p:nvSpPr>
          <p:spPr>
            <a:xfrm>
              <a:off x="1998217" y="5757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BC82091-CCD3-5645-85BC-EE4B8AF77292}"/>
                </a:ext>
              </a:extLst>
            </p:cNvPr>
            <p:cNvSpPr txBox="1"/>
            <p:nvPr/>
          </p:nvSpPr>
          <p:spPr>
            <a:xfrm>
              <a:off x="3335528" y="60624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567D43E-A920-5FCC-D20E-B266E6349424}"/>
                </a:ext>
              </a:extLst>
            </p:cNvPr>
            <p:cNvSpPr txBox="1"/>
            <p:nvPr/>
          </p:nvSpPr>
          <p:spPr>
            <a:xfrm>
              <a:off x="3217417" y="4843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61ADCAB-C509-BFBB-4841-E1364BB5F212}"/>
                </a:ext>
              </a:extLst>
            </p:cNvPr>
            <p:cNvSpPr txBox="1"/>
            <p:nvPr/>
          </p:nvSpPr>
          <p:spPr>
            <a:xfrm>
              <a:off x="1922017" y="53004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20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4C50699-69BB-F7B1-4882-8DCE8C150772}"/>
                </a:ext>
              </a:extLst>
            </p:cNvPr>
            <p:cNvSpPr txBox="1"/>
            <p:nvPr/>
          </p:nvSpPr>
          <p:spPr>
            <a:xfrm>
              <a:off x="4741417" y="56052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7ED6DFFD-0294-31FE-B0C0-E58FB44E9A8F}"/>
                </a:ext>
              </a:extLst>
            </p:cNvPr>
            <p:cNvSpPr txBox="1"/>
            <p:nvPr/>
          </p:nvSpPr>
          <p:spPr>
            <a:xfrm>
              <a:off x="4326128" y="4386071"/>
              <a:ext cx="110489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5" dirty="0">
                  <a:latin typeface="Arial"/>
                  <a:cs typeface="Arial"/>
                </a:rPr>
                <a:t>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B7EAF7EB-34DB-C1B6-BF22-7A6C5D2FAD48}"/>
                </a:ext>
              </a:extLst>
            </p:cNvPr>
            <p:cNvSpPr txBox="1"/>
            <p:nvPr/>
          </p:nvSpPr>
          <p:spPr>
            <a:xfrm>
              <a:off x="3903217" y="50718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25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5D2B95A-E0B5-4B71-E1CE-39150CA8B4E3}"/>
                </a:ext>
              </a:extLst>
            </p:cNvPr>
            <p:cNvSpPr txBox="1"/>
            <p:nvPr/>
          </p:nvSpPr>
          <p:spPr>
            <a:xfrm>
              <a:off x="1922017" y="4614671"/>
              <a:ext cx="194945" cy="1943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200" b="1" spc="-10" dirty="0">
                  <a:latin typeface="Arial"/>
                  <a:cs typeface="Arial"/>
                </a:rPr>
                <a:t>10</a:t>
              </a:r>
              <a:endParaRPr sz="1200">
                <a:latin typeface="Arial"/>
                <a:cs typeface="Arial"/>
              </a:endParaRPr>
            </a:p>
          </p:txBody>
        </p:sp>
      </p:grpSp>
      <p:sp>
        <p:nvSpPr>
          <p:cNvPr id="56" name="object 56">
            <a:extLst>
              <a:ext uri="{FF2B5EF4-FFF2-40B4-BE49-F238E27FC236}">
                <a16:creationId xmlns:a16="http://schemas.microsoft.com/office/drawing/2014/main" id="{8E666950-F6C2-A16D-0B4F-BD3A850BA305}"/>
              </a:ext>
            </a:extLst>
          </p:cNvPr>
          <p:cNvSpPr txBox="1"/>
          <p:nvPr/>
        </p:nvSpPr>
        <p:spPr>
          <a:xfrm>
            <a:off x="1276213" y="3307254"/>
            <a:ext cx="355282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The corresponding tree is shown  </a:t>
            </a:r>
            <a:r>
              <a:rPr lang="en-US" sz="2000" spc="-5" dirty="0">
                <a:latin typeface="Times New Roman"/>
                <a:cs typeface="Times New Roman"/>
              </a:rPr>
              <a:t>and isn’t the minimum spanning tree for this graph. </a:t>
            </a:r>
            <a:br>
              <a:rPr lang="en-US" sz="2000" spc="-5" dirty="0">
                <a:latin typeface="Times New Roman"/>
                <a:cs typeface="Times New Roman"/>
              </a:rPr>
            </a:br>
            <a:r>
              <a:rPr lang="en-US" sz="2000" spc="-5" dirty="0">
                <a:latin typeface="Times New Roman"/>
                <a:cs typeface="Times New Roman"/>
              </a:rPr>
              <a:t>I.e., it doesn’t have the least sum of weights possible</a:t>
            </a:r>
            <a:r>
              <a:rPr sz="2000" spc="-5" dirty="0">
                <a:latin typeface="Times New Roman"/>
                <a:cs typeface="Times New Roman"/>
              </a:rPr>
              <a:t>. </a:t>
            </a:r>
            <a:r>
              <a:rPr lang="en-US" sz="2000" spc="-5" dirty="0">
                <a:latin typeface="Times New Roman"/>
                <a:cs typeface="Times New Roman"/>
              </a:rPr>
              <a:t>For that we need to use Prim’s algorithm.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1030</Words>
  <Application>Microsoft Office PowerPoint</Application>
  <PresentationFormat>Custom</PresentationFormat>
  <Paragraphs>468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Office Theme</vt:lpstr>
      <vt:lpstr>Weighted Graphs</vt:lpstr>
      <vt:lpstr>Shortest Paths (SSAD)</vt:lpstr>
      <vt:lpstr>Dijkstra's SSAD Algorithm*</vt:lpstr>
      <vt:lpstr>Dijkstra's Algorithm Trace</vt:lpstr>
      <vt:lpstr>Dijkstra's Algorithm Trace</vt:lpstr>
      <vt:lpstr>Dijkstra's Algorithm Trace</vt:lpstr>
      <vt:lpstr>Dijkstra's Algorithm Trace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T22.WeightedGraphs.ppt</dc:title>
  <dc:creator>William D McQuain</dc:creator>
  <cp:lastModifiedBy>Weldon Jasik</cp:lastModifiedBy>
  <cp:revision>17</cp:revision>
  <dcterms:created xsi:type="dcterms:W3CDTF">2017-02-06T14:08:23Z</dcterms:created>
  <dcterms:modified xsi:type="dcterms:W3CDTF">2025-04-14T18:06:39Z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2009-12-03T00:00:00Z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2017-02-06T00:00:00Z</vt:filetime>
  </property>
</Properties>
</file>