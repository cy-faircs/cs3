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6"/>
  </p:notesMasterIdLst>
  <p:handoutMasterIdLst>
    <p:handoutMasterId r:id="rId47"/>
  </p:handoutMasterIdLst>
  <p:sldIdLst>
    <p:sldId id="364" r:id="rId2"/>
    <p:sldId id="402" r:id="rId3"/>
    <p:sldId id="408" r:id="rId4"/>
    <p:sldId id="406" r:id="rId5"/>
    <p:sldId id="356" r:id="rId6"/>
    <p:sldId id="337" r:id="rId7"/>
    <p:sldId id="387" r:id="rId8"/>
    <p:sldId id="351" r:id="rId9"/>
    <p:sldId id="352" r:id="rId10"/>
    <p:sldId id="366" r:id="rId11"/>
    <p:sldId id="397" r:id="rId12"/>
    <p:sldId id="396" r:id="rId13"/>
    <p:sldId id="390" r:id="rId14"/>
    <p:sldId id="395" r:id="rId15"/>
    <p:sldId id="316" r:id="rId16"/>
    <p:sldId id="279" r:id="rId17"/>
    <p:sldId id="378" r:id="rId18"/>
    <p:sldId id="382" r:id="rId19"/>
    <p:sldId id="391" r:id="rId20"/>
    <p:sldId id="392" r:id="rId21"/>
    <p:sldId id="385" r:id="rId22"/>
    <p:sldId id="403" r:id="rId23"/>
    <p:sldId id="404" r:id="rId24"/>
    <p:sldId id="333" r:id="rId25"/>
    <p:sldId id="389" r:id="rId26"/>
    <p:sldId id="257" r:id="rId27"/>
    <p:sldId id="324" r:id="rId28"/>
    <p:sldId id="258" r:id="rId29"/>
    <p:sldId id="409" r:id="rId30"/>
    <p:sldId id="393" r:id="rId31"/>
    <p:sldId id="394" r:id="rId32"/>
    <p:sldId id="340" r:id="rId33"/>
    <p:sldId id="341" r:id="rId34"/>
    <p:sldId id="342" r:id="rId35"/>
    <p:sldId id="343" r:id="rId36"/>
    <p:sldId id="344" r:id="rId37"/>
    <p:sldId id="345" r:id="rId38"/>
    <p:sldId id="346" r:id="rId39"/>
    <p:sldId id="347" r:id="rId40"/>
    <p:sldId id="348" r:id="rId41"/>
    <p:sldId id="349" r:id="rId42"/>
    <p:sldId id="350" r:id="rId43"/>
    <p:sldId id="410" r:id="rId44"/>
    <p:sldId id="411" r:id="rId45"/>
  </p:sldIdLst>
  <p:sldSz cx="9144000" cy="6858000" type="screen4x3"/>
  <p:notesSz cx="6858000" cy="9144000"/>
  <p:custDataLst>
    <p:tags r:id="rId48"/>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CC"/>
    <a:srgbClr val="006600"/>
    <a:srgbClr val="009900"/>
    <a:srgbClr val="0000CC"/>
    <a:srgbClr val="0099CC"/>
    <a:srgbClr val="003366"/>
    <a:srgbClr val="660066"/>
    <a:srgbClr val="FFFF00"/>
    <a:srgbClr val="FFFFCC"/>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0" autoAdjust="0"/>
    <p:restoredTop sz="88608" autoAdjust="0"/>
  </p:normalViewPr>
  <p:slideViewPr>
    <p:cSldViewPr>
      <p:cViewPr varScale="1">
        <p:scale>
          <a:sx n="81" d="100"/>
          <a:sy n="81" d="100"/>
        </p:scale>
        <p:origin x="1426"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gs" Target="tags/tag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18471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61323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9451830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767480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309733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758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222334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4091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451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41309799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553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r>
              <a:rPr lang="en-US" sz="1200" b="1" dirty="0" err="1"/>
              <a:t>TreeSet</a:t>
            </a:r>
            <a:r>
              <a:rPr lang="en-US" sz="1200" b="1" dirty="0"/>
              <a:t> and </a:t>
            </a:r>
            <a:r>
              <a:rPr lang="en-US" sz="1200" b="1" dirty="0" err="1"/>
              <a:t>TreeMap</a:t>
            </a:r>
            <a:r>
              <a:rPr lang="en-US" sz="1200" b="1" dirty="0"/>
              <a:t> were built using binary trees. Technically they’re red-black trees, which is a type of balanced tree.</a:t>
            </a:r>
          </a:p>
        </p:txBody>
      </p:sp>
    </p:spTree>
    <p:extLst>
      <p:ext uri="{BB962C8B-B14F-4D97-AF65-F5344CB8AC3E}">
        <p14:creationId xmlns:p14="http://schemas.microsoft.com/office/powerpoint/2010/main" val="30300141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16253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6724284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dirty="0"/>
              <a:t>Which is the complement to the number of  parents, the number of children or the number of leaves? The number of leaves, </a:t>
            </a:r>
            <a:r>
              <a:rPr lang="en-US" dirty="0" err="1"/>
              <a:t>b.c.</a:t>
            </a:r>
            <a:r>
              <a:rPr lang="en-US" dirty="0"/>
              <a:t> 4 + 5 = 9</a:t>
            </a:r>
          </a:p>
        </p:txBody>
      </p:sp>
    </p:spTree>
    <p:extLst>
      <p:ext uri="{BB962C8B-B14F-4D97-AF65-F5344CB8AC3E}">
        <p14:creationId xmlns:p14="http://schemas.microsoft.com/office/powerpoint/2010/main" val="39616253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2326419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5155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4451"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3358696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5874012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705022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Note that some will write the formula using the HEIGHT instead of the # of LEVELS.</a:t>
            </a:r>
          </a:p>
        </p:txBody>
      </p:sp>
    </p:spTree>
    <p:extLst>
      <p:ext uri="{BB962C8B-B14F-4D97-AF65-F5344CB8AC3E}">
        <p14:creationId xmlns:p14="http://schemas.microsoft.com/office/powerpoint/2010/main" val="9207469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0025099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04831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3971"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911361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8840718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30</a:t>
            </a:fld>
            <a:endParaRPr lang="en-US" altLang="en-US" sz="1200"/>
          </a:p>
        </p:txBody>
      </p:sp>
    </p:spTree>
    <p:extLst>
      <p:ext uri="{BB962C8B-B14F-4D97-AF65-F5344CB8AC3E}">
        <p14:creationId xmlns:p14="http://schemas.microsoft.com/office/powerpoint/2010/main" val="13711263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31</a:t>
            </a:fld>
            <a:endParaRPr lang="en-US" altLang="en-US" sz="1200"/>
          </a:p>
        </p:txBody>
      </p:sp>
    </p:spTree>
    <p:extLst>
      <p:ext uri="{BB962C8B-B14F-4D97-AF65-F5344CB8AC3E}">
        <p14:creationId xmlns:p14="http://schemas.microsoft.com/office/powerpoint/2010/main" val="194883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32</a:t>
            </a:fld>
            <a:endParaRPr lang="en-US" altLang="en-US" sz="1200"/>
          </a:p>
        </p:txBody>
      </p:sp>
    </p:spTree>
    <p:extLst>
      <p:ext uri="{BB962C8B-B14F-4D97-AF65-F5344CB8AC3E}">
        <p14:creationId xmlns:p14="http://schemas.microsoft.com/office/powerpoint/2010/main" val="12896417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33</a:t>
            </a:fld>
            <a:endParaRPr lang="en-US" altLang="en-US" sz="1200"/>
          </a:p>
        </p:txBody>
      </p:sp>
    </p:spTree>
    <p:extLst>
      <p:ext uri="{BB962C8B-B14F-4D97-AF65-F5344CB8AC3E}">
        <p14:creationId xmlns:p14="http://schemas.microsoft.com/office/powerpoint/2010/main" val="13523854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34</a:t>
            </a:fld>
            <a:endParaRPr lang="en-US" altLang="en-US" sz="1200"/>
          </a:p>
        </p:txBody>
      </p:sp>
    </p:spTree>
    <p:extLst>
      <p:ext uri="{BB962C8B-B14F-4D97-AF65-F5344CB8AC3E}">
        <p14:creationId xmlns:p14="http://schemas.microsoft.com/office/powerpoint/2010/main" val="2166077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35</a:t>
            </a:fld>
            <a:endParaRPr lang="en-US" altLang="en-US" sz="1200"/>
          </a:p>
        </p:txBody>
      </p:sp>
    </p:spTree>
    <p:extLst>
      <p:ext uri="{BB962C8B-B14F-4D97-AF65-F5344CB8AC3E}">
        <p14:creationId xmlns:p14="http://schemas.microsoft.com/office/powerpoint/2010/main" val="755932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36</a:t>
            </a:fld>
            <a:endParaRPr lang="en-US" altLang="en-US" sz="1200"/>
          </a:p>
        </p:txBody>
      </p:sp>
    </p:spTree>
    <p:extLst>
      <p:ext uri="{BB962C8B-B14F-4D97-AF65-F5344CB8AC3E}">
        <p14:creationId xmlns:p14="http://schemas.microsoft.com/office/powerpoint/2010/main" val="10567915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37</a:t>
            </a:fld>
            <a:endParaRPr lang="en-US" altLang="en-US" sz="1200"/>
          </a:p>
        </p:txBody>
      </p:sp>
    </p:spTree>
    <p:extLst>
      <p:ext uri="{BB962C8B-B14F-4D97-AF65-F5344CB8AC3E}">
        <p14:creationId xmlns:p14="http://schemas.microsoft.com/office/powerpoint/2010/main" val="1704556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38</a:t>
            </a:fld>
            <a:endParaRPr lang="en-US" altLang="en-US" sz="1200"/>
          </a:p>
        </p:txBody>
      </p:sp>
    </p:spTree>
    <p:extLst>
      <p:ext uri="{BB962C8B-B14F-4D97-AF65-F5344CB8AC3E}">
        <p14:creationId xmlns:p14="http://schemas.microsoft.com/office/powerpoint/2010/main" val="13041008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39</a:t>
            </a:fld>
            <a:endParaRPr lang="en-US" altLang="en-US" sz="1200"/>
          </a:p>
        </p:txBody>
      </p:sp>
    </p:spTree>
    <p:extLst>
      <p:ext uri="{BB962C8B-B14F-4D97-AF65-F5344CB8AC3E}">
        <p14:creationId xmlns:p14="http://schemas.microsoft.com/office/powerpoint/2010/main" val="68233244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40</a:t>
            </a:fld>
            <a:endParaRPr lang="en-US" altLang="en-US" sz="1200"/>
          </a:p>
        </p:txBody>
      </p:sp>
    </p:spTree>
    <p:extLst>
      <p:ext uri="{BB962C8B-B14F-4D97-AF65-F5344CB8AC3E}">
        <p14:creationId xmlns:p14="http://schemas.microsoft.com/office/powerpoint/2010/main" val="541398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41</a:t>
            </a:fld>
            <a:endParaRPr lang="en-US" altLang="en-US" sz="1200"/>
          </a:p>
        </p:txBody>
      </p:sp>
    </p:spTree>
    <p:extLst>
      <p:ext uri="{BB962C8B-B14F-4D97-AF65-F5344CB8AC3E}">
        <p14:creationId xmlns:p14="http://schemas.microsoft.com/office/powerpoint/2010/main" val="13863585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42</a:t>
            </a:fld>
            <a:endParaRPr lang="en-US" altLang="en-US" sz="1200"/>
          </a:p>
        </p:txBody>
      </p:sp>
    </p:spTree>
    <p:extLst>
      <p:ext uri="{BB962C8B-B14F-4D97-AF65-F5344CB8AC3E}">
        <p14:creationId xmlns:p14="http://schemas.microsoft.com/office/powerpoint/2010/main" val="20259486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41556960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123" name="WordArt 2"/>
          <p:cNvSpPr>
            <a:spLocks noChangeArrowheads="1" noChangeShapeType="1" noTextEdit="1"/>
          </p:cNvSpPr>
          <p:nvPr/>
        </p:nvSpPr>
        <p:spPr bwMode="auto">
          <a:xfrm>
            <a:off x="609600" y="609600"/>
            <a:ext cx="7848600" cy="2209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What is a tree?</a:t>
            </a:r>
          </a:p>
        </p:txBody>
      </p:sp>
      <p:pic>
        <p:nvPicPr>
          <p:cNvPr id="5124" name="Picture 4" descr="j0331821[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0" y="3276600"/>
            <a:ext cx="2754313"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381000" y="3820939"/>
            <a:ext cx="87630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G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undirected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6058069" cy="923330"/>
          </a:xfrm>
          <a:prstGeom prst="rect">
            <a:avLst/>
          </a:prstGeom>
          <a:noFill/>
        </p:spPr>
        <p:txBody>
          <a:bodyPr wrap="none" rtlCol="0">
            <a:spAutoFit/>
          </a:bodyPr>
          <a:lstStyle/>
          <a:p>
            <a:r>
              <a:rPr lang="en-US" sz="5400" b="1" dirty="0"/>
              <a:t>What is a graph?</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231" t="1254" r="1396" b="15783"/>
          <a:stretch/>
        </p:blipFill>
        <p:spPr bwMode="auto">
          <a:xfrm>
            <a:off x="6050901" y="1697829"/>
            <a:ext cx="2707434" cy="29156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403979"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graph is a collection of vertices/nodes and the edges that connect them.</a:t>
            </a:r>
          </a:p>
        </p:txBody>
      </p:sp>
      <p:cxnSp>
        <p:nvCxnSpPr>
          <p:cNvPr id="8" name="Straight Arrow Connector 7">
            <a:extLst>
              <a:ext uri="{FF2B5EF4-FFF2-40B4-BE49-F238E27FC236}">
                <a16:creationId xmlns:a16="http://schemas.microsoft.com/office/drawing/2014/main" id="{897FEA85-6823-036E-B1D5-3F9E6F8244AC}"/>
              </a:ext>
              <a:ext uri="{C183D7F6-B498-43B3-948B-1728B52AA6E4}">
                <adec:decorative xmlns:adec="http://schemas.microsoft.com/office/drawing/2017/decorative" val="1"/>
              </a:ext>
            </a:extLst>
          </p:cNvPr>
          <p:cNvCxnSpPr/>
          <p:nvPr/>
        </p:nvCxnSpPr>
        <p:spPr bwMode="auto">
          <a:xfrm flipV="1">
            <a:off x="4572000" y="3574718"/>
            <a:ext cx="1371600" cy="3114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09059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228600" y="3723888"/>
            <a:ext cx="86868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T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a:t>
            </a:r>
            <a:r>
              <a:rPr kumimoji="0" lang="en-US" altLang="en-US" sz="3200" b="0" i="0" u="sng" strike="noStrike" cap="none" normalizeH="0" baseline="0" dirty="0">
                <a:ln>
                  <a:noFill/>
                </a:ln>
                <a:solidFill>
                  <a:srgbClr val="0000CC"/>
                </a:solidFill>
                <a:effectLst/>
                <a:latin typeface="Abadi" panose="020B0604020104020204" pitchFamily="34" charset="0"/>
                <a:sym typeface="Wingdings" panose="05000000000000000000" pitchFamily="2" charset="2"/>
              </a:rPr>
              <a:t>directed</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5439310" cy="923330"/>
          </a:xfrm>
          <a:prstGeom prst="rect">
            <a:avLst/>
          </a:prstGeom>
          <a:noFill/>
        </p:spPr>
        <p:txBody>
          <a:bodyPr wrap="none" rtlCol="0">
            <a:spAutoFit/>
          </a:bodyPr>
          <a:lstStyle/>
          <a:p>
            <a:r>
              <a:rPr lang="en-US" sz="5400" b="1" dirty="0"/>
              <a:t>What is a tree?</a:t>
            </a:r>
          </a:p>
        </p:txBody>
      </p:sp>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632580"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tre</a:t>
            </a:r>
            <a:r>
              <a:rPr lang="en-US" altLang="en-US" sz="3600" dirty="0">
                <a:latin typeface="Arial" panose="020B0604020202020204" pitchFamily="34" charset="0"/>
              </a:rPr>
              <a:t>e is a graph in which there is exactly one path connecting any two nodes</a:t>
            </a:r>
            <a:r>
              <a:rPr kumimoji="0" lang="en-US" altLang="en-US" sz="3600" b="0" i="0" u="none" strike="noStrike" cap="none" normalizeH="0" baseline="0" dirty="0">
                <a:ln>
                  <a:noFill/>
                </a:ln>
                <a:solidFill>
                  <a:schemeClr val="tx1"/>
                </a:solidFill>
                <a:effectLst/>
                <a:latin typeface="Arial" panose="020B0604020202020204" pitchFamily="34" charset="0"/>
              </a:rPr>
              <a:t>.</a:t>
            </a:r>
          </a:p>
        </p:txBody>
      </p:sp>
      <p:cxnSp>
        <p:nvCxnSpPr>
          <p:cNvPr id="8" name="Straight Arrow Connector 7">
            <a:extLst>
              <a:ext uri="{FF2B5EF4-FFF2-40B4-BE49-F238E27FC236}">
                <a16:creationId xmlns:a16="http://schemas.microsoft.com/office/drawing/2014/main" id="{897FEA85-6823-036E-B1D5-3F9E6F8244AC}"/>
              </a:ext>
            </a:extLst>
          </p:cNvPr>
          <p:cNvCxnSpPr>
            <a:cxnSpLocks/>
          </p:cNvCxnSpPr>
          <p:nvPr/>
        </p:nvCxnSpPr>
        <p:spPr bwMode="auto">
          <a:xfrm flipV="1">
            <a:off x="4343400" y="3574718"/>
            <a:ext cx="1600200" cy="3876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pic>
        <p:nvPicPr>
          <p:cNvPr id="2" name="Picture 4" descr="Difference Between Tree and Graph (with Comparison chart) - Tech Differences">
            <a:extLst>
              <a:ext uri="{FF2B5EF4-FFF2-40B4-BE49-F238E27FC236}">
                <a16:creationId xmlns:a16="http://schemas.microsoft.com/office/drawing/2014/main" id="{C837E834-A2DE-F358-C732-9F1749106AA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61" t="4217" r="51898" b="15782"/>
          <a:stretch/>
        </p:blipFill>
        <p:spPr bwMode="auto">
          <a:xfrm>
            <a:off x="6068007" y="1673058"/>
            <a:ext cx="2847393" cy="30931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9425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WordArt 2"/>
          <p:cNvSpPr>
            <a:spLocks noChangeArrowheads="1" noChangeShapeType="1" noTextEdit="1"/>
          </p:cNvSpPr>
          <p:nvPr/>
        </p:nvSpPr>
        <p:spPr bwMode="auto">
          <a:xfrm>
            <a:off x="1933575" y="521304"/>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304800" y="1613118"/>
            <a:ext cx="8534400"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dirty="0"/>
              <a:t>A binary tree is one where each vertex can have a maximum of two children, distinctly labeled as a "left child" and a "right child," with edges connecting each parent vertex to its respective children</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505200"/>
            <a:ext cx="5029200" cy="3157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394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8195" name="WordArt 2"/>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990600" y="1752600"/>
            <a:ext cx="7781297"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t>A binary tree is a collection of nodes.</a:t>
            </a:r>
          </a:p>
          <a:p>
            <a:r>
              <a:rPr lang="en-US" sz="3200" b="1" dirty="0"/>
              <a:t>Each node has a data value and </a:t>
            </a:r>
          </a:p>
          <a:p>
            <a:r>
              <a:rPr lang="en-US" sz="3200" b="1" dirty="0"/>
              <a:t>references to two other nodes.</a:t>
            </a:r>
          </a:p>
          <a:p>
            <a:r>
              <a:rPr lang="en-US" sz="3200" b="1" dirty="0"/>
              <a:t>Each node could have a left child </a:t>
            </a:r>
          </a:p>
          <a:p>
            <a:r>
              <a:rPr lang="en-US" sz="3200" b="1" dirty="0"/>
              <a:t>and/or a right child.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grpSp>
        <p:nvGrpSpPr>
          <p:cNvPr id="2" name="Group 1" descr="Binary tree with six nodes in three levels. All three parts of each node is displayed, the value as well as links to its two children:&#10;&#10;- The root node is at the top and stores 50. The root is never a child. It's always either a parent/internal node or it's a leaf.&#10;- The 2nd level has two child nodes connected to the 50 node: the 35 node on the left and 70 node on the right. Non-root nodes are children. Also, every non-leaf node is a parent.&#10;- The 3rd level has three nodes:&#10;  - The 35 node connects to the 22 node (left) and 41 node (right), which are both leaves.&#10;  - The 70 node connects only has a right child, the 81 node, which is a leaf.&#10;">
            <a:extLst>
              <a:ext uri="{FF2B5EF4-FFF2-40B4-BE49-F238E27FC236}">
                <a16:creationId xmlns:a16="http://schemas.microsoft.com/office/drawing/2014/main" id="{3088D4A4-482E-D6D5-D7A8-52C9CEDAE175}"/>
              </a:ext>
            </a:extLst>
          </p:cNvPr>
          <p:cNvGrpSpPr/>
          <p:nvPr/>
        </p:nvGrpSpPr>
        <p:grpSpPr>
          <a:xfrm>
            <a:off x="76200" y="228600"/>
            <a:ext cx="9042723" cy="6029325"/>
            <a:chOff x="76200" y="228600"/>
            <a:chExt cx="9042723" cy="6029325"/>
          </a:xfrm>
        </p:grpSpPr>
        <p:sp>
          <p:nvSpPr>
            <p:cNvPr id="6147" name="Rectangle 2"/>
            <p:cNvSpPr>
              <a:spLocks noChangeArrowheads="1"/>
            </p:cNvSpPr>
            <p:nvPr/>
          </p:nvSpPr>
          <p:spPr bwMode="auto">
            <a:xfrm>
              <a:off x="3581400" y="228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8" name="Rectangle 3"/>
            <p:cNvSpPr>
              <a:spLocks noChangeArrowheads="1"/>
            </p:cNvSpPr>
            <p:nvPr/>
          </p:nvSpPr>
          <p:spPr bwMode="auto">
            <a:xfrm>
              <a:off x="3581400" y="990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9" name="Rectangle 4"/>
            <p:cNvSpPr>
              <a:spLocks noChangeArrowheads="1"/>
            </p:cNvSpPr>
            <p:nvPr/>
          </p:nvSpPr>
          <p:spPr bwMode="auto">
            <a:xfrm>
              <a:off x="4648200" y="990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0" name="Rectangle 7"/>
            <p:cNvSpPr>
              <a:spLocks noChangeArrowheads="1"/>
            </p:cNvSpPr>
            <p:nvPr/>
          </p:nvSpPr>
          <p:spPr bwMode="auto">
            <a:xfrm>
              <a:off x="1981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1" name="Rectangle 12"/>
            <p:cNvSpPr>
              <a:spLocks noChangeArrowheads="1"/>
            </p:cNvSpPr>
            <p:nvPr/>
          </p:nvSpPr>
          <p:spPr bwMode="auto">
            <a:xfrm>
              <a:off x="5410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2" name="Rectangle 16"/>
            <p:cNvSpPr>
              <a:spLocks noChangeArrowheads="1"/>
            </p:cNvSpPr>
            <p:nvPr/>
          </p:nvSpPr>
          <p:spPr bwMode="auto">
            <a:xfrm>
              <a:off x="4343400" y="3048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50</a:t>
              </a:r>
            </a:p>
          </p:txBody>
        </p:sp>
        <p:sp>
          <p:nvSpPr>
            <p:cNvPr id="6153" name="Rectangle 19"/>
            <p:cNvSpPr>
              <a:spLocks noChangeArrowheads="1"/>
            </p:cNvSpPr>
            <p:nvPr/>
          </p:nvSpPr>
          <p:spPr bwMode="auto">
            <a:xfrm>
              <a:off x="6858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4" name="Rectangle 23"/>
            <p:cNvSpPr>
              <a:spLocks noChangeArrowheads="1"/>
            </p:cNvSpPr>
            <p:nvPr/>
          </p:nvSpPr>
          <p:spPr bwMode="auto">
            <a:xfrm>
              <a:off x="6781800" y="42672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5" name="Rectangle 27"/>
            <p:cNvSpPr>
              <a:spLocks noChangeArrowheads="1"/>
            </p:cNvSpPr>
            <p:nvPr/>
          </p:nvSpPr>
          <p:spPr bwMode="auto">
            <a:xfrm>
              <a:off x="32766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Rectangle 31"/>
            <p:cNvSpPr>
              <a:spLocks noChangeArrowheads="1"/>
            </p:cNvSpPr>
            <p:nvPr/>
          </p:nvSpPr>
          <p:spPr bwMode="auto">
            <a:xfrm>
              <a:off x="2133600" y="381000"/>
              <a:ext cx="130651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 </a:t>
              </a:r>
              <a:r>
                <a:rPr lang="en-US" b="1">
                  <a:solidFill>
                    <a:schemeClr val="accent2"/>
                  </a:solidFill>
                  <a:sym typeface="Wingdings" pitchFamily="2" charset="2"/>
                </a:rPr>
                <a:t></a:t>
              </a:r>
              <a:endParaRPr lang="en-US" b="1">
                <a:solidFill>
                  <a:schemeClr val="accent2"/>
                </a:solidFill>
              </a:endParaRPr>
            </a:p>
          </p:txBody>
        </p:sp>
        <p:sp>
          <p:nvSpPr>
            <p:cNvPr id="6157" name="Rectangle 37"/>
            <p:cNvSpPr>
              <a:spLocks noChangeArrowheads="1"/>
            </p:cNvSpPr>
            <p:nvPr/>
          </p:nvSpPr>
          <p:spPr bwMode="auto">
            <a:xfrm>
              <a:off x="1981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8" name="Rectangle 38"/>
            <p:cNvSpPr>
              <a:spLocks noChangeArrowheads="1"/>
            </p:cNvSpPr>
            <p:nvPr/>
          </p:nvSpPr>
          <p:spPr bwMode="auto">
            <a:xfrm>
              <a:off x="3048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9" name="Rectangle 39"/>
            <p:cNvSpPr>
              <a:spLocks noChangeArrowheads="1"/>
            </p:cNvSpPr>
            <p:nvPr/>
          </p:nvSpPr>
          <p:spPr bwMode="auto">
            <a:xfrm>
              <a:off x="5410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0" name="Rectangle 40"/>
            <p:cNvSpPr>
              <a:spLocks noChangeArrowheads="1"/>
            </p:cNvSpPr>
            <p:nvPr/>
          </p:nvSpPr>
          <p:spPr bwMode="auto">
            <a:xfrm>
              <a:off x="6477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1" name="Rectangle 41"/>
            <p:cNvSpPr>
              <a:spLocks noChangeArrowheads="1"/>
            </p:cNvSpPr>
            <p:nvPr/>
          </p:nvSpPr>
          <p:spPr bwMode="auto">
            <a:xfrm>
              <a:off x="6858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2" name="Rectangle 42"/>
            <p:cNvSpPr>
              <a:spLocks noChangeArrowheads="1"/>
            </p:cNvSpPr>
            <p:nvPr/>
          </p:nvSpPr>
          <p:spPr bwMode="auto">
            <a:xfrm>
              <a:off x="17526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3" name="Rectangle 43"/>
            <p:cNvSpPr>
              <a:spLocks noChangeArrowheads="1"/>
            </p:cNvSpPr>
            <p:nvPr/>
          </p:nvSpPr>
          <p:spPr bwMode="auto">
            <a:xfrm>
              <a:off x="32766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4" name="Rectangle 44"/>
            <p:cNvSpPr>
              <a:spLocks noChangeArrowheads="1"/>
            </p:cNvSpPr>
            <p:nvPr/>
          </p:nvSpPr>
          <p:spPr bwMode="auto">
            <a:xfrm>
              <a:off x="43434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5" name="Rectangle 45"/>
            <p:cNvSpPr>
              <a:spLocks noChangeArrowheads="1"/>
            </p:cNvSpPr>
            <p:nvPr/>
          </p:nvSpPr>
          <p:spPr bwMode="auto">
            <a:xfrm>
              <a:off x="6781800" y="5030788"/>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6" name="Rectangle 46"/>
            <p:cNvSpPr>
              <a:spLocks noChangeArrowheads="1"/>
            </p:cNvSpPr>
            <p:nvPr/>
          </p:nvSpPr>
          <p:spPr bwMode="auto">
            <a:xfrm>
              <a:off x="7848600" y="5030788"/>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7" name="Rectangle 47"/>
            <p:cNvSpPr>
              <a:spLocks noChangeArrowheads="1"/>
            </p:cNvSpPr>
            <p:nvPr/>
          </p:nvSpPr>
          <p:spPr bwMode="auto">
            <a:xfrm>
              <a:off x="2667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35</a:t>
              </a:r>
            </a:p>
          </p:txBody>
        </p:sp>
        <p:sp>
          <p:nvSpPr>
            <p:cNvPr id="6168" name="Rectangle 48"/>
            <p:cNvSpPr>
              <a:spLocks noChangeArrowheads="1"/>
            </p:cNvSpPr>
            <p:nvPr/>
          </p:nvSpPr>
          <p:spPr bwMode="auto">
            <a:xfrm>
              <a:off x="6096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70</a:t>
              </a:r>
            </a:p>
          </p:txBody>
        </p:sp>
        <p:sp>
          <p:nvSpPr>
            <p:cNvPr id="6169" name="Rectangle 49"/>
            <p:cNvSpPr>
              <a:spLocks noChangeArrowheads="1"/>
            </p:cNvSpPr>
            <p:nvPr/>
          </p:nvSpPr>
          <p:spPr bwMode="auto">
            <a:xfrm>
              <a:off x="1371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22</a:t>
              </a:r>
            </a:p>
          </p:txBody>
        </p:sp>
        <p:sp>
          <p:nvSpPr>
            <p:cNvPr id="6170" name="Rectangle 50"/>
            <p:cNvSpPr>
              <a:spLocks noChangeArrowheads="1"/>
            </p:cNvSpPr>
            <p:nvPr/>
          </p:nvSpPr>
          <p:spPr bwMode="auto">
            <a:xfrm>
              <a:off x="4038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41</a:t>
              </a:r>
            </a:p>
          </p:txBody>
        </p:sp>
        <p:sp>
          <p:nvSpPr>
            <p:cNvPr id="6171" name="Rectangle 51"/>
            <p:cNvSpPr>
              <a:spLocks noChangeArrowheads="1"/>
            </p:cNvSpPr>
            <p:nvPr/>
          </p:nvSpPr>
          <p:spPr bwMode="auto">
            <a:xfrm>
              <a:off x="75438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81</a:t>
              </a:r>
            </a:p>
          </p:txBody>
        </p:sp>
        <p:sp>
          <p:nvSpPr>
            <p:cNvPr id="6172" name="Line 52"/>
            <p:cNvSpPr>
              <a:spLocks noChangeShapeType="1"/>
            </p:cNvSpPr>
            <p:nvPr/>
          </p:nvSpPr>
          <p:spPr bwMode="auto">
            <a:xfrm>
              <a:off x="3505200" y="3352800"/>
              <a:ext cx="8445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3" name="Line 53"/>
            <p:cNvSpPr>
              <a:spLocks noChangeShapeType="1"/>
            </p:cNvSpPr>
            <p:nvPr/>
          </p:nvSpPr>
          <p:spPr bwMode="auto">
            <a:xfrm flipH="1">
              <a:off x="1828800" y="3352800"/>
              <a:ext cx="6032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4" name="Line 54"/>
            <p:cNvSpPr>
              <a:spLocks noChangeShapeType="1"/>
            </p:cNvSpPr>
            <p:nvPr/>
          </p:nvSpPr>
          <p:spPr bwMode="auto">
            <a:xfrm flipH="1">
              <a:off x="3429000" y="1219200"/>
              <a:ext cx="685800" cy="9144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5" name="Line 55"/>
            <p:cNvSpPr>
              <a:spLocks noChangeShapeType="1"/>
            </p:cNvSpPr>
            <p:nvPr/>
          </p:nvSpPr>
          <p:spPr bwMode="auto">
            <a:xfrm>
              <a:off x="5105400" y="12192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6" name="Line 56"/>
            <p:cNvSpPr>
              <a:spLocks noChangeShapeType="1"/>
            </p:cNvSpPr>
            <p:nvPr/>
          </p:nvSpPr>
          <p:spPr bwMode="auto">
            <a:xfrm>
              <a:off x="7010400" y="3429000"/>
              <a:ext cx="768350" cy="6921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7" name="Rectangle 57"/>
            <p:cNvSpPr>
              <a:spLocks noChangeArrowheads="1"/>
            </p:cNvSpPr>
            <p:nvPr/>
          </p:nvSpPr>
          <p:spPr bwMode="auto">
            <a:xfrm>
              <a:off x="76200" y="2362200"/>
              <a:ext cx="1859806" cy="1200971"/>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b="1" dirty="0">
                  <a:solidFill>
                    <a:schemeClr val="accent2"/>
                  </a:solidFill>
                </a:rPr>
                <a:t>Parent </a:t>
              </a:r>
              <a:r>
                <a:rPr lang="en-US" b="1" dirty="0">
                  <a:solidFill>
                    <a:schemeClr val="accent2"/>
                  </a:solidFill>
                  <a:sym typeface="Wingdings" pitchFamily="2" charset="2"/>
                </a:rPr>
                <a:t></a:t>
              </a:r>
            </a:p>
            <a:p>
              <a:r>
                <a:rPr lang="en-US" b="1" dirty="0">
                  <a:solidFill>
                    <a:schemeClr val="accent2"/>
                  </a:solidFill>
                  <a:sym typeface="Wingdings" pitchFamily="2" charset="2"/>
                </a:rPr>
                <a:t>( Internal</a:t>
              </a:r>
            </a:p>
            <a:p>
              <a:pPr algn="r"/>
              <a:r>
                <a:rPr lang="en-US" b="1" dirty="0">
                  <a:solidFill>
                    <a:schemeClr val="accent2"/>
                  </a:solidFill>
                  <a:sym typeface="Wingdings" pitchFamily="2" charset="2"/>
                </a:rPr>
                <a:t>Node   )</a:t>
              </a:r>
              <a:endParaRPr lang="en-US" b="1" dirty="0">
                <a:solidFill>
                  <a:schemeClr val="accent2"/>
                </a:solidFill>
              </a:endParaRPr>
            </a:p>
          </p:txBody>
        </p:sp>
        <p:sp>
          <p:nvSpPr>
            <p:cNvPr id="6178" name="Rectangle 58"/>
            <p:cNvSpPr>
              <a:spLocks noChangeArrowheads="1"/>
            </p:cNvSpPr>
            <p:nvPr/>
          </p:nvSpPr>
          <p:spPr bwMode="auto">
            <a:xfrm>
              <a:off x="762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rPr>
                <a:t>Child/Leaf</a:t>
              </a:r>
              <a:endParaRPr lang="ar-SA" b="1" dirty="0">
                <a:solidFill>
                  <a:schemeClr val="accent2"/>
                </a:solidFill>
                <a:cs typeface="Tahoma" pitchFamily="34" charset="0"/>
              </a:endParaRPr>
            </a:p>
          </p:txBody>
        </p:sp>
        <p:sp>
          <p:nvSpPr>
            <p:cNvPr id="6179" name="Rectangle 60"/>
            <p:cNvSpPr>
              <a:spLocks noChangeArrowheads="1"/>
            </p:cNvSpPr>
            <p:nvPr/>
          </p:nvSpPr>
          <p:spPr bwMode="auto">
            <a:xfrm>
              <a:off x="35052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0" name="Rectangle 61"/>
            <p:cNvSpPr>
              <a:spLocks noChangeArrowheads="1"/>
            </p:cNvSpPr>
            <p:nvPr/>
          </p:nvSpPr>
          <p:spPr bwMode="auto">
            <a:xfrm>
              <a:off x="6858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1" name="Rectangle 62"/>
            <p:cNvSpPr>
              <a:spLocks noChangeArrowheads="1"/>
            </p:cNvSpPr>
            <p:nvPr/>
          </p:nvSpPr>
          <p:spPr bwMode="auto">
            <a:xfrm>
              <a:off x="7552208" y="2236787"/>
              <a:ext cx="1359346" cy="462307"/>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sym typeface="Wingdings" panose="05000000000000000000" pitchFamily="2" charset="2"/>
                </a:rPr>
                <a:t> </a:t>
              </a:r>
              <a:r>
                <a:rPr lang="en-US" b="1" dirty="0">
                  <a:solidFill>
                    <a:schemeClr val="accent2"/>
                  </a:solidFill>
                </a:rPr>
                <a:t>Child</a:t>
              </a:r>
              <a:endParaRPr lang="ar-SA" b="1" dirty="0">
                <a:solidFill>
                  <a:schemeClr val="accent2"/>
                </a:solidFill>
                <a:cs typeface="Tahoma" pitchFamily="34" charset="0"/>
              </a:endParaRPr>
            </a:p>
          </p:txBody>
        </p:sp>
        <p:sp>
          <p:nvSpPr>
            <p:cNvPr id="6182" name="Rectangle 63"/>
            <p:cNvSpPr>
              <a:spLocks noChangeArrowheads="1"/>
            </p:cNvSpPr>
            <p:nvPr/>
          </p:nvSpPr>
          <p:spPr bwMode="auto">
            <a:xfrm>
              <a:off x="5897562" y="355295"/>
              <a:ext cx="2865438"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Root is never a child.</a:t>
              </a:r>
            </a:p>
            <a:p>
              <a:r>
                <a:rPr lang="en-US" sz="2000" dirty="0">
                  <a:solidFill>
                    <a:srgbClr val="FF3300"/>
                  </a:solidFill>
                  <a:cs typeface="Tahoma" pitchFamily="34" charset="0"/>
                </a:rPr>
                <a:t>It’s a parent / internal node or a leaf.</a:t>
              </a:r>
              <a:endParaRPr lang="ar-SA" sz="2000" dirty="0">
                <a:solidFill>
                  <a:srgbClr val="FF3300"/>
                </a:solidFill>
                <a:cs typeface="Tahoma" pitchFamily="34" charset="0"/>
              </a:endParaRPr>
            </a:p>
          </p:txBody>
        </p:sp>
        <p:sp>
          <p:nvSpPr>
            <p:cNvPr id="6183" name="Rectangle 64"/>
            <p:cNvSpPr>
              <a:spLocks noChangeArrowheads="1"/>
            </p:cNvSpPr>
            <p:nvPr/>
          </p:nvSpPr>
          <p:spPr bwMode="auto">
            <a:xfrm>
              <a:off x="7527131" y="2786406"/>
              <a:ext cx="1591792"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pPr algn="ctr"/>
              <a:r>
                <a:rPr lang="en-US" sz="2000" b="1" dirty="0">
                  <a:solidFill>
                    <a:srgbClr val="FF3300"/>
                  </a:solidFill>
                </a:rPr>
                <a:t>Non-root nodes are children.</a:t>
              </a:r>
              <a:endParaRPr lang="ar-SA" sz="2000" b="1" dirty="0">
                <a:solidFill>
                  <a:srgbClr val="FF3300"/>
                </a:solidFill>
                <a:cs typeface="Tahoma" pitchFamily="34" charset="0"/>
              </a:endParaRPr>
            </a:p>
          </p:txBody>
        </p:sp>
        <p:sp>
          <p:nvSpPr>
            <p:cNvPr id="6184" name="Rectangle 65"/>
            <p:cNvSpPr>
              <a:spLocks noChangeArrowheads="1"/>
            </p:cNvSpPr>
            <p:nvPr/>
          </p:nvSpPr>
          <p:spPr bwMode="auto">
            <a:xfrm>
              <a:off x="487362" y="1425072"/>
              <a:ext cx="2332038" cy="708528"/>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Every non-leaf node is a parent.</a:t>
              </a:r>
              <a:endParaRPr lang="ar-SA" sz="2000" b="1" dirty="0">
                <a:solidFill>
                  <a:srgbClr val="FF3300"/>
                </a:solidFill>
                <a:cs typeface="Tahoma" pitchFamily="34"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219200" y="1371600"/>
            <a:ext cx="67056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Java Classes that</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Use Binary Trees</a:t>
            </a:r>
          </a:p>
        </p:txBody>
      </p:sp>
    </p:spTree>
    <p:extLst>
      <p:ext uri="{BB962C8B-B14F-4D97-AF65-F5344CB8AC3E}">
        <p14:creationId xmlns:p14="http://schemas.microsoft.com/office/powerpoint/2010/main" val="190381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3075" name="Text Box 3"/>
          <p:cNvSpPr txBox="1">
            <a:spLocks noChangeArrowheads="1"/>
          </p:cNvSpPr>
          <p:nvPr/>
        </p:nvSpPr>
        <p:spPr bwMode="auto">
          <a:xfrm>
            <a:off x="990600" y="2238107"/>
            <a:ext cx="6781800"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eaLnBrk="1" hangingPunct="1"/>
            <a:r>
              <a:rPr lang="en-US" sz="3600" b="1" dirty="0" err="1"/>
              <a:t>TreeSet</a:t>
            </a:r>
            <a:r>
              <a:rPr lang="en-US" sz="3600" b="1" dirty="0"/>
              <a:t> and </a:t>
            </a:r>
            <a:r>
              <a:rPr lang="en-US" sz="3600" b="1" dirty="0" err="1"/>
              <a:t>TreeMap</a:t>
            </a:r>
            <a:r>
              <a:rPr lang="en-US" sz="3600" b="1" dirty="0"/>
              <a:t> were built using binary trees.</a:t>
            </a:r>
          </a:p>
        </p:txBody>
      </p:sp>
      <p:sp>
        <p:nvSpPr>
          <p:cNvPr id="3076" name="WordArt 9"/>
          <p:cNvSpPr>
            <a:spLocks noChangeArrowheads="1" noChangeShapeType="1" noTextEdit="1"/>
          </p:cNvSpPr>
          <p:nvPr/>
        </p:nvSpPr>
        <p:spPr bwMode="auto">
          <a:xfrm>
            <a:off x="1866900" y="599807"/>
            <a:ext cx="4953000" cy="685800"/>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TreeSet</a:t>
            </a: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 and </a:t>
            </a: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grpSp>
        <p:nvGrpSpPr>
          <p:cNvPr id="2" name="Group 1" descr="Binary tree with seven nodes in three levels:&#10;&#10;- The root node at the top is labeled 1, which we'll call the 1 node.&#10;- The 2nd level has two child nodes connected to the 1 node: the 2 node on the left and 3 node on the right.&#10;- The 3rd level has four nodes:&#10;  - The 2 node connects to the 4 node (left) and 5 node (right).&#10;  - The 3 node connects to the 6 node (left) and 7 node (right).&#10;">
            <a:extLst>
              <a:ext uri="{FF2B5EF4-FFF2-40B4-BE49-F238E27FC236}">
                <a16:creationId xmlns:a16="http://schemas.microsoft.com/office/drawing/2014/main" id="{683479AB-239A-094A-0352-7519FCA2A5E0}"/>
              </a:ext>
            </a:extLst>
          </p:cNvPr>
          <p:cNvGrpSpPr/>
          <p:nvPr/>
        </p:nvGrpSpPr>
        <p:grpSpPr>
          <a:xfrm>
            <a:off x="2743200" y="4038600"/>
            <a:ext cx="3200400" cy="1524000"/>
            <a:chOff x="2743200" y="3810000"/>
            <a:chExt cx="3200400" cy="1524000"/>
          </a:xfrm>
        </p:grpSpPr>
        <p:sp>
          <p:nvSpPr>
            <p:cNvPr id="3077" name="Oval 15"/>
            <p:cNvSpPr>
              <a:spLocks noChangeArrowheads="1"/>
            </p:cNvSpPr>
            <p:nvPr/>
          </p:nvSpPr>
          <p:spPr bwMode="auto">
            <a:xfrm>
              <a:off x="4114800" y="3810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3078" name="Oval 16"/>
            <p:cNvSpPr>
              <a:spLocks noChangeArrowheads="1"/>
            </p:cNvSpPr>
            <p:nvPr/>
          </p:nvSpPr>
          <p:spPr bwMode="auto">
            <a:xfrm>
              <a:off x="3352800" y="4343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3079" name="Oval 17"/>
            <p:cNvSpPr>
              <a:spLocks noChangeArrowheads="1"/>
            </p:cNvSpPr>
            <p:nvPr/>
          </p:nvSpPr>
          <p:spPr bwMode="auto">
            <a:xfrm>
              <a:off x="2743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3080" name="Oval 18"/>
            <p:cNvSpPr>
              <a:spLocks noChangeArrowheads="1"/>
            </p:cNvSpPr>
            <p:nvPr/>
          </p:nvSpPr>
          <p:spPr bwMode="auto">
            <a:xfrm>
              <a:off x="3810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3081" name="Oval 19"/>
            <p:cNvSpPr>
              <a:spLocks noChangeArrowheads="1"/>
            </p:cNvSpPr>
            <p:nvPr/>
          </p:nvSpPr>
          <p:spPr bwMode="auto">
            <a:xfrm>
              <a:off x="4876800" y="42672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3082" name="Oval 20"/>
            <p:cNvSpPr>
              <a:spLocks noChangeArrowheads="1"/>
            </p:cNvSpPr>
            <p:nvPr/>
          </p:nvSpPr>
          <p:spPr bwMode="auto">
            <a:xfrm>
              <a:off x="4572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3083" name="Oval 21"/>
            <p:cNvSpPr>
              <a:spLocks noChangeArrowheads="1"/>
            </p:cNvSpPr>
            <p:nvPr/>
          </p:nvSpPr>
          <p:spPr bwMode="auto">
            <a:xfrm>
              <a:off x="5410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AA7CB0-AAE8-6704-F3E7-5BFA6F17994D}"/>
              </a:ext>
            </a:extLst>
          </p:cNvPr>
          <p:cNvPicPr>
            <a:picLocks noChangeAspect="1"/>
          </p:cNvPicPr>
          <p:nvPr/>
        </p:nvPicPr>
        <p:blipFill>
          <a:blip r:embed="rId3">
            <a:extLst>
              <a:ext uri="{28A0092B-C50C-407E-A947-70E740481C1C}">
                <a14:useLocalDpi xmlns:a14="http://schemas.microsoft.com/office/drawing/2010/main" val="0"/>
              </a:ext>
            </a:extLst>
          </a:blip>
          <a:srcRect l="2362" t="16675"/>
          <a:stretch>
            <a:fillRect/>
          </a:stretch>
        </p:blipFill>
        <p:spPr>
          <a:xfrm>
            <a:off x="4375608" y="140245"/>
            <a:ext cx="4724400" cy="5711824"/>
          </a:xfrm>
          <a:prstGeom prst="rect">
            <a:avLst/>
          </a:prstGeom>
        </p:spPr>
      </p:pic>
      <p:sp>
        <p:nvSpPr>
          <p:cNvPr id="4098" name="Footer Placeholder 3"/>
          <p:cNvSpPr>
            <a:spLocks noGrp="1"/>
          </p:cNvSpPr>
          <p:nvPr>
            <p:ph type="ftr" sz="quarter" idx="12"/>
          </p:nvPr>
        </p:nvSpPr>
        <p:spPr>
          <a:xfrm>
            <a:off x="32208" y="6296692"/>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4100" name="WordArt 3"/>
          <p:cNvSpPr>
            <a:spLocks noChangeArrowheads="1" noChangeShapeType="1" noTextEdit="1"/>
          </p:cNvSpPr>
          <p:nvPr/>
        </p:nvSpPr>
        <p:spPr bwMode="auto">
          <a:xfrm>
            <a:off x="304800" y="181061"/>
            <a:ext cx="4182427" cy="436970"/>
          </a:xfrm>
          <a:prstGeom prst="rect">
            <a:avLst/>
          </a:prstGeom>
        </p:spPr>
        <p:txBody>
          <a:bodyPr wrap="none" fromWordArt="1">
            <a:prstTxWarp prst="textPlain">
              <a:avLst>
                <a:gd name="adj" fmla="val 50000"/>
              </a:avLst>
            </a:prstTxWarp>
          </a:bodyPr>
          <a:lstStyle/>
          <a:p>
            <a:pPr algn="ctr"/>
            <a:r>
              <a:rPr lang="en-US" sz="3600" kern="10" dirty="0" err="1">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4" name="Rectangle 3">
            <a:extLst>
              <a:ext uri="{FF2B5EF4-FFF2-40B4-BE49-F238E27FC236}">
                <a16:creationId xmlns:a16="http://schemas.microsoft.com/office/drawing/2014/main" id="{7449AAB1-8A64-35D1-0904-CD0E94E911CE}"/>
              </a:ext>
            </a:extLst>
          </p:cNvPr>
          <p:cNvSpPr/>
          <p:nvPr/>
        </p:nvSpPr>
        <p:spPr bwMode="auto">
          <a:xfrm>
            <a:off x="4343400" y="4572000"/>
            <a:ext cx="3657600" cy="22098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5" name="Rectangle 4">
            <a:extLst>
              <a:ext uri="{FF2B5EF4-FFF2-40B4-BE49-F238E27FC236}">
                <a16:creationId xmlns:a16="http://schemas.microsoft.com/office/drawing/2014/main" id="{D1C4FFB6-F8F9-A9C2-66FD-B81A4FC61606}"/>
              </a:ext>
            </a:extLst>
          </p:cNvPr>
          <p:cNvSpPr/>
          <p:nvPr/>
        </p:nvSpPr>
        <p:spPr bwMode="auto">
          <a:xfrm>
            <a:off x="4243386" y="3222778"/>
            <a:ext cx="894221" cy="18288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Text Box 2"/>
          <p:cNvSpPr txBox="1">
            <a:spLocks noChangeArrowheads="1"/>
          </p:cNvSpPr>
          <p:nvPr/>
        </p:nvSpPr>
        <p:spPr bwMode="auto">
          <a:xfrm>
            <a:off x="228601" y="1143000"/>
            <a:ext cx="54102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b="1" dirty="0"/>
              <a:t>Map&lt;</a:t>
            </a:r>
            <a:r>
              <a:rPr lang="en-US" b="1" dirty="0" err="1"/>
              <a:t>Integer,String</a:t>
            </a:r>
            <a:r>
              <a:rPr lang="en-US" b="1" dirty="0"/>
              <a:t>&gt; map;</a:t>
            </a:r>
          </a:p>
          <a:p>
            <a:pPr eaLnBrk="1" hangingPunct="1"/>
            <a:r>
              <a:rPr lang="en-US" b="1" dirty="0"/>
              <a:t>map = new </a:t>
            </a:r>
            <a:r>
              <a:rPr lang="en-US" b="1" dirty="0" err="1"/>
              <a:t>TreeMap</a:t>
            </a:r>
            <a:r>
              <a:rPr lang="en-US" b="1" dirty="0"/>
              <a:t>&lt;&gt;();</a:t>
            </a:r>
          </a:p>
          <a:p>
            <a:pPr eaLnBrk="1" hangingPunct="1"/>
            <a:r>
              <a:rPr lang="en-US" b="1" dirty="0" err="1"/>
              <a:t>map.put</a:t>
            </a:r>
            <a:r>
              <a:rPr lang="en-US" b="1" dirty="0"/>
              <a:t>(1,"one");</a:t>
            </a:r>
          </a:p>
          <a:p>
            <a:pPr eaLnBrk="1" hangingPunct="1"/>
            <a:r>
              <a:rPr lang="en-US" b="1" dirty="0" err="1"/>
              <a:t>map.put</a:t>
            </a:r>
            <a:r>
              <a:rPr lang="en-US" b="1" dirty="0"/>
              <a:t>(2,"two");</a:t>
            </a:r>
          </a:p>
          <a:p>
            <a:pPr eaLnBrk="1" hangingPunct="1"/>
            <a:r>
              <a:rPr lang="en-US" b="1" dirty="0" err="1"/>
              <a:t>map.put</a:t>
            </a:r>
            <a:r>
              <a:rPr lang="en-US" b="1" dirty="0"/>
              <a:t>(3,"three");</a:t>
            </a:r>
          </a:p>
          <a:p>
            <a:pPr eaLnBrk="1" hangingPunct="1"/>
            <a:r>
              <a:rPr lang="en-US" b="1" dirty="0" err="1"/>
              <a:t>map.put</a:t>
            </a:r>
            <a:r>
              <a:rPr lang="en-US" b="1" dirty="0"/>
              <a:t>(4,"four");</a:t>
            </a:r>
          </a:p>
          <a:p>
            <a:pPr eaLnBrk="1" hangingPunct="1"/>
            <a:r>
              <a:rPr lang="en-US" b="1" dirty="0" err="1"/>
              <a:t>map.put</a:t>
            </a:r>
            <a:r>
              <a:rPr lang="en-US" b="1" dirty="0"/>
              <a:t>(5,"five");</a:t>
            </a:r>
          </a:p>
          <a:p>
            <a:pPr eaLnBrk="1" hangingPunct="1"/>
            <a:r>
              <a:rPr lang="en-US" b="1" dirty="0" err="1"/>
              <a:t>map.put</a:t>
            </a:r>
            <a:r>
              <a:rPr lang="en-US" b="1" dirty="0"/>
              <a:t>(6,"six");</a:t>
            </a:r>
          </a:p>
          <a:p>
            <a:pPr eaLnBrk="1" hangingPunct="1"/>
            <a:r>
              <a:rPr lang="en-US" b="1" dirty="0" err="1"/>
              <a:t>map.put</a:t>
            </a:r>
            <a:r>
              <a:rPr lang="en-US" b="1" dirty="0"/>
              <a:t>(7,"seven");</a:t>
            </a:r>
          </a:p>
          <a:p>
            <a:pPr eaLnBrk="1" hangingPunct="1"/>
            <a:endParaRPr lang="en-US" sz="2800" b="1" dirty="0"/>
          </a:p>
          <a:p>
            <a:pPr eaLnBrk="1" hangingPunct="1"/>
            <a:endParaRPr lang="en-US" b="1" dirty="0"/>
          </a:p>
          <a:p>
            <a:pPr eaLnBrk="1" hangingPunct="1"/>
            <a:r>
              <a:rPr lang="en-US" b="1" dirty="0" err="1"/>
              <a:t>System.out.println</a:t>
            </a:r>
            <a:r>
              <a:rPr lang="en-US" b="1" dirty="0"/>
              <a:t>(</a:t>
            </a:r>
            <a:r>
              <a:rPr lang="en-US" b="1" dirty="0" err="1"/>
              <a:t>map.get</a:t>
            </a:r>
            <a:r>
              <a:rPr lang="en-US" b="1" dirty="0"/>
              <a:t>(1));</a:t>
            </a:r>
          </a:p>
          <a:p>
            <a:pPr eaLnBrk="1" hangingPunct="1"/>
            <a:r>
              <a:rPr lang="en-US" b="1" dirty="0" err="1"/>
              <a:t>System.out.println</a:t>
            </a:r>
            <a:r>
              <a:rPr lang="en-US" b="1" dirty="0"/>
              <a:t>(</a:t>
            </a:r>
            <a:r>
              <a:rPr lang="en-US" b="1" dirty="0" err="1"/>
              <a:t>map.get</a:t>
            </a:r>
            <a:r>
              <a:rPr lang="en-US" b="1" dirty="0"/>
              <a:t>(13));</a:t>
            </a:r>
          </a:p>
          <a:p>
            <a:pPr eaLnBrk="1" hangingPunct="1"/>
            <a:r>
              <a:rPr lang="en-US" b="1" dirty="0" err="1"/>
              <a:t>System.out.println</a:t>
            </a:r>
            <a:r>
              <a:rPr lang="en-US" b="1" dirty="0"/>
              <a:t>(</a:t>
            </a:r>
            <a:r>
              <a:rPr lang="en-US" b="1" dirty="0" err="1"/>
              <a:t>map.get</a:t>
            </a:r>
            <a:r>
              <a:rPr lang="en-US" b="1" dirty="0"/>
              <a:t>(7));	</a:t>
            </a:r>
          </a:p>
        </p:txBody>
      </p:sp>
      <p:sp>
        <p:nvSpPr>
          <p:cNvPr id="7" name="Text Box 4"/>
          <p:cNvSpPr txBox="1">
            <a:spLocks noChangeArrowheads="1"/>
          </p:cNvSpPr>
          <p:nvPr/>
        </p:nvSpPr>
        <p:spPr bwMode="auto">
          <a:xfrm>
            <a:off x="5715000" y="4876800"/>
            <a:ext cx="1905000" cy="1631216"/>
          </a:xfrm>
          <a:prstGeom prst="rect">
            <a:avLst/>
          </a:prstGeom>
          <a:solidFill>
            <a:schemeClr val="bg1"/>
          </a:solidFill>
          <a:ln w="12700">
            <a:solidFill>
              <a:srgbClr val="993300"/>
            </a:solidFill>
            <a:miter lim="800000"/>
            <a:headEnd type="none" w="sm" len="sm"/>
            <a:tailEnd type="none" w="sm" len="sm"/>
          </a:ln>
          <a:effec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u="sng" dirty="0">
                <a:solidFill>
                  <a:srgbClr val="FF0000"/>
                </a:solidFill>
              </a:rPr>
              <a:t>OUTPUT</a:t>
            </a:r>
            <a:br>
              <a:rPr lang="en-US" b="1" u="sng" dirty="0">
                <a:solidFill>
                  <a:srgbClr val="FF0000"/>
                </a:solidFill>
              </a:rPr>
            </a:br>
            <a:r>
              <a:rPr lang="en-US" b="1" dirty="0"/>
              <a:t>one</a:t>
            </a:r>
            <a:br>
              <a:rPr lang="en-US" b="1" dirty="0"/>
            </a:br>
            <a:r>
              <a:rPr lang="en-US" b="1" dirty="0"/>
              <a:t>null</a:t>
            </a:r>
            <a:br>
              <a:rPr lang="en-US" b="1" dirty="0"/>
            </a:br>
            <a:r>
              <a:rPr lang="en-US" b="1" dirty="0"/>
              <a:t>seven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28" name="WordArt 19"/>
          <p:cNvSpPr>
            <a:spLocks noChangeArrowheads="1" noChangeShapeType="1" noTextEdit="1"/>
          </p:cNvSpPr>
          <p:nvPr/>
        </p:nvSpPr>
        <p:spPr bwMode="auto">
          <a:xfrm>
            <a:off x="685800" y="1314157"/>
            <a:ext cx="7848600" cy="724486"/>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Attributes</a:t>
            </a:r>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1267F955-D1C6-DFD7-57AC-683EDE7C5161}"/>
              </a:ext>
            </a:extLst>
          </p:cNvPr>
          <p:cNvGrpSpPr/>
          <p:nvPr/>
        </p:nvGrpSpPr>
        <p:grpSpPr>
          <a:xfrm>
            <a:off x="1045369" y="2971800"/>
            <a:ext cx="7129463" cy="2057400"/>
            <a:chOff x="838200" y="1066800"/>
            <a:chExt cx="7129463" cy="2057400"/>
          </a:xfrm>
        </p:grpSpPr>
        <p:sp>
          <p:nvSpPr>
            <p:cNvPr id="43012"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3013"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3014"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3015"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dirty="0"/>
                <a:t>65</a:t>
              </a:r>
            </a:p>
          </p:txBody>
        </p:sp>
        <p:sp>
          <p:nvSpPr>
            <p:cNvPr id="43016"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43017"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43018"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43019"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3020"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3021"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3022"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3"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4"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5"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6"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7"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9" name="Oval 20"/>
            <p:cNvSpPr>
              <a:spLocks noChangeArrowheads="1"/>
            </p:cNvSpPr>
            <p:nvPr/>
          </p:nvSpPr>
          <p:spPr bwMode="auto">
            <a:xfrm>
              <a:off x="48006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95</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457200" y="860048"/>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a:t>
            </a:r>
          </a:p>
        </p:txBody>
      </p:sp>
      <p:sp>
        <p:nvSpPr>
          <p:cNvPr id="3" name="TextBox 2">
            <a:extLst>
              <a:ext uri="{FF2B5EF4-FFF2-40B4-BE49-F238E27FC236}">
                <a16:creationId xmlns:a16="http://schemas.microsoft.com/office/drawing/2014/main" id="{2C6DBC21-0E0F-0EAB-9E24-E21ADE712964}"/>
              </a:ext>
            </a:extLst>
          </p:cNvPr>
          <p:cNvSpPr txBox="1"/>
          <p:nvPr/>
        </p:nvSpPr>
        <p:spPr>
          <a:xfrm>
            <a:off x="560784" y="76200"/>
            <a:ext cx="8022431" cy="630942"/>
          </a:xfrm>
          <a:prstGeom prst="rect">
            <a:avLst/>
          </a:prstGeom>
          <a:noFill/>
        </p:spPr>
        <p:txBody>
          <a:bodyPr wrap="square">
            <a:spAutoFit/>
          </a:bodyPr>
          <a:lstStyle/>
          <a:p>
            <a:pPr algn="ctr"/>
            <a:r>
              <a:rPr lang="en-US" sz="2800" b="1" dirty="0">
                <a:solidFill>
                  <a:srgbClr val="3333CC"/>
                </a:solidFill>
              </a:rPr>
              <a:t>LEVEL = ROW = nodes with same height</a:t>
            </a:r>
          </a:p>
          <a:p>
            <a:pPr algn="ctr"/>
            <a:endParaRPr lang="en-US" sz="700" b="1" dirty="0"/>
          </a:p>
        </p:txBody>
      </p:sp>
      <p:sp>
        <p:nvSpPr>
          <p:cNvPr id="4" name="Text Box 2">
            <a:extLst>
              <a:ext uri="{FF2B5EF4-FFF2-40B4-BE49-F238E27FC236}">
                <a16:creationId xmlns:a16="http://schemas.microsoft.com/office/drawing/2014/main" id="{57B2C892-193C-E6EF-A669-2394E312CBCA}"/>
              </a:ext>
            </a:extLst>
          </p:cNvPr>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  4</a:t>
            </a:r>
          </a:p>
        </p:txBody>
      </p:sp>
    </p:spTree>
    <p:extLst>
      <p:ext uri="{BB962C8B-B14F-4D97-AF65-F5344CB8AC3E}">
        <p14:creationId xmlns:p14="http://schemas.microsoft.com/office/powerpoint/2010/main" val="1109443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rcRect l="26300"/>
          <a:stretch/>
        </p:blipFill>
        <p:spPr>
          <a:xfrm>
            <a:off x="381000" y="457200"/>
            <a:ext cx="49112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410200" y="1676400"/>
            <a:ext cx="2772746" cy="2589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nSpc>
                <a:spcPct val="150000"/>
              </a:lnSpc>
              <a:tabLst>
                <a:tab pos="4114800" algn="l"/>
              </a:tabLst>
            </a:pPr>
            <a:r>
              <a:rPr lang="en-US" sz="2800" b="1" dirty="0">
                <a:solidFill>
                  <a:schemeClr val="accent2"/>
                </a:solidFill>
              </a:rPr>
              <a:t>Num leaves:</a:t>
            </a:r>
          </a:p>
          <a:p>
            <a:pPr>
              <a:lnSpc>
                <a:spcPct val="150000"/>
              </a:lnSpc>
              <a:tabLst>
                <a:tab pos="4114800" algn="l"/>
              </a:tabLst>
            </a:pPr>
            <a:r>
              <a:rPr lang="en-US" sz="2800" b="1" dirty="0">
                <a:solidFill>
                  <a:schemeClr val="accent2"/>
                </a:solidFill>
              </a:rPr>
              <a:t>Num parents:</a:t>
            </a:r>
          </a:p>
          <a:p>
            <a:pPr>
              <a:lnSpc>
                <a:spcPct val="150000"/>
              </a:lnSpc>
              <a:tabLst>
                <a:tab pos="4114800" algn="l"/>
              </a:tabLst>
            </a:pPr>
            <a:r>
              <a:rPr lang="en-US" sz="2800" b="1" dirty="0">
                <a:solidFill>
                  <a:schemeClr val="accent2"/>
                </a:solidFill>
              </a:rPr>
              <a:t>Num children:</a:t>
            </a:r>
          </a:p>
          <a:p>
            <a:pPr>
              <a:lnSpc>
                <a:spcPct val="150000"/>
              </a:lnSpc>
              <a:tabLst>
                <a:tab pos="4114800" algn="l"/>
              </a:tabLst>
            </a:pPr>
            <a:r>
              <a:rPr lang="en-US" sz="2800" b="1" dirty="0">
                <a:solidFill>
                  <a:schemeClr val="accent2"/>
                </a:solidFill>
              </a:rPr>
              <a:t>Num nodes: </a:t>
            </a:r>
          </a:p>
        </p:txBody>
      </p:sp>
      <p:sp>
        <p:nvSpPr>
          <p:cNvPr id="3" name="Text Box 2">
            <a:extLst>
              <a:ext uri="{FF2B5EF4-FFF2-40B4-BE49-F238E27FC236}">
                <a16:creationId xmlns:a16="http://schemas.microsoft.com/office/drawing/2014/main" id="{DBE0A095-BF3D-4ADE-65B6-6DE97DF902F2}"/>
              </a:ext>
            </a:extLst>
          </p:cNvPr>
          <p:cNvSpPr txBox="1">
            <a:spLocks noChangeArrowheads="1"/>
          </p:cNvSpPr>
          <p:nvPr/>
        </p:nvSpPr>
        <p:spPr bwMode="auto">
          <a:xfrm>
            <a:off x="8182946" y="1828800"/>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4</a:t>
            </a:r>
          </a:p>
        </p:txBody>
      </p:sp>
      <p:sp>
        <p:nvSpPr>
          <p:cNvPr id="4" name="Text Box 2">
            <a:extLst>
              <a:ext uri="{FF2B5EF4-FFF2-40B4-BE49-F238E27FC236}">
                <a16:creationId xmlns:a16="http://schemas.microsoft.com/office/drawing/2014/main" id="{80AE8D4E-1366-14A9-59AA-040F16A9171D}"/>
              </a:ext>
            </a:extLst>
          </p:cNvPr>
          <p:cNvSpPr txBox="1">
            <a:spLocks noChangeArrowheads="1"/>
          </p:cNvSpPr>
          <p:nvPr/>
        </p:nvSpPr>
        <p:spPr bwMode="auto">
          <a:xfrm>
            <a:off x="8182946" y="2466864"/>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5</a:t>
            </a:r>
          </a:p>
        </p:txBody>
      </p:sp>
      <p:sp>
        <p:nvSpPr>
          <p:cNvPr id="5" name="Text Box 2">
            <a:extLst>
              <a:ext uri="{FF2B5EF4-FFF2-40B4-BE49-F238E27FC236}">
                <a16:creationId xmlns:a16="http://schemas.microsoft.com/office/drawing/2014/main" id="{170302F7-1BF1-A72A-E175-9280335CD5D4}"/>
              </a:ext>
            </a:extLst>
          </p:cNvPr>
          <p:cNvSpPr txBox="1">
            <a:spLocks noChangeArrowheads="1"/>
          </p:cNvSpPr>
          <p:nvPr/>
        </p:nvSpPr>
        <p:spPr bwMode="auto">
          <a:xfrm>
            <a:off x="8182946" y="3104928"/>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8</a:t>
            </a:r>
          </a:p>
        </p:txBody>
      </p:sp>
      <p:sp>
        <p:nvSpPr>
          <p:cNvPr id="6" name="Text Box 2">
            <a:extLst>
              <a:ext uri="{FF2B5EF4-FFF2-40B4-BE49-F238E27FC236}">
                <a16:creationId xmlns:a16="http://schemas.microsoft.com/office/drawing/2014/main" id="{A643120E-C2DA-15CD-69CD-7C21EB12C1DD}"/>
              </a:ext>
            </a:extLst>
          </p:cNvPr>
          <p:cNvSpPr txBox="1">
            <a:spLocks noChangeArrowheads="1"/>
          </p:cNvSpPr>
          <p:nvPr/>
        </p:nvSpPr>
        <p:spPr bwMode="auto">
          <a:xfrm>
            <a:off x="8182946" y="3742992"/>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9</a:t>
            </a:r>
          </a:p>
        </p:txBody>
      </p:sp>
      <p:sp>
        <p:nvSpPr>
          <p:cNvPr id="7" name="Text Box 2">
            <a:extLst>
              <a:ext uri="{FF2B5EF4-FFF2-40B4-BE49-F238E27FC236}">
                <a16:creationId xmlns:a16="http://schemas.microsoft.com/office/drawing/2014/main" id="{BB5A4CE6-4C25-C88A-D292-4C74FE969671}"/>
              </a:ext>
            </a:extLst>
          </p:cNvPr>
          <p:cNvSpPr txBox="1">
            <a:spLocks noChangeArrowheads="1"/>
          </p:cNvSpPr>
          <p:nvPr/>
        </p:nvSpPr>
        <p:spPr bwMode="auto">
          <a:xfrm>
            <a:off x="3886200" y="4648200"/>
            <a:ext cx="5257799" cy="1943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solidFill>
                  <a:schemeClr val="accent2"/>
                </a:solidFill>
              </a:rPr>
              <a:t>Which is true? </a:t>
            </a:r>
          </a:p>
          <a:p>
            <a:pPr algn="ctr">
              <a:lnSpc>
                <a:spcPct val="150000"/>
              </a:lnSpc>
              <a:tabLst>
                <a:tab pos="4114800" algn="l"/>
              </a:tabLst>
            </a:pPr>
            <a:r>
              <a:rPr lang="en-US" sz="2800" b="1" dirty="0">
                <a:solidFill>
                  <a:schemeClr val="accent2"/>
                </a:solidFill>
              </a:rPr>
              <a:t># parents + # children = N</a:t>
            </a:r>
          </a:p>
          <a:p>
            <a:pPr algn="ctr">
              <a:lnSpc>
                <a:spcPct val="150000"/>
              </a:lnSpc>
              <a:tabLst>
                <a:tab pos="4114800" algn="l"/>
              </a:tabLst>
            </a:pPr>
            <a:r>
              <a:rPr lang="en-US" sz="2800" b="1" dirty="0">
                <a:solidFill>
                  <a:schemeClr val="accent2"/>
                </a:solidFill>
              </a:rPr>
              <a:t># parents + # leaves = N</a:t>
            </a:r>
          </a:p>
        </p:txBody>
      </p:sp>
      <p:sp>
        <p:nvSpPr>
          <p:cNvPr id="8" name="Text Box 2">
            <a:extLst>
              <a:ext uri="{FF2B5EF4-FFF2-40B4-BE49-F238E27FC236}">
                <a16:creationId xmlns:a16="http://schemas.microsoft.com/office/drawing/2014/main" id="{4AC94956-07B1-8046-9323-460BBA682FE4}"/>
              </a:ext>
            </a:extLst>
          </p:cNvPr>
          <p:cNvSpPr txBox="1">
            <a:spLocks noChangeArrowheads="1"/>
          </p:cNvSpPr>
          <p:nvPr/>
        </p:nvSpPr>
        <p:spPr bwMode="auto">
          <a:xfrm>
            <a:off x="3886200" y="4648200"/>
            <a:ext cx="5257799" cy="1943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t>Which is true? </a:t>
            </a:r>
          </a:p>
          <a:p>
            <a:pPr algn="ctr">
              <a:lnSpc>
                <a:spcPct val="150000"/>
              </a:lnSpc>
              <a:tabLst>
                <a:tab pos="4114800" algn="l"/>
              </a:tabLst>
            </a:pPr>
            <a:r>
              <a:rPr lang="en-US" sz="2800" b="1" dirty="0">
                <a:solidFill>
                  <a:srgbClr val="FF0000"/>
                </a:solidFill>
              </a:rPr>
              <a:t># parents + # children = N</a:t>
            </a:r>
          </a:p>
          <a:p>
            <a:pPr algn="ctr">
              <a:lnSpc>
                <a:spcPct val="150000"/>
              </a:lnSpc>
              <a:tabLst>
                <a:tab pos="4114800" algn="l"/>
              </a:tabLst>
            </a:pPr>
            <a:r>
              <a:rPr lang="en-US" sz="2800" b="1" dirty="0">
                <a:solidFill>
                  <a:srgbClr val="009900"/>
                </a:solidFill>
              </a:rPr>
              <a:t># parents + # leaves = N</a:t>
            </a:r>
          </a:p>
        </p:txBody>
      </p:sp>
      <p:sp>
        <p:nvSpPr>
          <p:cNvPr id="9" name="Text Box 2">
            <a:extLst>
              <a:ext uri="{FF2B5EF4-FFF2-40B4-BE49-F238E27FC236}">
                <a16:creationId xmlns:a16="http://schemas.microsoft.com/office/drawing/2014/main" id="{2096301C-2B40-4C2D-A219-F00B09FBF976}"/>
              </a:ext>
            </a:extLst>
          </p:cNvPr>
          <p:cNvSpPr txBox="1">
            <a:spLocks noChangeArrowheads="1"/>
          </p:cNvSpPr>
          <p:nvPr/>
        </p:nvSpPr>
        <p:spPr bwMode="auto">
          <a:xfrm>
            <a:off x="3886200" y="4648200"/>
            <a:ext cx="5257799" cy="1943481"/>
          </a:xfrm>
          <a:prstGeom prst="rect">
            <a:avLst/>
          </a:prstGeom>
          <a:solidFill>
            <a:schemeClr val="bg1"/>
          </a:solidFill>
          <a:ln>
            <a:noFill/>
          </a:ln>
          <a:effec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t>Which is true? </a:t>
            </a:r>
          </a:p>
          <a:p>
            <a:pPr algn="ctr">
              <a:lnSpc>
                <a:spcPct val="150000"/>
              </a:lnSpc>
              <a:tabLst>
                <a:tab pos="4114800" algn="l"/>
              </a:tabLst>
            </a:pPr>
            <a:r>
              <a:rPr lang="en-US" sz="2800" b="1" dirty="0">
                <a:solidFill>
                  <a:srgbClr val="006600"/>
                </a:solidFill>
              </a:rPr>
              <a:t>1 + # children = N</a:t>
            </a:r>
          </a:p>
          <a:p>
            <a:pPr algn="ctr">
              <a:lnSpc>
                <a:spcPct val="150000"/>
              </a:lnSpc>
              <a:tabLst>
                <a:tab pos="4114800" algn="l"/>
              </a:tabLst>
            </a:pPr>
            <a:r>
              <a:rPr lang="en-US" sz="2800" b="1" dirty="0">
                <a:solidFill>
                  <a:srgbClr val="009900"/>
                </a:solidFill>
              </a:rPr>
              <a:t># parents + # leaves = 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7" grpId="0"/>
      <p:bldP spid="8" grpId="0"/>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752600" y="1371600"/>
            <a:ext cx="57150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Types of</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Trees</a:t>
            </a:r>
          </a:p>
        </p:txBody>
      </p:sp>
    </p:spTree>
    <p:extLst>
      <p:ext uri="{BB962C8B-B14F-4D97-AF65-F5344CB8AC3E}">
        <p14:creationId xmlns:p14="http://schemas.microsoft.com/office/powerpoint/2010/main" val="30289010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8" name="Text Box 3"/>
          <p:cNvSpPr txBox="1">
            <a:spLocks noChangeArrowheads="1"/>
          </p:cNvSpPr>
          <p:nvPr/>
        </p:nvSpPr>
        <p:spPr bwMode="auto">
          <a:xfrm>
            <a:off x="564502" y="1694769"/>
            <a:ext cx="8001000"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node</a:t>
            </a:r>
            <a:r>
              <a:rPr lang="en-US" sz="2800" b="1" dirty="0"/>
              <a:t> is full if it has two children.</a:t>
            </a:r>
          </a:p>
          <a:p>
            <a:endParaRPr lang="en-US" sz="2800" b="1" dirty="0"/>
          </a:p>
          <a:p>
            <a:r>
              <a:rPr lang="en-US" sz="2800" b="1" dirty="0"/>
              <a:t>A </a:t>
            </a:r>
            <a:r>
              <a:rPr lang="en-US" sz="2800" b="1" u="sng" dirty="0"/>
              <a:t>level</a:t>
            </a:r>
            <a:r>
              <a:rPr lang="en-US" sz="2800" b="1" dirty="0"/>
              <a:t> is full if it contains its full capacity of nodes. </a:t>
            </a:r>
          </a:p>
          <a:p>
            <a:endParaRPr lang="en-US" sz="2800" b="1" dirty="0"/>
          </a:p>
          <a:p>
            <a:endParaRPr lang="en-US" sz="2800" b="1" dirty="0"/>
          </a:p>
          <a:p>
            <a:endParaRPr lang="en-US" sz="2800" b="1" dirty="0"/>
          </a:p>
          <a:p>
            <a:endParaRPr lang="en-US" sz="2800" b="1" dirty="0"/>
          </a:p>
          <a:p>
            <a:pPr algn="ctr"/>
            <a:r>
              <a:rPr lang="en-US" sz="2800" b="1" dirty="0"/>
              <a:t>The first two </a:t>
            </a:r>
            <a:r>
              <a:rPr lang="en-US" sz="2800" b="1" u="sng" dirty="0"/>
              <a:t>rows</a:t>
            </a:r>
            <a:r>
              <a:rPr lang="en-US" sz="2800" b="1" dirty="0"/>
              <a:t> of this tree are full.</a:t>
            </a:r>
          </a:p>
          <a:p>
            <a:pPr algn="ctr"/>
            <a:r>
              <a:rPr lang="en-US" sz="2800" b="1" dirty="0"/>
              <a:t>The only </a:t>
            </a:r>
            <a:r>
              <a:rPr lang="en-US" sz="2800" b="1" u="sng" dirty="0"/>
              <a:t>node</a:t>
            </a:r>
            <a:r>
              <a:rPr lang="en-US" sz="2800" b="1" dirty="0"/>
              <a:t> considered full is the root.</a:t>
            </a:r>
          </a:p>
        </p:txBody>
      </p:sp>
      <p:grpSp>
        <p:nvGrpSpPr>
          <p:cNvPr id="2" name="Group 1" descr="Binary tree with four unlabeled nodes in three levels:&#10;&#10;- The first two levels are full, meaning they have as many nodes as they could, namely one and then two. The sole node in the third level is the left child of the right child of the root.&#10;Note that the third level has room for four node.&#10;"/>
          <p:cNvGrpSpPr/>
          <p:nvPr/>
        </p:nvGrpSpPr>
        <p:grpSpPr>
          <a:xfrm>
            <a:off x="2895600" y="3352800"/>
            <a:ext cx="2743200" cy="1676400"/>
            <a:chOff x="2895600" y="3352800"/>
            <a:chExt cx="27432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TextBox 2">
            <a:extLst>
              <a:ext uri="{FF2B5EF4-FFF2-40B4-BE49-F238E27FC236}">
                <a16:creationId xmlns:a16="http://schemas.microsoft.com/office/drawing/2014/main" id="{34D13DDE-52FB-49C6-61DF-B2DA174F58A2}"/>
              </a:ext>
            </a:extLst>
          </p:cNvPr>
          <p:cNvSpPr txBox="1"/>
          <p:nvPr/>
        </p:nvSpPr>
        <p:spPr>
          <a:xfrm>
            <a:off x="1369456" y="295870"/>
            <a:ext cx="6098144" cy="923330"/>
          </a:xfrm>
          <a:prstGeom prst="rect">
            <a:avLst/>
          </a:prstGeom>
          <a:noFill/>
        </p:spPr>
        <p:txBody>
          <a:bodyPr wrap="none" rtlCol="0">
            <a:spAutoFit/>
          </a:bodyPr>
          <a:lstStyle/>
          <a:p>
            <a:r>
              <a:rPr lang="en-US" sz="5400" b="1" dirty="0">
                <a:solidFill>
                  <a:srgbClr val="0000CC"/>
                </a:solidFill>
                <a:latin typeface="Sitka Small" panose="02000505000000020004" pitchFamily="2" charset="0"/>
              </a:rPr>
              <a:t>Senses of “Full”</a:t>
            </a:r>
          </a:p>
        </p:txBody>
      </p:sp>
    </p:spTree>
    <p:extLst>
      <p:ext uri="{BB962C8B-B14F-4D97-AF65-F5344CB8AC3E}">
        <p14:creationId xmlns:p14="http://schemas.microsoft.com/office/powerpoint/2010/main" val="1591616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8131" name="Text Box 3"/>
          <p:cNvSpPr txBox="1">
            <a:spLocks noChangeArrowheads="1"/>
          </p:cNvSpPr>
          <p:nvPr/>
        </p:nvSpPr>
        <p:spPr bwMode="auto">
          <a:xfrm>
            <a:off x="685801" y="1905000"/>
            <a:ext cx="79248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In a complete tree, every level above the bottom level is filled.   The bottom level has all nodes shifted as far left as possible.</a:t>
            </a:r>
          </a:p>
        </p:txBody>
      </p:sp>
      <p:sp>
        <p:nvSpPr>
          <p:cNvPr id="48132" name="WordArt 4"/>
          <p:cNvSpPr>
            <a:spLocks noChangeArrowheads="1" noChangeShapeType="1" noTextEdit="1"/>
          </p:cNvSpPr>
          <p:nvPr/>
        </p:nvSpPr>
        <p:spPr bwMode="auto">
          <a:xfrm>
            <a:off x="1219200" y="685800"/>
            <a:ext cx="61722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a:rPr>
              <a:t>A Complete Tree</a:t>
            </a:r>
          </a:p>
        </p:txBody>
      </p:sp>
      <p:grpSp>
        <p:nvGrpSpPr>
          <p:cNvPr id="2" name="Group 1" descr="This is the same tree as before, except the left child of the root has two children now instead of being a leaf.&#10;So the first two levels are full as before, but now the third level has a node in the first three spots and only the fourth spot is empty.&#10;">
            <a:extLst>
              <a:ext uri="{FF2B5EF4-FFF2-40B4-BE49-F238E27FC236}">
                <a16:creationId xmlns:a16="http://schemas.microsoft.com/office/drawing/2014/main" id="{2679FB2A-C584-4C9A-8152-25B7A8BFBB2A}"/>
              </a:ext>
            </a:extLst>
          </p:cNvPr>
          <p:cNvGrpSpPr/>
          <p:nvPr/>
        </p:nvGrpSpPr>
        <p:grpSpPr>
          <a:xfrm>
            <a:off x="2209800" y="3657600"/>
            <a:ext cx="3429000" cy="1676400"/>
            <a:chOff x="2209800" y="3657600"/>
            <a:chExt cx="3429000" cy="1676400"/>
          </a:xfrm>
        </p:grpSpPr>
        <p:sp>
          <p:nvSpPr>
            <p:cNvPr id="48133" name="Oval 5"/>
            <p:cNvSpPr>
              <a:spLocks noChangeArrowheads="1"/>
            </p:cNvSpPr>
            <p:nvPr/>
          </p:nvSpPr>
          <p:spPr bwMode="auto">
            <a:xfrm>
              <a:off x="3962400" y="36576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4" name="Oval 8"/>
            <p:cNvSpPr>
              <a:spLocks noChangeArrowheads="1"/>
            </p:cNvSpPr>
            <p:nvPr/>
          </p:nvSpPr>
          <p:spPr bwMode="auto">
            <a:xfrm>
              <a:off x="28956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5" name="Oval 9"/>
            <p:cNvSpPr>
              <a:spLocks noChangeArrowheads="1"/>
            </p:cNvSpPr>
            <p:nvPr/>
          </p:nvSpPr>
          <p:spPr bwMode="auto">
            <a:xfrm>
              <a:off x="22098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6" name="Oval 10"/>
            <p:cNvSpPr>
              <a:spLocks noChangeArrowheads="1"/>
            </p:cNvSpPr>
            <p:nvPr/>
          </p:nvSpPr>
          <p:spPr bwMode="auto">
            <a:xfrm>
              <a:off x="35814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7" name="Oval 11"/>
            <p:cNvSpPr>
              <a:spLocks noChangeArrowheads="1"/>
            </p:cNvSpPr>
            <p:nvPr/>
          </p:nvSpPr>
          <p:spPr bwMode="auto">
            <a:xfrm>
              <a:off x="51054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8" name="Oval 12"/>
            <p:cNvSpPr>
              <a:spLocks noChangeArrowheads="1"/>
            </p:cNvSpPr>
            <p:nvPr/>
          </p:nvSpPr>
          <p:spPr bwMode="auto">
            <a:xfrm>
              <a:off x="44196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 name="Straight Connector 2"/>
            <p:cNvCxnSpPr>
              <a:stCxn id="48133" idx="3"/>
              <a:endCxn id="48134" idx="7"/>
            </p:cNvCxnSpPr>
            <p:nvPr/>
          </p:nvCxnSpPr>
          <p:spPr bwMode="auto">
            <a:xfrm flipH="1">
              <a:off x="3350885" y="40478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p:cNvCxnSpPr>
              <a:stCxn id="48133" idx="5"/>
              <a:endCxn id="48137" idx="1"/>
            </p:cNvCxnSpPr>
            <p:nvPr/>
          </p:nvCxnSpPr>
          <p:spPr bwMode="auto">
            <a:xfrm>
              <a:off x="4417685" y="40478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Straight Connector 16"/>
            <p:cNvCxnSpPr>
              <a:stCxn id="48138" idx="7"/>
              <a:endCxn id="48137" idx="3"/>
            </p:cNvCxnSpPr>
            <p:nvPr/>
          </p:nvCxnSpPr>
          <p:spPr bwMode="auto">
            <a:xfrm flipV="1">
              <a:off x="4874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Straight Connector 23"/>
            <p:cNvCxnSpPr>
              <a:stCxn id="48136" idx="1"/>
              <a:endCxn id="48134" idx="5"/>
            </p:cNvCxnSpPr>
            <p:nvPr/>
          </p:nvCxnSpPr>
          <p:spPr bwMode="auto">
            <a:xfrm flipH="1" flipV="1">
              <a:off x="3350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48135" idx="7"/>
              <a:endCxn id="48134" idx="3"/>
            </p:cNvCxnSpPr>
            <p:nvPr/>
          </p:nvCxnSpPr>
          <p:spPr bwMode="auto">
            <a:xfrm flipV="1">
              <a:off x="26650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5" name="Picture 2" descr="Four trees are shown that show that the definitions for Full trees and complete trees are independent a can one or the other or both or neither.&#10;In every example, the first three levels are full and only the last level is not (i.e. only the last level is missing nodes).&#10;Tree 1 is neither complete nor full. It's not complete because the last row one node, then some nodes missing (meaning the nodes above those spaces don't have children there), followed by two more nodes on the same level. The tree is not full because there is a node with one child.&#10;Tree 2 is complete by not full. It's complete because all rows are full be the last, and the last has one node at the left-most spot. It's not a full tree because there is a node with one child.&#10;Tree 3 is full be not complete. It's full because every node has two children or is a leaf. It's not complete because there is a gap on the last row. It has two nodes on the left, then two nodes missing, then two more nodes.&#10;Tree 4 is both complete and full. It's complete because every level is full except the last, and the last row is filled in from the left (i.e. has no gaps). It's a full tree because every node has two children or is a lea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
            <a:ext cx="7620000" cy="551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bwMode="auto">
          <a:xfrm>
            <a:off x="5410200" y="3352800"/>
            <a:ext cx="2667000"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Rectangle 5"/>
          <p:cNvSpPr/>
          <p:nvPr/>
        </p:nvSpPr>
        <p:spPr bwMode="auto">
          <a:xfrm>
            <a:off x="5221423" y="457200"/>
            <a:ext cx="3044551"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7" name="Rectangle 6"/>
          <p:cNvSpPr/>
          <p:nvPr/>
        </p:nvSpPr>
        <p:spPr bwMode="auto">
          <a:xfrm>
            <a:off x="562976" y="381000"/>
            <a:ext cx="3704223"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8" name="Rectangle 7"/>
          <p:cNvSpPr/>
          <p:nvPr/>
        </p:nvSpPr>
        <p:spPr bwMode="auto">
          <a:xfrm>
            <a:off x="1219200" y="3313150"/>
            <a:ext cx="2934952" cy="42065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3" name="TextBox 2"/>
          <p:cNvSpPr txBox="1"/>
          <p:nvPr/>
        </p:nvSpPr>
        <p:spPr>
          <a:xfrm>
            <a:off x="5187292" y="381000"/>
            <a:ext cx="3042308" cy="461665"/>
          </a:xfrm>
          <a:prstGeom prst="rect">
            <a:avLst/>
          </a:prstGeom>
          <a:noFill/>
        </p:spPr>
        <p:txBody>
          <a:bodyPr wrap="none" rtlCol="0">
            <a:spAutoFit/>
          </a:bodyPr>
          <a:lstStyle/>
          <a:p>
            <a:r>
              <a:rPr lang="en-US" dirty="0"/>
              <a:t>Complete but not full</a:t>
            </a:r>
          </a:p>
        </p:txBody>
      </p:sp>
      <p:sp>
        <p:nvSpPr>
          <p:cNvPr id="9" name="TextBox 8"/>
          <p:cNvSpPr txBox="1"/>
          <p:nvPr/>
        </p:nvSpPr>
        <p:spPr>
          <a:xfrm>
            <a:off x="762000" y="376535"/>
            <a:ext cx="3549433" cy="461665"/>
          </a:xfrm>
          <a:prstGeom prst="rect">
            <a:avLst/>
          </a:prstGeom>
          <a:noFill/>
        </p:spPr>
        <p:txBody>
          <a:bodyPr wrap="none" rtlCol="0">
            <a:spAutoFit/>
          </a:bodyPr>
          <a:lstStyle/>
          <a:p>
            <a:r>
              <a:rPr lang="en-US" dirty="0"/>
              <a:t>Neither complete nor full</a:t>
            </a:r>
          </a:p>
        </p:txBody>
      </p:sp>
      <p:sp>
        <p:nvSpPr>
          <p:cNvPr id="10" name="TextBox 9"/>
          <p:cNvSpPr txBox="1"/>
          <p:nvPr/>
        </p:nvSpPr>
        <p:spPr>
          <a:xfrm>
            <a:off x="981098" y="3323477"/>
            <a:ext cx="3066160" cy="461665"/>
          </a:xfrm>
          <a:prstGeom prst="rect">
            <a:avLst/>
          </a:prstGeom>
          <a:noFill/>
        </p:spPr>
        <p:txBody>
          <a:bodyPr wrap="none" rtlCol="0">
            <a:spAutoFit/>
          </a:bodyPr>
          <a:lstStyle/>
          <a:p>
            <a:r>
              <a:rPr lang="en-US" dirty="0"/>
              <a:t>Full but not complete</a:t>
            </a:r>
          </a:p>
        </p:txBody>
      </p:sp>
      <p:sp>
        <p:nvSpPr>
          <p:cNvPr id="11" name="TextBox 10"/>
          <p:cNvSpPr txBox="1"/>
          <p:nvPr/>
        </p:nvSpPr>
        <p:spPr>
          <a:xfrm>
            <a:off x="5181600" y="3288307"/>
            <a:ext cx="3242554" cy="461665"/>
          </a:xfrm>
          <a:prstGeom prst="rect">
            <a:avLst/>
          </a:prstGeom>
          <a:noFill/>
        </p:spPr>
        <p:txBody>
          <a:bodyPr wrap="none" rtlCol="0">
            <a:spAutoFit/>
          </a:bodyPr>
          <a:lstStyle/>
          <a:p>
            <a:r>
              <a:rPr lang="en-US" dirty="0"/>
              <a:t>Both complete and full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608584" y="2551093"/>
            <a:ext cx="8305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a:t>
            </a:r>
          </a:p>
        </p:txBody>
      </p:sp>
      <p:grpSp>
        <p:nvGrpSpPr>
          <p:cNvPr id="2" name="Group 1" descr="This is the same tree as the previous two slides, except now all three levels are full, meaning the rows stores as many as they possibly could:&#10;1 node in the first row, 2 nodes in the second row, and 4 nodes in the 3rd row.&#10;">
            <a:extLst>
              <a:ext uri="{FF2B5EF4-FFF2-40B4-BE49-F238E27FC236}">
                <a16:creationId xmlns:a16="http://schemas.microsoft.com/office/drawing/2014/main" id="{25761353-90C2-1B36-DBB3-95C4AD846CFC}"/>
              </a:ext>
            </a:extLst>
          </p:cNvPr>
          <p:cNvGrpSpPr/>
          <p:nvPr/>
        </p:nvGrpSpPr>
        <p:grpSpPr>
          <a:xfrm>
            <a:off x="2551684" y="4267200"/>
            <a:ext cx="4062047" cy="1676400"/>
            <a:chOff x="2551684" y="4267200"/>
            <a:chExt cx="4062047" cy="1676400"/>
          </a:xfrm>
        </p:grpSpPr>
        <p:sp>
          <p:nvSpPr>
            <p:cNvPr id="19" name="Oval 5"/>
            <p:cNvSpPr>
              <a:spLocks noChangeArrowheads="1"/>
            </p:cNvSpPr>
            <p:nvPr/>
          </p:nvSpPr>
          <p:spPr bwMode="auto">
            <a:xfrm>
              <a:off x="42672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3237484"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25516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39232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54102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47614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3692769" y="46574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4722485" y="46574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5216769" y="52670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36927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30069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6080331"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5865485" y="52670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3117690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145323"/>
                <a:ext cx="8305800" cy="2640082"/>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2800" b="1" dirty="0"/>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145323"/>
                <a:ext cx="8305800" cy="2640082"/>
              </a:xfrm>
              <a:prstGeom prst="rect">
                <a:avLst/>
              </a:prstGeom>
              <a:blipFill>
                <a:blip r:embed="rId3"/>
                <a:stretch>
                  <a:fillRect l="-1542" t="-2540" r="-411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47116" name="Text Box 12"/>
          <p:cNvSpPr txBox="1">
            <a:spLocks noChangeArrowheads="1"/>
          </p:cNvSpPr>
          <p:nvPr/>
        </p:nvSpPr>
        <p:spPr bwMode="auto">
          <a:xfrm>
            <a:off x="838200" y="5334000"/>
            <a:ext cx="3200400" cy="1107996"/>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dirty="0">
                <a:solidFill>
                  <a:schemeClr val="accent2"/>
                </a:solidFill>
              </a:rPr>
              <a:t>There are 7 nodes:</a:t>
            </a:r>
          </a:p>
          <a:p>
            <a:pPr>
              <a:spcBef>
                <a:spcPct val="50000"/>
              </a:spcBef>
            </a:pPr>
            <a:r>
              <a:rPr lang="en-US" sz="2800" b="1" dirty="0">
                <a:solidFill>
                  <a:schemeClr val="accent2"/>
                </a:solidFill>
              </a:rPr>
              <a:t>2</a:t>
            </a:r>
            <a:r>
              <a:rPr lang="en-US" sz="2800" b="1" baseline="30000" dirty="0">
                <a:solidFill>
                  <a:schemeClr val="accent2"/>
                </a:solidFill>
              </a:rPr>
              <a:t>(3 levels)</a:t>
            </a:r>
            <a:r>
              <a:rPr lang="en-US" sz="2800" b="1" dirty="0">
                <a:solidFill>
                  <a:schemeClr val="accent2"/>
                </a:solidFill>
              </a:rPr>
              <a:t> – 1 = 7</a:t>
            </a:r>
          </a:p>
        </p:txBody>
      </p:sp>
      <p:grpSp>
        <p:nvGrpSpPr>
          <p:cNvPr id="2" name="Group 1" descr="A tree with three levels and seven nodes. Each rows stores as many as they possibly could:&#10;1 node in the first row, 2 nodes in the second row, and 4 nodes in the 3rd row.&#10;">
            <a:extLst>
              <a:ext uri="{FF2B5EF4-FFF2-40B4-BE49-F238E27FC236}">
                <a16:creationId xmlns:a16="http://schemas.microsoft.com/office/drawing/2014/main" id="{EF304529-A695-6975-F7BF-02939E796D74}"/>
              </a:ext>
            </a:extLst>
          </p:cNvPr>
          <p:cNvGrpSpPr/>
          <p:nvPr/>
        </p:nvGrpSpPr>
        <p:grpSpPr>
          <a:xfrm>
            <a:off x="4724400" y="4876800"/>
            <a:ext cx="4062047" cy="1676400"/>
            <a:chOff x="4724400" y="4876800"/>
            <a:chExt cx="4062047" cy="1676400"/>
          </a:xfrm>
        </p:grpSpPr>
        <p:sp>
          <p:nvSpPr>
            <p:cNvPr id="19" name="Oval 5"/>
            <p:cNvSpPr>
              <a:spLocks noChangeArrowheads="1"/>
            </p:cNvSpPr>
            <p:nvPr/>
          </p:nvSpPr>
          <p:spPr bwMode="auto">
            <a:xfrm>
              <a:off x="6439916"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5410200"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47244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60960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7582916"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69342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5865485" y="52670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6895201" y="5267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7389485" y="58766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58654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51796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8253047"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8038201" y="58766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1705306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471033"/>
                <a:ext cx="8305800" cy="3624967"/>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4000" b="1" dirty="0"/>
              </a:p>
              <a:p>
                <a:endParaRPr lang="en-US" sz="2800" b="1" dirty="0"/>
              </a:p>
              <a:p>
                <a:r>
                  <a:rPr lang="en-US" sz="2800" b="1" dirty="0"/>
                  <a:t>Or equivalently:</a:t>
                </a:r>
              </a:p>
              <a:p>
                <a:endParaRPr lang="en-US" sz="2800" b="1" dirty="0"/>
              </a:p>
              <a:p>
                <a:pPr/>
                <a14:m>
                  <m:oMathPara xmlns:m="http://schemas.openxmlformats.org/officeDocument/2006/math">
                    <m:oMathParaPr>
                      <m:jc m:val="centerGroup"/>
                    </m:oMathParaPr>
                    <m:oMath xmlns:m="http://schemas.openxmlformats.org/officeDocument/2006/math">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𝒍𝒆𝒗𝒆𝒍𝒔</m:t>
                      </m:r>
                      <m:r>
                        <a:rPr lang="en-US" sz="3600" b="1" i="1" smtClean="0">
                          <a:solidFill>
                            <a:schemeClr val="accent6">
                              <a:lumMod val="75000"/>
                            </a:schemeClr>
                          </a:solidFill>
                          <a:latin typeface="Cambria Math" panose="02040503050406030204" pitchFamily="18" charset="0"/>
                        </a:rPr>
                        <m:t>=</m:t>
                      </m:r>
                      <m:sSub>
                        <m:sSubPr>
                          <m:ctrlPr>
                            <a:rPr lang="en-US" sz="3600" b="1" i="1" smtClean="0">
                              <a:solidFill>
                                <a:schemeClr val="accent6">
                                  <a:lumMod val="75000"/>
                                </a:schemeClr>
                              </a:solidFill>
                              <a:latin typeface="Cambria Math" panose="02040503050406030204" pitchFamily="18" charset="0"/>
                            </a:rPr>
                          </m:ctrlPr>
                        </m:sSubPr>
                        <m:e>
                          <m:r>
                            <a:rPr lang="en-US" sz="3600" b="1" i="1" smtClean="0">
                              <a:solidFill>
                                <a:schemeClr val="accent6">
                                  <a:lumMod val="75000"/>
                                </a:schemeClr>
                              </a:solidFill>
                              <a:latin typeface="Cambria Math" panose="02040503050406030204" pitchFamily="18" charset="0"/>
                            </a:rPr>
                            <m:t>𝒍𝒐𝒈</m:t>
                          </m:r>
                        </m:e>
                        <m:sub>
                          <m:r>
                            <a:rPr lang="en-US" sz="3600" b="1" i="1" smtClean="0">
                              <a:solidFill>
                                <a:schemeClr val="accent6">
                                  <a:lumMod val="75000"/>
                                </a:schemeClr>
                              </a:solidFill>
                              <a:latin typeface="Cambria Math" panose="02040503050406030204" pitchFamily="18" charset="0"/>
                            </a:rPr>
                            <m:t>𝟐</m:t>
                          </m:r>
                        </m:sub>
                      </m:sSub>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𝒏𝒐𝒅𝒆𝒔</m:t>
                      </m:r>
                      <m:r>
                        <a:rPr lang="en-US" sz="3600" b="1" i="1" smtClean="0">
                          <a:solidFill>
                            <a:schemeClr val="accent6">
                              <a:lumMod val="75000"/>
                            </a:schemeClr>
                          </a:solidFill>
                          <a:latin typeface="Cambria Math" panose="02040503050406030204" pitchFamily="18" charset="0"/>
                        </a:rPr>
                        <m:t>+</m:t>
                      </m:r>
                      <m:r>
                        <a:rPr lang="en-US" sz="3600" b="1" i="1" smtClean="0">
                          <a:solidFill>
                            <a:schemeClr val="accent6">
                              <a:lumMod val="75000"/>
                            </a:schemeClr>
                          </a:solidFill>
                          <a:latin typeface="Cambria Math" panose="02040503050406030204" pitchFamily="18" charset="0"/>
                        </a:rPr>
                        <m:t>𝟏</m:t>
                      </m:r>
                      <m:r>
                        <a:rPr lang="en-US" sz="3600" b="1" i="1" smtClean="0">
                          <a:solidFill>
                            <a:schemeClr val="accent6">
                              <a:lumMod val="75000"/>
                            </a:schemeClr>
                          </a:solidFill>
                          <a:latin typeface="Cambria Math" panose="02040503050406030204" pitchFamily="18" charset="0"/>
                        </a:rPr>
                        <m:t>)</m:t>
                      </m:r>
                    </m:oMath>
                  </m:oMathPara>
                </a14:m>
                <a:endParaRPr lang="en-US" sz="3600" b="1" dirty="0">
                  <a:solidFill>
                    <a:schemeClr val="accent6">
                      <a:lumMod val="75000"/>
                    </a:schemeClr>
                  </a:solidFill>
                </a:endParaRPr>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471033"/>
                <a:ext cx="8305800" cy="3624967"/>
              </a:xfrm>
              <a:prstGeom prst="rect">
                <a:avLst/>
              </a:prstGeom>
              <a:blipFill>
                <a:blip r:embed="rId3"/>
                <a:stretch>
                  <a:fillRect l="-1542" t="-1681" r="-95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12057846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95400" y="381000"/>
            <a:ext cx="6228693" cy="707886"/>
          </a:xfrm>
          <a:prstGeom prst="rect">
            <a:avLst/>
          </a:prstGeom>
        </p:spPr>
        <p:txBody>
          <a:bodyPr wrap="none">
            <a:spAutoFit/>
          </a:bodyPr>
          <a:lstStyle/>
          <a:p>
            <a:r>
              <a:rPr lang="en-US" sz="4000" dirty="0"/>
              <a:t>A</a:t>
            </a:r>
            <a:r>
              <a:rPr lang="en-US" sz="4000" b="1" dirty="0"/>
              <a:t> degenerate</a:t>
            </a:r>
            <a:r>
              <a:rPr lang="en-US" sz="4000" dirty="0"/>
              <a:t> binary tree</a:t>
            </a:r>
          </a:p>
        </p:txBody>
      </p:sp>
      <p:sp>
        <p:nvSpPr>
          <p:cNvPr id="4" name="Rectangle 3"/>
          <p:cNvSpPr/>
          <p:nvPr/>
        </p:nvSpPr>
        <p:spPr>
          <a:xfrm>
            <a:off x="838200" y="1447800"/>
            <a:ext cx="7315200" cy="1200329"/>
          </a:xfrm>
          <a:prstGeom prst="rect">
            <a:avLst/>
          </a:prstGeom>
        </p:spPr>
        <p:txBody>
          <a:bodyPr wrap="square">
            <a:spAutoFit/>
          </a:bodyPr>
          <a:lstStyle/>
          <a:p>
            <a:r>
              <a:rPr lang="en-US" dirty="0"/>
              <a:t>A tree where each parent node has only one associated child node. This means that performance-wise, the tree will behave like a linked list.</a:t>
            </a:r>
          </a:p>
        </p:txBody>
      </p:sp>
      <p:pic>
        <p:nvPicPr>
          <p:cNvPr id="1026" name="Picture 2" descr="A degenerate tree with five nodes and five levels. Every node only has a right chil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9487" y="3047999"/>
            <a:ext cx="2525713" cy="280310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A degenerate tree with five nodes and five levels. Every node has only one child, though sometimes it's a left child and sometimes a re right child."/>
          <p:cNvPicPr>
            <a:picLocks noChangeAspect="1" noChangeArrowheads="1"/>
          </p:cNvPicPr>
          <p:nvPr/>
        </p:nvPicPr>
        <p:blipFill rotWithShape="1">
          <a:blip r:embed="rId3">
            <a:extLst>
              <a:ext uri="{28A0092B-C50C-407E-A947-70E740481C1C}">
                <a14:useLocalDpi xmlns:a14="http://schemas.microsoft.com/office/drawing/2010/main" val="0"/>
              </a:ext>
            </a:extLst>
          </a:blip>
          <a:srcRect l="33594" t="9766" r="51094" b="65039"/>
          <a:stretch/>
        </p:blipFill>
        <p:spPr bwMode="auto">
          <a:xfrm>
            <a:off x="5181600" y="3220825"/>
            <a:ext cx="1866900" cy="245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68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a:xfrm>
            <a:off x="6248400" y="6224558"/>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E9955CB8-75F4-C801-7FCC-40ED3C55E1E6}"/>
              </a:ext>
            </a:extLst>
          </p:cNvPr>
          <p:cNvSpPr txBox="1"/>
          <p:nvPr/>
        </p:nvSpPr>
        <p:spPr>
          <a:xfrm>
            <a:off x="533400" y="404842"/>
            <a:ext cx="8077200" cy="1569660"/>
          </a:xfrm>
          <a:prstGeom prst="rect">
            <a:avLst/>
          </a:prstGeom>
          <a:noFill/>
        </p:spPr>
        <p:txBody>
          <a:bodyPr wrap="square">
            <a:spAutoFit/>
          </a:bodyPr>
          <a:lstStyle/>
          <a:p>
            <a:pPr algn="l" rtl="0" fontAlgn="base"/>
            <a:r>
              <a:rPr lang="en-US" sz="3200" b="0" i="0" dirty="0">
                <a:solidFill>
                  <a:srgbClr val="273239"/>
                </a:solidFill>
                <a:effectLst/>
                <a:latin typeface="Nunito" pitchFamily="2" charset="0"/>
              </a:rPr>
              <a:t> A binary tree is </a:t>
            </a:r>
            <a:r>
              <a:rPr lang="en-US" sz="3200" b="1" i="0" dirty="0">
                <a:solidFill>
                  <a:srgbClr val="273239"/>
                </a:solidFill>
                <a:effectLst/>
                <a:latin typeface="Nunito" pitchFamily="2" charset="0"/>
              </a:rPr>
              <a:t>balanced</a:t>
            </a:r>
            <a:r>
              <a:rPr lang="en-US" sz="3200" b="0" i="0" dirty="0">
                <a:solidFill>
                  <a:srgbClr val="273239"/>
                </a:solidFill>
                <a:effectLst/>
                <a:latin typeface="Nunito" pitchFamily="2" charset="0"/>
              </a:rPr>
              <a:t> if the absolute </a:t>
            </a:r>
            <a:r>
              <a:rPr lang="en-US" sz="3200" b="1" i="0" dirty="0">
                <a:solidFill>
                  <a:srgbClr val="273239"/>
                </a:solidFill>
                <a:effectLst/>
                <a:latin typeface="Nunito" pitchFamily="2" charset="0"/>
              </a:rPr>
              <a:t>difference between heights </a:t>
            </a:r>
            <a:r>
              <a:rPr lang="en-US" sz="3200" b="0" i="0" dirty="0">
                <a:solidFill>
                  <a:srgbClr val="273239"/>
                </a:solidFill>
                <a:effectLst/>
                <a:latin typeface="Nunito" pitchFamily="2" charset="0"/>
              </a:rPr>
              <a:t>of left and right subtrees at any node is at most 1.</a:t>
            </a:r>
          </a:p>
        </p:txBody>
      </p:sp>
      <p:pic>
        <p:nvPicPr>
          <p:cNvPr id="2052" name="Picture 4" descr="Balanced Binary Tree or Not - GeeksforGeeks">
            <a:extLst>
              <a:ext uri="{FF2B5EF4-FFF2-40B4-BE49-F238E27FC236}">
                <a16:creationId xmlns:a16="http://schemas.microsoft.com/office/drawing/2014/main" id="{628E8879-11D3-2EA4-DBEA-440D9E7B2E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2514600"/>
            <a:ext cx="6400800" cy="35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1019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p:txBody>
          <a:body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pic>
        <p:nvPicPr>
          <p:cNvPr id="3" name="Picture 2">
            <a:extLst>
              <a:ext uri="{FF2B5EF4-FFF2-40B4-BE49-F238E27FC236}">
                <a16:creationId xmlns:a16="http://schemas.microsoft.com/office/drawing/2014/main" id="{35936A17-6ED0-7032-D1C4-DABFB29844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2500" r="12500"/>
          <a:stretch/>
        </p:blipFill>
        <p:spPr bwMode="auto">
          <a:xfrm>
            <a:off x="76200" y="1827574"/>
            <a:ext cx="8915400" cy="35021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9955CB8-75F4-C801-7FCC-40ED3C55E1E6}"/>
              </a:ext>
            </a:extLst>
          </p:cNvPr>
          <p:cNvSpPr txBox="1"/>
          <p:nvPr/>
        </p:nvSpPr>
        <p:spPr>
          <a:xfrm>
            <a:off x="495300" y="457200"/>
            <a:ext cx="8077200" cy="769441"/>
          </a:xfrm>
          <a:prstGeom prst="rect">
            <a:avLst/>
          </a:prstGeom>
          <a:noFill/>
        </p:spPr>
        <p:txBody>
          <a:bodyPr wrap="square">
            <a:spAutoFit/>
          </a:bodyPr>
          <a:lstStyle/>
          <a:p>
            <a:pPr algn="ctr" rtl="0" fontAlgn="base"/>
            <a:r>
              <a:rPr lang="en-US" sz="4400" b="1" i="0" dirty="0">
                <a:solidFill>
                  <a:srgbClr val="273239"/>
                </a:solidFill>
                <a:effectLst/>
                <a:latin typeface="Nunito" pitchFamily="2" charset="0"/>
              </a:rPr>
              <a:t>Types of Binary Trees</a:t>
            </a:r>
          </a:p>
        </p:txBody>
      </p:sp>
    </p:spTree>
    <p:extLst>
      <p:ext uri="{BB962C8B-B14F-4D97-AF65-F5344CB8AC3E}">
        <p14:creationId xmlns:p14="http://schemas.microsoft.com/office/powerpoint/2010/main" val="16518024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1371600" y="1066800"/>
            <a:ext cx="6324600" cy="4114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762000" y="609600"/>
            <a:ext cx="7467600" cy="762000"/>
          </a:xfrm>
          <a:prstGeom prst="rect">
            <a:avLst/>
          </a:prstGeom>
        </p:spPr>
        <p:txBody>
          <a:bodyPr wrap="none" fromWordArt="1">
            <a:prstTxWarp prst="textPlain">
              <a:avLst>
                <a:gd name="adj" fmla="val 50000"/>
              </a:avLst>
            </a:prstTxWarp>
          </a:bodyPr>
          <a:lstStyle/>
          <a:p>
            <a:pPr algn="ctr"/>
            <a:r>
              <a:rPr lang="en-US" sz="14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Search Tree</a:t>
            </a:r>
          </a:p>
        </p:txBody>
      </p:sp>
      <p:sp>
        <p:nvSpPr>
          <p:cNvPr id="2" name="Rectangle 1">
            <a:extLst>
              <a:ext uri="{FF2B5EF4-FFF2-40B4-BE49-F238E27FC236}">
                <a16:creationId xmlns:a16="http://schemas.microsoft.com/office/drawing/2014/main" id="{47A81B6B-8ADF-4D60-881D-2F17C8C3CC13}"/>
              </a:ext>
            </a:extLst>
          </p:cNvPr>
          <p:cNvSpPr/>
          <p:nvPr/>
        </p:nvSpPr>
        <p:spPr>
          <a:xfrm>
            <a:off x="457200" y="2057400"/>
            <a:ext cx="8382000" cy="4031873"/>
          </a:xfrm>
          <a:prstGeom prst="rect">
            <a:avLst/>
          </a:prstGeom>
        </p:spPr>
        <p:txBody>
          <a:bodyPr wrap="square">
            <a:spAutoFit/>
          </a:bodyPr>
          <a:lstStyle/>
          <a:p>
            <a:pPr>
              <a:spcAft>
                <a:spcPts val="2400"/>
              </a:spcAft>
            </a:pPr>
            <a:r>
              <a:rPr lang="en-US" sz="3600" dirty="0"/>
              <a:t>a binary tree in which:</a:t>
            </a:r>
          </a:p>
          <a:p>
            <a:pPr marL="461963" indent="-461963">
              <a:spcAft>
                <a:spcPts val="1200"/>
              </a:spcAft>
              <a:buFont typeface="Arial" panose="020B0604020202020204" pitchFamily="34" charset="0"/>
              <a:buChar char="•"/>
            </a:pPr>
            <a:r>
              <a:rPr lang="en-US" sz="3600" dirty="0"/>
              <a:t>there are </a:t>
            </a:r>
            <a:r>
              <a:rPr lang="en-US" sz="3600" b="1" dirty="0"/>
              <a:t>no duplicate </a:t>
            </a:r>
            <a:r>
              <a:rPr lang="en-US" sz="3600" dirty="0"/>
              <a:t>values</a:t>
            </a:r>
          </a:p>
          <a:p>
            <a:pPr marL="457200" indent="-457200">
              <a:spcAft>
                <a:spcPts val="1200"/>
              </a:spcAft>
              <a:buFont typeface="Arial" panose="020B0604020202020204" pitchFamily="34" charset="0"/>
              <a:buChar char="•"/>
            </a:pPr>
            <a:r>
              <a:rPr lang="en-US" sz="3600" dirty="0"/>
              <a:t>every</a:t>
            </a:r>
            <a:r>
              <a:rPr lang="en-US" sz="3600" dirty="0">
                <a:solidFill>
                  <a:srgbClr val="C00000"/>
                </a:solidFill>
              </a:rPr>
              <a:t> left</a:t>
            </a:r>
            <a:r>
              <a:rPr lang="en-US" sz="3600" dirty="0"/>
              <a:t> child’s data is </a:t>
            </a:r>
            <a:r>
              <a:rPr lang="en-US" sz="3600" dirty="0">
                <a:solidFill>
                  <a:srgbClr val="C00000"/>
                </a:solidFill>
              </a:rPr>
              <a:t>less</a:t>
            </a:r>
            <a:r>
              <a:rPr lang="en-US" sz="3600" dirty="0"/>
              <a:t> than </a:t>
            </a:r>
            <a:br>
              <a:rPr lang="en-US" sz="3600" dirty="0"/>
            </a:br>
            <a:r>
              <a:rPr lang="en-US" sz="3600" dirty="0"/>
              <a:t>the data in its parent</a:t>
            </a:r>
          </a:p>
          <a:p>
            <a:pPr marL="457200" indent="-457200">
              <a:spcAft>
                <a:spcPts val="1200"/>
              </a:spcAft>
              <a:buFont typeface="Arial" panose="020B0604020202020204" pitchFamily="34" charset="0"/>
              <a:buChar char="•"/>
            </a:pPr>
            <a:r>
              <a:rPr lang="en-US" sz="3600" dirty="0"/>
              <a:t>every</a:t>
            </a:r>
            <a:r>
              <a:rPr lang="en-US" sz="3600" dirty="0">
                <a:solidFill>
                  <a:srgbClr val="C00000"/>
                </a:solidFill>
              </a:rPr>
              <a:t> right</a:t>
            </a:r>
            <a:r>
              <a:rPr lang="en-US" sz="3600" dirty="0"/>
              <a:t> child’s data is </a:t>
            </a:r>
            <a:r>
              <a:rPr lang="en-US" sz="3600" dirty="0">
                <a:solidFill>
                  <a:srgbClr val="C00000"/>
                </a:solidFill>
              </a:rPr>
              <a:t>greater</a:t>
            </a:r>
            <a:r>
              <a:rPr lang="en-US" sz="3600" dirty="0"/>
              <a:t> than the data in its parent</a:t>
            </a:r>
          </a:p>
        </p:txBody>
      </p:sp>
    </p:spTree>
    <p:extLst>
      <p:ext uri="{BB962C8B-B14F-4D97-AF65-F5344CB8AC3E}">
        <p14:creationId xmlns:p14="http://schemas.microsoft.com/office/powerpoint/2010/main" val="15410505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grpSp>
        <p:nvGrpSpPr>
          <p:cNvPr id="2" name="Group 1" descr="In a Binary Search Tree every left child is smaller than the current node and every right child is greater.&#10;&#10;The example is a binary tree with six nodes in three levels:&#10;&#10;- The root node stores 50.&#10;- The 2nd level has two child nodes connected to the 50 node: the 35 node on the left and 70 node on the right.&#10;- The 3rd level has three nodes:&#10;  - The 35 node connects to the 22 node (left) and 41 node (right), which are both leaves.&#10;  - The 70 node connects only has a right child, the 81 node, which is a leaf.&#10;&#10;">
            <a:extLst>
              <a:ext uri="{FF2B5EF4-FFF2-40B4-BE49-F238E27FC236}">
                <a16:creationId xmlns:a16="http://schemas.microsoft.com/office/drawing/2014/main" id="{61C64ADD-4BF5-F9FA-2A9B-1DEEF14A170C}"/>
              </a:ext>
            </a:extLst>
          </p:cNvPr>
          <p:cNvGrpSpPr/>
          <p:nvPr/>
        </p:nvGrpSpPr>
        <p:grpSpPr>
          <a:xfrm>
            <a:off x="381000" y="228600"/>
            <a:ext cx="8369300" cy="6007100"/>
            <a:chOff x="381000" y="228600"/>
            <a:chExt cx="8369300" cy="6007100"/>
          </a:xfrm>
        </p:grpSpPr>
        <p:sp>
          <p:nvSpPr>
            <p:cNvPr id="22531" name="Rectangle 2"/>
            <p:cNvSpPr>
              <a:spLocks noChangeArrowheads="1"/>
            </p:cNvSpPr>
            <p:nvPr/>
          </p:nvSpPr>
          <p:spPr bwMode="auto">
            <a:xfrm>
              <a:off x="3511550" y="7683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2" name="Rectangle 7"/>
            <p:cNvSpPr>
              <a:spLocks noChangeArrowheads="1"/>
            </p:cNvSpPr>
            <p:nvPr/>
          </p:nvSpPr>
          <p:spPr bwMode="auto">
            <a:xfrm>
              <a:off x="1911350" y="28257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3" name="Rectangle 12"/>
            <p:cNvSpPr>
              <a:spLocks noChangeArrowheads="1"/>
            </p:cNvSpPr>
            <p:nvPr/>
          </p:nvSpPr>
          <p:spPr bwMode="auto">
            <a:xfrm>
              <a:off x="5340350" y="29019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4" name="Rectangle 16"/>
            <p:cNvSpPr>
              <a:spLocks noChangeArrowheads="1"/>
            </p:cNvSpPr>
            <p:nvPr/>
          </p:nvSpPr>
          <p:spPr bwMode="auto">
            <a:xfrm>
              <a:off x="4251325" y="8985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50</a:t>
              </a:r>
            </a:p>
          </p:txBody>
        </p:sp>
        <p:sp>
          <p:nvSpPr>
            <p:cNvPr id="22535" name="Rectangle 17"/>
            <p:cNvSpPr>
              <a:spLocks noChangeArrowheads="1"/>
            </p:cNvSpPr>
            <p:nvPr/>
          </p:nvSpPr>
          <p:spPr bwMode="auto">
            <a:xfrm>
              <a:off x="2498725" y="2955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35</a:t>
              </a:r>
            </a:p>
          </p:txBody>
        </p:sp>
        <p:sp>
          <p:nvSpPr>
            <p:cNvPr id="22536" name="Rectangle 18"/>
            <p:cNvSpPr>
              <a:spLocks noChangeArrowheads="1"/>
            </p:cNvSpPr>
            <p:nvPr/>
          </p:nvSpPr>
          <p:spPr bwMode="auto">
            <a:xfrm>
              <a:off x="6080125" y="3032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70</a:t>
              </a:r>
            </a:p>
          </p:txBody>
        </p:sp>
        <p:sp>
          <p:nvSpPr>
            <p:cNvPr id="22537" name="Rectangle 19"/>
            <p:cNvSpPr>
              <a:spLocks noChangeArrowheads="1"/>
            </p:cNvSpPr>
            <p:nvPr/>
          </p:nvSpPr>
          <p:spPr bwMode="auto">
            <a:xfrm>
              <a:off x="6159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8" name="Rectangle 22"/>
            <p:cNvSpPr>
              <a:spLocks noChangeArrowheads="1"/>
            </p:cNvSpPr>
            <p:nvPr/>
          </p:nvSpPr>
          <p:spPr bwMode="auto">
            <a:xfrm>
              <a:off x="1203325" y="4860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22</a:t>
              </a:r>
            </a:p>
          </p:txBody>
        </p:sp>
        <p:sp>
          <p:nvSpPr>
            <p:cNvPr id="22539" name="Rectangle 23"/>
            <p:cNvSpPr>
              <a:spLocks noChangeArrowheads="1"/>
            </p:cNvSpPr>
            <p:nvPr/>
          </p:nvSpPr>
          <p:spPr bwMode="auto">
            <a:xfrm>
              <a:off x="6705600" y="4800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0" name="Rectangle 26"/>
            <p:cNvSpPr>
              <a:spLocks noChangeArrowheads="1"/>
            </p:cNvSpPr>
            <p:nvPr/>
          </p:nvSpPr>
          <p:spPr bwMode="auto">
            <a:xfrm>
              <a:off x="7543800" y="49530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81</a:t>
              </a:r>
            </a:p>
          </p:txBody>
        </p:sp>
        <p:sp>
          <p:nvSpPr>
            <p:cNvPr id="22541" name="Rectangle 27"/>
            <p:cNvSpPr>
              <a:spLocks noChangeArrowheads="1"/>
            </p:cNvSpPr>
            <p:nvPr/>
          </p:nvSpPr>
          <p:spPr bwMode="auto">
            <a:xfrm>
              <a:off x="32067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2" name="Rectangle 30"/>
            <p:cNvSpPr>
              <a:spLocks noChangeArrowheads="1"/>
            </p:cNvSpPr>
            <p:nvPr/>
          </p:nvSpPr>
          <p:spPr bwMode="auto">
            <a:xfrm>
              <a:off x="3870325" y="4937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41</a:t>
              </a:r>
            </a:p>
          </p:txBody>
        </p:sp>
        <p:sp>
          <p:nvSpPr>
            <p:cNvPr id="22543" name="Text Box 32"/>
            <p:cNvSpPr txBox="1">
              <a:spLocks noChangeArrowheads="1"/>
            </p:cNvSpPr>
            <p:nvPr/>
          </p:nvSpPr>
          <p:spPr bwMode="auto">
            <a:xfrm>
              <a:off x="6248400" y="381000"/>
              <a:ext cx="2478088"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left child is </a:t>
              </a:r>
            </a:p>
            <a:p>
              <a:r>
                <a:rPr lang="en-US" sz="2800" b="1"/>
                <a:t>less than the</a:t>
              </a:r>
            </a:p>
            <a:p>
              <a:r>
                <a:rPr lang="en-US" sz="2800" b="1"/>
                <a:t>parent and</a:t>
              </a:r>
            </a:p>
            <a:p>
              <a:r>
                <a:rPr lang="en-US" sz="2800" b="1"/>
                <a:t>right child</a:t>
              </a:r>
            </a:p>
            <a:p>
              <a:r>
                <a:rPr lang="en-US" sz="2800" b="1"/>
                <a:t>is greater</a:t>
              </a:r>
            </a:p>
          </p:txBody>
        </p:sp>
        <p:sp>
          <p:nvSpPr>
            <p:cNvPr id="22544" name="WordArt 33"/>
            <p:cNvSpPr>
              <a:spLocks noChangeArrowheads="1" noChangeShapeType="1" noTextEdit="1"/>
            </p:cNvSpPr>
            <p:nvPr/>
          </p:nvSpPr>
          <p:spPr bwMode="auto">
            <a:xfrm>
              <a:off x="381000" y="304800"/>
              <a:ext cx="2514600" cy="1828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p:txBody>
        </p:sp>
        <p:sp>
          <p:nvSpPr>
            <p:cNvPr id="22545" name="Rectangle 39"/>
            <p:cNvSpPr>
              <a:spLocks noChangeArrowheads="1"/>
            </p:cNvSpPr>
            <p:nvPr/>
          </p:nvSpPr>
          <p:spPr bwMode="auto">
            <a:xfrm>
              <a:off x="3505200" y="1524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6" name="Rectangle 40"/>
            <p:cNvSpPr>
              <a:spLocks noChangeArrowheads="1"/>
            </p:cNvSpPr>
            <p:nvPr/>
          </p:nvSpPr>
          <p:spPr bwMode="auto">
            <a:xfrm>
              <a:off x="4572000" y="1524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7" name="Rectangle 41"/>
            <p:cNvSpPr>
              <a:spLocks noChangeArrowheads="1"/>
            </p:cNvSpPr>
            <p:nvPr/>
          </p:nvSpPr>
          <p:spPr bwMode="auto">
            <a:xfrm>
              <a:off x="1905000" y="35814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8" name="Rectangle 42"/>
            <p:cNvSpPr>
              <a:spLocks noChangeArrowheads="1"/>
            </p:cNvSpPr>
            <p:nvPr/>
          </p:nvSpPr>
          <p:spPr bwMode="auto">
            <a:xfrm>
              <a:off x="2971800" y="35814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9" name="Rectangle 43"/>
            <p:cNvSpPr>
              <a:spLocks noChangeArrowheads="1"/>
            </p:cNvSpPr>
            <p:nvPr/>
          </p:nvSpPr>
          <p:spPr bwMode="auto">
            <a:xfrm>
              <a:off x="5334000" y="3657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0" name="Rectangle 44"/>
            <p:cNvSpPr>
              <a:spLocks noChangeArrowheads="1"/>
            </p:cNvSpPr>
            <p:nvPr/>
          </p:nvSpPr>
          <p:spPr bwMode="auto">
            <a:xfrm>
              <a:off x="6400800" y="3657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1" name="Rectangle 45"/>
            <p:cNvSpPr>
              <a:spLocks noChangeArrowheads="1"/>
            </p:cNvSpPr>
            <p:nvPr/>
          </p:nvSpPr>
          <p:spPr bwMode="auto">
            <a:xfrm>
              <a:off x="32004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2" name="Rectangle 46"/>
            <p:cNvSpPr>
              <a:spLocks noChangeArrowheads="1"/>
            </p:cNvSpPr>
            <p:nvPr/>
          </p:nvSpPr>
          <p:spPr bwMode="auto">
            <a:xfrm>
              <a:off x="42672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3" name="Rectangle 47"/>
            <p:cNvSpPr>
              <a:spLocks noChangeArrowheads="1"/>
            </p:cNvSpPr>
            <p:nvPr/>
          </p:nvSpPr>
          <p:spPr bwMode="auto">
            <a:xfrm>
              <a:off x="609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4" name="Rectangle 48"/>
            <p:cNvSpPr>
              <a:spLocks noChangeArrowheads="1"/>
            </p:cNvSpPr>
            <p:nvPr/>
          </p:nvSpPr>
          <p:spPr bwMode="auto">
            <a:xfrm>
              <a:off x="1676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5" name="Rectangle 49"/>
            <p:cNvSpPr>
              <a:spLocks noChangeArrowheads="1"/>
            </p:cNvSpPr>
            <p:nvPr/>
          </p:nvSpPr>
          <p:spPr bwMode="auto">
            <a:xfrm>
              <a:off x="6705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6" name="Rectangle 50"/>
            <p:cNvSpPr>
              <a:spLocks noChangeArrowheads="1"/>
            </p:cNvSpPr>
            <p:nvPr/>
          </p:nvSpPr>
          <p:spPr bwMode="auto">
            <a:xfrm>
              <a:off x="7772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7" name="Line 51"/>
            <p:cNvSpPr>
              <a:spLocks noChangeShapeType="1"/>
            </p:cNvSpPr>
            <p:nvPr/>
          </p:nvSpPr>
          <p:spPr bwMode="auto">
            <a:xfrm flipH="1">
              <a:off x="16002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8" name="Line 52"/>
            <p:cNvSpPr>
              <a:spLocks noChangeShapeType="1"/>
            </p:cNvSpPr>
            <p:nvPr/>
          </p:nvSpPr>
          <p:spPr bwMode="auto">
            <a:xfrm>
              <a:off x="33528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9" name="Line 53"/>
            <p:cNvSpPr>
              <a:spLocks noChangeShapeType="1"/>
            </p:cNvSpPr>
            <p:nvPr/>
          </p:nvSpPr>
          <p:spPr bwMode="auto">
            <a:xfrm>
              <a:off x="6781800" y="40386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0" name="Line 54"/>
            <p:cNvSpPr>
              <a:spLocks noChangeShapeType="1"/>
            </p:cNvSpPr>
            <p:nvPr/>
          </p:nvSpPr>
          <p:spPr bwMode="auto">
            <a:xfrm>
              <a:off x="4953000" y="19050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1" name="Line 55"/>
            <p:cNvSpPr>
              <a:spLocks noChangeShapeType="1"/>
            </p:cNvSpPr>
            <p:nvPr/>
          </p:nvSpPr>
          <p:spPr bwMode="auto">
            <a:xfrm flipH="1">
              <a:off x="3124200" y="1905000"/>
              <a:ext cx="8382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2" name="Rectangle 56"/>
            <p:cNvSpPr>
              <a:spLocks noChangeArrowheads="1"/>
            </p:cNvSpPr>
            <p:nvPr/>
          </p:nvSpPr>
          <p:spPr bwMode="auto">
            <a:xfrm>
              <a:off x="4038600" y="228600"/>
              <a:ext cx="91916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1"/>
          <p:cNvSpPr>
            <a:spLocks noGrp="1" noChangeArrowheads="1"/>
          </p:cNvSpPr>
          <p:nvPr>
            <p:ph type="title"/>
          </p:nvPr>
        </p:nvSpPr>
        <p:spPr/>
        <p:txBody>
          <a:bodyPr rIns="132080"/>
          <a:lstStyle/>
          <a:p>
            <a:pPr eaLnBrk="1" hangingPunct="1"/>
            <a:r>
              <a:rPr lang="en-US" altLang="en-US">
                <a:ea typeface="MS PGothic" charset="-128"/>
              </a:rPr>
              <a:t>Binary Search Tree (BST)</a:t>
            </a:r>
          </a:p>
        </p:txBody>
      </p:sp>
      <p:sp>
        <p:nvSpPr>
          <p:cNvPr id="49156"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EF8BA64D-7F5B-B843-A352-82B29D8275C7}" type="slidenum">
              <a:rPr lang="en-US" altLang="en-US" sz="1200">
                <a:solidFill>
                  <a:srgbClr val="FFFFFF"/>
                </a:solidFill>
              </a:rPr>
              <a:pPr>
                <a:lnSpc>
                  <a:spcPct val="80000"/>
                </a:lnSpc>
              </a:pPr>
              <a:t>27</a:t>
            </a:fld>
            <a:endParaRPr lang="en-US" altLang="en-US" sz="1200">
              <a:solidFill>
                <a:srgbClr val="FFFFFF"/>
              </a:solidFill>
            </a:endParaRPr>
          </a:p>
        </p:txBody>
      </p:sp>
      <p:sp>
        <p:nvSpPr>
          <p:cNvPr id="41989" name="Rectangle 2"/>
          <p:cNvSpPr>
            <a:spLocks noGrp="1" noChangeArrowheads="1"/>
          </p:cNvSpPr>
          <p:nvPr>
            <p:ph type="body" idx="4294967295"/>
          </p:nvPr>
        </p:nvSpPr>
        <p:spPr>
          <a:xfrm>
            <a:off x="152400" y="1676400"/>
            <a:ext cx="8610600" cy="1993900"/>
          </a:xfrm>
        </p:spPr>
        <p:txBody>
          <a:bodyPr rIns="132080"/>
          <a:lstStyle/>
          <a:p>
            <a:pPr marL="0" indent="0" eaLnBrk="1" hangingPunct="1">
              <a:lnSpc>
                <a:spcPct val="114000"/>
              </a:lnSpc>
              <a:spcBef>
                <a:spcPts val="0"/>
              </a:spcBef>
              <a:buFont typeface="Wingdings" charset="2"/>
              <a:buNone/>
              <a:defRPr/>
            </a:pPr>
            <a:r>
              <a:rPr lang="en-US" altLang="en-US" sz="2800" dirty="0">
                <a:latin typeface="Aptos Black" panose="020B0004020202020204" pitchFamily="34" charset="0"/>
                <a:ea typeface="MS PGothic" charset="-128"/>
              </a:rPr>
              <a:t>In other words, for </a:t>
            </a:r>
            <a:r>
              <a:rPr lang="en-US" altLang="en-US" sz="2800" i="1" dirty="0">
                <a:latin typeface="Aptos Black" panose="020B0004020202020204" pitchFamily="34" charset="0"/>
                <a:ea typeface="MS PGothic" charset="-128"/>
              </a:rPr>
              <a:t>every</a:t>
            </a:r>
            <a:r>
              <a:rPr lang="en-US" altLang="en-US" sz="2800" dirty="0">
                <a:latin typeface="Aptos Black" panose="020B0004020202020204" pitchFamily="34" charset="0"/>
                <a:ea typeface="MS PGothic" charset="-128"/>
              </a:rPr>
              <a:t> node:</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nodes in the </a:t>
            </a:r>
            <a:r>
              <a:rPr lang="en-US" altLang="en-US" sz="2800" dirty="0">
                <a:solidFill>
                  <a:srgbClr val="7030A0"/>
                </a:solidFill>
                <a:latin typeface="Aptos Black" panose="020B0004020202020204" pitchFamily="34" charset="0"/>
                <a:ea typeface="MS PGothic" charset="-128"/>
              </a:rPr>
              <a:t>left</a:t>
            </a:r>
            <a:r>
              <a:rPr lang="en-US" altLang="en-US" sz="2800" dirty="0">
                <a:latin typeface="Aptos Black" panose="020B0004020202020204" pitchFamily="34" charset="0"/>
                <a:ea typeface="MS PGothic" charset="-128"/>
              </a:rPr>
              <a:t> subtree have values that are </a:t>
            </a:r>
            <a:r>
              <a:rPr lang="en-US" altLang="en-US" sz="2800" dirty="0">
                <a:solidFill>
                  <a:srgbClr val="7030A0"/>
                </a:solidFill>
                <a:latin typeface="Aptos Black" panose="020B0004020202020204" pitchFamily="34" charset="0"/>
                <a:ea typeface="MS PGothic" charset="-128"/>
              </a:rPr>
              <a:t>less</a:t>
            </a:r>
            <a:r>
              <a:rPr lang="en-US" altLang="en-US" sz="2800" dirty="0">
                <a:latin typeface="Aptos Black" panose="020B0004020202020204" pitchFamily="34" charset="0"/>
                <a:ea typeface="MS PGothic" charset="-128"/>
              </a:rPr>
              <a:t> than the value in that node, and</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values in the </a:t>
            </a:r>
            <a:r>
              <a:rPr lang="en-US" altLang="en-US" sz="2800" dirty="0">
                <a:solidFill>
                  <a:srgbClr val="7030A0"/>
                </a:solidFill>
                <a:latin typeface="Aptos Black" panose="020B0004020202020204" pitchFamily="34" charset="0"/>
                <a:ea typeface="MS PGothic" charset="-128"/>
              </a:rPr>
              <a:t>right</a:t>
            </a:r>
            <a:r>
              <a:rPr lang="en-US" altLang="en-US" sz="2800" dirty="0">
                <a:latin typeface="Aptos Black" panose="020B0004020202020204" pitchFamily="34" charset="0"/>
                <a:ea typeface="MS PGothic" charset="-128"/>
              </a:rPr>
              <a:t> subtree are </a:t>
            </a:r>
            <a:r>
              <a:rPr lang="en-US" altLang="en-US" sz="2800" dirty="0">
                <a:solidFill>
                  <a:srgbClr val="7030A0"/>
                </a:solidFill>
                <a:latin typeface="Aptos Black" panose="020B0004020202020204" pitchFamily="34" charset="0"/>
                <a:ea typeface="MS PGothic" charset="-128"/>
              </a:rPr>
              <a:t>greater</a:t>
            </a:r>
            <a:r>
              <a:rPr lang="en-US" altLang="en-US" sz="2800" dirty="0">
                <a:latin typeface="Aptos Black" panose="020B0004020202020204" pitchFamily="34" charset="0"/>
                <a:ea typeface="MS PGothic" charset="-128"/>
              </a:rPr>
              <a:t>.</a:t>
            </a:r>
          </a:p>
        </p:txBody>
      </p:sp>
      <p:grpSp>
        <p:nvGrpSpPr>
          <p:cNvPr id="2" name="Group 1" descr="A perfect binary tree with three levels is shown:&#10;Level 0: 5&#10;Level 1: 2 (left of the 5), 8 (right of the 5)&#10;Level 2: 0 (left of the 2), 3 (right of the 2), 7 (left of the 8), and 9 (right of the 8)&#10;All values left of the root are less than five and all values to the right are greater than five.">
            <a:extLst>
              <a:ext uri="{FF2B5EF4-FFF2-40B4-BE49-F238E27FC236}">
                <a16:creationId xmlns:a16="http://schemas.microsoft.com/office/drawing/2014/main" id="{122192E8-B957-7BBB-749F-C17BECBE5D90}"/>
              </a:ext>
            </a:extLst>
          </p:cNvPr>
          <p:cNvGrpSpPr/>
          <p:nvPr/>
        </p:nvGrpSpPr>
        <p:grpSpPr>
          <a:xfrm>
            <a:off x="1752600" y="4114800"/>
            <a:ext cx="5102884" cy="2339973"/>
            <a:chOff x="1752600" y="4114800"/>
            <a:chExt cx="5102884" cy="2339973"/>
          </a:xfrm>
        </p:grpSpPr>
        <p:grpSp>
          <p:nvGrpSpPr>
            <p:cNvPr id="4" name="Group 3"/>
            <p:cNvGrpSpPr>
              <a:grpSpLocks/>
            </p:cNvGrpSpPr>
            <p:nvPr/>
          </p:nvGrpSpPr>
          <p:grpSpPr bwMode="auto">
            <a:xfrm>
              <a:off x="4369074" y="4756340"/>
              <a:ext cx="2486410" cy="1659368"/>
              <a:chOff x="4394200" y="4165579"/>
              <a:chExt cx="1918775" cy="1281632"/>
            </a:xfrm>
          </p:grpSpPr>
          <p:sp>
            <p:nvSpPr>
              <p:cNvPr id="30" name="Rounded Rectangle 29"/>
              <p:cNvSpPr/>
              <p:nvPr/>
            </p:nvSpPr>
            <p:spPr>
              <a:xfrm>
                <a:off x="4394200" y="4165579"/>
                <a:ext cx="1674066" cy="1281632"/>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3" name="TextBox 27"/>
              <p:cNvSpPr txBox="1">
                <a:spLocks noChangeArrowheads="1"/>
              </p:cNvSpPr>
              <p:nvPr/>
            </p:nvSpPr>
            <p:spPr bwMode="auto">
              <a:xfrm>
                <a:off x="5752346" y="4440018"/>
                <a:ext cx="560629" cy="4516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&gt; 5</a:t>
                </a:r>
              </a:p>
            </p:txBody>
          </p:sp>
        </p:grpSp>
        <p:grpSp>
          <p:nvGrpSpPr>
            <p:cNvPr id="5" name="Group 4"/>
            <p:cNvGrpSpPr>
              <a:grpSpLocks/>
            </p:cNvGrpSpPr>
            <p:nvPr/>
          </p:nvGrpSpPr>
          <p:grpSpPr bwMode="auto">
            <a:xfrm>
              <a:off x="1752600" y="4795406"/>
              <a:ext cx="2550675" cy="1659367"/>
              <a:chOff x="2374966" y="4195248"/>
              <a:chExt cx="1968434" cy="1281577"/>
            </a:xfrm>
          </p:grpSpPr>
          <p:sp>
            <p:nvSpPr>
              <p:cNvPr id="3" name="Rounded Rectangle 2"/>
              <p:cNvSpPr/>
              <p:nvPr/>
            </p:nvSpPr>
            <p:spPr>
              <a:xfrm>
                <a:off x="2669278" y="4195248"/>
                <a:ext cx="1674122" cy="1281577"/>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1" name="TextBox 1"/>
              <p:cNvSpPr txBox="1">
                <a:spLocks noChangeArrowheads="1"/>
              </p:cNvSpPr>
              <p:nvPr/>
            </p:nvSpPr>
            <p:spPr bwMode="auto">
              <a:xfrm>
                <a:off x="2374966" y="4369735"/>
                <a:ext cx="560648" cy="45163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&lt; 5</a:t>
                </a:r>
              </a:p>
            </p:txBody>
          </p:sp>
        </p:grpSp>
        <p:grpSp>
          <p:nvGrpSpPr>
            <p:cNvPr id="49158" name="Group 3"/>
            <p:cNvGrpSpPr>
              <a:grpSpLocks/>
            </p:cNvGrpSpPr>
            <p:nvPr/>
          </p:nvGrpSpPr>
          <p:grpSpPr bwMode="auto">
            <a:xfrm>
              <a:off x="2526704" y="4114800"/>
              <a:ext cx="3544919" cy="2171366"/>
              <a:chOff x="0" y="0"/>
              <a:chExt cx="1724" cy="1056"/>
            </a:xfrm>
          </p:grpSpPr>
          <p:sp>
            <p:nvSpPr>
              <p:cNvPr id="49160" name="Oval 4"/>
              <p:cNvSpPr>
                <a:spLocks/>
              </p:cNvSpPr>
              <p:nvPr/>
            </p:nvSpPr>
            <p:spPr bwMode="auto">
              <a:xfrm>
                <a:off x="306" y="423"/>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1" name="Oval 5"/>
              <p:cNvSpPr>
                <a:spLocks/>
              </p:cNvSpPr>
              <p:nvPr/>
            </p:nvSpPr>
            <p:spPr bwMode="auto">
              <a:xfrm>
                <a:off x="0"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2" name="Oval 6"/>
              <p:cNvSpPr>
                <a:spLocks/>
              </p:cNvSpPr>
              <p:nvPr/>
            </p:nvSpPr>
            <p:spPr bwMode="auto">
              <a:xfrm>
                <a:off x="588"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3" name="Rectangle 7"/>
              <p:cNvSpPr>
                <a:spLocks/>
              </p:cNvSpPr>
              <p:nvPr/>
            </p:nvSpPr>
            <p:spPr bwMode="auto">
              <a:xfrm>
                <a:off x="353"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2</a:t>
                </a:r>
              </a:p>
            </p:txBody>
          </p:sp>
          <p:sp>
            <p:nvSpPr>
              <p:cNvPr id="49164" name="Rectangle 8"/>
              <p:cNvSpPr>
                <a:spLocks/>
              </p:cNvSpPr>
              <p:nvPr/>
            </p:nvSpPr>
            <p:spPr bwMode="auto">
              <a:xfrm>
                <a:off x="47" y="840"/>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0</a:t>
                </a:r>
              </a:p>
            </p:txBody>
          </p:sp>
          <p:sp>
            <p:nvSpPr>
              <p:cNvPr id="49165" name="Rectangle 9"/>
              <p:cNvSpPr>
                <a:spLocks/>
              </p:cNvSpPr>
              <p:nvPr/>
            </p:nvSpPr>
            <p:spPr bwMode="auto">
              <a:xfrm>
                <a:off x="649"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3</a:t>
                </a:r>
              </a:p>
            </p:txBody>
          </p:sp>
          <p:sp>
            <p:nvSpPr>
              <p:cNvPr id="49166" name="Line 10"/>
              <p:cNvSpPr>
                <a:spLocks noChangeShapeType="1"/>
              </p:cNvSpPr>
              <p:nvPr/>
            </p:nvSpPr>
            <p:spPr bwMode="auto">
              <a:xfrm flipH="1">
                <a:off x="192" y="615"/>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7" name="Line 11"/>
              <p:cNvSpPr>
                <a:spLocks noChangeShapeType="1"/>
              </p:cNvSpPr>
              <p:nvPr/>
            </p:nvSpPr>
            <p:spPr bwMode="auto">
              <a:xfrm>
                <a:off x="510" y="627"/>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8" name="Oval 12"/>
              <p:cNvSpPr>
                <a:spLocks/>
              </p:cNvSpPr>
              <p:nvPr/>
            </p:nvSpPr>
            <p:spPr bwMode="auto">
              <a:xfrm>
                <a:off x="1202" y="432"/>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9" name="Oval 13"/>
              <p:cNvSpPr>
                <a:spLocks/>
              </p:cNvSpPr>
              <p:nvPr/>
            </p:nvSpPr>
            <p:spPr bwMode="auto">
              <a:xfrm>
                <a:off x="896"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0" name="Oval 14"/>
              <p:cNvSpPr>
                <a:spLocks/>
              </p:cNvSpPr>
              <p:nvPr/>
            </p:nvSpPr>
            <p:spPr bwMode="auto">
              <a:xfrm>
                <a:off x="1484"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1" name="Rectangle 15"/>
              <p:cNvSpPr>
                <a:spLocks/>
              </p:cNvSpPr>
              <p:nvPr/>
            </p:nvSpPr>
            <p:spPr bwMode="auto">
              <a:xfrm>
                <a:off x="974"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a:solidFill>
                      <a:schemeClr val="tx1"/>
                    </a:solidFill>
                    <a:latin typeface="Arial" charset="0"/>
                    <a:sym typeface="Arial" charset="0"/>
                  </a:rPr>
                  <a:t>7</a:t>
                </a:r>
              </a:p>
            </p:txBody>
          </p:sp>
          <p:sp>
            <p:nvSpPr>
              <p:cNvPr id="49172" name="Rectangle 16"/>
              <p:cNvSpPr>
                <a:spLocks/>
              </p:cNvSpPr>
              <p:nvPr/>
            </p:nvSpPr>
            <p:spPr bwMode="auto">
              <a:xfrm>
                <a:off x="1541" y="858"/>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9</a:t>
                </a:r>
              </a:p>
            </p:txBody>
          </p:sp>
          <p:sp>
            <p:nvSpPr>
              <p:cNvPr id="49173" name="Line 17"/>
              <p:cNvSpPr>
                <a:spLocks noChangeShapeType="1"/>
              </p:cNvSpPr>
              <p:nvPr/>
            </p:nvSpPr>
            <p:spPr bwMode="auto">
              <a:xfrm flipH="1">
                <a:off x="1088" y="624"/>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4" name="Line 18"/>
              <p:cNvSpPr>
                <a:spLocks noChangeShapeType="1"/>
              </p:cNvSpPr>
              <p:nvPr/>
            </p:nvSpPr>
            <p:spPr bwMode="auto">
              <a:xfrm>
                <a:off x="1406" y="636"/>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5" name="Oval 19"/>
              <p:cNvSpPr>
                <a:spLocks/>
              </p:cNvSpPr>
              <p:nvPr/>
            </p:nvSpPr>
            <p:spPr bwMode="auto">
              <a:xfrm>
                <a:off x="704" y="0"/>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6" name="Line 20"/>
              <p:cNvSpPr>
                <a:spLocks noChangeShapeType="1"/>
              </p:cNvSpPr>
              <p:nvPr/>
            </p:nvSpPr>
            <p:spPr bwMode="auto">
              <a:xfrm flipH="1">
                <a:off x="494" y="192"/>
                <a:ext cx="240"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7" name="Line 21"/>
              <p:cNvSpPr>
                <a:spLocks noChangeShapeType="1"/>
              </p:cNvSpPr>
              <p:nvPr/>
            </p:nvSpPr>
            <p:spPr bwMode="auto">
              <a:xfrm>
                <a:off x="926" y="191"/>
                <a:ext cx="336" cy="241"/>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8" name="Rectangle 22"/>
              <p:cNvSpPr>
                <a:spLocks/>
              </p:cNvSpPr>
              <p:nvPr/>
            </p:nvSpPr>
            <p:spPr bwMode="auto">
              <a:xfrm>
                <a:off x="760" y="33"/>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5</a:t>
                </a:r>
              </a:p>
            </p:txBody>
          </p:sp>
          <p:sp>
            <p:nvSpPr>
              <p:cNvPr id="49179" name="Rectangle 23"/>
              <p:cNvSpPr>
                <a:spLocks/>
              </p:cNvSpPr>
              <p:nvPr/>
            </p:nvSpPr>
            <p:spPr bwMode="auto">
              <a:xfrm>
                <a:off x="1254"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8</a:t>
                </a:r>
              </a:p>
            </p:txBody>
          </p:sp>
        </p:grpSp>
      </p:grpSp>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a:extLst>
              <a:ext uri="{FF2B5EF4-FFF2-40B4-BE49-F238E27FC236}">
                <a16:creationId xmlns:a16="http://schemas.microsoft.com/office/drawing/2014/main" id="{6C7216F2-7527-0C4B-8378-80FD7173F858}"/>
              </a:ext>
            </a:extLst>
          </p:cNvPr>
          <p:cNvSpPr>
            <a:spLocks noGrp="1" noChangeArrowheads="1"/>
          </p:cNvSpPr>
          <p:nvPr>
            <p:ph type="body" idx="1"/>
          </p:nvPr>
        </p:nvSpPr>
        <p:spPr>
          <a:xfrm>
            <a:off x="152400" y="316707"/>
            <a:ext cx="8839200" cy="621506"/>
          </a:xfrm>
        </p:spPr>
        <p:txBody>
          <a:bodyPr/>
          <a:lstStyle/>
          <a:p>
            <a:pPr marL="0" indent="0" algn="ctr" eaLnBrk="1" hangingPunct="1">
              <a:buNone/>
            </a:pPr>
            <a:r>
              <a:rPr lang="en-US" altLang="en-US" sz="2800" dirty="0">
                <a:latin typeface="Abadi" panose="020B0604020104020204" pitchFamily="34" charset="0"/>
                <a:ea typeface="ＭＳ Ｐゴシック" panose="020B0600070205080204" pitchFamily="34" charset="-128"/>
              </a:rPr>
              <a:t>Which of the trees shown are legal binary search trees?</a:t>
            </a:r>
          </a:p>
        </p:txBody>
      </p:sp>
      <p:grpSp>
        <p:nvGrpSpPr>
          <p:cNvPr id="7171" name="Group 58" descr="Is this a binary search tree?&#10;Level 0: m&#10;Level 1: g (left of m), q (right of m)&#10;Level 2: b (left of g), k (left of q), x (right of q)&#10;Level 3: e (right of b)&#10;&#10;No because k is in the right subtree of m, but is smaller than m.">
            <a:extLst>
              <a:ext uri="{FF2B5EF4-FFF2-40B4-BE49-F238E27FC236}">
                <a16:creationId xmlns:a16="http://schemas.microsoft.com/office/drawing/2014/main" id="{8D3A886A-D931-FC41-9733-5528E5507CE4}"/>
              </a:ext>
            </a:extLst>
          </p:cNvPr>
          <p:cNvGrpSpPr>
            <a:grpSpLocks/>
          </p:cNvGrpSpPr>
          <p:nvPr/>
        </p:nvGrpSpPr>
        <p:grpSpPr bwMode="auto">
          <a:xfrm>
            <a:off x="105543" y="1280562"/>
            <a:ext cx="3200400" cy="3163887"/>
            <a:chOff x="48" y="1175"/>
            <a:chExt cx="2016" cy="1993"/>
          </a:xfrm>
        </p:grpSpPr>
        <p:sp>
          <p:nvSpPr>
            <p:cNvPr id="367621" name="Oval 5">
              <a:extLst>
                <a:ext uri="{FF2B5EF4-FFF2-40B4-BE49-F238E27FC236}">
                  <a16:creationId xmlns:a16="http://schemas.microsoft.com/office/drawing/2014/main" id="{E1F8984A-A3E6-954C-890E-D4C1647B4563}"/>
                </a:ext>
              </a:extLst>
            </p:cNvPr>
            <p:cNvSpPr>
              <a:spLocks noChangeAspect="1" noChangeArrowheads="1"/>
            </p:cNvSpPr>
            <p:nvPr/>
          </p:nvSpPr>
          <p:spPr bwMode="auto">
            <a:xfrm>
              <a:off x="1742" y="231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x</a:t>
              </a:r>
            </a:p>
          </p:txBody>
        </p:sp>
        <p:sp>
          <p:nvSpPr>
            <p:cNvPr id="367622" name="Oval 6">
              <a:extLst>
                <a:ext uri="{FF2B5EF4-FFF2-40B4-BE49-F238E27FC236}">
                  <a16:creationId xmlns:a16="http://schemas.microsoft.com/office/drawing/2014/main" id="{15353E93-5A63-7C42-B9B8-576E31DD3759}"/>
                </a:ext>
              </a:extLst>
            </p:cNvPr>
            <p:cNvSpPr>
              <a:spLocks noChangeAspect="1" noChangeArrowheads="1"/>
            </p:cNvSpPr>
            <p:nvPr/>
          </p:nvSpPr>
          <p:spPr bwMode="auto">
            <a:xfrm>
              <a:off x="1207"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k</a:t>
              </a:r>
            </a:p>
          </p:txBody>
        </p:sp>
        <p:sp>
          <p:nvSpPr>
            <p:cNvPr id="367623" name="Oval 7">
              <a:extLst>
                <a:ext uri="{FF2B5EF4-FFF2-40B4-BE49-F238E27FC236}">
                  <a16:creationId xmlns:a16="http://schemas.microsoft.com/office/drawing/2014/main" id="{72764BFD-D628-AD4E-86C6-EB59806F03ED}"/>
                </a:ext>
              </a:extLst>
            </p:cNvPr>
            <p:cNvSpPr>
              <a:spLocks noChangeAspect="1" noChangeArrowheads="1"/>
            </p:cNvSpPr>
            <p:nvPr/>
          </p:nvSpPr>
          <p:spPr bwMode="auto">
            <a:xfrm>
              <a:off x="1469" y="1709"/>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q</a:t>
              </a:r>
            </a:p>
          </p:txBody>
        </p:sp>
        <p:sp>
          <p:nvSpPr>
            <p:cNvPr id="367624" name="Oval 8">
              <a:extLst>
                <a:ext uri="{FF2B5EF4-FFF2-40B4-BE49-F238E27FC236}">
                  <a16:creationId xmlns:a16="http://schemas.microsoft.com/office/drawing/2014/main" id="{6A4AE6B5-F18C-BA40-B827-338D9456F8EE}"/>
                </a:ext>
              </a:extLst>
            </p:cNvPr>
            <p:cNvSpPr>
              <a:spLocks noChangeAspect="1" noChangeArrowheads="1"/>
            </p:cNvSpPr>
            <p:nvPr/>
          </p:nvSpPr>
          <p:spPr bwMode="auto">
            <a:xfrm>
              <a:off x="306" y="1709"/>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g</a:t>
              </a:r>
            </a:p>
          </p:txBody>
        </p:sp>
        <p:sp>
          <p:nvSpPr>
            <p:cNvPr id="367625" name="Oval 9">
              <a:extLst>
                <a:ext uri="{FF2B5EF4-FFF2-40B4-BE49-F238E27FC236}">
                  <a16:creationId xmlns:a16="http://schemas.microsoft.com/office/drawing/2014/main" id="{9466345C-8A39-6F43-A73F-8BD98437BC62}"/>
                </a:ext>
              </a:extLst>
            </p:cNvPr>
            <p:cNvSpPr>
              <a:spLocks noChangeAspect="1" noChangeArrowheads="1"/>
            </p:cNvSpPr>
            <p:nvPr/>
          </p:nvSpPr>
          <p:spPr bwMode="auto">
            <a:xfrm>
              <a:off x="888" y="1175"/>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m</a:t>
              </a:r>
            </a:p>
          </p:txBody>
        </p:sp>
        <p:cxnSp>
          <p:nvCxnSpPr>
            <p:cNvPr id="7223" name="AutoShape 10">
              <a:extLst>
                <a:ext uri="{FF2B5EF4-FFF2-40B4-BE49-F238E27FC236}">
                  <a16:creationId xmlns:a16="http://schemas.microsoft.com/office/drawing/2014/main" id="{AF479319-5B7E-6843-95B6-66332F96236B}"/>
                </a:ext>
              </a:extLst>
            </p:cNvPr>
            <p:cNvCxnSpPr>
              <a:cxnSpLocks noChangeShapeType="1"/>
              <a:stCxn id="367625" idx="3"/>
              <a:endCxn id="367624" idx="0"/>
            </p:cNvCxnSpPr>
            <p:nvPr/>
          </p:nvCxnSpPr>
          <p:spPr bwMode="auto">
            <a:xfrm flipH="1">
              <a:off x="468"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4" name="AutoShape 11">
              <a:extLst>
                <a:ext uri="{FF2B5EF4-FFF2-40B4-BE49-F238E27FC236}">
                  <a16:creationId xmlns:a16="http://schemas.microsoft.com/office/drawing/2014/main" id="{900894B3-7C43-3344-BE4D-1CAEBB16F0EA}"/>
                </a:ext>
              </a:extLst>
            </p:cNvPr>
            <p:cNvCxnSpPr>
              <a:cxnSpLocks noChangeShapeType="1"/>
              <a:stCxn id="367625" idx="5"/>
              <a:endCxn id="367623" idx="0"/>
            </p:cNvCxnSpPr>
            <p:nvPr/>
          </p:nvCxnSpPr>
          <p:spPr bwMode="auto">
            <a:xfrm>
              <a:off x="1163"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5" name="AutoShape 12">
              <a:extLst>
                <a:ext uri="{FF2B5EF4-FFF2-40B4-BE49-F238E27FC236}">
                  <a16:creationId xmlns:a16="http://schemas.microsoft.com/office/drawing/2014/main" id="{E4D17C1E-7927-5D4A-8FF0-74203AE8C320}"/>
                </a:ext>
              </a:extLst>
            </p:cNvPr>
            <p:cNvCxnSpPr>
              <a:cxnSpLocks noChangeShapeType="1"/>
              <a:stCxn id="367623" idx="3"/>
              <a:endCxn id="367622" idx="0"/>
            </p:cNvCxnSpPr>
            <p:nvPr/>
          </p:nvCxnSpPr>
          <p:spPr bwMode="auto">
            <a:xfrm flipH="1">
              <a:off x="1369" y="2006"/>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6" name="AutoShape 13">
              <a:extLst>
                <a:ext uri="{FF2B5EF4-FFF2-40B4-BE49-F238E27FC236}">
                  <a16:creationId xmlns:a16="http://schemas.microsoft.com/office/drawing/2014/main" id="{FE2358C8-6DFA-D847-883D-0BE3AEA8F1FB}"/>
                </a:ext>
              </a:extLst>
            </p:cNvPr>
            <p:cNvCxnSpPr>
              <a:cxnSpLocks noChangeShapeType="1"/>
              <a:stCxn id="367623" idx="5"/>
              <a:endCxn id="367621" idx="0"/>
            </p:cNvCxnSpPr>
            <p:nvPr/>
          </p:nvCxnSpPr>
          <p:spPr bwMode="auto">
            <a:xfrm>
              <a:off x="1745" y="2006"/>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30" name="Oval 14">
              <a:extLst>
                <a:ext uri="{FF2B5EF4-FFF2-40B4-BE49-F238E27FC236}">
                  <a16:creationId xmlns:a16="http://schemas.microsoft.com/office/drawing/2014/main" id="{9BA50ADF-5E02-1448-9154-2D2E2CB7C6EC}"/>
                </a:ext>
              </a:extLst>
            </p:cNvPr>
            <p:cNvSpPr>
              <a:spLocks noChangeAspect="1" noChangeArrowheads="1"/>
            </p:cNvSpPr>
            <p:nvPr/>
          </p:nvSpPr>
          <p:spPr bwMode="auto">
            <a:xfrm>
              <a:off x="240" y="2835"/>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e</a:t>
              </a:r>
            </a:p>
          </p:txBody>
        </p:sp>
        <p:sp>
          <p:nvSpPr>
            <p:cNvPr id="367631" name="Oval 15">
              <a:extLst>
                <a:ext uri="{FF2B5EF4-FFF2-40B4-BE49-F238E27FC236}">
                  <a16:creationId xmlns:a16="http://schemas.microsoft.com/office/drawing/2014/main" id="{C979D0EE-AA4C-834F-A370-C0712BDCD8B5}"/>
                </a:ext>
              </a:extLst>
            </p:cNvPr>
            <p:cNvSpPr>
              <a:spLocks noChangeAspect="1" noChangeArrowheads="1"/>
            </p:cNvSpPr>
            <p:nvPr/>
          </p:nvSpPr>
          <p:spPr bwMode="auto">
            <a:xfrm>
              <a:off x="48"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b</a:t>
              </a:r>
            </a:p>
          </p:txBody>
        </p:sp>
        <p:cxnSp>
          <p:nvCxnSpPr>
            <p:cNvPr id="7229" name="AutoShape 16">
              <a:extLst>
                <a:ext uri="{FF2B5EF4-FFF2-40B4-BE49-F238E27FC236}">
                  <a16:creationId xmlns:a16="http://schemas.microsoft.com/office/drawing/2014/main" id="{9A4AD5AA-ACEB-4F4D-AD4F-C51D45A3D376}"/>
                </a:ext>
              </a:extLst>
            </p:cNvPr>
            <p:cNvCxnSpPr>
              <a:cxnSpLocks noChangeShapeType="1"/>
              <a:stCxn id="367624" idx="3"/>
              <a:endCxn id="367631" idx="0"/>
            </p:cNvCxnSpPr>
            <p:nvPr/>
          </p:nvCxnSpPr>
          <p:spPr bwMode="auto">
            <a:xfrm flipH="1">
              <a:off x="210" y="2010"/>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30" name="AutoShape 17">
              <a:extLst>
                <a:ext uri="{FF2B5EF4-FFF2-40B4-BE49-F238E27FC236}">
                  <a16:creationId xmlns:a16="http://schemas.microsoft.com/office/drawing/2014/main" id="{FF2B2D25-B33C-2D48-B7EF-1F1F76542D9D}"/>
                </a:ext>
              </a:extLst>
            </p:cNvPr>
            <p:cNvCxnSpPr>
              <a:cxnSpLocks noChangeShapeType="1"/>
              <a:stCxn id="367631" idx="5"/>
              <a:endCxn id="367630" idx="0"/>
            </p:cNvCxnSpPr>
            <p:nvPr/>
          </p:nvCxnSpPr>
          <p:spPr bwMode="auto">
            <a:xfrm>
              <a:off x="324" y="2606"/>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sp>
        <p:nvSpPr>
          <p:cNvPr id="367655" name="Oval 39" descr="Is this a binary search tree?&#10;Level 0: 42&#10;&#10;Yes, because it doesn't break the rules!">
            <a:extLst>
              <a:ext uri="{FF2B5EF4-FFF2-40B4-BE49-F238E27FC236}">
                <a16:creationId xmlns:a16="http://schemas.microsoft.com/office/drawing/2014/main" id="{4452863D-9BB6-A341-BFAF-ABA59B6BD970}"/>
              </a:ext>
            </a:extLst>
          </p:cNvPr>
          <p:cNvSpPr>
            <a:spLocks noChangeAspect="1" noChangeArrowheads="1"/>
          </p:cNvSpPr>
          <p:nvPr/>
        </p:nvSpPr>
        <p:spPr bwMode="auto">
          <a:xfrm>
            <a:off x="7113563" y="1428717"/>
            <a:ext cx="511175" cy="528638"/>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42</a:t>
            </a:r>
          </a:p>
        </p:txBody>
      </p:sp>
      <p:grpSp>
        <p:nvGrpSpPr>
          <p:cNvPr id="7174" name="Group 57" descr="Is this a binary search tree?&#10;Level 0: -5&#10;Level 1: -1 (left of -5), -7 (right of -5)&#10;&#10;No because -1 is left of -5 and if bigger than -5">
            <a:extLst>
              <a:ext uri="{FF2B5EF4-FFF2-40B4-BE49-F238E27FC236}">
                <a16:creationId xmlns:a16="http://schemas.microsoft.com/office/drawing/2014/main" id="{AB01567C-2A47-1642-BF24-7BE5CD7F5AC8}"/>
              </a:ext>
            </a:extLst>
          </p:cNvPr>
          <p:cNvGrpSpPr>
            <a:grpSpLocks/>
          </p:cNvGrpSpPr>
          <p:nvPr/>
        </p:nvGrpSpPr>
        <p:grpSpPr bwMode="auto">
          <a:xfrm>
            <a:off x="4372322" y="1190556"/>
            <a:ext cx="1360488" cy="1482725"/>
            <a:chOff x="864" y="3146"/>
            <a:chExt cx="857" cy="934"/>
          </a:xfrm>
        </p:grpSpPr>
        <p:sp>
          <p:nvSpPr>
            <p:cNvPr id="367656" name="Oval 40">
              <a:extLst>
                <a:ext uri="{FF2B5EF4-FFF2-40B4-BE49-F238E27FC236}">
                  <a16:creationId xmlns:a16="http://schemas.microsoft.com/office/drawing/2014/main" id="{5983C2FE-4A5A-3D44-B876-774852982089}"/>
                </a:ext>
              </a:extLst>
            </p:cNvPr>
            <p:cNvSpPr>
              <a:spLocks noChangeAspect="1" noChangeArrowheads="1"/>
            </p:cNvSpPr>
            <p:nvPr/>
          </p:nvSpPr>
          <p:spPr bwMode="auto">
            <a:xfrm>
              <a:off x="1399" y="374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sp>
          <p:nvSpPr>
            <p:cNvPr id="367657" name="Oval 41">
              <a:extLst>
                <a:ext uri="{FF2B5EF4-FFF2-40B4-BE49-F238E27FC236}">
                  <a16:creationId xmlns:a16="http://schemas.microsoft.com/office/drawing/2014/main" id="{21EC61C8-6A32-C641-8ED8-A8C73D5DEDC4}"/>
                </a:ext>
              </a:extLst>
            </p:cNvPr>
            <p:cNvSpPr>
              <a:spLocks noChangeAspect="1" noChangeArrowheads="1"/>
            </p:cNvSpPr>
            <p:nvPr/>
          </p:nvSpPr>
          <p:spPr bwMode="auto">
            <a:xfrm>
              <a:off x="864" y="374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a:t>
              </a:r>
            </a:p>
          </p:txBody>
        </p:sp>
        <p:sp>
          <p:nvSpPr>
            <p:cNvPr id="367658" name="Oval 42">
              <a:extLst>
                <a:ext uri="{FF2B5EF4-FFF2-40B4-BE49-F238E27FC236}">
                  <a16:creationId xmlns:a16="http://schemas.microsoft.com/office/drawing/2014/main" id="{9D5326F7-7AE8-B04B-A00C-2003C9BAC392}"/>
                </a:ext>
              </a:extLst>
            </p:cNvPr>
            <p:cNvSpPr>
              <a:spLocks noChangeAspect="1" noChangeArrowheads="1"/>
            </p:cNvSpPr>
            <p:nvPr/>
          </p:nvSpPr>
          <p:spPr bwMode="auto">
            <a:xfrm>
              <a:off x="1126" y="314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cxnSp>
          <p:nvCxnSpPr>
            <p:cNvPr id="7197" name="AutoShape 43">
              <a:extLst>
                <a:ext uri="{FF2B5EF4-FFF2-40B4-BE49-F238E27FC236}">
                  <a16:creationId xmlns:a16="http://schemas.microsoft.com/office/drawing/2014/main" id="{33A3D7BF-97D9-4D4F-9DDA-D568D6A41B5F}"/>
                </a:ext>
              </a:extLst>
            </p:cNvPr>
            <p:cNvCxnSpPr>
              <a:cxnSpLocks noChangeShapeType="1"/>
              <a:stCxn id="367658" idx="3"/>
              <a:endCxn id="367657" idx="0"/>
            </p:cNvCxnSpPr>
            <p:nvPr/>
          </p:nvCxnSpPr>
          <p:spPr bwMode="auto">
            <a:xfrm flipH="1">
              <a:off x="1026" y="344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8" name="AutoShape 44">
              <a:extLst>
                <a:ext uri="{FF2B5EF4-FFF2-40B4-BE49-F238E27FC236}">
                  <a16:creationId xmlns:a16="http://schemas.microsoft.com/office/drawing/2014/main" id="{E8E94463-B306-964E-855D-C95C1D810691}"/>
                </a:ext>
              </a:extLst>
            </p:cNvPr>
            <p:cNvCxnSpPr>
              <a:cxnSpLocks noChangeShapeType="1"/>
              <a:stCxn id="367658" idx="5"/>
              <a:endCxn id="367656" idx="0"/>
            </p:cNvCxnSpPr>
            <p:nvPr/>
          </p:nvCxnSpPr>
          <p:spPr bwMode="auto">
            <a:xfrm>
              <a:off x="1402" y="344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5" name="Group 56" descr="Is this a binary search tree?&#10;Level 0: 7.2&#10;Level 1: 1.9 (left of 7.2), 9.6 (right of 7.2)&#10;Level 2: 8.1 (left of 9.6), 21.3 (right of 9.6)&#10;&#10;Yes">
            <a:extLst>
              <a:ext uri="{FF2B5EF4-FFF2-40B4-BE49-F238E27FC236}">
                <a16:creationId xmlns:a16="http://schemas.microsoft.com/office/drawing/2014/main" id="{8039140A-C01F-0E46-9E64-222F504BFC0F}"/>
              </a:ext>
            </a:extLst>
          </p:cNvPr>
          <p:cNvGrpSpPr>
            <a:grpSpLocks/>
          </p:cNvGrpSpPr>
          <p:nvPr/>
        </p:nvGrpSpPr>
        <p:grpSpPr bwMode="auto">
          <a:xfrm>
            <a:off x="6057900" y="3939073"/>
            <a:ext cx="2514600" cy="2330451"/>
            <a:chOff x="2064" y="2640"/>
            <a:chExt cx="1584" cy="1468"/>
          </a:xfrm>
        </p:grpSpPr>
        <p:sp>
          <p:nvSpPr>
            <p:cNvPr id="367661" name="Oval 45">
              <a:extLst>
                <a:ext uri="{FF2B5EF4-FFF2-40B4-BE49-F238E27FC236}">
                  <a16:creationId xmlns:a16="http://schemas.microsoft.com/office/drawing/2014/main" id="{30E0279C-0922-254D-8F50-4ACF856AFEBC}"/>
                </a:ext>
              </a:extLst>
            </p:cNvPr>
            <p:cNvSpPr>
              <a:spLocks noChangeAspect="1" noChangeArrowheads="1"/>
            </p:cNvSpPr>
            <p:nvPr/>
          </p:nvSpPr>
          <p:spPr bwMode="auto">
            <a:xfrm>
              <a:off x="3190" y="3775"/>
              <a:ext cx="458"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21.3</a:t>
              </a:r>
            </a:p>
          </p:txBody>
        </p:sp>
        <p:sp>
          <p:nvSpPr>
            <p:cNvPr id="367662" name="Oval 46">
              <a:extLst>
                <a:ext uri="{FF2B5EF4-FFF2-40B4-BE49-F238E27FC236}">
                  <a16:creationId xmlns:a16="http://schemas.microsoft.com/office/drawing/2014/main" id="{40033236-4148-164D-B6B2-24DDF1C5546A}"/>
                </a:ext>
              </a:extLst>
            </p:cNvPr>
            <p:cNvSpPr>
              <a:spLocks noChangeAspect="1" noChangeArrowheads="1"/>
            </p:cNvSpPr>
            <p:nvPr/>
          </p:nvSpPr>
          <p:spPr bwMode="auto">
            <a:xfrm>
              <a:off x="2604" y="3775"/>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8.1</a:t>
              </a:r>
            </a:p>
          </p:txBody>
        </p:sp>
        <p:sp>
          <p:nvSpPr>
            <p:cNvPr id="367663" name="Oval 47">
              <a:extLst>
                <a:ext uri="{FF2B5EF4-FFF2-40B4-BE49-F238E27FC236}">
                  <a16:creationId xmlns:a16="http://schemas.microsoft.com/office/drawing/2014/main" id="{C7F55743-14F3-A94B-8A81-86A91ACA32A6}"/>
                </a:ext>
              </a:extLst>
            </p:cNvPr>
            <p:cNvSpPr>
              <a:spLocks noChangeAspect="1" noChangeArrowheads="1"/>
            </p:cNvSpPr>
            <p:nvPr/>
          </p:nvSpPr>
          <p:spPr bwMode="auto">
            <a:xfrm>
              <a:off x="2884" y="3174"/>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9.6</a:t>
              </a:r>
            </a:p>
          </p:txBody>
        </p:sp>
        <p:sp>
          <p:nvSpPr>
            <p:cNvPr id="367664" name="Oval 48">
              <a:extLst>
                <a:ext uri="{FF2B5EF4-FFF2-40B4-BE49-F238E27FC236}">
                  <a16:creationId xmlns:a16="http://schemas.microsoft.com/office/drawing/2014/main" id="{56637BE7-9D61-A049-A174-8D280A869523}"/>
                </a:ext>
              </a:extLst>
            </p:cNvPr>
            <p:cNvSpPr>
              <a:spLocks noChangeAspect="1" noChangeArrowheads="1"/>
            </p:cNvSpPr>
            <p:nvPr/>
          </p:nvSpPr>
          <p:spPr bwMode="auto">
            <a:xfrm>
              <a:off x="2064" y="3174"/>
              <a:ext cx="36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1.9</a:t>
              </a:r>
            </a:p>
          </p:txBody>
        </p:sp>
        <p:sp>
          <p:nvSpPr>
            <p:cNvPr id="367665" name="Oval 49">
              <a:extLst>
                <a:ext uri="{FF2B5EF4-FFF2-40B4-BE49-F238E27FC236}">
                  <a16:creationId xmlns:a16="http://schemas.microsoft.com/office/drawing/2014/main" id="{EA19A796-5DC0-7F45-92A2-9110AFBCC1A7}"/>
                </a:ext>
              </a:extLst>
            </p:cNvPr>
            <p:cNvSpPr>
              <a:spLocks noChangeAspect="1" noChangeArrowheads="1"/>
            </p:cNvSpPr>
            <p:nvPr/>
          </p:nvSpPr>
          <p:spPr bwMode="auto">
            <a:xfrm>
              <a:off x="2489" y="2640"/>
              <a:ext cx="361"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7.2</a:t>
              </a:r>
            </a:p>
          </p:txBody>
        </p:sp>
        <p:cxnSp>
          <p:nvCxnSpPr>
            <p:cNvPr id="7190" name="AutoShape 50">
              <a:extLst>
                <a:ext uri="{FF2B5EF4-FFF2-40B4-BE49-F238E27FC236}">
                  <a16:creationId xmlns:a16="http://schemas.microsoft.com/office/drawing/2014/main" id="{D54252E4-E077-114E-BB4B-41E09AD7C7E1}"/>
                </a:ext>
              </a:extLst>
            </p:cNvPr>
            <p:cNvCxnSpPr>
              <a:cxnSpLocks noChangeShapeType="1"/>
              <a:stCxn id="367665" idx="3"/>
              <a:endCxn id="367664" idx="0"/>
            </p:cNvCxnSpPr>
            <p:nvPr/>
          </p:nvCxnSpPr>
          <p:spPr bwMode="auto">
            <a:xfrm flipH="1">
              <a:off x="2246" y="2936"/>
              <a:ext cx="295"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1" name="AutoShape 51">
              <a:extLst>
                <a:ext uri="{FF2B5EF4-FFF2-40B4-BE49-F238E27FC236}">
                  <a16:creationId xmlns:a16="http://schemas.microsoft.com/office/drawing/2014/main" id="{87597D8E-2A84-EC4A-9E08-CCE58B77C320}"/>
                </a:ext>
              </a:extLst>
            </p:cNvPr>
            <p:cNvCxnSpPr>
              <a:cxnSpLocks noChangeShapeType="1"/>
              <a:stCxn id="367665" idx="5"/>
              <a:endCxn id="367663" idx="0"/>
            </p:cNvCxnSpPr>
            <p:nvPr/>
          </p:nvCxnSpPr>
          <p:spPr bwMode="auto">
            <a:xfrm>
              <a:off x="2797" y="2936"/>
              <a:ext cx="269"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2" name="AutoShape 52">
              <a:extLst>
                <a:ext uri="{FF2B5EF4-FFF2-40B4-BE49-F238E27FC236}">
                  <a16:creationId xmlns:a16="http://schemas.microsoft.com/office/drawing/2014/main" id="{C33B5A23-8989-3A40-9B99-40DED676D6E7}"/>
                </a:ext>
              </a:extLst>
            </p:cNvPr>
            <p:cNvCxnSpPr>
              <a:cxnSpLocks noChangeShapeType="1"/>
              <a:stCxn id="367663" idx="3"/>
              <a:endCxn id="367662" idx="0"/>
            </p:cNvCxnSpPr>
            <p:nvPr/>
          </p:nvCxnSpPr>
          <p:spPr bwMode="auto">
            <a:xfrm flipH="1">
              <a:off x="2786" y="3470"/>
              <a:ext cx="151"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3" name="AutoShape 53">
              <a:extLst>
                <a:ext uri="{FF2B5EF4-FFF2-40B4-BE49-F238E27FC236}">
                  <a16:creationId xmlns:a16="http://schemas.microsoft.com/office/drawing/2014/main" id="{CF19DDAB-2DE9-AD4F-A713-ACF62D734C8F}"/>
                </a:ext>
              </a:extLst>
            </p:cNvPr>
            <p:cNvCxnSpPr>
              <a:cxnSpLocks noChangeShapeType="1"/>
              <a:stCxn id="367663" idx="5"/>
              <a:endCxn id="367661" idx="0"/>
            </p:cNvCxnSpPr>
            <p:nvPr/>
          </p:nvCxnSpPr>
          <p:spPr bwMode="auto">
            <a:xfrm>
              <a:off x="3194" y="3470"/>
              <a:ext cx="225"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367677" name="Group 61">
            <a:extLst>
              <a:ext uri="{FF2B5EF4-FFF2-40B4-BE49-F238E27FC236}">
                <a16:creationId xmlns:a16="http://schemas.microsoft.com/office/drawing/2014/main" id="{9D958BD4-AB57-2346-96CE-CB553648C7F1}"/>
              </a:ext>
              <a:ext uri="{C183D7F6-B498-43B3-948B-1728B52AA6E4}">
                <adec:decorative xmlns:adec="http://schemas.microsoft.com/office/drawing/2017/decorative" val="1"/>
              </a:ext>
            </a:extLst>
          </p:cNvPr>
          <p:cNvGrpSpPr>
            <a:grpSpLocks/>
          </p:cNvGrpSpPr>
          <p:nvPr/>
        </p:nvGrpSpPr>
        <p:grpSpPr bwMode="auto">
          <a:xfrm>
            <a:off x="1858143" y="3041099"/>
            <a:ext cx="685800" cy="685800"/>
            <a:chOff x="1152" y="2304"/>
            <a:chExt cx="432" cy="432"/>
          </a:xfrm>
        </p:grpSpPr>
        <p:sp>
          <p:nvSpPr>
            <p:cNvPr id="367675" name="Line 59">
              <a:extLst>
                <a:ext uri="{FF2B5EF4-FFF2-40B4-BE49-F238E27FC236}">
                  <a16:creationId xmlns:a16="http://schemas.microsoft.com/office/drawing/2014/main" id="{360267BC-7038-6F43-80D3-3FED9C3BE858}"/>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76" name="Line 60">
              <a:extLst>
                <a:ext uri="{FF2B5EF4-FFF2-40B4-BE49-F238E27FC236}">
                  <a16:creationId xmlns:a16="http://schemas.microsoft.com/office/drawing/2014/main" id="{99598FE3-7BB9-C047-82B7-B3A82E7B0C6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2" name="Group 1">
            <a:extLst>
              <a:ext uri="{FF2B5EF4-FFF2-40B4-BE49-F238E27FC236}">
                <a16:creationId xmlns:a16="http://schemas.microsoft.com/office/drawing/2014/main" id="{56A390DC-A7DA-4C09-B67E-1F8EF5A285DA}"/>
              </a:ext>
            </a:extLst>
          </p:cNvPr>
          <p:cNvGrpSpPr/>
          <p:nvPr/>
        </p:nvGrpSpPr>
        <p:grpSpPr>
          <a:xfrm>
            <a:off x="4429473" y="2083421"/>
            <a:ext cx="1295400" cy="609600"/>
            <a:chOff x="3429000" y="2743200"/>
            <a:chExt cx="1295400" cy="609600"/>
          </a:xfrm>
        </p:grpSpPr>
        <p:sp>
          <p:nvSpPr>
            <p:cNvPr id="367679" name="Line 63">
              <a:extLst>
                <a:ext uri="{FF2B5EF4-FFF2-40B4-BE49-F238E27FC236}">
                  <a16:creationId xmlns:a16="http://schemas.microsoft.com/office/drawing/2014/main" id="{665B774E-2835-3E4A-B957-A1556649BB6D}"/>
                </a:ext>
              </a:extLst>
            </p:cNvPr>
            <p:cNvSpPr>
              <a:spLocks noChangeShapeType="1"/>
            </p:cNvSpPr>
            <p:nvPr/>
          </p:nvSpPr>
          <p:spPr bwMode="auto">
            <a:xfrm>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0" name="Line 64">
              <a:extLst>
                <a:ext uri="{FF2B5EF4-FFF2-40B4-BE49-F238E27FC236}">
                  <a16:creationId xmlns:a16="http://schemas.microsoft.com/office/drawing/2014/main" id="{CF9D9623-5769-074E-BDE4-B0F6456A546A}"/>
                </a:ext>
              </a:extLst>
            </p:cNvPr>
            <p:cNvSpPr>
              <a:spLocks noChangeShapeType="1"/>
            </p:cNvSpPr>
            <p:nvPr/>
          </p:nvSpPr>
          <p:spPr bwMode="auto">
            <a:xfrm flipV="1">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sp>
        <p:nvSpPr>
          <p:cNvPr id="6" name="TextBox 5">
            <a:extLst>
              <a:ext uri="{FF2B5EF4-FFF2-40B4-BE49-F238E27FC236}">
                <a16:creationId xmlns:a16="http://schemas.microsoft.com/office/drawing/2014/main" id="{1CD6A323-DDAA-4C93-89AC-BAE392C16CCB}"/>
              </a:ext>
              <a:ext uri="{C183D7F6-B498-43B3-948B-1728B52AA6E4}">
                <adec:decorative xmlns:adec="http://schemas.microsoft.com/office/drawing/2017/decorative" val="1"/>
              </a:ext>
            </a:extLst>
          </p:cNvPr>
          <p:cNvSpPr txBox="1"/>
          <p:nvPr/>
        </p:nvSpPr>
        <p:spPr>
          <a:xfrm>
            <a:off x="7600902" y="1185286"/>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69" name="TextBox 68">
            <a:extLst>
              <a:ext uri="{FF2B5EF4-FFF2-40B4-BE49-F238E27FC236}">
                <a16:creationId xmlns:a16="http://schemas.microsoft.com/office/drawing/2014/main" id="{A502BD3C-7D34-4913-813E-9A134BE6DA03}"/>
              </a:ext>
              <a:ext uri="{C183D7F6-B498-43B3-948B-1728B52AA6E4}">
                <adec:decorative xmlns:adec="http://schemas.microsoft.com/office/drawing/2017/decorative" val="1"/>
              </a:ext>
            </a:extLst>
          </p:cNvPr>
          <p:cNvSpPr txBox="1"/>
          <p:nvPr/>
        </p:nvSpPr>
        <p:spPr>
          <a:xfrm>
            <a:off x="7151152" y="3484317"/>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3" name="TextBox 2">
            <a:extLst>
              <a:ext uri="{FF2B5EF4-FFF2-40B4-BE49-F238E27FC236}">
                <a16:creationId xmlns:a16="http://schemas.microsoft.com/office/drawing/2014/main" id="{A19DCE99-D2D5-E62C-227E-0A7D44FDD2B7}"/>
              </a:ext>
            </a:extLst>
          </p:cNvPr>
          <p:cNvSpPr txBox="1"/>
          <p:nvPr/>
        </p:nvSpPr>
        <p:spPr>
          <a:xfrm>
            <a:off x="1455023" y="2100753"/>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4" name="TextBox 3">
            <a:extLst>
              <a:ext uri="{FF2B5EF4-FFF2-40B4-BE49-F238E27FC236}">
                <a16:creationId xmlns:a16="http://schemas.microsoft.com/office/drawing/2014/main" id="{ED75CE59-3986-04A7-E695-6A598DB84376}"/>
              </a:ext>
            </a:extLst>
          </p:cNvPr>
          <p:cNvSpPr txBox="1"/>
          <p:nvPr/>
        </p:nvSpPr>
        <p:spPr>
          <a:xfrm>
            <a:off x="4835114" y="1606658"/>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5" name="TextBox 4">
            <a:extLst>
              <a:ext uri="{FF2B5EF4-FFF2-40B4-BE49-F238E27FC236}">
                <a16:creationId xmlns:a16="http://schemas.microsoft.com/office/drawing/2014/main" id="{1A628ED0-EDB7-4CA1-C087-BC1FE4B1D4AF}"/>
              </a:ext>
            </a:extLst>
          </p:cNvPr>
          <p:cNvSpPr txBox="1"/>
          <p:nvPr/>
        </p:nvSpPr>
        <p:spPr>
          <a:xfrm>
            <a:off x="7135030" y="1973776"/>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8" name="TextBox 7">
            <a:extLst>
              <a:ext uri="{FF2B5EF4-FFF2-40B4-BE49-F238E27FC236}">
                <a16:creationId xmlns:a16="http://schemas.microsoft.com/office/drawing/2014/main" id="{C8254451-0B8A-91F1-3769-F241B6AA84A4}"/>
              </a:ext>
            </a:extLst>
          </p:cNvPr>
          <p:cNvSpPr txBox="1"/>
          <p:nvPr/>
        </p:nvSpPr>
        <p:spPr>
          <a:xfrm>
            <a:off x="6785803" y="4471382"/>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3" presetClass="entr" presetSubtype="16" fill="hold" nodeType="clickEffect">
                                  <p:stCondLst>
                                    <p:cond delay="0"/>
                                  </p:stCondLst>
                                  <p:childTnLst>
                                    <p:set>
                                      <p:cBhvr>
                                        <p:cTn id="10" dur="1" fill="hold">
                                          <p:stCondLst>
                                            <p:cond delay="0"/>
                                          </p:stCondLst>
                                        </p:cTn>
                                        <p:tgtEl>
                                          <p:spTgt spid="367677"/>
                                        </p:tgtEl>
                                        <p:attrNameLst>
                                          <p:attrName>style.visibility</p:attrName>
                                        </p:attrNameLst>
                                      </p:cBhvr>
                                      <p:to>
                                        <p:strVal val="visible"/>
                                      </p:to>
                                    </p:set>
                                    <p:anim calcmode="lin" valueType="num">
                                      <p:cBhvr>
                                        <p:cTn id="11" dur="1000" fill="hold"/>
                                        <p:tgtEl>
                                          <p:spTgt spid="367677"/>
                                        </p:tgtEl>
                                        <p:attrNameLst>
                                          <p:attrName>ppt_w</p:attrName>
                                        </p:attrNameLst>
                                      </p:cBhvr>
                                      <p:tavLst>
                                        <p:tav tm="0">
                                          <p:val>
                                            <p:fltVal val="0"/>
                                          </p:val>
                                        </p:tav>
                                        <p:tav tm="100000">
                                          <p:val>
                                            <p:strVal val="#ppt_w"/>
                                          </p:val>
                                        </p:tav>
                                      </p:tavLst>
                                    </p:anim>
                                    <p:anim calcmode="lin" valueType="num">
                                      <p:cBhvr>
                                        <p:cTn id="12" dur="1000" fill="hold"/>
                                        <p:tgtEl>
                                          <p:spTgt spid="36767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9" grpId="0"/>
      <p:bldP spid="3" grpId="0"/>
      <p:bldP spid="4" grpId="0"/>
      <p:bldP spid="5" grpId="0"/>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21507"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Building a</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BST</a:t>
            </a:r>
          </a:p>
        </p:txBody>
      </p:sp>
    </p:spTree>
    <p:extLst>
      <p:ext uri="{BB962C8B-B14F-4D97-AF65-F5344CB8AC3E}">
        <p14:creationId xmlns:p14="http://schemas.microsoft.com/office/powerpoint/2010/main" val="22445352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4000" dirty="0">
                <a:solidFill>
                  <a:srgbClr val="800000"/>
                </a:solidFill>
                <a:latin typeface="Aptos ExtraBold" panose="020B0004020202020204" pitchFamily="34" charset="0"/>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30</a:t>
            </a:fld>
            <a:endParaRPr lang="en-US" altLang="en-US" sz="1200">
              <a:solidFill>
                <a:srgbClr val="FFFFFF"/>
              </a:solidFill>
            </a:endParaRPr>
          </a:p>
        </p:txBody>
      </p:sp>
      <p:sp>
        <p:nvSpPr>
          <p:cNvPr id="51203" name="Rectangle 2"/>
          <p:cNvSpPr>
            <a:spLocks noGrp="1" noChangeArrowheads="1"/>
          </p:cNvSpPr>
          <p:nvPr>
            <p:ph type="body" idx="4294967295"/>
          </p:nvPr>
        </p:nvSpPr>
        <p:spPr>
          <a:xfrm>
            <a:off x="609600" y="2057400"/>
            <a:ext cx="8153400" cy="3048000"/>
          </a:xfrm>
        </p:spPr>
        <p:txBody>
          <a:bodyPr rIns="132080"/>
          <a:lstStyle/>
          <a:p>
            <a:pPr marL="0" indent="0" eaLnBrk="1" hangingPunct="1">
              <a:buNone/>
            </a:pPr>
            <a:r>
              <a:rPr lang="en-US" altLang="en-US" dirty="0">
                <a:latin typeface="Aptos ExtraBold" panose="020F0502020204030204" pitchFamily="34" charset="0"/>
                <a:ea typeface="MS PGothic" charset="-128"/>
              </a:rPr>
              <a:t>To insert a new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Pretend to look for the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Put the new node in the place where you fall off the tree</a:t>
            </a:r>
            <a:endParaRPr lang="en-US" altLang="en-US" sz="3200" i="1" dirty="0">
              <a:latin typeface="Aptos ExtraBold" panose="020F0502020204030204" pitchFamily="34" charset="0"/>
              <a:ea typeface="MS PGothic" charset="-128"/>
            </a:endParaRPr>
          </a:p>
        </p:txBody>
      </p:sp>
    </p:spTree>
    <p:extLst>
      <p:ext uri="{BB962C8B-B14F-4D97-AF65-F5344CB8AC3E}">
        <p14:creationId xmlns:p14="http://schemas.microsoft.com/office/powerpoint/2010/main" val="1130107485"/>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31</a:t>
            </a:fld>
            <a:endParaRPr lang="en-US" altLang="en-US" sz="1200">
              <a:solidFill>
                <a:srgbClr val="FFFFFF"/>
              </a:solidFill>
            </a:endParaRPr>
          </a:p>
        </p:txBody>
      </p:sp>
      <p:cxnSp>
        <p:nvCxnSpPr>
          <p:cNvPr id="11" name="Straight Arrow Connector 10">
            <a:extLst>
              <a:ext uri="{C183D7F6-B498-43B3-948B-1728B52AA6E4}">
                <adec:decorative xmlns:adec="http://schemas.microsoft.com/office/drawing/2017/decorative" val="1"/>
              </a:ext>
            </a:extLst>
          </p:cNvPr>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descr="Jayden is the first value we're adding to the tree"/>
          <p:cNvSpPr/>
          <p:nvPr/>
        </p:nvSpPr>
        <p:spPr>
          <a:xfrm>
            <a:off x="6553200" y="2300207"/>
            <a:ext cx="1128450" cy="461665"/>
          </a:xfrm>
          <a:prstGeom prst="rect">
            <a:avLst/>
          </a:prstGeom>
        </p:spPr>
        <p:txBody>
          <a:bodyPr wrap="none">
            <a:spAutoFit/>
          </a:bodyPr>
          <a:lstStyle/>
          <a:p>
            <a:r>
              <a:rPr lang="en-US" altLang="en-US" dirty="0">
                <a:solidFill>
                  <a:schemeClr val="tx1"/>
                </a:solidFill>
              </a:rPr>
              <a:t>Jayden</a:t>
            </a:r>
            <a:endParaRPr lang="en-US" dirty="0"/>
          </a:p>
        </p:txBody>
      </p:sp>
    </p:spTree>
    <p:extLst>
      <p:ext uri="{BB962C8B-B14F-4D97-AF65-F5344CB8AC3E}">
        <p14:creationId xmlns:p14="http://schemas.microsoft.com/office/powerpoint/2010/main" val="1251283801"/>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32</a:t>
            </a:fld>
            <a:endParaRPr lang="en-US" altLang="en-US" sz="1200">
              <a:solidFill>
                <a:srgbClr val="FFFFFF"/>
              </a:solidFill>
            </a:endParaRPr>
          </a:p>
        </p:txBody>
      </p:sp>
      <p:grpSp>
        <p:nvGrpSpPr>
          <p:cNvPr id="2" name="Group 1" descr="The tree has &quot;Jayden&quot; as a root and no other nodes.">
            <a:extLst>
              <a:ext uri="{FF2B5EF4-FFF2-40B4-BE49-F238E27FC236}">
                <a16:creationId xmlns:a16="http://schemas.microsoft.com/office/drawing/2014/main" id="{224CBFEB-4053-4EFF-3EE6-BBFF79F6020D}"/>
              </a:ext>
            </a:extLst>
          </p:cNvPr>
          <p:cNvGrpSpPr/>
          <p:nvPr/>
        </p:nvGrpSpPr>
        <p:grpSpPr>
          <a:xfrm>
            <a:off x="3942603" y="1752600"/>
            <a:ext cx="1128450" cy="1383814"/>
            <a:chOff x="3942603" y="1752600"/>
            <a:chExt cx="1128450"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5116887"/>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33</a:t>
            </a:fld>
            <a:endParaRPr lang="en-US" altLang="en-US" sz="1200">
              <a:solidFill>
                <a:srgbClr val="FFFFFF"/>
              </a:solidFill>
            </a:endParaRPr>
          </a:p>
        </p:txBody>
      </p:sp>
      <p:grpSp>
        <p:nvGrpSpPr>
          <p:cNvPr id="2" name="Group 1" descr="&quot;Fahad&quot; is the next value to add.&#10;The tree has &quot;Jayden&quot; as a root and no other nodes.">
            <a:extLst>
              <a:ext uri="{FF2B5EF4-FFF2-40B4-BE49-F238E27FC236}">
                <a16:creationId xmlns:a16="http://schemas.microsoft.com/office/drawing/2014/main" id="{920C70FD-E672-B954-FD00-D4BB2D40AF10}"/>
              </a:ext>
            </a:extLst>
          </p:cNvPr>
          <p:cNvGrpSpPr/>
          <p:nvPr/>
        </p:nvGrpSpPr>
        <p:grpSpPr>
          <a:xfrm>
            <a:off x="3942603" y="1752600"/>
            <a:ext cx="2539904" cy="1383814"/>
            <a:chOff x="3942603" y="1752600"/>
            <a:chExt cx="2539904"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5486400" y="2281534"/>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873746212"/>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34</a:t>
            </a:fld>
            <a:endParaRPr lang="en-US" altLang="en-US" sz="1200">
              <a:solidFill>
                <a:srgbClr val="FFFFFF"/>
              </a:solidFill>
            </a:endParaRPr>
          </a:p>
        </p:txBody>
      </p:sp>
      <p:grpSp>
        <p:nvGrpSpPr>
          <p:cNvPr id="2" name="Group 1" descr="&quot;Fahad&quot; belongs as the left child of &quot;Jayden&quot; because it's smaller than &quot;Jayden&quot;.">
            <a:extLst>
              <a:ext uri="{FF2B5EF4-FFF2-40B4-BE49-F238E27FC236}">
                <a16:creationId xmlns:a16="http://schemas.microsoft.com/office/drawing/2014/main" id="{BE7C09DB-E906-4FFE-7206-E698EFE11824}"/>
              </a:ext>
            </a:extLst>
          </p:cNvPr>
          <p:cNvGrpSpPr/>
          <p:nvPr/>
        </p:nvGrpSpPr>
        <p:grpSpPr>
          <a:xfrm>
            <a:off x="3236894" y="1752600"/>
            <a:ext cx="1834159" cy="1854286"/>
            <a:chOff x="3236894" y="1752600"/>
            <a:chExt cx="1834159" cy="1854286"/>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62656532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35</a:t>
            </a:fld>
            <a:endParaRPr lang="en-US" altLang="en-US" sz="1200">
              <a:solidFill>
                <a:srgbClr val="FFFFFF"/>
              </a:solidFill>
            </a:endParaRPr>
          </a:p>
        </p:txBody>
      </p:sp>
      <p:grpSp>
        <p:nvGrpSpPr>
          <p:cNvPr id="2" name="Group 1" descr="The tree is now:&#10;Level 0: Jayden&#10;Level 1: Jayden's left child is Fahad">
            <a:extLst>
              <a:ext uri="{FF2B5EF4-FFF2-40B4-BE49-F238E27FC236}">
                <a16:creationId xmlns:a16="http://schemas.microsoft.com/office/drawing/2014/main" id="{00BF3877-A5DB-B82F-0CD1-72EDE330384C}"/>
              </a:ext>
            </a:extLst>
          </p:cNvPr>
          <p:cNvGrpSpPr/>
          <p:nvPr/>
        </p:nvGrpSpPr>
        <p:grpSpPr>
          <a:xfrm>
            <a:off x="3236894" y="1752600"/>
            <a:ext cx="1834159" cy="2244739"/>
            <a:chOff x="3236894" y="1752600"/>
            <a:chExt cx="183415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7996099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36</a:t>
            </a:fld>
            <a:endParaRPr lang="en-US" altLang="en-US" sz="1200">
              <a:solidFill>
                <a:srgbClr val="FFFFFF"/>
              </a:solidFill>
            </a:endParaRPr>
          </a:p>
        </p:txBody>
      </p:sp>
      <p:grpSp>
        <p:nvGrpSpPr>
          <p:cNvPr id="2" name="Group 1" descr="&quot;Marvin&quot; is the next value to add.&#10;The tree is now:&#10;Level 0: Jayden&#10;Level 1: Jayden's left child is Fahad">
            <a:extLst>
              <a:ext uri="{FF2B5EF4-FFF2-40B4-BE49-F238E27FC236}">
                <a16:creationId xmlns:a16="http://schemas.microsoft.com/office/drawing/2014/main" id="{0326E32F-757E-41E5-FC7A-2661AB091766}"/>
              </a:ext>
            </a:extLst>
          </p:cNvPr>
          <p:cNvGrpSpPr/>
          <p:nvPr/>
        </p:nvGrpSpPr>
        <p:grpSpPr>
          <a:xfrm>
            <a:off x="3236894" y="1752600"/>
            <a:ext cx="3111269" cy="2244739"/>
            <a:chOff x="3236894" y="1752600"/>
            <a:chExt cx="311126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5257800" y="228153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91594858"/>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37</a:t>
            </a:fld>
            <a:endParaRPr lang="en-US" altLang="en-US" sz="1200">
              <a:solidFill>
                <a:srgbClr val="FFFFFF"/>
              </a:solidFill>
            </a:endParaRPr>
          </a:p>
        </p:txBody>
      </p:sp>
      <p:grpSp>
        <p:nvGrpSpPr>
          <p:cNvPr id="2" name="Group 1" descr="Marvin belongs as the right child of Jayden.">
            <a:extLst>
              <a:ext uri="{FF2B5EF4-FFF2-40B4-BE49-F238E27FC236}">
                <a16:creationId xmlns:a16="http://schemas.microsoft.com/office/drawing/2014/main" id="{6879E0CF-371B-D99D-88BE-498324517FC4}"/>
              </a:ext>
            </a:extLst>
          </p:cNvPr>
          <p:cNvGrpSpPr/>
          <p:nvPr/>
        </p:nvGrpSpPr>
        <p:grpSpPr>
          <a:xfrm>
            <a:off x="3236894" y="1752600"/>
            <a:ext cx="2715150" cy="2244739"/>
            <a:chOff x="3236894" y="1752600"/>
            <a:chExt cx="2715150"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441802578"/>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38</a:t>
            </a:fld>
            <a:endParaRPr lang="en-US" altLang="en-US" sz="1200">
              <a:solidFill>
                <a:srgbClr val="FFFFFF"/>
              </a:solidFill>
            </a:endParaRPr>
          </a:p>
        </p:txBody>
      </p:sp>
      <p:grpSp>
        <p:nvGrpSpPr>
          <p:cNvPr id="2" name="Group 1" descr="&quot;April&quot; is the next value to add.&#10;The tree is now:&#10;Level 0: Jayden&#10;Level 1: Jayden's left child is Fahad and the right child is Marvin">
            <a:extLst>
              <a:ext uri="{FF2B5EF4-FFF2-40B4-BE49-F238E27FC236}">
                <a16:creationId xmlns:a16="http://schemas.microsoft.com/office/drawing/2014/main" id="{D5CC7016-39EE-337B-C18E-08B892C5C9E9}"/>
              </a:ext>
            </a:extLst>
          </p:cNvPr>
          <p:cNvGrpSpPr/>
          <p:nvPr/>
        </p:nvGrpSpPr>
        <p:grpSpPr>
          <a:xfrm>
            <a:off x="3236894" y="1752600"/>
            <a:ext cx="2811828" cy="2279678"/>
            <a:chOff x="3236894" y="1752600"/>
            <a:chExt cx="2811828"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p:cNvSpPr/>
            <p:nvPr/>
          </p:nvSpPr>
          <p:spPr>
            <a:xfrm>
              <a:off x="5257800" y="228153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055100647"/>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39</a:t>
            </a:fld>
            <a:endParaRPr lang="en-US" altLang="en-US" sz="1200">
              <a:solidFill>
                <a:srgbClr val="FFFFFF"/>
              </a:solidFill>
            </a:endParaRPr>
          </a:p>
        </p:txBody>
      </p:sp>
      <p:grpSp>
        <p:nvGrpSpPr>
          <p:cNvPr id="2" name="Group 1" descr="&quot;April&quot; belongs left of Jayden since it's smaller than Jayden">
            <a:extLst>
              <a:ext uri="{FF2B5EF4-FFF2-40B4-BE49-F238E27FC236}">
                <a16:creationId xmlns:a16="http://schemas.microsoft.com/office/drawing/2014/main" id="{0CA0E7D7-22F1-25F1-5449-25FE7D987BF2}"/>
              </a:ext>
            </a:extLst>
          </p:cNvPr>
          <p:cNvGrpSpPr/>
          <p:nvPr/>
        </p:nvGrpSpPr>
        <p:grpSpPr>
          <a:xfrm>
            <a:off x="2457230" y="1752600"/>
            <a:ext cx="3494814" cy="2279678"/>
            <a:chOff x="2457230" y="1752600"/>
            <a:chExt cx="3494814"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457230" y="313641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496694905"/>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40</a:t>
            </a:fld>
            <a:endParaRPr lang="en-US" altLang="en-US" sz="1200">
              <a:solidFill>
                <a:srgbClr val="FFFFFF"/>
              </a:solidFill>
            </a:endParaRPr>
          </a:p>
        </p:txBody>
      </p:sp>
      <p:grpSp>
        <p:nvGrpSpPr>
          <p:cNvPr id="2" name="Group 1" descr="April belongs left of Fahad since it's smaller than Fahad.">
            <a:extLst>
              <a:ext uri="{FF2B5EF4-FFF2-40B4-BE49-F238E27FC236}">
                <a16:creationId xmlns:a16="http://schemas.microsoft.com/office/drawing/2014/main" id="{BC09F3CB-D806-E58F-82DC-F953C7CD2389}"/>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802192166"/>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41</a:t>
            </a:fld>
            <a:endParaRPr lang="en-US" altLang="en-US" sz="1200">
              <a:solidFill>
                <a:srgbClr val="FFFFFF"/>
              </a:solidFill>
            </a:endParaRPr>
          </a:p>
        </p:txBody>
      </p:sp>
      <p:grpSp>
        <p:nvGrpSpPr>
          <p:cNvPr id="2" name="Group 1" descr="The tree is now:&#10;Level 0: Jayden&#10;Level 1: Jayden's left child is Fahad and the right child is Marvin&#10;Level 2: Fahad's left child is April">
            <a:extLst>
              <a:ext uri="{FF2B5EF4-FFF2-40B4-BE49-F238E27FC236}">
                <a16:creationId xmlns:a16="http://schemas.microsoft.com/office/drawing/2014/main" id="{9EDFB90A-16B9-C3A0-B60A-6D63AF62F4EC}"/>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244976470"/>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a:xfrm>
            <a:off x="685800" y="152400"/>
            <a:ext cx="7772400" cy="1143000"/>
          </a:xfrm>
        </p:spPr>
        <p:txBody>
          <a:bodyPr rIns="132080"/>
          <a:lstStyle/>
          <a:p>
            <a:pPr eaLnBrk="1" hangingPunct="1"/>
            <a:r>
              <a:rPr lang="en-US" altLang="en-US" sz="3200">
                <a:solidFill>
                  <a:srgbClr val="800000"/>
                </a:solidFill>
                <a:ea typeface="MS PGothic" charset="-128"/>
              </a:rPr>
              <a:t>Building a BST</a:t>
            </a:r>
          </a:p>
        </p:txBody>
      </p:sp>
      <p:grpSp>
        <p:nvGrpSpPr>
          <p:cNvPr id="2" name="Group 1" descr="The tree is now:&#10;Level 0: Jayden&#10;Level 1: Jayden's left child is Fahad and the right child is Marvin&#10;Level 2: Fahad's left child is April, march's left child is June and the right child is Marvin&#10;Level 3: April's right child is Carlos, June's left child is Julio, and Marvin's right child is Syed&#10;Level 4: Syed's left child is Paolo&#10;Level 5: Paolo's left child is Naomi">
            <a:extLst>
              <a:ext uri="{FF2B5EF4-FFF2-40B4-BE49-F238E27FC236}">
                <a16:creationId xmlns:a16="http://schemas.microsoft.com/office/drawing/2014/main" id="{FDCF5183-6D2E-C5F9-F91D-67CEF67475A7}"/>
              </a:ext>
            </a:extLst>
          </p:cNvPr>
          <p:cNvGrpSpPr/>
          <p:nvPr/>
        </p:nvGrpSpPr>
        <p:grpSpPr>
          <a:xfrm>
            <a:off x="2856441" y="1295400"/>
            <a:ext cx="4382559" cy="5098012"/>
            <a:chOff x="2856441" y="1295400"/>
            <a:chExt cx="4382559" cy="5098012"/>
          </a:xfrm>
        </p:grpSpPr>
        <p:cxnSp>
          <p:nvCxnSpPr>
            <p:cNvPr id="11" name="Straight Arrow Connector 10"/>
            <p:cNvCxnSpPr/>
            <p:nvPr/>
          </p:nvCxnSpPr>
          <p:spPr>
            <a:xfrm>
              <a:off x="4495800" y="12954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18243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2860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2982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26880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1469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2698254"/>
              <a:ext cx="952505" cy="461665"/>
            </a:xfrm>
            <a:prstGeom prst="rect">
              <a:avLst/>
            </a:prstGeom>
            <a:ln>
              <a:solidFill>
                <a:schemeClr val="accent2"/>
              </a:solidFill>
            </a:ln>
          </p:spPr>
          <p:txBody>
            <a:bodyPr wrap="none">
              <a:spAutoFit/>
            </a:bodyPr>
            <a:lstStyle/>
            <a:p>
              <a:r>
                <a:rPr lang="en-US" altLang="en-US" dirty="0">
                  <a:solidFill>
                    <a:schemeClr val="tx1"/>
                  </a:solidFill>
                </a:rPr>
                <a:t>march</a:t>
              </a:r>
              <a:endParaRPr lang="en-US" dirty="0"/>
            </a:p>
          </p:txBody>
        </p:sp>
        <p:cxnSp>
          <p:nvCxnSpPr>
            <p:cNvPr id="15" name="Straight Arrow Connector 14"/>
            <p:cNvCxnSpPr/>
            <p:nvPr/>
          </p:nvCxnSpPr>
          <p:spPr>
            <a:xfrm flipH="1">
              <a:off x="4788541" y="31818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1940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5251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sp>
          <p:nvSpPr>
            <p:cNvPr id="17" name="Rectangle 16"/>
            <p:cNvSpPr/>
            <p:nvPr/>
          </p:nvSpPr>
          <p:spPr>
            <a:xfrm>
              <a:off x="5569904" y="3580334"/>
              <a:ext cx="1090363" cy="461665"/>
            </a:xfrm>
            <a:prstGeom prst="rect">
              <a:avLst/>
            </a:prstGeom>
            <a:ln>
              <a:solidFill>
                <a:schemeClr val="accent2"/>
              </a:solidFill>
            </a:ln>
          </p:spPr>
          <p:txBody>
            <a:bodyPr wrap="none">
              <a:spAutoFit/>
            </a:bodyPr>
            <a:lstStyle/>
            <a:p>
              <a:r>
                <a:rPr lang="en-US" dirty="0"/>
                <a:t>Marvin</a:t>
              </a:r>
            </a:p>
          </p:txBody>
        </p:sp>
        <p:sp>
          <p:nvSpPr>
            <p:cNvPr id="19" name="Rectangle 18"/>
            <p:cNvSpPr/>
            <p:nvPr/>
          </p:nvSpPr>
          <p:spPr>
            <a:xfrm>
              <a:off x="4468767" y="3586512"/>
              <a:ext cx="817853" cy="461665"/>
            </a:xfrm>
            <a:prstGeom prst="rect">
              <a:avLst/>
            </a:prstGeom>
            <a:ln>
              <a:solidFill>
                <a:schemeClr val="accent2"/>
              </a:solidFill>
            </a:ln>
          </p:spPr>
          <p:txBody>
            <a:bodyPr wrap="none">
              <a:spAutoFit/>
            </a:bodyPr>
            <a:lstStyle/>
            <a:p>
              <a:r>
                <a:rPr lang="en-US" altLang="en-US" dirty="0"/>
                <a:t>J</a:t>
              </a:r>
              <a:r>
                <a:rPr lang="en-US" altLang="en-US" dirty="0">
                  <a:solidFill>
                    <a:schemeClr val="tx1"/>
                  </a:solidFill>
                </a:rPr>
                <a:t>une</a:t>
              </a:r>
              <a:endParaRPr lang="en-US" dirty="0"/>
            </a:p>
          </p:txBody>
        </p:sp>
        <p:sp>
          <p:nvSpPr>
            <p:cNvPr id="20" name="Rectangle 19"/>
            <p:cNvSpPr/>
            <p:nvPr/>
          </p:nvSpPr>
          <p:spPr>
            <a:xfrm>
              <a:off x="4057415" y="4444677"/>
              <a:ext cx="792525" cy="461665"/>
            </a:xfrm>
            <a:prstGeom prst="rect">
              <a:avLst/>
            </a:prstGeom>
            <a:ln>
              <a:solidFill>
                <a:schemeClr val="accent2"/>
              </a:solidFill>
            </a:ln>
          </p:spPr>
          <p:txBody>
            <a:bodyPr wrap="none">
              <a:spAutoFit/>
            </a:bodyPr>
            <a:lstStyle/>
            <a:p>
              <a:r>
                <a:rPr lang="en-US" altLang="en-US" dirty="0">
                  <a:solidFill>
                    <a:schemeClr val="tx1"/>
                  </a:solidFill>
                </a:rPr>
                <a:t>Julio</a:t>
              </a:r>
              <a:endParaRPr lang="en-US" dirty="0"/>
            </a:p>
          </p:txBody>
        </p:sp>
        <p:cxnSp>
          <p:nvCxnSpPr>
            <p:cNvPr id="21" name="Straight Arrow Connector 20"/>
            <p:cNvCxnSpPr>
              <a:endCxn id="20" idx="0"/>
            </p:cNvCxnSpPr>
            <p:nvPr/>
          </p:nvCxnSpPr>
          <p:spPr>
            <a:xfrm flipH="1">
              <a:off x="4453678" y="4055927"/>
              <a:ext cx="391233" cy="38875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2945775" y="4442953"/>
              <a:ext cx="1016625" cy="461665"/>
            </a:xfrm>
            <a:prstGeom prst="rect">
              <a:avLst/>
            </a:prstGeom>
            <a:ln>
              <a:solidFill>
                <a:schemeClr val="accent2"/>
              </a:solidFill>
            </a:ln>
          </p:spPr>
          <p:txBody>
            <a:bodyPr wrap="none">
              <a:spAutoFit/>
            </a:bodyPr>
            <a:lstStyle/>
            <a:p>
              <a:r>
                <a:rPr lang="en-US" altLang="en-US" dirty="0">
                  <a:solidFill>
                    <a:schemeClr val="tx1"/>
                  </a:solidFill>
                </a:rPr>
                <a:t>Carlos</a:t>
              </a:r>
              <a:endParaRPr lang="en-US" dirty="0"/>
            </a:p>
          </p:txBody>
        </p:sp>
        <p:cxnSp>
          <p:nvCxnSpPr>
            <p:cNvPr id="23" name="Straight Arrow Connector 22"/>
            <p:cNvCxnSpPr>
              <a:endCxn id="22" idx="0"/>
            </p:cNvCxnSpPr>
            <p:nvPr/>
          </p:nvCxnSpPr>
          <p:spPr>
            <a:xfrm>
              <a:off x="3321033" y="3984049"/>
              <a:ext cx="133055" cy="458904"/>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6403900" y="4442953"/>
              <a:ext cx="835100" cy="461665"/>
            </a:xfrm>
            <a:prstGeom prst="rect">
              <a:avLst/>
            </a:prstGeom>
            <a:ln>
              <a:solidFill>
                <a:schemeClr val="accent2"/>
              </a:solidFill>
            </a:ln>
          </p:spPr>
          <p:txBody>
            <a:bodyPr wrap="none">
              <a:spAutoFit/>
            </a:bodyPr>
            <a:lstStyle/>
            <a:p>
              <a:r>
                <a:rPr lang="en-US" altLang="en-US" dirty="0">
                  <a:solidFill>
                    <a:schemeClr val="tx1"/>
                  </a:solidFill>
                </a:rPr>
                <a:t>Syed</a:t>
              </a:r>
              <a:endParaRPr lang="en-US" dirty="0"/>
            </a:p>
          </p:txBody>
        </p:sp>
        <p:cxnSp>
          <p:nvCxnSpPr>
            <p:cNvPr id="25" name="Straight Arrow Connector 24"/>
            <p:cNvCxnSpPr/>
            <p:nvPr/>
          </p:nvCxnSpPr>
          <p:spPr>
            <a:xfrm>
              <a:off x="6114988" y="4055927"/>
              <a:ext cx="614610" cy="3870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5792208" y="5285970"/>
              <a:ext cx="913392" cy="461665"/>
            </a:xfrm>
            <a:prstGeom prst="rect">
              <a:avLst/>
            </a:prstGeom>
            <a:ln>
              <a:solidFill>
                <a:schemeClr val="accent2"/>
              </a:solidFill>
            </a:ln>
          </p:spPr>
          <p:txBody>
            <a:bodyPr wrap="none">
              <a:spAutoFit/>
            </a:bodyPr>
            <a:lstStyle/>
            <a:p>
              <a:r>
                <a:rPr lang="en-US" altLang="en-US" dirty="0">
                  <a:solidFill>
                    <a:schemeClr val="tx1"/>
                  </a:solidFill>
                </a:rPr>
                <a:t>Paolo</a:t>
              </a:r>
              <a:endParaRPr lang="en-US" dirty="0"/>
            </a:p>
          </p:txBody>
        </p:sp>
        <p:cxnSp>
          <p:nvCxnSpPr>
            <p:cNvPr id="28" name="Straight Arrow Connector 27"/>
            <p:cNvCxnSpPr/>
            <p:nvPr/>
          </p:nvCxnSpPr>
          <p:spPr>
            <a:xfrm flipH="1">
              <a:off x="5792208" y="5769421"/>
              <a:ext cx="267774" cy="1858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5201318" y="5931747"/>
              <a:ext cx="1047082" cy="461665"/>
            </a:xfrm>
            <a:prstGeom prst="rect">
              <a:avLst/>
            </a:prstGeom>
            <a:ln>
              <a:solidFill>
                <a:schemeClr val="accent2"/>
              </a:solidFill>
            </a:ln>
          </p:spPr>
          <p:txBody>
            <a:bodyPr wrap="none">
              <a:spAutoFit/>
            </a:bodyPr>
            <a:lstStyle/>
            <a:p>
              <a:r>
                <a:rPr lang="en-US" altLang="en-US" dirty="0">
                  <a:solidFill>
                    <a:schemeClr val="tx1"/>
                  </a:solidFill>
                </a:rPr>
                <a:t>Naomi</a:t>
              </a:r>
              <a:endParaRPr lang="en-US" dirty="0"/>
            </a:p>
          </p:txBody>
        </p:sp>
        <p:cxnSp>
          <p:nvCxnSpPr>
            <p:cNvPr id="30" name="Straight Arrow Connector 29"/>
            <p:cNvCxnSpPr/>
            <p:nvPr/>
          </p:nvCxnSpPr>
          <p:spPr>
            <a:xfrm flipH="1">
              <a:off x="6324600" y="4904618"/>
              <a:ext cx="346071" cy="398041"/>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12513749"/>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172200"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381000" y="1143000"/>
            <a:ext cx="8458200" cy="5262979"/>
          </a:xfrm>
          <a:prstGeom prst="rect">
            <a:avLst/>
          </a:prstGeom>
          <a:noFill/>
        </p:spPr>
        <p:txBody>
          <a:bodyPr wrap="square">
            <a:spAutoFit/>
          </a:bodyPr>
          <a:lstStyle/>
          <a:p>
            <a:r>
              <a:rPr lang="en-US" sz="2800" b="1" dirty="0">
                <a:latin typeface="Courier New" panose="02070309020205020404" pitchFamily="49" charset="0"/>
              </a:rPr>
              <a:t>public void add(Comparable </a:t>
            </a:r>
            <a:r>
              <a:rPr lang="en-US" sz="2800" b="1" dirty="0" err="1">
                <a:latin typeface="Courier New" panose="02070309020205020404" pitchFamily="49" charset="0"/>
              </a:rPr>
              <a:t>val</a:t>
            </a: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   root = add(</a:t>
            </a:r>
            <a:r>
              <a:rPr lang="en-US" sz="2800" b="1" dirty="0" err="1">
                <a:latin typeface="Courier New" panose="02070309020205020404" pitchFamily="49" charset="0"/>
              </a:rPr>
              <a:t>val</a:t>
            </a:r>
            <a:r>
              <a:rPr lang="en-US" sz="2800" b="1" dirty="0">
                <a:latin typeface="Courier New" panose="02070309020205020404" pitchFamily="49" charset="0"/>
              </a:rPr>
              <a:t>, root);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br>
              <a:rPr lang="en-US" sz="2800" b="1" dirty="0">
                <a:latin typeface="Courier New" panose="02070309020205020404" pitchFamily="49" charset="0"/>
              </a:rPr>
            </a:br>
            <a:r>
              <a:rPr lang="en-US" sz="2800" b="1" dirty="0">
                <a:latin typeface="Courier New" panose="02070309020205020404" pitchFamily="49" charset="0"/>
              </a:rPr>
              <a:t>private </a:t>
            </a:r>
            <a:r>
              <a:rPr lang="en-US" sz="2800" b="1" dirty="0" err="1">
                <a:latin typeface="Courier New" panose="02070309020205020404" pitchFamily="49" charset="0"/>
              </a:rPr>
              <a:t>TreeNode</a:t>
            </a:r>
            <a:r>
              <a:rPr lang="en-US" sz="2800" b="1" dirty="0">
                <a:latin typeface="Courier New" panose="02070309020205020404" pitchFamily="49" charset="0"/>
              </a:rPr>
              <a:t> add(Comparable </a:t>
            </a:r>
            <a:r>
              <a:rPr lang="en-US" sz="2800" b="1" dirty="0" err="1">
                <a:latin typeface="Courier New" panose="02070309020205020404" pitchFamily="49" charset="0"/>
              </a:rPr>
              <a:t>val</a:t>
            </a:r>
            <a:r>
              <a:rPr lang="en-US" sz="2800" b="1" dirty="0">
                <a:latin typeface="Courier New" panose="02070309020205020404" pitchFamily="49" charset="0"/>
              </a:rPr>
              <a:t>, </a:t>
            </a:r>
          </a:p>
          <a:p>
            <a:r>
              <a:rPr lang="en-US" sz="2800" b="1" dirty="0">
                <a:latin typeface="Courier New" panose="02070309020205020404" pitchFamily="49" charset="0"/>
              </a:rPr>
              <a:t>                     </a:t>
            </a:r>
            <a:r>
              <a:rPr lang="en-US" sz="2800" b="1" dirty="0" err="1">
                <a:latin typeface="Courier New" panose="02070309020205020404" pitchFamily="49" charset="0"/>
              </a:rPr>
              <a:t>TreeNode</a:t>
            </a:r>
            <a:r>
              <a:rPr lang="en-US" sz="2800" b="1" dirty="0">
                <a:latin typeface="Courier New" panose="02070309020205020404" pitchFamily="49" charset="0"/>
              </a:rPr>
              <a:t> tree) {</a:t>
            </a: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r>
              <a:rPr lang="en-US" sz="2800" b="1" dirty="0">
                <a:latin typeface="Courier New" panose="02070309020205020404" pitchFamily="49" charset="0"/>
              </a:rPr>
              <a:t>}</a:t>
            </a:r>
            <a:endParaRPr lang="en-US" sz="2800" b="1" dirty="0"/>
          </a:p>
        </p:txBody>
      </p:sp>
    </p:spTree>
    <p:extLst>
      <p:ext uri="{BB962C8B-B14F-4D97-AF65-F5344CB8AC3E}">
        <p14:creationId xmlns:p14="http://schemas.microsoft.com/office/powerpoint/2010/main" val="23552662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088856"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159544" y="1078051"/>
            <a:ext cx="8991600" cy="5632311"/>
          </a:xfrm>
          <a:prstGeom prst="rect">
            <a:avLst/>
          </a:prstGeom>
          <a:noFill/>
        </p:spPr>
        <p:txBody>
          <a:bodyPr wrap="square">
            <a:spAutoFit/>
          </a:bodyPr>
          <a:lstStyle/>
          <a:p>
            <a:r>
              <a:rPr lang="en-US" b="1" dirty="0">
                <a:latin typeface="Courier New" panose="02070309020205020404" pitchFamily="49" charset="0"/>
              </a:rPr>
              <a:t>private </a:t>
            </a:r>
            <a:r>
              <a:rPr lang="en-US" b="1" dirty="0" err="1">
                <a:latin typeface="Courier New" panose="02070309020205020404" pitchFamily="49" charset="0"/>
              </a:rPr>
              <a:t>TreeNode</a:t>
            </a:r>
            <a:r>
              <a:rPr lang="en-US" b="1" dirty="0">
                <a:latin typeface="Courier New" panose="02070309020205020404" pitchFamily="49" charset="0"/>
              </a:rPr>
              <a:t> add(Comparable </a:t>
            </a:r>
            <a:r>
              <a:rPr lang="en-US" b="1" dirty="0" err="1">
                <a:latin typeface="Courier New" panose="02070309020205020404" pitchFamily="49" charset="0"/>
              </a:rPr>
              <a:t>val</a:t>
            </a:r>
            <a:r>
              <a:rPr lang="en-US" b="1" dirty="0">
                <a:latin typeface="Courier New" panose="02070309020205020404" pitchFamily="49" charset="0"/>
              </a:rPr>
              <a:t>, </a:t>
            </a:r>
          </a:p>
          <a:p>
            <a:r>
              <a:rPr lang="en-US" b="1" dirty="0">
                <a:latin typeface="Courier New" panose="02070309020205020404" pitchFamily="49" charset="0"/>
              </a:rPr>
              <a:t>                     </a:t>
            </a:r>
            <a:r>
              <a:rPr lang="en-US" b="1" dirty="0" err="1">
                <a:latin typeface="Courier New" panose="02070309020205020404" pitchFamily="49" charset="0"/>
              </a:rPr>
              <a:t>TreeNode</a:t>
            </a:r>
            <a:r>
              <a:rPr lang="en-US" b="1" dirty="0">
                <a:latin typeface="Courier New" panose="02070309020205020404" pitchFamily="49" charset="0"/>
              </a:rPr>
              <a:t> tree){</a:t>
            </a:r>
            <a:br>
              <a:rPr lang="en-US" b="1" dirty="0">
                <a:latin typeface="Courier New" panose="02070309020205020404" pitchFamily="49" charset="0"/>
              </a:rPr>
            </a:br>
            <a:r>
              <a:rPr lang="en-US" b="1" dirty="0">
                <a:latin typeface="Courier New" panose="02070309020205020404" pitchFamily="49" charset="0"/>
              </a:rPr>
              <a:t>   if(tree == null)</a:t>
            </a:r>
            <a:br>
              <a:rPr lang="en-US" b="1" dirty="0">
                <a:latin typeface="Courier New" panose="02070309020205020404" pitchFamily="49" charset="0"/>
              </a:rPr>
            </a:br>
            <a:r>
              <a:rPr lang="en-US" b="1" dirty="0">
                <a:latin typeface="Courier New" panose="02070309020205020404" pitchFamily="49" charset="0"/>
              </a:rPr>
              <a:t>      return new </a:t>
            </a:r>
            <a:r>
              <a:rPr lang="en-US" b="1" dirty="0" err="1">
                <a:latin typeface="Courier New" panose="02070309020205020404" pitchFamily="49" charset="0"/>
              </a:rPr>
              <a:t>TreeNode</a:t>
            </a:r>
            <a:r>
              <a:rPr lang="en-US" b="1" dirty="0">
                <a:latin typeface="Courier New" panose="02070309020205020404" pitchFamily="49" charset="0"/>
              </a:rPr>
              <a:t>(</a:t>
            </a:r>
            <a:r>
              <a:rPr lang="en-US" b="1" dirty="0" err="1">
                <a:latin typeface="Courier New" panose="02070309020205020404" pitchFamily="49" charset="0"/>
              </a:rPr>
              <a:t>val</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Comparable </a:t>
            </a:r>
            <a:r>
              <a:rPr lang="en-US" b="1" dirty="0" err="1">
                <a:latin typeface="Courier New" panose="02070309020205020404" pitchFamily="49" charset="0"/>
              </a:rPr>
              <a:t>treeValue</a:t>
            </a:r>
            <a:r>
              <a:rPr lang="en-US" b="1" dirty="0">
                <a:latin typeface="Courier New" panose="02070309020205020404" pitchFamily="49" charset="0"/>
              </a:rPr>
              <a:t> = </a:t>
            </a:r>
            <a:r>
              <a:rPr lang="en-US" b="1" dirty="0" err="1">
                <a:latin typeface="Courier New" panose="02070309020205020404" pitchFamily="49" charset="0"/>
              </a:rPr>
              <a:t>tree.getValue</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int </a:t>
            </a:r>
            <a:r>
              <a:rPr lang="en-US" b="1" dirty="0" err="1">
                <a:latin typeface="Courier New" panose="02070309020205020404" pitchFamily="49" charset="0"/>
              </a:rPr>
              <a:t>dirTest</a:t>
            </a:r>
            <a:r>
              <a:rPr lang="en-US" b="1" dirty="0">
                <a:latin typeface="Courier New" panose="02070309020205020404" pitchFamily="49" charset="0"/>
              </a:rPr>
              <a:t> = </a:t>
            </a:r>
            <a:r>
              <a:rPr lang="en-US" b="1" dirty="0" err="1">
                <a:latin typeface="Courier New" panose="02070309020205020404" pitchFamily="49" charset="0"/>
              </a:rPr>
              <a:t>val.compareTo</a:t>
            </a:r>
            <a:r>
              <a:rPr lang="en-US" b="1" dirty="0">
                <a:latin typeface="Courier New" panose="02070309020205020404" pitchFamily="49" charset="0"/>
              </a:rPr>
              <a:t>(</a:t>
            </a:r>
            <a:r>
              <a:rPr lang="en-US" b="1" dirty="0" err="1">
                <a:latin typeface="Courier New" panose="02070309020205020404" pitchFamily="49" charset="0"/>
              </a:rPr>
              <a:t>treeValue</a:t>
            </a: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if(</a:t>
            </a:r>
            <a:r>
              <a:rPr lang="en-US" b="1" dirty="0" err="1">
                <a:latin typeface="Courier New" panose="02070309020205020404" pitchFamily="49" charset="0"/>
              </a:rPr>
              <a:t>dirTest</a:t>
            </a:r>
            <a:r>
              <a:rPr lang="en-US" b="1" dirty="0">
                <a:latin typeface="Courier New" panose="02070309020205020404" pitchFamily="49" charset="0"/>
              </a:rPr>
              <a:t> &lt;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tree.setLeft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tree.getLeft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else if(</a:t>
            </a:r>
            <a:r>
              <a:rPr lang="en-US" b="1" dirty="0" err="1">
                <a:latin typeface="Courier New" panose="02070309020205020404" pitchFamily="49" charset="0"/>
              </a:rPr>
              <a:t>dirTest</a:t>
            </a:r>
            <a:r>
              <a:rPr lang="en-US" b="1" dirty="0">
                <a:latin typeface="Courier New" panose="02070309020205020404" pitchFamily="49" charset="0"/>
              </a:rPr>
              <a:t> &gt;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tree.setRight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tree.getRight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return tree;</a:t>
            </a:r>
            <a:br>
              <a:rPr lang="en-US" b="1" dirty="0">
                <a:latin typeface="Courier New" panose="02070309020205020404" pitchFamily="49" charset="0"/>
              </a:rPr>
            </a:br>
            <a:r>
              <a:rPr lang="en-US" b="1" dirty="0">
                <a:latin typeface="Courier New" panose="02070309020205020404" pitchFamily="49" charset="0"/>
              </a:rPr>
              <a:t>}</a:t>
            </a:r>
            <a:endParaRPr lang="en-US" sz="3200" b="1" dirty="0"/>
          </a:p>
        </p:txBody>
      </p:sp>
    </p:spTree>
    <p:extLst>
      <p:ext uri="{BB962C8B-B14F-4D97-AF65-F5344CB8AC3E}">
        <p14:creationId xmlns:p14="http://schemas.microsoft.com/office/powerpoint/2010/main" val="36428199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2863</TotalTime>
  <Words>1920</Words>
  <Application>Microsoft Office PowerPoint</Application>
  <PresentationFormat>On-screen Show (4:3)</PresentationFormat>
  <Paragraphs>397</Paragraphs>
  <Slides>44</Slides>
  <Notes>37</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44</vt:i4>
      </vt:variant>
    </vt:vector>
  </HeadingPairs>
  <TitlesOfParts>
    <vt:vector size="60" baseType="lpstr">
      <vt:lpstr>MS PGothic</vt:lpstr>
      <vt:lpstr>Abadi</vt:lpstr>
      <vt:lpstr>Aptos Black</vt:lpstr>
      <vt:lpstr>Aptos ExtraBold</vt:lpstr>
      <vt:lpstr>Arial</vt:lpstr>
      <vt:lpstr>Arial Black</vt:lpstr>
      <vt:lpstr>Cambria Math</vt:lpstr>
      <vt:lpstr>Courier New</vt:lpstr>
      <vt:lpstr>Impact</vt:lpstr>
      <vt:lpstr>Nunito</vt:lpstr>
      <vt:lpstr>Sitka Small</vt:lpstr>
      <vt:lpstr>Tahoma</vt:lpstr>
      <vt:lpstr>Times New Roman</vt:lpstr>
      <vt:lpstr>Wingdings</vt:lpstr>
      <vt:lpstr>ヒラギノ明朝 ProN W3</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Binary Search Tree (BST)</vt:lpstr>
      <vt:lpstr>PowerPoint Presentation</vt:lpstr>
      <vt:lpstr>PowerPoint Presentation</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Add Method</vt:lpstr>
      <vt:lpstr>Add Method</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516</cp:revision>
  <cp:lastPrinted>2000-11-07T14:58:20Z</cp:lastPrinted>
  <dcterms:created xsi:type="dcterms:W3CDTF">2000-01-19T01:43:11Z</dcterms:created>
  <dcterms:modified xsi:type="dcterms:W3CDTF">2026-02-03T19:28:27Z</dcterms:modified>
  <cp:category>www.apluscompsci.com</cp:category>
</cp:coreProperties>
</file>