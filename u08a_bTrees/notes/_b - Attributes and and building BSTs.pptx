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1"/>
  </p:notesMasterIdLst>
  <p:handoutMasterIdLst>
    <p:handoutMasterId r:id="rId32"/>
  </p:handoutMasterIdLst>
  <p:sldIdLst>
    <p:sldId id="329" r:id="rId2"/>
    <p:sldId id="279" r:id="rId3"/>
    <p:sldId id="399" r:id="rId4"/>
    <p:sldId id="400" r:id="rId5"/>
    <p:sldId id="401" r:id="rId6"/>
    <p:sldId id="402" r:id="rId7"/>
    <p:sldId id="366" r:id="rId8"/>
    <p:sldId id="397" r:id="rId9"/>
    <p:sldId id="367" r:id="rId10"/>
    <p:sldId id="330" r:id="rId11"/>
    <p:sldId id="388" r:id="rId12"/>
    <p:sldId id="322" r:id="rId13"/>
    <p:sldId id="323" r:id="rId14"/>
    <p:sldId id="383" r:id="rId15"/>
    <p:sldId id="379" r:id="rId16"/>
    <p:sldId id="380" r:id="rId17"/>
    <p:sldId id="381" r:id="rId18"/>
    <p:sldId id="403" r:id="rId19"/>
    <p:sldId id="386" r:id="rId20"/>
    <p:sldId id="362" r:id="rId21"/>
    <p:sldId id="404" r:id="rId22"/>
    <p:sldId id="368" r:id="rId23"/>
    <p:sldId id="328" r:id="rId24"/>
    <p:sldId id="339" r:id="rId25"/>
    <p:sldId id="338" r:id="rId26"/>
    <p:sldId id="389" r:id="rId27"/>
    <p:sldId id="398" r:id="rId28"/>
    <p:sldId id="390" r:id="rId29"/>
    <p:sldId id="387" r:id="rId30"/>
  </p:sldIdLst>
  <p:sldSz cx="9144000" cy="6858000" type="screen4x3"/>
  <p:notesSz cx="6858000" cy="9144000"/>
  <p:custDataLst>
    <p:tags r:id="rId33"/>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CC"/>
    <a:srgbClr val="FFFBFB"/>
    <a:srgbClr val="0099CC"/>
    <a:srgbClr val="003366"/>
    <a:srgbClr val="660066"/>
    <a:srgbClr val="FFFF00"/>
    <a:srgbClr val="FFFFCC"/>
    <a:srgbClr val="FFCCFF"/>
    <a:srgbClr val="99FFFF"/>
    <a:srgbClr val="00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0" autoAdjust="0"/>
    <p:restoredTop sz="88608" autoAdjust="0"/>
  </p:normalViewPr>
  <p:slideViewPr>
    <p:cSldViewPr>
      <p:cViewPr varScale="1">
        <p:scale>
          <a:sx n="81" d="100"/>
          <a:sy n="81" d="100"/>
        </p:scale>
        <p:origin x="1426"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8521485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7828212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063790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10468083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2382043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1625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endParaRPr lang="en-US" dirty="0"/>
          </a:p>
        </p:txBody>
      </p:sp>
    </p:spTree>
    <p:extLst>
      <p:ext uri="{BB962C8B-B14F-4D97-AF65-F5344CB8AC3E}">
        <p14:creationId xmlns:p14="http://schemas.microsoft.com/office/powerpoint/2010/main" val="612330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dirty="0"/>
              <a:t>The maximum distance of any node from the root</a:t>
            </a:r>
            <a:r>
              <a:rPr lang="en-US" dirty="0">
                <a:solidFill>
                  <a:schemeClr val="tx1"/>
                </a:solidFill>
              </a:rPr>
              <a:t>. </a:t>
            </a:r>
            <a:r>
              <a:rPr lang="en-US" dirty="0"/>
              <a:t>If a tree has only one node (the root), the height is zero. The height of an empty tree is not defined.</a:t>
            </a:r>
          </a:p>
        </p:txBody>
      </p:sp>
    </p:spTree>
    <p:extLst>
      <p:ext uri="{BB962C8B-B14F-4D97-AF65-F5344CB8AC3E}">
        <p14:creationId xmlns:p14="http://schemas.microsoft.com/office/powerpoint/2010/main" val="22705151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909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113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216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3187"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extLst>
      <p:ext uri="{BB962C8B-B14F-4D97-AF65-F5344CB8AC3E}">
        <p14:creationId xmlns:p14="http://schemas.microsoft.com/office/powerpoint/2010/main" val="8634619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625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728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6499"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 </a:t>
            </a:r>
            <a:r>
              <a:rPr lang="en-US" b="1"/>
              <a:t>balanced binary tree</a:t>
            </a:r>
            <a:r>
              <a:rPr lang="en-US"/>
              <a:t> is commonly defined as a binary tree in which the depth of the two subtrees of every node never differ by more than 1,</a:t>
            </a:r>
            <a:r>
              <a:rPr lang="en-US" baseline="30000">
                <a:hlinkClick r:id="" action="ppaction://hlinkfile"/>
              </a:rPr>
              <a:t>[3]</a:t>
            </a:r>
            <a:r>
              <a:rPr lang="en-US"/>
              <a:t> although in general it is a binary tree where no leaf is much farther away from the root than any other leaf.  (Different balancing schemes allow different definitions of "much farther"</a:t>
            </a:r>
            <a:r>
              <a:rPr lang="en-US" baseline="30000">
                <a:hlinkClick r:id="" action="ppaction://hlinkfile"/>
              </a:rPr>
              <a:t>[4]</a:t>
            </a:r>
            <a:r>
              <a:rPr lang="en-US"/>
              <a:t>). Binary trees that are balanced according to this definition have a predictable depth (how many nodes are traversed from the root to a leaf, root counting as node 0 and subsequent as 1, 2, ..., depth). This depth is equal to the integer part of where is the number of nodes on the balanced tree. Example 1: balanced tree with 1 node, (depth = 0). Example 2: balanced tree with 3 nodes, (depth=1). Example 3: balanced tree with 5 nodes, (depth of tree is 2 nodes).</a:t>
            </a:r>
          </a:p>
        </p:txBody>
      </p:sp>
    </p:spTree>
    <p:extLst>
      <p:ext uri="{BB962C8B-B14F-4D97-AF65-F5344CB8AC3E}">
        <p14:creationId xmlns:p14="http://schemas.microsoft.com/office/powerpoint/2010/main" val="30170686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6499"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 </a:t>
            </a:r>
            <a:r>
              <a:rPr lang="en-US" b="1"/>
              <a:t>balanced binary tree</a:t>
            </a:r>
            <a:r>
              <a:rPr lang="en-US"/>
              <a:t> is commonly defined as a binary tree in which the depth of the two subtrees of every node never differ by more than 1,</a:t>
            </a:r>
            <a:r>
              <a:rPr lang="en-US" baseline="30000">
                <a:hlinkClick r:id="" action="ppaction://hlinkfile"/>
              </a:rPr>
              <a:t>[3]</a:t>
            </a:r>
            <a:r>
              <a:rPr lang="en-US"/>
              <a:t> although in general it is a binary tree where no leaf is much farther away from the root than any other leaf.  (Different balancing schemes allow different definitions of "much farther"</a:t>
            </a:r>
            <a:r>
              <a:rPr lang="en-US" baseline="30000">
                <a:hlinkClick r:id="" action="ppaction://hlinkfile"/>
              </a:rPr>
              <a:t>[4]</a:t>
            </a:r>
            <a:r>
              <a:rPr lang="en-US"/>
              <a:t>). Binary trees that are balanced according to this definition have a predictable depth (how many nodes are traversed from the root to a leaf, root counting as node 0 and subsequent as 1, 2, ..., depth). This depth is equal to the integer part of where is the number of nodes on the balanced tree. Example 1: balanced tree with 1 node, (depth = 0). Example 2: balanced tree with 3 nodes, (depth=1). Example 3: balanced tree with 5 nodes, (depth of tree is 2 nodes).</a:t>
            </a:r>
          </a:p>
        </p:txBody>
      </p:sp>
    </p:spTree>
    <p:extLst>
      <p:ext uri="{BB962C8B-B14F-4D97-AF65-F5344CB8AC3E}">
        <p14:creationId xmlns:p14="http://schemas.microsoft.com/office/powerpoint/2010/main" val="26654512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This slide is editable.</a:t>
            </a:r>
          </a:p>
        </p:txBody>
      </p:sp>
    </p:spTree>
    <p:extLst>
      <p:ext uri="{BB962C8B-B14F-4D97-AF65-F5344CB8AC3E}">
        <p14:creationId xmlns:p14="http://schemas.microsoft.com/office/powerpoint/2010/main" val="2865325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w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wm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Attributes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3380702" y="35814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18502" y="5538763"/>
            <a:ext cx="7924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every </a:t>
            </a:r>
            <a:r>
              <a:rPr lang="en-US" sz="2800" b="1" u="sng" dirty="0"/>
              <a:t>parent</a:t>
            </a:r>
            <a:r>
              <a:rPr lang="en-US" sz="2800" b="1" dirty="0"/>
              <a:t> is full.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solidFill>
                  <a:schemeClr val="accent6">
                    <a:lumMod val="75000"/>
                  </a:schemeClr>
                </a:solidFill>
              </a:rPr>
              <a:t>Full binary tree theorem: The number of leaves is always one more than the number of parents (a.k.a. internal nodes).</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1066800" y="45720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40736" y="3773377"/>
            <a:ext cx="59918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r>
              <a:rPr lang="en-US" sz="2800" b="1" dirty="0">
                <a:solidFill>
                  <a:schemeClr val="accent6">
                    <a:lumMod val="75000"/>
                  </a:schemeClr>
                </a:solidFill>
              </a:rPr>
              <a:t>Leaves = Parents + 1</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5257800" y="4807487"/>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1304887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solidFill>
                  <a:schemeClr val="accent6">
                    <a:lumMod val="75000"/>
                  </a:schemeClr>
                </a:solidFill>
              </a:rPr>
              <a:t>Full binary tree theorem 2: The number of nodes is always one more than twice the number of parents (a.k.a. internal nodes).</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1905000" y="38862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5744084" y="4040492"/>
            <a:ext cx="2895600" cy="1297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chemeClr val="accent6">
                    <a:lumMod val="75000"/>
                  </a:schemeClr>
                </a:solidFill>
              </a:rPr>
              <a:t>N = 2 * P + 1</a:t>
            </a:r>
          </a:p>
          <a:p>
            <a:pPr algn="ctr">
              <a:lnSpc>
                <a:spcPct val="150000"/>
              </a:lnSpc>
            </a:pPr>
            <a:r>
              <a:rPr lang="en-US" sz="2800" b="1" dirty="0">
                <a:solidFill>
                  <a:schemeClr val="accent6">
                    <a:lumMod val="75000"/>
                  </a:schemeClr>
                </a:solidFill>
              </a:rPr>
              <a:t>P = (N – 1) / 2</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
        <p:nvSpPr>
          <p:cNvPr id="4" name="Text Box 3">
            <a:extLst>
              <a:ext uri="{FF2B5EF4-FFF2-40B4-BE49-F238E27FC236}">
                <a16:creationId xmlns:a16="http://schemas.microsoft.com/office/drawing/2014/main" id="{3B56DC99-BA41-CF37-3C23-828674C963DD}"/>
              </a:ext>
            </a:extLst>
          </p:cNvPr>
          <p:cNvSpPr txBox="1">
            <a:spLocks noChangeArrowheads="1"/>
          </p:cNvSpPr>
          <p:nvPr/>
        </p:nvSpPr>
        <p:spPr bwMode="auto">
          <a:xfrm>
            <a:off x="5742529" y="5512272"/>
            <a:ext cx="2895600" cy="65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chemeClr val="accent6">
                    <a:lumMod val="75000"/>
                  </a:schemeClr>
                </a:solidFill>
              </a:rPr>
              <a:t>L = ????????</a:t>
            </a:r>
          </a:p>
        </p:txBody>
      </p:sp>
    </p:spTree>
    <p:extLst>
      <p:ext uri="{BB962C8B-B14F-4D97-AF65-F5344CB8AC3E}">
        <p14:creationId xmlns:p14="http://schemas.microsoft.com/office/powerpoint/2010/main" val="4165881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504316" y="2832336"/>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4572000" y="2438400"/>
            <a:ext cx="4191000" cy="38824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rgbClr val="0000CC"/>
                </a:solidFill>
              </a:rPr>
              <a:t>P = (N – 1)/2</a:t>
            </a:r>
          </a:p>
          <a:p>
            <a:pPr algn="ctr">
              <a:lnSpc>
                <a:spcPct val="150000"/>
              </a:lnSpc>
            </a:pPr>
            <a:r>
              <a:rPr lang="en-US" sz="2800" b="1" dirty="0">
                <a:solidFill>
                  <a:schemeClr val="accent6">
                    <a:lumMod val="75000"/>
                  </a:schemeClr>
                </a:solidFill>
              </a:rPr>
              <a:t>L – 1 = (N – 1)/2</a:t>
            </a:r>
          </a:p>
          <a:p>
            <a:pPr algn="ctr">
              <a:lnSpc>
                <a:spcPct val="150000"/>
              </a:lnSpc>
            </a:pPr>
            <a:r>
              <a:rPr lang="en-US" sz="2800" b="1" dirty="0">
                <a:solidFill>
                  <a:schemeClr val="accent6">
                    <a:lumMod val="75000"/>
                  </a:schemeClr>
                </a:solidFill>
              </a:rPr>
              <a:t>L = (N – 1)/2 + 1</a:t>
            </a:r>
          </a:p>
          <a:p>
            <a:pPr algn="ctr">
              <a:lnSpc>
                <a:spcPct val="150000"/>
              </a:lnSpc>
            </a:pPr>
            <a:r>
              <a:rPr lang="en-US" sz="2800" b="1" dirty="0">
                <a:solidFill>
                  <a:schemeClr val="accent6">
                    <a:lumMod val="75000"/>
                  </a:schemeClr>
                </a:solidFill>
              </a:rPr>
              <a:t>L = (N – 1)/2 + 2/2</a:t>
            </a:r>
          </a:p>
          <a:p>
            <a:pPr algn="ctr">
              <a:lnSpc>
                <a:spcPct val="150000"/>
              </a:lnSpc>
            </a:pPr>
            <a:r>
              <a:rPr lang="en-US" sz="2800" b="1" dirty="0">
                <a:solidFill>
                  <a:schemeClr val="accent6">
                    <a:lumMod val="75000"/>
                  </a:schemeClr>
                </a:solidFill>
              </a:rPr>
              <a:t>L = (N – 1 + 2)/2</a:t>
            </a:r>
          </a:p>
          <a:p>
            <a:pPr algn="ctr">
              <a:lnSpc>
                <a:spcPct val="150000"/>
              </a:lnSpc>
            </a:pPr>
            <a:r>
              <a:rPr lang="en-US" sz="2800" b="1" dirty="0">
                <a:solidFill>
                  <a:srgbClr val="0000CC"/>
                </a:solidFill>
              </a:rPr>
              <a:t>L = (N + 1) / 2</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1573790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504316" y="2832336"/>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4572000" y="2555058"/>
            <a:ext cx="4191000" cy="3236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rgbClr val="0000CC"/>
                </a:solidFill>
              </a:rPr>
              <a:t>N = 2P + 1</a:t>
            </a:r>
          </a:p>
          <a:p>
            <a:pPr algn="ctr">
              <a:lnSpc>
                <a:spcPct val="150000"/>
              </a:lnSpc>
            </a:pPr>
            <a:r>
              <a:rPr lang="en-US" sz="2800" b="1" dirty="0">
                <a:solidFill>
                  <a:srgbClr val="0000CC"/>
                </a:solidFill>
              </a:rPr>
              <a:t>P = (N – 1) / 2</a:t>
            </a:r>
          </a:p>
          <a:p>
            <a:pPr algn="ctr">
              <a:lnSpc>
                <a:spcPct val="150000"/>
              </a:lnSpc>
            </a:pPr>
            <a:endParaRPr lang="en-US" sz="2800" b="1" dirty="0">
              <a:solidFill>
                <a:srgbClr val="0000CC"/>
              </a:solidFill>
            </a:endParaRPr>
          </a:p>
          <a:p>
            <a:pPr algn="ctr">
              <a:lnSpc>
                <a:spcPct val="150000"/>
              </a:lnSpc>
            </a:pPr>
            <a:r>
              <a:rPr lang="en-US" sz="2800" b="1" dirty="0">
                <a:solidFill>
                  <a:srgbClr val="0000CC"/>
                </a:solidFill>
              </a:rPr>
              <a:t>L = (N + 1) / 2</a:t>
            </a:r>
          </a:p>
          <a:p>
            <a:pPr algn="ctr">
              <a:lnSpc>
                <a:spcPct val="150000"/>
              </a:lnSpc>
            </a:pPr>
            <a:r>
              <a:rPr lang="en-US" sz="2800" b="1" dirty="0">
                <a:solidFill>
                  <a:srgbClr val="0000CC"/>
                </a:solidFill>
              </a:rPr>
              <a:t>N = 2L – 1</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3920182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838200" y="5511003"/>
            <a:ext cx="7620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NUMLEVELS  -  4 	NUMLEAVES  -  5</a:t>
            </a:r>
          </a:p>
        </p:txBody>
      </p:sp>
      <p:sp>
        <p:nvSpPr>
          <p:cNvPr id="43028"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Attributes</a:t>
            </a:r>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1267F955-D1C6-DFD7-57AC-683EDE7C5161}"/>
              </a:ext>
            </a:extLst>
          </p:cNvPr>
          <p:cNvGrpSpPr/>
          <p:nvPr/>
        </p:nvGrpSpPr>
        <p:grpSpPr>
          <a:xfrm>
            <a:off x="838200" y="1066800"/>
            <a:ext cx="7129463" cy="2057400"/>
            <a:chOff x="838200" y="1066800"/>
            <a:chExt cx="7129463" cy="2057400"/>
          </a:xfrm>
        </p:grpSpPr>
        <p:sp>
          <p:nvSpPr>
            <p:cNvPr id="43012"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3013"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3014"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3015"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43016"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43017"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43018"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43019"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3020"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3021"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3022"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3"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4"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5"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6"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7"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9" name="Oval 20"/>
            <p:cNvSpPr>
              <a:spLocks noChangeArrowheads="1"/>
            </p:cNvSpPr>
            <p:nvPr/>
          </p:nvSpPr>
          <p:spPr bwMode="auto">
            <a:xfrm>
              <a:off x="48006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95</a:t>
              </a:r>
            </a:p>
          </p:txBody>
        </p:sp>
      </p:grpSp>
      <p:sp>
        <p:nvSpPr>
          <p:cNvPr id="3" name="TextBox 2">
            <a:extLst>
              <a:ext uri="{FF2B5EF4-FFF2-40B4-BE49-F238E27FC236}">
                <a16:creationId xmlns:a16="http://schemas.microsoft.com/office/drawing/2014/main" id="{2C6DBC21-0E0F-0EAB-9E24-E21ADE712964}"/>
              </a:ext>
            </a:extLst>
          </p:cNvPr>
          <p:cNvSpPr txBox="1"/>
          <p:nvPr/>
        </p:nvSpPr>
        <p:spPr>
          <a:xfrm>
            <a:off x="560784" y="3542520"/>
            <a:ext cx="8022431" cy="1492716"/>
          </a:xfrm>
          <a:prstGeom prst="rect">
            <a:avLst/>
          </a:prstGeom>
          <a:noFill/>
        </p:spPr>
        <p:txBody>
          <a:bodyPr wrap="square">
            <a:spAutoFit/>
          </a:bodyPr>
          <a:lstStyle/>
          <a:p>
            <a:pPr algn="ctr"/>
            <a:r>
              <a:rPr lang="en-US" sz="2800" b="1" dirty="0"/>
              <a:t>LEVEL = ROW = nodes with same height</a:t>
            </a:r>
          </a:p>
          <a:p>
            <a:pPr algn="ctr"/>
            <a:endParaRPr lang="en-US" sz="700" b="1" dirty="0"/>
          </a:p>
          <a:p>
            <a:pPr algn="ctr"/>
            <a:r>
              <a:rPr lang="en-US" sz="2800" b="1" dirty="0"/>
              <a:t>level 0 contains the root</a:t>
            </a:r>
          </a:p>
          <a:p>
            <a:pPr algn="ctr"/>
            <a:r>
              <a:rPr lang="en-US" sz="2800" b="1" dirty="0"/>
              <a:t> level 1 contains the children of the root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tree&#10;&#10;Description automatically generated">
            <a:extLst>
              <a:ext uri="{FF2B5EF4-FFF2-40B4-BE49-F238E27FC236}">
                <a16:creationId xmlns:a16="http://schemas.microsoft.com/office/drawing/2014/main" id="{4507BF4E-C13F-7F81-A24B-61792B97C2F4}"/>
              </a:ext>
            </a:extLst>
          </p:cNvPr>
          <p:cNvPicPr>
            <a:picLocks noChangeAspect="1"/>
          </p:cNvPicPr>
          <p:nvPr/>
        </p:nvPicPr>
        <p:blipFill rotWithShape="1">
          <a:blip r:embed="rId3">
            <a:extLst>
              <a:ext uri="{28A0092B-C50C-407E-A947-70E740481C1C}">
                <a14:useLocalDpi xmlns:a14="http://schemas.microsoft.com/office/drawing/2010/main" val="0"/>
              </a:ext>
            </a:extLst>
          </a:blip>
          <a:srcRect r="3950"/>
          <a:stretch/>
        </p:blipFill>
        <p:spPr>
          <a:xfrm>
            <a:off x="0" y="381000"/>
            <a:ext cx="8944435" cy="6324600"/>
          </a:xfrm>
          <a:prstGeom prst="rect">
            <a:avLst/>
          </a:prstGeom>
        </p:spPr>
      </p:pic>
      <p:sp>
        <p:nvSpPr>
          <p:cNvPr id="2" name="TextBox 1">
            <a:extLst>
              <a:ext uri="{FF2B5EF4-FFF2-40B4-BE49-F238E27FC236}">
                <a16:creationId xmlns:a16="http://schemas.microsoft.com/office/drawing/2014/main" id="{F6BF22EA-9448-2E2C-539A-E0877611E941}"/>
              </a:ext>
            </a:extLst>
          </p:cNvPr>
          <p:cNvSpPr txBox="1"/>
          <p:nvPr/>
        </p:nvSpPr>
        <p:spPr>
          <a:xfrm>
            <a:off x="228600" y="76200"/>
            <a:ext cx="3352800" cy="1815882"/>
          </a:xfrm>
          <a:prstGeom prst="rect">
            <a:avLst/>
          </a:prstGeom>
          <a:noFill/>
        </p:spPr>
        <p:txBody>
          <a:bodyPr wrap="square">
            <a:spAutoFit/>
          </a:bodyPr>
          <a:lstStyle/>
          <a:p>
            <a:pPr algn="l"/>
            <a:r>
              <a:rPr lang="en-US" sz="2800" b="0" i="0" dirty="0">
                <a:solidFill>
                  <a:srgbClr val="0000CC"/>
                </a:solidFill>
                <a:effectLst/>
                <a:latin typeface="Source Sans Pro SemiBold" panose="020B0603030403020204" pitchFamily="34" charset="0"/>
                <a:ea typeface="Source Sans Pro SemiBold" panose="020B0603030403020204" pitchFamily="34" charset="0"/>
              </a:rPr>
              <a:t>The </a:t>
            </a:r>
            <a:r>
              <a:rPr lang="en-US" sz="2800" b="0" i="0" u="sng" dirty="0">
                <a:solidFill>
                  <a:srgbClr val="0000CC"/>
                </a:solidFill>
                <a:effectLst/>
                <a:latin typeface="Source Sans Pro SemiBold" panose="020B0603030403020204" pitchFamily="34" charset="0"/>
                <a:ea typeface="Source Sans Pro SemiBold" panose="020B0603030403020204" pitchFamily="34" charset="0"/>
              </a:rPr>
              <a:t>depth of a node </a:t>
            </a:r>
            <a:r>
              <a:rPr lang="en-US" sz="2800" b="0" i="0" dirty="0">
                <a:solidFill>
                  <a:srgbClr val="0000CC"/>
                </a:solidFill>
                <a:effectLst/>
                <a:latin typeface="Source Sans Pro SemiBold" panose="020B0603030403020204" pitchFamily="34" charset="0"/>
                <a:ea typeface="Source Sans Pro SemiBold" panose="020B0603030403020204" pitchFamily="34" charset="0"/>
              </a:rPr>
              <a:t>is the number of edges from the root to the node.</a:t>
            </a:r>
          </a:p>
        </p:txBody>
      </p:sp>
      <p:sp>
        <p:nvSpPr>
          <p:cNvPr id="4" name="TextBox 3">
            <a:extLst>
              <a:ext uri="{FF2B5EF4-FFF2-40B4-BE49-F238E27FC236}">
                <a16:creationId xmlns:a16="http://schemas.microsoft.com/office/drawing/2014/main" id="{A9D72184-60F0-C734-FC63-E3624F13A94B}"/>
              </a:ext>
            </a:extLst>
          </p:cNvPr>
          <p:cNvSpPr txBox="1"/>
          <p:nvPr/>
        </p:nvSpPr>
        <p:spPr>
          <a:xfrm>
            <a:off x="190500" y="5092005"/>
            <a:ext cx="4533900" cy="1384995"/>
          </a:xfrm>
          <a:prstGeom prst="rect">
            <a:avLst/>
          </a:prstGeom>
          <a:noFill/>
        </p:spPr>
        <p:txBody>
          <a:bodyPr wrap="square">
            <a:spAutoFit/>
          </a:bodyPr>
          <a:lstStyle/>
          <a:p>
            <a:pPr algn="l"/>
            <a:r>
              <a:rPr lang="en-US" sz="2800" b="0" i="0" dirty="0">
                <a:solidFill>
                  <a:srgbClr val="0000CC"/>
                </a:solidFill>
                <a:effectLst/>
                <a:latin typeface="Source Sans Pro SemiBold" panose="020B0603030403020204" pitchFamily="34" charset="0"/>
                <a:ea typeface="Source Sans Pro SemiBold" panose="020B0603030403020204" pitchFamily="34" charset="0"/>
                <a:cs typeface="Tahoma" panose="020B0604030504040204" pitchFamily="34" charset="0"/>
              </a:rPr>
              <a:t>The </a:t>
            </a:r>
            <a:r>
              <a:rPr lang="en-US" sz="2800" b="0" i="0" u="sng" dirty="0">
                <a:solidFill>
                  <a:srgbClr val="0000CC"/>
                </a:solidFill>
                <a:effectLst/>
                <a:latin typeface="Source Sans Pro SemiBold" panose="020B0603030403020204" pitchFamily="34" charset="0"/>
                <a:ea typeface="Source Sans Pro SemiBold" panose="020B0603030403020204" pitchFamily="34" charset="0"/>
                <a:cs typeface="Tahoma" panose="020B0604030504040204" pitchFamily="34" charset="0"/>
              </a:rPr>
              <a:t>height of a node </a:t>
            </a:r>
            <a:r>
              <a:rPr lang="en-US" sz="2800" b="0" i="0" dirty="0">
                <a:solidFill>
                  <a:srgbClr val="0000CC"/>
                </a:solidFill>
                <a:effectLst/>
                <a:latin typeface="Source Sans Pro SemiBold" panose="020B0603030403020204" pitchFamily="34" charset="0"/>
                <a:ea typeface="Source Sans Pro SemiBold" panose="020B0603030403020204" pitchFamily="34" charset="0"/>
                <a:cs typeface="Tahoma" panose="020B0604030504040204" pitchFamily="34" charset="0"/>
              </a:rPr>
              <a:t>is the number of edges from the node to the deepest leaf.</a:t>
            </a:r>
          </a:p>
        </p:txBody>
      </p:sp>
    </p:spTree>
    <p:extLst>
      <p:ext uri="{BB962C8B-B14F-4D97-AF65-F5344CB8AC3E}">
        <p14:creationId xmlns:p14="http://schemas.microsoft.com/office/powerpoint/2010/main" val="26734783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Footer Placeholder 3"/>
          <p:cNvSpPr>
            <a:spLocks noGrp="1"/>
          </p:cNvSpPr>
          <p:nvPr>
            <p:ph type="ftr" sz="quarter" idx="12"/>
          </p:nvPr>
        </p:nvSpPr>
        <p:spPr>
          <a:xfrm>
            <a:off x="6190673" y="6301698"/>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46083" name="Text Box 2"/>
          <p:cNvSpPr txBox="1">
            <a:spLocks noChangeArrowheads="1"/>
          </p:cNvSpPr>
          <p:nvPr/>
        </p:nvSpPr>
        <p:spPr bwMode="auto">
          <a:xfrm>
            <a:off x="3133436" y="3632021"/>
            <a:ext cx="2743200" cy="592138"/>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a:solidFill>
                  <a:schemeClr val="accent2"/>
                </a:solidFill>
              </a:rPr>
              <a:t>HEIGHT  -  3</a:t>
            </a:r>
          </a:p>
        </p:txBody>
      </p:sp>
      <p:sp>
        <p:nvSpPr>
          <p:cNvPr id="46100"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Height</a:t>
            </a:r>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CCEE31A-BD26-4F07-7DF3-D3CE28CA8CA0}"/>
              </a:ext>
            </a:extLst>
          </p:cNvPr>
          <p:cNvGrpSpPr/>
          <p:nvPr/>
        </p:nvGrpSpPr>
        <p:grpSpPr>
          <a:xfrm>
            <a:off x="838200" y="1066800"/>
            <a:ext cx="7129463" cy="2057400"/>
            <a:chOff x="838200" y="1066800"/>
            <a:chExt cx="7129463" cy="2057400"/>
          </a:xfrm>
        </p:grpSpPr>
        <p:sp>
          <p:nvSpPr>
            <p:cNvPr id="46084"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6085"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6086"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6087"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46088"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46089"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46090"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46091"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6092"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6093"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6094" name="Line 13"/>
            <p:cNvSpPr>
              <a:spLocks noChangeShapeType="1"/>
            </p:cNvSpPr>
            <p:nvPr/>
          </p:nvSpPr>
          <p:spPr bwMode="auto">
            <a:xfrm flipH="1">
              <a:off x="2895600" y="1371600"/>
              <a:ext cx="1371600" cy="304800"/>
            </a:xfrm>
            <a:prstGeom prst="line">
              <a:avLst/>
            </a:prstGeom>
            <a:noFill/>
            <a:ln w="762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5"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6" name="Line 15"/>
            <p:cNvSpPr>
              <a:spLocks noChangeShapeType="1"/>
            </p:cNvSpPr>
            <p:nvPr/>
          </p:nvSpPr>
          <p:spPr bwMode="auto">
            <a:xfrm flipH="1">
              <a:off x="1977170" y="1981200"/>
              <a:ext cx="232629" cy="2286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7"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8" name="Line 17"/>
            <p:cNvSpPr>
              <a:spLocks noChangeShapeType="1"/>
            </p:cNvSpPr>
            <p:nvPr/>
          </p:nvSpPr>
          <p:spPr bwMode="auto">
            <a:xfrm>
              <a:off x="2819400" y="1981200"/>
              <a:ext cx="304800" cy="152400"/>
            </a:xfrm>
            <a:prstGeom prst="line">
              <a:avLst/>
            </a:prstGeom>
            <a:noFill/>
            <a:ln w="762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9"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101" name="Oval 20"/>
            <p:cNvSpPr>
              <a:spLocks noChangeArrowheads="1"/>
            </p:cNvSpPr>
            <p:nvPr/>
          </p:nvSpPr>
          <p:spPr bwMode="auto">
            <a:xfrm>
              <a:off x="48006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95</a:t>
              </a:r>
            </a:p>
          </p:txBody>
        </p:sp>
        <p:sp>
          <p:nvSpPr>
            <p:cNvPr id="28" name="Line 16"/>
            <p:cNvSpPr>
              <a:spLocks noChangeShapeType="1"/>
            </p:cNvSpPr>
            <p:nvPr/>
          </p:nvSpPr>
          <p:spPr bwMode="auto">
            <a:xfrm flipH="1">
              <a:off x="5410200" y="25908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 name="Line 17"/>
            <p:cNvSpPr>
              <a:spLocks noChangeShapeType="1"/>
            </p:cNvSpPr>
            <p:nvPr/>
          </p:nvSpPr>
          <p:spPr bwMode="auto">
            <a:xfrm>
              <a:off x="3581400" y="2584938"/>
              <a:ext cx="228600" cy="152400"/>
            </a:xfrm>
            <a:prstGeom prst="line">
              <a:avLst/>
            </a:prstGeom>
            <a:noFill/>
            <a:ln w="762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 name="Line 17"/>
            <p:cNvSpPr>
              <a:spLocks noChangeShapeType="1"/>
            </p:cNvSpPr>
            <p:nvPr/>
          </p:nvSpPr>
          <p:spPr bwMode="auto">
            <a:xfrm>
              <a:off x="1824771" y="25908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 name="Line 15"/>
            <p:cNvSpPr>
              <a:spLocks noChangeShapeType="1"/>
            </p:cNvSpPr>
            <p:nvPr/>
          </p:nvSpPr>
          <p:spPr bwMode="auto">
            <a:xfrm flipH="1">
              <a:off x="1411532" y="2584938"/>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 name="TextBox 2">
            <a:extLst>
              <a:ext uri="{FF2B5EF4-FFF2-40B4-BE49-F238E27FC236}">
                <a16:creationId xmlns:a16="http://schemas.microsoft.com/office/drawing/2014/main" id="{5EBCEA05-9D2F-A6F5-8363-F365E1528B34}"/>
              </a:ext>
            </a:extLst>
          </p:cNvPr>
          <p:cNvSpPr txBox="1"/>
          <p:nvPr/>
        </p:nvSpPr>
        <p:spPr>
          <a:xfrm>
            <a:off x="533400" y="4849881"/>
            <a:ext cx="8382000" cy="650819"/>
          </a:xfrm>
          <a:prstGeom prst="rect">
            <a:avLst/>
          </a:prstGeom>
          <a:noFill/>
        </p:spPr>
        <p:txBody>
          <a:bodyPr wrap="square">
            <a:spAutoFit/>
          </a:bodyPr>
          <a:lstStyle/>
          <a:p>
            <a:pPr>
              <a:lnSpc>
                <a:spcPct val="150000"/>
              </a:lnSpc>
              <a:tabLst>
                <a:tab pos="1311275" algn="l"/>
              </a:tabLst>
            </a:pPr>
            <a:r>
              <a:rPr lang="en-US" sz="2800" b="1" dirty="0"/>
              <a:t>Height	= # of edges from root to lowest leaf</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45059" name="Text Box 2"/>
          <p:cNvSpPr txBox="1">
            <a:spLocks noChangeArrowheads="1"/>
          </p:cNvSpPr>
          <p:nvPr/>
        </p:nvSpPr>
        <p:spPr bwMode="auto">
          <a:xfrm>
            <a:off x="3126580" y="3746500"/>
            <a:ext cx="3045619" cy="584775"/>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solidFill>
                  <a:schemeClr val="accent2"/>
                </a:solidFill>
              </a:rPr>
              <a:t>Diameter =  6</a:t>
            </a:r>
          </a:p>
        </p:txBody>
      </p:sp>
      <p:grpSp>
        <p:nvGrpSpPr>
          <p:cNvPr id="4" name="Group 3"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9CE86303-9B5C-E8E0-D1B7-1D29BE50BED0}"/>
              </a:ext>
            </a:extLst>
          </p:cNvPr>
          <p:cNvGrpSpPr/>
          <p:nvPr/>
        </p:nvGrpSpPr>
        <p:grpSpPr>
          <a:xfrm>
            <a:off x="838200" y="1066800"/>
            <a:ext cx="7129463" cy="2057400"/>
            <a:chOff x="838200" y="1066800"/>
            <a:chExt cx="7129463" cy="2057400"/>
          </a:xfrm>
        </p:grpSpPr>
        <p:sp>
          <p:nvSpPr>
            <p:cNvPr id="45060"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5061"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5062"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5063"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45064"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45065"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45066"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dirty="0"/>
                <a:t>150</a:t>
              </a:r>
            </a:p>
          </p:txBody>
        </p:sp>
        <p:sp>
          <p:nvSpPr>
            <p:cNvPr id="45067"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5068"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5069"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5070"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1"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2"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3"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4"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5"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7" name="Oval 20"/>
            <p:cNvSpPr>
              <a:spLocks noChangeArrowheads="1"/>
            </p:cNvSpPr>
            <p:nvPr/>
          </p:nvSpPr>
          <p:spPr bwMode="auto">
            <a:xfrm>
              <a:off x="48006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95</a:t>
              </a:r>
            </a:p>
          </p:txBody>
        </p:sp>
      </p:grpSp>
      <p:sp>
        <p:nvSpPr>
          <p:cNvPr id="90136" name="Text Box 24">
            <a:extLst>
              <a:ext uri="{C183D7F6-B498-43B3-948B-1728B52AA6E4}">
                <adec:decorative xmlns:adec="http://schemas.microsoft.com/office/drawing/2017/decorative" val="1"/>
              </a:ext>
            </a:extLst>
          </p:cNvPr>
          <p:cNvSpPr txBox="1">
            <a:spLocks noChangeArrowheads="1"/>
          </p:cNvSpPr>
          <p:nvPr/>
        </p:nvSpPr>
        <p:spPr bwMode="auto">
          <a:xfrm>
            <a:off x="685800" y="25908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37" name="Text Box 25">
            <a:extLst>
              <a:ext uri="{C183D7F6-B498-43B3-948B-1728B52AA6E4}">
                <adec:decorative xmlns:adec="http://schemas.microsoft.com/office/drawing/2017/decorative" val="1"/>
              </a:ext>
            </a:extLst>
          </p:cNvPr>
          <p:cNvSpPr txBox="1">
            <a:spLocks noChangeArrowheads="1"/>
          </p:cNvSpPr>
          <p:nvPr/>
        </p:nvSpPr>
        <p:spPr bwMode="auto">
          <a:xfrm>
            <a:off x="1143000" y="20574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38" name="Text Box 26">
            <a:extLst>
              <a:ext uri="{C183D7F6-B498-43B3-948B-1728B52AA6E4}">
                <adec:decorative xmlns:adec="http://schemas.microsoft.com/office/drawing/2017/decorative" val="1"/>
              </a:ext>
            </a:extLst>
          </p:cNvPr>
          <p:cNvSpPr txBox="1">
            <a:spLocks noChangeArrowheads="1"/>
          </p:cNvSpPr>
          <p:nvPr/>
        </p:nvSpPr>
        <p:spPr bwMode="auto">
          <a:xfrm>
            <a:off x="1981200" y="15621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39" name="Text Box 27">
            <a:extLst>
              <a:ext uri="{C183D7F6-B498-43B3-948B-1728B52AA6E4}">
                <adec:decorative xmlns:adec="http://schemas.microsoft.com/office/drawing/2017/decorative" val="1"/>
              </a:ext>
            </a:extLst>
          </p:cNvPr>
          <p:cNvSpPr txBox="1">
            <a:spLocks noChangeArrowheads="1"/>
          </p:cNvSpPr>
          <p:nvPr/>
        </p:nvSpPr>
        <p:spPr bwMode="auto">
          <a:xfrm>
            <a:off x="4114800" y="10287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40" name="Text Box 28">
            <a:extLst>
              <a:ext uri="{C183D7F6-B498-43B3-948B-1728B52AA6E4}">
                <adec:decorative xmlns:adec="http://schemas.microsoft.com/office/drawing/2017/decorative" val="1"/>
              </a:ext>
            </a:extLst>
          </p:cNvPr>
          <p:cNvSpPr txBox="1">
            <a:spLocks noChangeArrowheads="1"/>
          </p:cNvSpPr>
          <p:nvPr/>
        </p:nvSpPr>
        <p:spPr bwMode="auto">
          <a:xfrm>
            <a:off x="6172200" y="15621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41" name="Text Box 29">
            <a:extLst>
              <a:ext uri="{C183D7F6-B498-43B3-948B-1728B52AA6E4}">
                <adec:decorative xmlns:adec="http://schemas.microsoft.com/office/drawing/2017/decorative" val="1"/>
              </a:ext>
            </a:extLst>
          </p:cNvPr>
          <p:cNvSpPr txBox="1">
            <a:spLocks noChangeArrowheads="1"/>
          </p:cNvSpPr>
          <p:nvPr/>
        </p:nvSpPr>
        <p:spPr bwMode="auto">
          <a:xfrm>
            <a:off x="5410200" y="20955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42" name="Text Box 30">
            <a:extLst>
              <a:ext uri="{C183D7F6-B498-43B3-948B-1728B52AA6E4}">
                <adec:decorative xmlns:adec="http://schemas.microsoft.com/office/drawing/2017/decorative" val="1"/>
              </a:ext>
            </a:extLst>
          </p:cNvPr>
          <p:cNvSpPr txBox="1">
            <a:spLocks noChangeArrowheads="1"/>
          </p:cNvSpPr>
          <p:nvPr/>
        </p:nvSpPr>
        <p:spPr bwMode="auto">
          <a:xfrm>
            <a:off x="4648200" y="26289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pic>
        <p:nvPicPr>
          <p:cNvPr id="90148" name="Picture 36"/>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9400" y="20574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49" name="Picture 3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2800" y="25908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0" name="Picture 38">
            <a:extLs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81200" y="15113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1" name="Picture 39">
            <a:extLs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14800" y="9906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2" name="Picture 40">
            <a:extLs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2200" y="15240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3" name="Picture 4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00" y="20574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4" name="Picture 4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8200" y="25908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TextBox 2">
            <a:extLst>
              <a:ext uri="{FF2B5EF4-FFF2-40B4-BE49-F238E27FC236}">
                <a16:creationId xmlns:a16="http://schemas.microsoft.com/office/drawing/2014/main" id="{0EC2C0C5-3BB0-1937-3FB3-C837E4DFE2F3}"/>
              </a:ext>
            </a:extLst>
          </p:cNvPr>
          <p:cNvSpPr txBox="1"/>
          <p:nvPr/>
        </p:nvSpPr>
        <p:spPr>
          <a:xfrm>
            <a:off x="632222" y="4813300"/>
            <a:ext cx="8031956" cy="1200329"/>
          </a:xfrm>
          <a:prstGeom prst="rect">
            <a:avLst/>
          </a:prstGeom>
          <a:noFill/>
        </p:spPr>
        <p:txBody>
          <a:bodyPr wrap="square">
            <a:spAutoFit/>
          </a:bodyPr>
          <a:lstStyle/>
          <a:p>
            <a:pPr>
              <a:tabLst>
                <a:tab pos="1655763" algn="l"/>
              </a:tabLst>
            </a:pPr>
            <a:r>
              <a:rPr lang="en-US" sz="2400" b="1" dirty="0"/>
              <a:t>Diameter =  the number of edges on the longest path between two nodes in the tree (does not have to go through the root!)</a:t>
            </a:r>
          </a:p>
        </p:txBody>
      </p:sp>
      <p:sp>
        <p:nvSpPr>
          <p:cNvPr id="2" name="TextBox 1">
            <a:extLst>
              <a:ext uri="{FF2B5EF4-FFF2-40B4-BE49-F238E27FC236}">
                <a16:creationId xmlns:a16="http://schemas.microsoft.com/office/drawing/2014/main" id="{0F8DE7CA-814E-7A2E-6561-E367DCF3A486}"/>
              </a:ext>
            </a:extLst>
          </p:cNvPr>
          <p:cNvSpPr txBox="1"/>
          <p:nvPr/>
        </p:nvSpPr>
        <p:spPr>
          <a:xfrm>
            <a:off x="3145066" y="109746"/>
            <a:ext cx="2808782" cy="769441"/>
          </a:xfrm>
          <a:prstGeom prst="rect">
            <a:avLst/>
          </a:prstGeom>
          <a:noFill/>
        </p:spPr>
        <p:txBody>
          <a:bodyPr wrap="none" rtlCol="0">
            <a:spAutoFit/>
          </a:bodyPr>
          <a:lstStyle/>
          <a:p>
            <a:r>
              <a:rPr lang="en-US" sz="4400" b="1" dirty="0">
                <a:solidFill>
                  <a:srgbClr val="0000CC"/>
                </a:solidFill>
              </a:rPr>
              <a:t>Diameter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90136"/>
                                        </p:tgtEl>
                                        <p:attrNameLst>
                                          <p:attrName>style.visibility</p:attrName>
                                        </p:attrNameLst>
                                      </p:cBhvr>
                                      <p:to>
                                        <p:strVal val="visible"/>
                                      </p:to>
                                    </p:set>
                                    <p:animEffect transition="in" filter="diamond(in)">
                                      <p:cBhvr>
                                        <p:cTn id="7" dur="2000"/>
                                        <p:tgtEl>
                                          <p:spTgt spid="90136"/>
                                        </p:tgtEl>
                                      </p:cBhvr>
                                    </p:animEffect>
                                  </p:childTnLst>
                                </p:cTn>
                              </p:par>
                              <p:par>
                                <p:cTn id="8" presetID="8" presetClass="entr" presetSubtype="16" fill="hold" grpId="0" nodeType="withEffect">
                                  <p:stCondLst>
                                    <p:cond delay="0"/>
                                  </p:stCondLst>
                                  <p:childTnLst>
                                    <p:set>
                                      <p:cBhvr>
                                        <p:cTn id="9" dur="1" fill="hold">
                                          <p:stCondLst>
                                            <p:cond delay="0"/>
                                          </p:stCondLst>
                                        </p:cTn>
                                        <p:tgtEl>
                                          <p:spTgt spid="90137"/>
                                        </p:tgtEl>
                                        <p:attrNameLst>
                                          <p:attrName>style.visibility</p:attrName>
                                        </p:attrNameLst>
                                      </p:cBhvr>
                                      <p:to>
                                        <p:strVal val="visible"/>
                                      </p:to>
                                    </p:set>
                                    <p:animEffect transition="in" filter="diamond(in)">
                                      <p:cBhvr>
                                        <p:cTn id="10" dur="2000"/>
                                        <p:tgtEl>
                                          <p:spTgt spid="90137"/>
                                        </p:tgtEl>
                                      </p:cBhvr>
                                    </p:animEffect>
                                  </p:childTnLst>
                                </p:cTn>
                              </p:par>
                              <p:par>
                                <p:cTn id="11" presetID="8" presetClass="entr" presetSubtype="16" fill="hold" grpId="0" nodeType="withEffect">
                                  <p:stCondLst>
                                    <p:cond delay="0"/>
                                  </p:stCondLst>
                                  <p:childTnLst>
                                    <p:set>
                                      <p:cBhvr>
                                        <p:cTn id="12" dur="1" fill="hold">
                                          <p:stCondLst>
                                            <p:cond delay="0"/>
                                          </p:stCondLst>
                                        </p:cTn>
                                        <p:tgtEl>
                                          <p:spTgt spid="90138"/>
                                        </p:tgtEl>
                                        <p:attrNameLst>
                                          <p:attrName>style.visibility</p:attrName>
                                        </p:attrNameLst>
                                      </p:cBhvr>
                                      <p:to>
                                        <p:strVal val="visible"/>
                                      </p:to>
                                    </p:set>
                                    <p:animEffect transition="in" filter="diamond(in)">
                                      <p:cBhvr>
                                        <p:cTn id="13" dur="2000"/>
                                        <p:tgtEl>
                                          <p:spTgt spid="90138"/>
                                        </p:tgtEl>
                                      </p:cBhvr>
                                    </p:animEffect>
                                  </p:childTnLst>
                                </p:cTn>
                              </p:par>
                              <p:par>
                                <p:cTn id="14" presetID="8" presetClass="entr" presetSubtype="16" fill="hold" grpId="0" nodeType="withEffect">
                                  <p:stCondLst>
                                    <p:cond delay="0"/>
                                  </p:stCondLst>
                                  <p:childTnLst>
                                    <p:set>
                                      <p:cBhvr>
                                        <p:cTn id="15" dur="1" fill="hold">
                                          <p:stCondLst>
                                            <p:cond delay="0"/>
                                          </p:stCondLst>
                                        </p:cTn>
                                        <p:tgtEl>
                                          <p:spTgt spid="90139"/>
                                        </p:tgtEl>
                                        <p:attrNameLst>
                                          <p:attrName>style.visibility</p:attrName>
                                        </p:attrNameLst>
                                      </p:cBhvr>
                                      <p:to>
                                        <p:strVal val="visible"/>
                                      </p:to>
                                    </p:set>
                                    <p:animEffect transition="in" filter="diamond(in)">
                                      <p:cBhvr>
                                        <p:cTn id="16" dur="2000"/>
                                        <p:tgtEl>
                                          <p:spTgt spid="90139"/>
                                        </p:tgtEl>
                                      </p:cBhvr>
                                    </p:animEffect>
                                  </p:childTnLst>
                                </p:cTn>
                              </p:par>
                              <p:par>
                                <p:cTn id="17" presetID="8" presetClass="entr" presetSubtype="16" fill="hold" grpId="0" nodeType="withEffect">
                                  <p:stCondLst>
                                    <p:cond delay="0"/>
                                  </p:stCondLst>
                                  <p:childTnLst>
                                    <p:set>
                                      <p:cBhvr>
                                        <p:cTn id="18" dur="1" fill="hold">
                                          <p:stCondLst>
                                            <p:cond delay="0"/>
                                          </p:stCondLst>
                                        </p:cTn>
                                        <p:tgtEl>
                                          <p:spTgt spid="90140"/>
                                        </p:tgtEl>
                                        <p:attrNameLst>
                                          <p:attrName>style.visibility</p:attrName>
                                        </p:attrNameLst>
                                      </p:cBhvr>
                                      <p:to>
                                        <p:strVal val="visible"/>
                                      </p:to>
                                    </p:set>
                                    <p:animEffect transition="in" filter="diamond(in)">
                                      <p:cBhvr>
                                        <p:cTn id="19" dur="2000"/>
                                        <p:tgtEl>
                                          <p:spTgt spid="90140"/>
                                        </p:tgtEl>
                                      </p:cBhvr>
                                    </p:animEffect>
                                  </p:childTnLst>
                                </p:cTn>
                              </p:par>
                              <p:par>
                                <p:cTn id="20" presetID="8" presetClass="entr" presetSubtype="16" fill="hold" grpId="0" nodeType="withEffect">
                                  <p:stCondLst>
                                    <p:cond delay="0"/>
                                  </p:stCondLst>
                                  <p:childTnLst>
                                    <p:set>
                                      <p:cBhvr>
                                        <p:cTn id="21" dur="1" fill="hold">
                                          <p:stCondLst>
                                            <p:cond delay="0"/>
                                          </p:stCondLst>
                                        </p:cTn>
                                        <p:tgtEl>
                                          <p:spTgt spid="90141"/>
                                        </p:tgtEl>
                                        <p:attrNameLst>
                                          <p:attrName>style.visibility</p:attrName>
                                        </p:attrNameLst>
                                      </p:cBhvr>
                                      <p:to>
                                        <p:strVal val="visible"/>
                                      </p:to>
                                    </p:set>
                                    <p:animEffect transition="in" filter="diamond(in)">
                                      <p:cBhvr>
                                        <p:cTn id="22" dur="2000"/>
                                        <p:tgtEl>
                                          <p:spTgt spid="90141"/>
                                        </p:tgtEl>
                                      </p:cBhvr>
                                    </p:animEffect>
                                  </p:childTnLst>
                                </p:cTn>
                              </p:par>
                              <p:par>
                                <p:cTn id="23" presetID="8" presetClass="entr" presetSubtype="16" fill="hold" grpId="0" nodeType="withEffect">
                                  <p:stCondLst>
                                    <p:cond delay="0"/>
                                  </p:stCondLst>
                                  <p:childTnLst>
                                    <p:set>
                                      <p:cBhvr>
                                        <p:cTn id="24" dur="1" fill="hold">
                                          <p:stCondLst>
                                            <p:cond delay="0"/>
                                          </p:stCondLst>
                                        </p:cTn>
                                        <p:tgtEl>
                                          <p:spTgt spid="90142"/>
                                        </p:tgtEl>
                                        <p:attrNameLst>
                                          <p:attrName>style.visibility</p:attrName>
                                        </p:attrNameLst>
                                      </p:cBhvr>
                                      <p:to>
                                        <p:strVal val="visible"/>
                                      </p:to>
                                    </p:set>
                                    <p:animEffect transition="in" filter="diamond(in)">
                                      <p:cBhvr>
                                        <p:cTn id="25" dur="2000"/>
                                        <p:tgtEl>
                                          <p:spTgt spid="90142"/>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8" presetClass="exit" presetSubtype="16" fill="hold" grpId="1" nodeType="clickEffect">
                                  <p:stCondLst>
                                    <p:cond delay="0"/>
                                  </p:stCondLst>
                                  <p:childTnLst>
                                    <p:animEffect transition="out" filter="diamond(in)">
                                      <p:cBhvr>
                                        <p:cTn id="29" dur="2000"/>
                                        <p:tgtEl>
                                          <p:spTgt spid="90136"/>
                                        </p:tgtEl>
                                      </p:cBhvr>
                                    </p:animEffect>
                                    <p:set>
                                      <p:cBhvr>
                                        <p:cTn id="30" dur="1" fill="hold">
                                          <p:stCondLst>
                                            <p:cond delay="1999"/>
                                          </p:stCondLst>
                                        </p:cTn>
                                        <p:tgtEl>
                                          <p:spTgt spid="90136"/>
                                        </p:tgtEl>
                                        <p:attrNameLst>
                                          <p:attrName>style.visibility</p:attrName>
                                        </p:attrNameLst>
                                      </p:cBhvr>
                                      <p:to>
                                        <p:strVal val="hidden"/>
                                      </p:to>
                                    </p:set>
                                  </p:childTnLst>
                                </p:cTn>
                              </p:par>
                              <p:par>
                                <p:cTn id="31" presetID="8" presetClass="exit" presetSubtype="16" fill="hold" grpId="1" nodeType="withEffect">
                                  <p:stCondLst>
                                    <p:cond delay="0"/>
                                  </p:stCondLst>
                                  <p:childTnLst>
                                    <p:animEffect transition="out" filter="diamond(in)">
                                      <p:cBhvr>
                                        <p:cTn id="32" dur="2000"/>
                                        <p:tgtEl>
                                          <p:spTgt spid="90137"/>
                                        </p:tgtEl>
                                      </p:cBhvr>
                                    </p:animEffect>
                                    <p:set>
                                      <p:cBhvr>
                                        <p:cTn id="33" dur="1" fill="hold">
                                          <p:stCondLst>
                                            <p:cond delay="1999"/>
                                          </p:stCondLst>
                                        </p:cTn>
                                        <p:tgtEl>
                                          <p:spTgt spid="90137"/>
                                        </p:tgtEl>
                                        <p:attrNameLst>
                                          <p:attrName>style.visibility</p:attrName>
                                        </p:attrNameLst>
                                      </p:cBhvr>
                                      <p:to>
                                        <p:strVal val="hidden"/>
                                      </p:to>
                                    </p:set>
                                  </p:childTnLst>
                                </p:cTn>
                              </p:par>
                              <p:par>
                                <p:cTn id="34" presetID="8" presetClass="exit" presetSubtype="16" fill="hold" grpId="1" nodeType="withEffect">
                                  <p:stCondLst>
                                    <p:cond delay="0"/>
                                  </p:stCondLst>
                                  <p:childTnLst>
                                    <p:animEffect transition="out" filter="diamond(in)">
                                      <p:cBhvr>
                                        <p:cTn id="35" dur="2000"/>
                                        <p:tgtEl>
                                          <p:spTgt spid="90138"/>
                                        </p:tgtEl>
                                      </p:cBhvr>
                                    </p:animEffect>
                                    <p:set>
                                      <p:cBhvr>
                                        <p:cTn id="36" dur="1" fill="hold">
                                          <p:stCondLst>
                                            <p:cond delay="1999"/>
                                          </p:stCondLst>
                                        </p:cTn>
                                        <p:tgtEl>
                                          <p:spTgt spid="90138"/>
                                        </p:tgtEl>
                                        <p:attrNameLst>
                                          <p:attrName>style.visibility</p:attrName>
                                        </p:attrNameLst>
                                      </p:cBhvr>
                                      <p:to>
                                        <p:strVal val="hidden"/>
                                      </p:to>
                                    </p:set>
                                  </p:childTnLst>
                                </p:cTn>
                              </p:par>
                              <p:par>
                                <p:cTn id="37" presetID="8" presetClass="exit" presetSubtype="16" fill="hold" grpId="1" nodeType="withEffect">
                                  <p:stCondLst>
                                    <p:cond delay="0"/>
                                  </p:stCondLst>
                                  <p:childTnLst>
                                    <p:animEffect transition="out" filter="diamond(in)">
                                      <p:cBhvr>
                                        <p:cTn id="38" dur="2000"/>
                                        <p:tgtEl>
                                          <p:spTgt spid="90139"/>
                                        </p:tgtEl>
                                      </p:cBhvr>
                                    </p:animEffect>
                                    <p:set>
                                      <p:cBhvr>
                                        <p:cTn id="39" dur="1" fill="hold">
                                          <p:stCondLst>
                                            <p:cond delay="1999"/>
                                          </p:stCondLst>
                                        </p:cTn>
                                        <p:tgtEl>
                                          <p:spTgt spid="90139"/>
                                        </p:tgtEl>
                                        <p:attrNameLst>
                                          <p:attrName>style.visibility</p:attrName>
                                        </p:attrNameLst>
                                      </p:cBhvr>
                                      <p:to>
                                        <p:strVal val="hidden"/>
                                      </p:to>
                                    </p:set>
                                  </p:childTnLst>
                                </p:cTn>
                              </p:par>
                              <p:par>
                                <p:cTn id="40" presetID="8" presetClass="exit" presetSubtype="16" fill="hold" grpId="1" nodeType="withEffect">
                                  <p:stCondLst>
                                    <p:cond delay="0"/>
                                  </p:stCondLst>
                                  <p:childTnLst>
                                    <p:animEffect transition="out" filter="diamond(in)">
                                      <p:cBhvr>
                                        <p:cTn id="41" dur="2000"/>
                                        <p:tgtEl>
                                          <p:spTgt spid="90140"/>
                                        </p:tgtEl>
                                      </p:cBhvr>
                                    </p:animEffect>
                                    <p:set>
                                      <p:cBhvr>
                                        <p:cTn id="42" dur="1" fill="hold">
                                          <p:stCondLst>
                                            <p:cond delay="1999"/>
                                          </p:stCondLst>
                                        </p:cTn>
                                        <p:tgtEl>
                                          <p:spTgt spid="90140"/>
                                        </p:tgtEl>
                                        <p:attrNameLst>
                                          <p:attrName>style.visibility</p:attrName>
                                        </p:attrNameLst>
                                      </p:cBhvr>
                                      <p:to>
                                        <p:strVal val="hidden"/>
                                      </p:to>
                                    </p:set>
                                  </p:childTnLst>
                                </p:cTn>
                              </p:par>
                              <p:par>
                                <p:cTn id="43" presetID="8" presetClass="exit" presetSubtype="16" fill="hold" grpId="1" nodeType="withEffect">
                                  <p:stCondLst>
                                    <p:cond delay="0"/>
                                  </p:stCondLst>
                                  <p:childTnLst>
                                    <p:animEffect transition="out" filter="diamond(in)">
                                      <p:cBhvr>
                                        <p:cTn id="44" dur="2000"/>
                                        <p:tgtEl>
                                          <p:spTgt spid="90141"/>
                                        </p:tgtEl>
                                      </p:cBhvr>
                                    </p:animEffect>
                                    <p:set>
                                      <p:cBhvr>
                                        <p:cTn id="45" dur="1" fill="hold">
                                          <p:stCondLst>
                                            <p:cond delay="1999"/>
                                          </p:stCondLst>
                                        </p:cTn>
                                        <p:tgtEl>
                                          <p:spTgt spid="90141"/>
                                        </p:tgtEl>
                                        <p:attrNameLst>
                                          <p:attrName>style.visibility</p:attrName>
                                        </p:attrNameLst>
                                      </p:cBhvr>
                                      <p:to>
                                        <p:strVal val="hidden"/>
                                      </p:to>
                                    </p:set>
                                  </p:childTnLst>
                                </p:cTn>
                              </p:par>
                              <p:par>
                                <p:cTn id="46" presetID="8" presetClass="exit" presetSubtype="16" fill="hold" grpId="1" nodeType="withEffect">
                                  <p:stCondLst>
                                    <p:cond delay="0"/>
                                  </p:stCondLst>
                                  <p:childTnLst>
                                    <p:animEffect transition="out" filter="diamond(in)">
                                      <p:cBhvr>
                                        <p:cTn id="47" dur="2000"/>
                                        <p:tgtEl>
                                          <p:spTgt spid="90142"/>
                                        </p:tgtEl>
                                      </p:cBhvr>
                                    </p:animEffect>
                                    <p:set>
                                      <p:cBhvr>
                                        <p:cTn id="48" dur="1" fill="hold">
                                          <p:stCondLst>
                                            <p:cond delay="1999"/>
                                          </p:stCondLst>
                                        </p:cTn>
                                        <p:tgtEl>
                                          <p:spTgt spid="90142"/>
                                        </p:tgtEl>
                                        <p:attrNameLst>
                                          <p:attrName>style.visibility</p:attrName>
                                        </p:attrNameLst>
                                      </p:cBhvr>
                                      <p:to>
                                        <p:strVal val="hidden"/>
                                      </p:to>
                                    </p:set>
                                  </p:childTnLst>
                                </p:cTn>
                              </p:par>
                            </p:childTnLst>
                          </p:cTn>
                        </p:par>
                      </p:childTnLst>
                    </p:cTn>
                  </p:par>
                  <p:par>
                    <p:cTn id="49" fill="hold" nodeType="clickPar">
                      <p:stCondLst>
                        <p:cond delay="indefinite"/>
                      </p:stCondLst>
                      <p:childTnLst>
                        <p:par>
                          <p:cTn id="50" fill="hold" nodeType="withGroup">
                            <p:stCondLst>
                              <p:cond delay="0"/>
                            </p:stCondLst>
                            <p:childTnLst>
                              <p:par>
                                <p:cTn id="51" presetID="8" presetClass="entr" presetSubtype="16" fill="hold" nodeType="clickEffect">
                                  <p:stCondLst>
                                    <p:cond delay="0"/>
                                  </p:stCondLst>
                                  <p:childTnLst>
                                    <p:set>
                                      <p:cBhvr>
                                        <p:cTn id="52" dur="1" fill="hold">
                                          <p:stCondLst>
                                            <p:cond delay="0"/>
                                          </p:stCondLst>
                                        </p:cTn>
                                        <p:tgtEl>
                                          <p:spTgt spid="90149"/>
                                        </p:tgtEl>
                                        <p:attrNameLst>
                                          <p:attrName>style.visibility</p:attrName>
                                        </p:attrNameLst>
                                      </p:cBhvr>
                                      <p:to>
                                        <p:strVal val="visible"/>
                                      </p:to>
                                    </p:set>
                                    <p:animEffect transition="in" filter="diamond(in)">
                                      <p:cBhvr>
                                        <p:cTn id="53" dur="2000"/>
                                        <p:tgtEl>
                                          <p:spTgt spid="90149"/>
                                        </p:tgtEl>
                                      </p:cBhvr>
                                    </p:animEffect>
                                  </p:childTnLst>
                                </p:cTn>
                              </p:par>
                              <p:par>
                                <p:cTn id="54" presetID="8" presetClass="entr" presetSubtype="16" fill="hold" nodeType="withEffect">
                                  <p:stCondLst>
                                    <p:cond delay="0"/>
                                  </p:stCondLst>
                                  <p:childTnLst>
                                    <p:set>
                                      <p:cBhvr>
                                        <p:cTn id="55" dur="1" fill="hold">
                                          <p:stCondLst>
                                            <p:cond delay="0"/>
                                          </p:stCondLst>
                                        </p:cTn>
                                        <p:tgtEl>
                                          <p:spTgt spid="90150"/>
                                        </p:tgtEl>
                                        <p:attrNameLst>
                                          <p:attrName>style.visibility</p:attrName>
                                        </p:attrNameLst>
                                      </p:cBhvr>
                                      <p:to>
                                        <p:strVal val="visible"/>
                                      </p:to>
                                    </p:set>
                                    <p:animEffect transition="in" filter="diamond(in)">
                                      <p:cBhvr>
                                        <p:cTn id="56" dur="2000"/>
                                        <p:tgtEl>
                                          <p:spTgt spid="90150"/>
                                        </p:tgtEl>
                                      </p:cBhvr>
                                    </p:animEffect>
                                  </p:childTnLst>
                                </p:cTn>
                              </p:par>
                              <p:par>
                                <p:cTn id="57" presetID="8" presetClass="entr" presetSubtype="16" fill="hold" nodeType="withEffect">
                                  <p:stCondLst>
                                    <p:cond delay="0"/>
                                  </p:stCondLst>
                                  <p:childTnLst>
                                    <p:set>
                                      <p:cBhvr>
                                        <p:cTn id="58" dur="1" fill="hold">
                                          <p:stCondLst>
                                            <p:cond delay="0"/>
                                          </p:stCondLst>
                                        </p:cTn>
                                        <p:tgtEl>
                                          <p:spTgt spid="90148"/>
                                        </p:tgtEl>
                                        <p:attrNameLst>
                                          <p:attrName>style.visibility</p:attrName>
                                        </p:attrNameLst>
                                      </p:cBhvr>
                                      <p:to>
                                        <p:strVal val="visible"/>
                                      </p:to>
                                    </p:set>
                                    <p:animEffect transition="in" filter="diamond(in)">
                                      <p:cBhvr>
                                        <p:cTn id="59" dur="2000"/>
                                        <p:tgtEl>
                                          <p:spTgt spid="90148"/>
                                        </p:tgtEl>
                                      </p:cBhvr>
                                    </p:animEffect>
                                  </p:childTnLst>
                                </p:cTn>
                              </p:par>
                              <p:par>
                                <p:cTn id="60" presetID="8" presetClass="entr" presetSubtype="16" fill="hold" nodeType="withEffect">
                                  <p:stCondLst>
                                    <p:cond delay="0"/>
                                  </p:stCondLst>
                                  <p:childTnLst>
                                    <p:set>
                                      <p:cBhvr>
                                        <p:cTn id="61" dur="1" fill="hold">
                                          <p:stCondLst>
                                            <p:cond delay="0"/>
                                          </p:stCondLst>
                                        </p:cTn>
                                        <p:tgtEl>
                                          <p:spTgt spid="90151"/>
                                        </p:tgtEl>
                                        <p:attrNameLst>
                                          <p:attrName>style.visibility</p:attrName>
                                        </p:attrNameLst>
                                      </p:cBhvr>
                                      <p:to>
                                        <p:strVal val="visible"/>
                                      </p:to>
                                    </p:set>
                                    <p:animEffect transition="in" filter="diamond(in)">
                                      <p:cBhvr>
                                        <p:cTn id="62" dur="2000"/>
                                        <p:tgtEl>
                                          <p:spTgt spid="90151"/>
                                        </p:tgtEl>
                                      </p:cBhvr>
                                    </p:animEffect>
                                  </p:childTnLst>
                                </p:cTn>
                              </p:par>
                              <p:par>
                                <p:cTn id="63" presetID="8" presetClass="entr" presetSubtype="16" fill="hold" nodeType="withEffect">
                                  <p:stCondLst>
                                    <p:cond delay="0"/>
                                  </p:stCondLst>
                                  <p:childTnLst>
                                    <p:set>
                                      <p:cBhvr>
                                        <p:cTn id="64" dur="1" fill="hold">
                                          <p:stCondLst>
                                            <p:cond delay="0"/>
                                          </p:stCondLst>
                                        </p:cTn>
                                        <p:tgtEl>
                                          <p:spTgt spid="90152"/>
                                        </p:tgtEl>
                                        <p:attrNameLst>
                                          <p:attrName>style.visibility</p:attrName>
                                        </p:attrNameLst>
                                      </p:cBhvr>
                                      <p:to>
                                        <p:strVal val="visible"/>
                                      </p:to>
                                    </p:set>
                                    <p:animEffect transition="in" filter="diamond(in)">
                                      <p:cBhvr>
                                        <p:cTn id="65" dur="2000"/>
                                        <p:tgtEl>
                                          <p:spTgt spid="90152"/>
                                        </p:tgtEl>
                                      </p:cBhvr>
                                    </p:animEffect>
                                  </p:childTnLst>
                                </p:cTn>
                              </p:par>
                              <p:par>
                                <p:cTn id="66" presetID="8" presetClass="entr" presetSubtype="16" fill="hold" nodeType="withEffect">
                                  <p:stCondLst>
                                    <p:cond delay="0"/>
                                  </p:stCondLst>
                                  <p:childTnLst>
                                    <p:set>
                                      <p:cBhvr>
                                        <p:cTn id="67" dur="1" fill="hold">
                                          <p:stCondLst>
                                            <p:cond delay="0"/>
                                          </p:stCondLst>
                                        </p:cTn>
                                        <p:tgtEl>
                                          <p:spTgt spid="90153"/>
                                        </p:tgtEl>
                                        <p:attrNameLst>
                                          <p:attrName>style.visibility</p:attrName>
                                        </p:attrNameLst>
                                      </p:cBhvr>
                                      <p:to>
                                        <p:strVal val="visible"/>
                                      </p:to>
                                    </p:set>
                                    <p:animEffect transition="in" filter="diamond(in)">
                                      <p:cBhvr>
                                        <p:cTn id="68" dur="2000"/>
                                        <p:tgtEl>
                                          <p:spTgt spid="90153"/>
                                        </p:tgtEl>
                                      </p:cBhvr>
                                    </p:animEffect>
                                  </p:childTnLst>
                                </p:cTn>
                              </p:par>
                              <p:par>
                                <p:cTn id="69" presetID="8" presetClass="entr" presetSubtype="16" fill="hold" nodeType="withEffect">
                                  <p:stCondLst>
                                    <p:cond delay="0"/>
                                  </p:stCondLst>
                                  <p:childTnLst>
                                    <p:set>
                                      <p:cBhvr>
                                        <p:cTn id="70" dur="1" fill="hold">
                                          <p:stCondLst>
                                            <p:cond delay="0"/>
                                          </p:stCondLst>
                                        </p:cTn>
                                        <p:tgtEl>
                                          <p:spTgt spid="90154"/>
                                        </p:tgtEl>
                                        <p:attrNameLst>
                                          <p:attrName>style.visibility</p:attrName>
                                        </p:attrNameLst>
                                      </p:cBhvr>
                                      <p:to>
                                        <p:strVal val="visible"/>
                                      </p:to>
                                    </p:set>
                                    <p:animEffect transition="in" filter="diamond(in)">
                                      <p:cBhvr>
                                        <p:cTn id="71" dur="2000"/>
                                        <p:tgtEl>
                                          <p:spTgt spid="90154"/>
                                        </p:tgtEl>
                                      </p:cBhvr>
                                    </p:animEffect>
                                  </p:childTnLst>
                                </p:cTn>
                              </p:par>
                            </p:childTnLst>
                          </p:cTn>
                        </p:par>
                      </p:childTnLst>
                    </p:cTn>
                  </p:par>
                  <p:par>
                    <p:cTn id="72" fill="hold" nodeType="clickPar">
                      <p:stCondLst>
                        <p:cond delay="indefinite"/>
                      </p:stCondLst>
                      <p:childTnLst>
                        <p:par>
                          <p:cTn id="73" fill="hold" nodeType="withGroup">
                            <p:stCondLst>
                              <p:cond delay="0"/>
                            </p:stCondLst>
                            <p:childTnLst>
                              <p:par>
                                <p:cTn id="74" presetID="8" presetClass="exit" presetSubtype="16" fill="hold" nodeType="clickEffect">
                                  <p:stCondLst>
                                    <p:cond delay="0"/>
                                  </p:stCondLst>
                                  <p:childTnLst>
                                    <p:animEffect transition="out" filter="diamond(in)">
                                      <p:cBhvr>
                                        <p:cTn id="75" dur="2000"/>
                                        <p:tgtEl>
                                          <p:spTgt spid="90149"/>
                                        </p:tgtEl>
                                      </p:cBhvr>
                                    </p:animEffect>
                                    <p:set>
                                      <p:cBhvr>
                                        <p:cTn id="76" dur="1" fill="hold">
                                          <p:stCondLst>
                                            <p:cond delay="1999"/>
                                          </p:stCondLst>
                                        </p:cTn>
                                        <p:tgtEl>
                                          <p:spTgt spid="90149"/>
                                        </p:tgtEl>
                                        <p:attrNameLst>
                                          <p:attrName>style.visibility</p:attrName>
                                        </p:attrNameLst>
                                      </p:cBhvr>
                                      <p:to>
                                        <p:strVal val="hidden"/>
                                      </p:to>
                                    </p:set>
                                  </p:childTnLst>
                                </p:cTn>
                              </p:par>
                              <p:par>
                                <p:cTn id="77" presetID="8" presetClass="exit" presetSubtype="16" fill="hold" nodeType="withEffect">
                                  <p:stCondLst>
                                    <p:cond delay="0"/>
                                  </p:stCondLst>
                                  <p:childTnLst>
                                    <p:animEffect transition="out" filter="diamond(in)">
                                      <p:cBhvr>
                                        <p:cTn id="78" dur="2000"/>
                                        <p:tgtEl>
                                          <p:spTgt spid="90150"/>
                                        </p:tgtEl>
                                      </p:cBhvr>
                                    </p:animEffect>
                                    <p:set>
                                      <p:cBhvr>
                                        <p:cTn id="79" dur="1" fill="hold">
                                          <p:stCondLst>
                                            <p:cond delay="1999"/>
                                          </p:stCondLst>
                                        </p:cTn>
                                        <p:tgtEl>
                                          <p:spTgt spid="90150"/>
                                        </p:tgtEl>
                                        <p:attrNameLst>
                                          <p:attrName>style.visibility</p:attrName>
                                        </p:attrNameLst>
                                      </p:cBhvr>
                                      <p:to>
                                        <p:strVal val="hidden"/>
                                      </p:to>
                                    </p:set>
                                  </p:childTnLst>
                                </p:cTn>
                              </p:par>
                              <p:par>
                                <p:cTn id="80" presetID="8" presetClass="exit" presetSubtype="16" fill="hold" nodeType="withEffect">
                                  <p:stCondLst>
                                    <p:cond delay="0"/>
                                  </p:stCondLst>
                                  <p:childTnLst>
                                    <p:animEffect transition="out" filter="diamond(in)">
                                      <p:cBhvr>
                                        <p:cTn id="81" dur="2000"/>
                                        <p:tgtEl>
                                          <p:spTgt spid="90148"/>
                                        </p:tgtEl>
                                      </p:cBhvr>
                                    </p:animEffect>
                                    <p:set>
                                      <p:cBhvr>
                                        <p:cTn id="82" dur="1" fill="hold">
                                          <p:stCondLst>
                                            <p:cond delay="1999"/>
                                          </p:stCondLst>
                                        </p:cTn>
                                        <p:tgtEl>
                                          <p:spTgt spid="90148"/>
                                        </p:tgtEl>
                                        <p:attrNameLst>
                                          <p:attrName>style.visibility</p:attrName>
                                        </p:attrNameLst>
                                      </p:cBhvr>
                                      <p:to>
                                        <p:strVal val="hidden"/>
                                      </p:to>
                                    </p:set>
                                  </p:childTnLst>
                                </p:cTn>
                              </p:par>
                              <p:par>
                                <p:cTn id="83" presetID="8" presetClass="exit" presetSubtype="16" fill="hold" nodeType="withEffect">
                                  <p:stCondLst>
                                    <p:cond delay="0"/>
                                  </p:stCondLst>
                                  <p:childTnLst>
                                    <p:animEffect transition="out" filter="diamond(in)">
                                      <p:cBhvr>
                                        <p:cTn id="84" dur="2000"/>
                                        <p:tgtEl>
                                          <p:spTgt spid="90151"/>
                                        </p:tgtEl>
                                      </p:cBhvr>
                                    </p:animEffect>
                                    <p:set>
                                      <p:cBhvr>
                                        <p:cTn id="85" dur="1" fill="hold">
                                          <p:stCondLst>
                                            <p:cond delay="1999"/>
                                          </p:stCondLst>
                                        </p:cTn>
                                        <p:tgtEl>
                                          <p:spTgt spid="90151"/>
                                        </p:tgtEl>
                                        <p:attrNameLst>
                                          <p:attrName>style.visibility</p:attrName>
                                        </p:attrNameLst>
                                      </p:cBhvr>
                                      <p:to>
                                        <p:strVal val="hidden"/>
                                      </p:to>
                                    </p:set>
                                  </p:childTnLst>
                                </p:cTn>
                              </p:par>
                              <p:par>
                                <p:cTn id="86" presetID="8" presetClass="exit" presetSubtype="16" fill="hold" nodeType="withEffect">
                                  <p:stCondLst>
                                    <p:cond delay="0"/>
                                  </p:stCondLst>
                                  <p:childTnLst>
                                    <p:animEffect transition="out" filter="diamond(in)">
                                      <p:cBhvr>
                                        <p:cTn id="87" dur="2000"/>
                                        <p:tgtEl>
                                          <p:spTgt spid="90152"/>
                                        </p:tgtEl>
                                      </p:cBhvr>
                                    </p:animEffect>
                                    <p:set>
                                      <p:cBhvr>
                                        <p:cTn id="88" dur="1" fill="hold">
                                          <p:stCondLst>
                                            <p:cond delay="1999"/>
                                          </p:stCondLst>
                                        </p:cTn>
                                        <p:tgtEl>
                                          <p:spTgt spid="90152"/>
                                        </p:tgtEl>
                                        <p:attrNameLst>
                                          <p:attrName>style.visibility</p:attrName>
                                        </p:attrNameLst>
                                      </p:cBhvr>
                                      <p:to>
                                        <p:strVal val="hidden"/>
                                      </p:to>
                                    </p:set>
                                  </p:childTnLst>
                                </p:cTn>
                              </p:par>
                              <p:par>
                                <p:cTn id="89" presetID="8" presetClass="exit" presetSubtype="16" fill="hold" nodeType="withEffect">
                                  <p:stCondLst>
                                    <p:cond delay="0"/>
                                  </p:stCondLst>
                                  <p:childTnLst>
                                    <p:animEffect transition="out" filter="diamond(in)">
                                      <p:cBhvr>
                                        <p:cTn id="90" dur="2000"/>
                                        <p:tgtEl>
                                          <p:spTgt spid="90153"/>
                                        </p:tgtEl>
                                      </p:cBhvr>
                                    </p:animEffect>
                                    <p:set>
                                      <p:cBhvr>
                                        <p:cTn id="91" dur="1" fill="hold">
                                          <p:stCondLst>
                                            <p:cond delay="1999"/>
                                          </p:stCondLst>
                                        </p:cTn>
                                        <p:tgtEl>
                                          <p:spTgt spid="90153"/>
                                        </p:tgtEl>
                                        <p:attrNameLst>
                                          <p:attrName>style.visibility</p:attrName>
                                        </p:attrNameLst>
                                      </p:cBhvr>
                                      <p:to>
                                        <p:strVal val="hidden"/>
                                      </p:to>
                                    </p:set>
                                  </p:childTnLst>
                                </p:cTn>
                              </p:par>
                              <p:par>
                                <p:cTn id="92" presetID="8" presetClass="exit" presetSubtype="16" fill="hold" nodeType="withEffect">
                                  <p:stCondLst>
                                    <p:cond delay="0"/>
                                  </p:stCondLst>
                                  <p:childTnLst>
                                    <p:animEffect transition="out" filter="diamond(in)">
                                      <p:cBhvr>
                                        <p:cTn id="93" dur="2000"/>
                                        <p:tgtEl>
                                          <p:spTgt spid="90154"/>
                                        </p:tgtEl>
                                      </p:cBhvr>
                                    </p:animEffect>
                                    <p:set>
                                      <p:cBhvr>
                                        <p:cTn id="94" dur="1" fill="hold">
                                          <p:stCondLst>
                                            <p:cond delay="1999"/>
                                          </p:stCondLst>
                                        </p:cTn>
                                        <p:tgtEl>
                                          <p:spTgt spid="9015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136" grpId="0" animBg="1"/>
      <p:bldP spid="90136" grpId="1" animBg="1"/>
      <p:bldP spid="90137" grpId="0" animBg="1"/>
      <p:bldP spid="90137" grpId="1" animBg="1"/>
      <p:bldP spid="90138" grpId="0" animBg="1"/>
      <p:bldP spid="90138" grpId="1" animBg="1"/>
      <p:bldP spid="90139" grpId="0" animBg="1"/>
      <p:bldP spid="90139" grpId="1" animBg="1"/>
      <p:bldP spid="90140" grpId="0" animBg="1"/>
      <p:bldP spid="90140" grpId="1" animBg="1"/>
      <p:bldP spid="90141" grpId="0" animBg="1"/>
      <p:bldP spid="90141" grpId="1" animBg="1"/>
      <p:bldP spid="90142" grpId="0" animBg="1"/>
      <p:bldP spid="90142"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5059" name="Text Box 2"/>
          <p:cNvSpPr txBox="1">
            <a:spLocks noChangeArrowheads="1"/>
          </p:cNvSpPr>
          <p:nvPr/>
        </p:nvSpPr>
        <p:spPr bwMode="auto">
          <a:xfrm>
            <a:off x="2938463" y="4889212"/>
            <a:ext cx="3276600" cy="584775"/>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solidFill>
                  <a:schemeClr val="accent2"/>
                </a:solidFill>
              </a:rPr>
              <a:t>Diameter </a:t>
            </a:r>
            <a:r>
              <a:rPr lang="en-US" sz="3200" b="1">
                <a:solidFill>
                  <a:schemeClr val="accent2"/>
                </a:solidFill>
              </a:rPr>
              <a:t>=  4</a:t>
            </a:r>
            <a:endParaRPr lang="en-US" sz="3200" b="1" dirty="0">
              <a:solidFill>
                <a:schemeClr val="accent2"/>
              </a:solidFill>
            </a:endParaRPr>
          </a:p>
        </p:txBody>
      </p:sp>
      <p:grpSp>
        <p:nvGrpSpPr>
          <p:cNvPr id="8" name="Group 7" descr="A binary tree with four levels and seven nodes:&#10;&#10;Row 0: 90&#10;Row 1:&#10; 90 has one child: 50 as a left child&#10;Row 2:&#10; 50 has two children: 40 as a left child and 65 as a right child&#10;Row 3:&#10;   40 has two children: 30 as a left child and 45 as a right child&#10;    65 only has a right child, 70&#10;">
            <a:extLst>
              <a:ext uri="{FF2B5EF4-FFF2-40B4-BE49-F238E27FC236}">
                <a16:creationId xmlns:a16="http://schemas.microsoft.com/office/drawing/2014/main" id="{DC879B01-34A1-9829-DFD0-009EB1B2976C}"/>
              </a:ext>
            </a:extLst>
          </p:cNvPr>
          <p:cNvGrpSpPr/>
          <p:nvPr/>
        </p:nvGrpSpPr>
        <p:grpSpPr>
          <a:xfrm>
            <a:off x="838200" y="1403350"/>
            <a:ext cx="4233863" cy="2057400"/>
            <a:chOff x="838200" y="1403350"/>
            <a:chExt cx="4233863" cy="2057400"/>
          </a:xfrm>
        </p:grpSpPr>
        <p:sp>
          <p:nvSpPr>
            <p:cNvPr id="45060" name="Oval 3"/>
            <p:cNvSpPr>
              <a:spLocks noChangeArrowheads="1"/>
            </p:cNvSpPr>
            <p:nvPr/>
          </p:nvSpPr>
          <p:spPr bwMode="auto">
            <a:xfrm>
              <a:off x="3505200" y="30035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5061" name="Oval 4"/>
            <p:cNvSpPr>
              <a:spLocks noChangeArrowheads="1"/>
            </p:cNvSpPr>
            <p:nvPr/>
          </p:nvSpPr>
          <p:spPr bwMode="auto">
            <a:xfrm>
              <a:off x="2133600" y="19367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5062" name="Oval 5"/>
            <p:cNvSpPr>
              <a:spLocks noChangeArrowheads="1"/>
            </p:cNvSpPr>
            <p:nvPr/>
          </p:nvSpPr>
          <p:spPr bwMode="auto">
            <a:xfrm>
              <a:off x="1295400" y="24701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5063" name="Oval 6"/>
            <p:cNvSpPr>
              <a:spLocks noChangeArrowheads="1"/>
            </p:cNvSpPr>
            <p:nvPr/>
          </p:nvSpPr>
          <p:spPr bwMode="auto">
            <a:xfrm>
              <a:off x="2971800" y="24701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45067" name="Oval 10"/>
            <p:cNvSpPr>
              <a:spLocks noChangeArrowheads="1"/>
            </p:cNvSpPr>
            <p:nvPr/>
          </p:nvSpPr>
          <p:spPr bwMode="auto">
            <a:xfrm>
              <a:off x="838200" y="30035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5068" name="Oval 11"/>
            <p:cNvSpPr>
              <a:spLocks noChangeArrowheads="1"/>
            </p:cNvSpPr>
            <p:nvPr/>
          </p:nvSpPr>
          <p:spPr bwMode="auto">
            <a:xfrm>
              <a:off x="1828800" y="30035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5069" name="Oval 12"/>
            <p:cNvSpPr>
              <a:spLocks noChangeArrowheads="1"/>
            </p:cNvSpPr>
            <p:nvPr/>
          </p:nvSpPr>
          <p:spPr bwMode="auto">
            <a:xfrm>
              <a:off x="4267200" y="14033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5070" name="Line 13"/>
            <p:cNvSpPr>
              <a:spLocks noChangeShapeType="1"/>
            </p:cNvSpPr>
            <p:nvPr/>
          </p:nvSpPr>
          <p:spPr bwMode="auto">
            <a:xfrm flipH="1">
              <a:off x="2895600" y="170815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2" name="Line 15"/>
            <p:cNvSpPr>
              <a:spLocks noChangeShapeType="1"/>
            </p:cNvSpPr>
            <p:nvPr/>
          </p:nvSpPr>
          <p:spPr bwMode="auto">
            <a:xfrm flipH="1">
              <a:off x="1981200" y="231775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4" name="Line 17"/>
            <p:cNvSpPr>
              <a:spLocks noChangeShapeType="1"/>
            </p:cNvSpPr>
            <p:nvPr/>
          </p:nvSpPr>
          <p:spPr bwMode="auto">
            <a:xfrm>
              <a:off x="2819400" y="231775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 name="TextBox 1">
            <a:extLst>
              <a:ext uri="{FF2B5EF4-FFF2-40B4-BE49-F238E27FC236}">
                <a16:creationId xmlns:a16="http://schemas.microsoft.com/office/drawing/2014/main" id="{DC4F2A04-0F2F-6E0B-31F3-3FFB864F781D}"/>
              </a:ext>
            </a:extLst>
          </p:cNvPr>
          <p:cNvSpPr txBox="1"/>
          <p:nvPr/>
        </p:nvSpPr>
        <p:spPr>
          <a:xfrm>
            <a:off x="3145066" y="109746"/>
            <a:ext cx="2808782" cy="769441"/>
          </a:xfrm>
          <a:prstGeom prst="rect">
            <a:avLst/>
          </a:prstGeom>
          <a:noFill/>
        </p:spPr>
        <p:txBody>
          <a:bodyPr wrap="none" rtlCol="0">
            <a:spAutoFit/>
          </a:bodyPr>
          <a:lstStyle/>
          <a:p>
            <a:r>
              <a:rPr lang="en-US" sz="4400" b="1" dirty="0">
                <a:solidFill>
                  <a:srgbClr val="0000CC"/>
                </a:solidFill>
              </a:rPr>
              <a:t>Diameter</a:t>
            </a:r>
          </a:p>
        </p:txBody>
      </p:sp>
      <p:grpSp>
        <p:nvGrpSpPr>
          <p:cNvPr id="15" name="Group 14">
            <a:extLst>
              <a:ext uri="{FF2B5EF4-FFF2-40B4-BE49-F238E27FC236}">
                <a16:creationId xmlns:a16="http://schemas.microsoft.com/office/drawing/2014/main" id="{E5035378-DD18-230D-4F15-FE09BCA8A5E8}"/>
              </a:ext>
              <a:ext uri="{C183D7F6-B498-43B3-948B-1728B52AA6E4}">
                <adec:decorative xmlns:adec="http://schemas.microsoft.com/office/drawing/2017/decorative" val="1"/>
              </a:ext>
            </a:extLst>
          </p:cNvPr>
          <p:cNvGrpSpPr/>
          <p:nvPr/>
        </p:nvGrpSpPr>
        <p:grpSpPr>
          <a:xfrm>
            <a:off x="1143000" y="1892300"/>
            <a:ext cx="3327400" cy="1612900"/>
            <a:chOff x="1143000" y="1600200"/>
            <a:chExt cx="3327400" cy="1612900"/>
          </a:xfrm>
        </p:grpSpPr>
        <p:sp>
          <p:nvSpPr>
            <p:cNvPr id="3" name="Text Box 24">
              <a:extLst>
                <a:ext uri="{FF2B5EF4-FFF2-40B4-BE49-F238E27FC236}">
                  <a16:creationId xmlns:a16="http://schemas.microsoft.com/office/drawing/2014/main" id="{5C4251DA-933A-7948-0B65-BD9FF6A22D37}"/>
                </a:ext>
              </a:extLst>
            </p:cNvPr>
            <p:cNvSpPr txBox="1">
              <a:spLocks noChangeArrowheads="1"/>
            </p:cNvSpPr>
            <p:nvPr/>
          </p:nvSpPr>
          <p:spPr bwMode="auto">
            <a:xfrm>
              <a:off x="1676400" y="26670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4" name="Text Box 25">
              <a:extLst>
                <a:ext uri="{FF2B5EF4-FFF2-40B4-BE49-F238E27FC236}">
                  <a16:creationId xmlns:a16="http://schemas.microsoft.com/office/drawing/2014/main" id="{ACBBDEFA-58E4-18B6-8C2B-07B500C8AF06}"/>
                </a:ext>
              </a:extLst>
            </p:cNvPr>
            <p:cNvSpPr txBox="1">
              <a:spLocks noChangeArrowheads="1"/>
            </p:cNvSpPr>
            <p:nvPr/>
          </p:nvSpPr>
          <p:spPr bwMode="auto">
            <a:xfrm>
              <a:off x="1143000" y="21336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pic>
          <p:nvPicPr>
            <p:cNvPr id="5" name="Picture 36">
              <a:extLst>
                <a:ext uri="{FF2B5EF4-FFF2-40B4-BE49-F238E27FC236}">
                  <a16:creationId xmlns:a16="http://schemas.microsoft.com/office/drawing/2014/main" id="{488478D6-44B7-ABD1-E880-1183D11BE74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9400" y="21336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Picture 37">
              <a:extLst>
                <a:ext uri="{FF2B5EF4-FFF2-40B4-BE49-F238E27FC236}">
                  <a16:creationId xmlns:a16="http://schemas.microsoft.com/office/drawing/2014/main" id="{5B4DD659-9959-569F-4AA4-EFFD8277DB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2800" y="26670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Picture 38">
              <a:extLst>
                <a:ext uri="{FF2B5EF4-FFF2-40B4-BE49-F238E27FC236}">
                  <a16:creationId xmlns:a16="http://schemas.microsoft.com/office/drawing/2014/main" id="{7FEAC94B-3027-B66E-B38E-9B5969F290E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81200" y="16002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9" name="Group 8">
            <a:extLst>
              <a:ext uri="{FF2B5EF4-FFF2-40B4-BE49-F238E27FC236}">
                <a16:creationId xmlns:a16="http://schemas.microsoft.com/office/drawing/2014/main" id="{1D07B34C-B44D-3EBD-A935-990D8EF2A8B4}"/>
              </a:ext>
              <a:ext uri="{C183D7F6-B498-43B3-948B-1728B52AA6E4}">
                <adec:decorative xmlns:adec="http://schemas.microsoft.com/office/drawing/2017/decorative" val="1"/>
              </a:ext>
            </a:extLst>
          </p:cNvPr>
          <p:cNvGrpSpPr/>
          <p:nvPr/>
        </p:nvGrpSpPr>
        <p:grpSpPr>
          <a:xfrm>
            <a:off x="698500" y="1905000"/>
            <a:ext cx="3784600" cy="1612900"/>
            <a:chOff x="685800" y="1600200"/>
            <a:chExt cx="3784600" cy="1612900"/>
          </a:xfrm>
        </p:grpSpPr>
        <p:sp>
          <p:nvSpPr>
            <p:cNvPr id="10" name="Text Box 24">
              <a:extLst>
                <a:ext uri="{FF2B5EF4-FFF2-40B4-BE49-F238E27FC236}">
                  <a16:creationId xmlns:a16="http://schemas.microsoft.com/office/drawing/2014/main" id="{C5D362BE-5AF7-9342-CDAC-E230F9A93AA1}"/>
                </a:ext>
              </a:extLst>
            </p:cNvPr>
            <p:cNvSpPr txBox="1">
              <a:spLocks noChangeArrowheads="1"/>
            </p:cNvSpPr>
            <p:nvPr/>
          </p:nvSpPr>
          <p:spPr bwMode="auto">
            <a:xfrm>
              <a:off x="685800" y="26670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11" name="Text Box 25">
              <a:extLst>
                <a:ext uri="{FF2B5EF4-FFF2-40B4-BE49-F238E27FC236}">
                  <a16:creationId xmlns:a16="http://schemas.microsoft.com/office/drawing/2014/main" id="{6E962384-23ED-00AB-7ECC-9CA8F1257A04}"/>
                </a:ext>
              </a:extLst>
            </p:cNvPr>
            <p:cNvSpPr txBox="1">
              <a:spLocks noChangeArrowheads="1"/>
            </p:cNvSpPr>
            <p:nvPr/>
          </p:nvSpPr>
          <p:spPr bwMode="auto">
            <a:xfrm>
              <a:off x="1143000" y="21336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pic>
          <p:nvPicPr>
            <p:cNvPr id="12" name="Picture 36">
              <a:extLst>
                <a:ext uri="{FF2B5EF4-FFF2-40B4-BE49-F238E27FC236}">
                  <a16:creationId xmlns:a16="http://schemas.microsoft.com/office/drawing/2014/main" id="{33685F0E-65F8-D0CF-DF36-81473AA6EA7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9400" y="21336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Picture 37">
              <a:extLst>
                <a:ext uri="{FF2B5EF4-FFF2-40B4-BE49-F238E27FC236}">
                  <a16:creationId xmlns:a16="http://schemas.microsoft.com/office/drawing/2014/main" id="{92E5EE1B-6E8D-39B8-1FC8-C10286DAAA6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2800" y="26670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 name="Picture 38">
              <a:extLst>
                <a:ext uri="{FF2B5EF4-FFF2-40B4-BE49-F238E27FC236}">
                  <a16:creationId xmlns:a16="http://schemas.microsoft.com/office/drawing/2014/main" id="{537F1E59-20CD-A636-588D-7B93D21D610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81200" y="16002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4072803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Printing a</a:t>
            </a:r>
          </a:p>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 Tree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t>Level order (i.e. one level at a time):  </a:t>
            </a:r>
          </a:p>
          <a:p>
            <a:endParaRPr lang="en-US" sz="2000" b="1" dirty="0"/>
          </a:p>
          <a:p>
            <a:pPr algn="ctr"/>
            <a:r>
              <a:rPr lang="en-US" sz="2000" b="1" dirty="0"/>
              <a:t>90 50 120 40 65 100 150 30 45 70</a:t>
            </a:r>
            <a:br>
              <a:rPr lang="en-US" sz="2000" b="1" dirty="0"/>
            </a:br>
            <a:endParaRPr lang="en-US" sz="2000" b="1" dirty="0"/>
          </a:p>
        </p:txBody>
      </p:sp>
      <p:grpSp>
        <p:nvGrpSpPr>
          <p:cNvPr id="3" name="Group 2"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265E67B8-0950-F13B-D692-0CEB4A5A556B}"/>
              </a:ext>
            </a:extLst>
          </p:cNvPr>
          <p:cNvGrpSpPr/>
          <p:nvPr/>
        </p:nvGrpSpPr>
        <p:grpSpPr>
          <a:xfrm>
            <a:off x="838200" y="1066800"/>
            <a:ext cx="7129463" cy="2057400"/>
            <a:chOff x="838200" y="1066800"/>
            <a:chExt cx="7129463" cy="2057400"/>
          </a:xfrm>
        </p:grpSpPr>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Level Order</a:t>
            </a:r>
          </a:p>
        </p:txBody>
      </p:sp>
      <p:sp>
        <p:nvSpPr>
          <p:cNvPr id="2" name="Rectangle 1"/>
          <p:cNvSpPr/>
          <p:nvPr/>
        </p:nvSpPr>
        <p:spPr>
          <a:xfrm>
            <a:off x="1229046" y="5410200"/>
            <a:ext cx="3541932" cy="461665"/>
          </a:xfrm>
          <a:prstGeom prst="rect">
            <a:avLst/>
          </a:prstGeom>
        </p:spPr>
        <p:txBody>
          <a:bodyPr wrap="none">
            <a:spAutoFit/>
          </a:bodyPr>
          <a:lstStyle/>
          <a:p>
            <a:r>
              <a:rPr lang="en-US" dirty="0" err="1"/>
              <a:t>System.out.println</a:t>
            </a:r>
            <a:r>
              <a:rPr lang="en-US" dirty="0"/>
              <a:t>(tree);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IN-ORDER  Traversal:  </a:t>
            </a:r>
          </a:p>
          <a:p>
            <a:endParaRPr lang="en-US" sz="2000" b="1"/>
          </a:p>
          <a:p>
            <a:pPr algn="ctr"/>
            <a:r>
              <a:rPr lang="en-US" sz="2000" b="1"/>
              <a:t>Left branch, Node, Right branch</a:t>
            </a:r>
          </a:p>
          <a:p>
            <a:endParaRPr lang="en-US" sz="2000" b="1"/>
          </a:p>
          <a:p>
            <a:pPr algn="ctr"/>
            <a:r>
              <a:rPr lang="en-US" sz="2000" b="1"/>
              <a:t>30 40 45 50 65 70 </a:t>
            </a:r>
            <a:r>
              <a:rPr lang="en-US" sz="2000" b="1">
                <a:solidFill>
                  <a:srgbClr val="FF0000"/>
                </a:solidFill>
              </a:rPr>
              <a:t>90</a:t>
            </a:r>
            <a:r>
              <a:rPr lang="en-US" sz="2000" b="1"/>
              <a:t> 100 120 150</a:t>
            </a:r>
            <a:br>
              <a:rPr lang="en-US" sz="2000" b="1"/>
            </a:br>
            <a:endParaRPr lang="en-US" sz="2000" b="1"/>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97A7A48-61C9-89FC-0CDA-53973C7B9B65}"/>
              </a:ext>
            </a:extLst>
          </p:cNvPr>
          <p:cNvGrpSpPr/>
          <p:nvPr/>
        </p:nvGrpSpPr>
        <p:grpSpPr>
          <a:xfrm>
            <a:off x="838200" y="1066800"/>
            <a:ext cx="7129463" cy="2057400"/>
            <a:chOff x="838200" y="1066800"/>
            <a:chExt cx="7129463" cy="2057400"/>
          </a:xfrm>
        </p:grpSpPr>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Tree>
    <p:extLst>
      <p:ext uri="{BB962C8B-B14F-4D97-AF65-F5344CB8AC3E}">
        <p14:creationId xmlns:p14="http://schemas.microsoft.com/office/powerpoint/2010/main" val="36643069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9760E1D2-81CC-8A74-47AA-8815D1212778}"/>
              </a:ext>
            </a:extLst>
          </p:cNvPr>
          <p:cNvGrpSpPr/>
          <p:nvPr/>
        </p:nvGrpSpPr>
        <p:grpSpPr>
          <a:xfrm>
            <a:off x="838200" y="1066800"/>
            <a:ext cx="7129463" cy="2057400"/>
            <a:chOff x="838200" y="1066800"/>
            <a:chExt cx="7129463" cy="2057400"/>
          </a:xfrm>
        </p:grpSpPr>
        <p:sp>
          <p:nvSpPr>
            <p:cNvPr id="29699"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9700"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9701"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9702"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9703"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9704"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9705"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9706"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9707"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9708"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9709"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0"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1"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2"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3"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4"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9715"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29716" name="Text Box 2"/>
          <p:cNvSpPr txBox="1">
            <a:spLocks noChangeArrowheads="1"/>
          </p:cNvSpPr>
          <p:nvPr/>
        </p:nvSpPr>
        <p:spPr bwMode="auto">
          <a:xfrm>
            <a:off x="1219200" y="38862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solidFill>
                  <a:srgbClr val="660066"/>
                </a:solidFill>
              </a:rPr>
              <a:t>PRE-ORDER  Traversal:  </a:t>
            </a:r>
          </a:p>
          <a:p>
            <a:endParaRPr lang="en-US" sz="2000" b="1">
              <a:solidFill>
                <a:srgbClr val="660066"/>
              </a:solidFill>
            </a:endParaRPr>
          </a:p>
          <a:p>
            <a:pPr algn="ctr"/>
            <a:r>
              <a:rPr lang="en-US" sz="2000" b="1">
                <a:solidFill>
                  <a:srgbClr val="660066"/>
                </a:solidFill>
              </a:rPr>
              <a:t>Node, Left branch, Right branch</a:t>
            </a:r>
          </a:p>
          <a:p>
            <a:endParaRPr lang="en-US" sz="2000" b="1">
              <a:solidFill>
                <a:srgbClr val="660066"/>
              </a:solidFill>
            </a:endParaRPr>
          </a:p>
          <a:p>
            <a:pPr algn="ctr"/>
            <a:r>
              <a:rPr lang="en-US" sz="2000" b="1">
                <a:solidFill>
                  <a:srgbClr val="660066"/>
                </a:solidFill>
              </a:rPr>
              <a:t>90 50 40 30 45 65 70 120 100 150</a:t>
            </a:r>
            <a:br>
              <a:rPr lang="en-US" sz="2000" b="1"/>
            </a:br>
            <a:endParaRPr lang="en-US" sz="2000" b="1"/>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C1ECF923-8942-0535-5245-39C5DEB37622}"/>
              </a:ext>
            </a:extLst>
          </p:cNvPr>
          <p:cNvGrpSpPr/>
          <p:nvPr/>
        </p:nvGrpSpPr>
        <p:grpSpPr>
          <a:xfrm>
            <a:off x="838200" y="1066800"/>
            <a:ext cx="7129463" cy="2057400"/>
            <a:chOff x="838200" y="1066800"/>
            <a:chExt cx="7129463" cy="2057400"/>
          </a:xfrm>
        </p:grpSpPr>
        <p:sp>
          <p:nvSpPr>
            <p:cNvPr id="30723"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0724"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0725"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0726"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0727"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0728"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0729"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0730"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0731"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0732"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0733"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4"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5"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6"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7"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8"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0739"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0740" name="Text Box 2"/>
          <p:cNvSpPr txBox="1">
            <a:spLocks noChangeArrowheads="1"/>
          </p:cNvSpPr>
          <p:nvPr/>
        </p:nvSpPr>
        <p:spPr bwMode="auto">
          <a:xfrm>
            <a:off x="1219200" y="400685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POST-ORDER Traversal:  </a:t>
            </a:r>
          </a:p>
          <a:p>
            <a:endParaRPr lang="en-US" sz="2000" b="1"/>
          </a:p>
          <a:p>
            <a:pPr algn="ctr"/>
            <a:r>
              <a:rPr lang="en-US" sz="2000" b="1"/>
              <a:t>Left branch, Right branch, Node</a:t>
            </a:r>
          </a:p>
          <a:p>
            <a:endParaRPr lang="en-US" sz="2000" b="1"/>
          </a:p>
          <a:p>
            <a:pPr algn="ctr"/>
            <a:r>
              <a:rPr lang="en-US" sz="2000" b="1"/>
              <a:t>30 45 40 70 65 50 100 150 120 90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71A16DC-416B-16A4-4235-CFE8444DC5A0}"/>
              </a:ext>
            </a:extLst>
          </p:cNvPr>
          <p:cNvGrpSpPr/>
          <p:nvPr/>
        </p:nvGrpSpPr>
        <p:grpSpPr>
          <a:xfrm>
            <a:off x="838200" y="1066800"/>
            <a:ext cx="7129463" cy="2057400"/>
            <a:chOff x="838200" y="1066800"/>
            <a:chExt cx="7129463" cy="2057400"/>
          </a:xfrm>
        </p:grpSpPr>
        <p:sp>
          <p:nvSpPr>
            <p:cNvPr id="31747"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1748"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1749"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1750"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1751"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1752"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1753"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1754"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1755"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1756"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1757"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8"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9"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0"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1"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2"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1763"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1764" name="Text Box 2"/>
          <p:cNvSpPr txBox="1">
            <a:spLocks noChangeArrowheads="1"/>
          </p:cNvSpPr>
          <p:nvPr/>
        </p:nvSpPr>
        <p:spPr bwMode="auto">
          <a:xfrm>
            <a:off x="1239838" y="411480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solidFill>
                  <a:srgbClr val="003366"/>
                </a:solidFill>
              </a:rPr>
              <a:t>REV-ORDER Traversal:  </a:t>
            </a:r>
          </a:p>
          <a:p>
            <a:endParaRPr lang="en-US" sz="2000" b="1" dirty="0">
              <a:solidFill>
                <a:srgbClr val="003366"/>
              </a:solidFill>
            </a:endParaRPr>
          </a:p>
          <a:p>
            <a:pPr algn="ctr"/>
            <a:r>
              <a:rPr lang="en-US" sz="2000" b="1" dirty="0">
                <a:solidFill>
                  <a:srgbClr val="003366"/>
                </a:solidFill>
              </a:rPr>
              <a:t>Right branch, Node</a:t>
            </a:r>
            <a:r>
              <a:rPr lang="en-US" sz="2000" b="1">
                <a:solidFill>
                  <a:srgbClr val="003366"/>
                </a:solidFill>
              </a:rPr>
              <a:t>, Left branch</a:t>
            </a:r>
            <a:endParaRPr lang="en-US" sz="2000" b="1" dirty="0">
              <a:solidFill>
                <a:srgbClr val="003366"/>
              </a:solidFill>
            </a:endParaRPr>
          </a:p>
          <a:p>
            <a:endParaRPr lang="en-US" sz="2000" b="1" dirty="0">
              <a:solidFill>
                <a:srgbClr val="003366"/>
              </a:solidFill>
            </a:endParaRPr>
          </a:p>
          <a:p>
            <a:pPr algn="ctr"/>
            <a:r>
              <a:rPr lang="en-US" sz="2000" b="1" dirty="0">
                <a:solidFill>
                  <a:srgbClr val="003366"/>
                </a:solidFill>
              </a:rPr>
              <a:t>150 120 100 90 70 65 50 45 40 30</a:t>
            </a:r>
            <a:endParaRPr lang="en-US" sz="2000"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565915"/>
            <a:ext cx="8610600" cy="4616648"/>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342900" indent="-342900">
              <a:spcAft>
                <a:spcPts val="1200"/>
              </a:spcAft>
              <a:buFont typeface="Arial" panose="020B0604020202020204" pitchFamily="34" charset="0"/>
              <a:buChar char="•"/>
            </a:pPr>
            <a:r>
              <a:rPr lang="en-US" sz="2800" dirty="0"/>
              <a:t>Use pre-order traversal to duplicate a binary tree. </a:t>
            </a:r>
          </a:p>
          <a:p>
            <a:pPr marL="342900" indent="-342900">
              <a:spcAft>
                <a:spcPts val="1200"/>
              </a:spcAft>
              <a:buFont typeface="Arial" panose="020B0604020202020204" pitchFamily="34" charset="0"/>
              <a:buChar char="•"/>
            </a:pPr>
            <a:r>
              <a:rPr lang="en-US" sz="2800" dirty="0"/>
              <a:t>In-order traversal is very commonly used on binary search trees because it returns values from the underlying set in order, according to the comparator that set up the binary search tree (hence the name).</a:t>
            </a:r>
          </a:p>
          <a:p>
            <a:pPr marL="342900" indent="-342900">
              <a:spcAft>
                <a:spcPts val="1200"/>
              </a:spcAft>
              <a:buFont typeface="Arial" panose="020B0604020202020204" pitchFamily="34" charset="0"/>
              <a:buChar char="•"/>
            </a:pPr>
            <a:r>
              <a:rPr lang="en-US" sz="2800" dirty="0"/>
              <a:t>Post-order traversal while deleting or freeing nodes and values can delete or free an entire binary tree. </a:t>
            </a:r>
            <a:br>
              <a:rPr lang="en-US" sz="2800" dirty="0"/>
            </a:br>
            <a:r>
              <a:rPr lang="en-US" sz="2800" dirty="0"/>
              <a:t>If you don't use post-order traversal during deletion, then you lose the references you need for deleting the child trees</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381000" y="228600"/>
            <a:ext cx="86106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134429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321137"/>
            <a:ext cx="8610600" cy="5106206"/>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To translate between the tree and some serial representation.  Suppose you have this parse tree:</a:t>
            </a:r>
            <a:endParaRPr kumimoji="0" lang="en-US" altLang="en-US" sz="1800" b="0" i="0" u="none" strike="noStrike" cap="none" normalizeH="0" baseline="0" dirty="0">
              <a:ln>
                <a:noFill/>
              </a:ln>
              <a:solidFill>
                <a:srgbClr val="242729"/>
              </a:solidFill>
              <a:effectLst/>
              <a:latin typeface="Consolas" panose="020B0609020204030204" pitchFamily="49" charset="0"/>
            </a:endParaRPr>
          </a:p>
          <a:p>
            <a:pPr marL="3200400" marR="0" lvl="0" algn="l" defTabSz="914400" rtl="0" eaLnBrk="0" fontAlgn="base" latinLnBrk="0" hangingPunct="0">
              <a:lnSpc>
                <a:spcPct val="15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lang="en-US" altLang="en-US" sz="1100" dirty="0">
                <a:solidFill>
                  <a:srgbClr val="242729"/>
                </a:solidFill>
                <a:latin typeface="Consolas" panose="020B0609020204030204" pitchFamily="49" charset="0"/>
              </a:rPr>
              <a:t> </a:t>
            </a: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7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11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r>
              <a:rPr kumimoji="0" lang="en-US" altLang="en-US" sz="6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A </a:t>
            </a:r>
            <a:r>
              <a:rPr kumimoji="0" lang="en-US" altLang="en-US" sz="14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B  C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endParaRPr>
          </a:p>
          <a:p>
            <a:pPr lvl="0">
              <a:lnSpc>
                <a:spcPct val="150000"/>
              </a:lnSpc>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You could serialize it as</a:t>
            </a:r>
            <a:r>
              <a:rPr lang="en-US" altLang="en-US" sz="2800" dirty="0">
                <a:solidFill>
                  <a:srgbClr val="242729"/>
                </a:solidFill>
                <a:cs typeface="Arial" panose="020B0604020202020204" pitchFamily="34" charset="0"/>
              </a:rPr>
              <a:t>:</a:t>
            </a:r>
            <a:endPar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endParaRP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 + A B C</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prefix order, or as</a:t>
            </a: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A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postfix order or as </a:t>
            </a:r>
          </a:p>
          <a:p>
            <a:pPr marL="914400" lvl="0">
              <a:lnSpc>
                <a:spcPct val="150000"/>
              </a:lnSpc>
            </a:pPr>
            <a:r>
              <a:rPr lang="en-US" altLang="en-US" sz="2000" dirty="0">
                <a:solidFill>
                  <a:srgbClr val="242729"/>
                </a:solidFill>
                <a:latin typeface="Consolas" panose="020B0609020204030204" pitchFamily="49" charset="0"/>
                <a:cs typeface="Arial" panose="020B0604020202020204" pitchFamily="34" charset="0"/>
              </a:rPr>
              <a:t>(A +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by walking </a:t>
            </a:r>
            <a:r>
              <a:rPr lang="en-US" altLang="en-US" sz="2800" dirty="0">
                <a:solidFill>
                  <a:srgbClr val="242729"/>
                </a:solidFill>
                <a:cs typeface="Arial" panose="020B0604020202020204" pitchFamily="34" charset="0"/>
              </a:rPr>
              <a:t>in order.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2209800" y="228600"/>
            <a:ext cx="44958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32018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   }</a:t>
            </a:r>
          </a:p>
          <a:p>
            <a:r>
              <a:rPr lang="en-US" sz="2800" dirty="0"/>
              <a:t>}</a:t>
            </a:r>
          </a:p>
        </p:txBody>
      </p:sp>
      <p:sp>
        <p:nvSpPr>
          <p:cNvPr id="32772" name="WordArt 3"/>
          <p:cNvSpPr>
            <a:spLocks noChangeArrowheads="1" noChangeShapeType="1" noTextEdit="1"/>
          </p:cNvSpPr>
          <p:nvPr/>
        </p:nvSpPr>
        <p:spPr bwMode="auto">
          <a:xfrm>
            <a:off x="2514600" y="304800"/>
            <a:ext cx="3833813" cy="530208"/>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1</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br>
              <a:rPr lang="en-US" sz="2800" dirty="0"/>
            </a:br>
            <a:r>
              <a:rPr lang="en-US" sz="2800" dirty="0"/>
              <a:t>     return;</a:t>
            </a:r>
          </a:p>
          <a:p>
            <a:r>
              <a:rPr lang="en-US" sz="2800" dirty="0"/>
              <a:t>   }</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2" name="WordArt 3">
            <a:extLst>
              <a:ext uri="{FF2B5EF4-FFF2-40B4-BE49-F238E27FC236}">
                <a16:creationId xmlns:a16="http://schemas.microsoft.com/office/drawing/2014/main" id="{5E9FDCD6-E062-08DF-F80D-E12D6991C5A0}"/>
              </a:ext>
            </a:extLst>
          </p:cNvPr>
          <p:cNvSpPr>
            <a:spLocks noChangeArrowheads="1" noChangeShapeType="1" noTextEdit="1"/>
          </p:cNvSpPr>
          <p:nvPr/>
        </p:nvSpPr>
        <p:spPr bwMode="auto">
          <a:xfrm>
            <a:off x="2881313" y="266076"/>
            <a:ext cx="3810000" cy="526915"/>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2</a:t>
            </a:r>
          </a:p>
        </p:txBody>
      </p:sp>
    </p:spTree>
    <p:extLst>
      <p:ext uri="{BB962C8B-B14F-4D97-AF65-F5344CB8AC3E}">
        <p14:creationId xmlns:p14="http://schemas.microsoft.com/office/powerpoint/2010/main" val="36562631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ChangeArrowheads="1"/>
          </p:cNvSpPr>
          <p:nvPr/>
        </p:nvSpPr>
        <p:spPr bwMode="auto">
          <a:xfrm>
            <a:off x="533400" y="402134"/>
            <a:ext cx="7924800"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String </a:t>
            </a:r>
            <a:r>
              <a:rPr lang="en-US" sz="2800" b="1" dirty="0" err="1"/>
              <a:t>toString</a:t>
            </a:r>
            <a:r>
              <a:rPr lang="en-US" sz="2800" b="1" dirty="0"/>
              <a:t>()</a:t>
            </a:r>
          </a:p>
          <a:p>
            <a:r>
              <a:rPr lang="en-US" sz="2800" dirty="0"/>
              <a:t>{</a:t>
            </a:r>
          </a:p>
          <a:p>
            <a:r>
              <a:rPr lang="en-US" sz="2800" dirty="0"/>
              <a:t>   return </a:t>
            </a:r>
            <a:r>
              <a:rPr lang="en-US" sz="2800" dirty="0" err="1"/>
              <a:t>toString</a:t>
            </a:r>
            <a:r>
              <a:rPr lang="en-US" sz="2800" dirty="0"/>
              <a:t>(root);</a:t>
            </a:r>
          </a:p>
          <a:p>
            <a:r>
              <a:rPr lang="en-US" sz="2800" dirty="0"/>
              <a:t>}</a:t>
            </a:r>
          </a:p>
          <a:p>
            <a:endParaRPr lang="en-US" sz="2800" b="1" dirty="0"/>
          </a:p>
          <a:p>
            <a:r>
              <a:rPr lang="en-US" sz="2800" b="1" dirty="0"/>
              <a:t>private String </a:t>
            </a:r>
            <a:r>
              <a:rPr lang="en-US" sz="2800" b="1" dirty="0" err="1"/>
              <a:t>toString</a:t>
            </a:r>
            <a:r>
              <a:rPr lang="en-US" sz="2800" b="1" dirty="0"/>
              <a:t>(</a:t>
            </a:r>
            <a:r>
              <a:rPr lang="en-US" sz="2800" b="1" dirty="0" err="1"/>
              <a:t>TreeNode</a:t>
            </a:r>
            <a:r>
              <a:rPr lang="en-US" sz="2800" b="1" dirty="0"/>
              <a:t> tree)</a:t>
            </a:r>
          </a:p>
          <a:p>
            <a:r>
              <a:rPr lang="en-US" sz="2800" dirty="0"/>
              <a:t>{</a:t>
            </a:r>
          </a:p>
          <a:p>
            <a:r>
              <a:rPr lang="en-US" sz="2800" dirty="0"/>
              <a:t>   if (tree != null)</a:t>
            </a:r>
          </a:p>
          <a:p>
            <a:r>
              <a:rPr lang="en-US" sz="2800" dirty="0"/>
              <a:t>      return </a:t>
            </a:r>
            <a:r>
              <a:rPr lang="en-US" sz="2800" b="1" dirty="0" err="1"/>
              <a:t>toString</a:t>
            </a:r>
            <a:r>
              <a:rPr lang="en-US" sz="2800" b="1" dirty="0"/>
              <a:t>(</a:t>
            </a:r>
            <a:r>
              <a:rPr lang="en-US" sz="2800" b="1" dirty="0" err="1"/>
              <a:t>tree.getLeft</a:t>
            </a:r>
            <a:r>
              <a:rPr lang="en-US" sz="2800" b="1" dirty="0"/>
              <a:t>()) </a:t>
            </a:r>
            <a:r>
              <a:rPr lang="en-US" sz="2800" dirty="0"/>
              <a:t>+ " " </a:t>
            </a:r>
          </a:p>
          <a:p>
            <a:r>
              <a:rPr lang="en-US" sz="2800" dirty="0"/>
              <a:t>	+ </a:t>
            </a:r>
            <a:r>
              <a:rPr lang="en-US" sz="2800" b="1" dirty="0" err="1"/>
              <a:t>tree.getValue</a:t>
            </a:r>
            <a:r>
              <a:rPr lang="en-US" sz="2800" b="1" dirty="0"/>
              <a:t>() </a:t>
            </a:r>
            <a:r>
              <a:rPr lang="en-US" sz="2800" dirty="0"/>
              <a:t>+ " " +</a:t>
            </a:r>
          </a:p>
          <a:p>
            <a:r>
              <a:rPr lang="en-US" sz="2800" dirty="0"/>
              <a:t>   	</a:t>
            </a:r>
            <a:r>
              <a:rPr lang="en-US" sz="2800" b="1" dirty="0"/>
              <a:t> </a:t>
            </a:r>
            <a:r>
              <a:rPr lang="en-US" sz="2800" b="1" dirty="0" err="1"/>
              <a:t>toString</a:t>
            </a:r>
            <a:r>
              <a:rPr lang="en-US" sz="2800" b="1" dirty="0"/>
              <a:t>(</a:t>
            </a:r>
            <a:r>
              <a:rPr lang="en-US" sz="2800" b="1" dirty="0" err="1"/>
              <a:t>tree.getRight</a:t>
            </a:r>
            <a:r>
              <a:rPr lang="en-US" sz="2800" b="1" dirty="0"/>
              <a:t>())</a:t>
            </a:r>
            <a:r>
              <a:rPr lang="en-US" sz="2800" dirty="0"/>
              <a:t>;</a:t>
            </a:r>
          </a:p>
          <a:p>
            <a:r>
              <a:rPr lang="en-US" sz="2800" dirty="0"/>
              <a:t>   return "";</a:t>
            </a:r>
          </a:p>
          <a:p>
            <a:r>
              <a:rPr lang="en-US" sz="2800" dirty="0"/>
              <a:t>}</a:t>
            </a:r>
          </a:p>
        </p:txBody>
      </p:sp>
      <p:sp>
        <p:nvSpPr>
          <p:cNvPr id="34820" name="WordArt 3"/>
          <p:cNvSpPr>
            <a:spLocks noChangeArrowheads="1" noChangeShapeType="1" noTextEdit="1"/>
          </p:cNvSpPr>
          <p:nvPr/>
        </p:nvSpPr>
        <p:spPr bwMode="auto">
          <a:xfrm>
            <a:off x="5638800" y="113766"/>
            <a:ext cx="3352800" cy="536448"/>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toString</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34821" name="WordArt 4"/>
          <p:cNvSpPr>
            <a:spLocks noChangeArrowheads="1" noChangeShapeType="1" noTextEdit="1"/>
          </p:cNvSpPr>
          <p:nvPr/>
        </p:nvSpPr>
        <p:spPr bwMode="auto">
          <a:xfrm>
            <a:off x="1600200" y="5943600"/>
            <a:ext cx="7010400" cy="600075"/>
          </a:xfrm>
          <a:prstGeom prst="rect">
            <a:avLst/>
          </a:prstGeom>
        </p:spPr>
        <p:txBody>
          <a:bodyPr wrap="none" fromWordArt="1">
            <a:prstTxWarp prst="textSlantUp">
              <a:avLst>
                <a:gd name="adj" fmla="val 32056"/>
              </a:avLst>
            </a:prstTxWarp>
          </a:bodyPr>
          <a:lstStyle/>
          <a:p>
            <a:pPr algn="ctr"/>
            <a:r>
              <a:rPr lang="en-US" sz="3600" kern="10" dirty="0">
                <a:ln w="9525">
                  <a:solidFill>
                    <a:srgbClr val="CC99FF"/>
                  </a:solidFill>
                  <a:round/>
                  <a:headEnd type="none" w="sm" len="sm"/>
                  <a:tailEnd type="none" w="sm" len="sm"/>
                </a:ln>
                <a:gradFill rotWithShape="1">
                  <a:gsLst>
                    <a:gs pos="0">
                      <a:srgbClr val="6600CC"/>
                    </a:gs>
                    <a:gs pos="100000">
                      <a:srgbClr val="CC00CC"/>
                    </a:gs>
                  </a:gsLst>
                  <a:lin ang="5400000" scaled="1"/>
                </a:gradFill>
                <a:effectLst>
                  <a:outerShdw dist="53882" dir="2700000" algn="ctr" rotWithShape="0">
                    <a:srgbClr val="9999FF"/>
                  </a:outerShdw>
                </a:effectLst>
                <a:latin typeface="Impact"/>
              </a:rPr>
              <a:t>Data is in the MIDDLE!!!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WordArt 2"/>
          <p:cNvSpPr>
            <a:spLocks noChangeArrowheads="1" noChangeShapeType="1" noTextEdit="1"/>
          </p:cNvSpPr>
          <p:nvPr/>
        </p:nvSpPr>
        <p:spPr bwMode="auto">
          <a:xfrm>
            <a:off x="3581400" y="1066800"/>
            <a:ext cx="26670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In-Order</a:t>
            </a:r>
          </a:p>
        </p:txBody>
      </p:sp>
      <p:sp>
        <p:nvSpPr>
          <p:cNvPr id="35844" name="WordArt 3"/>
          <p:cNvSpPr>
            <a:spLocks noChangeArrowheads="1" noChangeShapeType="1" noTextEdit="1"/>
          </p:cNvSpPr>
          <p:nvPr/>
        </p:nvSpPr>
        <p:spPr bwMode="auto">
          <a:xfrm>
            <a:off x="6477000" y="990600"/>
            <a:ext cx="1828800" cy="9906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5" name="WordArt 4"/>
          <p:cNvSpPr>
            <a:spLocks noChangeArrowheads="1" noChangeShapeType="1" noTextEdit="1"/>
          </p:cNvSpPr>
          <p:nvPr/>
        </p:nvSpPr>
        <p:spPr bwMode="auto">
          <a:xfrm>
            <a:off x="457200" y="22860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Pre-Order</a:t>
            </a:r>
          </a:p>
        </p:txBody>
      </p:sp>
      <p:sp>
        <p:nvSpPr>
          <p:cNvPr id="35846" name="WordArt 5"/>
          <p:cNvSpPr>
            <a:spLocks noChangeArrowheads="1" noChangeShapeType="1" noTextEdit="1"/>
          </p:cNvSpPr>
          <p:nvPr/>
        </p:nvSpPr>
        <p:spPr bwMode="auto">
          <a:xfrm>
            <a:off x="3352800" y="2133600"/>
            <a:ext cx="16764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7" name="WordArt 6"/>
          <p:cNvSpPr>
            <a:spLocks noChangeArrowheads="1" noChangeShapeType="1" noTextEdit="1"/>
          </p:cNvSpPr>
          <p:nvPr/>
        </p:nvSpPr>
        <p:spPr bwMode="auto">
          <a:xfrm>
            <a:off x="3733800" y="37338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Post-Order</a:t>
            </a:r>
          </a:p>
        </p:txBody>
      </p:sp>
      <p:sp>
        <p:nvSpPr>
          <p:cNvPr id="35848" name="WordArt 7"/>
          <p:cNvSpPr>
            <a:spLocks noChangeArrowheads="1" noChangeShapeType="1" noTextEdit="1"/>
          </p:cNvSpPr>
          <p:nvPr/>
        </p:nvSpPr>
        <p:spPr bwMode="auto">
          <a:xfrm>
            <a:off x="6553200" y="3429000"/>
            <a:ext cx="1905000" cy="11430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p:txBody>
      </p:sp>
      <p:sp>
        <p:nvSpPr>
          <p:cNvPr id="35849" name="WordArt 8"/>
          <p:cNvSpPr>
            <a:spLocks noChangeArrowheads="1" noChangeShapeType="1" noTextEdit="1"/>
          </p:cNvSpPr>
          <p:nvPr/>
        </p:nvSpPr>
        <p:spPr bwMode="auto">
          <a:xfrm>
            <a:off x="1828800" y="5410200"/>
            <a:ext cx="34290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Reverse-Order</a:t>
            </a:r>
          </a:p>
        </p:txBody>
      </p:sp>
      <p:sp>
        <p:nvSpPr>
          <p:cNvPr id="35850" name="WordArt 9"/>
          <p:cNvSpPr>
            <a:spLocks noChangeArrowheads="1" noChangeShapeType="1" noTextEdit="1"/>
          </p:cNvSpPr>
          <p:nvPr/>
        </p:nvSpPr>
        <p:spPr bwMode="auto">
          <a:xfrm>
            <a:off x="5486400" y="5105400"/>
            <a:ext cx="19812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a:t>
            </a:r>
          </a:p>
        </p:txBody>
      </p:sp>
      <p:sp>
        <p:nvSpPr>
          <p:cNvPr id="35851" name="WordArt 10"/>
          <p:cNvSpPr>
            <a:spLocks noChangeArrowheads="1" noChangeShapeType="1" noTextEdit="1"/>
          </p:cNvSpPr>
          <p:nvPr/>
        </p:nvSpPr>
        <p:spPr bwMode="auto">
          <a:xfrm>
            <a:off x="1066800" y="152400"/>
            <a:ext cx="6858000" cy="6096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a:rPr>
              <a:t>Binary Tree Traversals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9395" name="WordArt 2"/>
          <p:cNvSpPr>
            <a:spLocks noChangeArrowheads="1" noChangeShapeType="1" noTextEdit="1"/>
          </p:cNvSpPr>
          <p:nvPr/>
        </p:nvSpPr>
        <p:spPr bwMode="auto">
          <a:xfrm>
            <a:off x="762000" y="2362200"/>
            <a:ext cx="7391400" cy="1905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alpha val="79999"/>
                    </a:srgbClr>
                  </a:outerShdw>
                </a:effectLst>
                <a:latin typeface="Impact"/>
              </a:rPr>
              <a:t>BigO</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WordArt 2"/>
          <p:cNvSpPr>
            <a:spLocks noChangeArrowheads="1" noChangeShapeType="1" noTextEdit="1"/>
          </p:cNvSpPr>
          <p:nvPr/>
        </p:nvSpPr>
        <p:spPr bwMode="auto">
          <a:xfrm>
            <a:off x="3048000" y="299013"/>
            <a:ext cx="2819400" cy="392575"/>
          </a:xfrm>
          <a:prstGeom prst="rect">
            <a:avLst/>
          </a:prstGeom>
        </p:spPr>
        <p:txBody>
          <a:bodyPr wrap="none" fromWordArt="1">
            <a:prstTxWarp prst="textPlain">
              <a:avLst>
                <a:gd name="adj" fmla="val 50000"/>
              </a:avLst>
            </a:prstTxWarp>
          </a:bodyPr>
          <a:lstStyle/>
          <a:p>
            <a:pPr algn="ctr"/>
            <a:r>
              <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BST Big O</a:t>
            </a:r>
          </a:p>
        </p:txBody>
      </p:sp>
      <p:sp>
        <p:nvSpPr>
          <p:cNvPr id="61444" name="Text Box 3"/>
          <p:cNvSpPr txBox="1">
            <a:spLocks noChangeArrowheads="1"/>
          </p:cNvSpPr>
          <p:nvPr/>
        </p:nvSpPr>
        <p:spPr bwMode="auto">
          <a:xfrm>
            <a:off x="1676400" y="1005733"/>
            <a:ext cx="662940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spcBef>
                <a:spcPct val="50000"/>
              </a:spcBef>
            </a:pPr>
            <a:r>
              <a:rPr lang="en-US" b="1" dirty="0"/>
              <a:t>traverse all nodes			O(N)</a:t>
            </a:r>
          </a:p>
          <a:p>
            <a:pPr eaLnBrk="1" hangingPunct="1">
              <a:spcBef>
                <a:spcPct val="50000"/>
              </a:spcBef>
            </a:pPr>
            <a:r>
              <a:rPr lang="en-US" b="1" dirty="0"/>
              <a:t>search for an item		O(log</a:t>
            </a:r>
            <a:r>
              <a:rPr lang="en-US" b="1" baseline="-25000" dirty="0"/>
              <a:t>2</a:t>
            </a:r>
            <a:r>
              <a:rPr lang="en-US" b="1" dirty="0"/>
              <a:t>N)</a:t>
            </a:r>
          </a:p>
          <a:p>
            <a:pPr eaLnBrk="1" hangingPunct="1">
              <a:spcBef>
                <a:spcPct val="50000"/>
              </a:spcBef>
            </a:pPr>
            <a:r>
              <a:rPr lang="en-US" b="1" dirty="0"/>
              <a:t>remove any item			O(log</a:t>
            </a:r>
            <a:r>
              <a:rPr lang="en-US" b="1" baseline="-25000" dirty="0"/>
              <a:t>2</a:t>
            </a:r>
            <a:r>
              <a:rPr lang="en-US" b="1" dirty="0"/>
              <a:t>N)	</a:t>
            </a:r>
          </a:p>
          <a:p>
            <a:pPr eaLnBrk="1" hangingPunct="1">
              <a:spcBef>
                <a:spcPct val="50000"/>
              </a:spcBef>
            </a:pPr>
            <a:r>
              <a:rPr lang="en-US" b="1" dirty="0"/>
              <a:t>add item 				O(log</a:t>
            </a:r>
            <a:r>
              <a:rPr lang="en-US" b="1" baseline="-25000" dirty="0"/>
              <a:t>2</a:t>
            </a:r>
            <a:r>
              <a:rPr lang="en-US" b="1" dirty="0"/>
              <a:t>N)	</a:t>
            </a:r>
          </a:p>
        </p:txBody>
      </p:sp>
      <p:grpSp>
        <p:nvGrpSpPr>
          <p:cNvPr id="10" name="Group 9">
            <a:extLst>
              <a:ext uri="{FF2B5EF4-FFF2-40B4-BE49-F238E27FC236}">
                <a16:creationId xmlns:a16="http://schemas.microsoft.com/office/drawing/2014/main" id="{23F90D87-6A03-45B0-8241-9FE85F02A701}"/>
              </a:ext>
            </a:extLst>
          </p:cNvPr>
          <p:cNvGrpSpPr/>
          <p:nvPr/>
        </p:nvGrpSpPr>
        <p:grpSpPr>
          <a:xfrm>
            <a:off x="5129555" y="4803858"/>
            <a:ext cx="2577319" cy="456448"/>
            <a:chOff x="3429000" y="2286000"/>
            <a:chExt cx="3276600" cy="580292"/>
          </a:xfrm>
        </p:grpSpPr>
        <p:sp>
          <p:nvSpPr>
            <p:cNvPr id="12" name="Rectangle 11">
              <a:extLst>
                <a:ext uri="{FF2B5EF4-FFF2-40B4-BE49-F238E27FC236}">
                  <a16:creationId xmlns:a16="http://schemas.microsoft.com/office/drawing/2014/main" id="{BA646419-5946-4AC8-BC41-B6749F31F816}"/>
                </a:ext>
              </a:extLst>
            </p:cNvPr>
            <p:cNvSpPr/>
            <p:nvPr/>
          </p:nvSpPr>
          <p:spPr bwMode="auto">
            <a:xfrm>
              <a:off x="3429000" y="2286000"/>
              <a:ext cx="533400"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13" name="Rectangle 12">
              <a:extLst>
                <a:ext uri="{FF2B5EF4-FFF2-40B4-BE49-F238E27FC236}">
                  <a16:creationId xmlns:a16="http://schemas.microsoft.com/office/drawing/2014/main" id="{34178CE3-82DA-4989-B803-4FF8C7A55E24}"/>
                </a:ext>
              </a:extLst>
            </p:cNvPr>
            <p:cNvSpPr/>
            <p:nvPr/>
          </p:nvSpPr>
          <p:spPr bwMode="auto">
            <a:xfrm>
              <a:off x="6172200" y="2409092"/>
              <a:ext cx="533400"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grpSp>
      <p:sp>
        <p:nvSpPr>
          <p:cNvPr id="16" name="TextBox 15">
            <a:extLst>
              <a:ext uri="{FF2B5EF4-FFF2-40B4-BE49-F238E27FC236}">
                <a16:creationId xmlns:a16="http://schemas.microsoft.com/office/drawing/2014/main" id="{EC6BDC91-D472-4ED7-AEF9-2B6E7C331E07}"/>
              </a:ext>
            </a:extLst>
          </p:cNvPr>
          <p:cNvSpPr txBox="1"/>
          <p:nvPr/>
        </p:nvSpPr>
        <p:spPr>
          <a:xfrm>
            <a:off x="228600" y="4064830"/>
            <a:ext cx="4572000" cy="2031325"/>
          </a:xfrm>
          <a:prstGeom prst="rect">
            <a:avLst/>
          </a:prstGeom>
          <a:noFill/>
        </p:spPr>
        <p:txBody>
          <a:bodyPr wrap="square">
            <a:spAutoFit/>
          </a:bodyPr>
          <a:lstStyle/>
          <a:p>
            <a:pPr algn="ctr" eaLnBrk="1" hangingPunct="1">
              <a:spcBef>
                <a:spcPct val="50000"/>
              </a:spcBef>
            </a:pPr>
            <a:r>
              <a:rPr lang="en-US" sz="2800" b="1" u="sng" dirty="0">
                <a:solidFill>
                  <a:schemeClr val="accent2"/>
                </a:solidFill>
              </a:rPr>
              <a:t>Average case</a:t>
            </a:r>
          </a:p>
          <a:p>
            <a:pPr algn="ctr" eaLnBrk="1" hangingPunct="1">
              <a:spcBef>
                <a:spcPct val="50000"/>
              </a:spcBef>
            </a:pPr>
            <a:r>
              <a:rPr lang="en-US" sz="2800" b="1" dirty="0">
                <a:solidFill>
                  <a:schemeClr val="accent2"/>
                </a:solidFill>
              </a:rPr>
              <a:t>these results assume the tree is balanced or nearly balanced.</a:t>
            </a:r>
            <a:endParaRPr lang="en-US" sz="2800" b="1" dirty="0"/>
          </a:p>
        </p:txBody>
      </p:sp>
      <p:grpSp>
        <p:nvGrpSpPr>
          <p:cNvPr id="3" name="Group 2" descr="A balanced binary tree with equal numbers of nodes in the left and right subtrees.">
            <a:extLst>
              <a:ext uri="{FF2B5EF4-FFF2-40B4-BE49-F238E27FC236}">
                <a16:creationId xmlns:a16="http://schemas.microsoft.com/office/drawing/2014/main" id="{9C1F77BB-43E6-4F74-B088-136DEE363027}"/>
              </a:ext>
            </a:extLst>
          </p:cNvPr>
          <p:cNvGrpSpPr/>
          <p:nvPr/>
        </p:nvGrpSpPr>
        <p:grpSpPr>
          <a:xfrm>
            <a:off x="4953000" y="3787300"/>
            <a:ext cx="3810000" cy="2946012"/>
            <a:chOff x="4953000" y="3787300"/>
            <a:chExt cx="3810000" cy="2946012"/>
          </a:xfrm>
        </p:grpSpPr>
        <p:pic>
          <p:nvPicPr>
            <p:cNvPr id="14" name="Picture 2">
              <a:extLst>
                <a:ext uri="{FF2B5EF4-FFF2-40B4-BE49-F238E27FC236}">
                  <a16:creationId xmlns:a16="http://schemas.microsoft.com/office/drawing/2014/main" id="{38A18019-3557-4850-952A-38AA305921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 r="43750" b="40770"/>
            <a:stretch/>
          </p:blipFill>
          <p:spPr bwMode="auto">
            <a:xfrm>
              <a:off x="4953000" y="3787300"/>
              <a:ext cx="3810000" cy="29460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solidFill>
                    <a:schemeClr val="tx1"/>
                  </a:solidFill>
                  <a:prstDash val="solid"/>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Rectangle 16">
              <a:extLst>
                <a:ext uri="{FF2B5EF4-FFF2-40B4-BE49-F238E27FC236}">
                  <a16:creationId xmlns:a16="http://schemas.microsoft.com/office/drawing/2014/main" id="{2138F9B4-7226-4D9F-8713-FAAAE768742A}"/>
                </a:ext>
              </a:extLst>
            </p:cNvPr>
            <p:cNvSpPr/>
            <p:nvPr/>
          </p:nvSpPr>
          <p:spPr bwMode="auto">
            <a:xfrm>
              <a:off x="7532811" y="4706284"/>
              <a:ext cx="533400" cy="457200"/>
            </a:xfrm>
            <a:prstGeom prst="rect">
              <a:avLst/>
            </a:prstGeom>
            <a:solidFill>
              <a:srgbClr val="FFFBFB"/>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228600" y="338137"/>
            <a:ext cx="4648200" cy="2739211"/>
          </a:xfrm>
          <a:prstGeom prst="rect">
            <a:avLst/>
          </a:prstGeom>
          <a:noFill/>
        </p:spPr>
        <p:txBody>
          <a:bodyPr wrap="square" rtlCol="0">
            <a:spAutoFit/>
          </a:bodyPr>
          <a:lstStyle/>
          <a:p>
            <a:r>
              <a:rPr lang="en-US" sz="2800" b="1" dirty="0">
                <a:solidFill>
                  <a:srgbClr val="0000CC"/>
                </a:solidFill>
              </a:rPr>
              <a:t>Worst case:</a:t>
            </a:r>
          </a:p>
          <a:p>
            <a:pPr algn="ctr"/>
            <a:endParaRPr lang="en-US" sz="1400" b="1" dirty="0">
              <a:solidFill>
                <a:srgbClr val="0000CC"/>
              </a:solidFill>
            </a:endParaRPr>
          </a:p>
          <a:p>
            <a:r>
              <a:rPr lang="en-US" sz="2800" b="1" dirty="0"/>
              <a:t>Data entered in natural order or reverse order.</a:t>
            </a:r>
            <a:br>
              <a:rPr lang="en-US" sz="2800" b="1" dirty="0"/>
            </a:br>
            <a:endParaRPr lang="en-US" sz="1200" b="1" dirty="0"/>
          </a:p>
          <a:p>
            <a:r>
              <a:rPr lang="en-US" sz="2800" b="1" dirty="0"/>
              <a:t>Or any other tree with as many levels as nodes.</a:t>
            </a:r>
          </a:p>
        </p:txBody>
      </p:sp>
      <p:grpSp>
        <p:nvGrpSpPr>
          <p:cNvPr id="4" name="Group 3" descr="A degenerate tree with seven nodes and seven levels.">
            <a:extLst>
              <a:ext uri="{FF2B5EF4-FFF2-40B4-BE49-F238E27FC236}">
                <a16:creationId xmlns:a16="http://schemas.microsoft.com/office/drawing/2014/main" id="{90659242-EA6D-47F0-8F75-1942DE1B4597}"/>
              </a:ext>
            </a:extLst>
          </p:cNvPr>
          <p:cNvGrpSpPr/>
          <p:nvPr/>
        </p:nvGrpSpPr>
        <p:grpSpPr>
          <a:xfrm>
            <a:off x="4800600" y="304800"/>
            <a:ext cx="3733800" cy="5982247"/>
            <a:chOff x="4876800" y="457200"/>
            <a:chExt cx="3352800" cy="5371814"/>
          </a:xfrm>
        </p:grpSpPr>
        <p:pic>
          <p:nvPicPr>
            <p:cNvPr id="13" name="Picture 2">
              <a:extLst>
                <a:ext uri="{FF2B5EF4-FFF2-40B4-BE49-F238E27FC236}">
                  <a16:creationId xmlns:a16="http://schemas.microsoft.com/office/drawing/2014/main" id="{4EEF68DC-FE59-4BCC-A441-814A657C555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4167"/>
            <a:stretch/>
          </p:blipFill>
          <p:spPr bwMode="auto">
            <a:xfrm>
              <a:off x="4876800" y="457200"/>
              <a:ext cx="3352800" cy="53718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solidFill>
                    <a:schemeClr val="tx1"/>
                  </a:solidFill>
                  <a:prstDash val="solid"/>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Rectangle 13">
              <a:extLst>
                <a:ext uri="{FF2B5EF4-FFF2-40B4-BE49-F238E27FC236}">
                  <a16:creationId xmlns:a16="http://schemas.microsoft.com/office/drawing/2014/main" id="{5AC469E8-0317-4384-810B-E3B41002A6C4}"/>
                </a:ext>
              </a:extLst>
            </p:cNvPr>
            <p:cNvSpPr/>
            <p:nvPr/>
          </p:nvSpPr>
          <p:spPr bwMode="auto">
            <a:xfrm>
              <a:off x="6400800" y="1371600"/>
              <a:ext cx="533400" cy="457200"/>
            </a:xfrm>
            <a:prstGeom prst="rect">
              <a:avLst/>
            </a:prstGeom>
            <a:solidFill>
              <a:srgbClr val="FFFBFB"/>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grpSp>
      <p:sp>
        <p:nvSpPr>
          <p:cNvPr id="15" name="TextBox 14">
            <a:extLst>
              <a:ext uri="{FF2B5EF4-FFF2-40B4-BE49-F238E27FC236}">
                <a16:creationId xmlns:a16="http://schemas.microsoft.com/office/drawing/2014/main" id="{7C167133-0CC0-4D42-B59E-90C695992769}"/>
              </a:ext>
            </a:extLst>
          </p:cNvPr>
          <p:cNvSpPr txBox="1"/>
          <p:nvPr/>
        </p:nvSpPr>
        <p:spPr>
          <a:xfrm>
            <a:off x="685800" y="3962400"/>
            <a:ext cx="3733800" cy="1815882"/>
          </a:xfrm>
          <a:prstGeom prst="rect">
            <a:avLst/>
          </a:prstGeom>
          <a:noFill/>
        </p:spPr>
        <p:txBody>
          <a:bodyPr wrap="square">
            <a:spAutoFit/>
          </a:bodyPr>
          <a:lstStyle/>
          <a:p>
            <a:pPr eaLnBrk="1" hangingPunct="1">
              <a:spcBef>
                <a:spcPct val="50000"/>
              </a:spcBef>
            </a:pPr>
            <a:r>
              <a:rPr lang="en-US" sz="2800" b="1" dirty="0"/>
              <a:t>Adding	 O(n)</a:t>
            </a:r>
          </a:p>
          <a:p>
            <a:pPr eaLnBrk="1" hangingPunct="1">
              <a:spcBef>
                <a:spcPct val="50000"/>
              </a:spcBef>
            </a:pPr>
            <a:r>
              <a:rPr lang="en-US" sz="2800" b="1" dirty="0"/>
              <a:t>Searching	 O(n)</a:t>
            </a:r>
          </a:p>
          <a:p>
            <a:pPr eaLnBrk="1" hangingPunct="1">
              <a:spcBef>
                <a:spcPct val="50000"/>
              </a:spcBef>
            </a:pPr>
            <a:r>
              <a:rPr lang="en-US" sz="2800" b="1" dirty="0"/>
              <a:t>Removing	 O(n)</a:t>
            </a:r>
          </a:p>
        </p:txBody>
      </p:sp>
    </p:spTree>
    <p:extLst>
      <p:ext uri="{BB962C8B-B14F-4D97-AF65-F5344CB8AC3E}">
        <p14:creationId xmlns:p14="http://schemas.microsoft.com/office/powerpoint/2010/main" val="11693727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62000" y="76200"/>
            <a:ext cx="7924800" cy="2786981"/>
          </a:xfrm>
          <a:prstGeom prst="rect">
            <a:avLst/>
          </a:prstGeom>
          <a:noFill/>
        </p:spPr>
        <p:txBody>
          <a:bodyPr wrap="square" rtlCol="0">
            <a:spAutoFit/>
          </a:bodyPr>
          <a:lstStyle/>
          <a:p>
            <a:pPr>
              <a:lnSpc>
                <a:spcPct val="150000"/>
              </a:lnSpc>
            </a:pPr>
            <a:r>
              <a:rPr lang="en-US" b="1" dirty="0">
                <a:solidFill>
                  <a:srgbClr val="0000CC"/>
                </a:solidFill>
              </a:rPr>
              <a:t>Best case = O(1)</a:t>
            </a:r>
            <a:r>
              <a:rPr lang="en-US" dirty="0">
                <a:solidFill>
                  <a:srgbClr val="0000CC"/>
                </a:solidFill>
              </a:rPr>
              <a:t>	 </a:t>
            </a:r>
          </a:p>
          <a:p>
            <a:pPr marL="342900" indent="-342900">
              <a:lnSpc>
                <a:spcPct val="150000"/>
              </a:lnSpc>
              <a:buFont typeface="Arial" panose="020B0604020202020204" pitchFamily="34" charset="0"/>
              <a:buChar char="•"/>
            </a:pPr>
            <a:r>
              <a:rPr lang="en-US" dirty="0"/>
              <a:t>Search value is the root</a:t>
            </a:r>
          </a:p>
          <a:p>
            <a:pPr marL="342900" indent="-342900">
              <a:lnSpc>
                <a:spcPct val="150000"/>
              </a:lnSpc>
              <a:buFont typeface="Arial" panose="020B0604020202020204" pitchFamily="34" charset="0"/>
              <a:buChar char="•"/>
            </a:pPr>
            <a:r>
              <a:rPr lang="en-US" dirty="0"/>
              <a:t>Adding to a tree with only one branch when the new value starts the other branch</a:t>
            </a:r>
          </a:p>
          <a:p>
            <a:pPr marL="342900" indent="-342900">
              <a:lnSpc>
                <a:spcPct val="150000"/>
              </a:lnSpc>
              <a:buFont typeface="Arial" panose="020B0604020202020204" pitchFamily="34" charset="0"/>
              <a:buChar char="•"/>
            </a:pPr>
            <a:r>
              <a:rPr lang="en-US" dirty="0"/>
              <a:t>Removing a node which has 0 or 1 child</a:t>
            </a:r>
          </a:p>
        </p:txBody>
      </p:sp>
      <p:pic>
        <p:nvPicPr>
          <p:cNvPr id="1026" name="Picture 2" descr="The initial tree is a degenerate tree with 20 as the root, 14 as its left child, and 9 as 14's left child.&#10;Inserting 22 would be O(1)">
            <a:extLst>
              <a:ext uri="{FF2B5EF4-FFF2-40B4-BE49-F238E27FC236}">
                <a16:creationId xmlns:a16="http://schemas.microsoft.com/office/drawing/2014/main" id="{18CB4DEF-428C-05B9-CF58-3A0AF8882E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 y="3048000"/>
            <a:ext cx="8610600" cy="330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733889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4" name="Text Box 3"/>
          <p:cNvSpPr txBox="1">
            <a:spLocks noChangeArrowheads="1"/>
          </p:cNvSpPr>
          <p:nvPr/>
        </p:nvSpPr>
        <p:spPr bwMode="auto">
          <a:xfrm>
            <a:off x="1600200" y="1295400"/>
            <a:ext cx="6629400"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spcBef>
                <a:spcPct val="50000"/>
              </a:spcBef>
            </a:pPr>
            <a:r>
              <a:rPr lang="en-US" b="1" dirty="0"/>
              <a:t>traverse all nodes			O(N)</a:t>
            </a:r>
          </a:p>
          <a:p>
            <a:pPr eaLnBrk="1" hangingPunct="1">
              <a:spcBef>
                <a:spcPct val="50000"/>
              </a:spcBef>
            </a:pPr>
            <a:r>
              <a:rPr lang="en-US" b="1" dirty="0">
                <a:solidFill>
                  <a:schemeClr val="accent1">
                    <a:lumMod val="50000"/>
                  </a:schemeClr>
                </a:solidFill>
              </a:rPr>
              <a:t>search for an item		O(log</a:t>
            </a:r>
            <a:r>
              <a:rPr lang="en-US" b="1" baseline="-25000" dirty="0">
                <a:solidFill>
                  <a:schemeClr val="accent1">
                    <a:lumMod val="50000"/>
                  </a:schemeClr>
                </a:solidFill>
              </a:rPr>
              <a:t>2</a:t>
            </a:r>
            <a:r>
              <a:rPr lang="en-US" b="1" dirty="0">
                <a:solidFill>
                  <a:schemeClr val="accent1">
                    <a:lumMod val="50000"/>
                  </a:schemeClr>
                </a:solidFill>
              </a:rPr>
              <a:t>N)</a:t>
            </a:r>
          </a:p>
          <a:p>
            <a:pPr eaLnBrk="1" hangingPunct="1">
              <a:spcBef>
                <a:spcPct val="50000"/>
              </a:spcBef>
            </a:pPr>
            <a:r>
              <a:rPr lang="en-US" b="1" dirty="0">
                <a:solidFill>
                  <a:srgbClr val="C00000"/>
                </a:solidFill>
              </a:rPr>
              <a:t>remove any item			O(N)	</a:t>
            </a:r>
          </a:p>
          <a:p>
            <a:pPr eaLnBrk="1" hangingPunct="1">
              <a:spcBef>
                <a:spcPct val="50000"/>
              </a:spcBef>
            </a:pPr>
            <a:r>
              <a:rPr lang="en-US" b="1" dirty="0"/>
              <a:t>access a </a:t>
            </a:r>
            <a:r>
              <a:rPr lang="en-US" b="1" u="sng" dirty="0"/>
              <a:t>spot</a:t>
            </a:r>
            <a:r>
              <a:rPr lang="en-US" b="1" dirty="0"/>
              <a:t>			O(1)	</a:t>
            </a:r>
          </a:p>
          <a:p>
            <a:pPr eaLnBrk="1" hangingPunct="1">
              <a:spcBef>
                <a:spcPct val="50000"/>
              </a:spcBef>
            </a:pPr>
            <a:r>
              <a:rPr lang="en-US" b="1" dirty="0">
                <a:solidFill>
                  <a:srgbClr val="C00000"/>
                </a:solidFill>
              </a:rPr>
              <a:t>add item 				O(N)</a:t>
            </a:r>
          </a:p>
        </p:txBody>
      </p:sp>
      <p:grpSp>
        <p:nvGrpSpPr>
          <p:cNvPr id="10" name="Group 9">
            <a:extLst>
              <a:ext uri="{FF2B5EF4-FFF2-40B4-BE49-F238E27FC236}">
                <a16:creationId xmlns:a16="http://schemas.microsoft.com/office/drawing/2014/main" id="{23F90D87-6A03-45B0-8241-9FE85F02A701}"/>
              </a:ext>
            </a:extLst>
          </p:cNvPr>
          <p:cNvGrpSpPr/>
          <p:nvPr/>
        </p:nvGrpSpPr>
        <p:grpSpPr>
          <a:xfrm>
            <a:off x="5129555" y="4803858"/>
            <a:ext cx="2577319" cy="456448"/>
            <a:chOff x="3429000" y="2286000"/>
            <a:chExt cx="3276600" cy="580292"/>
          </a:xfrm>
        </p:grpSpPr>
        <p:sp>
          <p:nvSpPr>
            <p:cNvPr id="12" name="Rectangle 11">
              <a:extLst>
                <a:ext uri="{FF2B5EF4-FFF2-40B4-BE49-F238E27FC236}">
                  <a16:creationId xmlns:a16="http://schemas.microsoft.com/office/drawing/2014/main" id="{BA646419-5946-4AC8-BC41-B6749F31F816}"/>
                </a:ext>
              </a:extLst>
            </p:cNvPr>
            <p:cNvSpPr/>
            <p:nvPr/>
          </p:nvSpPr>
          <p:spPr bwMode="auto">
            <a:xfrm>
              <a:off x="3429000" y="2286000"/>
              <a:ext cx="533400"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13" name="Rectangle 12">
              <a:extLst>
                <a:ext uri="{FF2B5EF4-FFF2-40B4-BE49-F238E27FC236}">
                  <a16:creationId xmlns:a16="http://schemas.microsoft.com/office/drawing/2014/main" id="{34178CE3-82DA-4989-B803-4FF8C7A55E24}"/>
                </a:ext>
              </a:extLst>
            </p:cNvPr>
            <p:cNvSpPr/>
            <p:nvPr/>
          </p:nvSpPr>
          <p:spPr bwMode="auto">
            <a:xfrm>
              <a:off x="6172200" y="2409092"/>
              <a:ext cx="533400"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grpSp>
      <p:sp>
        <p:nvSpPr>
          <p:cNvPr id="16" name="TextBox 15">
            <a:extLst>
              <a:ext uri="{FF2B5EF4-FFF2-40B4-BE49-F238E27FC236}">
                <a16:creationId xmlns:a16="http://schemas.microsoft.com/office/drawing/2014/main" id="{EC6BDC91-D472-4ED7-AEF9-2B6E7C331E07}"/>
              </a:ext>
            </a:extLst>
          </p:cNvPr>
          <p:cNvSpPr txBox="1"/>
          <p:nvPr/>
        </p:nvSpPr>
        <p:spPr>
          <a:xfrm>
            <a:off x="609599" y="5144869"/>
            <a:ext cx="7924800" cy="646331"/>
          </a:xfrm>
          <a:prstGeom prst="rect">
            <a:avLst/>
          </a:prstGeom>
          <a:noFill/>
        </p:spPr>
        <p:txBody>
          <a:bodyPr wrap="square">
            <a:spAutoFit/>
          </a:bodyPr>
          <a:lstStyle/>
          <a:p>
            <a:pPr algn="ctr" eaLnBrk="1" hangingPunct="1">
              <a:spcBef>
                <a:spcPct val="50000"/>
              </a:spcBef>
            </a:pPr>
            <a:r>
              <a:rPr lang="en-US" sz="3600" b="1" dirty="0">
                <a:solidFill>
                  <a:schemeClr val="accent2"/>
                </a:solidFill>
              </a:rPr>
              <a:t>[2, 3, 5, 8, 10, 19, 23, 27, 32]</a:t>
            </a:r>
            <a:endParaRPr lang="en-US" sz="3600" b="1" dirty="0"/>
          </a:p>
        </p:txBody>
      </p:sp>
      <p:sp>
        <p:nvSpPr>
          <p:cNvPr id="2" name="TextBox 1">
            <a:extLst>
              <a:ext uri="{FF2B5EF4-FFF2-40B4-BE49-F238E27FC236}">
                <a16:creationId xmlns:a16="http://schemas.microsoft.com/office/drawing/2014/main" id="{A9C03A65-E039-EE14-D29F-9ED53F20D14F}"/>
              </a:ext>
            </a:extLst>
          </p:cNvPr>
          <p:cNvSpPr txBox="1"/>
          <p:nvPr/>
        </p:nvSpPr>
        <p:spPr>
          <a:xfrm>
            <a:off x="327889" y="261280"/>
            <a:ext cx="8488221" cy="461665"/>
          </a:xfrm>
          <a:prstGeom prst="rect">
            <a:avLst/>
          </a:prstGeom>
          <a:noFill/>
        </p:spPr>
        <p:txBody>
          <a:bodyPr wrap="none" rtlCol="0">
            <a:spAutoFit/>
          </a:bodyPr>
          <a:lstStyle/>
          <a:p>
            <a:r>
              <a:rPr lang="en-US" b="1" dirty="0">
                <a:solidFill>
                  <a:schemeClr val="accent6">
                    <a:lumMod val="75000"/>
                  </a:schemeClr>
                </a:solidFill>
              </a:rPr>
              <a:t>Using a Sorted Array and the Binary Search Algorithm</a:t>
            </a:r>
          </a:p>
        </p:txBody>
      </p:sp>
    </p:spTree>
    <p:extLst>
      <p:ext uri="{BB962C8B-B14F-4D97-AF65-F5344CB8AC3E}">
        <p14:creationId xmlns:p14="http://schemas.microsoft.com/office/powerpoint/2010/main" val="7546154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Comparing Data Structures</a:t>
            </a:r>
          </a:p>
        </p:txBody>
      </p:sp>
      <mc:AlternateContent xmlns:mc="http://schemas.openxmlformats.org/markup-compatibility/2006" xmlns:a14="http://schemas.microsoft.com/office/drawing/2010/main">
        <mc:Choice Requires="a14">
          <p:graphicFrame>
            <p:nvGraphicFramePr>
              <p:cNvPr id="5" name="Content Placeholder 4"/>
              <p:cNvGraphicFramePr>
                <a:graphicFrameLocks noGrp="1"/>
              </p:cNvGraphicFramePr>
              <p:nvPr>
                <p:ph sz="quarter" idx="1"/>
                <p:extLst>
                  <p:ext uri="{D42A27DB-BD31-4B8C-83A1-F6EECF244321}">
                    <p14:modId xmlns:p14="http://schemas.microsoft.com/office/powerpoint/2010/main" val="4278070130"/>
                  </p:ext>
                </p:extLst>
              </p:nvPr>
            </p:nvGraphicFramePr>
            <p:xfrm>
              <a:off x="0" y="-7144"/>
              <a:ext cx="9144001" cy="6865143"/>
            </p:xfrm>
            <a:graphic>
              <a:graphicData uri="http://schemas.openxmlformats.org/drawingml/2006/table">
                <a:tbl>
                  <a:tblPr firstRow="1" bandRow="1">
                    <a:tableStyleId>{5C22544A-7EE6-4342-B048-85BDC9FD1C3A}</a:tableStyleId>
                  </a:tblPr>
                  <a:tblGrid>
                    <a:gridCol w="2953435">
                      <a:extLst>
                        <a:ext uri="{9D8B030D-6E8A-4147-A177-3AD203B41FA5}">
                          <a16:colId xmlns:a16="http://schemas.microsoft.com/office/drawing/2014/main" val="20000"/>
                        </a:ext>
                      </a:extLst>
                    </a:gridCol>
                    <a:gridCol w="1968092">
                      <a:extLst>
                        <a:ext uri="{9D8B030D-6E8A-4147-A177-3AD203B41FA5}">
                          <a16:colId xmlns:a16="http://schemas.microsoft.com/office/drawing/2014/main" val="20001"/>
                        </a:ext>
                      </a:extLst>
                    </a:gridCol>
                    <a:gridCol w="2111237">
                      <a:extLst>
                        <a:ext uri="{9D8B030D-6E8A-4147-A177-3AD203B41FA5}">
                          <a16:colId xmlns:a16="http://schemas.microsoft.com/office/drawing/2014/main" val="20002"/>
                        </a:ext>
                      </a:extLst>
                    </a:gridCol>
                    <a:gridCol w="2111237">
                      <a:extLst>
                        <a:ext uri="{9D8B030D-6E8A-4147-A177-3AD203B41FA5}">
                          <a16:colId xmlns:a16="http://schemas.microsoft.com/office/drawing/2014/main" val="1749272156"/>
                        </a:ext>
                      </a:extLst>
                    </a:gridCol>
                  </a:tblGrid>
                  <a:tr h="946555">
                    <a:tc>
                      <a:txBody>
                        <a:bodyPr/>
                        <a:lstStyle/>
                        <a:p>
                          <a:pPr algn="ctr"/>
                          <a:r>
                            <a:rPr lang="en-US" sz="2400" b="0" dirty="0">
                              <a:latin typeface="Abadi" panose="020B0604020104020204" pitchFamily="34" charset="0"/>
                            </a:rPr>
                            <a:t>Data Structure</a:t>
                          </a:r>
                        </a:p>
                      </a:txBody>
                      <a:tcPr anchor="ctr"/>
                    </a:tc>
                    <a:tc>
                      <a:txBody>
                        <a:bodyPr/>
                        <a:lstStyle/>
                        <a:p>
                          <a:pPr algn="ctr"/>
                          <a:r>
                            <a:rPr lang="en-US" sz="2400" b="0" dirty="0">
                              <a:latin typeface="Abadi" panose="020B0604020104020204" pitchFamily="34" charset="0"/>
                            </a:rPr>
                            <a:t>add(</a:t>
                          </a:r>
                          <a:r>
                            <a:rPr lang="en-US" sz="2400" b="0" dirty="0" err="1">
                              <a:latin typeface="Abadi" panose="020B0604020104020204" pitchFamily="34" charset="0"/>
                            </a:rPr>
                            <a:t>val</a:t>
                          </a:r>
                          <a:r>
                            <a:rPr lang="en-US" sz="2400" b="0" dirty="0">
                              <a:latin typeface="Abadi" panose="020B0604020104020204" pitchFamily="34" charset="0"/>
                            </a:rPr>
                            <a:t> x)</a:t>
                          </a:r>
                        </a:p>
                      </a:txBody>
                      <a:tcPr anchor="ctr"/>
                    </a:tc>
                    <a:tc>
                      <a:txBody>
                        <a:bodyPr/>
                        <a:lstStyle/>
                        <a:p>
                          <a:pPr algn="ctr"/>
                          <a:r>
                            <a:rPr lang="en-US" sz="2400" b="0" dirty="0">
                              <a:latin typeface="Abadi" panose="020B0604020104020204" pitchFamily="34" charset="0"/>
                            </a:rPr>
                            <a:t>lookup(int 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dirty="0">
                              <a:latin typeface="Abadi" panose="020B0604020104020204" pitchFamily="34" charset="0"/>
                            </a:rPr>
                            <a:t>search(</a:t>
                          </a:r>
                          <a:r>
                            <a:rPr lang="en-US" sz="2400" b="0" dirty="0" err="1">
                              <a:latin typeface="Abadi" panose="020B0604020104020204" pitchFamily="34" charset="0"/>
                            </a:rPr>
                            <a:t>val</a:t>
                          </a:r>
                          <a:r>
                            <a:rPr lang="en-US" sz="2400" b="0" dirty="0">
                              <a:latin typeface="Abadi" panose="020B0604020104020204" pitchFamily="34" charset="0"/>
                            </a:rPr>
                            <a:t> x)</a:t>
                          </a:r>
                        </a:p>
                      </a:txBody>
                      <a:tcPr anchor="ctr"/>
                    </a:tc>
                    <a:extLst>
                      <a:ext uri="{0D108BD9-81ED-4DB2-BD59-A6C34878D82A}">
                        <a16:rowId xmlns:a16="http://schemas.microsoft.com/office/drawing/2014/main" val="10000"/>
                      </a:ext>
                    </a:extLst>
                  </a:tr>
                  <a:tr h="1723880">
                    <a:tc>
                      <a:txBody>
                        <a:bodyPr/>
                        <a:lstStyle/>
                        <a:p>
                          <a:r>
                            <a:rPr lang="en-US" sz="2400" b="1" dirty="0">
                              <a:latin typeface="Abadi" panose="020B0604020104020204" pitchFamily="34" charset="0"/>
                            </a:rPr>
                            <a:t>Array</a:t>
                          </a:r>
                        </a:p>
                      </a:txBody>
                      <a:tcPr/>
                    </a:tc>
                    <a:tc>
                      <a:txBody>
                        <a:bodyPr/>
                        <a:lstStyle/>
                        <a:p>
                          <a:pPr/>
                          <a14:m>
                            <m:oMathPara xmlns:m="http://schemas.openxmlformats.org/officeDocument/2006/math">
                              <m:oMathParaPr>
                                <m:jc m:val="center"/>
                              </m:oMathParaPr>
                              <m:oMath xmlns:m="http://schemas.openxmlformats.org/officeDocument/2006/math">
                                <m:r>
                                  <a:rPr lang="en-US" sz="3200" b="0" i="1" smtClean="0">
                                    <a:latin typeface="Cambria Math" panose="02040503050406030204" pitchFamily="18" charset="0"/>
                                  </a:rPr>
                                  <m:t>𝑂</m:t>
                                </m:r>
                                <m:r>
                                  <a:rPr lang="en-US" sz="3200" b="0" i="1" smtClean="0">
                                    <a:latin typeface="Cambria Math" panose="02040503050406030204" pitchFamily="18" charset="0"/>
                                  </a:rPr>
                                  <m:t>(</m:t>
                                </m:r>
                                <m:r>
                                  <a:rPr lang="en-US" sz="3200" b="0" i="1" smtClean="0">
                                    <a:latin typeface="Cambria Math" panose="02040503050406030204" pitchFamily="18" charset="0"/>
                                  </a:rPr>
                                  <m:t>𝑛</m:t>
                                </m:r>
                                <m:r>
                                  <a:rPr lang="en-US" sz="3200" b="0" i="1" smtClean="0">
                                    <a:latin typeface="Cambria Math" panose="02040503050406030204" pitchFamily="18" charset="0"/>
                                  </a:rPr>
                                  <m:t>)</m:t>
                                </m:r>
                              </m:oMath>
                            </m:oMathPara>
                          </a14:m>
                          <a:endParaRPr lang="en-US" sz="32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(1)</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extLst>
                      <a:ext uri="{0D108BD9-81ED-4DB2-BD59-A6C34878D82A}">
                        <a16:rowId xmlns:a16="http://schemas.microsoft.com/office/drawing/2014/main" val="10001"/>
                      </a:ext>
                    </a:extLst>
                  </a:tr>
                  <a:tr h="1398236">
                    <a:tc>
                      <a:txBody>
                        <a:bodyPr/>
                        <a:lstStyle/>
                        <a:p>
                          <a:r>
                            <a:rPr lang="en-US" sz="2400" b="1" dirty="0">
                              <a:latin typeface="Abadi" panose="020B0604020104020204" pitchFamily="34" charset="0"/>
                            </a:rPr>
                            <a:t>Linked List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(1)</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extLst>
                      <a:ext uri="{0D108BD9-81ED-4DB2-BD59-A6C34878D82A}">
                        <a16:rowId xmlns:a16="http://schemas.microsoft.com/office/drawing/2014/main" val="10002"/>
                      </a:ext>
                    </a:extLst>
                  </a:tr>
                  <a:tr h="13982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latin typeface="Abadi" panose="020B0604020104020204" pitchFamily="34" charset="0"/>
                            </a:rPr>
                            <a:t>Binary Tree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(1)</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extLst>
                      <a:ext uri="{0D108BD9-81ED-4DB2-BD59-A6C34878D82A}">
                        <a16:rowId xmlns:a16="http://schemas.microsoft.com/office/drawing/2014/main" val="2435764593"/>
                      </a:ext>
                    </a:extLst>
                  </a:tr>
                  <a:tr h="13982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latin typeface="Abadi" panose="020B0604020104020204" pitchFamily="34" charset="0"/>
                            </a:rPr>
                            <a:t>BST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func>
                                  <m:funcPr>
                                    <m:ctrlPr>
                                      <a:rPr lang="en-US" sz="3200" b="0" i="1" kern="1200" smtClean="0">
                                        <a:solidFill>
                                          <a:schemeClr val="dk1"/>
                                        </a:solidFill>
                                        <a:latin typeface="Cambria Math" panose="02040503050406030204" pitchFamily="18" charset="0"/>
                                        <a:ea typeface="+mn-ea"/>
                                        <a:cs typeface="+mn-cs"/>
                                      </a:rPr>
                                    </m:ctrlPr>
                                  </m:funcPr>
                                  <m:fName>
                                    <m:r>
                                      <m:rPr>
                                        <m:sty m:val="p"/>
                                      </m:rPr>
                                      <a:rPr lang="en-US" sz="3200" b="0" i="1" kern="1200" smtClean="0">
                                        <a:solidFill>
                                          <a:schemeClr val="dk1"/>
                                        </a:solidFill>
                                        <a:latin typeface="Cambria Math" panose="02040503050406030204" pitchFamily="18" charset="0"/>
                                        <a:ea typeface="+mn-ea"/>
                                        <a:cs typeface="+mn-cs"/>
                                      </a:rPr>
                                      <m:t>log</m:t>
                                    </m:r>
                                  </m:fName>
                                  <m:e>
                                    <m:r>
                                      <a:rPr lang="en-US" sz="3200" b="0" i="1" kern="1200" smtClean="0">
                                        <a:solidFill>
                                          <a:schemeClr val="dk1"/>
                                        </a:solidFill>
                                        <a:latin typeface="Cambria Math" panose="02040503050406030204" pitchFamily="18" charset="0"/>
                                        <a:ea typeface="+mn-ea"/>
                                        <a:cs typeface="+mn-cs"/>
                                      </a:rPr>
                                      <m:t>𝑛</m:t>
                                    </m:r>
                                  </m:e>
                                </m:func>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func>
                                  <m:funcPr>
                                    <m:ctrlPr>
                                      <a:rPr lang="en-US" sz="3200" b="0" i="1" kern="1200" smtClean="0">
                                        <a:solidFill>
                                          <a:schemeClr val="dk1"/>
                                        </a:solidFill>
                                        <a:latin typeface="Cambria Math" panose="02040503050406030204" pitchFamily="18" charset="0"/>
                                        <a:ea typeface="+mn-ea"/>
                                        <a:cs typeface="+mn-cs"/>
                                      </a:rPr>
                                    </m:ctrlPr>
                                  </m:funcPr>
                                  <m:fName>
                                    <m:r>
                                      <m:rPr>
                                        <m:sty m:val="p"/>
                                      </m:rPr>
                                      <a:rPr lang="en-US" sz="3200" b="0" i="1" kern="1200" smtClean="0">
                                        <a:solidFill>
                                          <a:schemeClr val="dk1"/>
                                        </a:solidFill>
                                        <a:latin typeface="Cambria Math" panose="02040503050406030204" pitchFamily="18" charset="0"/>
                                        <a:ea typeface="+mn-ea"/>
                                        <a:cs typeface="+mn-cs"/>
                                      </a:rPr>
                                      <m:t>log</m:t>
                                    </m:r>
                                  </m:fName>
                                  <m:e>
                                    <m:r>
                                      <a:rPr lang="en-US" sz="3200" b="0" i="1" kern="1200" smtClean="0">
                                        <a:solidFill>
                                          <a:schemeClr val="dk1"/>
                                        </a:solidFill>
                                        <a:latin typeface="Cambria Math" panose="02040503050406030204" pitchFamily="18" charset="0"/>
                                        <a:ea typeface="+mn-ea"/>
                                        <a:cs typeface="+mn-cs"/>
                                      </a:rPr>
                                      <m:t>𝑛</m:t>
                                    </m:r>
                                  </m:e>
                                </m:func>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func>
                                  <m:funcPr>
                                    <m:ctrlPr>
                                      <a:rPr lang="en-US" sz="3200" b="0" i="1" kern="1200" smtClean="0">
                                        <a:solidFill>
                                          <a:schemeClr val="dk1"/>
                                        </a:solidFill>
                                        <a:latin typeface="Cambria Math" panose="02040503050406030204" pitchFamily="18" charset="0"/>
                                        <a:ea typeface="+mn-ea"/>
                                        <a:cs typeface="+mn-cs"/>
                                      </a:rPr>
                                    </m:ctrlPr>
                                  </m:funcPr>
                                  <m:fName>
                                    <m:r>
                                      <m:rPr>
                                        <m:sty m:val="p"/>
                                      </m:rPr>
                                      <a:rPr lang="en-US" sz="3200" b="0" i="1" kern="1200" smtClean="0">
                                        <a:solidFill>
                                          <a:schemeClr val="dk1"/>
                                        </a:solidFill>
                                        <a:latin typeface="Cambria Math" panose="02040503050406030204" pitchFamily="18" charset="0"/>
                                        <a:ea typeface="+mn-ea"/>
                                        <a:cs typeface="+mn-cs"/>
                                      </a:rPr>
                                      <m:t>log</m:t>
                                    </m:r>
                                  </m:fName>
                                  <m:e>
                                    <m:r>
                                      <a:rPr lang="en-US" sz="3200" b="0" i="1" kern="1200" smtClean="0">
                                        <a:solidFill>
                                          <a:schemeClr val="dk1"/>
                                        </a:solidFill>
                                        <a:latin typeface="Cambria Math" panose="02040503050406030204" pitchFamily="18" charset="0"/>
                                        <a:ea typeface="+mn-ea"/>
                                        <a:cs typeface="+mn-cs"/>
                                      </a:rPr>
                                      <m:t>𝑛</m:t>
                                    </m:r>
                                  </m:e>
                                </m:func>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extLst>
                      <a:ext uri="{0D108BD9-81ED-4DB2-BD59-A6C34878D82A}">
                        <a16:rowId xmlns:a16="http://schemas.microsoft.com/office/drawing/2014/main" val="1607392861"/>
                      </a:ext>
                    </a:extLst>
                  </a:tr>
                </a:tbl>
              </a:graphicData>
            </a:graphic>
          </p:graphicFrame>
        </mc:Choice>
        <mc:Fallback xmlns="">
          <p:graphicFrame>
            <p:nvGraphicFramePr>
              <p:cNvPr id="5" name="Content Placeholder 4"/>
              <p:cNvGraphicFramePr>
                <a:graphicFrameLocks noGrp="1"/>
              </p:cNvGraphicFramePr>
              <p:nvPr>
                <p:ph sz="quarter" idx="1"/>
                <p:extLst>
                  <p:ext uri="{D42A27DB-BD31-4B8C-83A1-F6EECF244321}">
                    <p14:modId xmlns:p14="http://schemas.microsoft.com/office/powerpoint/2010/main" val="4278070130"/>
                  </p:ext>
                </p:extLst>
              </p:nvPr>
            </p:nvGraphicFramePr>
            <p:xfrm>
              <a:off x="0" y="-7144"/>
              <a:ext cx="9144001" cy="6865143"/>
            </p:xfrm>
            <a:graphic>
              <a:graphicData uri="http://schemas.openxmlformats.org/drawingml/2006/table">
                <a:tbl>
                  <a:tblPr firstRow="1" bandRow="1">
                    <a:tableStyleId>{5C22544A-7EE6-4342-B048-85BDC9FD1C3A}</a:tableStyleId>
                  </a:tblPr>
                  <a:tblGrid>
                    <a:gridCol w="2953435">
                      <a:extLst>
                        <a:ext uri="{9D8B030D-6E8A-4147-A177-3AD203B41FA5}">
                          <a16:colId xmlns:a16="http://schemas.microsoft.com/office/drawing/2014/main" val="20000"/>
                        </a:ext>
                      </a:extLst>
                    </a:gridCol>
                    <a:gridCol w="1968092">
                      <a:extLst>
                        <a:ext uri="{9D8B030D-6E8A-4147-A177-3AD203B41FA5}">
                          <a16:colId xmlns:a16="http://schemas.microsoft.com/office/drawing/2014/main" val="20001"/>
                        </a:ext>
                      </a:extLst>
                    </a:gridCol>
                    <a:gridCol w="2111237">
                      <a:extLst>
                        <a:ext uri="{9D8B030D-6E8A-4147-A177-3AD203B41FA5}">
                          <a16:colId xmlns:a16="http://schemas.microsoft.com/office/drawing/2014/main" val="20002"/>
                        </a:ext>
                      </a:extLst>
                    </a:gridCol>
                    <a:gridCol w="2111237">
                      <a:extLst>
                        <a:ext uri="{9D8B030D-6E8A-4147-A177-3AD203B41FA5}">
                          <a16:colId xmlns:a16="http://schemas.microsoft.com/office/drawing/2014/main" val="1749272156"/>
                        </a:ext>
                      </a:extLst>
                    </a:gridCol>
                  </a:tblGrid>
                  <a:tr h="946555">
                    <a:tc>
                      <a:txBody>
                        <a:bodyPr/>
                        <a:lstStyle/>
                        <a:p>
                          <a:pPr algn="ctr"/>
                          <a:r>
                            <a:rPr lang="en-US" sz="2400" b="0" dirty="0">
                              <a:latin typeface="Abadi" panose="020B0604020104020204" pitchFamily="34" charset="0"/>
                            </a:rPr>
                            <a:t>Data Structure</a:t>
                          </a:r>
                        </a:p>
                      </a:txBody>
                      <a:tcPr anchor="ctr"/>
                    </a:tc>
                    <a:tc>
                      <a:txBody>
                        <a:bodyPr/>
                        <a:lstStyle/>
                        <a:p>
                          <a:pPr algn="ctr"/>
                          <a:r>
                            <a:rPr lang="en-US" sz="2400" b="0" dirty="0">
                              <a:latin typeface="Abadi" panose="020B0604020104020204" pitchFamily="34" charset="0"/>
                            </a:rPr>
                            <a:t>add(</a:t>
                          </a:r>
                          <a:r>
                            <a:rPr lang="en-US" sz="2400" b="0" dirty="0" err="1">
                              <a:latin typeface="Abadi" panose="020B0604020104020204" pitchFamily="34" charset="0"/>
                            </a:rPr>
                            <a:t>val</a:t>
                          </a:r>
                          <a:r>
                            <a:rPr lang="en-US" sz="2400" b="0" dirty="0">
                              <a:latin typeface="Abadi" panose="020B0604020104020204" pitchFamily="34" charset="0"/>
                            </a:rPr>
                            <a:t> x)</a:t>
                          </a:r>
                        </a:p>
                      </a:txBody>
                      <a:tcPr anchor="ctr"/>
                    </a:tc>
                    <a:tc>
                      <a:txBody>
                        <a:bodyPr/>
                        <a:lstStyle/>
                        <a:p>
                          <a:pPr algn="ctr"/>
                          <a:r>
                            <a:rPr lang="en-US" sz="2400" b="0" dirty="0">
                              <a:latin typeface="Abadi" panose="020B0604020104020204" pitchFamily="34" charset="0"/>
                            </a:rPr>
                            <a:t>lookup(int 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dirty="0">
                              <a:latin typeface="Abadi" panose="020B0604020104020204" pitchFamily="34" charset="0"/>
                            </a:rPr>
                            <a:t>search(</a:t>
                          </a:r>
                          <a:r>
                            <a:rPr lang="en-US" sz="2400" b="0" dirty="0" err="1">
                              <a:latin typeface="Abadi" panose="020B0604020104020204" pitchFamily="34" charset="0"/>
                            </a:rPr>
                            <a:t>val</a:t>
                          </a:r>
                          <a:r>
                            <a:rPr lang="en-US" sz="2400" b="0" dirty="0">
                              <a:latin typeface="Abadi" panose="020B0604020104020204" pitchFamily="34" charset="0"/>
                            </a:rPr>
                            <a:t> x)</a:t>
                          </a:r>
                        </a:p>
                      </a:txBody>
                      <a:tcPr anchor="ctr"/>
                    </a:tc>
                    <a:extLst>
                      <a:ext uri="{0D108BD9-81ED-4DB2-BD59-A6C34878D82A}">
                        <a16:rowId xmlns:a16="http://schemas.microsoft.com/office/drawing/2014/main" val="10000"/>
                      </a:ext>
                    </a:extLst>
                  </a:tr>
                  <a:tr h="1723880">
                    <a:tc>
                      <a:txBody>
                        <a:bodyPr/>
                        <a:lstStyle/>
                        <a:p>
                          <a:r>
                            <a:rPr lang="en-US" sz="2400" b="1" dirty="0">
                              <a:latin typeface="Abadi" panose="020B0604020104020204" pitchFamily="34" charset="0"/>
                            </a:rPr>
                            <a:t>Array</a:t>
                          </a:r>
                        </a:p>
                      </a:txBody>
                      <a:tcPr/>
                    </a:tc>
                    <a:tc>
                      <a:txBody>
                        <a:bodyPr/>
                        <a:lstStyle/>
                        <a:p>
                          <a:endParaRPr lang="en-US"/>
                        </a:p>
                      </a:txBody>
                      <a:tcPr anchor="ctr">
                        <a:blipFill>
                          <a:blip r:embed="rId3"/>
                          <a:stretch>
                            <a:fillRect l="-150774" t="-55124" r="-215789" b="-244523"/>
                          </a:stretch>
                        </a:blipFill>
                      </a:tcPr>
                    </a:tc>
                    <a:tc>
                      <a:txBody>
                        <a:bodyPr/>
                        <a:lstStyle/>
                        <a:p>
                          <a:endParaRPr lang="en-US"/>
                        </a:p>
                      </a:txBody>
                      <a:tcPr anchor="ctr">
                        <a:blipFill>
                          <a:blip r:embed="rId3"/>
                          <a:stretch>
                            <a:fillRect l="-234104" t="-55124" r="-101445" b="-244523"/>
                          </a:stretch>
                        </a:blipFill>
                      </a:tcPr>
                    </a:tc>
                    <a:tc>
                      <a:txBody>
                        <a:bodyPr/>
                        <a:lstStyle/>
                        <a:p>
                          <a:endParaRPr lang="en-US"/>
                        </a:p>
                      </a:txBody>
                      <a:tcPr anchor="ctr">
                        <a:blipFill>
                          <a:blip r:embed="rId3"/>
                          <a:stretch>
                            <a:fillRect l="-333141" t="-55124" r="-1153" b="-244523"/>
                          </a:stretch>
                        </a:blipFill>
                      </a:tcPr>
                    </a:tc>
                    <a:extLst>
                      <a:ext uri="{0D108BD9-81ED-4DB2-BD59-A6C34878D82A}">
                        <a16:rowId xmlns:a16="http://schemas.microsoft.com/office/drawing/2014/main" val="10001"/>
                      </a:ext>
                    </a:extLst>
                  </a:tr>
                  <a:tr h="1398236">
                    <a:tc>
                      <a:txBody>
                        <a:bodyPr/>
                        <a:lstStyle/>
                        <a:p>
                          <a:r>
                            <a:rPr lang="en-US" sz="2400" b="1" dirty="0">
                              <a:latin typeface="Abadi" panose="020B0604020104020204" pitchFamily="34" charset="0"/>
                            </a:rPr>
                            <a:t>Linked List</a:t>
                          </a:r>
                        </a:p>
                      </a:txBody>
                      <a:tcPr/>
                    </a:tc>
                    <a:tc>
                      <a:txBody>
                        <a:bodyPr/>
                        <a:lstStyle/>
                        <a:p>
                          <a:endParaRPr lang="en-US"/>
                        </a:p>
                      </a:txBody>
                      <a:tcPr anchor="ctr">
                        <a:blipFill>
                          <a:blip r:embed="rId3"/>
                          <a:stretch>
                            <a:fillRect l="-150774" t="-190870" r="-215789" b="-200870"/>
                          </a:stretch>
                        </a:blipFill>
                      </a:tcPr>
                    </a:tc>
                    <a:tc>
                      <a:txBody>
                        <a:bodyPr/>
                        <a:lstStyle/>
                        <a:p>
                          <a:endParaRPr lang="en-US"/>
                        </a:p>
                      </a:txBody>
                      <a:tcPr anchor="ctr">
                        <a:blipFill>
                          <a:blip r:embed="rId3"/>
                          <a:stretch>
                            <a:fillRect l="-234104" t="-190870" r="-101445" b="-200870"/>
                          </a:stretch>
                        </a:blipFill>
                      </a:tcPr>
                    </a:tc>
                    <a:tc>
                      <a:txBody>
                        <a:bodyPr/>
                        <a:lstStyle/>
                        <a:p>
                          <a:endParaRPr lang="en-US"/>
                        </a:p>
                      </a:txBody>
                      <a:tcPr anchor="ctr">
                        <a:blipFill>
                          <a:blip r:embed="rId3"/>
                          <a:stretch>
                            <a:fillRect l="-333141" t="-190870" r="-1153" b="-200870"/>
                          </a:stretch>
                        </a:blipFill>
                      </a:tcPr>
                    </a:tc>
                    <a:extLst>
                      <a:ext uri="{0D108BD9-81ED-4DB2-BD59-A6C34878D82A}">
                        <a16:rowId xmlns:a16="http://schemas.microsoft.com/office/drawing/2014/main" val="10002"/>
                      </a:ext>
                    </a:extLst>
                  </a:tr>
                  <a:tr h="13982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latin typeface="Abadi" panose="020B0604020104020204" pitchFamily="34" charset="0"/>
                            </a:rPr>
                            <a:t>Binary Tree</a:t>
                          </a:r>
                        </a:p>
                      </a:txBody>
                      <a:tcPr/>
                    </a:tc>
                    <a:tc>
                      <a:txBody>
                        <a:bodyPr/>
                        <a:lstStyle/>
                        <a:p>
                          <a:endParaRPr lang="en-US"/>
                        </a:p>
                      </a:txBody>
                      <a:tcPr anchor="ctr">
                        <a:blipFill>
                          <a:blip r:embed="rId3"/>
                          <a:stretch>
                            <a:fillRect l="-150774" t="-292140" r="-215789" b="-101747"/>
                          </a:stretch>
                        </a:blipFill>
                      </a:tcPr>
                    </a:tc>
                    <a:tc>
                      <a:txBody>
                        <a:bodyPr/>
                        <a:lstStyle/>
                        <a:p>
                          <a:endParaRPr lang="en-US"/>
                        </a:p>
                      </a:txBody>
                      <a:tcPr anchor="ctr">
                        <a:blipFill>
                          <a:blip r:embed="rId3"/>
                          <a:stretch>
                            <a:fillRect l="-234104" t="-292140" r="-101445" b="-101747"/>
                          </a:stretch>
                        </a:blipFill>
                      </a:tcPr>
                    </a:tc>
                    <a:tc>
                      <a:txBody>
                        <a:bodyPr/>
                        <a:lstStyle/>
                        <a:p>
                          <a:endParaRPr lang="en-US"/>
                        </a:p>
                      </a:txBody>
                      <a:tcPr anchor="ctr">
                        <a:blipFill>
                          <a:blip r:embed="rId3"/>
                          <a:stretch>
                            <a:fillRect l="-333141" t="-292140" r="-1153" b="-101747"/>
                          </a:stretch>
                        </a:blipFill>
                      </a:tcPr>
                    </a:tc>
                    <a:extLst>
                      <a:ext uri="{0D108BD9-81ED-4DB2-BD59-A6C34878D82A}">
                        <a16:rowId xmlns:a16="http://schemas.microsoft.com/office/drawing/2014/main" val="2435764593"/>
                      </a:ext>
                    </a:extLst>
                  </a:tr>
                  <a:tr h="13982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latin typeface="Abadi" panose="020B0604020104020204" pitchFamily="34" charset="0"/>
                            </a:rPr>
                            <a:t>BST</a:t>
                          </a:r>
                        </a:p>
                      </a:txBody>
                      <a:tcPr/>
                    </a:tc>
                    <a:tc>
                      <a:txBody>
                        <a:bodyPr/>
                        <a:lstStyle/>
                        <a:p>
                          <a:endParaRPr lang="en-US"/>
                        </a:p>
                      </a:txBody>
                      <a:tcPr anchor="ctr">
                        <a:blipFill>
                          <a:blip r:embed="rId3"/>
                          <a:stretch>
                            <a:fillRect l="-150774" t="-390435" r="-215789" b="-1304"/>
                          </a:stretch>
                        </a:blipFill>
                      </a:tcPr>
                    </a:tc>
                    <a:tc>
                      <a:txBody>
                        <a:bodyPr/>
                        <a:lstStyle/>
                        <a:p>
                          <a:endParaRPr lang="en-US"/>
                        </a:p>
                      </a:txBody>
                      <a:tcPr anchor="ctr">
                        <a:blipFill>
                          <a:blip r:embed="rId3"/>
                          <a:stretch>
                            <a:fillRect l="-234104" t="-390435" r="-101445" b="-1304"/>
                          </a:stretch>
                        </a:blipFill>
                      </a:tcPr>
                    </a:tc>
                    <a:tc>
                      <a:txBody>
                        <a:bodyPr/>
                        <a:lstStyle/>
                        <a:p>
                          <a:endParaRPr lang="en-US"/>
                        </a:p>
                      </a:txBody>
                      <a:tcPr anchor="ctr">
                        <a:blipFill>
                          <a:blip r:embed="rId3"/>
                          <a:stretch>
                            <a:fillRect l="-333141" t="-390435" r="-1153" b="-1304"/>
                          </a:stretch>
                        </a:blipFill>
                      </a:tcPr>
                    </a:tc>
                    <a:extLst>
                      <a:ext uri="{0D108BD9-81ED-4DB2-BD59-A6C34878D82A}">
                        <a16:rowId xmlns:a16="http://schemas.microsoft.com/office/drawing/2014/main" val="1607392861"/>
                      </a:ext>
                    </a:extLst>
                  </a:tr>
                </a:tbl>
              </a:graphicData>
            </a:graphic>
          </p:graphicFrame>
        </mc:Fallback>
      </mc:AlternateContent>
      <p:grpSp>
        <p:nvGrpSpPr>
          <p:cNvPr id="32" name="Group 31" descr="Array: [2, 1, 3, 0]"/>
          <p:cNvGrpSpPr/>
          <p:nvPr/>
        </p:nvGrpSpPr>
        <p:grpSpPr>
          <a:xfrm>
            <a:off x="609492" y="1668943"/>
            <a:ext cx="1579453" cy="407486"/>
            <a:chOff x="838201" y="4796557"/>
            <a:chExt cx="1092593" cy="281880"/>
          </a:xfrm>
        </p:grpSpPr>
        <p:sp>
          <p:nvSpPr>
            <p:cNvPr id="28" name="Rectangle 27"/>
            <p:cNvSpPr/>
            <p:nvPr/>
          </p:nvSpPr>
          <p:spPr>
            <a:xfrm>
              <a:off x="838201" y="4800600"/>
              <a:ext cx="273148" cy="27783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t>2</a:t>
              </a:r>
            </a:p>
          </p:txBody>
        </p:sp>
        <p:sp>
          <p:nvSpPr>
            <p:cNvPr id="29" name="Rectangle 28"/>
            <p:cNvSpPr/>
            <p:nvPr/>
          </p:nvSpPr>
          <p:spPr>
            <a:xfrm>
              <a:off x="1111350" y="4800599"/>
              <a:ext cx="273148" cy="27783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t>1</a:t>
              </a:r>
            </a:p>
          </p:txBody>
        </p:sp>
        <p:sp>
          <p:nvSpPr>
            <p:cNvPr id="30" name="Rectangle 29"/>
            <p:cNvSpPr/>
            <p:nvPr/>
          </p:nvSpPr>
          <p:spPr>
            <a:xfrm>
              <a:off x="1384498" y="4796557"/>
              <a:ext cx="273148" cy="27783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t>3</a:t>
              </a:r>
            </a:p>
          </p:txBody>
        </p:sp>
        <p:sp>
          <p:nvSpPr>
            <p:cNvPr id="31" name="Rectangle 30"/>
            <p:cNvSpPr/>
            <p:nvPr/>
          </p:nvSpPr>
          <p:spPr>
            <a:xfrm>
              <a:off x="1657646" y="4796557"/>
              <a:ext cx="273148" cy="27783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t>0</a:t>
              </a:r>
            </a:p>
          </p:txBody>
        </p:sp>
      </p:grpSp>
      <p:grpSp>
        <p:nvGrpSpPr>
          <p:cNvPr id="37" name="Group 36" descr="Linked list:&#10;2 -&gt; 1 -&gt; 3 -&gt; 0"/>
          <p:cNvGrpSpPr/>
          <p:nvPr/>
        </p:nvGrpSpPr>
        <p:grpSpPr>
          <a:xfrm>
            <a:off x="529162" y="3338314"/>
            <a:ext cx="1996627" cy="299251"/>
            <a:chOff x="838201" y="4092663"/>
            <a:chExt cx="1904999" cy="285518"/>
          </a:xfrm>
        </p:grpSpPr>
        <p:grpSp>
          <p:nvGrpSpPr>
            <p:cNvPr id="6" name="Group 46"/>
            <p:cNvGrpSpPr>
              <a:grpSpLocks/>
            </p:cNvGrpSpPr>
            <p:nvPr/>
          </p:nvGrpSpPr>
          <p:grpSpPr bwMode="auto">
            <a:xfrm>
              <a:off x="838201" y="4092663"/>
              <a:ext cx="1904999" cy="285518"/>
              <a:chOff x="1600200" y="1447795"/>
              <a:chExt cx="4325051" cy="645093"/>
            </a:xfrm>
          </p:grpSpPr>
          <p:grpSp>
            <p:nvGrpSpPr>
              <p:cNvPr id="7" name="Group 13"/>
              <p:cNvGrpSpPr>
                <a:grpSpLocks/>
              </p:cNvGrpSpPr>
              <p:nvPr/>
            </p:nvGrpSpPr>
            <p:grpSpPr bwMode="auto">
              <a:xfrm>
                <a:off x="1600200" y="1447795"/>
                <a:ext cx="632604" cy="609605"/>
                <a:chOff x="1600200" y="1752595"/>
                <a:chExt cx="632604" cy="609605"/>
              </a:xfrm>
            </p:grpSpPr>
            <p:sp>
              <p:nvSpPr>
                <p:cNvPr id="26" name="Oval 54"/>
                <p:cNvSpPr>
                  <a:spLocks/>
                </p:cNvSpPr>
                <p:nvPr/>
              </p:nvSpPr>
              <p:spPr bwMode="auto">
                <a:xfrm>
                  <a:off x="1600200" y="1752600"/>
                  <a:ext cx="632604" cy="6096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27" name="Rectangle 59"/>
                <p:cNvSpPr>
                  <a:spLocks/>
                </p:cNvSpPr>
                <p:nvPr/>
              </p:nvSpPr>
              <p:spPr bwMode="auto">
                <a:xfrm>
                  <a:off x="1687936" y="1752595"/>
                  <a:ext cx="209673" cy="27699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2</a:t>
                  </a:r>
                </a:p>
              </p:txBody>
            </p:sp>
          </p:grpSp>
          <p:grpSp>
            <p:nvGrpSpPr>
              <p:cNvPr id="8" name="Group 20"/>
              <p:cNvGrpSpPr>
                <a:grpSpLocks/>
              </p:cNvGrpSpPr>
              <p:nvPr/>
            </p:nvGrpSpPr>
            <p:grpSpPr bwMode="auto">
              <a:xfrm>
                <a:off x="2837203" y="1447795"/>
                <a:ext cx="632604" cy="645093"/>
                <a:chOff x="1313203" y="1752595"/>
                <a:chExt cx="632604" cy="645093"/>
              </a:xfrm>
            </p:grpSpPr>
            <p:sp>
              <p:nvSpPr>
                <p:cNvPr id="24" name="Oval 54"/>
                <p:cNvSpPr>
                  <a:spLocks/>
                </p:cNvSpPr>
                <p:nvPr/>
              </p:nvSpPr>
              <p:spPr bwMode="auto">
                <a:xfrm>
                  <a:off x="1313203" y="1788088"/>
                  <a:ext cx="632604" cy="6096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25" name="Rectangle 59"/>
                <p:cNvSpPr>
                  <a:spLocks/>
                </p:cNvSpPr>
                <p:nvPr/>
              </p:nvSpPr>
              <p:spPr bwMode="auto">
                <a:xfrm>
                  <a:off x="1423545" y="1752595"/>
                  <a:ext cx="209673" cy="277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1</a:t>
                  </a:r>
                </a:p>
              </p:txBody>
            </p:sp>
          </p:grpSp>
          <p:grpSp>
            <p:nvGrpSpPr>
              <p:cNvPr id="9" name="Group 23"/>
              <p:cNvGrpSpPr>
                <a:grpSpLocks/>
              </p:cNvGrpSpPr>
              <p:nvPr/>
            </p:nvGrpSpPr>
            <p:grpSpPr bwMode="auto">
              <a:xfrm>
                <a:off x="4081632" y="1447795"/>
                <a:ext cx="632604" cy="625845"/>
                <a:chOff x="1033632" y="1752595"/>
                <a:chExt cx="632604" cy="625845"/>
              </a:xfrm>
            </p:grpSpPr>
            <p:sp>
              <p:nvSpPr>
                <p:cNvPr id="22" name="Oval 54"/>
                <p:cNvSpPr>
                  <a:spLocks/>
                </p:cNvSpPr>
                <p:nvPr/>
              </p:nvSpPr>
              <p:spPr bwMode="auto">
                <a:xfrm>
                  <a:off x="1033632" y="1752600"/>
                  <a:ext cx="632604" cy="6096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23" name="Rectangle 59"/>
                <p:cNvSpPr>
                  <a:spLocks/>
                </p:cNvSpPr>
                <p:nvPr/>
              </p:nvSpPr>
              <p:spPr bwMode="auto">
                <a:xfrm>
                  <a:off x="1147230" y="1752595"/>
                  <a:ext cx="476033" cy="62584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3</a:t>
                  </a:r>
                </a:p>
              </p:txBody>
            </p:sp>
          </p:grpSp>
          <p:grpSp>
            <p:nvGrpSpPr>
              <p:cNvPr id="10" name="Group 26"/>
              <p:cNvGrpSpPr>
                <a:grpSpLocks/>
              </p:cNvGrpSpPr>
              <p:nvPr/>
            </p:nvGrpSpPr>
            <p:grpSpPr bwMode="auto">
              <a:xfrm>
                <a:off x="5292647" y="1459294"/>
                <a:ext cx="632604" cy="609605"/>
                <a:chOff x="572995" y="1752595"/>
                <a:chExt cx="632604" cy="609605"/>
              </a:xfrm>
            </p:grpSpPr>
            <p:sp>
              <p:nvSpPr>
                <p:cNvPr id="20" name="Oval 54"/>
                <p:cNvSpPr>
                  <a:spLocks/>
                </p:cNvSpPr>
                <p:nvPr/>
              </p:nvSpPr>
              <p:spPr bwMode="auto">
                <a:xfrm>
                  <a:off x="572995" y="1752600"/>
                  <a:ext cx="632604" cy="6096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21" name="Rectangle 59"/>
                <p:cNvSpPr>
                  <a:spLocks/>
                </p:cNvSpPr>
                <p:nvPr/>
              </p:nvSpPr>
              <p:spPr bwMode="auto">
                <a:xfrm>
                  <a:off x="660731" y="1752595"/>
                  <a:ext cx="209673" cy="277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0</a:t>
                  </a:r>
                </a:p>
              </p:txBody>
            </p:sp>
          </p:grpSp>
          <p:cxnSp>
            <p:nvCxnSpPr>
              <p:cNvPr id="11" name="Straight Arrow Connector 10"/>
              <p:cNvCxnSpPr/>
              <p:nvPr/>
            </p:nvCxnSpPr>
            <p:spPr>
              <a:xfrm flipV="1">
                <a:off x="2232809" y="1752598"/>
                <a:ext cx="607689" cy="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p:cNvCxnSpPr/>
            <p:nvPr/>
          </p:nvCxnSpPr>
          <p:spPr bwMode="auto">
            <a:xfrm flipV="1">
              <a:off x="1663133" y="4229760"/>
              <a:ext cx="267661" cy="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bwMode="auto">
            <a:xfrm flipV="1">
              <a:off x="2204127" y="4236442"/>
              <a:ext cx="267661" cy="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descr="Binary tree with three nodes:&#10;Root: 1&#10;Node 1 has a left child of 2 and right child of 3"/>
          <p:cNvGrpSpPr/>
          <p:nvPr/>
        </p:nvGrpSpPr>
        <p:grpSpPr>
          <a:xfrm>
            <a:off x="1086559" y="4527655"/>
            <a:ext cx="1316518" cy="641033"/>
            <a:chOff x="1743059" y="5381857"/>
            <a:chExt cx="1167194" cy="568325"/>
          </a:xfrm>
        </p:grpSpPr>
        <p:sp>
          <p:nvSpPr>
            <p:cNvPr id="66" name="Oval 4"/>
            <p:cNvSpPr>
              <a:spLocks/>
            </p:cNvSpPr>
            <p:nvPr/>
          </p:nvSpPr>
          <p:spPr bwMode="auto">
            <a:xfrm>
              <a:off x="1743059" y="5645382"/>
              <a:ext cx="309563" cy="3048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67" name="Oval 4"/>
            <p:cNvSpPr>
              <a:spLocks/>
            </p:cNvSpPr>
            <p:nvPr/>
          </p:nvSpPr>
          <p:spPr bwMode="auto">
            <a:xfrm>
              <a:off x="2576878" y="5645322"/>
              <a:ext cx="309563" cy="3048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grpSp>
          <p:nvGrpSpPr>
            <p:cNvPr id="45" name="Group 3"/>
            <p:cNvGrpSpPr>
              <a:grpSpLocks/>
            </p:cNvGrpSpPr>
            <p:nvPr/>
          </p:nvGrpSpPr>
          <p:grpSpPr bwMode="auto">
            <a:xfrm>
              <a:off x="1808528" y="5381857"/>
              <a:ext cx="1101725" cy="561975"/>
              <a:chOff x="80" y="433"/>
              <a:chExt cx="694" cy="354"/>
            </a:xfrm>
          </p:grpSpPr>
          <p:sp>
            <p:nvSpPr>
              <p:cNvPr id="46" name="Oval 4"/>
              <p:cNvSpPr>
                <a:spLocks/>
              </p:cNvSpPr>
              <p:nvPr/>
            </p:nvSpPr>
            <p:spPr bwMode="auto">
              <a:xfrm>
                <a:off x="285" y="433"/>
                <a:ext cx="195" cy="192"/>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49" name="Rectangle 7"/>
              <p:cNvSpPr>
                <a:spLocks/>
              </p:cNvSpPr>
              <p:nvPr/>
            </p:nvSpPr>
            <p:spPr bwMode="auto">
              <a:xfrm>
                <a:off x="324" y="441"/>
                <a:ext cx="132"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1</a:t>
                </a:r>
              </a:p>
            </p:txBody>
          </p:sp>
          <p:sp>
            <p:nvSpPr>
              <p:cNvPr id="50" name="Rectangle 8"/>
              <p:cNvSpPr>
                <a:spLocks/>
              </p:cNvSpPr>
              <p:nvPr/>
            </p:nvSpPr>
            <p:spPr bwMode="auto">
              <a:xfrm>
                <a:off x="80" y="613"/>
                <a:ext cx="132"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2</a:t>
                </a:r>
              </a:p>
            </p:txBody>
          </p:sp>
          <p:sp>
            <p:nvSpPr>
              <p:cNvPr id="51" name="Rectangle 9"/>
              <p:cNvSpPr>
                <a:spLocks/>
              </p:cNvSpPr>
              <p:nvPr/>
            </p:nvSpPr>
            <p:spPr bwMode="auto">
              <a:xfrm>
                <a:off x="598" y="606"/>
                <a:ext cx="176"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squar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a:solidFill>
                      <a:schemeClr val="tx1"/>
                    </a:solidFill>
                    <a:latin typeface="Arial" charset="0"/>
                    <a:sym typeface="Arial" charset="0"/>
                  </a:rPr>
                  <a:t>3</a:t>
                </a:r>
              </a:p>
            </p:txBody>
          </p:sp>
          <p:sp>
            <p:nvSpPr>
              <p:cNvPr id="52" name="Line 10"/>
              <p:cNvSpPr>
                <a:spLocks noChangeShapeType="1"/>
              </p:cNvSpPr>
              <p:nvPr/>
            </p:nvSpPr>
            <p:spPr bwMode="auto">
              <a:xfrm flipH="1">
                <a:off x="218" y="597"/>
                <a:ext cx="100" cy="68"/>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sp>
            <p:nvSpPr>
              <p:cNvPr id="53" name="Line 11"/>
              <p:cNvSpPr>
                <a:spLocks noChangeShapeType="1"/>
              </p:cNvSpPr>
              <p:nvPr/>
            </p:nvSpPr>
            <p:spPr bwMode="auto">
              <a:xfrm>
                <a:off x="456" y="597"/>
                <a:ext cx="117" cy="68"/>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grpSp>
      </p:grpSp>
      <p:grpSp>
        <p:nvGrpSpPr>
          <p:cNvPr id="48" name="Group 47" descr="Binary Search Tree with three nodes:&#10;Root: 2&#10;Node 2 has a left child of 1 and right child of 3"/>
          <p:cNvGrpSpPr/>
          <p:nvPr/>
        </p:nvGrpSpPr>
        <p:grpSpPr>
          <a:xfrm>
            <a:off x="996167" y="5821809"/>
            <a:ext cx="1401883" cy="682599"/>
            <a:chOff x="1743059" y="5381857"/>
            <a:chExt cx="1167194" cy="568325"/>
          </a:xfrm>
        </p:grpSpPr>
        <p:sp>
          <p:nvSpPr>
            <p:cNvPr id="54" name="Oval 4"/>
            <p:cNvSpPr>
              <a:spLocks/>
            </p:cNvSpPr>
            <p:nvPr/>
          </p:nvSpPr>
          <p:spPr bwMode="auto">
            <a:xfrm>
              <a:off x="1743059" y="5645382"/>
              <a:ext cx="309563" cy="3048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55" name="Oval 4"/>
            <p:cNvSpPr>
              <a:spLocks/>
            </p:cNvSpPr>
            <p:nvPr/>
          </p:nvSpPr>
          <p:spPr bwMode="auto">
            <a:xfrm>
              <a:off x="2576878" y="5645322"/>
              <a:ext cx="309563" cy="3048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grpSp>
          <p:nvGrpSpPr>
            <p:cNvPr id="56" name="Group 3"/>
            <p:cNvGrpSpPr>
              <a:grpSpLocks/>
            </p:cNvGrpSpPr>
            <p:nvPr/>
          </p:nvGrpSpPr>
          <p:grpSpPr bwMode="auto">
            <a:xfrm>
              <a:off x="1808528" y="5381857"/>
              <a:ext cx="1101725" cy="561975"/>
              <a:chOff x="80" y="433"/>
              <a:chExt cx="694" cy="354"/>
            </a:xfrm>
          </p:grpSpPr>
          <p:sp>
            <p:nvSpPr>
              <p:cNvPr id="57" name="Oval 4"/>
              <p:cNvSpPr>
                <a:spLocks/>
              </p:cNvSpPr>
              <p:nvPr/>
            </p:nvSpPr>
            <p:spPr bwMode="auto">
              <a:xfrm>
                <a:off x="285" y="433"/>
                <a:ext cx="195" cy="192"/>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58" name="Rectangle 7"/>
              <p:cNvSpPr>
                <a:spLocks/>
              </p:cNvSpPr>
              <p:nvPr/>
            </p:nvSpPr>
            <p:spPr bwMode="auto">
              <a:xfrm>
                <a:off x="324" y="441"/>
                <a:ext cx="177" cy="22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2</a:t>
                </a:r>
              </a:p>
            </p:txBody>
          </p:sp>
          <p:sp>
            <p:nvSpPr>
              <p:cNvPr id="59" name="Rectangle 8"/>
              <p:cNvSpPr>
                <a:spLocks/>
              </p:cNvSpPr>
              <p:nvPr/>
            </p:nvSpPr>
            <p:spPr bwMode="auto">
              <a:xfrm>
                <a:off x="80" y="613"/>
                <a:ext cx="132"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1</a:t>
                </a:r>
              </a:p>
            </p:txBody>
          </p:sp>
          <p:sp>
            <p:nvSpPr>
              <p:cNvPr id="60" name="Rectangle 9"/>
              <p:cNvSpPr>
                <a:spLocks/>
              </p:cNvSpPr>
              <p:nvPr/>
            </p:nvSpPr>
            <p:spPr bwMode="auto">
              <a:xfrm>
                <a:off x="598" y="606"/>
                <a:ext cx="176"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squar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a:solidFill>
                      <a:schemeClr val="tx1"/>
                    </a:solidFill>
                    <a:latin typeface="Arial" charset="0"/>
                    <a:sym typeface="Arial" charset="0"/>
                  </a:rPr>
                  <a:t>3</a:t>
                </a:r>
              </a:p>
            </p:txBody>
          </p:sp>
          <p:sp>
            <p:nvSpPr>
              <p:cNvPr id="61" name="Line 10"/>
              <p:cNvSpPr>
                <a:spLocks noChangeShapeType="1"/>
              </p:cNvSpPr>
              <p:nvPr/>
            </p:nvSpPr>
            <p:spPr bwMode="auto">
              <a:xfrm flipH="1">
                <a:off x="218" y="597"/>
                <a:ext cx="100" cy="68"/>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sp>
            <p:nvSpPr>
              <p:cNvPr id="62" name="Line 11"/>
              <p:cNvSpPr>
                <a:spLocks noChangeShapeType="1"/>
              </p:cNvSpPr>
              <p:nvPr/>
            </p:nvSpPr>
            <p:spPr bwMode="auto">
              <a:xfrm>
                <a:off x="456" y="597"/>
                <a:ext cx="117" cy="68"/>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grpSp>
      </p:grpSp>
    </p:spTree>
    <p:extLst>
      <p:ext uri="{BB962C8B-B14F-4D97-AF65-F5344CB8AC3E}">
        <p14:creationId xmlns:p14="http://schemas.microsoft.com/office/powerpoint/2010/main" val="15514606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2783</TotalTime>
  <Words>2593</Words>
  <Application>Microsoft Office PowerPoint</Application>
  <PresentationFormat>On-screen Show (4:3)</PresentationFormat>
  <Paragraphs>402</Paragraphs>
  <Slides>29</Slides>
  <Notes>22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29</vt:i4>
      </vt:variant>
    </vt:vector>
  </HeadingPairs>
  <TitlesOfParts>
    <vt:vector size="39" baseType="lpstr">
      <vt:lpstr>Abadi</vt:lpstr>
      <vt:lpstr>Arial</vt:lpstr>
      <vt:lpstr>Arial Black</vt:lpstr>
      <vt:lpstr>Cambria Math</vt:lpstr>
      <vt:lpstr>Consolas</vt:lpstr>
      <vt:lpstr>Impact</vt:lpstr>
      <vt:lpstr>Source Sans Pro SemiBold</vt:lpstr>
      <vt:lpstr>Tahoma</vt:lpstr>
      <vt:lpstr>Times New Roman</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Comparing Data Structures</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483</cp:revision>
  <cp:lastPrinted>2000-11-07T14:58:20Z</cp:lastPrinted>
  <dcterms:created xsi:type="dcterms:W3CDTF">2000-01-19T01:43:11Z</dcterms:created>
  <dcterms:modified xsi:type="dcterms:W3CDTF">2026-02-02T16:09:52Z</dcterms:modified>
  <cp:category>www.apluscompsci.com</cp:category>
</cp:coreProperties>
</file>