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29" r:id="rId2"/>
    <p:sldId id="366" r:id="rId3"/>
    <p:sldId id="397" r:id="rId4"/>
    <p:sldId id="367" r:id="rId5"/>
    <p:sldId id="330" r:id="rId6"/>
    <p:sldId id="388" r:id="rId7"/>
    <p:sldId id="392" r:id="rId8"/>
    <p:sldId id="393" r:id="rId9"/>
    <p:sldId id="394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95" r:id="rId22"/>
    <p:sldId id="396" r:id="rId23"/>
    <p:sldId id="339" r:id="rId24"/>
    <p:sldId id="338" r:id="rId25"/>
    <p:sldId id="389" r:id="rId26"/>
    <p:sldId id="398" r:id="rId27"/>
    <p:sldId id="390" r:id="rId28"/>
    <p:sldId id="387" r:id="rId29"/>
  </p:sldIdLst>
  <p:sldSz cx="9144000" cy="6858000" type="screen4x3"/>
  <p:notesSz cx="6858000" cy="9144000"/>
  <p:custDataLst>
    <p:tags r:id="rId3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FBFB"/>
    <a:srgbClr val="0099CC"/>
    <a:srgbClr val="003366"/>
    <a:srgbClr val="660066"/>
    <a:srgbClr val="FFFF00"/>
    <a:srgbClr val="FFFFCC"/>
    <a:srgbClr val="FFCCFF"/>
    <a:srgbClr val="99FFFF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88608" autoAdjust="0"/>
  </p:normalViewPr>
  <p:slideViewPr>
    <p:cSldViewPr>
      <p:cViewPr varScale="1">
        <p:scale>
          <a:sx n="70" d="100"/>
          <a:sy n="70" d="100"/>
        </p:scale>
        <p:origin x="173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672"/>
    </p:cViewPr>
  </p:sorterViewPr>
  <p:notesViewPr>
    <p:cSldViewPr>
      <p:cViewPr varScale="1">
        <p:scale>
          <a:sx n="63" d="100"/>
          <a:sy n="63" d="100"/>
        </p:scale>
        <p:origin x="-243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1"/>
            </a:lvl1pPr>
          </a:lstStyle>
          <a:p>
            <a:pPr>
              <a:defRPr/>
            </a:pPr>
            <a:fld id="{C008D70E-2E68-44A0-BD0F-EE16C74DF1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3364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3105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148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6253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3307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The maximum distance of any node from the root</a:t>
            </a:r>
            <a:r>
              <a:rPr lang="en-US" dirty="0">
                <a:solidFill>
                  <a:schemeClr val="tx1"/>
                </a:solidFill>
              </a:rPr>
              <a:t>. </a:t>
            </a:r>
            <a:r>
              <a:rPr lang="en-US" dirty="0"/>
              <a:t>If a tree has only one node (the root), the height is zero. The height of an empty tree is not defined.</a:t>
            </a:r>
          </a:p>
        </p:txBody>
      </p:sp>
    </p:spTree>
    <p:extLst>
      <p:ext uri="{BB962C8B-B14F-4D97-AF65-F5344CB8AC3E}">
        <p14:creationId xmlns:p14="http://schemas.microsoft.com/office/powerpoint/2010/main" val="2270515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71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71126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94883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2896417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523854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12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166077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13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755932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14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0567915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704556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041008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17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6823324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18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5413980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19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1386358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8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>
              <a:ea typeface="MS PGothic" charset="-128"/>
            </a:endParaRPr>
          </a:p>
        </p:txBody>
      </p:sp>
      <p:sp>
        <p:nvSpPr>
          <p:cNvPr id="6553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fld id="{9EE1BB6F-A407-EE47-9A85-F4E09E4700A5}" type="slidenum">
              <a:rPr lang="en-US" altLang="en-US" sz="1200"/>
              <a:pPr/>
              <a:t>20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025948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56960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A </a:t>
            </a:r>
            <a:r>
              <a:rPr lang="en-US" b="1"/>
              <a:t>balanced binary tree</a:t>
            </a:r>
            <a:r>
              <a:rPr lang="en-US"/>
              <a:t> is commonly defined as a binary tree in which the depth of the two subtrees of every node never differ by more than 1,</a:t>
            </a:r>
            <a:r>
              <a:rPr lang="en-US" baseline="30000">
                <a:hlinkClick r:id="" action="ppaction://hlinkfile"/>
              </a:rPr>
              <a:t>[3]</a:t>
            </a:r>
            <a:r>
              <a:rPr lang="en-US"/>
              <a:t> although in general it is a binary tree where no leaf is much farther away from the root than any other leaf.  (Different balancing schemes allow different definitions of "much farther"</a:t>
            </a:r>
            <a:r>
              <a:rPr lang="en-US" baseline="30000">
                <a:hlinkClick r:id="" action="ppaction://hlinkfile"/>
              </a:rPr>
              <a:t>[4]</a:t>
            </a:r>
            <a:r>
              <a:rPr lang="en-US"/>
              <a:t>). Binary trees that are balanced according to this definition have a predictable depth (how many nodes are traversed from the root to a leaf, root counting as node 0 and subsequent as 1, 2, ..., depth). This depth is equal to the integer part of where is the number of nodes on the balanced tree. Example 1: balanced tree with 1 node, (depth = 0). Example 2: balanced tree with 3 nodes, (depth=1). Example 3: balanced tree with 5 nodes, (depth of tree is 2 nodes).</a:t>
            </a:r>
          </a:p>
        </p:txBody>
      </p:sp>
    </p:spTree>
    <p:extLst>
      <p:ext uri="{BB962C8B-B14F-4D97-AF65-F5344CB8AC3E}">
        <p14:creationId xmlns:p14="http://schemas.microsoft.com/office/powerpoint/2010/main" val="30170686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/>
              <a:t>A </a:t>
            </a:r>
            <a:r>
              <a:rPr lang="en-US" b="1"/>
              <a:t>balanced binary tree</a:t>
            </a:r>
            <a:r>
              <a:rPr lang="en-US"/>
              <a:t> is commonly defined as a binary tree in which the depth of the two subtrees of every node never differ by more than 1,</a:t>
            </a:r>
            <a:r>
              <a:rPr lang="en-US" baseline="30000">
                <a:hlinkClick r:id="" action="ppaction://hlinkfile"/>
              </a:rPr>
              <a:t>[3]</a:t>
            </a:r>
            <a:r>
              <a:rPr lang="en-US"/>
              <a:t> although in general it is a binary tree where no leaf is much farther away from the root than any other leaf.  (Different balancing schemes allow different definitions of "much farther"</a:t>
            </a:r>
            <a:r>
              <a:rPr lang="en-US" baseline="30000">
                <a:hlinkClick r:id="" action="ppaction://hlinkfile"/>
              </a:rPr>
              <a:t>[4]</a:t>
            </a:r>
            <a:r>
              <a:rPr lang="en-US"/>
              <a:t>). Binary trees that are balanced according to this definition have a predictable depth (how many nodes are traversed from the root to a leaf, root counting as node 0 and subsequent as 1, 2, ..., depth). This depth is equal to the integer part of where is the number of nodes on the balanced tree. Example 1: balanced tree with 1 node, (depth = 0). Example 2: balanced tree with 3 nodes, (depth=1). Example 3: balanced tree with 5 nodes, (depth of tree is 2 nodes).</a:t>
            </a:r>
          </a:p>
        </p:txBody>
      </p:sp>
    </p:spTree>
    <p:extLst>
      <p:ext uri="{BB962C8B-B14F-4D97-AF65-F5344CB8AC3E}">
        <p14:creationId xmlns:p14="http://schemas.microsoft.com/office/powerpoint/2010/main" val="26654512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This slide is editable.</a:t>
            </a:r>
          </a:p>
        </p:txBody>
      </p:sp>
    </p:spTree>
    <p:extLst>
      <p:ext uri="{BB962C8B-B14F-4D97-AF65-F5344CB8AC3E}">
        <p14:creationId xmlns:p14="http://schemas.microsoft.com/office/powerpoint/2010/main" val="2865325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F4D22-219A-41EC-AAAA-A480C6A024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401510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BAC133-8006-4042-A2C6-E2135B6548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38407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E6A31E-D5CB-4919-A098-37296F9BD3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319774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471938-B544-487E-930F-272EA0E411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689883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AB4639-C0DE-4FA4-91C8-CB484847FB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98422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13244-FEF9-4DD2-9774-EB2ADD432F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7747874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0E319-8829-4CDA-B5FC-22F831E6A1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74394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078AF7-FA9C-4AE9-8830-C9C18BAA92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01418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D72B21-4C4C-498D-8BEA-C250BB907B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321426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F13E7D-FBEA-4997-A3AC-8541F5D504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1497471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A8F924-4935-45CD-9CDC-E23DC92690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b="1">
              <a:latin typeface="+mn-lt"/>
            </a:endParaRPr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 b="1"/>
          </a:p>
          <a:p>
            <a:pPr>
              <a:defRPr/>
            </a:pPr>
            <a:r>
              <a:rPr 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970044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D8886AA1-88A9-4F85-B9C4-C81CC8BB04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800" b="1">
                <a:latin typeface="+mn-lt"/>
              </a:defRPr>
            </a:lvl1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 b="0">
              <a:latin typeface="Tahoma" pitchFamily="34" charset="0"/>
            </a:endParaRPr>
          </a:p>
          <a:p>
            <a:pPr>
              <a:defRPr/>
            </a:pPr>
            <a:endParaRPr lang="en-US">
              <a:latin typeface="Tahoma" pitchFamily="34" charset="0"/>
            </a:endParaRPr>
          </a:p>
          <a:p>
            <a:pPr>
              <a:defRPr/>
            </a:pPr>
            <a:r>
              <a:rPr lang="en-US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0" i="0" u="none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0" i="0" u="none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41987" name="WordArt 2"/>
          <p:cNvSpPr>
            <a:spLocks noChangeArrowheads="1" noChangeShapeType="1" noTextEdit="1"/>
          </p:cNvSpPr>
          <p:nvPr/>
        </p:nvSpPr>
        <p:spPr bwMode="auto">
          <a:xfrm>
            <a:off x="1524000" y="1447800"/>
            <a:ext cx="6248400" cy="3124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Tree</a:t>
            </a:r>
          </a:p>
          <a:p>
            <a:pPr algn="ctr"/>
            <a:r>
              <a:rPr lang="en-US" sz="3600" kern="10" dirty="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Attributes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6248400" y="6324600"/>
            <a:ext cx="2895600" cy="457200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r"/>
            <a:endParaRPr lang="en-US" sz="800" b="1">
              <a:latin typeface="Times New Roman" pitchFamily="18" charset="0"/>
            </a:endParaRPr>
          </a:p>
          <a:p>
            <a:pPr algn="r"/>
            <a:endParaRPr lang="en-US" sz="800"/>
          </a:p>
          <a:p>
            <a:pPr algn="r"/>
            <a:endParaRPr lang="en-US" sz="800" b="1"/>
          </a:p>
          <a:p>
            <a:pPr algn="r"/>
            <a:r>
              <a:rPr lang="en-US" sz="800" b="1"/>
              <a:t>© A+ Computer Science  -  www.apluscompsci.com</a:t>
            </a:r>
          </a:p>
        </p:txBody>
      </p:sp>
      <p:sp>
        <p:nvSpPr>
          <p:cNvPr id="43011" name="Text Box 2"/>
          <p:cNvSpPr txBox="1">
            <a:spLocks noChangeArrowheads="1"/>
          </p:cNvSpPr>
          <p:nvPr/>
        </p:nvSpPr>
        <p:spPr bwMode="auto">
          <a:xfrm>
            <a:off x="838200" y="5511003"/>
            <a:ext cx="7620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tabLst>
                <a:tab pos="4114800" algn="l"/>
              </a:tabLst>
            </a:pPr>
            <a:r>
              <a:rPr lang="en-US" sz="2800" b="1" dirty="0">
                <a:solidFill>
                  <a:schemeClr val="accent2"/>
                </a:solidFill>
              </a:rPr>
              <a:t>NUMLEVELS  -  4 	NUMLEAVES  -  5</a:t>
            </a:r>
          </a:p>
        </p:txBody>
      </p:sp>
      <p:sp>
        <p:nvSpPr>
          <p:cNvPr id="43028" name="WordArt 19"/>
          <p:cNvSpPr>
            <a:spLocks noChangeArrowheads="1" noChangeShapeType="1" noTextEdit="1"/>
          </p:cNvSpPr>
          <p:nvPr/>
        </p:nvSpPr>
        <p:spPr bwMode="auto">
          <a:xfrm>
            <a:off x="1828800" y="228600"/>
            <a:ext cx="4953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Tree Attributes</a:t>
            </a:r>
          </a:p>
        </p:txBody>
      </p:sp>
      <p:grpSp>
        <p:nvGrpSpPr>
          <p:cNvPr id="2" name="Group 1" descr="A binary tree with four levels and ten nodes:&#10;&#10;Row 0: 90&#10;Row 1:&#10; 90 has two children: 50 as a left child and 120 as a right child&#10;Row 2:&#10; 50 has two children: 40 as a left child and 65 as a right child&#10; 120 has two children: 100 as a left child and 150 as a right child&#10;Row 3:&#10;   40 has two children: 30 as a left child and 45 as a right child&#10;    65 only has a right child, 70&#10;">
            <a:extLst>
              <a:ext uri="{FF2B5EF4-FFF2-40B4-BE49-F238E27FC236}">
                <a16:creationId xmlns:a16="http://schemas.microsoft.com/office/drawing/2014/main" id="{1267F955-D1C6-DFD7-57AC-683EDE7C5161}"/>
              </a:ext>
            </a:extLst>
          </p:cNvPr>
          <p:cNvGrpSpPr/>
          <p:nvPr/>
        </p:nvGrpSpPr>
        <p:grpSpPr>
          <a:xfrm>
            <a:off x="838200" y="1066800"/>
            <a:ext cx="7129463" cy="2057400"/>
            <a:chOff x="838200" y="1066800"/>
            <a:chExt cx="7129463" cy="2057400"/>
          </a:xfrm>
        </p:grpSpPr>
        <p:sp>
          <p:nvSpPr>
            <p:cNvPr id="43012" name="Oval 3"/>
            <p:cNvSpPr>
              <a:spLocks noChangeArrowheads="1"/>
            </p:cNvSpPr>
            <p:nvPr/>
          </p:nvSpPr>
          <p:spPr bwMode="auto">
            <a:xfrm>
              <a:off x="35052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70</a:t>
              </a:r>
            </a:p>
          </p:txBody>
        </p:sp>
        <p:sp>
          <p:nvSpPr>
            <p:cNvPr id="43013" name="Oval 4"/>
            <p:cNvSpPr>
              <a:spLocks noChangeArrowheads="1"/>
            </p:cNvSpPr>
            <p:nvPr/>
          </p:nvSpPr>
          <p:spPr bwMode="auto">
            <a:xfrm>
              <a:off x="2133600" y="16002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50</a:t>
              </a:r>
            </a:p>
          </p:txBody>
        </p:sp>
        <p:sp>
          <p:nvSpPr>
            <p:cNvPr id="43014" name="Oval 5"/>
            <p:cNvSpPr>
              <a:spLocks noChangeArrowheads="1"/>
            </p:cNvSpPr>
            <p:nvPr/>
          </p:nvSpPr>
          <p:spPr bwMode="auto">
            <a:xfrm>
              <a:off x="1295400" y="21336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40</a:t>
              </a:r>
            </a:p>
          </p:txBody>
        </p:sp>
        <p:sp>
          <p:nvSpPr>
            <p:cNvPr id="43015" name="Oval 6"/>
            <p:cNvSpPr>
              <a:spLocks noChangeArrowheads="1"/>
            </p:cNvSpPr>
            <p:nvPr/>
          </p:nvSpPr>
          <p:spPr bwMode="auto">
            <a:xfrm>
              <a:off x="2971800" y="21336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65</a:t>
              </a:r>
            </a:p>
          </p:txBody>
        </p:sp>
        <p:sp>
          <p:nvSpPr>
            <p:cNvPr id="43016" name="Oval 7"/>
            <p:cNvSpPr>
              <a:spLocks noChangeArrowheads="1"/>
            </p:cNvSpPr>
            <p:nvPr/>
          </p:nvSpPr>
          <p:spPr bwMode="auto">
            <a:xfrm>
              <a:off x="6324600" y="16002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120</a:t>
              </a:r>
            </a:p>
          </p:txBody>
        </p:sp>
        <p:sp>
          <p:nvSpPr>
            <p:cNvPr id="43017" name="Oval 8"/>
            <p:cNvSpPr>
              <a:spLocks noChangeArrowheads="1"/>
            </p:cNvSpPr>
            <p:nvPr/>
          </p:nvSpPr>
          <p:spPr bwMode="auto">
            <a:xfrm>
              <a:off x="5486400" y="21336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100</a:t>
              </a:r>
            </a:p>
          </p:txBody>
        </p:sp>
        <p:sp>
          <p:nvSpPr>
            <p:cNvPr id="43018" name="Oval 9"/>
            <p:cNvSpPr>
              <a:spLocks noChangeArrowheads="1"/>
            </p:cNvSpPr>
            <p:nvPr/>
          </p:nvSpPr>
          <p:spPr bwMode="auto">
            <a:xfrm>
              <a:off x="7162800" y="21336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150</a:t>
              </a:r>
            </a:p>
          </p:txBody>
        </p:sp>
        <p:sp>
          <p:nvSpPr>
            <p:cNvPr id="43019" name="Oval 10"/>
            <p:cNvSpPr>
              <a:spLocks noChangeArrowheads="1"/>
            </p:cNvSpPr>
            <p:nvPr/>
          </p:nvSpPr>
          <p:spPr bwMode="auto">
            <a:xfrm>
              <a:off x="8382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30</a:t>
              </a:r>
            </a:p>
          </p:txBody>
        </p:sp>
        <p:sp>
          <p:nvSpPr>
            <p:cNvPr id="43020" name="Oval 11"/>
            <p:cNvSpPr>
              <a:spLocks noChangeArrowheads="1"/>
            </p:cNvSpPr>
            <p:nvPr/>
          </p:nvSpPr>
          <p:spPr bwMode="auto">
            <a:xfrm>
              <a:off x="18288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45</a:t>
              </a:r>
            </a:p>
          </p:txBody>
        </p:sp>
        <p:sp>
          <p:nvSpPr>
            <p:cNvPr id="43021" name="Oval 12"/>
            <p:cNvSpPr>
              <a:spLocks noChangeArrowheads="1"/>
            </p:cNvSpPr>
            <p:nvPr/>
          </p:nvSpPr>
          <p:spPr bwMode="auto">
            <a:xfrm>
              <a:off x="4267200" y="10668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90</a:t>
              </a:r>
            </a:p>
          </p:txBody>
        </p:sp>
        <p:sp>
          <p:nvSpPr>
            <p:cNvPr id="43022" name="Line 13"/>
            <p:cNvSpPr>
              <a:spLocks noChangeShapeType="1"/>
            </p:cNvSpPr>
            <p:nvPr/>
          </p:nvSpPr>
          <p:spPr bwMode="auto">
            <a:xfrm flipH="1">
              <a:off x="2895600" y="1371600"/>
              <a:ext cx="1371600" cy="304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3" name="Line 14"/>
            <p:cNvSpPr>
              <a:spLocks noChangeShapeType="1"/>
            </p:cNvSpPr>
            <p:nvPr/>
          </p:nvSpPr>
          <p:spPr bwMode="auto">
            <a:xfrm>
              <a:off x="5105400" y="1371600"/>
              <a:ext cx="1219200" cy="304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4" name="Line 15"/>
            <p:cNvSpPr>
              <a:spLocks noChangeShapeType="1"/>
            </p:cNvSpPr>
            <p:nvPr/>
          </p:nvSpPr>
          <p:spPr bwMode="auto">
            <a:xfrm flipH="1">
              <a:off x="1981200" y="1981200"/>
              <a:ext cx="2286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5" name="Line 16"/>
            <p:cNvSpPr>
              <a:spLocks noChangeShapeType="1"/>
            </p:cNvSpPr>
            <p:nvPr/>
          </p:nvSpPr>
          <p:spPr bwMode="auto">
            <a:xfrm flipH="1">
              <a:off x="6172200" y="1981200"/>
              <a:ext cx="2286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6" name="Line 17"/>
            <p:cNvSpPr>
              <a:spLocks noChangeShapeType="1"/>
            </p:cNvSpPr>
            <p:nvPr/>
          </p:nvSpPr>
          <p:spPr bwMode="auto">
            <a:xfrm>
              <a:off x="2819400" y="1981200"/>
              <a:ext cx="3048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7" name="Line 18"/>
            <p:cNvSpPr>
              <a:spLocks noChangeShapeType="1"/>
            </p:cNvSpPr>
            <p:nvPr/>
          </p:nvSpPr>
          <p:spPr bwMode="auto">
            <a:xfrm>
              <a:off x="7086600" y="1981200"/>
              <a:ext cx="3048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9" name="Oval 20"/>
            <p:cNvSpPr>
              <a:spLocks noChangeArrowheads="1"/>
            </p:cNvSpPr>
            <p:nvPr/>
          </p:nvSpPr>
          <p:spPr bwMode="auto">
            <a:xfrm>
              <a:off x="48006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95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C6DBC21-0E0F-0EAB-9E24-E21ADE712964}"/>
              </a:ext>
            </a:extLst>
          </p:cNvPr>
          <p:cNvSpPr txBox="1"/>
          <p:nvPr/>
        </p:nvSpPr>
        <p:spPr>
          <a:xfrm>
            <a:off x="560784" y="3542520"/>
            <a:ext cx="8022431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LEVEL = ROW = nodes with same height</a:t>
            </a:r>
          </a:p>
          <a:p>
            <a:pPr algn="ctr"/>
            <a:endParaRPr lang="en-US" sz="700" b="1" dirty="0"/>
          </a:p>
          <a:p>
            <a:pPr algn="ctr"/>
            <a:r>
              <a:rPr lang="en-US" sz="2800" b="1" dirty="0"/>
              <a:t>level 0 contains the root</a:t>
            </a:r>
          </a:p>
          <a:p>
            <a:pPr algn="ctr"/>
            <a:r>
              <a:rPr lang="en-US" sz="2800" b="1" dirty="0"/>
              <a:t> level 1 contains the children of the root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tree&#10;&#10;Description automatically generated">
            <a:extLst>
              <a:ext uri="{FF2B5EF4-FFF2-40B4-BE49-F238E27FC236}">
                <a16:creationId xmlns:a16="http://schemas.microsoft.com/office/drawing/2014/main" id="{4507BF4E-C13F-7F81-A24B-61792B97C2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50"/>
          <a:stretch/>
        </p:blipFill>
        <p:spPr>
          <a:xfrm>
            <a:off x="0" y="381000"/>
            <a:ext cx="8944435" cy="6324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6BF22EA-9448-2E2C-539A-E0877611E941}"/>
              </a:ext>
            </a:extLst>
          </p:cNvPr>
          <p:cNvSpPr txBox="1"/>
          <p:nvPr/>
        </p:nvSpPr>
        <p:spPr>
          <a:xfrm>
            <a:off x="228600" y="76200"/>
            <a:ext cx="3352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dirty="0">
                <a:solidFill>
                  <a:srgbClr val="0000CC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The </a:t>
            </a:r>
            <a:r>
              <a:rPr lang="en-US" sz="2800" b="0" i="0" u="sng" dirty="0">
                <a:solidFill>
                  <a:srgbClr val="0000CC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depth of a node </a:t>
            </a:r>
            <a:r>
              <a:rPr lang="en-US" sz="2800" b="0" i="0" dirty="0">
                <a:solidFill>
                  <a:srgbClr val="0000CC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is the number of edges from the root to the node.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D72184-60F0-C734-FC63-E3624F13A94B}"/>
              </a:ext>
            </a:extLst>
          </p:cNvPr>
          <p:cNvSpPr txBox="1"/>
          <p:nvPr/>
        </p:nvSpPr>
        <p:spPr>
          <a:xfrm>
            <a:off x="190500" y="5092005"/>
            <a:ext cx="45339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dirty="0">
                <a:solidFill>
                  <a:srgbClr val="0000CC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ahoma" panose="020B0604030504040204" pitchFamily="34" charset="0"/>
              </a:rPr>
              <a:t>The </a:t>
            </a:r>
            <a:r>
              <a:rPr lang="en-US" sz="2800" b="0" i="0" u="sng" dirty="0">
                <a:solidFill>
                  <a:srgbClr val="0000CC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ahoma" panose="020B0604030504040204" pitchFamily="34" charset="0"/>
              </a:rPr>
              <a:t>height of a node </a:t>
            </a:r>
            <a:r>
              <a:rPr lang="en-US" sz="2800" b="0" i="0" dirty="0">
                <a:solidFill>
                  <a:srgbClr val="0000CC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ahoma" panose="020B0604030504040204" pitchFamily="34" charset="0"/>
              </a:rPr>
              <a:t>is the number of edges from the node to the deepest leaf.</a:t>
            </a:r>
          </a:p>
        </p:txBody>
      </p:sp>
    </p:spTree>
    <p:extLst>
      <p:ext uri="{BB962C8B-B14F-4D97-AF65-F5344CB8AC3E}">
        <p14:creationId xmlns:p14="http://schemas.microsoft.com/office/powerpoint/2010/main" val="2673478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6190673" y="6301698"/>
            <a:ext cx="2895600" cy="457200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 dirty="0">
              <a:latin typeface="Times New Roman" pitchFamily="18" charset="0"/>
            </a:endParaRPr>
          </a:p>
          <a:p>
            <a:endParaRPr lang="en-US" sz="800" dirty="0"/>
          </a:p>
          <a:p>
            <a:endParaRPr lang="en-US" sz="800" b="1" dirty="0"/>
          </a:p>
          <a:p>
            <a:r>
              <a:rPr lang="en-US" sz="800" b="1" dirty="0"/>
              <a:t>© A+ Computer Science  -  www.apluscompsci.com</a:t>
            </a:r>
          </a:p>
        </p:txBody>
      </p:sp>
      <p:sp>
        <p:nvSpPr>
          <p:cNvPr id="46083" name="Text Box 2"/>
          <p:cNvSpPr txBox="1">
            <a:spLocks noChangeArrowheads="1"/>
          </p:cNvSpPr>
          <p:nvPr/>
        </p:nvSpPr>
        <p:spPr bwMode="auto">
          <a:xfrm>
            <a:off x="3133436" y="3632021"/>
            <a:ext cx="2743200" cy="592138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3200" b="1">
                <a:solidFill>
                  <a:schemeClr val="accent2"/>
                </a:solidFill>
              </a:rPr>
              <a:t>HEIGHT  -  3</a:t>
            </a:r>
          </a:p>
        </p:txBody>
      </p:sp>
      <p:sp>
        <p:nvSpPr>
          <p:cNvPr id="46100" name="WordArt 19"/>
          <p:cNvSpPr>
            <a:spLocks noChangeArrowheads="1" noChangeShapeType="1" noTextEdit="1"/>
          </p:cNvSpPr>
          <p:nvPr/>
        </p:nvSpPr>
        <p:spPr bwMode="auto">
          <a:xfrm>
            <a:off x="1828800" y="228600"/>
            <a:ext cx="4953000" cy="457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Height</a:t>
            </a:r>
          </a:p>
        </p:txBody>
      </p:sp>
      <p:grpSp>
        <p:nvGrpSpPr>
          <p:cNvPr id="2" name="Group 1" descr="A binary tree with four levels and ten nodes:&#10;&#10;Row 0: 90&#10;Row 1:&#10; 90 has two children: 50 as a left child and 120 as a right child&#10;Row 2:&#10; 50 has two children: 40 as a left child and 65 as a right child&#10; 120 has two children: 100 as a left child and 150 as a right child&#10;Row 3:&#10;   40 has two children: 30 as a left child and 45 as a right child&#10;    65 only has a right child, 70&#10;">
            <a:extLst>
              <a:ext uri="{FF2B5EF4-FFF2-40B4-BE49-F238E27FC236}">
                <a16:creationId xmlns:a16="http://schemas.microsoft.com/office/drawing/2014/main" id="{FCCEE31A-BD26-4F07-7DF3-D3CE28CA8CA0}"/>
              </a:ext>
            </a:extLst>
          </p:cNvPr>
          <p:cNvGrpSpPr/>
          <p:nvPr/>
        </p:nvGrpSpPr>
        <p:grpSpPr>
          <a:xfrm>
            <a:off x="838200" y="1066800"/>
            <a:ext cx="7129463" cy="2057400"/>
            <a:chOff x="838200" y="1066800"/>
            <a:chExt cx="7129463" cy="2057400"/>
          </a:xfrm>
        </p:grpSpPr>
        <p:sp>
          <p:nvSpPr>
            <p:cNvPr id="46084" name="Oval 3"/>
            <p:cNvSpPr>
              <a:spLocks noChangeArrowheads="1"/>
            </p:cNvSpPr>
            <p:nvPr/>
          </p:nvSpPr>
          <p:spPr bwMode="auto">
            <a:xfrm>
              <a:off x="35052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70</a:t>
              </a:r>
            </a:p>
          </p:txBody>
        </p:sp>
        <p:sp>
          <p:nvSpPr>
            <p:cNvPr id="46085" name="Oval 4"/>
            <p:cNvSpPr>
              <a:spLocks noChangeArrowheads="1"/>
            </p:cNvSpPr>
            <p:nvPr/>
          </p:nvSpPr>
          <p:spPr bwMode="auto">
            <a:xfrm>
              <a:off x="2133600" y="16002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50</a:t>
              </a:r>
            </a:p>
          </p:txBody>
        </p:sp>
        <p:sp>
          <p:nvSpPr>
            <p:cNvPr id="46086" name="Oval 5"/>
            <p:cNvSpPr>
              <a:spLocks noChangeArrowheads="1"/>
            </p:cNvSpPr>
            <p:nvPr/>
          </p:nvSpPr>
          <p:spPr bwMode="auto">
            <a:xfrm>
              <a:off x="1295400" y="21336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40</a:t>
              </a:r>
            </a:p>
          </p:txBody>
        </p:sp>
        <p:sp>
          <p:nvSpPr>
            <p:cNvPr id="46087" name="Oval 6"/>
            <p:cNvSpPr>
              <a:spLocks noChangeArrowheads="1"/>
            </p:cNvSpPr>
            <p:nvPr/>
          </p:nvSpPr>
          <p:spPr bwMode="auto">
            <a:xfrm>
              <a:off x="2971800" y="21336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65</a:t>
              </a:r>
            </a:p>
          </p:txBody>
        </p:sp>
        <p:sp>
          <p:nvSpPr>
            <p:cNvPr id="46088" name="Oval 7"/>
            <p:cNvSpPr>
              <a:spLocks noChangeArrowheads="1"/>
            </p:cNvSpPr>
            <p:nvPr/>
          </p:nvSpPr>
          <p:spPr bwMode="auto">
            <a:xfrm>
              <a:off x="6324600" y="16002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120</a:t>
              </a:r>
            </a:p>
          </p:txBody>
        </p:sp>
        <p:sp>
          <p:nvSpPr>
            <p:cNvPr id="46089" name="Oval 8"/>
            <p:cNvSpPr>
              <a:spLocks noChangeArrowheads="1"/>
            </p:cNvSpPr>
            <p:nvPr/>
          </p:nvSpPr>
          <p:spPr bwMode="auto">
            <a:xfrm>
              <a:off x="5486400" y="21336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100</a:t>
              </a:r>
            </a:p>
          </p:txBody>
        </p:sp>
        <p:sp>
          <p:nvSpPr>
            <p:cNvPr id="46090" name="Oval 9"/>
            <p:cNvSpPr>
              <a:spLocks noChangeArrowheads="1"/>
            </p:cNvSpPr>
            <p:nvPr/>
          </p:nvSpPr>
          <p:spPr bwMode="auto">
            <a:xfrm>
              <a:off x="7162800" y="21336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150</a:t>
              </a:r>
            </a:p>
          </p:txBody>
        </p:sp>
        <p:sp>
          <p:nvSpPr>
            <p:cNvPr id="46091" name="Oval 10"/>
            <p:cNvSpPr>
              <a:spLocks noChangeArrowheads="1"/>
            </p:cNvSpPr>
            <p:nvPr/>
          </p:nvSpPr>
          <p:spPr bwMode="auto">
            <a:xfrm>
              <a:off x="8382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30</a:t>
              </a:r>
            </a:p>
          </p:txBody>
        </p:sp>
        <p:sp>
          <p:nvSpPr>
            <p:cNvPr id="46092" name="Oval 11"/>
            <p:cNvSpPr>
              <a:spLocks noChangeArrowheads="1"/>
            </p:cNvSpPr>
            <p:nvPr/>
          </p:nvSpPr>
          <p:spPr bwMode="auto">
            <a:xfrm>
              <a:off x="18288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45</a:t>
              </a:r>
            </a:p>
          </p:txBody>
        </p:sp>
        <p:sp>
          <p:nvSpPr>
            <p:cNvPr id="46093" name="Oval 12"/>
            <p:cNvSpPr>
              <a:spLocks noChangeArrowheads="1"/>
            </p:cNvSpPr>
            <p:nvPr/>
          </p:nvSpPr>
          <p:spPr bwMode="auto">
            <a:xfrm>
              <a:off x="4267200" y="10668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90</a:t>
              </a:r>
            </a:p>
          </p:txBody>
        </p:sp>
        <p:sp>
          <p:nvSpPr>
            <p:cNvPr id="46094" name="Line 13"/>
            <p:cNvSpPr>
              <a:spLocks noChangeShapeType="1"/>
            </p:cNvSpPr>
            <p:nvPr/>
          </p:nvSpPr>
          <p:spPr bwMode="auto">
            <a:xfrm flipH="1">
              <a:off x="2895600" y="1371600"/>
              <a:ext cx="1371600" cy="30480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5" name="Line 14"/>
            <p:cNvSpPr>
              <a:spLocks noChangeShapeType="1"/>
            </p:cNvSpPr>
            <p:nvPr/>
          </p:nvSpPr>
          <p:spPr bwMode="auto">
            <a:xfrm>
              <a:off x="5105400" y="1371600"/>
              <a:ext cx="1219200" cy="304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6" name="Line 15"/>
            <p:cNvSpPr>
              <a:spLocks noChangeShapeType="1"/>
            </p:cNvSpPr>
            <p:nvPr/>
          </p:nvSpPr>
          <p:spPr bwMode="auto">
            <a:xfrm flipH="1">
              <a:off x="1977170" y="1981200"/>
              <a:ext cx="232629" cy="2286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7" name="Line 16"/>
            <p:cNvSpPr>
              <a:spLocks noChangeShapeType="1"/>
            </p:cNvSpPr>
            <p:nvPr/>
          </p:nvSpPr>
          <p:spPr bwMode="auto">
            <a:xfrm flipH="1">
              <a:off x="6172200" y="1981200"/>
              <a:ext cx="2286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8" name="Line 17"/>
            <p:cNvSpPr>
              <a:spLocks noChangeShapeType="1"/>
            </p:cNvSpPr>
            <p:nvPr/>
          </p:nvSpPr>
          <p:spPr bwMode="auto">
            <a:xfrm>
              <a:off x="2819400" y="1981200"/>
              <a:ext cx="304800" cy="15240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099" name="Line 18"/>
            <p:cNvSpPr>
              <a:spLocks noChangeShapeType="1"/>
            </p:cNvSpPr>
            <p:nvPr/>
          </p:nvSpPr>
          <p:spPr bwMode="auto">
            <a:xfrm>
              <a:off x="7086600" y="1981200"/>
              <a:ext cx="3048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101" name="Oval 20"/>
            <p:cNvSpPr>
              <a:spLocks noChangeArrowheads="1"/>
            </p:cNvSpPr>
            <p:nvPr/>
          </p:nvSpPr>
          <p:spPr bwMode="auto">
            <a:xfrm>
              <a:off x="48006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95</a:t>
              </a:r>
            </a:p>
          </p:txBody>
        </p:sp>
        <p:sp>
          <p:nvSpPr>
            <p:cNvPr id="28" name="Line 16"/>
            <p:cNvSpPr>
              <a:spLocks noChangeShapeType="1"/>
            </p:cNvSpPr>
            <p:nvPr/>
          </p:nvSpPr>
          <p:spPr bwMode="auto">
            <a:xfrm flipH="1">
              <a:off x="5410200" y="2590800"/>
              <a:ext cx="2286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17"/>
            <p:cNvSpPr>
              <a:spLocks noChangeShapeType="1"/>
            </p:cNvSpPr>
            <p:nvPr/>
          </p:nvSpPr>
          <p:spPr bwMode="auto">
            <a:xfrm>
              <a:off x="3581400" y="2584938"/>
              <a:ext cx="228600" cy="152400"/>
            </a:xfrm>
            <a:prstGeom prst="line">
              <a:avLst/>
            </a:prstGeom>
            <a:noFill/>
            <a:ln w="762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17"/>
            <p:cNvSpPr>
              <a:spLocks noChangeShapeType="1"/>
            </p:cNvSpPr>
            <p:nvPr/>
          </p:nvSpPr>
          <p:spPr bwMode="auto">
            <a:xfrm>
              <a:off x="1824771" y="2590800"/>
              <a:ext cx="3048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15"/>
            <p:cNvSpPr>
              <a:spLocks noChangeShapeType="1"/>
            </p:cNvSpPr>
            <p:nvPr/>
          </p:nvSpPr>
          <p:spPr bwMode="auto">
            <a:xfrm flipH="1">
              <a:off x="1411532" y="2584938"/>
              <a:ext cx="2286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EBCEA05-9D2F-A6F5-8363-F365E1528B34}"/>
              </a:ext>
            </a:extLst>
          </p:cNvPr>
          <p:cNvSpPr txBox="1"/>
          <p:nvPr/>
        </p:nvSpPr>
        <p:spPr>
          <a:xfrm>
            <a:off x="533400" y="4849881"/>
            <a:ext cx="8382000" cy="650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1311275" algn="l"/>
              </a:tabLst>
            </a:pPr>
            <a:r>
              <a:rPr lang="en-US" sz="2800" b="1" dirty="0"/>
              <a:t>Height	= # of edges from root to lowest leaf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/>
          <p:cNvSpPr>
            <a:spLocks noGrp="1"/>
          </p:cNvSpPr>
          <p:nvPr>
            <p:ph type="ftr" sz="quarter" idx="12"/>
          </p:nvPr>
        </p:nvSpPr>
        <p:spPr>
          <a:xfrm>
            <a:off x="6248400" y="6324600"/>
            <a:ext cx="2895600" cy="457200"/>
          </a:xfrm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 dirty="0">
              <a:latin typeface="Times New Roman" pitchFamily="18" charset="0"/>
            </a:endParaRPr>
          </a:p>
          <a:p>
            <a:endParaRPr lang="en-US" sz="800" dirty="0"/>
          </a:p>
          <a:p>
            <a:endParaRPr lang="en-US" sz="800" b="1" dirty="0"/>
          </a:p>
          <a:p>
            <a:r>
              <a:rPr lang="en-US" sz="800" b="1" dirty="0"/>
              <a:t>© A+ Computer Science  -  www.apluscompsci.com</a:t>
            </a: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3126580" y="3746500"/>
            <a:ext cx="3045619" cy="58477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3200" b="1" dirty="0">
                <a:solidFill>
                  <a:schemeClr val="accent2"/>
                </a:solidFill>
              </a:rPr>
              <a:t>Diameter =  6</a:t>
            </a:r>
          </a:p>
        </p:txBody>
      </p:sp>
      <p:grpSp>
        <p:nvGrpSpPr>
          <p:cNvPr id="4" name="Group 3" descr="A binary tree with four levels and ten nodes:&#10;&#10;Row 0: 90&#10;Row 1:&#10; 90 has two children: 50 as a left child and 120 as a right child&#10;Row 2:&#10; 50 has two children: 40 as a left child and 65 as a right child&#10; 120 has two children: 100 as a left child and 150 as a right child&#10;Row 3:&#10;   40 has two children: 30 as a left child and 45 as a right child&#10;    65 only has a right child, 70&#10;">
            <a:extLst>
              <a:ext uri="{FF2B5EF4-FFF2-40B4-BE49-F238E27FC236}">
                <a16:creationId xmlns:a16="http://schemas.microsoft.com/office/drawing/2014/main" id="{9CE86303-9B5C-E8E0-D1B7-1D29BE50BED0}"/>
              </a:ext>
            </a:extLst>
          </p:cNvPr>
          <p:cNvGrpSpPr/>
          <p:nvPr/>
        </p:nvGrpSpPr>
        <p:grpSpPr>
          <a:xfrm>
            <a:off x="838200" y="1066800"/>
            <a:ext cx="7129463" cy="2057400"/>
            <a:chOff x="838200" y="1066800"/>
            <a:chExt cx="7129463" cy="2057400"/>
          </a:xfrm>
        </p:grpSpPr>
        <p:sp>
          <p:nvSpPr>
            <p:cNvPr id="45060" name="Oval 3"/>
            <p:cNvSpPr>
              <a:spLocks noChangeArrowheads="1"/>
            </p:cNvSpPr>
            <p:nvPr/>
          </p:nvSpPr>
          <p:spPr bwMode="auto">
            <a:xfrm>
              <a:off x="35052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70</a:t>
              </a:r>
            </a:p>
          </p:txBody>
        </p:sp>
        <p:sp>
          <p:nvSpPr>
            <p:cNvPr id="45061" name="Oval 4"/>
            <p:cNvSpPr>
              <a:spLocks noChangeArrowheads="1"/>
            </p:cNvSpPr>
            <p:nvPr/>
          </p:nvSpPr>
          <p:spPr bwMode="auto">
            <a:xfrm>
              <a:off x="2133600" y="16002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50</a:t>
              </a:r>
            </a:p>
          </p:txBody>
        </p:sp>
        <p:sp>
          <p:nvSpPr>
            <p:cNvPr id="45062" name="Oval 5"/>
            <p:cNvSpPr>
              <a:spLocks noChangeArrowheads="1"/>
            </p:cNvSpPr>
            <p:nvPr/>
          </p:nvSpPr>
          <p:spPr bwMode="auto">
            <a:xfrm>
              <a:off x="1295400" y="21336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40</a:t>
              </a:r>
            </a:p>
          </p:txBody>
        </p:sp>
        <p:sp>
          <p:nvSpPr>
            <p:cNvPr id="45063" name="Oval 6"/>
            <p:cNvSpPr>
              <a:spLocks noChangeArrowheads="1"/>
            </p:cNvSpPr>
            <p:nvPr/>
          </p:nvSpPr>
          <p:spPr bwMode="auto">
            <a:xfrm>
              <a:off x="2971800" y="21336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65</a:t>
              </a:r>
            </a:p>
          </p:txBody>
        </p:sp>
        <p:sp>
          <p:nvSpPr>
            <p:cNvPr id="45064" name="Oval 7"/>
            <p:cNvSpPr>
              <a:spLocks noChangeArrowheads="1"/>
            </p:cNvSpPr>
            <p:nvPr/>
          </p:nvSpPr>
          <p:spPr bwMode="auto">
            <a:xfrm>
              <a:off x="6324600" y="16002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120</a:t>
              </a:r>
            </a:p>
          </p:txBody>
        </p:sp>
        <p:sp>
          <p:nvSpPr>
            <p:cNvPr id="45065" name="Oval 8"/>
            <p:cNvSpPr>
              <a:spLocks noChangeArrowheads="1"/>
            </p:cNvSpPr>
            <p:nvPr/>
          </p:nvSpPr>
          <p:spPr bwMode="auto">
            <a:xfrm>
              <a:off x="5486400" y="21336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100</a:t>
              </a:r>
            </a:p>
          </p:txBody>
        </p:sp>
        <p:sp>
          <p:nvSpPr>
            <p:cNvPr id="45066" name="Oval 9"/>
            <p:cNvSpPr>
              <a:spLocks noChangeArrowheads="1"/>
            </p:cNvSpPr>
            <p:nvPr/>
          </p:nvSpPr>
          <p:spPr bwMode="auto">
            <a:xfrm>
              <a:off x="7162800" y="21336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dirty="0"/>
                <a:t>150</a:t>
              </a:r>
            </a:p>
          </p:txBody>
        </p:sp>
        <p:sp>
          <p:nvSpPr>
            <p:cNvPr id="45067" name="Oval 10"/>
            <p:cNvSpPr>
              <a:spLocks noChangeArrowheads="1"/>
            </p:cNvSpPr>
            <p:nvPr/>
          </p:nvSpPr>
          <p:spPr bwMode="auto">
            <a:xfrm>
              <a:off x="8382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30</a:t>
              </a:r>
            </a:p>
          </p:txBody>
        </p:sp>
        <p:sp>
          <p:nvSpPr>
            <p:cNvPr id="45068" name="Oval 11"/>
            <p:cNvSpPr>
              <a:spLocks noChangeArrowheads="1"/>
            </p:cNvSpPr>
            <p:nvPr/>
          </p:nvSpPr>
          <p:spPr bwMode="auto">
            <a:xfrm>
              <a:off x="18288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45</a:t>
              </a:r>
            </a:p>
          </p:txBody>
        </p:sp>
        <p:sp>
          <p:nvSpPr>
            <p:cNvPr id="45069" name="Oval 12"/>
            <p:cNvSpPr>
              <a:spLocks noChangeArrowheads="1"/>
            </p:cNvSpPr>
            <p:nvPr/>
          </p:nvSpPr>
          <p:spPr bwMode="auto">
            <a:xfrm>
              <a:off x="4267200" y="10668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90</a:t>
              </a:r>
            </a:p>
          </p:txBody>
        </p:sp>
        <p:sp>
          <p:nvSpPr>
            <p:cNvPr id="45070" name="Line 13"/>
            <p:cNvSpPr>
              <a:spLocks noChangeShapeType="1"/>
            </p:cNvSpPr>
            <p:nvPr/>
          </p:nvSpPr>
          <p:spPr bwMode="auto">
            <a:xfrm flipH="1">
              <a:off x="2895600" y="1371600"/>
              <a:ext cx="1371600" cy="304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1" name="Line 14"/>
            <p:cNvSpPr>
              <a:spLocks noChangeShapeType="1"/>
            </p:cNvSpPr>
            <p:nvPr/>
          </p:nvSpPr>
          <p:spPr bwMode="auto">
            <a:xfrm>
              <a:off x="5105400" y="1371600"/>
              <a:ext cx="1219200" cy="304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2" name="Line 15"/>
            <p:cNvSpPr>
              <a:spLocks noChangeShapeType="1"/>
            </p:cNvSpPr>
            <p:nvPr/>
          </p:nvSpPr>
          <p:spPr bwMode="auto">
            <a:xfrm flipH="1">
              <a:off x="1981200" y="1981200"/>
              <a:ext cx="2286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3" name="Line 16"/>
            <p:cNvSpPr>
              <a:spLocks noChangeShapeType="1"/>
            </p:cNvSpPr>
            <p:nvPr/>
          </p:nvSpPr>
          <p:spPr bwMode="auto">
            <a:xfrm flipH="1">
              <a:off x="6172200" y="1981200"/>
              <a:ext cx="2286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4" name="Line 17"/>
            <p:cNvSpPr>
              <a:spLocks noChangeShapeType="1"/>
            </p:cNvSpPr>
            <p:nvPr/>
          </p:nvSpPr>
          <p:spPr bwMode="auto">
            <a:xfrm>
              <a:off x="2819400" y="1981200"/>
              <a:ext cx="3048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5" name="Line 18"/>
            <p:cNvSpPr>
              <a:spLocks noChangeShapeType="1"/>
            </p:cNvSpPr>
            <p:nvPr/>
          </p:nvSpPr>
          <p:spPr bwMode="auto">
            <a:xfrm>
              <a:off x="7086600" y="1981200"/>
              <a:ext cx="3048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7" name="Oval 20"/>
            <p:cNvSpPr>
              <a:spLocks noChangeArrowheads="1"/>
            </p:cNvSpPr>
            <p:nvPr/>
          </p:nvSpPr>
          <p:spPr bwMode="auto">
            <a:xfrm>
              <a:off x="4800600" y="266700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95</a:t>
              </a:r>
            </a:p>
          </p:txBody>
        </p:sp>
      </p:grpSp>
      <p:sp>
        <p:nvSpPr>
          <p:cNvPr id="90136" name="Text Box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590800"/>
            <a:ext cx="1066800" cy="495300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rgbClr val="808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90137" name="Text Box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057400"/>
            <a:ext cx="1066800" cy="495300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rgbClr val="808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90138" name="Text Box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1562100"/>
            <a:ext cx="1066800" cy="495300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rgbClr val="808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90139" name="Text Box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1028700"/>
            <a:ext cx="1066800" cy="495300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rgbClr val="808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90140" name="Text Box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1562100"/>
            <a:ext cx="1066800" cy="495300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rgbClr val="808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90141" name="Text Box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095500"/>
            <a:ext cx="1066800" cy="495300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rgbClr val="808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90142" name="Text Box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2628900"/>
            <a:ext cx="1066800" cy="495300"/>
          </a:xfrm>
          <a:prstGeom prst="rect">
            <a:avLst/>
          </a:prstGeom>
          <a:solidFill>
            <a:schemeClr val="bg1">
              <a:alpha val="0"/>
            </a:schemeClr>
          </a:solidFill>
          <a:ln w="38100">
            <a:solidFill>
              <a:srgbClr val="8080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90148" name="Picture 3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057400"/>
            <a:ext cx="11176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149" name="Picture 3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590800"/>
            <a:ext cx="11176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150" name="Picture 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511300"/>
            <a:ext cx="11176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151" name="Picture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990600"/>
            <a:ext cx="11176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152" name="Picture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524000"/>
            <a:ext cx="11176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153" name="Picture 4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057400"/>
            <a:ext cx="11176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0154" name="Picture 4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590800"/>
            <a:ext cx="1117600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C2C0C5-3BB0-1937-3FB3-C837E4DFE2F3}"/>
              </a:ext>
            </a:extLst>
          </p:cNvPr>
          <p:cNvSpPr txBox="1"/>
          <p:nvPr/>
        </p:nvSpPr>
        <p:spPr>
          <a:xfrm>
            <a:off x="632222" y="4813300"/>
            <a:ext cx="80319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tabLst>
                <a:tab pos="1655763" algn="l"/>
              </a:tabLst>
            </a:pPr>
            <a:r>
              <a:rPr lang="en-US" sz="2400" b="1" dirty="0"/>
              <a:t>Diameter =  the number of edges on the longest path between two nodes in the tree (does not have to go through the root!)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8DE7CA-814E-7A2E-6561-E367DCF3A486}"/>
              </a:ext>
            </a:extLst>
          </p:cNvPr>
          <p:cNvSpPr txBox="1"/>
          <p:nvPr/>
        </p:nvSpPr>
        <p:spPr>
          <a:xfrm>
            <a:off x="3145066" y="109746"/>
            <a:ext cx="28087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0000CC"/>
                </a:solidFill>
              </a:rPr>
              <a:t>Diameter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90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2000"/>
                                        <p:tgtEl>
                                          <p:spTgt spid="90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90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90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90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90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2000"/>
                                        <p:tgtEl>
                                          <p:spTgt spid="90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8" presetClass="exit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29" dur="2000"/>
                                        <p:tgtEl>
                                          <p:spTgt spid="901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8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2" dur="2000"/>
                                        <p:tgtEl>
                                          <p:spTgt spid="90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8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5" dur="2000"/>
                                        <p:tgtEl>
                                          <p:spTgt spid="90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8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38" dur="2000"/>
                                        <p:tgtEl>
                                          <p:spTgt spid="90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8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41" dur="2000"/>
                                        <p:tgtEl>
                                          <p:spTgt spid="90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8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44" dur="2000"/>
                                        <p:tgtEl>
                                          <p:spTgt spid="90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8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47" dur="2000"/>
                                        <p:tgtEl>
                                          <p:spTgt spid="90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2000"/>
                                        <p:tgtEl>
                                          <p:spTgt spid="90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2000"/>
                                        <p:tgtEl>
                                          <p:spTgt spid="90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2000"/>
                                        <p:tgtEl>
                                          <p:spTgt spid="90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2000"/>
                                        <p:tgtEl>
                                          <p:spTgt spid="90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2000"/>
                                        <p:tgtEl>
                                          <p:spTgt spid="9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2000"/>
                                        <p:tgtEl>
                                          <p:spTgt spid="9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2000"/>
                                        <p:tgtEl>
                                          <p:spTgt spid="90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8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75" dur="2000"/>
                                        <p:tgtEl>
                                          <p:spTgt spid="90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78" dur="2000"/>
                                        <p:tgtEl>
                                          <p:spTgt spid="901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81" dur="2000"/>
                                        <p:tgtEl>
                                          <p:spTgt spid="90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84" dur="2000"/>
                                        <p:tgtEl>
                                          <p:spTgt spid="901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87" dur="2000"/>
                                        <p:tgtEl>
                                          <p:spTgt spid="901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90" dur="2000"/>
                                        <p:tgtEl>
                                          <p:spTgt spid="901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8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in)">
                                      <p:cBhvr>
                                        <p:cTn id="93" dur="2000"/>
                                        <p:tgtEl>
                                          <p:spTgt spid="901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36" grpId="0" animBg="1"/>
      <p:bldP spid="90136" grpId="1" animBg="1"/>
      <p:bldP spid="90137" grpId="0" animBg="1"/>
      <p:bldP spid="90137" grpId="1" animBg="1"/>
      <p:bldP spid="90138" grpId="0" animBg="1"/>
      <p:bldP spid="90138" grpId="1" animBg="1"/>
      <p:bldP spid="90139" grpId="0" animBg="1"/>
      <p:bldP spid="90139" grpId="1" animBg="1"/>
      <p:bldP spid="90140" grpId="0" animBg="1"/>
      <p:bldP spid="90140" grpId="1" animBg="1"/>
      <p:bldP spid="90141" grpId="0" animBg="1"/>
      <p:bldP spid="90141" grpId="1" animBg="1"/>
      <p:bldP spid="90142" grpId="0" animBg="1"/>
      <p:bldP spid="90142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2938463" y="4889212"/>
            <a:ext cx="3276600" cy="584775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r>
              <a:rPr lang="en-US" sz="3200" b="1" dirty="0">
                <a:solidFill>
                  <a:schemeClr val="accent2"/>
                </a:solidFill>
              </a:rPr>
              <a:t>Diameter </a:t>
            </a:r>
            <a:r>
              <a:rPr lang="en-US" sz="3200" b="1">
                <a:solidFill>
                  <a:schemeClr val="accent2"/>
                </a:solidFill>
              </a:rPr>
              <a:t>=  4</a:t>
            </a:r>
            <a:endParaRPr lang="en-US" sz="3200" b="1" dirty="0">
              <a:solidFill>
                <a:schemeClr val="accent2"/>
              </a:solidFill>
            </a:endParaRPr>
          </a:p>
        </p:txBody>
      </p:sp>
      <p:grpSp>
        <p:nvGrpSpPr>
          <p:cNvPr id="8" name="Group 7" descr="A binary tree with four levels and seven nodes:&#10;&#10;Row 0: 90&#10;Row 1:&#10; 90 has one child: 50 as a left child&#10;Row 2:&#10; 50 has two children: 40 as a left child and 65 as a right child&#10;Row 3:&#10;   40 has two children: 30 as a left child and 45 as a right child&#10;    65 only has a right child, 70&#10;">
            <a:extLst>
              <a:ext uri="{FF2B5EF4-FFF2-40B4-BE49-F238E27FC236}">
                <a16:creationId xmlns:a16="http://schemas.microsoft.com/office/drawing/2014/main" id="{DC879B01-34A1-9829-DFD0-009EB1B2976C}"/>
              </a:ext>
            </a:extLst>
          </p:cNvPr>
          <p:cNvGrpSpPr/>
          <p:nvPr/>
        </p:nvGrpSpPr>
        <p:grpSpPr>
          <a:xfrm>
            <a:off x="838200" y="1403350"/>
            <a:ext cx="4233863" cy="2057400"/>
            <a:chOff x="838200" y="1403350"/>
            <a:chExt cx="4233863" cy="2057400"/>
          </a:xfrm>
        </p:grpSpPr>
        <p:sp>
          <p:nvSpPr>
            <p:cNvPr id="45060" name="Oval 3"/>
            <p:cNvSpPr>
              <a:spLocks noChangeArrowheads="1"/>
            </p:cNvSpPr>
            <p:nvPr/>
          </p:nvSpPr>
          <p:spPr bwMode="auto">
            <a:xfrm>
              <a:off x="3505200" y="300355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70</a:t>
              </a:r>
            </a:p>
          </p:txBody>
        </p:sp>
        <p:sp>
          <p:nvSpPr>
            <p:cNvPr id="45061" name="Oval 4"/>
            <p:cNvSpPr>
              <a:spLocks noChangeArrowheads="1"/>
            </p:cNvSpPr>
            <p:nvPr/>
          </p:nvSpPr>
          <p:spPr bwMode="auto">
            <a:xfrm>
              <a:off x="2133600" y="193675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50</a:t>
              </a:r>
            </a:p>
          </p:txBody>
        </p:sp>
        <p:sp>
          <p:nvSpPr>
            <p:cNvPr id="45062" name="Oval 5"/>
            <p:cNvSpPr>
              <a:spLocks noChangeArrowheads="1"/>
            </p:cNvSpPr>
            <p:nvPr/>
          </p:nvSpPr>
          <p:spPr bwMode="auto">
            <a:xfrm>
              <a:off x="1295400" y="247015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40</a:t>
              </a:r>
            </a:p>
          </p:txBody>
        </p:sp>
        <p:sp>
          <p:nvSpPr>
            <p:cNvPr id="45063" name="Oval 6"/>
            <p:cNvSpPr>
              <a:spLocks noChangeArrowheads="1"/>
            </p:cNvSpPr>
            <p:nvPr/>
          </p:nvSpPr>
          <p:spPr bwMode="auto">
            <a:xfrm>
              <a:off x="2971800" y="247015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65</a:t>
              </a:r>
            </a:p>
          </p:txBody>
        </p:sp>
        <p:sp>
          <p:nvSpPr>
            <p:cNvPr id="45067" name="Oval 10"/>
            <p:cNvSpPr>
              <a:spLocks noChangeArrowheads="1"/>
            </p:cNvSpPr>
            <p:nvPr/>
          </p:nvSpPr>
          <p:spPr bwMode="auto">
            <a:xfrm>
              <a:off x="838200" y="300355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30</a:t>
              </a:r>
            </a:p>
          </p:txBody>
        </p:sp>
        <p:sp>
          <p:nvSpPr>
            <p:cNvPr id="45068" name="Oval 11"/>
            <p:cNvSpPr>
              <a:spLocks noChangeArrowheads="1"/>
            </p:cNvSpPr>
            <p:nvPr/>
          </p:nvSpPr>
          <p:spPr bwMode="auto">
            <a:xfrm>
              <a:off x="1828800" y="300355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45</a:t>
              </a:r>
            </a:p>
          </p:txBody>
        </p:sp>
        <p:sp>
          <p:nvSpPr>
            <p:cNvPr id="45069" name="Oval 12"/>
            <p:cNvSpPr>
              <a:spLocks noChangeArrowheads="1"/>
            </p:cNvSpPr>
            <p:nvPr/>
          </p:nvSpPr>
          <p:spPr bwMode="auto">
            <a:xfrm>
              <a:off x="4267200" y="1403350"/>
              <a:ext cx="804863" cy="457200"/>
            </a:xfrm>
            <a:prstGeom prst="ellipse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/>
                <a:t>90</a:t>
              </a:r>
            </a:p>
          </p:txBody>
        </p:sp>
        <p:sp>
          <p:nvSpPr>
            <p:cNvPr id="45070" name="Line 13"/>
            <p:cNvSpPr>
              <a:spLocks noChangeShapeType="1"/>
            </p:cNvSpPr>
            <p:nvPr/>
          </p:nvSpPr>
          <p:spPr bwMode="auto">
            <a:xfrm flipH="1">
              <a:off x="2895600" y="1708150"/>
              <a:ext cx="1371600" cy="3048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2" name="Line 15"/>
            <p:cNvSpPr>
              <a:spLocks noChangeShapeType="1"/>
            </p:cNvSpPr>
            <p:nvPr/>
          </p:nvSpPr>
          <p:spPr bwMode="auto">
            <a:xfrm flipH="1">
              <a:off x="1981200" y="2317750"/>
              <a:ext cx="2286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4" name="Line 17"/>
            <p:cNvSpPr>
              <a:spLocks noChangeShapeType="1"/>
            </p:cNvSpPr>
            <p:nvPr/>
          </p:nvSpPr>
          <p:spPr bwMode="auto">
            <a:xfrm>
              <a:off x="2819400" y="2317750"/>
              <a:ext cx="304800" cy="15240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C4F2A04-0F2F-6E0B-31F3-3FFB864F781D}"/>
              </a:ext>
            </a:extLst>
          </p:cNvPr>
          <p:cNvSpPr txBox="1"/>
          <p:nvPr/>
        </p:nvSpPr>
        <p:spPr>
          <a:xfrm>
            <a:off x="3145066" y="109746"/>
            <a:ext cx="280878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solidFill>
                  <a:srgbClr val="0000CC"/>
                </a:solidFill>
              </a:rPr>
              <a:t>Diameter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5035378-DD18-230D-4F15-FE09BCA8A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43000" y="1892300"/>
            <a:ext cx="3327400" cy="1612900"/>
            <a:chOff x="1143000" y="1600200"/>
            <a:chExt cx="3327400" cy="1612900"/>
          </a:xfrm>
        </p:grpSpPr>
        <p:sp>
          <p:nvSpPr>
            <p:cNvPr id="3" name="Text Box 24">
              <a:extLst>
                <a:ext uri="{FF2B5EF4-FFF2-40B4-BE49-F238E27FC236}">
                  <a16:creationId xmlns:a16="http://schemas.microsoft.com/office/drawing/2014/main" id="{5C4251DA-933A-7948-0B65-BD9FF6A22D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76400" y="2667000"/>
              <a:ext cx="1066800" cy="4953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38100">
              <a:solidFill>
                <a:srgbClr val="808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4" name="Text Box 25">
              <a:extLst>
                <a:ext uri="{FF2B5EF4-FFF2-40B4-BE49-F238E27FC236}">
                  <a16:creationId xmlns:a16="http://schemas.microsoft.com/office/drawing/2014/main" id="{ACBBDEFA-58E4-18B6-8C2B-07B500C8A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000" y="2133600"/>
              <a:ext cx="1066800" cy="4953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38100">
              <a:solidFill>
                <a:srgbClr val="808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/>
            </a:p>
          </p:txBody>
        </p:sp>
        <p:pic>
          <p:nvPicPr>
            <p:cNvPr id="5" name="Picture 36">
              <a:extLst>
                <a:ext uri="{FF2B5EF4-FFF2-40B4-BE49-F238E27FC236}">
                  <a16:creationId xmlns:a16="http://schemas.microsoft.com/office/drawing/2014/main" id="{488478D6-44B7-ABD1-E880-1183D11BE7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2133600"/>
              <a:ext cx="1117600" cy="546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37">
              <a:extLst>
                <a:ext uri="{FF2B5EF4-FFF2-40B4-BE49-F238E27FC236}">
                  <a16:creationId xmlns:a16="http://schemas.microsoft.com/office/drawing/2014/main" id="{5B4DD659-9959-569F-4AA4-EFFD8277DB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2667000"/>
              <a:ext cx="1117600" cy="546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38">
              <a:extLst>
                <a:ext uri="{FF2B5EF4-FFF2-40B4-BE49-F238E27FC236}">
                  <a16:creationId xmlns:a16="http://schemas.microsoft.com/office/drawing/2014/main" id="{7FEAC94B-3027-B66E-B38E-9B5969F290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1200" y="1600200"/>
              <a:ext cx="1117600" cy="546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D07B34C-B44D-3EBD-A935-990D8EF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98500" y="1905000"/>
            <a:ext cx="3784600" cy="1612900"/>
            <a:chOff x="685800" y="1600200"/>
            <a:chExt cx="3784600" cy="1612900"/>
          </a:xfrm>
        </p:grpSpPr>
        <p:sp>
          <p:nvSpPr>
            <p:cNvPr id="10" name="Text Box 24">
              <a:extLst>
                <a:ext uri="{FF2B5EF4-FFF2-40B4-BE49-F238E27FC236}">
                  <a16:creationId xmlns:a16="http://schemas.microsoft.com/office/drawing/2014/main" id="{C5D362BE-5AF7-9342-CDAC-E230F9A93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" y="2667000"/>
              <a:ext cx="1066800" cy="4953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38100">
              <a:solidFill>
                <a:srgbClr val="808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/>
            </a:p>
          </p:txBody>
        </p:sp>
        <p:sp>
          <p:nvSpPr>
            <p:cNvPr id="11" name="Text Box 25">
              <a:extLst>
                <a:ext uri="{FF2B5EF4-FFF2-40B4-BE49-F238E27FC236}">
                  <a16:creationId xmlns:a16="http://schemas.microsoft.com/office/drawing/2014/main" id="{6E962384-23ED-00AB-7ECC-9CA8F1257A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3000" y="2133600"/>
              <a:ext cx="1066800" cy="4953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38100">
              <a:solidFill>
                <a:srgbClr val="8080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>
                <a:spcBef>
                  <a:spcPct val="50000"/>
                </a:spcBef>
              </a:pPr>
              <a:endParaRPr lang="en-US"/>
            </a:p>
          </p:txBody>
        </p:sp>
        <p:pic>
          <p:nvPicPr>
            <p:cNvPr id="12" name="Picture 36">
              <a:extLst>
                <a:ext uri="{FF2B5EF4-FFF2-40B4-BE49-F238E27FC236}">
                  <a16:creationId xmlns:a16="http://schemas.microsoft.com/office/drawing/2014/main" id="{33685F0E-65F8-D0CF-DF36-81473AA6EA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9400" y="2133600"/>
              <a:ext cx="1117600" cy="546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3" name="Picture 37">
              <a:extLst>
                <a:ext uri="{FF2B5EF4-FFF2-40B4-BE49-F238E27FC236}">
                  <a16:creationId xmlns:a16="http://schemas.microsoft.com/office/drawing/2014/main" id="{92E5EE1B-6E8D-39B8-1FC8-C10286DAAA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2800" y="2667000"/>
              <a:ext cx="1117600" cy="546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" name="Picture 38">
              <a:extLst>
                <a:ext uri="{FF2B5EF4-FFF2-40B4-BE49-F238E27FC236}">
                  <a16:creationId xmlns:a16="http://schemas.microsoft.com/office/drawing/2014/main" id="{537F1E59-20CD-A636-588D-7B93D21D61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81200" y="1600200"/>
              <a:ext cx="1117600" cy="546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7280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21507" name="WordArt 2"/>
          <p:cNvSpPr>
            <a:spLocks noChangeArrowheads="1" noChangeShapeType="1" noTextEdit="1"/>
          </p:cNvSpPr>
          <p:nvPr/>
        </p:nvSpPr>
        <p:spPr bwMode="auto">
          <a:xfrm>
            <a:off x="1524000" y="1447800"/>
            <a:ext cx="6248400" cy="3124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Building a</a:t>
            </a:r>
          </a:p>
          <a:p>
            <a:pPr algn="ctr"/>
            <a:r>
              <a:rPr lang="en-US" sz="3600" kern="10" dirty="0">
                <a:ln w="9525">
                  <a:solidFill>
                    <a:srgbClr val="FFFF99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BST</a:t>
            </a:r>
          </a:p>
        </p:txBody>
      </p:sp>
    </p:spTree>
    <p:extLst>
      <p:ext uri="{BB962C8B-B14F-4D97-AF65-F5344CB8AC3E}">
        <p14:creationId xmlns:p14="http://schemas.microsoft.com/office/powerpoint/2010/main" val="2244535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4000" dirty="0">
                <a:solidFill>
                  <a:srgbClr val="800000"/>
                </a:solidFill>
                <a:latin typeface="Aptos ExtraBold" panose="020B0004020202020204" pitchFamily="34" charset="0"/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8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2057400"/>
            <a:ext cx="8153400" cy="3048000"/>
          </a:xfrm>
        </p:spPr>
        <p:txBody>
          <a:bodyPr rIns="132080"/>
          <a:lstStyle/>
          <a:p>
            <a:pPr marL="0" indent="0" eaLnBrk="1" hangingPunct="1">
              <a:buNone/>
            </a:pPr>
            <a:r>
              <a:rPr lang="en-US" altLang="en-US" dirty="0">
                <a:latin typeface="Aptos ExtraBold" panose="020F0502020204030204" pitchFamily="34" charset="0"/>
                <a:ea typeface="MS PGothic" charset="-128"/>
              </a:rPr>
              <a:t>To insert a new item:</a:t>
            </a:r>
          </a:p>
          <a:p>
            <a:pPr marL="900113" lvl="1" indent="-457200" eaLnBrk="1" hangingPunct="1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Aptos ExtraBold" panose="020F0502020204030204" pitchFamily="34" charset="0"/>
                <a:ea typeface="MS PGothic" charset="-128"/>
              </a:rPr>
              <a:t>Pretend to look for the item</a:t>
            </a:r>
          </a:p>
          <a:p>
            <a:pPr marL="900113" lvl="1" indent="-457200" eaLnBrk="1" hangingPunct="1"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en-US" altLang="en-US" sz="3200" dirty="0">
                <a:latin typeface="Aptos ExtraBold" panose="020F0502020204030204" pitchFamily="34" charset="0"/>
                <a:ea typeface="MS PGothic" charset="-128"/>
              </a:rPr>
              <a:t>Put the new node in the place where you fall off the tree</a:t>
            </a:r>
            <a:endParaRPr lang="en-US" altLang="en-US" sz="3200" i="1" dirty="0">
              <a:latin typeface="Aptos ExtraBold" panose="020F0502020204030204" pitchFamily="34" charset="0"/>
              <a:ea typeface="MS PGothic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30107485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9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cxnSp>
        <p:nvCxnSpPr>
          <p:cNvPr id="11" name="Straight Arrow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495800" y="1752600"/>
            <a:ext cx="0" cy="533400"/>
          </a:xfrm>
          <a:prstGeom prst="straightConnector1">
            <a:avLst/>
          </a:prstGeom>
          <a:ln w="254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 descr="Jayden is the first value we're adding to the tree"/>
          <p:cNvSpPr/>
          <p:nvPr/>
        </p:nvSpPr>
        <p:spPr>
          <a:xfrm>
            <a:off x="6553200" y="2300207"/>
            <a:ext cx="112845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Jayden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283801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10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grpSp>
        <p:nvGrpSpPr>
          <p:cNvPr id="2" name="Group 1" descr="The tree has &quot;Jayden&quot; as a root and no other nodes.">
            <a:extLst>
              <a:ext uri="{FF2B5EF4-FFF2-40B4-BE49-F238E27FC236}">
                <a16:creationId xmlns:a16="http://schemas.microsoft.com/office/drawing/2014/main" id="{224CBFEB-4053-4EFF-3EE6-BBFF79F6020D}"/>
              </a:ext>
            </a:extLst>
          </p:cNvPr>
          <p:cNvGrpSpPr/>
          <p:nvPr/>
        </p:nvGrpSpPr>
        <p:grpSpPr>
          <a:xfrm>
            <a:off x="3942603" y="1752600"/>
            <a:ext cx="1128450" cy="1383814"/>
            <a:chOff x="3942603" y="1752600"/>
            <a:chExt cx="1128450" cy="1383814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4495800" y="1752600"/>
              <a:ext cx="0" cy="5334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3942603" y="2281535"/>
              <a:ext cx="1128450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Jayden</a:t>
              </a:r>
              <a:endParaRPr lang="en-US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H="1">
              <a:off x="3942603" y="2743200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4463512" y="2755414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511688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11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grpSp>
        <p:nvGrpSpPr>
          <p:cNvPr id="2" name="Group 1" descr="&quot;Fahad&quot; is the next value to add.&#10;The tree has &quot;Jayden&quot; as a root and no other nodes.">
            <a:extLst>
              <a:ext uri="{FF2B5EF4-FFF2-40B4-BE49-F238E27FC236}">
                <a16:creationId xmlns:a16="http://schemas.microsoft.com/office/drawing/2014/main" id="{920C70FD-E672-B954-FD00-D4BB2D40AF10}"/>
              </a:ext>
            </a:extLst>
          </p:cNvPr>
          <p:cNvGrpSpPr/>
          <p:nvPr/>
        </p:nvGrpSpPr>
        <p:grpSpPr>
          <a:xfrm>
            <a:off x="3942603" y="1752600"/>
            <a:ext cx="2539904" cy="1383814"/>
            <a:chOff x="3942603" y="1752600"/>
            <a:chExt cx="2539904" cy="1383814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4495800" y="1752600"/>
              <a:ext cx="0" cy="5334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3942603" y="2281535"/>
              <a:ext cx="1128450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Jayden</a:t>
              </a:r>
              <a:endParaRPr lang="en-US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H="1">
              <a:off x="3942603" y="2743200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4463512" y="2755414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5486400" y="2281534"/>
              <a:ext cx="99610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Fahad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73746212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12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grpSp>
        <p:nvGrpSpPr>
          <p:cNvPr id="2" name="Group 1" descr="&quot;Fahad&quot; belongs as the left child of &quot;Jayden&quot; because it's smaller than &quot;Jayden&quot;.">
            <a:extLst>
              <a:ext uri="{FF2B5EF4-FFF2-40B4-BE49-F238E27FC236}">
                <a16:creationId xmlns:a16="http://schemas.microsoft.com/office/drawing/2014/main" id="{BE7C09DB-E906-4FFE-7206-E698EFE11824}"/>
              </a:ext>
            </a:extLst>
          </p:cNvPr>
          <p:cNvGrpSpPr/>
          <p:nvPr/>
        </p:nvGrpSpPr>
        <p:grpSpPr>
          <a:xfrm>
            <a:off x="3236894" y="1752600"/>
            <a:ext cx="1834159" cy="1854286"/>
            <a:chOff x="3236894" y="1752600"/>
            <a:chExt cx="1834159" cy="1854286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4495800" y="1752600"/>
              <a:ext cx="0" cy="5334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3942603" y="2281535"/>
              <a:ext cx="1128450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Jayden</a:t>
              </a:r>
              <a:endParaRPr lang="en-US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H="1">
              <a:off x="3942603" y="2743200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4463512" y="2755414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3236894" y="3145221"/>
              <a:ext cx="996107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Fahad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62656532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13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grpSp>
        <p:nvGrpSpPr>
          <p:cNvPr id="2" name="Group 1" descr="The tree is now:&#10;Level 0: Jayden&#10;Level 1: Jayden's left child is Fahad">
            <a:extLst>
              <a:ext uri="{FF2B5EF4-FFF2-40B4-BE49-F238E27FC236}">
                <a16:creationId xmlns:a16="http://schemas.microsoft.com/office/drawing/2014/main" id="{00BF3877-A5DB-B82F-0CD1-72EDE330384C}"/>
              </a:ext>
            </a:extLst>
          </p:cNvPr>
          <p:cNvGrpSpPr/>
          <p:nvPr/>
        </p:nvGrpSpPr>
        <p:grpSpPr>
          <a:xfrm>
            <a:off x="3236894" y="1752600"/>
            <a:ext cx="1834159" cy="2244739"/>
            <a:chOff x="3236894" y="1752600"/>
            <a:chExt cx="1834159" cy="2244739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4495800" y="1752600"/>
              <a:ext cx="0" cy="5334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3942603" y="2281535"/>
              <a:ext cx="1128450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Jayden</a:t>
              </a:r>
              <a:endParaRPr lang="en-US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H="1">
              <a:off x="3942603" y="2743200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4463512" y="2755414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3236894" y="3145221"/>
              <a:ext cx="996107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Fahad</a:t>
              </a:r>
              <a:endParaRPr lang="en-US" dirty="0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3301582" y="3604125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822491" y="3616339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996099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14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grpSp>
        <p:nvGrpSpPr>
          <p:cNvPr id="2" name="Group 1" descr="&quot;Marvin&quot; is the next value to add.&#10;The tree is now:&#10;Level 0: Jayden&#10;Level 1: Jayden's left child is Fahad">
            <a:extLst>
              <a:ext uri="{FF2B5EF4-FFF2-40B4-BE49-F238E27FC236}">
                <a16:creationId xmlns:a16="http://schemas.microsoft.com/office/drawing/2014/main" id="{0326E32F-757E-41E5-FC7A-2661AB091766}"/>
              </a:ext>
            </a:extLst>
          </p:cNvPr>
          <p:cNvGrpSpPr/>
          <p:nvPr/>
        </p:nvGrpSpPr>
        <p:grpSpPr>
          <a:xfrm>
            <a:off x="3236894" y="1752600"/>
            <a:ext cx="3111269" cy="2244739"/>
            <a:chOff x="3236894" y="1752600"/>
            <a:chExt cx="3111269" cy="2244739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4495800" y="1752600"/>
              <a:ext cx="0" cy="5334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3942603" y="2281535"/>
              <a:ext cx="1128450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Jayden</a:t>
              </a:r>
              <a:endParaRPr lang="en-US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H="1">
              <a:off x="3942603" y="2743200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4463512" y="2755414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3236894" y="3145221"/>
              <a:ext cx="996107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Fahad</a:t>
              </a:r>
              <a:endParaRPr lang="en-US" dirty="0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3301582" y="3604125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822491" y="3616339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5257800" y="2281534"/>
              <a:ext cx="109036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Marvin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59485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15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grpSp>
        <p:nvGrpSpPr>
          <p:cNvPr id="2" name="Group 1" descr="Marvin belongs as the right child of Jayden.">
            <a:extLst>
              <a:ext uri="{FF2B5EF4-FFF2-40B4-BE49-F238E27FC236}">
                <a16:creationId xmlns:a16="http://schemas.microsoft.com/office/drawing/2014/main" id="{6879E0CF-371B-D99D-88BE-498324517FC4}"/>
              </a:ext>
            </a:extLst>
          </p:cNvPr>
          <p:cNvGrpSpPr/>
          <p:nvPr/>
        </p:nvGrpSpPr>
        <p:grpSpPr>
          <a:xfrm>
            <a:off x="3236894" y="1752600"/>
            <a:ext cx="2715150" cy="2244739"/>
            <a:chOff x="3236894" y="1752600"/>
            <a:chExt cx="2715150" cy="2244739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4495800" y="1752600"/>
              <a:ext cx="0" cy="5334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3942603" y="2281535"/>
              <a:ext cx="1128450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Jayden</a:t>
              </a:r>
              <a:endParaRPr lang="en-US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H="1">
              <a:off x="3942603" y="2743200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4463512" y="2755414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3236894" y="3145221"/>
              <a:ext cx="996107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Fahad</a:t>
              </a:r>
              <a:endParaRPr lang="en-US" dirty="0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3301582" y="3604125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822491" y="3616339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4861681" y="3155454"/>
              <a:ext cx="1090363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Marvin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1802578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16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grpSp>
        <p:nvGrpSpPr>
          <p:cNvPr id="2" name="Group 1" descr="&quot;April&quot; is the next value to add.&#10;The tree is now:&#10;Level 0: Jayden&#10;Level 1: Jayden's left child is Fahad and the right child is Marvin">
            <a:extLst>
              <a:ext uri="{FF2B5EF4-FFF2-40B4-BE49-F238E27FC236}">
                <a16:creationId xmlns:a16="http://schemas.microsoft.com/office/drawing/2014/main" id="{D5CC7016-39EE-337B-C18E-08B892C5C9E9}"/>
              </a:ext>
            </a:extLst>
          </p:cNvPr>
          <p:cNvGrpSpPr/>
          <p:nvPr/>
        </p:nvGrpSpPr>
        <p:grpSpPr>
          <a:xfrm>
            <a:off x="3236894" y="1752600"/>
            <a:ext cx="2811828" cy="2279678"/>
            <a:chOff x="3236894" y="1752600"/>
            <a:chExt cx="2811828" cy="2279678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4495800" y="1752600"/>
              <a:ext cx="0" cy="5334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3942603" y="2281535"/>
              <a:ext cx="1128450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Jayden</a:t>
              </a:r>
              <a:endParaRPr lang="en-US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H="1">
              <a:off x="3942603" y="2743200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4463512" y="2755414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3236894" y="3145221"/>
              <a:ext cx="996107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Fahad</a:t>
              </a:r>
              <a:endParaRPr lang="en-US" dirty="0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3301582" y="3604125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822491" y="3616339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4861681" y="3155454"/>
              <a:ext cx="1090363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Marvin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4788541" y="3639064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309450" y="3651278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5257800" y="2281534"/>
              <a:ext cx="79092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A</a:t>
              </a:r>
              <a:r>
                <a:rPr lang="en-US" altLang="en-US" dirty="0">
                  <a:solidFill>
                    <a:schemeClr val="tx1"/>
                  </a:solidFill>
                </a:rPr>
                <a:t>pril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05510064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17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grpSp>
        <p:nvGrpSpPr>
          <p:cNvPr id="2" name="Group 1" descr="&quot;April&quot; belongs left of Jayden since it's smaller than Jayden">
            <a:extLst>
              <a:ext uri="{FF2B5EF4-FFF2-40B4-BE49-F238E27FC236}">
                <a16:creationId xmlns:a16="http://schemas.microsoft.com/office/drawing/2014/main" id="{0CA0E7D7-22F1-25F1-5449-25FE7D987BF2}"/>
              </a:ext>
            </a:extLst>
          </p:cNvPr>
          <p:cNvGrpSpPr/>
          <p:nvPr/>
        </p:nvGrpSpPr>
        <p:grpSpPr>
          <a:xfrm>
            <a:off x="2457230" y="1752600"/>
            <a:ext cx="3494814" cy="2279678"/>
            <a:chOff x="2457230" y="1752600"/>
            <a:chExt cx="3494814" cy="2279678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4495800" y="1752600"/>
              <a:ext cx="0" cy="5334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3942603" y="2281535"/>
              <a:ext cx="1128450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Jayden</a:t>
              </a:r>
              <a:endParaRPr lang="en-US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H="1">
              <a:off x="3942603" y="2743200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4463512" y="2755414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3236894" y="3145221"/>
              <a:ext cx="996107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Fahad</a:t>
              </a:r>
              <a:endParaRPr lang="en-US" dirty="0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3301582" y="3604125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822491" y="3616339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4861681" y="3155454"/>
              <a:ext cx="1090363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Marvin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4788541" y="3639064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309450" y="3651278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2457230" y="3136414"/>
              <a:ext cx="79092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A</a:t>
              </a:r>
              <a:r>
                <a:rPr lang="en-US" altLang="en-US" dirty="0">
                  <a:solidFill>
                    <a:schemeClr val="tx1"/>
                  </a:solidFill>
                </a:rPr>
                <a:t>pril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96694905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18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grpSp>
        <p:nvGrpSpPr>
          <p:cNvPr id="2" name="Group 1" descr="April belongs left of Fahad since it's smaller than Fahad.">
            <a:extLst>
              <a:ext uri="{FF2B5EF4-FFF2-40B4-BE49-F238E27FC236}">
                <a16:creationId xmlns:a16="http://schemas.microsoft.com/office/drawing/2014/main" id="{BC09F3CB-D806-E58F-82DC-F953C7CD2389}"/>
              </a:ext>
            </a:extLst>
          </p:cNvPr>
          <p:cNvGrpSpPr/>
          <p:nvPr/>
        </p:nvGrpSpPr>
        <p:grpSpPr>
          <a:xfrm>
            <a:off x="2856441" y="1752600"/>
            <a:ext cx="3095603" cy="2691429"/>
            <a:chOff x="2856441" y="1752600"/>
            <a:chExt cx="3095603" cy="2691429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4495800" y="1752600"/>
              <a:ext cx="0" cy="5334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3942603" y="2281535"/>
              <a:ext cx="1128450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Jayden</a:t>
              </a:r>
              <a:endParaRPr lang="en-US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H="1">
              <a:off x="3942603" y="2743200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4463512" y="2755414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3236894" y="3145221"/>
              <a:ext cx="996107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Fahad</a:t>
              </a:r>
              <a:endParaRPr lang="en-US" dirty="0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3301582" y="3604125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822491" y="3616339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4861681" y="3155454"/>
              <a:ext cx="1090363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Marvin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4788541" y="3639064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309450" y="3651278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2856441" y="3982364"/>
              <a:ext cx="790922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A</a:t>
              </a:r>
              <a:r>
                <a:rPr lang="en-US" altLang="en-US" dirty="0">
                  <a:solidFill>
                    <a:schemeClr val="tx1"/>
                  </a:solidFill>
                </a:rPr>
                <a:t>pril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80219216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/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sp>
        <p:nvSpPr>
          <p:cNvPr id="51202" name="Slide Number Placeholder 3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1pPr>
            <a:lvl2pPr marL="742950" indent="-28575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2pPr>
            <a:lvl3pPr marL="11430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3pPr>
            <a:lvl4pPr marL="16002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4pPr>
            <a:lvl5pPr marL="2057400" indent="-228600"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00"/>
                </a:solidFill>
                <a:latin typeface="Times New Roman" charset="0"/>
                <a:ea typeface="ヒラギノ明朝 ProN W3" charset="-128"/>
                <a:sym typeface="Times New Roman" charset="0"/>
              </a:defRPr>
            </a:lvl9pPr>
          </a:lstStyle>
          <a:p>
            <a:pPr>
              <a:lnSpc>
                <a:spcPct val="80000"/>
              </a:lnSpc>
            </a:pPr>
            <a:fld id="{4E621424-F6BA-4946-A00C-6394B07655A9}" type="slidenum">
              <a:rPr lang="en-US" altLang="en-US" sz="1200">
                <a:solidFill>
                  <a:srgbClr val="FFFFFF"/>
                </a:solidFill>
              </a:rPr>
              <a:pPr>
                <a:lnSpc>
                  <a:spcPct val="80000"/>
                </a:lnSpc>
              </a:pPr>
              <a:t>19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grpSp>
        <p:nvGrpSpPr>
          <p:cNvPr id="2" name="Group 1" descr="The tree is now:&#10;Level 0: Jayden&#10;Level 1: Jayden's left child is Fahad and the right child is Marvin&#10;Level 2: Fahad's left child is April">
            <a:extLst>
              <a:ext uri="{FF2B5EF4-FFF2-40B4-BE49-F238E27FC236}">
                <a16:creationId xmlns:a16="http://schemas.microsoft.com/office/drawing/2014/main" id="{9EDFB90A-16B9-C3A0-B60A-6D63AF62F4EC}"/>
              </a:ext>
            </a:extLst>
          </p:cNvPr>
          <p:cNvGrpSpPr/>
          <p:nvPr/>
        </p:nvGrpSpPr>
        <p:grpSpPr>
          <a:xfrm>
            <a:off x="2856441" y="1752600"/>
            <a:ext cx="3095603" cy="2691429"/>
            <a:chOff x="2856441" y="1752600"/>
            <a:chExt cx="3095603" cy="2691429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4495800" y="1752600"/>
              <a:ext cx="0" cy="5334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3942603" y="2281535"/>
              <a:ext cx="1128450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Jayden</a:t>
              </a:r>
              <a:endParaRPr lang="en-US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H="1">
              <a:off x="3942603" y="2743200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4463512" y="2755414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3236894" y="3145221"/>
              <a:ext cx="996107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Fahad</a:t>
              </a:r>
              <a:endParaRPr lang="en-US" dirty="0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3301582" y="3604125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>
              <a:off x="3822491" y="3616339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4861681" y="3155454"/>
              <a:ext cx="1090363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Marvin</a:t>
              </a:r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4788541" y="3639064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309450" y="3651278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2856441" y="3982364"/>
              <a:ext cx="790922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A</a:t>
              </a:r>
              <a:r>
                <a:rPr lang="en-US" altLang="en-US" dirty="0">
                  <a:solidFill>
                    <a:schemeClr val="tx1"/>
                  </a:solidFill>
                </a:rPr>
                <a:t>pril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4497647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143000"/>
          </a:xfrm>
        </p:spPr>
        <p:txBody>
          <a:bodyPr rIns="132080"/>
          <a:lstStyle/>
          <a:p>
            <a:pPr eaLnBrk="1" hangingPunct="1"/>
            <a:r>
              <a:rPr lang="en-US" altLang="en-US" sz="3200">
                <a:solidFill>
                  <a:srgbClr val="800000"/>
                </a:solidFill>
                <a:ea typeface="MS PGothic" charset="-128"/>
              </a:rPr>
              <a:t>Building a BST</a:t>
            </a:r>
          </a:p>
        </p:txBody>
      </p:sp>
      <p:grpSp>
        <p:nvGrpSpPr>
          <p:cNvPr id="2" name="Group 1" descr="The tree is now:&#10;Level 0: Jayden&#10;Level 1: Jayden's left child is Fahad and the right child is Marvin&#10;Level 2: Fahad's left child is April, march's left child is June and the right child is Marvin&#10;Level 3: April's right child is Carlos, June's left child is Julio, and Marvin's right child is Syed&#10;Level 4: Syed's left child is Paolo&#10;Level 5: Paolo's left child is Naomi">
            <a:extLst>
              <a:ext uri="{FF2B5EF4-FFF2-40B4-BE49-F238E27FC236}">
                <a16:creationId xmlns:a16="http://schemas.microsoft.com/office/drawing/2014/main" id="{FDCF5183-6D2E-C5F9-F91D-67CEF67475A7}"/>
              </a:ext>
            </a:extLst>
          </p:cNvPr>
          <p:cNvGrpSpPr/>
          <p:nvPr/>
        </p:nvGrpSpPr>
        <p:grpSpPr>
          <a:xfrm>
            <a:off x="2856441" y="1295400"/>
            <a:ext cx="4382559" cy="5098012"/>
            <a:chOff x="2856441" y="1295400"/>
            <a:chExt cx="4382559" cy="5098012"/>
          </a:xfrm>
        </p:grpSpPr>
        <p:cxnSp>
          <p:nvCxnSpPr>
            <p:cNvPr id="11" name="Straight Arrow Connector 10"/>
            <p:cNvCxnSpPr/>
            <p:nvPr/>
          </p:nvCxnSpPr>
          <p:spPr>
            <a:xfrm>
              <a:off x="4495800" y="1295400"/>
              <a:ext cx="0" cy="5334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/>
            <p:cNvSpPr/>
            <p:nvPr/>
          </p:nvSpPr>
          <p:spPr>
            <a:xfrm>
              <a:off x="3942603" y="1824335"/>
              <a:ext cx="1128450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Jayden</a:t>
              </a:r>
              <a:endParaRPr lang="en-US" dirty="0"/>
            </a:p>
          </p:txBody>
        </p:sp>
        <p:cxnSp>
          <p:nvCxnSpPr>
            <p:cNvPr id="6" name="Straight Arrow Connector 5"/>
            <p:cNvCxnSpPr/>
            <p:nvPr/>
          </p:nvCxnSpPr>
          <p:spPr>
            <a:xfrm flipH="1">
              <a:off x="3942603" y="2286000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4463512" y="2298214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/>
            <p:cNvSpPr/>
            <p:nvPr/>
          </p:nvSpPr>
          <p:spPr>
            <a:xfrm>
              <a:off x="3236894" y="2688021"/>
              <a:ext cx="996107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Fahad</a:t>
              </a:r>
              <a:endParaRPr lang="en-US" dirty="0"/>
            </a:p>
          </p:txBody>
        </p:sp>
        <p:cxnSp>
          <p:nvCxnSpPr>
            <p:cNvPr id="10" name="Straight Arrow Connector 9"/>
            <p:cNvCxnSpPr/>
            <p:nvPr/>
          </p:nvCxnSpPr>
          <p:spPr>
            <a:xfrm flipH="1">
              <a:off x="3301582" y="3146925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4861681" y="2698254"/>
              <a:ext cx="952505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march</a:t>
              </a:r>
              <a:endParaRPr lang="en-US" dirty="0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 flipH="1">
              <a:off x="4788541" y="3181864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309450" y="3194078"/>
              <a:ext cx="520909" cy="38100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ectangle 17"/>
            <p:cNvSpPr/>
            <p:nvPr/>
          </p:nvSpPr>
          <p:spPr>
            <a:xfrm>
              <a:off x="2856441" y="3525164"/>
              <a:ext cx="790922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A</a:t>
              </a:r>
              <a:r>
                <a:rPr lang="en-US" altLang="en-US" dirty="0">
                  <a:solidFill>
                    <a:schemeClr val="tx1"/>
                  </a:solidFill>
                </a:rPr>
                <a:t>pril</a:t>
              </a:r>
              <a:endParaRPr lang="en-US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569904" y="3580334"/>
              <a:ext cx="1090363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Marvin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4468767" y="3586512"/>
              <a:ext cx="817853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/>
                <a:t>J</a:t>
              </a:r>
              <a:r>
                <a:rPr lang="en-US" altLang="en-US" dirty="0">
                  <a:solidFill>
                    <a:schemeClr val="tx1"/>
                  </a:solidFill>
                </a:rPr>
                <a:t>une</a:t>
              </a:r>
              <a:endParaRPr lang="en-US" dirty="0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4057415" y="4444677"/>
              <a:ext cx="792525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Julio</a:t>
              </a:r>
              <a:endParaRPr lang="en-US" dirty="0"/>
            </a:p>
          </p:txBody>
        </p:sp>
        <p:cxnSp>
          <p:nvCxnSpPr>
            <p:cNvPr id="21" name="Straight Arrow Connector 20"/>
            <p:cNvCxnSpPr>
              <a:endCxn id="20" idx="0"/>
            </p:cNvCxnSpPr>
            <p:nvPr/>
          </p:nvCxnSpPr>
          <p:spPr>
            <a:xfrm flipH="1">
              <a:off x="4453678" y="4055927"/>
              <a:ext cx="391233" cy="388750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1"/>
            <p:cNvSpPr/>
            <p:nvPr/>
          </p:nvSpPr>
          <p:spPr>
            <a:xfrm>
              <a:off x="2945775" y="4442953"/>
              <a:ext cx="1016625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Carlos</a:t>
              </a:r>
              <a:endParaRPr lang="en-US" dirty="0"/>
            </a:p>
          </p:txBody>
        </p:sp>
        <p:cxnSp>
          <p:nvCxnSpPr>
            <p:cNvPr id="23" name="Straight Arrow Connector 22"/>
            <p:cNvCxnSpPr>
              <a:endCxn id="22" idx="0"/>
            </p:cNvCxnSpPr>
            <p:nvPr/>
          </p:nvCxnSpPr>
          <p:spPr>
            <a:xfrm>
              <a:off x="3321033" y="3984049"/>
              <a:ext cx="133055" cy="458904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6403900" y="4442953"/>
              <a:ext cx="835100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Syed</a:t>
              </a:r>
              <a:endParaRPr lang="en-US" dirty="0"/>
            </a:p>
          </p:txBody>
        </p:sp>
        <p:cxnSp>
          <p:nvCxnSpPr>
            <p:cNvPr id="25" name="Straight Arrow Connector 24"/>
            <p:cNvCxnSpPr/>
            <p:nvPr/>
          </p:nvCxnSpPr>
          <p:spPr>
            <a:xfrm>
              <a:off x="6114988" y="4055927"/>
              <a:ext cx="614610" cy="387026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ectangle 25"/>
            <p:cNvSpPr/>
            <p:nvPr/>
          </p:nvSpPr>
          <p:spPr>
            <a:xfrm>
              <a:off x="5792208" y="5285970"/>
              <a:ext cx="913392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Paolo</a:t>
              </a:r>
              <a:endParaRPr lang="en-US" dirty="0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 flipH="1">
              <a:off x="5792208" y="5769421"/>
              <a:ext cx="267774" cy="185826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5201318" y="5931747"/>
              <a:ext cx="1047082" cy="461665"/>
            </a:xfrm>
            <a:prstGeom prst="rect">
              <a:avLst/>
            </a:prstGeom>
            <a:ln>
              <a:solidFill>
                <a:schemeClr val="accent2"/>
              </a:solidFill>
            </a:ln>
          </p:spPr>
          <p:txBody>
            <a:bodyPr wrap="none">
              <a:spAutoFit/>
            </a:bodyPr>
            <a:lstStyle/>
            <a:p>
              <a:r>
                <a:rPr lang="en-US" altLang="en-US" dirty="0">
                  <a:solidFill>
                    <a:schemeClr val="tx1"/>
                  </a:solidFill>
                </a:rPr>
                <a:t>Naomi</a:t>
              </a:r>
              <a:endParaRPr lang="en-US" dirty="0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flipH="1">
              <a:off x="6324600" y="4904618"/>
              <a:ext cx="346071" cy="398041"/>
            </a:xfrm>
            <a:prstGeom prst="straightConnector1">
              <a:avLst/>
            </a:prstGeom>
            <a:ln w="25400">
              <a:solidFill>
                <a:schemeClr val="accent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1251374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7C144-CA8A-BF9A-C4F4-87884EFC6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8575"/>
            <a:ext cx="7772400" cy="1143000"/>
          </a:xfrm>
        </p:spPr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ptos Black" panose="020B0004020202020204" pitchFamily="34" charset="0"/>
              </a:rPr>
              <a:t>Add Method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C526F-31D5-74B7-2AF9-57058313B1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172200" y="6248400"/>
            <a:ext cx="2895600" cy="457200"/>
          </a:xfrm>
        </p:spPr>
        <p:txBody>
          <a:bodyPr/>
          <a:lstStyle/>
          <a:p>
            <a:pPr>
              <a:defRPr/>
            </a:pPr>
            <a:endParaRPr lang="en-US" b="1" dirty="0">
              <a:latin typeface="+mn-lt"/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r>
              <a:rPr lang="en-US" b="1" dirty="0"/>
              <a:t>© A+ Computer Science  -  www.apluscompsci.com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1B947-EEB3-F69A-E7AE-8091FAD6C3DE}"/>
              </a:ext>
            </a:extLst>
          </p:cNvPr>
          <p:cNvSpPr txBox="1"/>
          <p:nvPr/>
        </p:nvSpPr>
        <p:spPr>
          <a:xfrm>
            <a:off x="381000" y="1143000"/>
            <a:ext cx="84582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ourier New" panose="02070309020205020404" pitchFamily="49" charset="0"/>
              </a:rPr>
              <a:t>public void add(Comparable </a:t>
            </a:r>
            <a:r>
              <a:rPr lang="en-US" sz="2800" b="1" dirty="0" err="1">
                <a:latin typeface="Courier New" panose="02070309020205020404" pitchFamily="49" charset="0"/>
              </a:rPr>
              <a:t>val</a:t>
            </a:r>
            <a:r>
              <a:rPr lang="en-US" sz="2800" b="1" dirty="0">
                <a:latin typeface="Courier New" panose="02070309020205020404" pitchFamily="49" charset="0"/>
              </a:rPr>
              <a:t>)</a:t>
            </a:r>
            <a:br>
              <a:rPr lang="en-US" sz="2800" b="1" dirty="0">
                <a:latin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</a:rPr>
              <a:t>{</a:t>
            </a:r>
            <a:br>
              <a:rPr lang="en-US" sz="2800" b="1" dirty="0">
                <a:latin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</a:rPr>
              <a:t>   root = add(</a:t>
            </a:r>
            <a:r>
              <a:rPr lang="en-US" sz="2800" b="1" dirty="0" err="1">
                <a:latin typeface="Courier New" panose="02070309020205020404" pitchFamily="49" charset="0"/>
              </a:rPr>
              <a:t>val</a:t>
            </a:r>
            <a:r>
              <a:rPr lang="en-US" sz="2800" b="1" dirty="0">
                <a:latin typeface="Courier New" panose="02070309020205020404" pitchFamily="49" charset="0"/>
              </a:rPr>
              <a:t>, root);</a:t>
            </a:r>
            <a:br>
              <a:rPr lang="en-US" sz="2800" b="1" dirty="0">
                <a:latin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</a:rPr>
              <a:t>}</a:t>
            </a:r>
            <a:br>
              <a:rPr lang="en-US" sz="2800" b="1" dirty="0">
                <a:latin typeface="Courier New" panose="02070309020205020404" pitchFamily="49" charset="0"/>
              </a:rPr>
            </a:br>
            <a:br>
              <a:rPr lang="en-US" sz="2800" b="1" dirty="0">
                <a:latin typeface="Courier New" panose="02070309020205020404" pitchFamily="49" charset="0"/>
              </a:rPr>
            </a:br>
            <a:r>
              <a:rPr lang="en-US" sz="2800" b="1" dirty="0">
                <a:latin typeface="Courier New" panose="02070309020205020404" pitchFamily="49" charset="0"/>
              </a:rPr>
              <a:t>private </a:t>
            </a:r>
            <a:r>
              <a:rPr lang="en-US" sz="2800" b="1" dirty="0" err="1">
                <a:latin typeface="Courier New" panose="02070309020205020404" pitchFamily="49" charset="0"/>
              </a:rPr>
              <a:t>TreeNode</a:t>
            </a:r>
            <a:r>
              <a:rPr lang="en-US" sz="2800" b="1" dirty="0">
                <a:latin typeface="Courier New" panose="02070309020205020404" pitchFamily="49" charset="0"/>
              </a:rPr>
              <a:t> add(Comparable </a:t>
            </a:r>
            <a:r>
              <a:rPr lang="en-US" sz="2800" b="1" dirty="0" err="1">
                <a:latin typeface="Courier New" panose="02070309020205020404" pitchFamily="49" charset="0"/>
              </a:rPr>
              <a:t>val</a:t>
            </a:r>
            <a:r>
              <a:rPr lang="en-US" sz="2800" b="1" dirty="0">
                <a:latin typeface="Courier New" panose="02070309020205020404" pitchFamily="49" charset="0"/>
              </a:rPr>
              <a:t>, </a:t>
            </a:r>
          </a:p>
          <a:p>
            <a:r>
              <a:rPr lang="en-US" sz="2800" b="1" dirty="0">
                <a:latin typeface="Courier New" panose="02070309020205020404" pitchFamily="49" charset="0"/>
              </a:rPr>
              <a:t>                     </a:t>
            </a:r>
            <a:r>
              <a:rPr lang="en-US" sz="2800" b="1" dirty="0" err="1">
                <a:latin typeface="Courier New" panose="02070309020205020404" pitchFamily="49" charset="0"/>
              </a:rPr>
              <a:t>TreeNode</a:t>
            </a:r>
            <a:r>
              <a:rPr lang="en-US" sz="2800" b="1" dirty="0">
                <a:latin typeface="Courier New" panose="02070309020205020404" pitchFamily="49" charset="0"/>
              </a:rPr>
              <a:t> tree) {</a:t>
            </a:r>
          </a:p>
          <a:p>
            <a:endParaRPr lang="en-US" sz="2800" b="1" dirty="0">
              <a:latin typeface="Courier New" panose="02070309020205020404" pitchFamily="49" charset="0"/>
            </a:endParaRPr>
          </a:p>
          <a:p>
            <a:endParaRPr lang="en-US" sz="2800" b="1" dirty="0">
              <a:latin typeface="Courier New" panose="02070309020205020404" pitchFamily="49" charset="0"/>
            </a:endParaRPr>
          </a:p>
          <a:p>
            <a:endParaRPr lang="en-US" sz="2800" b="1" dirty="0">
              <a:latin typeface="Courier New" panose="02070309020205020404" pitchFamily="49" charset="0"/>
            </a:endParaRPr>
          </a:p>
          <a:p>
            <a:endParaRPr lang="en-US" sz="2800" b="1" dirty="0">
              <a:latin typeface="Courier New" panose="02070309020205020404" pitchFamily="49" charset="0"/>
            </a:endParaRPr>
          </a:p>
          <a:p>
            <a:r>
              <a:rPr lang="en-US" sz="2800" b="1" dirty="0">
                <a:latin typeface="Courier New" panose="02070309020205020404" pitchFamily="49" charset="0"/>
              </a:rPr>
              <a:t>}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355266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7C144-CA8A-BF9A-C4F4-87884EFC6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8575"/>
            <a:ext cx="7772400" cy="1143000"/>
          </a:xfrm>
        </p:spPr>
        <p:txBody>
          <a:bodyPr/>
          <a:lstStyle/>
          <a:p>
            <a:r>
              <a:rPr lang="en-US" sz="3600" b="1" dirty="0">
                <a:solidFill>
                  <a:srgbClr val="0070C0"/>
                </a:solidFill>
                <a:latin typeface="Aptos Black" panose="020B0004020202020204" pitchFamily="34" charset="0"/>
              </a:rPr>
              <a:t>Add Method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C526F-31D5-74B7-2AF9-57058313B1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6088856" y="6248400"/>
            <a:ext cx="2895600" cy="457200"/>
          </a:xfrm>
        </p:spPr>
        <p:txBody>
          <a:bodyPr/>
          <a:lstStyle/>
          <a:p>
            <a:pPr>
              <a:defRPr/>
            </a:pPr>
            <a:endParaRPr lang="en-US" b="1" dirty="0">
              <a:latin typeface="+mn-lt"/>
            </a:endParaRP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b="1" dirty="0"/>
          </a:p>
          <a:p>
            <a:pPr>
              <a:defRPr/>
            </a:pPr>
            <a:r>
              <a:rPr lang="en-US" b="1" dirty="0"/>
              <a:t>© A+ Computer Science  -  www.apluscompsci.com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1B947-EEB3-F69A-E7AE-8091FAD6C3DE}"/>
              </a:ext>
            </a:extLst>
          </p:cNvPr>
          <p:cNvSpPr txBox="1"/>
          <p:nvPr/>
        </p:nvSpPr>
        <p:spPr>
          <a:xfrm>
            <a:off x="159544" y="1078051"/>
            <a:ext cx="89916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</a:rPr>
              <a:t>private </a:t>
            </a:r>
            <a:r>
              <a:rPr lang="en-US" b="1" dirty="0" err="1">
                <a:latin typeface="Courier New" panose="02070309020205020404" pitchFamily="49" charset="0"/>
              </a:rPr>
              <a:t>TreeNode</a:t>
            </a:r>
            <a:r>
              <a:rPr lang="en-US" b="1" dirty="0">
                <a:latin typeface="Courier New" panose="02070309020205020404" pitchFamily="49" charset="0"/>
              </a:rPr>
              <a:t> add(Comparable </a:t>
            </a:r>
            <a:r>
              <a:rPr lang="en-US" b="1" dirty="0" err="1">
                <a:latin typeface="Courier New" panose="02070309020205020404" pitchFamily="49" charset="0"/>
              </a:rPr>
              <a:t>val</a:t>
            </a:r>
            <a:r>
              <a:rPr lang="en-US" b="1" dirty="0">
                <a:latin typeface="Courier New" panose="02070309020205020404" pitchFamily="49" charset="0"/>
              </a:rPr>
              <a:t>, </a:t>
            </a:r>
          </a:p>
          <a:p>
            <a:r>
              <a:rPr lang="en-US" b="1" dirty="0">
                <a:latin typeface="Courier New" panose="02070309020205020404" pitchFamily="49" charset="0"/>
              </a:rPr>
              <a:t>                     </a:t>
            </a:r>
            <a:r>
              <a:rPr lang="en-US" b="1" dirty="0" err="1">
                <a:latin typeface="Courier New" panose="02070309020205020404" pitchFamily="49" charset="0"/>
              </a:rPr>
              <a:t>TreeNode</a:t>
            </a:r>
            <a:r>
              <a:rPr lang="en-US" b="1" dirty="0">
                <a:latin typeface="Courier New" panose="02070309020205020404" pitchFamily="49" charset="0"/>
              </a:rPr>
              <a:t> tree){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if(tree == null)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   return new </a:t>
            </a:r>
            <a:r>
              <a:rPr lang="en-US" b="1" dirty="0" err="1">
                <a:latin typeface="Courier New" panose="02070309020205020404" pitchFamily="49" charset="0"/>
              </a:rPr>
              <a:t>TreeNode</a:t>
            </a:r>
            <a:r>
              <a:rPr lang="en-US" b="1" dirty="0">
                <a:latin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</a:rPr>
              <a:t>val</a:t>
            </a:r>
            <a:r>
              <a:rPr lang="en-US" b="1" dirty="0">
                <a:latin typeface="Courier New" panose="02070309020205020404" pitchFamily="49" charset="0"/>
              </a:rPr>
              <a:t>);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   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Comparable </a:t>
            </a:r>
            <a:r>
              <a:rPr lang="en-US" b="1" dirty="0" err="1">
                <a:latin typeface="Courier New" panose="02070309020205020404" pitchFamily="49" charset="0"/>
              </a:rPr>
              <a:t>treeValue</a:t>
            </a:r>
            <a:r>
              <a:rPr lang="en-US" b="1" dirty="0">
                <a:latin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</a:rPr>
              <a:t>tree.getValue</a:t>
            </a:r>
            <a:r>
              <a:rPr lang="en-US" b="1" dirty="0">
                <a:latin typeface="Courier New" panose="02070309020205020404" pitchFamily="49" charset="0"/>
              </a:rPr>
              <a:t>();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int </a:t>
            </a:r>
            <a:r>
              <a:rPr lang="en-US" b="1" dirty="0" err="1">
                <a:latin typeface="Courier New" panose="02070309020205020404" pitchFamily="49" charset="0"/>
              </a:rPr>
              <a:t>dirTest</a:t>
            </a:r>
            <a:r>
              <a:rPr lang="en-US" b="1" dirty="0">
                <a:latin typeface="Courier New" panose="02070309020205020404" pitchFamily="49" charset="0"/>
              </a:rPr>
              <a:t> = </a:t>
            </a:r>
            <a:r>
              <a:rPr lang="en-US" b="1" dirty="0" err="1">
                <a:latin typeface="Courier New" panose="02070309020205020404" pitchFamily="49" charset="0"/>
              </a:rPr>
              <a:t>val.compareTo</a:t>
            </a:r>
            <a:r>
              <a:rPr lang="en-US" b="1" dirty="0">
                <a:latin typeface="Courier New" panose="02070309020205020404" pitchFamily="49" charset="0"/>
              </a:rPr>
              <a:t>(</a:t>
            </a:r>
            <a:r>
              <a:rPr lang="en-US" b="1" dirty="0" err="1">
                <a:latin typeface="Courier New" panose="02070309020205020404" pitchFamily="49" charset="0"/>
              </a:rPr>
              <a:t>treeValue</a:t>
            </a:r>
            <a:r>
              <a:rPr lang="en-US" b="1" dirty="0">
                <a:latin typeface="Courier New" panose="02070309020205020404" pitchFamily="49" charset="0"/>
              </a:rPr>
              <a:t>);      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   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if(</a:t>
            </a:r>
            <a:r>
              <a:rPr lang="en-US" b="1" dirty="0" err="1">
                <a:latin typeface="Courier New" panose="02070309020205020404" pitchFamily="49" charset="0"/>
              </a:rPr>
              <a:t>dirTest</a:t>
            </a:r>
            <a:r>
              <a:rPr lang="en-US" b="1" dirty="0">
                <a:latin typeface="Courier New" panose="02070309020205020404" pitchFamily="49" charset="0"/>
              </a:rPr>
              <a:t> &lt; 0)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   </a:t>
            </a:r>
            <a:r>
              <a:rPr lang="en-US" b="1" dirty="0" err="1">
                <a:latin typeface="Courier New" panose="02070309020205020404" pitchFamily="49" charset="0"/>
              </a:rPr>
              <a:t>tree.setLeft</a:t>
            </a:r>
            <a:r>
              <a:rPr lang="en-US" b="1" dirty="0">
                <a:latin typeface="Courier New" panose="02070309020205020404" pitchFamily="49" charset="0"/>
              </a:rPr>
              <a:t>(add(</a:t>
            </a:r>
            <a:r>
              <a:rPr lang="en-US" b="1" dirty="0" err="1">
                <a:latin typeface="Courier New" panose="02070309020205020404" pitchFamily="49" charset="0"/>
              </a:rPr>
              <a:t>val</a:t>
            </a:r>
            <a:r>
              <a:rPr lang="en-US" b="1" dirty="0">
                <a:latin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</a:rPr>
              <a:t>tree.getLeft</a:t>
            </a:r>
            <a:r>
              <a:rPr lang="en-US" b="1" dirty="0">
                <a:latin typeface="Courier New" panose="02070309020205020404" pitchFamily="49" charset="0"/>
              </a:rPr>
              <a:t>()));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else if(</a:t>
            </a:r>
            <a:r>
              <a:rPr lang="en-US" b="1" dirty="0" err="1">
                <a:latin typeface="Courier New" panose="02070309020205020404" pitchFamily="49" charset="0"/>
              </a:rPr>
              <a:t>dirTest</a:t>
            </a:r>
            <a:r>
              <a:rPr lang="en-US" b="1" dirty="0">
                <a:latin typeface="Courier New" panose="02070309020205020404" pitchFamily="49" charset="0"/>
              </a:rPr>
              <a:t> &gt; 0)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   </a:t>
            </a:r>
            <a:r>
              <a:rPr lang="en-US" b="1" dirty="0" err="1">
                <a:latin typeface="Courier New" panose="02070309020205020404" pitchFamily="49" charset="0"/>
              </a:rPr>
              <a:t>tree.setRight</a:t>
            </a:r>
            <a:r>
              <a:rPr lang="en-US" b="1" dirty="0">
                <a:latin typeface="Courier New" panose="02070309020205020404" pitchFamily="49" charset="0"/>
              </a:rPr>
              <a:t>(add(</a:t>
            </a:r>
            <a:r>
              <a:rPr lang="en-US" b="1" dirty="0" err="1">
                <a:latin typeface="Courier New" panose="02070309020205020404" pitchFamily="49" charset="0"/>
              </a:rPr>
              <a:t>val</a:t>
            </a:r>
            <a:r>
              <a:rPr lang="en-US" b="1" dirty="0">
                <a:latin typeface="Courier New" panose="02070309020205020404" pitchFamily="49" charset="0"/>
              </a:rPr>
              <a:t>, </a:t>
            </a:r>
            <a:r>
              <a:rPr lang="en-US" b="1" dirty="0" err="1">
                <a:latin typeface="Courier New" panose="02070309020205020404" pitchFamily="49" charset="0"/>
              </a:rPr>
              <a:t>tree.getRight</a:t>
            </a:r>
            <a:r>
              <a:rPr lang="en-US" b="1" dirty="0">
                <a:latin typeface="Courier New" panose="02070309020205020404" pitchFamily="49" charset="0"/>
              </a:rPr>
              <a:t>()));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   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   return tree;</a:t>
            </a:r>
            <a:br>
              <a:rPr lang="en-US" b="1" dirty="0">
                <a:latin typeface="Courier New" panose="02070309020205020404" pitchFamily="49" charset="0"/>
              </a:rPr>
            </a:br>
            <a:r>
              <a:rPr lang="en-US" b="1" dirty="0">
                <a:latin typeface="Courier New" panose="02070309020205020404" pitchFamily="49" charset="0"/>
              </a:rPr>
              <a:t>}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6428199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en-US" sz="800" b="1">
              <a:latin typeface="Times New Roman" pitchFamily="18" charset="0"/>
            </a:endParaRPr>
          </a:p>
          <a:p>
            <a:endParaRPr lang="en-US" sz="800"/>
          </a:p>
          <a:p>
            <a:endParaRPr lang="en-US" sz="800" b="1"/>
          </a:p>
          <a:p>
            <a:r>
              <a:rPr lang="en-US" sz="800" b="1"/>
              <a:t>© A+ Computer Science  -  www.apluscompsci.com</a:t>
            </a:r>
          </a:p>
        </p:txBody>
      </p:sp>
      <p:sp>
        <p:nvSpPr>
          <p:cNvPr id="59395" name="WordArt 2"/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/>
              </a:rPr>
              <a:t>BigO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WordArt 2"/>
          <p:cNvSpPr>
            <a:spLocks noChangeArrowheads="1" noChangeShapeType="1" noTextEdit="1"/>
          </p:cNvSpPr>
          <p:nvPr/>
        </p:nvSpPr>
        <p:spPr bwMode="auto">
          <a:xfrm>
            <a:off x="3048000" y="299013"/>
            <a:ext cx="2819400" cy="3925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/>
              </a:rPr>
              <a:t>BST Big O</a:t>
            </a:r>
          </a:p>
        </p:txBody>
      </p:sp>
      <p:sp>
        <p:nvSpPr>
          <p:cNvPr id="61444" name="Text Box 3"/>
          <p:cNvSpPr txBox="1">
            <a:spLocks noChangeArrowheads="1"/>
          </p:cNvSpPr>
          <p:nvPr/>
        </p:nvSpPr>
        <p:spPr bwMode="auto">
          <a:xfrm>
            <a:off x="1676400" y="1005733"/>
            <a:ext cx="6629400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/>
              <a:t>traverse all nodes			O(N)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/>
              <a:t>search for an item		O(log</a:t>
            </a:r>
            <a:r>
              <a:rPr lang="en-US" b="1" baseline="-25000" dirty="0"/>
              <a:t>2</a:t>
            </a:r>
            <a:r>
              <a:rPr lang="en-US" b="1" dirty="0"/>
              <a:t>N)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/>
              <a:t>remove any item			O(log</a:t>
            </a:r>
            <a:r>
              <a:rPr lang="en-US" b="1" baseline="-25000" dirty="0"/>
              <a:t>2</a:t>
            </a:r>
            <a:r>
              <a:rPr lang="en-US" b="1" dirty="0"/>
              <a:t>N)	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/>
              <a:t>add item 				O(log</a:t>
            </a:r>
            <a:r>
              <a:rPr lang="en-US" b="1" baseline="-25000" dirty="0"/>
              <a:t>2</a:t>
            </a:r>
            <a:r>
              <a:rPr lang="en-US" b="1" dirty="0"/>
              <a:t>N)	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F90D87-6A03-45B0-8241-9FE85F02A701}"/>
              </a:ext>
            </a:extLst>
          </p:cNvPr>
          <p:cNvGrpSpPr/>
          <p:nvPr/>
        </p:nvGrpSpPr>
        <p:grpSpPr>
          <a:xfrm>
            <a:off x="5129555" y="4803858"/>
            <a:ext cx="2577319" cy="456448"/>
            <a:chOff x="3429000" y="2286000"/>
            <a:chExt cx="3276600" cy="58029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A646419-5946-4AC8-BC41-B6749F31F816}"/>
                </a:ext>
              </a:extLst>
            </p:cNvPr>
            <p:cNvSpPr/>
            <p:nvPr/>
          </p:nvSpPr>
          <p:spPr bwMode="auto">
            <a:xfrm>
              <a:off x="3429000" y="2286000"/>
              <a:ext cx="533400" cy="4572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178CE3-82DA-4989-B803-4FF8C7A55E24}"/>
                </a:ext>
              </a:extLst>
            </p:cNvPr>
            <p:cNvSpPr/>
            <p:nvPr/>
          </p:nvSpPr>
          <p:spPr bwMode="auto">
            <a:xfrm>
              <a:off x="6172200" y="2409092"/>
              <a:ext cx="533400" cy="4572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C6BDC91-D472-4ED7-AEF9-2B6E7C331E07}"/>
              </a:ext>
            </a:extLst>
          </p:cNvPr>
          <p:cNvSpPr txBox="1"/>
          <p:nvPr/>
        </p:nvSpPr>
        <p:spPr>
          <a:xfrm>
            <a:off x="228600" y="4064830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800" b="1" u="sng" dirty="0">
                <a:solidFill>
                  <a:schemeClr val="accent2"/>
                </a:solidFill>
              </a:rPr>
              <a:t>Average case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sz="2800" b="1" dirty="0">
                <a:solidFill>
                  <a:schemeClr val="accent2"/>
                </a:solidFill>
              </a:rPr>
              <a:t>these results assume the tree is balanced or nearly balanced.</a:t>
            </a:r>
            <a:endParaRPr lang="en-US" sz="2800" b="1" dirty="0"/>
          </a:p>
        </p:txBody>
      </p:sp>
      <p:grpSp>
        <p:nvGrpSpPr>
          <p:cNvPr id="3" name="Group 2" descr="A balanced binary tree with equal numbers of nodes in the left and right subtrees.">
            <a:extLst>
              <a:ext uri="{FF2B5EF4-FFF2-40B4-BE49-F238E27FC236}">
                <a16:creationId xmlns:a16="http://schemas.microsoft.com/office/drawing/2014/main" id="{9C1F77BB-43E6-4F74-B088-136DEE363027}"/>
              </a:ext>
            </a:extLst>
          </p:cNvPr>
          <p:cNvGrpSpPr/>
          <p:nvPr/>
        </p:nvGrpSpPr>
        <p:grpSpPr>
          <a:xfrm>
            <a:off x="4953000" y="3787300"/>
            <a:ext cx="3810000" cy="2946012"/>
            <a:chOff x="4953000" y="3787300"/>
            <a:chExt cx="3810000" cy="2946012"/>
          </a:xfrm>
        </p:grpSpPr>
        <p:pic>
          <p:nvPicPr>
            <p:cNvPr id="14" name="Picture 2">
              <a:extLst>
                <a:ext uri="{FF2B5EF4-FFF2-40B4-BE49-F238E27FC236}">
                  <a16:creationId xmlns:a16="http://schemas.microsoft.com/office/drawing/2014/main" id="{38A18019-3557-4850-952A-38AA305921D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43750" b="40770"/>
            <a:stretch/>
          </p:blipFill>
          <p:spPr bwMode="auto">
            <a:xfrm>
              <a:off x="4953000" y="3787300"/>
              <a:ext cx="3810000" cy="29460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138F9B4-7226-4D9F-8713-FAAAE768742A}"/>
                </a:ext>
              </a:extLst>
            </p:cNvPr>
            <p:cNvSpPr/>
            <p:nvPr/>
          </p:nvSpPr>
          <p:spPr bwMode="auto">
            <a:xfrm>
              <a:off x="7532811" y="4706284"/>
              <a:ext cx="533400" cy="457200"/>
            </a:xfrm>
            <a:prstGeom prst="rect">
              <a:avLst/>
            </a:prstGeom>
            <a:solidFill>
              <a:srgbClr val="FFFBFB"/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8600" y="338137"/>
            <a:ext cx="46482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00CC"/>
                </a:solidFill>
              </a:rPr>
              <a:t>Worst case:</a:t>
            </a:r>
          </a:p>
          <a:p>
            <a:pPr algn="ctr"/>
            <a:endParaRPr lang="en-US" sz="1400" b="1" dirty="0">
              <a:solidFill>
                <a:srgbClr val="0000CC"/>
              </a:solidFill>
            </a:endParaRPr>
          </a:p>
          <a:p>
            <a:r>
              <a:rPr lang="en-US" sz="2800" b="1" dirty="0"/>
              <a:t>Data entered in natural order or reverse order.</a:t>
            </a:r>
            <a:br>
              <a:rPr lang="en-US" sz="2800" b="1" dirty="0"/>
            </a:br>
            <a:endParaRPr lang="en-US" sz="1200" b="1" dirty="0"/>
          </a:p>
          <a:p>
            <a:r>
              <a:rPr lang="en-US" sz="2800" b="1" dirty="0"/>
              <a:t>Or any other tree with as many levels as nodes.</a:t>
            </a:r>
          </a:p>
        </p:txBody>
      </p:sp>
      <p:grpSp>
        <p:nvGrpSpPr>
          <p:cNvPr id="4" name="Group 3" descr="A degenerate tree with seven nodes and seven levels.">
            <a:extLst>
              <a:ext uri="{FF2B5EF4-FFF2-40B4-BE49-F238E27FC236}">
                <a16:creationId xmlns:a16="http://schemas.microsoft.com/office/drawing/2014/main" id="{90659242-EA6D-47F0-8F75-1942DE1B4597}"/>
              </a:ext>
            </a:extLst>
          </p:cNvPr>
          <p:cNvGrpSpPr/>
          <p:nvPr/>
        </p:nvGrpSpPr>
        <p:grpSpPr>
          <a:xfrm>
            <a:off x="4800600" y="304800"/>
            <a:ext cx="3733800" cy="5982247"/>
            <a:chOff x="4876800" y="457200"/>
            <a:chExt cx="3352800" cy="5371814"/>
          </a:xfrm>
        </p:grpSpPr>
        <p:pic>
          <p:nvPicPr>
            <p:cNvPr id="13" name="Picture 2">
              <a:extLst>
                <a:ext uri="{FF2B5EF4-FFF2-40B4-BE49-F238E27FC236}">
                  <a16:creationId xmlns:a16="http://schemas.microsoft.com/office/drawing/2014/main" id="{4EEF68DC-FE59-4BCC-A441-814A657C55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167"/>
            <a:stretch/>
          </p:blipFill>
          <p:spPr bwMode="auto">
            <a:xfrm>
              <a:off x="4876800" y="457200"/>
              <a:ext cx="3352800" cy="53718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AC469E8-0317-4384-810B-E3B41002A6C4}"/>
                </a:ext>
              </a:extLst>
            </p:cNvPr>
            <p:cNvSpPr/>
            <p:nvPr/>
          </p:nvSpPr>
          <p:spPr bwMode="auto">
            <a:xfrm>
              <a:off x="6400800" y="1371600"/>
              <a:ext cx="533400" cy="457200"/>
            </a:xfrm>
            <a:prstGeom prst="rect">
              <a:avLst/>
            </a:prstGeom>
            <a:solidFill>
              <a:srgbClr val="FFFBFB"/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7C167133-0CC0-4D42-B59E-90C695992769}"/>
              </a:ext>
            </a:extLst>
          </p:cNvPr>
          <p:cNvSpPr txBox="1"/>
          <p:nvPr/>
        </p:nvSpPr>
        <p:spPr>
          <a:xfrm>
            <a:off x="685800" y="3962400"/>
            <a:ext cx="3733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800" b="1" dirty="0"/>
              <a:t>Adding	 O(n)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b="1" dirty="0"/>
              <a:t>Searching	 O(n)</a:t>
            </a:r>
          </a:p>
          <a:p>
            <a:pPr eaLnBrk="1" hangingPunct="1">
              <a:spcBef>
                <a:spcPct val="50000"/>
              </a:spcBef>
            </a:pPr>
            <a:r>
              <a:rPr lang="en-US" sz="2800" b="1" dirty="0"/>
              <a:t>Removing	 O(n)</a:t>
            </a:r>
          </a:p>
        </p:txBody>
      </p:sp>
    </p:spTree>
    <p:extLst>
      <p:ext uri="{BB962C8B-B14F-4D97-AF65-F5344CB8AC3E}">
        <p14:creationId xmlns:p14="http://schemas.microsoft.com/office/powerpoint/2010/main" val="11693727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62000" y="76200"/>
            <a:ext cx="7924800" cy="2786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0000CC"/>
                </a:solidFill>
              </a:rPr>
              <a:t>Best case = O(1)</a:t>
            </a:r>
            <a:r>
              <a:rPr lang="en-US" dirty="0">
                <a:solidFill>
                  <a:srgbClr val="0000CC"/>
                </a:solidFill>
              </a:rPr>
              <a:t>	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Search value is the root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Adding to a tree with only one branch when the new value starts the other branch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Removing a node which has 0 or 1 child</a:t>
            </a:r>
          </a:p>
        </p:txBody>
      </p:sp>
      <p:pic>
        <p:nvPicPr>
          <p:cNvPr id="1026" name="Picture 2" descr="The initial tree is a degenerate tree with 20 as the root, 14 as its left child, and 9 as 14's left child.&#10;Inserting 22 would be O(1)">
            <a:extLst>
              <a:ext uri="{FF2B5EF4-FFF2-40B4-BE49-F238E27FC236}">
                <a16:creationId xmlns:a16="http://schemas.microsoft.com/office/drawing/2014/main" id="{18CB4DEF-428C-05B9-CF58-3A0AF8882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" y="3048000"/>
            <a:ext cx="8610600" cy="3305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33889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Text Box 3"/>
          <p:cNvSpPr txBox="1">
            <a:spLocks noChangeArrowheads="1"/>
          </p:cNvSpPr>
          <p:nvPr/>
        </p:nvSpPr>
        <p:spPr bwMode="auto">
          <a:xfrm>
            <a:off x="1600200" y="1295400"/>
            <a:ext cx="662940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b="1" dirty="0"/>
              <a:t>traverse all nodes			O(N)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search for an item		O(log</a:t>
            </a:r>
            <a:r>
              <a:rPr lang="en-US" b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N)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</a:rPr>
              <a:t>remove any item			O(N)	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/>
              <a:t>access a </a:t>
            </a:r>
            <a:r>
              <a:rPr lang="en-US" b="1" u="sng" dirty="0"/>
              <a:t>spot</a:t>
            </a:r>
            <a:r>
              <a:rPr lang="en-US" b="1" dirty="0"/>
              <a:t>			O(1)	</a:t>
            </a:r>
          </a:p>
          <a:p>
            <a:pPr eaLnBrk="1" hangingPunct="1">
              <a:spcBef>
                <a:spcPct val="50000"/>
              </a:spcBef>
            </a:pPr>
            <a:r>
              <a:rPr lang="en-US" b="1" dirty="0">
                <a:solidFill>
                  <a:srgbClr val="C00000"/>
                </a:solidFill>
              </a:rPr>
              <a:t>add item 				O(N)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3F90D87-6A03-45B0-8241-9FE85F02A701}"/>
              </a:ext>
            </a:extLst>
          </p:cNvPr>
          <p:cNvGrpSpPr/>
          <p:nvPr/>
        </p:nvGrpSpPr>
        <p:grpSpPr>
          <a:xfrm>
            <a:off x="5129555" y="4803858"/>
            <a:ext cx="2577319" cy="456448"/>
            <a:chOff x="3429000" y="2286000"/>
            <a:chExt cx="3276600" cy="58029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A646419-5946-4AC8-BC41-B6749F31F816}"/>
                </a:ext>
              </a:extLst>
            </p:cNvPr>
            <p:cNvSpPr/>
            <p:nvPr/>
          </p:nvSpPr>
          <p:spPr bwMode="auto">
            <a:xfrm>
              <a:off x="3429000" y="2286000"/>
              <a:ext cx="533400" cy="4572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4178CE3-82DA-4989-B803-4FF8C7A55E24}"/>
                </a:ext>
              </a:extLst>
            </p:cNvPr>
            <p:cNvSpPr/>
            <p:nvPr/>
          </p:nvSpPr>
          <p:spPr bwMode="auto">
            <a:xfrm>
              <a:off x="6172200" y="2409092"/>
              <a:ext cx="533400" cy="457200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solidFill>
                <a:schemeClr val="bg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EC6BDC91-D472-4ED7-AEF9-2B6E7C331E07}"/>
              </a:ext>
            </a:extLst>
          </p:cNvPr>
          <p:cNvSpPr txBox="1"/>
          <p:nvPr/>
        </p:nvSpPr>
        <p:spPr>
          <a:xfrm>
            <a:off x="609599" y="5144869"/>
            <a:ext cx="7924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3600" b="1" dirty="0">
                <a:solidFill>
                  <a:schemeClr val="accent2"/>
                </a:solidFill>
              </a:rPr>
              <a:t>[2, 3, 5, 8, 10, 19, 23, 27, 32]</a:t>
            </a:r>
            <a:endParaRPr lang="en-US" sz="36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C03A65-E039-EE14-D29F-9ED53F20D14F}"/>
              </a:ext>
            </a:extLst>
          </p:cNvPr>
          <p:cNvSpPr txBox="1"/>
          <p:nvPr/>
        </p:nvSpPr>
        <p:spPr>
          <a:xfrm>
            <a:off x="327889" y="261280"/>
            <a:ext cx="84882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Using a Sorted Array and the Binary Search Algorithm</a:t>
            </a:r>
          </a:p>
        </p:txBody>
      </p:sp>
    </p:spTree>
    <p:extLst>
      <p:ext uri="{BB962C8B-B14F-4D97-AF65-F5344CB8AC3E}">
        <p14:creationId xmlns:p14="http://schemas.microsoft.com/office/powerpoint/2010/main" val="754615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Data Structures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sz="quarter" idx="1"/>
                <p:extLst>
                  <p:ext uri="{D42A27DB-BD31-4B8C-83A1-F6EECF244321}">
                    <p14:modId xmlns:p14="http://schemas.microsoft.com/office/powerpoint/2010/main" val="4278070130"/>
                  </p:ext>
                </p:extLst>
              </p:nvPr>
            </p:nvGraphicFramePr>
            <p:xfrm>
              <a:off x="0" y="-7144"/>
              <a:ext cx="9144001" cy="6865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5343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8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112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11237">
                      <a:extLst>
                        <a:ext uri="{9D8B030D-6E8A-4147-A177-3AD203B41FA5}">
                          <a16:colId xmlns:a16="http://schemas.microsoft.com/office/drawing/2014/main" val="1749272156"/>
                        </a:ext>
                      </a:extLst>
                    </a:gridCol>
                  </a:tblGrid>
                  <a:tr h="9465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Data Structure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add(</a:t>
                          </a:r>
                          <a:r>
                            <a:rPr lang="en-US" sz="2400" b="0" dirty="0" err="1">
                              <a:latin typeface="Abadi" panose="020B0604020104020204" pitchFamily="34" charset="0"/>
                            </a:rPr>
                            <a:t>val</a:t>
                          </a:r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 x)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lookup(int i)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search(</a:t>
                          </a:r>
                          <a:r>
                            <a:rPr lang="en-US" sz="2400" b="0" dirty="0" err="1">
                              <a:latin typeface="Abadi" panose="020B0604020104020204" pitchFamily="34" charset="0"/>
                            </a:rPr>
                            <a:t>val</a:t>
                          </a:r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 x)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2388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Abadi" panose="020B0604020104020204" pitchFamily="34" charset="0"/>
                            </a:rPr>
                            <a:t>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98236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Abadi" panose="020B0604020104020204" pitchFamily="34" charset="0"/>
                            </a:rPr>
                            <a:t>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39823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Abadi" panose="020B0604020104020204" pitchFamily="34" charset="0"/>
                            </a:rPr>
                            <a:t>Binary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435764593"/>
                      </a:ext>
                    </a:extLst>
                  </a:tr>
                  <a:tr h="139823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Abadi" panose="020B0604020104020204" pitchFamily="34" charset="0"/>
                            </a:rPr>
                            <a:t>BST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func>
                                  <m:funcPr>
                                    <m:ctrlP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3200" b="0" i="1" kern="1200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sz="3200" b="0" i="1" kern="1200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3200" b="0" i="1" kern="1200" dirty="0">
                            <a:solidFill>
                              <a:schemeClr val="dk1"/>
                            </a:solidFill>
                            <a:latin typeface="Cambria Math" panose="02040503050406030204" pitchFamily="18" charset="0"/>
                            <a:ea typeface="+mn-ea"/>
                            <a:cs typeface="+mn-cs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0739286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/>
              <p:cNvGraphicFramePr>
                <a:graphicFrameLocks noGrp="1"/>
              </p:cNvGraphicFramePr>
              <p:nvPr>
                <p:ph sz="quarter" idx="1"/>
                <p:extLst>
                  <p:ext uri="{D42A27DB-BD31-4B8C-83A1-F6EECF244321}">
                    <p14:modId xmlns:p14="http://schemas.microsoft.com/office/powerpoint/2010/main" val="4278070130"/>
                  </p:ext>
                </p:extLst>
              </p:nvPr>
            </p:nvGraphicFramePr>
            <p:xfrm>
              <a:off x="0" y="-7144"/>
              <a:ext cx="9144001" cy="6865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95343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68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11123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111237">
                      <a:extLst>
                        <a:ext uri="{9D8B030D-6E8A-4147-A177-3AD203B41FA5}">
                          <a16:colId xmlns:a16="http://schemas.microsoft.com/office/drawing/2014/main" val="1749272156"/>
                        </a:ext>
                      </a:extLst>
                    </a:gridCol>
                  </a:tblGrid>
                  <a:tr h="94655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Data Structure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add(</a:t>
                          </a:r>
                          <a:r>
                            <a:rPr lang="en-US" sz="2400" b="0" dirty="0" err="1">
                              <a:latin typeface="Abadi" panose="020B0604020104020204" pitchFamily="34" charset="0"/>
                            </a:rPr>
                            <a:t>val</a:t>
                          </a:r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 x)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lookup(int i)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search(</a:t>
                          </a:r>
                          <a:r>
                            <a:rPr lang="en-US" sz="2400" b="0" dirty="0" err="1">
                              <a:latin typeface="Abadi" panose="020B0604020104020204" pitchFamily="34" charset="0"/>
                            </a:rPr>
                            <a:t>val</a:t>
                          </a:r>
                          <a:r>
                            <a:rPr lang="en-US" sz="2400" b="0" dirty="0">
                              <a:latin typeface="Abadi" panose="020B0604020104020204" pitchFamily="34" charset="0"/>
                            </a:rPr>
                            <a:t> x)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23880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Abadi" panose="020B0604020104020204" pitchFamily="34" charset="0"/>
                            </a:rPr>
                            <a:t>Array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774" t="-55124" r="-215789" b="-2445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4104" t="-55124" r="-101445" b="-2445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141" t="-55124" r="-1153" b="-2445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398236">
                    <a:tc>
                      <a:txBody>
                        <a:bodyPr/>
                        <a:lstStyle/>
                        <a:p>
                          <a:r>
                            <a:rPr lang="en-US" sz="2400" b="1" dirty="0">
                              <a:latin typeface="Abadi" panose="020B0604020104020204" pitchFamily="34" charset="0"/>
                            </a:rPr>
                            <a:t>Linked List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774" t="-190870" r="-215789" b="-20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4104" t="-190870" r="-101445" b="-2008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141" t="-190870" r="-1153" b="-20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39823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Abadi" panose="020B0604020104020204" pitchFamily="34" charset="0"/>
                            </a:rPr>
                            <a:t>Binary Tree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774" t="-292140" r="-215789" b="-101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4104" t="-292140" r="-101445" b="-1017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141" t="-292140" r="-1153" b="-1017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764593"/>
                      </a:ext>
                    </a:extLst>
                  </a:tr>
                  <a:tr h="1398236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400" b="1" dirty="0">
                              <a:latin typeface="Abadi" panose="020B0604020104020204" pitchFamily="34" charset="0"/>
                            </a:rPr>
                            <a:t>BST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0774" t="-390435" r="-215789" b="-1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4104" t="-390435" r="-101445" b="-13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33141" t="-390435" r="-1153" b="-13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7392861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32" name="Group 31" descr="Array: [2, 1, 3, 0]"/>
          <p:cNvGrpSpPr/>
          <p:nvPr/>
        </p:nvGrpSpPr>
        <p:grpSpPr>
          <a:xfrm>
            <a:off x="609492" y="1668943"/>
            <a:ext cx="1579453" cy="407486"/>
            <a:chOff x="838201" y="4796557"/>
            <a:chExt cx="1092593" cy="281880"/>
          </a:xfrm>
        </p:grpSpPr>
        <p:sp>
          <p:nvSpPr>
            <p:cNvPr id="28" name="Rectangle 27"/>
            <p:cNvSpPr/>
            <p:nvPr/>
          </p:nvSpPr>
          <p:spPr>
            <a:xfrm>
              <a:off x="838201" y="4800600"/>
              <a:ext cx="273148" cy="27783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2</a:t>
              </a:r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111350" y="4800599"/>
              <a:ext cx="273148" cy="27783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1</a:t>
              </a: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384498" y="4796557"/>
              <a:ext cx="273148" cy="27783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3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657646" y="4796557"/>
              <a:ext cx="273148" cy="27783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dirty="0"/>
                <a:t>0</a:t>
              </a:r>
            </a:p>
          </p:txBody>
        </p:sp>
      </p:grpSp>
      <p:grpSp>
        <p:nvGrpSpPr>
          <p:cNvPr id="37" name="Group 36" descr="Linked list:&#10;2 -&gt; 1 -&gt; 3 -&gt; 0"/>
          <p:cNvGrpSpPr/>
          <p:nvPr/>
        </p:nvGrpSpPr>
        <p:grpSpPr>
          <a:xfrm>
            <a:off x="529162" y="3338314"/>
            <a:ext cx="1996627" cy="299251"/>
            <a:chOff x="838201" y="4092663"/>
            <a:chExt cx="1904999" cy="285518"/>
          </a:xfrm>
        </p:grpSpPr>
        <p:grpSp>
          <p:nvGrpSpPr>
            <p:cNvPr id="6" name="Group 46"/>
            <p:cNvGrpSpPr>
              <a:grpSpLocks/>
            </p:cNvGrpSpPr>
            <p:nvPr/>
          </p:nvGrpSpPr>
          <p:grpSpPr bwMode="auto">
            <a:xfrm>
              <a:off x="838201" y="4092663"/>
              <a:ext cx="1904999" cy="285518"/>
              <a:chOff x="1600200" y="1447795"/>
              <a:chExt cx="4325051" cy="645093"/>
            </a:xfrm>
          </p:grpSpPr>
          <p:grpSp>
            <p:nvGrpSpPr>
              <p:cNvPr id="7" name="Group 13"/>
              <p:cNvGrpSpPr>
                <a:grpSpLocks/>
              </p:cNvGrpSpPr>
              <p:nvPr/>
            </p:nvGrpSpPr>
            <p:grpSpPr bwMode="auto">
              <a:xfrm>
                <a:off x="1600200" y="1447795"/>
                <a:ext cx="632604" cy="609605"/>
                <a:chOff x="1600200" y="1752595"/>
                <a:chExt cx="632604" cy="609605"/>
              </a:xfrm>
            </p:grpSpPr>
            <p:sp>
              <p:nvSpPr>
                <p:cNvPr id="26" name="Oval 54"/>
                <p:cNvSpPr>
                  <a:spLocks/>
                </p:cNvSpPr>
                <p:nvPr/>
              </p:nvSpPr>
              <p:spPr bwMode="auto">
                <a:xfrm>
                  <a:off x="1600200" y="1752600"/>
                  <a:ext cx="632604" cy="6096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9pPr>
                </a:lstStyle>
                <a:p>
                  <a:pPr eaLnBrk="1" hangingPunct="1"/>
                  <a:endParaRPr lang="fr-FR" altLang="en-US"/>
                </a:p>
              </p:txBody>
            </p:sp>
            <p:sp>
              <p:nvSpPr>
                <p:cNvPr id="27" name="Rectangle 59"/>
                <p:cNvSpPr>
                  <a:spLocks/>
                </p:cNvSpPr>
                <p:nvPr/>
              </p:nvSpPr>
              <p:spPr bwMode="auto">
                <a:xfrm>
                  <a:off x="1687936" y="1752595"/>
                  <a:ext cx="209673" cy="27699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40639" bIns="0">
                  <a:spAutoFit/>
                </a:bodyPr>
                <a:lstStyle>
                  <a:lvl1pPr marL="39688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9pPr>
                </a:lstStyle>
                <a:p>
                  <a:pPr eaLnBrk="1" hangingPunct="1"/>
                  <a:r>
                    <a:rPr lang="en-US" altLang="en-US" sz="1800" dirty="0">
                      <a:solidFill>
                        <a:schemeClr val="tx1"/>
                      </a:solidFill>
                      <a:latin typeface="Arial" charset="0"/>
                      <a:sym typeface="Arial" charset="0"/>
                    </a:rPr>
                    <a:t>2</a:t>
                  </a:r>
                </a:p>
              </p:txBody>
            </p:sp>
          </p:grpSp>
          <p:grpSp>
            <p:nvGrpSpPr>
              <p:cNvPr id="8" name="Group 20"/>
              <p:cNvGrpSpPr>
                <a:grpSpLocks/>
              </p:cNvGrpSpPr>
              <p:nvPr/>
            </p:nvGrpSpPr>
            <p:grpSpPr bwMode="auto">
              <a:xfrm>
                <a:off x="2837203" y="1447795"/>
                <a:ext cx="632604" cy="645093"/>
                <a:chOff x="1313203" y="1752595"/>
                <a:chExt cx="632604" cy="645093"/>
              </a:xfrm>
            </p:grpSpPr>
            <p:sp>
              <p:nvSpPr>
                <p:cNvPr id="24" name="Oval 54"/>
                <p:cNvSpPr>
                  <a:spLocks/>
                </p:cNvSpPr>
                <p:nvPr/>
              </p:nvSpPr>
              <p:spPr bwMode="auto">
                <a:xfrm>
                  <a:off x="1313203" y="1788088"/>
                  <a:ext cx="632604" cy="6096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9pPr>
                </a:lstStyle>
                <a:p>
                  <a:pPr eaLnBrk="1" hangingPunct="1"/>
                  <a:endParaRPr lang="fr-FR" altLang="en-US"/>
                </a:p>
              </p:txBody>
            </p:sp>
            <p:sp>
              <p:nvSpPr>
                <p:cNvPr id="25" name="Rectangle 59"/>
                <p:cNvSpPr>
                  <a:spLocks/>
                </p:cNvSpPr>
                <p:nvPr/>
              </p:nvSpPr>
              <p:spPr bwMode="auto">
                <a:xfrm>
                  <a:off x="1423545" y="1752595"/>
                  <a:ext cx="209673" cy="277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40639" bIns="0">
                  <a:spAutoFit/>
                </a:bodyPr>
                <a:lstStyle>
                  <a:lvl1pPr marL="39688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9pPr>
                </a:lstStyle>
                <a:p>
                  <a:pPr eaLnBrk="1" hangingPunct="1"/>
                  <a:r>
                    <a:rPr lang="en-US" altLang="en-US" sz="1800" dirty="0">
                      <a:solidFill>
                        <a:schemeClr val="tx1"/>
                      </a:solidFill>
                      <a:latin typeface="Arial" charset="0"/>
                      <a:sym typeface="Arial" charset="0"/>
                    </a:rPr>
                    <a:t>1</a:t>
                  </a:r>
                </a:p>
              </p:txBody>
            </p:sp>
          </p:grpSp>
          <p:grpSp>
            <p:nvGrpSpPr>
              <p:cNvPr id="9" name="Group 23"/>
              <p:cNvGrpSpPr>
                <a:grpSpLocks/>
              </p:cNvGrpSpPr>
              <p:nvPr/>
            </p:nvGrpSpPr>
            <p:grpSpPr bwMode="auto">
              <a:xfrm>
                <a:off x="4081632" y="1447795"/>
                <a:ext cx="632604" cy="625845"/>
                <a:chOff x="1033632" y="1752595"/>
                <a:chExt cx="632604" cy="625845"/>
              </a:xfrm>
            </p:grpSpPr>
            <p:sp>
              <p:nvSpPr>
                <p:cNvPr id="22" name="Oval 54"/>
                <p:cNvSpPr>
                  <a:spLocks/>
                </p:cNvSpPr>
                <p:nvPr/>
              </p:nvSpPr>
              <p:spPr bwMode="auto">
                <a:xfrm>
                  <a:off x="1033632" y="1752600"/>
                  <a:ext cx="632604" cy="6096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9pPr>
                </a:lstStyle>
                <a:p>
                  <a:pPr eaLnBrk="1" hangingPunct="1"/>
                  <a:endParaRPr lang="fr-FR" altLang="en-US"/>
                </a:p>
              </p:txBody>
            </p:sp>
            <p:sp>
              <p:nvSpPr>
                <p:cNvPr id="23" name="Rectangle 59"/>
                <p:cNvSpPr>
                  <a:spLocks/>
                </p:cNvSpPr>
                <p:nvPr/>
              </p:nvSpPr>
              <p:spPr bwMode="auto">
                <a:xfrm>
                  <a:off x="1147230" y="1752595"/>
                  <a:ext cx="476033" cy="62584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40639" bIns="0">
                  <a:spAutoFit/>
                </a:bodyPr>
                <a:lstStyle>
                  <a:lvl1pPr marL="39688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9pPr>
                </a:lstStyle>
                <a:p>
                  <a:pPr eaLnBrk="1" hangingPunct="1"/>
                  <a:r>
                    <a:rPr lang="en-US" altLang="en-US" sz="1800" dirty="0">
                      <a:solidFill>
                        <a:schemeClr val="tx1"/>
                      </a:solidFill>
                      <a:latin typeface="Arial" charset="0"/>
                      <a:sym typeface="Arial" charset="0"/>
                    </a:rPr>
                    <a:t>3</a:t>
                  </a:r>
                </a:p>
              </p:txBody>
            </p:sp>
          </p:grpSp>
          <p:grpSp>
            <p:nvGrpSpPr>
              <p:cNvPr id="10" name="Group 26"/>
              <p:cNvGrpSpPr>
                <a:grpSpLocks/>
              </p:cNvGrpSpPr>
              <p:nvPr/>
            </p:nvGrpSpPr>
            <p:grpSpPr bwMode="auto">
              <a:xfrm>
                <a:off x="5292647" y="1459294"/>
                <a:ext cx="632604" cy="609605"/>
                <a:chOff x="572995" y="1752595"/>
                <a:chExt cx="632604" cy="609605"/>
              </a:xfrm>
            </p:grpSpPr>
            <p:sp>
              <p:nvSpPr>
                <p:cNvPr id="20" name="Oval 54"/>
                <p:cNvSpPr>
                  <a:spLocks/>
                </p:cNvSpPr>
                <p:nvPr/>
              </p:nvSpPr>
              <p:spPr bwMode="auto">
                <a:xfrm>
                  <a:off x="572995" y="1752600"/>
                  <a:ext cx="632604" cy="609600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>
                  <a:lvl1pPr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9pPr>
                </a:lstStyle>
                <a:p>
                  <a:pPr eaLnBrk="1" hangingPunct="1"/>
                  <a:endParaRPr lang="fr-FR" altLang="en-US"/>
                </a:p>
              </p:txBody>
            </p:sp>
            <p:sp>
              <p:nvSpPr>
                <p:cNvPr id="21" name="Rectangle 59"/>
                <p:cNvSpPr>
                  <a:spLocks/>
                </p:cNvSpPr>
                <p:nvPr/>
              </p:nvSpPr>
              <p:spPr bwMode="auto">
                <a:xfrm>
                  <a:off x="660731" y="1752595"/>
                  <a:ext cx="209673" cy="2770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40639" bIns="0">
                  <a:spAutoFit/>
                </a:bodyPr>
                <a:lstStyle>
                  <a:lvl1pPr marL="39688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1pPr>
                  <a:lvl2pPr marL="742950" indent="-28575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2pPr>
                  <a:lvl3pPr marL="11430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3pPr>
                  <a:lvl4pPr marL="16002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4pPr>
                  <a:lvl5pPr marL="2057400" indent="-228600"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rgbClr val="000000"/>
                      </a:solidFill>
                      <a:latin typeface="Times New Roman" charset="0"/>
                      <a:ea typeface="ヒラギノ明朝 ProN W3" charset="-128"/>
                      <a:sym typeface="Times New Roman" charset="0"/>
                    </a:defRPr>
                  </a:lvl9pPr>
                </a:lstStyle>
                <a:p>
                  <a:pPr eaLnBrk="1" hangingPunct="1"/>
                  <a:r>
                    <a:rPr lang="en-US" altLang="en-US" sz="1800" dirty="0">
                      <a:solidFill>
                        <a:schemeClr val="tx1"/>
                      </a:solidFill>
                      <a:latin typeface="Arial" charset="0"/>
                      <a:sym typeface="Arial" charset="0"/>
                    </a:rPr>
                    <a:t>0</a:t>
                  </a:r>
                </a:p>
              </p:txBody>
            </p:sp>
          </p:grp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232809" y="1752598"/>
                <a:ext cx="607689" cy="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Arrow Connector 33"/>
            <p:cNvCxnSpPr/>
            <p:nvPr/>
          </p:nvCxnSpPr>
          <p:spPr bwMode="auto">
            <a:xfrm flipV="1">
              <a:off x="1663133" y="4229760"/>
              <a:ext cx="267661" cy="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 bwMode="auto">
            <a:xfrm flipV="1">
              <a:off x="2204127" y="4236442"/>
              <a:ext cx="267661" cy="2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oup 12" descr="Binary tree with three nodes:&#10;Root: 1&#10;Node 1 has a left child of 2 and right child of 3"/>
          <p:cNvGrpSpPr/>
          <p:nvPr/>
        </p:nvGrpSpPr>
        <p:grpSpPr>
          <a:xfrm>
            <a:off x="1086559" y="4527655"/>
            <a:ext cx="1316518" cy="641033"/>
            <a:chOff x="1743059" y="5381857"/>
            <a:chExt cx="1167194" cy="568325"/>
          </a:xfrm>
        </p:grpSpPr>
        <p:sp>
          <p:nvSpPr>
            <p:cNvPr id="66" name="Oval 4"/>
            <p:cNvSpPr>
              <a:spLocks/>
            </p:cNvSpPr>
            <p:nvPr/>
          </p:nvSpPr>
          <p:spPr bwMode="auto">
            <a:xfrm>
              <a:off x="1743059" y="5645382"/>
              <a:ext cx="309563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2pPr>
              <a:lvl3pPr marL="11430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3pPr>
              <a:lvl4pPr marL="16002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4pPr>
              <a:lvl5pPr marL="20574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9pPr>
            </a:lstStyle>
            <a:p>
              <a:pPr eaLnBrk="1" hangingPunct="1"/>
              <a:endParaRPr lang="fr-FR" altLang="en-US"/>
            </a:p>
          </p:txBody>
        </p:sp>
        <p:sp>
          <p:nvSpPr>
            <p:cNvPr id="67" name="Oval 4"/>
            <p:cNvSpPr>
              <a:spLocks/>
            </p:cNvSpPr>
            <p:nvPr/>
          </p:nvSpPr>
          <p:spPr bwMode="auto">
            <a:xfrm>
              <a:off x="2576878" y="5645322"/>
              <a:ext cx="309563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2pPr>
              <a:lvl3pPr marL="11430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3pPr>
              <a:lvl4pPr marL="16002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4pPr>
              <a:lvl5pPr marL="20574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9pPr>
            </a:lstStyle>
            <a:p>
              <a:pPr eaLnBrk="1" hangingPunct="1"/>
              <a:endParaRPr lang="fr-FR" altLang="en-US"/>
            </a:p>
          </p:txBody>
        </p:sp>
        <p:grpSp>
          <p:nvGrpSpPr>
            <p:cNvPr id="45" name="Group 3"/>
            <p:cNvGrpSpPr>
              <a:grpSpLocks/>
            </p:cNvGrpSpPr>
            <p:nvPr/>
          </p:nvGrpSpPr>
          <p:grpSpPr bwMode="auto">
            <a:xfrm>
              <a:off x="1808528" y="5381857"/>
              <a:ext cx="1101725" cy="561975"/>
              <a:chOff x="80" y="433"/>
              <a:chExt cx="694" cy="354"/>
            </a:xfrm>
          </p:grpSpPr>
          <p:sp>
            <p:nvSpPr>
              <p:cNvPr id="46" name="Oval 4"/>
              <p:cNvSpPr>
                <a:spLocks/>
              </p:cNvSpPr>
              <p:nvPr/>
            </p:nvSpPr>
            <p:spPr bwMode="auto">
              <a:xfrm>
                <a:off x="285" y="433"/>
                <a:ext cx="195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9pPr>
              </a:lstStyle>
              <a:p>
                <a:pPr eaLnBrk="1" hangingPunct="1"/>
                <a:endParaRPr lang="fr-FR" altLang="en-US"/>
              </a:p>
            </p:txBody>
          </p:sp>
          <p:sp>
            <p:nvSpPr>
              <p:cNvPr id="49" name="Rectangle 7"/>
              <p:cNvSpPr>
                <a:spLocks/>
              </p:cNvSpPr>
              <p:nvPr/>
            </p:nvSpPr>
            <p:spPr bwMode="auto">
              <a:xfrm>
                <a:off x="324" y="441"/>
                <a:ext cx="13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>
                <a:spAutoFit/>
              </a:bodyPr>
              <a:lstStyle>
                <a:lvl1pPr marL="39688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chemeClr val="tx1"/>
                    </a:solidFill>
                    <a:latin typeface="Arial" charset="0"/>
                    <a:sym typeface="Arial" charset="0"/>
                  </a:rPr>
                  <a:t>1</a:t>
                </a:r>
              </a:p>
            </p:txBody>
          </p:sp>
          <p:sp>
            <p:nvSpPr>
              <p:cNvPr id="50" name="Rectangle 8"/>
              <p:cNvSpPr>
                <a:spLocks/>
              </p:cNvSpPr>
              <p:nvPr/>
            </p:nvSpPr>
            <p:spPr bwMode="auto">
              <a:xfrm>
                <a:off x="80" y="613"/>
                <a:ext cx="13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>
                <a:spAutoFit/>
              </a:bodyPr>
              <a:lstStyle>
                <a:lvl1pPr marL="39688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chemeClr val="tx1"/>
                    </a:solidFill>
                    <a:latin typeface="Arial" charset="0"/>
                    <a:sym typeface="Arial" charset="0"/>
                  </a:rPr>
                  <a:t>2</a:t>
                </a:r>
              </a:p>
            </p:txBody>
          </p:sp>
          <p:sp>
            <p:nvSpPr>
              <p:cNvPr id="51" name="Rectangle 9"/>
              <p:cNvSpPr>
                <a:spLocks/>
              </p:cNvSpPr>
              <p:nvPr/>
            </p:nvSpPr>
            <p:spPr bwMode="auto">
              <a:xfrm>
                <a:off x="598" y="606"/>
                <a:ext cx="17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40639" bIns="0">
                <a:spAutoFit/>
              </a:bodyPr>
              <a:lstStyle>
                <a:lvl1pPr marL="39688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chemeClr val="tx1"/>
                    </a:solidFill>
                    <a:latin typeface="Arial" charset="0"/>
                    <a:sym typeface="Arial" charset="0"/>
                  </a:rPr>
                  <a:t>3</a:t>
                </a:r>
              </a:p>
            </p:txBody>
          </p:sp>
          <p:sp>
            <p:nvSpPr>
              <p:cNvPr id="52" name="Line 10"/>
              <p:cNvSpPr>
                <a:spLocks noChangeShapeType="1"/>
              </p:cNvSpPr>
              <p:nvPr/>
            </p:nvSpPr>
            <p:spPr bwMode="auto">
              <a:xfrm flipH="1">
                <a:off x="218" y="597"/>
                <a:ext cx="100" cy="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Line 11"/>
              <p:cNvSpPr>
                <a:spLocks noChangeShapeType="1"/>
              </p:cNvSpPr>
              <p:nvPr/>
            </p:nvSpPr>
            <p:spPr bwMode="auto">
              <a:xfrm>
                <a:off x="456" y="597"/>
                <a:ext cx="117" cy="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48" name="Group 47" descr="Binary Search Tree with three nodes:&#10;Root: 2&#10;Node 2 has a left child of 1 and right child of 3"/>
          <p:cNvGrpSpPr/>
          <p:nvPr/>
        </p:nvGrpSpPr>
        <p:grpSpPr>
          <a:xfrm>
            <a:off x="996167" y="5821809"/>
            <a:ext cx="1401883" cy="682599"/>
            <a:chOff x="1743059" y="5381857"/>
            <a:chExt cx="1167194" cy="568325"/>
          </a:xfrm>
        </p:grpSpPr>
        <p:sp>
          <p:nvSpPr>
            <p:cNvPr id="54" name="Oval 4"/>
            <p:cNvSpPr>
              <a:spLocks/>
            </p:cNvSpPr>
            <p:nvPr/>
          </p:nvSpPr>
          <p:spPr bwMode="auto">
            <a:xfrm>
              <a:off x="1743059" y="5645382"/>
              <a:ext cx="309563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2pPr>
              <a:lvl3pPr marL="11430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3pPr>
              <a:lvl4pPr marL="16002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4pPr>
              <a:lvl5pPr marL="20574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9pPr>
            </a:lstStyle>
            <a:p>
              <a:pPr eaLnBrk="1" hangingPunct="1"/>
              <a:endParaRPr lang="fr-FR" altLang="en-US"/>
            </a:p>
          </p:txBody>
        </p:sp>
        <p:sp>
          <p:nvSpPr>
            <p:cNvPr id="55" name="Oval 4"/>
            <p:cNvSpPr>
              <a:spLocks/>
            </p:cNvSpPr>
            <p:nvPr/>
          </p:nvSpPr>
          <p:spPr bwMode="auto">
            <a:xfrm>
              <a:off x="2576878" y="5645322"/>
              <a:ext cx="309563" cy="304800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1pPr>
              <a:lvl2pPr marL="742950" indent="-28575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2pPr>
              <a:lvl3pPr marL="11430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3pPr>
              <a:lvl4pPr marL="16002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4pPr>
              <a:lvl5pPr marL="2057400" indent="-228600"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00000"/>
                  </a:solidFill>
                  <a:latin typeface="Times New Roman" charset="0"/>
                  <a:ea typeface="ヒラギノ明朝 ProN W3" charset="-128"/>
                  <a:sym typeface="Times New Roman" charset="0"/>
                </a:defRPr>
              </a:lvl9pPr>
            </a:lstStyle>
            <a:p>
              <a:pPr eaLnBrk="1" hangingPunct="1"/>
              <a:endParaRPr lang="fr-FR" altLang="en-US"/>
            </a:p>
          </p:txBody>
        </p:sp>
        <p:grpSp>
          <p:nvGrpSpPr>
            <p:cNvPr id="56" name="Group 3"/>
            <p:cNvGrpSpPr>
              <a:grpSpLocks/>
            </p:cNvGrpSpPr>
            <p:nvPr/>
          </p:nvGrpSpPr>
          <p:grpSpPr bwMode="auto">
            <a:xfrm>
              <a:off x="1808528" y="5381857"/>
              <a:ext cx="1101725" cy="561975"/>
              <a:chOff x="80" y="433"/>
              <a:chExt cx="694" cy="354"/>
            </a:xfrm>
          </p:grpSpPr>
          <p:sp>
            <p:nvSpPr>
              <p:cNvPr id="57" name="Oval 4"/>
              <p:cNvSpPr>
                <a:spLocks/>
              </p:cNvSpPr>
              <p:nvPr/>
            </p:nvSpPr>
            <p:spPr bwMode="auto">
              <a:xfrm>
                <a:off x="285" y="433"/>
                <a:ext cx="195" cy="192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>
                <a:lvl1pPr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9pPr>
              </a:lstStyle>
              <a:p>
                <a:pPr eaLnBrk="1" hangingPunct="1"/>
                <a:endParaRPr lang="fr-FR" altLang="en-US"/>
              </a:p>
            </p:txBody>
          </p:sp>
          <p:sp>
            <p:nvSpPr>
              <p:cNvPr id="58" name="Rectangle 7"/>
              <p:cNvSpPr>
                <a:spLocks/>
              </p:cNvSpPr>
              <p:nvPr/>
            </p:nvSpPr>
            <p:spPr bwMode="auto">
              <a:xfrm>
                <a:off x="324" y="441"/>
                <a:ext cx="177" cy="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>
                <a:spAutoFit/>
              </a:bodyPr>
              <a:lstStyle>
                <a:lvl1pPr marL="39688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chemeClr val="tx1"/>
                    </a:solidFill>
                    <a:latin typeface="Arial" charset="0"/>
                    <a:sym typeface="Arial" charset="0"/>
                  </a:rPr>
                  <a:t>2</a:t>
                </a:r>
              </a:p>
            </p:txBody>
          </p:sp>
          <p:sp>
            <p:nvSpPr>
              <p:cNvPr id="59" name="Rectangle 8"/>
              <p:cNvSpPr>
                <a:spLocks/>
              </p:cNvSpPr>
              <p:nvPr/>
            </p:nvSpPr>
            <p:spPr bwMode="auto">
              <a:xfrm>
                <a:off x="80" y="613"/>
                <a:ext cx="132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>
                <a:spAutoFit/>
              </a:bodyPr>
              <a:lstStyle>
                <a:lvl1pPr marL="39688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9pPr>
              </a:lstStyle>
              <a:p>
                <a:pPr eaLnBrk="1" hangingPunct="1"/>
                <a:r>
                  <a:rPr lang="en-US" altLang="en-US" sz="1800" dirty="0">
                    <a:solidFill>
                      <a:schemeClr val="tx1"/>
                    </a:solidFill>
                    <a:latin typeface="Arial" charset="0"/>
                    <a:sym typeface="Arial" charset="0"/>
                  </a:rPr>
                  <a:t>1</a:t>
                </a:r>
              </a:p>
            </p:txBody>
          </p:sp>
          <p:sp>
            <p:nvSpPr>
              <p:cNvPr id="60" name="Rectangle 9"/>
              <p:cNvSpPr>
                <a:spLocks/>
              </p:cNvSpPr>
              <p:nvPr/>
            </p:nvSpPr>
            <p:spPr bwMode="auto">
              <a:xfrm>
                <a:off x="598" y="606"/>
                <a:ext cx="176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40639" bIns="0">
                <a:spAutoFit/>
              </a:bodyPr>
              <a:lstStyle>
                <a:lvl1pPr marL="39688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1pPr>
                <a:lvl2pPr marL="742950" indent="-28575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2pPr>
                <a:lvl3pPr marL="11430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3pPr>
                <a:lvl4pPr marL="16002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4pPr>
                <a:lvl5pPr marL="2057400" indent="-228600"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rgbClr val="000000"/>
                    </a:solidFill>
                    <a:latin typeface="Times New Roman" charset="0"/>
                    <a:ea typeface="ヒラギノ明朝 ProN W3" charset="-128"/>
                    <a:sym typeface="Times New Roman" charset="0"/>
                  </a:defRPr>
                </a:lvl9pPr>
              </a:lstStyle>
              <a:p>
                <a:pPr eaLnBrk="1" hangingPunct="1"/>
                <a:r>
                  <a:rPr lang="en-US" altLang="en-US" sz="1800">
                    <a:solidFill>
                      <a:schemeClr val="tx1"/>
                    </a:solidFill>
                    <a:latin typeface="Arial" charset="0"/>
                    <a:sym typeface="Arial" charset="0"/>
                  </a:rPr>
                  <a:t>3</a:t>
                </a:r>
              </a:p>
            </p:txBody>
          </p:sp>
          <p:sp>
            <p:nvSpPr>
              <p:cNvPr id="61" name="Line 10"/>
              <p:cNvSpPr>
                <a:spLocks noChangeShapeType="1"/>
              </p:cNvSpPr>
              <p:nvPr/>
            </p:nvSpPr>
            <p:spPr bwMode="auto">
              <a:xfrm flipH="1">
                <a:off x="218" y="597"/>
                <a:ext cx="100" cy="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Line 11"/>
              <p:cNvSpPr>
                <a:spLocks noChangeShapeType="1"/>
              </p:cNvSpPr>
              <p:nvPr/>
            </p:nvSpPr>
            <p:spPr bwMode="auto">
              <a:xfrm>
                <a:off x="456" y="597"/>
                <a:ext cx="117" cy="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14606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UIDATA" val="&lt;database version=&quot;9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1&quot;/&gt;&lt;property id=&quot;20307&quot; value=&quot;256&quot;/&gt;&lt;/object&gt;&lt;object type=&quot;3&quot; unique_id=&quot;10004&quot;&gt;&lt;property id=&quot;20148&quot; value=&quot;5&quot;/&gt;&lt;property id=&quot;20300&quot; value=&quot;Slide 2&quot;/&gt;&lt;property id=&quot;20307&quot; value=&quot;351&quot;/&gt;&lt;/object&gt;&lt;object type=&quot;3&quot; unique_id=&quot;10005&quot;&gt;&lt;property id=&quot;20148&quot; value=&quot;5&quot;/&gt;&lt;property id=&quot;20300&quot; value=&quot;Slide 3&quot;/&gt;&lt;property id=&quot;20307&quot; value=&quot;352&quot;/&gt;&lt;/object&gt;&lt;object type=&quot;3&quot; unique_id=&quot;10006&quot;&gt;&lt;property id=&quot;20148&quot; value=&quot;5&quot;/&gt;&lt;property id=&quot;20300&quot; value=&quot;Slide 4&quot;/&gt;&lt;property id=&quot;20307&quot; value=&quot;364&quot;/&gt;&lt;/object&gt;&lt;object type=&quot;3&quot; unique_id=&quot;10007&quot;&gt;&lt;property id=&quot;20148&quot; value=&quot;5&quot;/&gt;&lt;property id=&quot;20300&quot; value=&quot;Slide 5&quot;/&gt;&lt;property id=&quot;20307&quot; value=&quot;337&quot;/&gt;&lt;/object&gt;&lt;object type=&quot;3&quot; unique_id=&quot;10008&quot;&gt;&lt;property id=&quot;20148&quot; value=&quot;5&quot;/&gt;&lt;property id=&quot;20300&quot; value=&quot;Slide 6&quot;/&gt;&lt;property id=&quot;20307&quot; value=&quot;365&quot;/&gt;&lt;/object&gt;&lt;object type=&quot;3&quot; unique_id=&quot;10009&quot;&gt;&lt;property id=&quot;20148&quot; value=&quot;5&quot;/&gt;&lt;property id=&quot;20300&quot; value=&quot;Slide 7&quot;/&gt;&lt;property id=&quot;20307&quot; value=&quot;356&quot;/&gt;&lt;/object&gt;&lt;object type=&quot;3&quot; unique_id=&quot;10010&quot;&gt;&lt;property id=&quot;20148&quot; value=&quot;5&quot;/&gt;&lt;property id=&quot;20300&quot; value=&quot;Slide 8&quot;/&gt;&lt;property id=&quot;20307&quot; value=&quot;355&quot;/&gt;&lt;/object&gt;&lt;object type=&quot;3&quot; unique_id=&quot;10011&quot;&gt;&lt;property id=&quot;20148&quot; value=&quot;5&quot;/&gt;&lt;property id=&quot;20300&quot; value=&quot;Slide 9&quot;/&gt;&lt;property id=&quot;20307&quot; value=&quot;341&quot;/&gt;&lt;/object&gt;&lt;object type=&quot;3&quot; unique_id=&quot;10012&quot;&gt;&lt;property id=&quot;20148&quot; value=&quot;5&quot;/&gt;&lt;property id=&quot;20300&quot; value=&quot;Slide 10&quot;/&gt;&lt;property id=&quot;20307&quot; value=&quot;264&quot;/&gt;&lt;/object&gt;&lt;object type=&quot;3&quot; unique_id=&quot;10013&quot;&gt;&lt;property id=&quot;20148&quot; value=&quot;5&quot;/&gt;&lt;property id=&quot;20300&quot; value=&quot;Slide 11&quot;/&gt;&lt;property id=&quot;20307&quot; value=&quot;357&quot;/&gt;&lt;/object&gt;&lt;object type=&quot;3&quot; unique_id=&quot;10014&quot;&gt;&lt;property id=&quot;20148&quot; value=&quot;5&quot;/&gt;&lt;property id=&quot;20300&quot; value=&quot;Slide 12&quot;/&gt;&lt;property id=&quot;20307&quot; value=&quot;342&quot;/&gt;&lt;/object&gt;&lt;object type=&quot;3&quot; unique_id=&quot;10015&quot;&gt;&lt;property id=&quot;20148&quot; value=&quot;5&quot;/&gt;&lt;property id=&quot;20300&quot; value=&quot;Slide 13&quot;/&gt;&lt;property id=&quot;20307&quot; value=&quot;349&quot;/&gt;&lt;/object&gt;&lt;object type=&quot;3&quot; unique_id=&quot;10016&quot;&gt;&lt;property id=&quot;20148&quot; value=&quot;5&quot;/&gt;&lt;property id=&quot;20300&quot; value=&quot;Slide 14&quot;/&gt;&lt;property id=&quot;20307&quot; value=&quot;343&quot;/&gt;&lt;/object&gt;&lt;object type=&quot;3&quot; unique_id=&quot;10017&quot;&gt;&lt;property id=&quot;20148&quot; value=&quot;5&quot;/&gt;&lt;property id=&quot;20300&quot; value=&quot;Slide 15&quot;/&gt;&lt;property id=&quot;20307&quot; value=&quot;344&quot;/&gt;&lt;/object&gt;&lt;object type=&quot;3&quot; unique_id=&quot;10018&quot;&gt;&lt;property id=&quot;20148&quot; value=&quot;5&quot;/&gt;&lt;property id=&quot;20300&quot; value=&quot;Slide 16&quot;/&gt;&lt;property id=&quot;20307&quot; value=&quot;345&quot;/&gt;&lt;/object&gt;&lt;object type=&quot;3&quot; unique_id=&quot;10019&quot;&gt;&lt;property id=&quot;20148&quot; value=&quot;5&quot;/&gt;&lt;property id=&quot;20300&quot; value=&quot;Slide 17&quot;/&gt;&lt;property id=&quot;20307&quot; value=&quot;348&quot;/&gt;&lt;/object&gt;&lt;object type=&quot;3&quot; unique_id=&quot;10020&quot;&gt;&lt;property id=&quot;20148&quot; value=&quot;5&quot;/&gt;&lt;property id=&quot;20300&quot; value=&quot;Slide 18&quot;/&gt;&lt;property id=&quot;20307&quot; value=&quot;346&quot;/&gt;&lt;/object&gt;&lt;object type=&quot;3&quot; unique_id=&quot;10021&quot;&gt;&lt;property id=&quot;20148&quot; value=&quot;5&quot;/&gt;&lt;property id=&quot;20300&quot; value=&quot;Slide 19&quot;/&gt;&lt;property id=&quot;20307&quot; value=&quot;347&quot;/&gt;&lt;/object&gt;&lt;object type=&quot;3&quot; unique_id=&quot;10022&quot;&gt;&lt;property id=&quot;20148&quot; value=&quot;5&quot;/&gt;&lt;property id=&quot;20300&quot; value=&quot;Slide 20&quot;/&gt;&lt;property id=&quot;20307&quot; value=&quot;333&quot;/&gt;&lt;/object&gt;&lt;object type=&quot;3&quot; unique_id=&quot;10023&quot;&gt;&lt;property id=&quot;20148&quot; value=&quot;5&quot;/&gt;&lt;property id=&quot;20300&quot; value=&quot;Slide 21&quot;/&gt;&lt;property id=&quot;20307&quot; value=&quot;257&quot;/&gt;&lt;/object&gt;&lt;object type=&quot;3&quot; unique_id=&quot;10024&quot;&gt;&lt;property id=&quot;20148&quot; value=&quot;5&quot;/&gt;&lt;property id=&quot;20300&quot; value=&quot;Slide 22&quot;/&gt;&lt;property id=&quot;20307&quot; value=&quot;334&quot;/&gt;&lt;/object&gt;&lt;object type=&quot;3&quot; unique_id=&quot;10025&quot;&gt;&lt;property id=&quot;20148&quot; value=&quot;5&quot;/&gt;&lt;property id=&quot;20300&quot; value=&quot;Slide 23&quot;/&gt;&lt;property id=&quot;20307&quot; value=&quot;358&quot;/&gt;&lt;/object&gt;&lt;object type=&quot;3&quot; unique_id=&quot;10026&quot;&gt;&lt;property id=&quot;20148&quot; value=&quot;5&quot;/&gt;&lt;property id=&quot;20300&quot; value=&quot;Slide 24&quot;/&gt;&lt;property id=&quot;20307&quot; value=&quot;359&quot;/&gt;&lt;/object&gt;&lt;object type=&quot;3&quot; unique_id=&quot;10027&quot;&gt;&lt;property id=&quot;20148&quot; value=&quot;5&quot;/&gt;&lt;property id=&quot;20300&quot; value=&quot;Slide 25&quot;/&gt;&lt;property id=&quot;20307&quot; value=&quot;360&quot;/&gt;&lt;/object&gt;&lt;object type=&quot;3&quot; unique_id=&quot;10028&quot;&gt;&lt;property id=&quot;20148&quot; value=&quot;5&quot;/&gt;&lt;property id=&quot;20300&quot; value=&quot;Slide 26&quot;/&gt;&lt;property id=&quot;20307&quot; value=&quot;322&quot;/&gt;&lt;/object&gt;&lt;object type=&quot;3&quot; unique_id=&quot;10029&quot;&gt;&lt;property id=&quot;20148&quot; value=&quot;5&quot;/&gt;&lt;property id=&quot;20300&quot; value=&quot;Slide 27&quot;/&gt;&lt;property id=&quot;20307&quot; value=&quot;323&quot;/&gt;&lt;/object&gt;&lt;object type=&quot;3&quot; unique_id=&quot;10030&quot;&gt;&lt;property id=&quot;20148&quot; value=&quot;5&quot;/&gt;&lt;property id=&quot;20300&quot; value=&quot;Slide 28&quot;/&gt;&lt;property id=&quot;20307&quot; value=&quot;379&quot;/&gt;&lt;/object&gt;&lt;object type=&quot;3&quot; unique_id=&quot;10031&quot;&gt;&lt;property id=&quot;20148&quot; value=&quot;5&quot;/&gt;&lt;property id=&quot;20300&quot; value=&quot;Slide 29&quot;/&gt;&lt;property id=&quot;20307&quot; value=&quot;380&quot;/&gt;&lt;/object&gt;&lt;object type=&quot;3&quot; unique_id=&quot;10032&quot;&gt;&lt;property id=&quot;20148&quot; value=&quot;5&quot;/&gt;&lt;property id=&quot;20300&quot; value=&quot;Slide 30&quot;/&gt;&lt;property id=&quot;20307&quot; value=&quot;381&quot;/&gt;&lt;/object&gt;&lt;object type=&quot;3&quot; unique_id=&quot;10033&quot;&gt;&lt;property id=&quot;20148&quot; value=&quot;5&quot;/&gt;&lt;property id=&quot;20300&quot; value=&quot;Slide 31&quot;/&gt;&lt;property id=&quot;20307&quot; value=&quot;362&quot;/&gt;&lt;/object&gt;&lt;object type=&quot;3&quot; unique_id=&quot;10034&quot;&gt;&lt;property id=&quot;20148&quot; value=&quot;5&quot;/&gt;&lt;property id=&quot;20300&quot; value=&quot;Slide 32&quot;/&gt;&lt;property id=&quot;20307&quot; value=&quot;363&quot;/&gt;&lt;/object&gt;&lt;object type=&quot;3&quot; unique_id=&quot;10035&quot;&gt;&lt;property id=&quot;20148&quot; value=&quot;5&quot;/&gt;&lt;property id=&quot;20300&quot; value=&quot;Slide 33&quot;/&gt;&lt;property id=&quot;20307&quot; value=&quot;368&quot;/&gt;&lt;/object&gt;&lt;object type=&quot;3&quot; unique_id=&quot;10036&quot;&gt;&lt;property id=&quot;20148&quot; value=&quot;5&quot;/&gt;&lt;property id=&quot;20300&quot; value=&quot;Slide 34&quot;/&gt;&lt;property id=&quot;20307&quot; value=&quot;328&quot;/&gt;&lt;/object&gt;&lt;object type=&quot;3&quot; unique_id=&quot;10037&quot;&gt;&lt;property id=&quot;20148&quot; value=&quot;5&quot;/&gt;&lt;property id=&quot;20300&quot; value=&quot;Slide 35&quot;/&gt;&lt;property id=&quot;20307&quot; value=&quot;369&quot;/&gt;&lt;/object&gt;&lt;object type=&quot;3&quot; unique_id=&quot;10038&quot;&gt;&lt;property id=&quot;20148&quot; value=&quot;5&quot;/&gt;&lt;property id=&quot;20300&quot; value=&quot;Slide 36&quot;/&gt;&lt;property id=&quot;20307&quot; value=&quot;373&quot;/&gt;&lt;/object&gt;&lt;object type=&quot;3&quot; unique_id=&quot;10039&quot;&gt;&lt;property id=&quot;20148&quot; value=&quot;5&quot;/&gt;&lt;property id=&quot;20300&quot; value=&quot;Slide 37&quot;/&gt;&lt;property id=&quot;20307&quot; value=&quot;374&quot;/&gt;&lt;/object&gt;&lt;object type=&quot;3&quot; unique_id=&quot;10040&quot;&gt;&lt;property id=&quot;20148&quot; value=&quot;5&quot;/&gt;&lt;property id=&quot;20300&quot; value=&quot;Slide 38&quot;/&gt;&lt;property id=&quot;20307&quot; value=&quot;375&quot;/&gt;&lt;/object&gt;&lt;object type=&quot;3&quot; unique_id=&quot;10041&quot;&gt;&lt;property id=&quot;20148&quot; value=&quot;5&quot;/&gt;&lt;property id=&quot;20300&quot; value=&quot;Slide 39&quot;/&gt;&lt;property id=&quot;20307&quot; value=&quot;376&quot;/&gt;&lt;/object&gt;&lt;object type=&quot;3&quot; unique_id=&quot;10042&quot;&gt;&lt;property id=&quot;20148&quot; value=&quot;5&quot;/&gt;&lt;property id=&quot;20300&quot; value=&quot;Slide 40&quot;/&gt;&lt;property id=&quot;20307&quot; value=&quot;329&quot;/&gt;&lt;/object&gt;&lt;object type=&quot;3&quot; unique_id=&quot;10043&quot;&gt;&lt;property id=&quot;20148&quot; value=&quot;5&quot;/&gt;&lt;property id=&quot;20300&quot; value=&quot;Slide 41&quot;/&gt;&lt;property id=&quot;20307&quot; value=&quot;366&quot;/&gt;&lt;/object&gt;&lt;object type=&quot;3&quot; unique_id=&quot;10044&quot;&gt;&lt;property id=&quot;20148&quot; value=&quot;5&quot;/&gt;&lt;property id=&quot;20300&quot; value=&quot;Slide 42&quot;/&gt;&lt;property id=&quot;20307&quot; value=&quot;336&quot;/&gt;&lt;/object&gt;&lt;object type=&quot;3&quot; unique_id=&quot;10045&quot;&gt;&lt;property id=&quot;20148&quot; value=&quot;5&quot;/&gt;&lt;property id=&quot;20300&quot; value=&quot;Slide 43&quot;/&gt;&lt;property id=&quot;20307&quot; value=&quot;330&quot;/&gt;&lt;/object&gt;&lt;object type=&quot;3&quot; unique_id=&quot;10046&quot;&gt;&lt;property id=&quot;20148&quot; value=&quot;5&quot;/&gt;&lt;property id=&quot;20300&quot; value=&quot;Slide 44&quot;/&gt;&lt;property id=&quot;20307&quot; value=&quot;367&quot;/&gt;&lt;/object&gt;&lt;object type=&quot;3&quot; unique_id=&quot;10047&quot;&gt;&lt;property id=&quot;20148&quot; value=&quot;5&quot;/&gt;&lt;property id=&quot;20300&quot; value=&quot;Slide 45&quot;/&gt;&lt;property id=&quot;20307&quot; value=&quot;316&quot;/&gt;&lt;/object&gt;&lt;object type=&quot;3&quot; unique_id=&quot;10048&quot;&gt;&lt;property id=&quot;20148&quot; value=&quot;5&quot;/&gt;&lt;property id=&quot;20300&quot; value=&quot;Slide 46&quot;/&gt;&lt;property id=&quot;20307&quot; value=&quot;279&quot;/&gt;&lt;/object&gt;&lt;object type=&quot;3&quot; unique_id=&quot;10049&quot;&gt;&lt;property id=&quot;20148&quot; value=&quot;5&quot;/&gt;&lt;property id=&quot;20300&quot; value=&quot;Slide 47&quot;/&gt;&lt;property id=&quot;20307&quot; value=&quot;378&quot;/&gt;&lt;/object&gt;&lt;object type=&quot;3&quot; unique_id=&quot;10050&quot;&gt;&lt;property id=&quot;20148&quot; value=&quot;5&quot;/&gt;&lt;property id=&quot;20300&quot; value=&quot;Slide 48&quot;/&gt;&lt;property id=&quot;20307&quot; value=&quot;382&quot;/&gt;&lt;/object&gt;&lt;object type=&quot;3&quot; unique_id=&quot;10051&quot;&gt;&lt;property id=&quot;20148&quot; value=&quot;5&quot;/&gt;&lt;property id=&quot;20300&quot; value=&quot;Slide 49&quot;/&gt;&lt;property id=&quot;20307&quot; value=&quot;307&quot;/&gt;&lt;/object&gt;&lt;object type=&quot;3&quot; unique_id=&quot;10052&quot;&gt;&lt;property id=&quot;20148&quot; value=&quot;5&quot;/&gt;&lt;property id=&quot;20300&quot; value=&quot;Slide 50&quot;/&gt;&lt;property id=&quot;20307&quot; value=&quot;377&quot;/&gt;&lt;/object&gt;&lt;object type=&quot;3&quot; unique_id=&quot;10053&quot;&gt;&lt;property id=&quot;20148&quot; value=&quot;5&quot;/&gt;&lt;property id=&quot;20300&quot; value=&quot;Slide 51&quot;/&gt;&lt;property id=&quot;20307&quot; value=&quot;312&quot;/&gt;&lt;/object&gt;&lt;object type=&quot;3&quot; unique_id=&quot;10054&quot;&gt;&lt;property id=&quot;20148&quot; value=&quot;5&quot;/&gt;&lt;property id=&quot;20300&quot; value=&quot;Slide 52&quot;/&gt;&lt;property id=&quot;20307&quot; value=&quot;372&quot;/&gt;&lt;/object&gt;&lt;object type=&quot;3&quot; unique_id=&quot;10055&quot;&gt;&lt;property id=&quot;20148&quot; value=&quot;5&quot;/&gt;&lt;property id=&quot;20300&quot; value=&quot;Slide 53&quot;/&gt;&lt;property id=&quot;20307&quot; value=&quot;332&quot;/&gt;&lt;/object&gt;&lt;object type=&quot;3&quot; unique_id=&quot;10056&quot;&gt;&lt;property id=&quot;20148&quot; value=&quot;5&quot;/&gt;&lt;property id=&quot;20300&quot; value=&quot;Slide 54&quot;/&gt;&lt;property id=&quot;20307&quot; value=&quot;272&quot;/&gt;&lt;/object&gt;&lt;object type=&quot;3&quot; unique_id=&quot;10057&quot;&gt;&lt;property id=&quot;20148&quot; value=&quot;5&quot;/&gt;&lt;property id=&quot;20300&quot; value=&quot;Slide 55&quot;/&gt;&lt;property id=&quot;20307&quot; value=&quot;280&quot;/&gt;&lt;/object&gt;&lt;object type=&quot;3&quot; unique_id=&quot;10058&quot;&gt;&lt;property id=&quot;20148&quot; value=&quot;5&quot;/&gt;&lt;property id=&quot;20300&quot; value=&quot;Slide 56&quot;/&gt;&lt;property id=&quot;20307&quot; value=&quot;384&quot;/&gt;&lt;/object&gt;&lt;object type=&quot;3&quot; unique_id=&quot;10059&quot;&gt;&lt;property id=&quot;20148&quot; value=&quot;5&quot;/&gt;&lt;property id=&quot;20300&quot; value=&quot;Slide 57&quot;/&gt;&lt;property id=&quot;20307&quot; value=&quot;315&quot;/&gt;&lt;/object&gt;&lt;object type=&quot;3&quot; unique_id=&quot;10060&quot;&gt;&lt;property id=&quot;20148&quot; value=&quot;5&quot;/&gt;&lt;property id=&quot;20300&quot; value=&quot;Slide 58&quot;/&gt;&lt;property id=&quot;20307&quot; value=&quot;314&quot;/&gt;&lt;/object&gt;&lt;object type=&quot;3&quot; unique_id=&quot;10061&quot;&gt;&lt;property id=&quot;20148&quot; value=&quot;5&quot;/&gt;&lt;property id=&quot;20300&quot; value=&quot;Slide 59&quot;/&gt;&lt;property id=&quot;20307&quot; value=&quot;339&quot;/&gt;&lt;/object&gt;&lt;object type=&quot;3&quot; unique_id=&quot;10062&quot;&gt;&lt;property id=&quot;20148&quot; value=&quot;5&quot;/&gt;&lt;property id=&quot;20300&quot; value=&quot;Slide 60&quot;/&gt;&lt;property id=&quot;20307&quot; value=&quot;353&quot;/&gt;&lt;/object&gt;&lt;object type=&quot;3&quot; unique_id=&quot;10063&quot;&gt;&lt;property id=&quot;20148&quot; value=&quot;5&quot;/&gt;&lt;property id=&quot;20300&quot; value=&quot;Slide 61&quot;/&gt;&lt;property id=&quot;20307&quot; value=&quot;338&quot;/&gt;&lt;/object&gt;&lt;object type=&quot;3&quot; unique_id=&quot;10064&quot;&gt;&lt;property id=&quot;20148&quot; value=&quot;5&quot;/&gt;&lt;property id=&quot;20300&quot; value=&quot;Slide 62&quot;/&gt;&lt;property id=&quot;20307&quot; value=&quot;383&quot;/&gt;&lt;/object&gt;&lt;object type=&quot;3&quot; unique_id=&quot;10065&quot;&gt;&lt;property id=&quot;20148&quot; value=&quot;5&quot;/&gt;&lt;property id=&quot;20300&quot; value=&quot;Slide 63&quot;/&gt;&lt;property id=&quot;20307&quot; value=&quot;318&quot;/&gt;&lt;/object&gt;&lt;/object&gt;&lt;object type=&quot;8&quot; unique_id=&quot;10130&quot;&gt;&lt;/object&gt;&lt;/object&gt;&lt;/database&gt;"/>
  <p:tag name="MMPROD_NEXTUNIQUEID" val="10009"/>
  <p:tag name="SECTOMILLISECCONVERTED" val="1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2645</TotalTime>
  <Words>1234</Words>
  <Application>Microsoft Office PowerPoint</Application>
  <PresentationFormat>On-screen Show (4:3)</PresentationFormat>
  <Paragraphs>254</Paragraphs>
  <Slides>28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1" baseType="lpstr">
      <vt:lpstr>MS PGothic</vt:lpstr>
      <vt:lpstr>Abadi</vt:lpstr>
      <vt:lpstr>Aptos Black</vt:lpstr>
      <vt:lpstr>Aptos ExtraBold</vt:lpstr>
      <vt:lpstr>Arial</vt:lpstr>
      <vt:lpstr>Cambria Math</vt:lpstr>
      <vt:lpstr>Courier New</vt:lpstr>
      <vt:lpstr>Impact</vt:lpstr>
      <vt:lpstr>Source Sans Pro SemiBold</vt:lpstr>
      <vt:lpstr>Tahoma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Building a BST</vt:lpstr>
      <vt:lpstr>Building a BST</vt:lpstr>
      <vt:lpstr>Building a BST</vt:lpstr>
      <vt:lpstr>Building a BST</vt:lpstr>
      <vt:lpstr>Building a BST</vt:lpstr>
      <vt:lpstr>Building a BST</vt:lpstr>
      <vt:lpstr>Building a BST</vt:lpstr>
      <vt:lpstr>Building a BST</vt:lpstr>
      <vt:lpstr>Building a BST</vt:lpstr>
      <vt:lpstr>Building a BST</vt:lpstr>
      <vt:lpstr>Building a BST</vt:lpstr>
      <vt:lpstr>Building a BST</vt:lpstr>
      <vt:lpstr>Building a BST</vt:lpstr>
      <vt:lpstr>Add Method</vt:lpstr>
      <vt:lpstr>Add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Comparing Data Structures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Binary Trees</dc:title>
  <dc:subject>Binary Trees</dc:subject>
  <dc:creator>A+ Computer Science</dc:creator>
  <cp:keywords>www.apluscompsci.com</cp:keywords>
  <dc:description>Binary Trees_x000d_
©A+ Computer Science_x000d_
www.apluscompsci.com</dc:description>
  <cp:lastModifiedBy>Weldon Jasik</cp:lastModifiedBy>
  <cp:revision>481</cp:revision>
  <cp:lastPrinted>2000-11-07T14:58:20Z</cp:lastPrinted>
  <dcterms:created xsi:type="dcterms:W3CDTF">2000-01-19T01:43:11Z</dcterms:created>
  <dcterms:modified xsi:type="dcterms:W3CDTF">2025-03-03T03:34:40Z</dcterms:modified>
  <cp:category>www.apluscompsci.com</cp:category>
</cp:coreProperties>
</file>