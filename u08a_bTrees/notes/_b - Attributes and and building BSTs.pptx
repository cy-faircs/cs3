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p:sldMasterIdLst>
    <p:sldMasterId id="2147483648" r:id="rId1"/>
  </p:sldMasterIdLst>
  <p:notesMasterIdLst>
    <p:notesMasterId r:id="rId35"/>
  </p:notesMasterIdLst>
  <p:handoutMasterIdLst>
    <p:handoutMasterId r:id="rId36"/>
  </p:handoutMasterIdLst>
  <p:sldIdLst>
    <p:sldId id="329" r:id="rId2"/>
    <p:sldId id="279" r:id="rId3"/>
    <p:sldId id="399" r:id="rId4"/>
    <p:sldId id="400" r:id="rId5"/>
    <p:sldId id="401" r:id="rId6"/>
    <p:sldId id="402" r:id="rId7"/>
    <p:sldId id="366" r:id="rId8"/>
    <p:sldId id="397" r:id="rId9"/>
    <p:sldId id="367" r:id="rId10"/>
    <p:sldId id="330" r:id="rId11"/>
    <p:sldId id="388" r:id="rId12"/>
    <p:sldId id="392" r:id="rId13"/>
    <p:sldId id="393" r:id="rId14"/>
    <p:sldId id="394" r:id="rId15"/>
    <p:sldId id="340" r:id="rId16"/>
    <p:sldId id="341" r:id="rId17"/>
    <p:sldId id="342" r:id="rId18"/>
    <p:sldId id="343" r:id="rId19"/>
    <p:sldId id="344" r:id="rId20"/>
    <p:sldId id="345" r:id="rId21"/>
    <p:sldId id="346" r:id="rId22"/>
    <p:sldId id="347" r:id="rId23"/>
    <p:sldId id="348" r:id="rId24"/>
    <p:sldId id="349" r:id="rId25"/>
    <p:sldId id="350" r:id="rId26"/>
    <p:sldId id="395" r:id="rId27"/>
    <p:sldId id="396" r:id="rId28"/>
    <p:sldId id="339" r:id="rId29"/>
    <p:sldId id="338" r:id="rId30"/>
    <p:sldId id="389" r:id="rId31"/>
    <p:sldId id="398" r:id="rId32"/>
    <p:sldId id="390" r:id="rId33"/>
    <p:sldId id="387" r:id="rId34"/>
  </p:sldIdLst>
  <p:sldSz cx="9144000" cy="6858000" type="screen4x3"/>
  <p:notesSz cx="6858000" cy="9144000"/>
  <p:custDataLst>
    <p:tags r:id="rId37"/>
  </p:custDataLst>
  <p:defaultTextStyle>
    <a:defPPr>
      <a:defRPr lang="en-US"/>
    </a:defPPr>
    <a:lvl1pPr algn="l" rtl="0" eaLnBrk="0" fontAlgn="base" hangingPunct="0">
      <a:spcBef>
        <a:spcPct val="0"/>
      </a:spcBef>
      <a:spcAft>
        <a:spcPct val="0"/>
      </a:spcAft>
      <a:defRPr sz="2400" kern="1200">
        <a:solidFill>
          <a:schemeClr val="tx1"/>
        </a:solidFill>
        <a:latin typeface="Tahoma" pitchFamily="34" charset="0"/>
        <a:ea typeface="+mn-ea"/>
        <a:cs typeface="+mn-cs"/>
      </a:defRPr>
    </a:lvl1pPr>
    <a:lvl2pPr marL="457200" algn="l" rtl="0" eaLnBrk="0" fontAlgn="base" hangingPunct="0">
      <a:spcBef>
        <a:spcPct val="0"/>
      </a:spcBef>
      <a:spcAft>
        <a:spcPct val="0"/>
      </a:spcAft>
      <a:defRPr sz="2400" kern="1200">
        <a:solidFill>
          <a:schemeClr val="tx1"/>
        </a:solidFill>
        <a:latin typeface="Tahoma" pitchFamily="34" charset="0"/>
        <a:ea typeface="+mn-ea"/>
        <a:cs typeface="+mn-cs"/>
      </a:defRPr>
    </a:lvl2pPr>
    <a:lvl3pPr marL="914400" algn="l" rtl="0" eaLnBrk="0" fontAlgn="base" hangingPunct="0">
      <a:spcBef>
        <a:spcPct val="0"/>
      </a:spcBef>
      <a:spcAft>
        <a:spcPct val="0"/>
      </a:spcAft>
      <a:defRPr sz="2400" kern="1200">
        <a:solidFill>
          <a:schemeClr val="tx1"/>
        </a:solidFill>
        <a:latin typeface="Tahoma" pitchFamily="34" charset="0"/>
        <a:ea typeface="+mn-ea"/>
        <a:cs typeface="+mn-cs"/>
      </a:defRPr>
    </a:lvl3pPr>
    <a:lvl4pPr marL="1371600" algn="l" rtl="0" eaLnBrk="0" fontAlgn="base" hangingPunct="0">
      <a:spcBef>
        <a:spcPct val="0"/>
      </a:spcBef>
      <a:spcAft>
        <a:spcPct val="0"/>
      </a:spcAft>
      <a:defRPr sz="2400" kern="1200">
        <a:solidFill>
          <a:schemeClr val="tx1"/>
        </a:solidFill>
        <a:latin typeface="Tahoma" pitchFamily="34" charset="0"/>
        <a:ea typeface="+mn-ea"/>
        <a:cs typeface="+mn-cs"/>
      </a:defRPr>
    </a:lvl4pPr>
    <a:lvl5pPr marL="1828800" algn="l" rtl="0" eaLnBrk="0" fontAlgn="base" hangingPunct="0">
      <a:spcBef>
        <a:spcPct val="0"/>
      </a:spcBef>
      <a:spcAft>
        <a:spcPct val="0"/>
      </a:spcAft>
      <a:defRPr sz="2400" kern="1200">
        <a:solidFill>
          <a:schemeClr val="tx1"/>
        </a:solidFill>
        <a:latin typeface="Tahoma" pitchFamily="34" charset="0"/>
        <a:ea typeface="+mn-ea"/>
        <a:cs typeface="+mn-cs"/>
      </a:defRPr>
    </a:lvl5pPr>
    <a:lvl6pPr marL="2286000" algn="l" defTabSz="914400" rtl="0" eaLnBrk="1" latinLnBrk="0" hangingPunct="1">
      <a:defRPr sz="2400" kern="1200">
        <a:solidFill>
          <a:schemeClr val="tx1"/>
        </a:solidFill>
        <a:latin typeface="Tahoma" pitchFamily="34" charset="0"/>
        <a:ea typeface="+mn-ea"/>
        <a:cs typeface="+mn-cs"/>
      </a:defRPr>
    </a:lvl6pPr>
    <a:lvl7pPr marL="2743200" algn="l" defTabSz="914400" rtl="0" eaLnBrk="1" latinLnBrk="0" hangingPunct="1">
      <a:defRPr sz="2400" kern="1200">
        <a:solidFill>
          <a:schemeClr val="tx1"/>
        </a:solidFill>
        <a:latin typeface="Tahoma" pitchFamily="34" charset="0"/>
        <a:ea typeface="+mn-ea"/>
        <a:cs typeface="+mn-cs"/>
      </a:defRPr>
    </a:lvl7pPr>
    <a:lvl8pPr marL="3200400" algn="l" defTabSz="914400" rtl="0" eaLnBrk="1" latinLnBrk="0" hangingPunct="1">
      <a:defRPr sz="2400" kern="1200">
        <a:solidFill>
          <a:schemeClr val="tx1"/>
        </a:solidFill>
        <a:latin typeface="Tahoma" pitchFamily="34" charset="0"/>
        <a:ea typeface="+mn-ea"/>
        <a:cs typeface="+mn-cs"/>
      </a:defRPr>
    </a:lvl8pPr>
    <a:lvl9pPr marL="3657600" algn="l" defTabSz="914400" rtl="0" eaLnBrk="1" latinLnBrk="0" hangingPunct="1">
      <a:defRPr sz="2400" kern="1200">
        <a:solidFill>
          <a:schemeClr val="tx1"/>
        </a:solidFill>
        <a:latin typeface="Tahoma" pitchFamily="34" charset="0"/>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00CC"/>
    <a:srgbClr val="FFFBFB"/>
    <a:srgbClr val="0099CC"/>
    <a:srgbClr val="003366"/>
    <a:srgbClr val="660066"/>
    <a:srgbClr val="FFFF00"/>
    <a:srgbClr val="FFFFCC"/>
    <a:srgbClr val="FFCCFF"/>
    <a:srgbClr val="99FFFF"/>
    <a:srgbClr val="0099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40" autoAdjust="0"/>
    <p:restoredTop sz="88608" autoAdjust="0"/>
  </p:normalViewPr>
  <p:slideViewPr>
    <p:cSldViewPr>
      <p:cViewPr varScale="1">
        <p:scale>
          <a:sx n="81" d="100"/>
          <a:sy n="81" d="100"/>
        </p:scale>
        <p:origin x="1426" y="72"/>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66" d="100"/>
        <a:sy n="66" d="100"/>
      </p:scale>
      <p:origin x="0" y="3672"/>
    </p:cViewPr>
  </p:sorterViewPr>
  <p:notesViewPr>
    <p:cSldViewPr>
      <p:cViewPr varScale="1">
        <p:scale>
          <a:sx n="63" d="100"/>
          <a:sy n="63" d="100"/>
        </p:scale>
        <p:origin x="-2430" y="-96"/>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viewProps" Target="viewProps.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ags" Target="tags/tag1.xml"/><Relationship Id="rId40"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handoutMaster" Target="handoutMasters/handout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notesMaster" Target="notesMasters/notesMaster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presProps" Target="pres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9938" name="Rectangle 2"/>
          <p:cNvSpPr>
            <a:spLocks noGrp="1" noChangeArrowheads="1"/>
          </p:cNvSpPr>
          <p:nvPr>
            <p:ph type="hdr" sz="quarter"/>
          </p:nvPr>
        </p:nvSpPr>
        <p:spPr bwMode="auto">
          <a:xfrm>
            <a:off x="0" y="0"/>
            <a:ext cx="29718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defRPr sz="1200" b="1"/>
            </a:lvl1pPr>
          </a:lstStyle>
          <a:p>
            <a:pPr>
              <a:defRPr/>
            </a:pPr>
            <a:endParaRPr lang="en-US"/>
          </a:p>
        </p:txBody>
      </p:sp>
      <p:sp>
        <p:nvSpPr>
          <p:cNvPr id="39939" name="Rectangle 3"/>
          <p:cNvSpPr>
            <a:spLocks noGrp="1" noChangeArrowheads="1"/>
          </p:cNvSpPr>
          <p:nvPr>
            <p:ph type="dt" sz="quarter" idx="1"/>
          </p:nvPr>
        </p:nvSpPr>
        <p:spPr bwMode="auto">
          <a:xfrm>
            <a:off x="3886200" y="0"/>
            <a:ext cx="29718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lgn="r">
              <a:defRPr sz="1200" b="1"/>
            </a:lvl1pPr>
          </a:lstStyle>
          <a:p>
            <a:pPr>
              <a:defRPr/>
            </a:pPr>
            <a:endParaRPr lang="en-US"/>
          </a:p>
        </p:txBody>
      </p:sp>
      <p:sp>
        <p:nvSpPr>
          <p:cNvPr id="39940" name="Rectangle 4"/>
          <p:cNvSpPr>
            <a:spLocks noGrp="1" noChangeArrowheads="1"/>
          </p:cNvSpPr>
          <p:nvPr>
            <p:ph type="ftr" sz="quarter" idx="2"/>
          </p:nvPr>
        </p:nvSpPr>
        <p:spPr bwMode="auto">
          <a:xfrm>
            <a:off x="0" y="8686800"/>
            <a:ext cx="29718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b" anchorCtr="0" compatLnSpc="1">
            <a:prstTxWarp prst="textNoShape">
              <a:avLst/>
            </a:prstTxWarp>
          </a:bodyPr>
          <a:lstStyle>
            <a:lvl1pPr>
              <a:defRPr sz="1200" b="1"/>
            </a:lvl1pPr>
          </a:lstStyle>
          <a:p>
            <a:pPr>
              <a:defRPr/>
            </a:pPr>
            <a:endParaRPr lang="en-US"/>
          </a:p>
        </p:txBody>
      </p:sp>
      <p:sp>
        <p:nvSpPr>
          <p:cNvPr id="39941" name="Rectangle 5"/>
          <p:cNvSpPr>
            <a:spLocks noGrp="1" noChangeArrowheads="1"/>
          </p:cNvSpPr>
          <p:nvPr>
            <p:ph type="sldNum" sz="quarter" idx="3"/>
          </p:nvPr>
        </p:nvSpPr>
        <p:spPr bwMode="auto">
          <a:xfrm>
            <a:off x="3886200" y="8686800"/>
            <a:ext cx="29718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b" anchorCtr="0" compatLnSpc="1">
            <a:prstTxWarp prst="textNoShape">
              <a:avLst/>
            </a:prstTxWarp>
          </a:bodyPr>
          <a:lstStyle>
            <a:lvl1pPr algn="r">
              <a:defRPr sz="1200" b="1"/>
            </a:lvl1pPr>
          </a:lstStyle>
          <a:p>
            <a:pPr>
              <a:defRPr/>
            </a:pPr>
            <a:fld id="{C008D70E-2E68-44A0-BD0F-EE16C74DF1BE}" type="slidenum">
              <a:rPr lang="en-US"/>
              <a:pPr>
                <a:defRPr/>
              </a:pPr>
              <a:t>‹#›</a:t>
            </a:fld>
            <a:endParaRPr lang="en-US"/>
          </a:p>
        </p:txBody>
      </p:sp>
    </p:spTree>
    <p:extLst>
      <p:ext uri="{BB962C8B-B14F-4D97-AF65-F5344CB8AC3E}">
        <p14:creationId xmlns:p14="http://schemas.microsoft.com/office/powerpoint/2010/main" val="51633643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995310526"/>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Times New Roman" pitchFamily="18" charset="0"/>
        <a:ea typeface="+mn-ea"/>
        <a:cs typeface="+mn-cs"/>
      </a:defRPr>
    </a:lvl1pPr>
    <a:lvl2pPr marL="457200" algn="l" rtl="0" eaLnBrk="0" fontAlgn="base" hangingPunct="0">
      <a:spcBef>
        <a:spcPct val="30000"/>
      </a:spcBef>
      <a:spcAft>
        <a:spcPct val="0"/>
      </a:spcAft>
      <a:defRPr sz="1200" kern="1200">
        <a:solidFill>
          <a:schemeClr val="tx1"/>
        </a:solidFill>
        <a:latin typeface="Times New Roman" pitchFamily="18" charset="0"/>
        <a:ea typeface="+mn-ea"/>
        <a:cs typeface="+mn-cs"/>
      </a:defRPr>
    </a:lvl2pPr>
    <a:lvl3pPr marL="914400" algn="l" rtl="0" eaLnBrk="0" fontAlgn="base" hangingPunct="0">
      <a:spcBef>
        <a:spcPct val="30000"/>
      </a:spcBef>
      <a:spcAft>
        <a:spcPct val="0"/>
      </a:spcAft>
      <a:defRPr sz="1200" kern="1200">
        <a:solidFill>
          <a:schemeClr val="tx1"/>
        </a:solidFill>
        <a:latin typeface="Times New Roman" pitchFamily="18" charset="0"/>
        <a:ea typeface="+mn-ea"/>
        <a:cs typeface="+mn-cs"/>
      </a:defRPr>
    </a:lvl3pPr>
    <a:lvl4pPr marL="1371600" algn="l" rtl="0" eaLnBrk="0" fontAlgn="base" hangingPunct="0">
      <a:spcBef>
        <a:spcPct val="30000"/>
      </a:spcBef>
      <a:spcAft>
        <a:spcPct val="0"/>
      </a:spcAft>
      <a:defRPr sz="1200" kern="1200">
        <a:solidFill>
          <a:schemeClr val="tx1"/>
        </a:solidFill>
        <a:latin typeface="Times New Roman" pitchFamily="18" charset="0"/>
        <a:ea typeface="+mn-ea"/>
        <a:cs typeface="+mn-cs"/>
      </a:defRPr>
    </a:lvl4pPr>
    <a:lvl5pPr marL="1828800" algn="l" rtl="0" eaLnBrk="0" fontAlgn="base" hangingPunct="0">
      <a:spcBef>
        <a:spcPct val="30000"/>
      </a:spcBef>
      <a:spcAft>
        <a:spcPct val="0"/>
      </a:spcAft>
      <a:defRPr sz="1200" kern="1200">
        <a:solidFill>
          <a:schemeClr val="tx1"/>
        </a:solidFill>
        <a:latin typeface="Times New Roman" pitchFamily="18"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378" name="Rectangle 2"/>
          <p:cNvSpPr>
            <a:spLocks noGrp="1" noRot="1" noChangeAspect="1" noChangeArrowheads="1" noTextEdit="1"/>
          </p:cNvSpPr>
          <p:nvPr>
            <p:ph type="sldImg"/>
          </p:nvPr>
        </p:nvSpPr>
        <p:spPr bwMode="auto">
          <a:xfrm>
            <a:off x="1143000" y="685800"/>
            <a:ext cx="4572000" cy="3429000"/>
          </a:xfrm>
          <a:prstGeom prst="rect">
            <a:avLst/>
          </a:prstGeom>
          <a:noFill/>
          <a:ln>
            <a:solidFill>
              <a:srgbClr val="000000"/>
            </a:solidFill>
            <a:miter lim="800000"/>
            <a:headEnd/>
            <a:tailEnd/>
          </a:ln>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101379" name="Rectangle 3"/>
          <p:cNvSpPr>
            <a:spLocks noGrp="1" noChangeArrowheads="1"/>
          </p:cNvSpPr>
          <p:nvPr>
            <p:ph type="body" idx="1"/>
          </p:nvPr>
        </p:nvSpPr>
        <p:spPr bwMode="auto">
          <a:xfrm>
            <a:off x="685800" y="4343400"/>
            <a:ext cx="5486400" cy="4114800"/>
          </a:xfrm>
          <a:prstGeom prst="rect">
            <a:avLst/>
          </a:prstGeom>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Tree>
    <p:extLst>
      <p:ext uri="{BB962C8B-B14F-4D97-AF65-F5344CB8AC3E}">
        <p14:creationId xmlns:p14="http://schemas.microsoft.com/office/powerpoint/2010/main" val="85214851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143000" y="685800"/>
            <a:ext cx="4572000" cy="3429000"/>
          </a:xfrm>
          <a:prstGeom prst="rect">
            <a:avLst/>
          </a:prstGeom>
          <a:noFill/>
          <a:ln w="12700">
            <a:solidFill>
              <a:prstClr val="black"/>
            </a:solidFill>
          </a:ln>
        </p:spPr>
      </p:sp>
      <p:sp>
        <p:nvSpPr>
          <p:cNvPr id="3" name="Notes Placeholder 2"/>
          <p:cNvSpPr>
            <a:spLocks noGrp="1"/>
          </p:cNvSpPr>
          <p:nvPr>
            <p:ph type="body" idx="1"/>
          </p:nvPr>
        </p:nvSpPr>
        <p:spPr>
          <a:xfrm>
            <a:off x="685800" y="4343400"/>
            <a:ext cx="5486400" cy="4114800"/>
          </a:xfrm>
          <a:prstGeom prst="rect">
            <a:avLst/>
          </a:prstGeom>
        </p:spPr>
        <p:txBody>
          <a:bodyPr/>
          <a:lstStyle/>
          <a:p>
            <a:r>
              <a:rPr lang="en-US" sz="1200" b="0" i="0" u="none" strike="noStrike" kern="1200" baseline="0" dirty="0">
                <a:solidFill>
                  <a:schemeClr val="tx1"/>
                </a:solidFill>
                <a:latin typeface="Times New Roman" pitchFamily="18" charset="0"/>
                <a:ea typeface="+mn-ea"/>
                <a:cs typeface="+mn-cs"/>
              </a:rPr>
              <a:t>Theorems: Let T be a nonempty, </a:t>
            </a:r>
            <a:r>
              <a:rPr lang="en-US" sz="1200" b="1" i="0" u="none" strike="noStrike" kern="1200" baseline="0" dirty="0">
                <a:solidFill>
                  <a:schemeClr val="tx1"/>
                </a:solidFill>
                <a:latin typeface="Times New Roman" pitchFamily="18" charset="0"/>
                <a:ea typeface="+mn-ea"/>
                <a:cs typeface="+mn-cs"/>
              </a:rPr>
              <a:t>full</a:t>
            </a:r>
            <a:r>
              <a:rPr lang="en-US" sz="1200" b="0" i="0" u="none" strike="noStrike" kern="1200" baseline="0" dirty="0">
                <a:solidFill>
                  <a:schemeClr val="tx1"/>
                </a:solidFill>
                <a:latin typeface="Times New Roman" pitchFamily="18" charset="0"/>
                <a:ea typeface="+mn-ea"/>
                <a:cs typeface="+mn-cs"/>
              </a:rPr>
              <a:t> binary tree. Then:</a:t>
            </a:r>
          </a:p>
          <a:p>
            <a:r>
              <a:rPr lang="en-US" sz="1200" b="0" i="0" u="none" strike="noStrike" kern="1200" baseline="0" dirty="0">
                <a:solidFill>
                  <a:schemeClr val="tx1"/>
                </a:solidFill>
                <a:latin typeface="Times New Roman" pitchFamily="18" charset="0"/>
                <a:ea typeface="+mn-ea"/>
                <a:cs typeface="+mn-cs"/>
              </a:rPr>
              <a:t>(a) If T has I internal nodes (i.e. </a:t>
            </a:r>
            <a:r>
              <a:rPr lang="en-US" sz="1200" b="0" i="0" u="none" strike="noStrike" kern="1200" baseline="0">
                <a:solidFill>
                  <a:schemeClr val="tx1"/>
                </a:solidFill>
                <a:latin typeface="Times New Roman" pitchFamily="18" charset="0"/>
                <a:ea typeface="+mn-ea"/>
                <a:cs typeface="+mn-cs"/>
              </a:rPr>
              <a:t>parent nodes), </a:t>
            </a:r>
            <a:r>
              <a:rPr lang="en-US" sz="1200" b="0" i="0" u="none" strike="noStrike" kern="1200" baseline="0" dirty="0">
                <a:solidFill>
                  <a:schemeClr val="tx1"/>
                </a:solidFill>
                <a:latin typeface="Times New Roman" pitchFamily="18" charset="0"/>
                <a:ea typeface="+mn-ea"/>
                <a:cs typeface="+mn-cs"/>
              </a:rPr>
              <a:t>the number of leaves is L = I + 1.</a:t>
            </a:r>
          </a:p>
          <a:p>
            <a:r>
              <a:rPr lang="en-US" sz="1200" b="0" i="0" u="none" strike="noStrike" kern="1200" baseline="0" dirty="0">
                <a:solidFill>
                  <a:schemeClr val="tx1"/>
                </a:solidFill>
                <a:latin typeface="Times New Roman" pitchFamily="18" charset="0"/>
                <a:ea typeface="+mn-ea"/>
                <a:cs typeface="+mn-cs"/>
              </a:rPr>
              <a:t>(b) If T has I internal nodes, the total number of nodes is N = 2I + 1.</a:t>
            </a:r>
          </a:p>
          <a:p>
            <a:r>
              <a:rPr lang="en-US" sz="1200" b="0" i="0" u="none" strike="noStrike" kern="1200" baseline="0" dirty="0">
                <a:solidFill>
                  <a:schemeClr val="tx1"/>
                </a:solidFill>
                <a:latin typeface="Times New Roman" pitchFamily="18" charset="0"/>
                <a:ea typeface="+mn-ea"/>
                <a:cs typeface="+mn-cs"/>
              </a:rPr>
              <a:t>(c) If T has a total of N nodes, the number of internal nodes is I = (N – 1)/2.</a:t>
            </a:r>
          </a:p>
          <a:p>
            <a:r>
              <a:rPr lang="en-US" sz="1200" b="0" i="0" u="none" strike="noStrike" kern="1200" baseline="0" dirty="0">
                <a:solidFill>
                  <a:schemeClr val="tx1"/>
                </a:solidFill>
                <a:latin typeface="Times New Roman" pitchFamily="18" charset="0"/>
                <a:ea typeface="+mn-ea"/>
                <a:cs typeface="+mn-cs"/>
              </a:rPr>
              <a:t>(d) If T has a total of N nodes, the number of leaves is L = (N + 1)/2.</a:t>
            </a:r>
          </a:p>
          <a:p>
            <a:r>
              <a:rPr lang="en-US" sz="1200" b="0" i="0" u="none" strike="noStrike" kern="1200" baseline="0" dirty="0">
                <a:solidFill>
                  <a:schemeClr val="tx1"/>
                </a:solidFill>
                <a:latin typeface="Times New Roman" pitchFamily="18" charset="0"/>
                <a:ea typeface="+mn-ea"/>
                <a:cs typeface="+mn-cs"/>
              </a:rPr>
              <a:t>(e) If T has L leaves, the total number of nodes is N = 2L – 1.</a:t>
            </a:r>
          </a:p>
          <a:p>
            <a:r>
              <a:rPr lang="en-US" sz="1200" b="0" i="0" u="none" strike="noStrike" kern="1200" baseline="0" dirty="0">
                <a:solidFill>
                  <a:schemeClr val="tx1"/>
                </a:solidFill>
                <a:latin typeface="Times New Roman" pitchFamily="18" charset="0"/>
                <a:ea typeface="+mn-ea"/>
                <a:cs typeface="+mn-cs"/>
              </a:rPr>
              <a:t>(f) If T has L leaves, the number of internal nodes is I = L – 1.</a:t>
            </a:r>
            <a:endParaRPr lang="en-US" dirty="0"/>
          </a:p>
        </p:txBody>
      </p:sp>
    </p:spTree>
    <p:extLst>
      <p:ext uri="{BB962C8B-B14F-4D97-AF65-F5344CB8AC3E}">
        <p14:creationId xmlns:p14="http://schemas.microsoft.com/office/powerpoint/2010/main" val="326837187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143000" y="685800"/>
            <a:ext cx="4572000" cy="3429000"/>
          </a:xfrm>
          <a:prstGeom prst="rect">
            <a:avLst/>
          </a:prstGeom>
          <a:noFill/>
          <a:ln w="12700">
            <a:solidFill>
              <a:prstClr val="black"/>
            </a:solidFill>
          </a:ln>
        </p:spPr>
      </p:sp>
      <p:sp>
        <p:nvSpPr>
          <p:cNvPr id="3" name="Notes Placeholder 2"/>
          <p:cNvSpPr>
            <a:spLocks noGrp="1"/>
          </p:cNvSpPr>
          <p:nvPr>
            <p:ph type="body" idx="1"/>
          </p:nvPr>
        </p:nvSpPr>
        <p:spPr>
          <a:xfrm>
            <a:off x="685800" y="4343400"/>
            <a:ext cx="5486400" cy="4114800"/>
          </a:xfrm>
          <a:prstGeom prst="rect">
            <a:avLst/>
          </a:prstGeom>
        </p:spPr>
        <p:txBody>
          <a:bodyPr/>
          <a:lstStyle/>
          <a:p>
            <a:r>
              <a:rPr lang="en-US" sz="1200" b="0" i="0" u="none" strike="noStrike" kern="1200" baseline="0" dirty="0">
                <a:solidFill>
                  <a:schemeClr val="tx1"/>
                </a:solidFill>
                <a:latin typeface="Times New Roman" pitchFamily="18" charset="0"/>
                <a:ea typeface="+mn-ea"/>
                <a:cs typeface="+mn-cs"/>
              </a:rPr>
              <a:t>Theorems: Let T be a nonempty, </a:t>
            </a:r>
            <a:r>
              <a:rPr lang="en-US" sz="1200" b="1" i="0" u="none" strike="noStrike" kern="1200" baseline="0" dirty="0">
                <a:solidFill>
                  <a:schemeClr val="tx1"/>
                </a:solidFill>
                <a:latin typeface="Times New Roman" pitchFamily="18" charset="0"/>
                <a:ea typeface="+mn-ea"/>
                <a:cs typeface="+mn-cs"/>
              </a:rPr>
              <a:t>full</a:t>
            </a:r>
            <a:r>
              <a:rPr lang="en-US" sz="1200" b="0" i="0" u="none" strike="noStrike" kern="1200" baseline="0" dirty="0">
                <a:solidFill>
                  <a:schemeClr val="tx1"/>
                </a:solidFill>
                <a:latin typeface="Times New Roman" pitchFamily="18" charset="0"/>
                <a:ea typeface="+mn-ea"/>
                <a:cs typeface="+mn-cs"/>
              </a:rPr>
              <a:t> binary tree. Then:</a:t>
            </a:r>
          </a:p>
          <a:p>
            <a:r>
              <a:rPr lang="en-US" sz="1200" b="0" i="0" u="none" strike="noStrike" kern="1200" baseline="0" dirty="0">
                <a:solidFill>
                  <a:schemeClr val="tx1"/>
                </a:solidFill>
                <a:latin typeface="Times New Roman" pitchFamily="18" charset="0"/>
                <a:ea typeface="+mn-ea"/>
                <a:cs typeface="+mn-cs"/>
              </a:rPr>
              <a:t>(a) If T has I internal nodes (i.e. </a:t>
            </a:r>
            <a:r>
              <a:rPr lang="en-US" sz="1200" b="0" i="0" u="none" strike="noStrike" kern="1200" baseline="0">
                <a:solidFill>
                  <a:schemeClr val="tx1"/>
                </a:solidFill>
                <a:latin typeface="Times New Roman" pitchFamily="18" charset="0"/>
                <a:ea typeface="+mn-ea"/>
                <a:cs typeface="+mn-cs"/>
              </a:rPr>
              <a:t>parent nodes), </a:t>
            </a:r>
            <a:r>
              <a:rPr lang="en-US" sz="1200" b="0" i="0" u="none" strike="noStrike" kern="1200" baseline="0" dirty="0">
                <a:solidFill>
                  <a:schemeClr val="tx1"/>
                </a:solidFill>
                <a:latin typeface="Times New Roman" pitchFamily="18" charset="0"/>
                <a:ea typeface="+mn-ea"/>
                <a:cs typeface="+mn-cs"/>
              </a:rPr>
              <a:t>the number of leaves is L = I + 1.</a:t>
            </a:r>
          </a:p>
          <a:p>
            <a:r>
              <a:rPr lang="en-US" sz="1200" b="0" i="0" u="none" strike="noStrike" kern="1200" baseline="0" dirty="0">
                <a:solidFill>
                  <a:schemeClr val="tx1"/>
                </a:solidFill>
                <a:latin typeface="Times New Roman" pitchFamily="18" charset="0"/>
                <a:ea typeface="+mn-ea"/>
                <a:cs typeface="+mn-cs"/>
              </a:rPr>
              <a:t>(b) If T has I internal nodes, the total number of nodes is N = 2I + 1.</a:t>
            </a:r>
          </a:p>
          <a:p>
            <a:r>
              <a:rPr lang="en-US" sz="1200" b="0" i="0" u="none" strike="noStrike" kern="1200" baseline="0" dirty="0">
                <a:solidFill>
                  <a:schemeClr val="tx1"/>
                </a:solidFill>
                <a:latin typeface="Times New Roman" pitchFamily="18" charset="0"/>
                <a:ea typeface="+mn-ea"/>
                <a:cs typeface="+mn-cs"/>
              </a:rPr>
              <a:t>(c) If T has a total of N nodes, the number of internal nodes is I = (N – 1)/2.</a:t>
            </a:r>
          </a:p>
          <a:p>
            <a:r>
              <a:rPr lang="en-US" sz="1200" b="0" i="0" u="none" strike="noStrike" kern="1200" baseline="0" dirty="0">
                <a:solidFill>
                  <a:schemeClr val="tx1"/>
                </a:solidFill>
                <a:latin typeface="Times New Roman" pitchFamily="18" charset="0"/>
                <a:ea typeface="+mn-ea"/>
                <a:cs typeface="+mn-cs"/>
              </a:rPr>
              <a:t>(d) If T has a total of N nodes, the number of leaves is L = (N + 1)/2.</a:t>
            </a:r>
          </a:p>
          <a:p>
            <a:r>
              <a:rPr lang="en-US" sz="1200" b="0" i="0" u="none" strike="noStrike" kern="1200" baseline="0" dirty="0">
                <a:solidFill>
                  <a:schemeClr val="tx1"/>
                </a:solidFill>
                <a:latin typeface="Times New Roman" pitchFamily="18" charset="0"/>
                <a:ea typeface="+mn-ea"/>
                <a:cs typeface="+mn-cs"/>
              </a:rPr>
              <a:t>(e) If T has L leaves, the total number of nodes is N = 2L – 1.</a:t>
            </a:r>
          </a:p>
          <a:p>
            <a:r>
              <a:rPr lang="en-US" sz="1200" b="0" i="0" u="none" strike="noStrike" kern="1200" baseline="0" dirty="0">
                <a:solidFill>
                  <a:schemeClr val="tx1"/>
                </a:solidFill>
                <a:latin typeface="Times New Roman" pitchFamily="18" charset="0"/>
                <a:ea typeface="+mn-ea"/>
                <a:cs typeface="+mn-cs"/>
              </a:rPr>
              <a:t>(f) If T has L leaves, the number of internal nodes is I = L – 1.</a:t>
            </a:r>
            <a:endParaRPr lang="en-US" dirty="0"/>
          </a:p>
        </p:txBody>
      </p:sp>
    </p:spTree>
    <p:extLst>
      <p:ext uri="{BB962C8B-B14F-4D97-AF65-F5344CB8AC3E}">
        <p14:creationId xmlns:p14="http://schemas.microsoft.com/office/powerpoint/2010/main" val="78282127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143000" y="685800"/>
            <a:ext cx="4572000" cy="3429000"/>
          </a:xfrm>
          <a:prstGeom prst="rect">
            <a:avLst/>
          </a:prstGeom>
          <a:noFill/>
          <a:ln w="12700">
            <a:solidFill>
              <a:prstClr val="black"/>
            </a:solidFill>
          </a:ln>
        </p:spPr>
      </p:sp>
      <p:sp>
        <p:nvSpPr>
          <p:cNvPr id="3" name="Notes Placeholder 2"/>
          <p:cNvSpPr>
            <a:spLocks noGrp="1"/>
          </p:cNvSpPr>
          <p:nvPr>
            <p:ph type="body" idx="1"/>
          </p:nvPr>
        </p:nvSpPr>
        <p:spPr>
          <a:xfrm>
            <a:off x="685800" y="4343400"/>
            <a:ext cx="5486400" cy="4114800"/>
          </a:xfrm>
          <a:prstGeom prst="rect">
            <a:avLst/>
          </a:prstGeom>
        </p:spPr>
        <p:txBody>
          <a:bodyPr/>
          <a:lstStyle/>
          <a:p>
            <a:r>
              <a:rPr lang="en-US" sz="1200" b="0" i="0" u="none" strike="noStrike" kern="1200" baseline="0" dirty="0">
                <a:solidFill>
                  <a:schemeClr val="tx1"/>
                </a:solidFill>
                <a:latin typeface="Times New Roman" pitchFamily="18" charset="0"/>
                <a:ea typeface="+mn-ea"/>
                <a:cs typeface="+mn-cs"/>
              </a:rPr>
              <a:t>Theorems: Let T be a nonempty, </a:t>
            </a:r>
            <a:r>
              <a:rPr lang="en-US" sz="1200" b="1" i="0" u="none" strike="noStrike" kern="1200" baseline="0" dirty="0">
                <a:solidFill>
                  <a:schemeClr val="tx1"/>
                </a:solidFill>
                <a:latin typeface="Times New Roman" pitchFamily="18" charset="0"/>
                <a:ea typeface="+mn-ea"/>
                <a:cs typeface="+mn-cs"/>
              </a:rPr>
              <a:t>full</a:t>
            </a:r>
            <a:r>
              <a:rPr lang="en-US" sz="1200" b="0" i="0" u="none" strike="noStrike" kern="1200" baseline="0" dirty="0">
                <a:solidFill>
                  <a:schemeClr val="tx1"/>
                </a:solidFill>
                <a:latin typeface="Times New Roman" pitchFamily="18" charset="0"/>
                <a:ea typeface="+mn-ea"/>
                <a:cs typeface="+mn-cs"/>
              </a:rPr>
              <a:t> binary tree. Then:</a:t>
            </a:r>
          </a:p>
          <a:p>
            <a:r>
              <a:rPr lang="en-US" sz="1200" b="0" i="0" u="none" strike="noStrike" kern="1200" baseline="0" dirty="0">
                <a:solidFill>
                  <a:schemeClr val="tx1"/>
                </a:solidFill>
                <a:latin typeface="Times New Roman" pitchFamily="18" charset="0"/>
                <a:ea typeface="+mn-ea"/>
                <a:cs typeface="+mn-cs"/>
              </a:rPr>
              <a:t>(a) If T has I internal nodes (i.e. </a:t>
            </a:r>
            <a:r>
              <a:rPr lang="en-US" sz="1200" b="0" i="0" u="none" strike="noStrike" kern="1200" baseline="0">
                <a:solidFill>
                  <a:schemeClr val="tx1"/>
                </a:solidFill>
                <a:latin typeface="Times New Roman" pitchFamily="18" charset="0"/>
                <a:ea typeface="+mn-ea"/>
                <a:cs typeface="+mn-cs"/>
              </a:rPr>
              <a:t>parent nodes), </a:t>
            </a:r>
            <a:r>
              <a:rPr lang="en-US" sz="1200" b="0" i="0" u="none" strike="noStrike" kern="1200" baseline="0" dirty="0">
                <a:solidFill>
                  <a:schemeClr val="tx1"/>
                </a:solidFill>
                <a:latin typeface="Times New Roman" pitchFamily="18" charset="0"/>
                <a:ea typeface="+mn-ea"/>
                <a:cs typeface="+mn-cs"/>
              </a:rPr>
              <a:t>the number of leaves is L = I + 1.</a:t>
            </a:r>
          </a:p>
          <a:p>
            <a:r>
              <a:rPr lang="en-US" sz="1200" b="0" i="0" u="none" strike="noStrike" kern="1200" baseline="0" dirty="0">
                <a:solidFill>
                  <a:schemeClr val="tx1"/>
                </a:solidFill>
                <a:latin typeface="Times New Roman" pitchFamily="18" charset="0"/>
                <a:ea typeface="+mn-ea"/>
                <a:cs typeface="+mn-cs"/>
              </a:rPr>
              <a:t>(b) If T has I internal nodes, the total number of nodes is N = 2I + 1.</a:t>
            </a:r>
          </a:p>
          <a:p>
            <a:r>
              <a:rPr lang="en-US" sz="1200" b="0" i="0" u="none" strike="noStrike" kern="1200" baseline="0" dirty="0">
                <a:solidFill>
                  <a:schemeClr val="tx1"/>
                </a:solidFill>
                <a:latin typeface="Times New Roman" pitchFamily="18" charset="0"/>
                <a:ea typeface="+mn-ea"/>
                <a:cs typeface="+mn-cs"/>
              </a:rPr>
              <a:t>(c) If T has a total of N nodes, the number of internal nodes is I = (N – 1)/2.</a:t>
            </a:r>
          </a:p>
          <a:p>
            <a:r>
              <a:rPr lang="en-US" sz="1200" b="0" i="0" u="none" strike="noStrike" kern="1200" baseline="0" dirty="0">
                <a:solidFill>
                  <a:schemeClr val="tx1"/>
                </a:solidFill>
                <a:latin typeface="Times New Roman" pitchFamily="18" charset="0"/>
                <a:ea typeface="+mn-ea"/>
                <a:cs typeface="+mn-cs"/>
              </a:rPr>
              <a:t>(d) If T has a total of N nodes, the number of leaves is L = (N + 1)/2.</a:t>
            </a:r>
          </a:p>
          <a:p>
            <a:r>
              <a:rPr lang="en-US" sz="1200" b="0" i="0" u="none" strike="noStrike" kern="1200" baseline="0" dirty="0">
                <a:solidFill>
                  <a:schemeClr val="tx1"/>
                </a:solidFill>
                <a:latin typeface="Times New Roman" pitchFamily="18" charset="0"/>
                <a:ea typeface="+mn-ea"/>
                <a:cs typeface="+mn-cs"/>
              </a:rPr>
              <a:t>(e) If T has L leaves, the total number of nodes is N = 2L – 1.</a:t>
            </a:r>
          </a:p>
          <a:p>
            <a:r>
              <a:rPr lang="en-US" sz="1200" b="0" i="0" u="none" strike="noStrike" kern="1200" baseline="0" dirty="0">
                <a:solidFill>
                  <a:schemeClr val="tx1"/>
                </a:solidFill>
                <a:latin typeface="Times New Roman" pitchFamily="18" charset="0"/>
                <a:ea typeface="+mn-ea"/>
                <a:cs typeface="+mn-cs"/>
              </a:rPr>
              <a:t>(f) If T has L leaves, the number of internal nodes is I = L – 1.</a:t>
            </a:r>
            <a:endParaRPr lang="en-US" dirty="0"/>
          </a:p>
        </p:txBody>
      </p:sp>
    </p:spTree>
    <p:extLst>
      <p:ext uri="{BB962C8B-B14F-4D97-AF65-F5344CB8AC3E}">
        <p14:creationId xmlns:p14="http://schemas.microsoft.com/office/powerpoint/2010/main" val="280637901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143000" y="685800"/>
            <a:ext cx="4572000" cy="3429000"/>
          </a:xfrm>
          <a:prstGeom prst="rect">
            <a:avLst/>
          </a:prstGeom>
          <a:noFill/>
          <a:ln w="12700">
            <a:solidFill>
              <a:prstClr val="black"/>
            </a:solidFill>
          </a:ln>
        </p:spPr>
      </p:sp>
      <p:sp>
        <p:nvSpPr>
          <p:cNvPr id="3" name="Notes Placeholder 2"/>
          <p:cNvSpPr>
            <a:spLocks noGrp="1"/>
          </p:cNvSpPr>
          <p:nvPr>
            <p:ph type="body" idx="1"/>
          </p:nvPr>
        </p:nvSpPr>
        <p:spPr>
          <a:xfrm>
            <a:off x="685800" y="4343400"/>
            <a:ext cx="5486400" cy="4114800"/>
          </a:xfrm>
          <a:prstGeom prst="rect">
            <a:avLst/>
          </a:prstGeom>
        </p:spPr>
        <p:txBody>
          <a:bodyPr/>
          <a:lstStyle/>
          <a:p>
            <a:r>
              <a:rPr lang="en-US" sz="1200" b="0" i="0" u="none" strike="noStrike" kern="1200" baseline="0" dirty="0">
                <a:solidFill>
                  <a:schemeClr val="tx1"/>
                </a:solidFill>
                <a:latin typeface="Times New Roman" pitchFamily="18" charset="0"/>
                <a:ea typeface="+mn-ea"/>
                <a:cs typeface="+mn-cs"/>
              </a:rPr>
              <a:t>Theorems: Let T be a nonempty, </a:t>
            </a:r>
            <a:r>
              <a:rPr lang="en-US" sz="1200" b="1" i="0" u="none" strike="noStrike" kern="1200" baseline="0" dirty="0">
                <a:solidFill>
                  <a:schemeClr val="tx1"/>
                </a:solidFill>
                <a:latin typeface="Times New Roman" pitchFamily="18" charset="0"/>
                <a:ea typeface="+mn-ea"/>
                <a:cs typeface="+mn-cs"/>
              </a:rPr>
              <a:t>full</a:t>
            </a:r>
            <a:r>
              <a:rPr lang="en-US" sz="1200" b="0" i="0" u="none" strike="noStrike" kern="1200" baseline="0" dirty="0">
                <a:solidFill>
                  <a:schemeClr val="tx1"/>
                </a:solidFill>
                <a:latin typeface="Times New Roman" pitchFamily="18" charset="0"/>
                <a:ea typeface="+mn-ea"/>
                <a:cs typeface="+mn-cs"/>
              </a:rPr>
              <a:t> binary tree. Then:</a:t>
            </a:r>
          </a:p>
          <a:p>
            <a:r>
              <a:rPr lang="en-US" sz="1200" b="0" i="0" u="none" strike="noStrike" kern="1200" baseline="0" dirty="0">
                <a:solidFill>
                  <a:schemeClr val="tx1"/>
                </a:solidFill>
                <a:latin typeface="Times New Roman" pitchFamily="18" charset="0"/>
                <a:ea typeface="+mn-ea"/>
                <a:cs typeface="+mn-cs"/>
              </a:rPr>
              <a:t>(a) If T has I internal nodes (i.e. </a:t>
            </a:r>
            <a:r>
              <a:rPr lang="en-US" sz="1200" b="0" i="0" u="none" strike="noStrike" kern="1200" baseline="0">
                <a:solidFill>
                  <a:schemeClr val="tx1"/>
                </a:solidFill>
                <a:latin typeface="Times New Roman" pitchFamily="18" charset="0"/>
                <a:ea typeface="+mn-ea"/>
                <a:cs typeface="+mn-cs"/>
              </a:rPr>
              <a:t>parent nodes), </a:t>
            </a:r>
            <a:r>
              <a:rPr lang="en-US" sz="1200" b="0" i="0" u="none" strike="noStrike" kern="1200" baseline="0" dirty="0">
                <a:solidFill>
                  <a:schemeClr val="tx1"/>
                </a:solidFill>
                <a:latin typeface="Times New Roman" pitchFamily="18" charset="0"/>
                <a:ea typeface="+mn-ea"/>
                <a:cs typeface="+mn-cs"/>
              </a:rPr>
              <a:t>the number of leaves is L = I + 1.</a:t>
            </a:r>
          </a:p>
          <a:p>
            <a:r>
              <a:rPr lang="en-US" sz="1200" b="0" i="0" u="none" strike="noStrike" kern="1200" baseline="0" dirty="0">
                <a:solidFill>
                  <a:schemeClr val="tx1"/>
                </a:solidFill>
                <a:latin typeface="Times New Roman" pitchFamily="18" charset="0"/>
                <a:ea typeface="+mn-ea"/>
                <a:cs typeface="+mn-cs"/>
              </a:rPr>
              <a:t>(b) If T has I internal nodes, the total number of nodes is N = 2I + 1.</a:t>
            </a:r>
          </a:p>
          <a:p>
            <a:r>
              <a:rPr lang="en-US" sz="1200" b="0" i="0" u="none" strike="noStrike" kern="1200" baseline="0" dirty="0">
                <a:solidFill>
                  <a:schemeClr val="tx1"/>
                </a:solidFill>
                <a:latin typeface="Times New Roman" pitchFamily="18" charset="0"/>
                <a:ea typeface="+mn-ea"/>
                <a:cs typeface="+mn-cs"/>
              </a:rPr>
              <a:t>(c) If T has a total of N nodes, the number of internal nodes is I = (N – 1)/2.</a:t>
            </a:r>
          </a:p>
          <a:p>
            <a:r>
              <a:rPr lang="en-US" sz="1200" b="0" i="0" u="none" strike="noStrike" kern="1200" baseline="0" dirty="0">
                <a:solidFill>
                  <a:schemeClr val="tx1"/>
                </a:solidFill>
                <a:latin typeface="Times New Roman" pitchFamily="18" charset="0"/>
                <a:ea typeface="+mn-ea"/>
                <a:cs typeface="+mn-cs"/>
              </a:rPr>
              <a:t>(d) If T has a total of N nodes, the number of leaves is L = (N + 1)/2.</a:t>
            </a:r>
          </a:p>
          <a:p>
            <a:r>
              <a:rPr lang="en-US" sz="1200" b="0" i="0" u="none" strike="noStrike" kern="1200" baseline="0" dirty="0">
                <a:solidFill>
                  <a:schemeClr val="tx1"/>
                </a:solidFill>
                <a:latin typeface="Times New Roman" pitchFamily="18" charset="0"/>
                <a:ea typeface="+mn-ea"/>
                <a:cs typeface="+mn-cs"/>
              </a:rPr>
              <a:t>(e) If T has L leaves, the total number of nodes is N = 2L – 1.</a:t>
            </a:r>
          </a:p>
          <a:p>
            <a:r>
              <a:rPr lang="en-US" sz="1200" b="0" i="0" u="none" strike="noStrike" kern="1200" baseline="0" dirty="0">
                <a:solidFill>
                  <a:schemeClr val="tx1"/>
                </a:solidFill>
                <a:latin typeface="Times New Roman" pitchFamily="18" charset="0"/>
                <a:ea typeface="+mn-ea"/>
                <a:cs typeface="+mn-cs"/>
              </a:rPr>
              <a:t>(f) If T has L leaves, the number of internal nodes is I = L – 1.</a:t>
            </a:r>
            <a:endParaRPr lang="en-US" dirty="0"/>
          </a:p>
        </p:txBody>
      </p:sp>
    </p:spTree>
    <p:extLst>
      <p:ext uri="{BB962C8B-B14F-4D97-AF65-F5344CB8AC3E}">
        <p14:creationId xmlns:p14="http://schemas.microsoft.com/office/powerpoint/2010/main" val="104680834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143000" y="685800"/>
            <a:ext cx="4572000" cy="3429000"/>
          </a:xfrm>
          <a:prstGeom prst="rect">
            <a:avLst/>
          </a:prstGeom>
          <a:noFill/>
          <a:ln w="12700">
            <a:solidFill>
              <a:prstClr val="black"/>
            </a:solidFill>
          </a:ln>
        </p:spPr>
      </p:sp>
      <p:sp>
        <p:nvSpPr>
          <p:cNvPr id="3" name="Notes Placeholder 2"/>
          <p:cNvSpPr>
            <a:spLocks noGrp="1"/>
          </p:cNvSpPr>
          <p:nvPr>
            <p:ph type="body" idx="1"/>
          </p:nvPr>
        </p:nvSpPr>
        <p:spPr>
          <a:xfrm>
            <a:off x="685800" y="4343400"/>
            <a:ext cx="5486400" cy="4114800"/>
          </a:xfrm>
          <a:prstGeom prst="rect">
            <a:avLst/>
          </a:prstGeom>
        </p:spPr>
        <p:txBody>
          <a:bodyPr/>
          <a:lstStyle/>
          <a:p>
            <a:r>
              <a:rPr lang="en-US" sz="1200" b="0" i="0" u="none" strike="noStrike" kern="1200" baseline="0" dirty="0">
                <a:solidFill>
                  <a:schemeClr val="tx1"/>
                </a:solidFill>
                <a:latin typeface="Times New Roman" pitchFamily="18" charset="0"/>
                <a:ea typeface="+mn-ea"/>
                <a:cs typeface="+mn-cs"/>
              </a:rPr>
              <a:t>Theorems: Let T be a nonempty, </a:t>
            </a:r>
            <a:r>
              <a:rPr lang="en-US" sz="1200" b="1" i="0" u="none" strike="noStrike" kern="1200" baseline="0" dirty="0">
                <a:solidFill>
                  <a:schemeClr val="tx1"/>
                </a:solidFill>
                <a:latin typeface="Times New Roman" pitchFamily="18" charset="0"/>
                <a:ea typeface="+mn-ea"/>
                <a:cs typeface="+mn-cs"/>
              </a:rPr>
              <a:t>full</a:t>
            </a:r>
            <a:r>
              <a:rPr lang="en-US" sz="1200" b="0" i="0" u="none" strike="noStrike" kern="1200" baseline="0" dirty="0">
                <a:solidFill>
                  <a:schemeClr val="tx1"/>
                </a:solidFill>
                <a:latin typeface="Times New Roman" pitchFamily="18" charset="0"/>
                <a:ea typeface="+mn-ea"/>
                <a:cs typeface="+mn-cs"/>
              </a:rPr>
              <a:t> binary tree. Then:</a:t>
            </a:r>
          </a:p>
          <a:p>
            <a:r>
              <a:rPr lang="en-US" sz="1200" b="0" i="0" u="none" strike="noStrike" kern="1200" baseline="0" dirty="0">
                <a:solidFill>
                  <a:schemeClr val="tx1"/>
                </a:solidFill>
                <a:latin typeface="Times New Roman" pitchFamily="18" charset="0"/>
                <a:ea typeface="+mn-ea"/>
                <a:cs typeface="+mn-cs"/>
              </a:rPr>
              <a:t>(a) If T has I internal nodes (i.e. </a:t>
            </a:r>
            <a:r>
              <a:rPr lang="en-US" sz="1200" b="0" i="0" u="none" strike="noStrike" kern="1200" baseline="0">
                <a:solidFill>
                  <a:schemeClr val="tx1"/>
                </a:solidFill>
                <a:latin typeface="Times New Roman" pitchFamily="18" charset="0"/>
                <a:ea typeface="+mn-ea"/>
                <a:cs typeface="+mn-cs"/>
              </a:rPr>
              <a:t>parent nodes), </a:t>
            </a:r>
            <a:r>
              <a:rPr lang="en-US" sz="1200" b="0" i="0" u="none" strike="noStrike" kern="1200" baseline="0" dirty="0">
                <a:solidFill>
                  <a:schemeClr val="tx1"/>
                </a:solidFill>
                <a:latin typeface="Times New Roman" pitchFamily="18" charset="0"/>
                <a:ea typeface="+mn-ea"/>
                <a:cs typeface="+mn-cs"/>
              </a:rPr>
              <a:t>the number of leaves is L = I + 1.</a:t>
            </a:r>
          </a:p>
          <a:p>
            <a:r>
              <a:rPr lang="en-US" sz="1200" b="0" i="0" u="none" strike="noStrike" kern="1200" baseline="0" dirty="0">
                <a:solidFill>
                  <a:schemeClr val="tx1"/>
                </a:solidFill>
                <a:latin typeface="Times New Roman" pitchFamily="18" charset="0"/>
                <a:ea typeface="+mn-ea"/>
                <a:cs typeface="+mn-cs"/>
              </a:rPr>
              <a:t>(b) If T has I internal nodes, the total number of nodes is N = 2I + 1.</a:t>
            </a:r>
          </a:p>
          <a:p>
            <a:r>
              <a:rPr lang="en-US" sz="1200" b="0" i="0" u="none" strike="noStrike" kern="1200" baseline="0" dirty="0">
                <a:solidFill>
                  <a:schemeClr val="tx1"/>
                </a:solidFill>
                <a:latin typeface="Times New Roman" pitchFamily="18" charset="0"/>
                <a:ea typeface="+mn-ea"/>
                <a:cs typeface="+mn-cs"/>
              </a:rPr>
              <a:t>(c) If T has a total of N nodes, the number of internal nodes is I = (N – 1)/2.</a:t>
            </a:r>
          </a:p>
          <a:p>
            <a:r>
              <a:rPr lang="en-US" sz="1200" b="0" i="0" u="none" strike="noStrike" kern="1200" baseline="0" dirty="0">
                <a:solidFill>
                  <a:schemeClr val="tx1"/>
                </a:solidFill>
                <a:latin typeface="Times New Roman" pitchFamily="18" charset="0"/>
                <a:ea typeface="+mn-ea"/>
                <a:cs typeface="+mn-cs"/>
              </a:rPr>
              <a:t>(d) If T has a total of N nodes, the number of leaves is L = (N + 1)/2.</a:t>
            </a:r>
          </a:p>
          <a:p>
            <a:r>
              <a:rPr lang="en-US" sz="1200" b="0" i="0" u="none" strike="noStrike" kern="1200" baseline="0" dirty="0">
                <a:solidFill>
                  <a:schemeClr val="tx1"/>
                </a:solidFill>
                <a:latin typeface="Times New Roman" pitchFamily="18" charset="0"/>
                <a:ea typeface="+mn-ea"/>
                <a:cs typeface="+mn-cs"/>
              </a:rPr>
              <a:t>(e) If T has L leaves, the total number of nodes is N = 2L – 1.</a:t>
            </a:r>
          </a:p>
          <a:p>
            <a:r>
              <a:rPr lang="en-US" sz="1200" b="0" i="0" u="none" strike="noStrike" kern="1200" baseline="0" dirty="0">
                <a:solidFill>
                  <a:schemeClr val="tx1"/>
                </a:solidFill>
                <a:latin typeface="Times New Roman" pitchFamily="18" charset="0"/>
                <a:ea typeface="+mn-ea"/>
                <a:cs typeface="+mn-cs"/>
              </a:rPr>
              <a:t>(f) If T has L leaves, the number of internal nodes is I = L – 1.</a:t>
            </a:r>
            <a:endParaRPr lang="en-US" dirty="0"/>
          </a:p>
        </p:txBody>
      </p:sp>
    </p:spTree>
    <p:extLst>
      <p:ext uri="{BB962C8B-B14F-4D97-AF65-F5344CB8AC3E}">
        <p14:creationId xmlns:p14="http://schemas.microsoft.com/office/powerpoint/2010/main" val="223820433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02" name="Rectangle 2"/>
          <p:cNvSpPr>
            <a:spLocks noGrp="1" noRot="1" noChangeAspect="1" noChangeArrowheads="1" noTextEdit="1"/>
          </p:cNvSpPr>
          <p:nvPr>
            <p:ph type="sldImg"/>
          </p:nvPr>
        </p:nvSpPr>
        <p:spPr bwMode="auto">
          <a:xfrm>
            <a:off x="1143000" y="685800"/>
            <a:ext cx="4572000" cy="3429000"/>
          </a:xfrm>
          <a:prstGeom prst="rect">
            <a:avLst/>
          </a:prstGeom>
          <a:noFill/>
          <a:ln>
            <a:solidFill>
              <a:srgbClr val="000000"/>
            </a:solidFill>
            <a:miter lim="800000"/>
            <a:headEnd/>
            <a:tailEnd/>
          </a:ln>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102403" name="Rectangle 3"/>
          <p:cNvSpPr>
            <a:spLocks noGrp="1" noChangeArrowheads="1"/>
          </p:cNvSpPr>
          <p:nvPr>
            <p:ph type="body" idx="1"/>
          </p:nvPr>
        </p:nvSpPr>
        <p:spPr bwMode="auto">
          <a:xfrm>
            <a:off x="685800" y="4343400"/>
            <a:ext cx="5486400" cy="4114800"/>
          </a:xfrm>
          <a:prstGeom prst="rect">
            <a:avLst/>
          </a:prstGeom>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Tree>
    <p:extLst>
      <p:ext uri="{BB962C8B-B14F-4D97-AF65-F5344CB8AC3E}">
        <p14:creationId xmlns:p14="http://schemas.microsoft.com/office/powerpoint/2010/main" val="396162533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143000" y="685800"/>
            <a:ext cx="4572000" cy="3429000"/>
          </a:xfrm>
          <a:prstGeom prst="rect">
            <a:avLst/>
          </a:prstGeom>
          <a:noFill/>
          <a:ln w="12700">
            <a:solidFill>
              <a:prstClr val="black"/>
            </a:solidFill>
          </a:ln>
        </p:spPr>
      </p:sp>
      <p:sp>
        <p:nvSpPr>
          <p:cNvPr id="3" name="Notes Placeholder 2"/>
          <p:cNvSpPr>
            <a:spLocks noGrp="1"/>
          </p:cNvSpPr>
          <p:nvPr>
            <p:ph type="body" idx="1"/>
          </p:nvPr>
        </p:nvSpPr>
        <p:spPr>
          <a:xfrm>
            <a:off x="685800" y="4343400"/>
            <a:ext cx="5486400" cy="4114800"/>
          </a:xfrm>
          <a:prstGeom prst="rect">
            <a:avLst/>
          </a:prstGeom>
        </p:spPr>
        <p:txBody>
          <a:bodyPr/>
          <a:lstStyle/>
          <a:p>
            <a:endParaRPr lang="en-US" dirty="0"/>
          </a:p>
        </p:txBody>
      </p:sp>
    </p:spTree>
    <p:extLst>
      <p:ext uri="{BB962C8B-B14F-4D97-AF65-F5344CB8AC3E}">
        <p14:creationId xmlns:p14="http://schemas.microsoft.com/office/powerpoint/2010/main" val="61233070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143000" y="685800"/>
            <a:ext cx="4572000" cy="3429000"/>
          </a:xfrm>
          <a:prstGeom prst="rect">
            <a:avLst/>
          </a:prstGeom>
          <a:noFill/>
          <a:ln w="12700">
            <a:solidFill>
              <a:prstClr val="black"/>
            </a:solidFill>
          </a:ln>
        </p:spPr>
      </p:sp>
      <p:sp>
        <p:nvSpPr>
          <p:cNvPr id="3" name="Notes Placeholder 2"/>
          <p:cNvSpPr>
            <a:spLocks noGrp="1"/>
          </p:cNvSpPr>
          <p:nvPr>
            <p:ph type="body" idx="1"/>
          </p:nvPr>
        </p:nvSpPr>
        <p:spPr>
          <a:xfrm>
            <a:off x="685800" y="4343400"/>
            <a:ext cx="5486400" cy="4114800"/>
          </a:xfrm>
          <a:prstGeom prst="rect">
            <a:avLst/>
          </a:prstGeom>
        </p:spPr>
        <p:txBody>
          <a:bodyPr/>
          <a:lstStyle/>
          <a:p>
            <a:r>
              <a:rPr lang="en-US" dirty="0"/>
              <a:t>The maximum distance of any node from the root</a:t>
            </a:r>
            <a:r>
              <a:rPr lang="en-US" dirty="0">
                <a:solidFill>
                  <a:schemeClr val="tx1"/>
                </a:solidFill>
              </a:rPr>
              <a:t>. </a:t>
            </a:r>
            <a:r>
              <a:rPr lang="en-US" dirty="0"/>
              <a:t>If a tree has only one node (the root), the height is zero. The height of an empty tree is not defined.</a:t>
            </a:r>
          </a:p>
        </p:txBody>
      </p:sp>
    </p:spTree>
    <p:extLst>
      <p:ext uri="{BB962C8B-B14F-4D97-AF65-F5344CB8AC3E}">
        <p14:creationId xmlns:p14="http://schemas.microsoft.com/office/powerpoint/2010/main" val="227051515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946" name="Rectangle 2"/>
          <p:cNvSpPr>
            <a:spLocks noGrp="1" noRot="1" noChangeAspect="1" noChangeArrowheads="1" noTextEdit="1"/>
          </p:cNvSpPr>
          <p:nvPr>
            <p:ph type="sldImg"/>
          </p:nvPr>
        </p:nvSpPr>
        <p:spPr bwMode="auto">
          <a:xfrm>
            <a:off x="1143000" y="685800"/>
            <a:ext cx="4572000" cy="3429000"/>
          </a:xfrm>
          <a:prstGeom prst="rect">
            <a:avLst/>
          </a:prstGeom>
          <a:noFill/>
          <a:ln>
            <a:solidFill>
              <a:srgbClr val="000000"/>
            </a:solidFill>
            <a:miter lim="800000"/>
            <a:headEnd/>
            <a:tailEnd/>
          </a:ln>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82947" name="Rectangle 3"/>
          <p:cNvSpPr>
            <a:spLocks noGrp="1" noChangeArrowheads="1"/>
          </p:cNvSpPr>
          <p:nvPr>
            <p:ph type="body" idx="1"/>
          </p:nvPr>
        </p:nvSpPr>
        <p:spPr bwMode="auto">
          <a:xfrm>
            <a:off x="685800" y="4343400"/>
            <a:ext cx="5486400" cy="4114800"/>
          </a:xfrm>
          <a:prstGeom prst="rect">
            <a:avLst/>
          </a:prstGeom>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Tree>
    <p:extLst>
      <p:ext uri="{BB962C8B-B14F-4D97-AF65-F5344CB8AC3E}">
        <p14:creationId xmlns:p14="http://schemas.microsoft.com/office/powerpoint/2010/main" val="88407187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537" name="Slide Image Placeholder 1"/>
          <p:cNvSpPr>
            <a:spLocks noGrp="1" noRot="1" noChangeAspect="1" noTextEdit="1"/>
          </p:cNvSpPr>
          <p:nvPr>
            <p:ph type="sldImg"/>
          </p:nvPr>
        </p:nvSpPr>
        <p:spPr bwMode="auto">
          <a:noFill/>
          <a:ln>
            <a:solidFill>
              <a:srgbClr val="000000"/>
            </a:solidFill>
            <a:miter lim="800000"/>
            <a:headEnd/>
            <a:tailEnd/>
          </a:ln>
          <a:extLst>
            <a:ext uri="{FAA26D3D-D897-4be2-8F04-BA451C77F1D7}">
              <ma14:placeholderFlag xmlns:ma14="http://schemas.microsoft.com/office/mac/drawingml/2011/main" xmlns="" val="1"/>
            </a:ext>
            <a:ext uri="{909E8E84-426E-40dd-AFC4-6F175D3DCCD1}">
              <a14:hiddenFill xmlns="" xmlns:a14="http://schemas.microsoft.com/office/drawing/2010/main">
                <a:solidFill>
                  <a:srgbClr val="FFFFFF"/>
                </a:solidFill>
              </a14:hiddenFill>
            </a:ext>
          </a:extLst>
        </p:spPr>
      </p:sp>
      <p:sp>
        <p:nvSpPr>
          <p:cNvPr id="65538" name="Notes Placeholder 2"/>
          <p:cNvSpPr>
            <a:spLocks noGrp="1"/>
          </p:cNvSpPr>
          <p:nvPr>
            <p:ph type="body" idx="1"/>
          </p:nvPr>
        </p:nvSpPr>
        <p:spPr bwMode="auto">
          <a:noFill/>
          <a:extLst>
            <a:ext uri="{FAA26D3D-D897-4be2-8F04-BA451C77F1D7}">
              <ma14:placeholderFlag xmlns:ma14="http://schemas.microsoft.com/office/mac/drawingml/2011/main" xmlns="" val="1"/>
            </a:ex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endParaRPr lang="en-US" altLang="en-US">
              <a:ea typeface="MS PGothic" charset="-128"/>
            </a:endParaRPr>
          </a:p>
        </p:txBody>
      </p:sp>
      <p:sp>
        <p:nvSpPr>
          <p:cNvPr id="65539" name="Slide Number Placeholder 3"/>
          <p:cNvSpPr>
            <a:spLocks noGrp="1"/>
          </p:cNvSpPr>
          <p:nvPr>
            <p:ph type="sldNum" sz="quarter" idx="5"/>
          </p:nvPr>
        </p:nvSpPr>
        <p:spPr bwMode="auto">
          <a:noFill/>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fld id="{9EE1BB6F-A407-EE47-9A85-F4E09E4700A5}" type="slidenum">
              <a:rPr lang="en-US" altLang="en-US" sz="1200"/>
              <a:pPr/>
              <a:t>13</a:t>
            </a:fld>
            <a:endParaRPr lang="en-US" altLang="en-US" sz="1200"/>
          </a:p>
        </p:txBody>
      </p:sp>
    </p:spTree>
    <p:extLst>
      <p:ext uri="{BB962C8B-B14F-4D97-AF65-F5344CB8AC3E}">
        <p14:creationId xmlns:p14="http://schemas.microsoft.com/office/powerpoint/2010/main" val="137112632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537" name="Slide Image Placeholder 1"/>
          <p:cNvSpPr>
            <a:spLocks noGrp="1" noRot="1" noChangeAspect="1" noTextEdit="1"/>
          </p:cNvSpPr>
          <p:nvPr>
            <p:ph type="sldImg"/>
          </p:nvPr>
        </p:nvSpPr>
        <p:spPr bwMode="auto">
          <a:noFill/>
          <a:ln>
            <a:solidFill>
              <a:srgbClr val="000000"/>
            </a:solidFill>
            <a:miter lim="800000"/>
            <a:headEnd/>
            <a:tailEnd/>
          </a:ln>
          <a:extLst>
            <a:ext uri="{FAA26D3D-D897-4be2-8F04-BA451C77F1D7}">
              <ma14:placeholderFlag xmlns:ma14="http://schemas.microsoft.com/office/mac/drawingml/2011/main" xmlns="" val="1"/>
            </a:ext>
            <a:ext uri="{909E8E84-426E-40dd-AFC4-6F175D3DCCD1}">
              <a14:hiddenFill xmlns="" xmlns:a14="http://schemas.microsoft.com/office/drawing/2010/main">
                <a:solidFill>
                  <a:srgbClr val="FFFFFF"/>
                </a:solidFill>
              </a14:hiddenFill>
            </a:ext>
          </a:extLst>
        </p:spPr>
      </p:sp>
      <p:sp>
        <p:nvSpPr>
          <p:cNvPr id="65538" name="Notes Placeholder 2"/>
          <p:cNvSpPr>
            <a:spLocks noGrp="1"/>
          </p:cNvSpPr>
          <p:nvPr>
            <p:ph type="body" idx="1"/>
          </p:nvPr>
        </p:nvSpPr>
        <p:spPr bwMode="auto">
          <a:noFill/>
          <a:extLst>
            <a:ext uri="{FAA26D3D-D897-4be2-8F04-BA451C77F1D7}">
              <ma14:placeholderFlag xmlns:ma14="http://schemas.microsoft.com/office/mac/drawingml/2011/main" xmlns="" val="1"/>
            </a:ex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endParaRPr lang="en-US" altLang="en-US">
              <a:ea typeface="MS PGothic" charset="-128"/>
            </a:endParaRPr>
          </a:p>
        </p:txBody>
      </p:sp>
      <p:sp>
        <p:nvSpPr>
          <p:cNvPr id="65539" name="Slide Number Placeholder 3"/>
          <p:cNvSpPr>
            <a:spLocks noGrp="1"/>
          </p:cNvSpPr>
          <p:nvPr>
            <p:ph type="sldNum" sz="quarter" idx="5"/>
          </p:nvPr>
        </p:nvSpPr>
        <p:spPr bwMode="auto">
          <a:noFill/>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fld id="{9EE1BB6F-A407-EE47-9A85-F4E09E4700A5}" type="slidenum">
              <a:rPr lang="en-US" altLang="en-US" sz="1200"/>
              <a:pPr/>
              <a:t>14</a:t>
            </a:fld>
            <a:endParaRPr lang="en-US" altLang="en-US" sz="1200"/>
          </a:p>
        </p:txBody>
      </p:sp>
    </p:spTree>
    <p:extLst>
      <p:ext uri="{BB962C8B-B14F-4D97-AF65-F5344CB8AC3E}">
        <p14:creationId xmlns:p14="http://schemas.microsoft.com/office/powerpoint/2010/main" val="1948833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537" name="Slide Image Placeholder 1"/>
          <p:cNvSpPr>
            <a:spLocks noGrp="1" noRot="1" noChangeAspect="1" noTextEdit="1"/>
          </p:cNvSpPr>
          <p:nvPr>
            <p:ph type="sldImg"/>
          </p:nvPr>
        </p:nvSpPr>
        <p:spPr bwMode="auto">
          <a:noFill/>
          <a:ln>
            <a:solidFill>
              <a:srgbClr val="000000"/>
            </a:solidFill>
            <a:miter lim="800000"/>
            <a:headEnd/>
            <a:tailEnd/>
          </a:ln>
          <a:extLst>
            <a:ext uri="{FAA26D3D-D897-4be2-8F04-BA451C77F1D7}">
              <ma14:placeholderFlag xmlns:ma14="http://schemas.microsoft.com/office/mac/drawingml/2011/main" xmlns="" val="1"/>
            </a:ext>
            <a:ext uri="{909E8E84-426E-40dd-AFC4-6F175D3DCCD1}">
              <a14:hiddenFill xmlns="" xmlns:a14="http://schemas.microsoft.com/office/drawing/2010/main">
                <a:solidFill>
                  <a:srgbClr val="FFFFFF"/>
                </a:solidFill>
              </a14:hiddenFill>
            </a:ext>
          </a:extLst>
        </p:spPr>
      </p:sp>
      <p:sp>
        <p:nvSpPr>
          <p:cNvPr id="65538" name="Notes Placeholder 2"/>
          <p:cNvSpPr>
            <a:spLocks noGrp="1"/>
          </p:cNvSpPr>
          <p:nvPr>
            <p:ph type="body" idx="1"/>
          </p:nvPr>
        </p:nvSpPr>
        <p:spPr bwMode="auto">
          <a:noFill/>
          <a:extLst>
            <a:ext uri="{FAA26D3D-D897-4be2-8F04-BA451C77F1D7}">
              <ma14:placeholderFlag xmlns:ma14="http://schemas.microsoft.com/office/mac/drawingml/2011/main" xmlns="" val="1"/>
            </a:ex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endParaRPr lang="en-US" altLang="en-US">
              <a:ea typeface="MS PGothic" charset="-128"/>
            </a:endParaRPr>
          </a:p>
        </p:txBody>
      </p:sp>
      <p:sp>
        <p:nvSpPr>
          <p:cNvPr id="65539" name="Slide Number Placeholder 3"/>
          <p:cNvSpPr>
            <a:spLocks noGrp="1"/>
          </p:cNvSpPr>
          <p:nvPr>
            <p:ph type="sldNum" sz="quarter" idx="5"/>
          </p:nvPr>
        </p:nvSpPr>
        <p:spPr bwMode="auto">
          <a:noFill/>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fld id="{9EE1BB6F-A407-EE47-9A85-F4E09E4700A5}" type="slidenum">
              <a:rPr lang="en-US" altLang="en-US" sz="1200"/>
              <a:pPr/>
              <a:t>15</a:t>
            </a:fld>
            <a:endParaRPr lang="en-US" altLang="en-US" sz="1200"/>
          </a:p>
        </p:txBody>
      </p:sp>
    </p:spTree>
    <p:extLst>
      <p:ext uri="{BB962C8B-B14F-4D97-AF65-F5344CB8AC3E}">
        <p14:creationId xmlns:p14="http://schemas.microsoft.com/office/powerpoint/2010/main" val="128964179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537" name="Slide Image Placeholder 1"/>
          <p:cNvSpPr>
            <a:spLocks noGrp="1" noRot="1" noChangeAspect="1" noTextEdit="1"/>
          </p:cNvSpPr>
          <p:nvPr>
            <p:ph type="sldImg"/>
          </p:nvPr>
        </p:nvSpPr>
        <p:spPr bwMode="auto">
          <a:noFill/>
          <a:ln>
            <a:solidFill>
              <a:srgbClr val="000000"/>
            </a:solidFill>
            <a:miter lim="800000"/>
            <a:headEnd/>
            <a:tailEnd/>
          </a:ln>
          <a:extLst>
            <a:ext uri="{FAA26D3D-D897-4be2-8F04-BA451C77F1D7}">
              <ma14:placeholderFlag xmlns:ma14="http://schemas.microsoft.com/office/mac/drawingml/2011/main" xmlns="" val="1"/>
            </a:ext>
            <a:ext uri="{909E8E84-426E-40dd-AFC4-6F175D3DCCD1}">
              <a14:hiddenFill xmlns="" xmlns:a14="http://schemas.microsoft.com/office/drawing/2010/main">
                <a:solidFill>
                  <a:srgbClr val="FFFFFF"/>
                </a:solidFill>
              </a14:hiddenFill>
            </a:ext>
          </a:extLst>
        </p:spPr>
      </p:sp>
      <p:sp>
        <p:nvSpPr>
          <p:cNvPr id="65538" name="Notes Placeholder 2"/>
          <p:cNvSpPr>
            <a:spLocks noGrp="1"/>
          </p:cNvSpPr>
          <p:nvPr>
            <p:ph type="body" idx="1"/>
          </p:nvPr>
        </p:nvSpPr>
        <p:spPr bwMode="auto">
          <a:noFill/>
          <a:extLst>
            <a:ext uri="{FAA26D3D-D897-4be2-8F04-BA451C77F1D7}">
              <ma14:placeholderFlag xmlns:ma14="http://schemas.microsoft.com/office/mac/drawingml/2011/main" xmlns="" val="1"/>
            </a:ex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endParaRPr lang="en-US" altLang="en-US">
              <a:ea typeface="MS PGothic" charset="-128"/>
            </a:endParaRPr>
          </a:p>
        </p:txBody>
      </p:sp>
      <p:sp>
        <p:nvSpPr>
          <p:cNvPr id="65539" name="Slide Number Placeholder 3"/>
          <p:cNvSpPr>
            <a:spLocks noGrp="1"/>
          </p:cNvSpPr>
          <p:nvPr>
            <p:ph type="sldNum" sz="quarter" idx="5"/>
          </p:nvPr>
        </p:nvSpPr>
        <p:spPr bwMode="auto">
          <a:noFill/>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fld id="{9EE1BB6F-A407-EE47-9A85-F4E09E4700A5}" type="slidenum">
              <a:rPr lang="en-US" altLang="en-US" sz="1200"/>
              <a:pPr/>
              <a:t>16</a:t>
            </a:fld>
            <a:endParaRPr lang="en-US" altLang="en-US" sz="1200"/>
          </a:p>
        </p:txBody>
      </p:sp>
    </p:spTree>
    <p:extLst>
      <p:ext uri="{BB962C8B-B14F-4D97-AF65-F5344CB8AC3E}">
        <p14:creationId xmlns:p14="http://schemas.microsoft.com/office/powerpoint/2010/main" val="135238547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537" name="Slide Image Placeholder 1"/>
          <p:cNvSpPr>
            <a:spLocks noGrp="1" noRot="1" noChangeAspect="1" noTextEdit="1"/>
          </p:cNvSpPr>
          <p:nvPr>
            <p:ph type="sldImg"/>
          </p:nvPr>
        </p:nvSpPr>
        <p:spPr bwMode="auto">
          <a:noFill/>
          <a:ln>
            <a:solidFill>
              <a:srgbClr val="000000"/>
            </a:solidFill>
            <a:miter lim="800000"/>
            <a:headEnd/>
            <a:tailEnd/>
          </a:ln>
          <a:extLst>
            <a:ext uri="{FAA26D3D-D897-4be2-8F04-BA451C77F1D7}">
              <ma14:placeholderFlag xmlns:ma14="http://schemas.microsoft.com/office/mac/drawingml/2011/main" xmlns="" val="1"/>
            </a:ext>
            <a:ext uri="{909E8E84-426E-40dd-AFC4-6F175D3DCCD1}">
              <a14:hiddenFill xmlns="" xmlns:a14="http://schemas.microsoft.com/office/drawing/2010/main">
                <a:solidFill>
                  <a:srgbClr val="FFFFFF"/>
                </a:solidFill>
              </a14:hiddenFill>
            </a:ext>
          </a:extLst>
        </p:spPr>
      </p:sp>
      <p:sp>
        <p:nvSpPr>
          <p:cNvPr id="65538" name="Notes Placeholder 2"/>
          <p:cNvSpPr>
            <a:spLocks noGrp="1"/>
          </p:cNvSpPr>
          <p:nvPr>
            <p:ph type="body" idx="1"/>
          </p:nvPr>
        </p:nvSpPr>
        <p:spPr bwMode="auto">
          <a:noFill/>
          <a:extLst>
            <a:ext uri="{FAA26D3D-D897-4be2-8F04-BA451C77F1D7}">
              <ma14:placeholderFlag xmlns:ma14="http://schemas.microsoft.com/office/mac/drawingml/2011/main" xmlns="" val="1"/>
            </a:ex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endParaRPr lang="en-US" altLang="en-US">
              <a:ea typeface="MS PGothic" charset="-128"/>
            </a:endParaRPr>
          </a:p>
        </p:txBody>
      </p:sp>
      <p:sp>
        <p:nvSpPr>
          <p:cNvPr id="65539" name="Slide Number Placeholder 3"/>
          <p:cNvSpPr>
            <a:spLocks noGrp="1"/>
          </p:cNvSpPr>
          <p:nvPr>
            <p:ph type="sldNum" sz="quarter" idx="5"/>
          </p:nvPr>
        </p:nvSpPr>
        <p:spPr bwMode="auto">
          <a:noFill/>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fld id="{9EE1BB6F-A407-EE47-9A85-F4E09E4700A5}" type="slidenum">
              <a:rPr lang="en-US" altLang="en-US" sz="1200"/>
              <a:pPr/>
              <a:t>17</a:t>
            </a:fld>
            <a:endParaRPr lang="en-US" altLang="en-US" sz="1200"/>
          </a:p>
        </p:txBody>
      </p:sp>
    </p:spTree>
    <p:extLst>
      <p:ext uri="{BB962C8B-B14F-4D97-AF65-F5344CB8AC3E}">
        <p14:creationId xmlns:p14="http://schemas.microsoft.com/office/powerpoint/2010/main" val="21660777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537" name="Slide Image Placeholder 1"/>
          <p:cNvSpPr>
            <a:spLocks noGrp="1" noRot="1" noChangeAspect="1" noTextEdit="1"/>
          </p:cNvSpPr>
          <p:nvPr>
            <p:ph type="sldImg"/>
          </p:nvPr>
        </p:nvSpPr>
        <p:spPr bwMode="auto">
          <a:noFill/>
          <a:ln>
            <a:solidFill>
              <a:srgbClr val="000000"/>
            </a:solidFill>
            <a:miter lim="800000"/>
            <a:headEnd/>
            <a:tailEnd/>
          </a:ln>
          <a:extLst>
            <a:ext uri="{FAA26D3D-D897-4be2-8F04-BA451C77F1D7}">
              <ma14:placeholderFlag xmlns:ma14="http://schemas.microsoft.com/office/mac/drawingml/2011/main" xmlns="" val="1"/>
            </a:ext>
            <a:ext uri="{909E8E84-426E-40dd-AFC4-6F175D3DCCD1}">
              <a14:hiddenFill xmlns="" xmlns:a14="http://schemas.microsoft.com/office/drawing/2010/main">
                <a:solidFill>
                  <a:srgbClr val="FFFFFF"/>
                </a:solidFill>
              </a14:hiddenFill>
            </a:ext>
          </a:extLst>
        </p:spPr>
      </p:sp>
      <p:sp>
        <p:nvSpPr>
          <p:cNvPr id="65538" name="Notes Placeholder 2"/>
          <p:cNvSpPr>
            <a:spLocks noGrp="1"/>
          </p:cNvSpPr>
          <p:nvPr>
            <p:ph type="body" idx="1"/>
          </p:nvPr>
        </p:nvSpPr>
        <p:spPr bwMode="auto">
          <a:noFill/>
          <a:extLst>
            <a:ext uri="{FAA26D3D-D897-4be2-8F04-BA451C77F1D7}">
              <ma14:placeholderFlag xmlns:ma14="http://schemas.microsoft.com/office/mac/drawingml/2011/main" xmlns="" val="1"/>
            </a:ex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endParaRPr lang="en-US" altLang="en-US" dirty="0">
              <a:ea typeface="MS PGothic" charset="-128"/>
            </a:endParaRPr>
          </a:p>
        </p:txBody>
      </p:sp>
      <p:sp>
        <p:nvSpPr>
          <p:cNvPr id="65539" name="Slide Number Placeholder 3"/>
          <p:cNvSpPr>
            <a:spLocks noGrp="1"/>
          </p:cNvSpPr>
          <p:nvPr>
            <p:ph type="sldNum" sz="quarter" idx="5"/>
          </p:nvPr>
        </p:nvSpPr>
        <p:spPr bwMode="auto">
          <a:noFill/>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fld id="{9EE1BB6F-A407-EE47-9A85-F4E09E4700A5}" type="slidenum">
              <a:rPr lang="en-US" altLang="en-US" sz="1200"/>
              <a:pPr/>
              <a:t>18</a:t>
            </a:fld>
            <a:endParaRPr lang="en-US" altLang="en-US" sz="1200"/>
          </a:p>
        </p:txBody>
      </p:sp>
    </p:spTree>
    <p:extLst>
      <p:ext uri="{BB962C8B-B14F-4D97-AF65-F5344CB8AC3E}">
        <p14:creationId xmlns:p14="http://schemas.microsoft.com/office/powerpoint/2010/main" val="75593206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537" name="Slide Image Placeholder 1"/>
          <p:cNvSpPr>
            <a:spLocks noGrp="1" noRot="1" noChangeAspect="1" noTextEdit="1"/>
          </p:cNvSpPr>
          <p:nvPr>
            <p:ph type="sldImg"/>
          </p:nvPr>
        </p:nvSpPr>
        <p:spPr bwMode="auto">
          <a:noFill/>
          <a:ln>
            <a:solidFill>
              <a:srgbClr val="000000"/>
            </a:solidFill>
            <a:miter lim="800000"/>
            <a:headEnd/>
            <a:tailEnd/>
          </a:ln>
          <a:extLst>
            <a:ext uri="{FAA26D3D-D897-4be2-8F04-BA451C77F1D7}">
              <ma14:placeholderFlag xmlns:ma14="http://schemas.microsoft.com/office/mac/drawingml/2011/main" xmlns="" val="1"/>
            </a:ext>
            <a:ext uri="{909E8E84-426E-40dd-AFC4-6F175D3DCCD1}">
              <a14:hiddenFill xmlns="" xmlns:a14="http://schemas.microsoft.com/office/drawing/2010/main">
                <a:solidFill>
                  <a:srgbClr val="FFFFFF"/>
                </a:solidFill>
              </a14:hiddenFill>
            </a:ext>
          </a:extLst>
        </p:spPr>
      </p:sp>
      <p:sp>
        <p:nvSpPr>
          <p:cNvPr id="65538" name="Notes Placeholder 2"/>
          <p:cNvSpPr>
            <a:spLocks noGrp="1"/>
          </p:cNvSpPr>
          <p:nvPr>
            <p:ph type="body" idx="1"/>
          </p:nvPr>
        </p:nvSpPr>
        <p:spPr bwMode="auto">
          <a:noFill/>
          <a:extLst>
            <a:ext uri="{FAA26D3D-D897-4be2-8F04-BA451C77F1D7}">
              <ma14:placeholderFlag xmlns:ma14="http://schemas.microsoft.com/office/mac/drawingml/2011/main" xmlns="" val="1"/>
            </a:ex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endParaRPr lang="en-US" altLang="en-US" dirty="0">
              <a:ea typeface="MS PGothic" charset="-128"/>
            </a:endParaRPr>
          </a:p>
        </p:txBody>
      </p:sp>
      <p:sp>
        <p:nvSpPr>
          <p:cNvPr id="65539" name="Slide Number Placeholder 3"/>
          <p:cNvSpPr>
            <a:spLocks noGrp="1"/>
          </p:cNvSpPr>
          <p:nvPr>
            <p:ph type="sldNum" sz="quarter" idx="5"/>
          </p:nvPr>
        </p:nvSpPr>
        <p:spPr bwMode="auto">
          <a:noFill/>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fld id="{9EE1BB6F-A407-EE47-9A85-F4E09E4700A5}" type="slidenum">
              <a:rPr lang="en-US" altLang="en-US" sz="1200"/>
              <a:pPr/>
              <a:t>19</a:t>
            </a:fld>
            <a:endParaRPr lang="en-US" altLang="en-US" sz="1200"/>
          </a:p>
        </p:txBody>
      </p:sp>
    </p:spTree>
    <p:extLst>
      <p:ext uri="{BB962C8B-B14F-4D97-AF65-F5344CB8AC3E}">
        <p14:creationId xmlns:p14="http://schemas.microsoft.com/office/powerpoint/2010/main" val="105679155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537" name="Slide Image Placeholder 1"/>
          <p:cNvSpPr>
            <a:spLocks noGrp="1" noRot="1" noChangeAspect="1" noTextEdit="1"/>
          </p:cNvSpPr>
          <p:nvPr>
            <p:ph type="sldImg"/>
          </p:nvPr>
        </p:nvSpPr>
        <p:spPr bwMode="auto">
          <a:noFill/>
          <a:ln>
            <a:solidFill>
              <a:srgbClr val="000000"/>
            </a:solidFill>
            <a:miter lim="800000"/>
            <a:headEnd/>
            <a:tailEnd/>
          </a:ln>
          <a:extLst>
            <a:ext uri="{FAA26D3D-D897-4be2-8F04-BA451C77F1D7}">
              <ma14:placeholderFlag xmlns:ma14="http://schemas.microsoft.com/office/mac/drawingml/2011/main" xmlns="" val="1"/>
            </a:ext>
            <a:ext uri="{909E8E84-426E-40dd-AFC4-6F175D3DCCD1}">
              <a14:hiddenFill xmlns="" xmlns:a14="http://schemas.microsoft.com/office/drawing/2010/main">
                <a:solidFill>
                  <a:srgbClr val="FFFFFF"/>
                </a:solidFill>
              </a14:hiddenFill>
            </a:ext>
          </a:extLst>
        </p:spPr>
      </p:sp>
      <p:sp>
        <p:nvSpPr>
          <p:cNvPr id="65538" name="Notes Placeholder 2"/>
          <p:cNvSpPr>
            <a:spLocks noGrp="1"/>
          </p:cNvSpPr>
          <p:nvPr>
            <p:ph type="body" idx="1"/>
          </p:nvPr>
        </p:nvSpPr>
        <p:spPr bwMode="auto">
          <a:noFill/>
          <a:extLst>
            <a:ext uri="{FAA26D3D-D897-4be2-8F04-BA451C77F1D7}">
              <ma14:placeholderFlag xmlns:ma14="http://schemas.microsoft.com/office/mac/drawingml/2011/main" xmlns="" val="1"/>
            </a:ex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endParaRPr lang="en-US" altLang="en-US" dirty="0">
              <a:ea typeface="MS PGothic" charset="-128"/>
            </a:endParaRPr>
          </a:p>
        </p:txBody>
      </p:sp>
      <p:sp>
        <p:nvSpPr>
          <p:cNvPr id="65539" name="Slide Number Placeholder 3"/>
          <p:cNvSpPr>
            <a:spLocks noGrp="1"/>
          </p:cNvSpPr>
          <p:nvPr>
            <p:ph type="sldNum" sz="quarter" idx="5"/>
          </p:nvPr>
        </p:nvSpPr>
        <p:spPr bwMode="auto">
          <a:noFill/>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fld id="{9EE1BB6F-A407-EE47-9A85-F4E09E4700A5}" type="slidenum">
              <a:rPr lang="en-US" altLang="en-US" sz="1200"/>
              <a:pPr/>
              <a:t>20</a:t>
            </a:fld>
            <a:endParaRPr lang="en-US" altLang="en-US" sz="1200"/>
          </a:p>
        </p:txBody>
      </p:sp>
    </p:spTree>
    <p:extLst>
      <p:ext uri="{BB962C8B-B14F-4D97-AF65-F5344CB8AC3E}">
        <p14:creationId xmlns:p14="http://schemas.microsoft.com/office/powerpoint/2010/main" val="17045569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537" name="Slide Image Placeholder 1"/>
          <p:cNvSpPr>
            <a:spLocks noGrp="1" noRot="1" noChangeAspect="1" noTextEdit="1"/>
          </p:cNvSpPr>
          <p:nvPr>
            <p:ph type="sldImg"/>
          </p:nvPr>
        </p:nvSpPr>
        <p:spPr bwMode="auto">
          <a:noFill/>
          <a:ln>
            <a:solidFill>
              <a:srgbClr val="000000"/>
            </a:solidFill>
            <a:miter lim="800000"/>
            <a:headEnd/>
            <a:tailEnd/>
          </a:ln>
          <a:extLst>
            <a:ext uri="{FAA26D3D-D897-4be2-8F04-BA451C77F1D7}">
              <ma14:placeholderFlag xmlns:ma14="http://schemas.microsoft.com/office/mac/drawingml/2011/main" xmlns="" val="1"/>
            </a:ext>
            <a:ext uri="{909E8E84-426E-40dd-AFC4-6F175D3DCCD1}">
              <a14:hiddenFill xmlns="" xmlns:a14="http://schemas.microsoft.com/office/drawing/2010/main">
                <a:solidFill>
                  <a:srgbClr val="FFFFFF"/>
                </a:solidFill>
              </a14:hiddenFill>
            </a:ext>
          </a:extLst>
        </p:spPr>
      </p:sp>
      <p:sp>
        <p:nvSpPr>
          <p:cNvPr id="65538" name="Notes Placeholder 2"/>
          <p:cNvSpPr>
            <a:spLocks noGrp="1"/>
          </p:cNvSpPr>
          <p:nvPr>
            <p:ph type="body" idx="1"/>
          </p:nvPr>
        </p:nvSpPr>
        <p:spPr bwMode="auto">
          <a:noFill/>
          <a:extLst>
            <a:ext uri="{FAA26D3D-D897-4be2-8F04-BA451C77F1D7}">
              <ma14:placeholderFlag xmlns:ma14="http://schemas.microsoft.com/office/mac/drawingml/2011/main" xmlns="" val="1"/>
            </a:ex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endParaRPr lang="en-US" altLang="en-US" dirty="0">
              <a:ea typeface="MS PGothic" charset="-128"/>
            </a:endParaRPr>
          </a:p>
        </p:txBody>
      </p:sp>
      <p:sp>
        <p:nvSpPr>
          <p:cNvPr id="65539" name="Slide Number Placeholder 3"/>
          <p:cNvSpPr>
            <a:spLocks noGrp="1"/>
          </p:cNvSpPr>
          <p:nvPr>
            <p:ph type="sldNum" sz="quarter" idx="5"/>
          </p:nvPr>
        </p:nvSpPr>
        <p:spPr bwMode="auto">
          <a:noFill/>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fld id="{9EE1BB6F-A407-EE47-9A85-F4E09E4700A5}" type="slidenum">
              <a:rPr lang="en-US" altLang="en-US" sz="1200"/>
              <a:pPr/>
              <a:t>21</a:t>
            </a:fld>
            <a:endParaRPr lang="en-US" altLang="en-US" sz="1200"/>
          </a:p>
        </p:txBody>
      </p:sp>
    </p:spTree>
    <p:extLst>
      <p:ext uri="{BB962C8B-B14F-4D97-AF65-F5344CB8AC3E}">
        <p14:creationId xmlns:p14="http://schemas.microsoft.com/office/powerpoint/2010/main" val="130410085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537" name="Slide Image Placeholder 1"/>
          <p:cNvSpPr>
            <a:spLocks noGrp="1" noRot="1" noChangeAspect="1" noTextEdit="1"/>
          </p:cNvSpPr>
          <p:nvPr>
            <p:ph type="sldImg"/>
          </p:nvPr>
        </p:nvSpPr>
        <p:spPr bwMode="auto">
          <a:noFill/>
          <a:ln>
            <a:solidFill>
              <a:srgbClr val="000000"/>
            </a:solidFill>
            <a:miter lim="800000"/>
            <a:headEnd/>
            <a:tailEnd/>
          </a:ln>
          <a:extLst>
            <a:ext uri="{FAA26D3D-D897-4be2-8F04-BA451C77F1D7}">
              <ma14:placeholderFlag xmlns:ma14="http://schemas.microsoft.com/office/mac/drawingml/2011/main" xmlns="" val="1"/>
            </a:ext>
            <a:ext uri="{909E8E84-426E-40dd-AFC4-6F175D3DCCD1}">
              <a14:hiddenFill xmlns="" xmlns:a14="http://schemas.microsoft.com/office/drawing/2010/main">
                <a:solidFill>
                  <a:srgbClr val="FFFFFF"/>
                </a:solidFill>
              </a14:hiddenFill>
            </a:ext>
          </a:extLst>
        </p:spPr>
      </p:sp>
      <p:sp>
        <p:nvSpPr>
          <p:cNvPr id="65538" name="Notes Placeholder 2"/>
          <p:cNvSpPr>
            <a:spLocks noGrp="1"/>
          </p:cNvSpPr>
          <p:nvPr>
            <p:ph type="body" idx="1"/>
          </p:nvPr>
        </p:nvSpPr>
        <p:spPr bwMode="auto">
          <a:noFill/>
          <a:extLst>
            <a:ext uri="{FAA26D3D-D897-4be2-8F04-BA451C77F1D7}">
              <ma14:placeholderFlag xmlns:ma14="http://schemas.microsoft.com/office/mac/drawingml/2011/main" xmlns="" val="1"/>
            </a:ex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endParaRPr lang="en-US" altLang="en-US" dirty="0">
              <a:ea typeface="MS PGothic" charset="-128"/>
            </a:endParaRPr>
          </a:p>
        </p:txBody>
      </p:sp>
      <p:sp>
        <p:nvSpPr>
          <p:cNvPr id="65539" name="Slide Number Placeholder 3"/>
          <p:cNvSpPr>
            <a:spLocks noGrp="1"/>
          </p:cNvSpPr>
          <p:nvPr>
            <p:ph type="sldNum" sz="quarter" idx="5"/>
          </p:nvPr>
        </p:nvSpPr>
        <p:spPr bwMode="auto">
          <a:noFill/>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fld id="{9EE1BB6F-A407-EE47-9A85-F4E09E4700A5}" type="slidenum">
              <a:rPr lang="en-US" altLang="en-US" sz="1200"/>
              <a:pPr/>
              <a:t>22</a:t>
            </a:fld>
            <a:endParaRPr lang="en-US" altLang="en-US" sz="1200"/>
          </a:p>
        </p:txBody>
      </p:sp>
    </p:spTree>
    <p:extLst>
      <p:ext uri="{BB962C8B-B14F-4D97-AF65-F5344CB8AC3E}">
        <p14:creationId xmlns:p14="http://schemas.microsoft.com/office/powerpoint/2010/main" val="68233244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537" name="Slide Image Placeholder 1"/>
          <p:cNvSpPr>
            <a:spLocks noGrp="1" noRot="1" noChangeAspect="1" noTextEdit="1"/>
          </p:cNvSpPr>
          <p:nvPr>
            <p:ph type="sldImg"/>
          </p:nvPr>
        </p:nvSpPr>
        <p:spPr bwMode="auto">
          <a:noFill/>
          <a:ln>
            <a:solidFill>
              <a:srgbClr val="000000"/>
            </a:solidFill>
            <a:miter lim="800000"/>
            <a:headEnd/>
            <a:tailEnd/>
          </a:ln>
          <a:extLst>
            <a:ext uri="{FAA26D3D-D897-4be2-8F04-BA451C77F1D7}">
              <ma14:placeholderFlag xmlns:ma14="http://schemas.microsoft.com/office/mac/drawingml/2011/main" xmlns="" val="1"/>
            </a:ext>
            <a:ext uri="{909E8E84-426E-40dd-AFC4-6F175D3DCCD1}">
              <a14:hiddenFill xmlns="" xmlns:a14="http://schemas.microsoft.com/office/drawing/2010/main">
                <a:solidFill>
                  <a:srgbClr val="FFFFFF"/>
                </a:solidFill>
              </a14:hiddenFill>
            </a:ext>
          </a:extLst>
        </p:spPr>
      </p:sp>
      <p:sp>
        <p:nvSpPr>
          <p:cNvPr id="65538" name="Notes Placeholder 2"/>
          <p:cNvSpPr>
            <a:spLocks noGrp="1"/>
          </p:cNvSpPr>
          <p:nvPr>
            <p:ph type="body" idx="1"/>
          </p:nvPr>
        </p:nvSpPr>
        <p:spPr bwMode="auto">
          <a:noFill/>
          <a:extLst>
            <a:ext uri="{FAA26D3D-D897-4be2-8F04-BA451C77F1D7}">
              <ma14:placeholderFlag xmlns:ma14="http://schemas.microsoft.com/office/mac/drawingml/2011/main" xmlns="" val="1"/>
            </a:ex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endParaRPr lang="en-US" altLang="en-US" dirty="0">
              <a:ea typeface="MS PGothic" charset="-128"/>
            </a:endParaRPr>
          </a:p>
        </p:txBody>
      </p:sp>
      <p:sp>
        <p:nvSpPr>
          <p:cNvPr id="65539" name="Slide Number Placeholder 3"/>
          <p:cNvSpPr>
            <a:spLocks noGrp="1"/>
          </p:cNvSpPr>
          <p:nvPr>
            <p:ph type="sldNum" sz="quarter" idx="5"/>
          </p:nvPr>
        </p:nvSpPr>
        <p:spPr bwMode="auto">
          <a:noFill/>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fld id="{9EE1BB6F-A407-EE47-9A85-F4E09E4700A5}" type="slidenum">
              <a:rPr lang="en-US" altLang="en-US" sz="1200"/>
              <a:pPr/>
              <a:t>23</a:t>
            </a:fld>
            <a:endParaRPr lang="en-US" altLang="en-US" sz="1200"/>
          </a:p>
        </p:txBody>
      </p:sp>
    </p:spTree>
    <p:extLst>
      <p:ext uri="{BB962C8B-B14F-4D97-AF65-F5344CB8AC3E}">
        <p14:creationId xmlns:p14="http://schemas.microsoft.com/office/powerpoint/2010/main" val="541398096"/>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537" name="Slide Image Placeholder 1"/>
          <p:cNvSpPr>
            <a:spLocks noGrp="1" noRot="1" noChangeAspect="1" noTextEdit="1"/>
          </p:cNvSpPr>
          <p:nvPr>
            <p:ph type="sldImg"/>
          </p:nvPr>
        </p:nvSpPr>
        <p:spPr bwMode="auto">
          <a:noFill/>
          <a:ln>
            <a:solidFill>
              <a:srgbClr val="000000"/>
            </a:solidFill>
            <a:miter lim="800000"/>
            <a:headEnd/>
            <a:tailEnd/>
          </a:ln>
          <a:extLst>
            <a:ext uri="{FAA26D3D-D897-4be2-8F04-BA451C77F1D7}">
              <ma14:placeholderFlag xmlns:ma14="http://schemas.microsoft.com/office/mac/drawingml/2011/main" xmlns="" val="1"/>
            </a:ext>
            <a:ext uri="{909E8E84-426E-40dd-AFC4-6F175D3DCCD1}">
              <a14:hiddenFill xmlns="" xmlns:a14="http://schemas.microsoft.com/office/drawing/2010/main">
                <a:solidFill>
                  <a:srgbClr val="FFFFFF"/>
                </a:solidFill>
              </a14:hiddenFill>
            </a:ext>
          </a:extLst>
        </p:spPr>
      </p:sp>
      <p:sp>
        <p:nvSpPr>
          <p:cNvPr id="65538" name="Notes Placeholder 2"/>
          <p:cNvSpPr>
            <a:spLocks noGrp="1"/>
          </p:cNvSpPr>
          <p:nvPr>
            <p:ph type="body" idx="1"/>
          </p:nvPr>
        </p:nvSpPr>
        <p:spPr bwMode="auto">
          <a:noFill/>
          <a:extLst>
            <a:ext uri="{FAA26D3D-D897-4be2-8F04-BA451C77F1D7}">
              <ma14:placeholderFlag xmlns:ma14="http://schemas.microsoft.com/office/mac/drawingml/2011/main" xmlns="" val="1"/>
            </a:ex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endParaRPr lang="en-US" altLang="en-US" dirty="0">
              <a:ea typeface="MS PGothic" charset="-128"/>
            </a:endParaRPr>
          </a:p>
        </p:txBody>
      </p:sp>
      <p:sp>
        <p:nvSpPr>
          <p:cNvPr id="65539" name="Slide Number Placeholder 3"/>
          <p:cNvSpPr>
            <a:spLocks noGrp="1"/>
          </p:cNvSpPr>
          <p:nvPr>
            <p:ph type="sldNum" sz="quarter" idx="5"/>
          </p:nvPr>
        </p:nvSpPr>
        <p:spPr bwMode="auto">
          <a:noFill/>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fld id="{9EE1BB6F-A407-EE47-9A85-F4E09E4700A5}" type="slidenum">
              <a:rPr lang="en-US" altLang="en-US" sz="1200"/>
              <a:pPr/>
              <a:t>24</a:t>
            </a:fld>
            <a:endParaRPr lang="en-US" altLang="en-US" sz="1200"/>
          </a:p>
        </p:txBody>
      </p:sp>
    </p:spTree>
    <p:extLst>
      <p:ext uri="{BB962C8B-B14F-4D97-AF65-F5344CB8AC3E}">
        <p14:creationId xmlns:p14="http://schemas.microsoft.com/office/powerpoint/2010/main" val="1386358569"/>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537" name="Slide Image Placeholder 1"/>
          <p:cNvSpPr>
            <a:spLocks noGrp="1" noRot="1" noChangeAspect="1" noTextEdit="1"/>
          </p:cNvSpPr>
          <p:nvPr>
            <p:ph type="sldImg"/>
          </p:nvPr>
        </p:nvSpPr>
        <p:spPr bwMode="auto">
          <a:noFill/>
          <a:ln>
            <a:solidFill>
              <a:srgbClr val="000000"/>
            </a:solidFill>
            <a:miter lim="800000"/>
            <a:headEnd/>
            <a:tailEnd/>
          </a:ln>
          <a:extLst>
            <a:ext uri="{FAA26D3D-D897-4be2-8F04-BA451C77F1D7}">
              <ma14:placeholderFlag xmlns:ma14="http://schemas.microsoft.com/office/mac/drawingml/2011/main" xmlns="" val="1"/>
            </a:ext>
            <a:ext uri="{909E8E84-426E-40dd-AFC4-6F175D3DCCD1}">
              <a14:hiddenFill xmlns="" xmlns:a14="http://schemas.microsoft.com/office/drawing/2010/main">
                <a:solidFill>
                  <a:srgbClr val="FFFFFF"/>
                </a:solidFill>
              </a14:hiddenFill>
            </a:ext>
          </a:extLst>
        </p:spPr>
      </p:sp>
      <p:sp>
        <p:nvSpPr>
          <p:cNvPr id="65538" name="Notes Placeholder 2"/>
          <p:cNvSpPr>
            <a:spLocks noGrp="1"/>
          </p:cNvSpPr>
          <p:nvPr>
            <p:ph type="body" idx="1"/>
          </p:nvPr>
        </p:nvSpPr>
        <p:spPr bwMode="auto">
          <a:noFill/>
          <a:extLst>
            <a:ext uri="{FAA26D3D-D897-4be2-8F04-BA451C77F1D7}">
              <ma14:placeholderFlag xmlns:ma14="http://schemas.microsoft.com/office/mac/drawingml/2011/main" xmlns="" val="1"/>
            </a:ex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endParaRPr lang="en-US" altLang="en-US" dirty="0">
              <a:ea typeface="MS PGothic" charset="-128"/>
            </a:endParaRPr>
          </a:p>
        </p:txBody>
      </p:sp>
      <p:sp>
        <p:nvSpPr>
          <p:cNvPr id="65539" name="Slide Number Placeholder 3"/>
          <p:cNvSpPr>
            <a:spLocks noGrp="1"/>
          </p:cNvSpPr>
          <p:nvPr>
            <p:ph type="sldNum" sz="quarter" idx="5"/>
          </p:nvPr>
        </p:nvSpPr>
        <p:spPr bwMode="auto">
          <a:noFill/>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fld id="{9EE1BB6F-A407-EE47-9A85-F4E09E4700A5}" type="slidenum">
              <a:rPr lang="en-US" altLang="en-US" sz="1200"/>
              <a:pPr/>
              <a:t>25</a:t>
            </a:fld>
            <a:endParaRPr lang="en-US" altLang="en-US" sz="1200"/>
          </a:p>
        </p:txBody>
      </p:sp>
    </p:spTree>
    <p:extLst>
      <p:ext uri="{BB962C8B-B14F-4D97-AF65-F5344CB8AC3E}">
        <p14:creationId xmlns:p14="http://schemas.microsoft.com/office/powerpoint/2010/main" val="202594866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371600" y="1143000"/>
            <a:ext cx="41148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endParaRPr lang="en-US" dirty="0"/>
          </a:p>
        </p:txBody>
      </p:sp>
    </p:spTree>
    <p:extLst>
      <p:ext uri="{BB962C8B-B14F-4D97-AF65-F5344CB8AC3E}">
        <p14:creationId xmlns:p14="http://schemas.microsoft.com/office/powerpoint/2010/main" val="4155696060"/>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6498" name="Slide Image Placeholder 1"/>
          <p:cNvSpPr>
            <a:spLocks noGrp="1" noRot="1" noChangeAspect="1"/>
          </p:cNvSpPr>
          <p:nvPr>
            <p:ph type="sldImg"/>
          </p:nvPr>
        </p:nvSpPr>
        <p:spPr bwMode="auto">
          <a:xfrm>
            <a:off x="1143000" y="685800"/>
            <a:ext cx="4572000" cy="3429000"/>
          </a:xfrm>
          <a:prstGeom prst="rect">
            <a:avLst/>
          </a:prstGeom>
          <a:noFill/>
          <a:ln w="12700">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106499" name="Notes Placeholder 2"/>
          <p:cNvSpPr>
            <a:spLocks noGrp="1"/>
          </p:cNvSpPr>
          <p:nvPr>
            <p:ph type="body" idx="1"/>
          </p:nvPr>
        </p:nvSpPr>
        <p:spPr bwMode="auto">
          <a:xfrm>
            <a:off x="685800" y="4343400"/>
            <a:ext cx="5486400" cy="4114800"/>
          </a:xfrm>
          <a:prstGeom prst="rect">
            <a:avLst/>
          </a:prstGeo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t>A </a:t>
            </a:r>
            <a:r>
              <a:rPr lang="en-US" b="1"/>
              <a:t>balanced binary tree</a:t>
            </a:r>
            <a:r>
              <a:rPr lang="en-US"/>
              <a:t> is commonly defined as a binary tree in which the depth of the two subtrees of every node never differ by more than 1,</a:t>
            </a:r>
            <a:r>
              <a:rPr lang="en-US" baseline="30000">
                <a:hlinkClick r:id="" action="ppaction://hlinkfile"/>
              </a:rPr>
              <a:t>[3]</a:t>
            </a:r>
            <a:r>
              <a:rPr lang="en-US"/>
              <a:t> although in general it is a binary tree where no leaf is much farther away from the root than any other leaf.  (Different balancing schemes allow different definitions of "much farther"</a:t>
            </a:r>
            <a:r>
              <a:rPr lang="en-US" baseline="30000">
                <a:hlinkClick r:id="" action="ppaction://hlinkfile"/>
              </a:rPr>
              <a:t>[4]</a:t>
            </a:r>
            <a:r>
              <a:rPr lang="en-US"/>
              <a:t>). Binary trees that are balanced according to this definition have a predictable depth (how many nodes are traversed from the root to a leaf, root counting as node 0 and subsequent as 1, 2, ..., depth). This depth is equal to the integer part of where is the number of nodes on the balanced tree. Example 1: balanced tree with 1 node, (depth = 0). Example 2: balanced tree with 3 nodes, (depth=1). Example 3: balanced tree with 5 nodes, (depth of tree is 2 nodes).</a:t>
            </a:r>
          </a:p>
        </p:txBody>
      </p:sp>
    </p:spTree>
    <p:extLst>
      <p:ext uri="{BB962C8B-B14F-4D97-AF65-F5344CB8AC3E}">
        <p14:creationId xmlns:p14="http://schemas.microsoft.com/office/powerpoint/2010/main" val="3017068693"/>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6498" name="Slide Image Placeholder 1"/>
          <p:cNvSpPr>
            <a:spLocks noGrp="1" noRot="1" noChangeAspect="1"/>
          </p:cNvSpPr>
          <p:nvPr>
            <p:ph type="sldImg"/>
          </p:nvPr>
        </p:nvSpPr>
        <p:spPr bwMode="auto">
          <a:xfrm>
            <a:off x="1143000" y="685800"/>
            <a:ext cx="4572000" cy="3429000"/>
          </a:xfrm>
          <a:prstGeom prst="rect">
            <a:avLst/>
          </a:prstGeom>
          <a:noFill/>
          <a:ln w="12700">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106499" name="Notes Placeholder 2"/>
          <p:cNvSpPr>
            <a:spLocks noGrp="1"/>
          </p:cNvSpPr>
          <p:nvPr>
            <p:ph type="body" idx="1"/>
          </p:nvPr>
        </p:nvSpPr>
        <p:spPr bwMode="auto">
          <a:xfrm>
            <a:off x="685800" y="4343400"/>
            <a:ext cx="5486400" cy="4114800"/>
          </a:xfrm>
          <a:prstGeom prst="rect">
            <a:avLst/>
          </a:prstGeo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t>A </a:t>
            </a:r>
            <a:r>
              <a:rPr lang="en-US" b="1"/>
              <a:t>balanced binary tree</a:t>
            </a:r>
            <a:r>
              <a:rPr lang="en-US"/>
              <a:t> is commonly defined as a binary tree in which the depth of the two subtrees of every node never differ by more than 1,</a:t>
            </a:r>
            <a:r>
              <a:rPr lang="en-US" baseline="30000">
                <a:hlinkClick r:id="" action="ppaction://hlinkfile"/>
              </a:rPr>
              <a:t>[3]</a:t>
            </a:r>
            <a:r>
              <a:rPr lang="en-US"/>
              <a:t> although in general it is a binary tree where no leaf is much farther away from the root than any other leaf.  (Different balancing schemes allow different definitions of "much farther"</a:t>
            </a:r>
            <a:r>
              <a:rPr lang="en-US" baseline="30000">
                <a:hlinkClick r:id="" action="ppaction://hlinkfile"/>
              </a:rPr>
              <a:t>[4]</a:t>
            </a:r>
            <a:r>
              <a:rPr lang="en-US"/>
              <a:t>). Binary trees that are balanced according to this definition have a predictable depth (how many nodes are traversed from the root to a leaf, root counting as node 0 and subsequent as 1, 2, ..., depth). This depth is equal to the integer part of where is the number of nodes on the balanced tree. Example 1: balanced tree with 1 node, (depth = 0). Example 2: balanced tree with 3 nodes, (depth=1). Example 3: balanced tree with 5 nodes, (depth of tree is 2 nodes).</a:t>
            </a:r>
          </a:p>
        </p:txBody>
      </p:sp>
    </p:spTree>
    <p:extLst>
      <p:ext uri="{BB962C8B-B14F-4D97-AF65-F5344CB8AC3E}">
        <p14:creationId xmlns:p14="http://schemas.microsoft.com/office/powerpoint/2010/main" val="2665451255"/>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371600" y="1143000"/>
            <a:ext cx="41148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US" dirty="0"/>
              <a:t>This slide is editable.</a:t>
            </a:r>
          </a:p>
        </p:txBody>
      </p:sp>
    </p:spTree>
    <p:extLst>
      <p:ext uri="{BB962C8B-B14F-4D97-AF65-F5344CB8AC3E}">
        <p14:creationId xmlns:p14="http://schemas.microsoft.com/office/powerpoint/2010/main" val="286532551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en-US"/>
              <a:t>Click to edit Master subtitle style</a:t>
            </a:r>
          </a:p>
        </p:txBody>
      </p:sp>
      <p:sp>
        <p:nvSpPr>
          <p:cNvPr id="4" name="Rectangle 4"/>
          <p:cNvSpPr>
            <a:spLocks noGrp="1" noChangeArrowheads="1"/>
          </p:cNvSpPr>
          <p:nvPr>
            <p:ph type="dt" sz="half" idx="10"/>
          </p:nvPr>
        </p:nvSpPr>
        <p:spPr>
          <a:ln/>
        </p:spPr>
        <p:txBody>
          <a:bodyPr/>
          <a:lstStyle>
            <a:lvl1pPr>
              <a:defRPr/>
            </a:lvl1pPr>
          </a:lstStyle>
          <a:p>
            <a:pPr>
              <a:defRPr/>
            </a:pPr>
            <a:endParaRPr lang="en-US"/>
          </a:p>
        </p:txBody>
      </p:sp>
      <p:sp>
        <p:nvSpPr>
          <p:cNvPr id="5" name="Rectangle 6"/>
          <p:cNvSpPr>
            <a:spLocks noGrp="1" noChangeArrowheads="1"/>
          </p:cNvSpPr>
          <p:nvPr>
            <p:ph type="sldNum" sz="quarter" idx="11"/>
          </p:nvPr>
        </p:nvSpPr>
        <p:spPr>
          <a:ln/>
        </p:spPr>
        <p:txBody>
          <a:bodyPr/>
          <a:lstStyle>
            <a:lvl1pPr>
              <a:defRPr/>
            </a:lvl1pPr>
          </a:lstStyle>
          <a:p>
            <a:pPr>
              <a:defRPr/>
            </a:pPr>
            <a:fld id="{6DFF4D22-219A-41EC-AAAA-A480C6A0241D}" type="slidenum">
              <a:rPr lang="en-US"/>
              <a:pPr>
                <a:defRPr/>
              </a:pPr>
              <a:t>‹#›</a:t>
            </a:fld>
            <a:endParaRPr lang="en-US"/>
          </a:p>
        </p:txBody>
      </p:sp>
      <p:sp>
        <p:nvSpPr>
          <p:cNvPr id="6" name="Rectangle 8"/>
          <p:cNvSpPr>
            <a:spLocks noGrp="1" noChangeArrowheads="1"/>
          </p:cNvSpPr>
          <p:nvPr>
            <p:ph type="ftr" sz="quarter" idx="12"/>
          </p:nvPr>
        </p:nvSpPr>
        <p:spPr>
          <a:ln/>
        </p:spPr>
        <p:txBody>
          <a:bodyPr/>
          <a:lstStyle>
            <a:lvl1pPr>
              <a:defRPr b="0">
                <a:latin typeface="Tahoma" pitchFamily="34" charset="0"/>
              </a:defRPr>
            </a:lvl1pPr>
          </a:lstStyle>
          <a:p>
            <a:pPr>
              <a:defRPr/>
            </a:pPr>
            <a:endParaRPr lang="en-US" b="1">
              <a:latin typeface="+mn-lt"/>
            </a:endParaRPr>
          </a:p>
          <a:p>
            <a:pPr>
              <a:defRPr/>
            </a:pPr>
            <a:endParaRPr lang="en-US"/>
          </a:p>
          <a:p>
            <a:pPr>
              <a:defRPr/>
            </a:pPr>
            <a:endParaRPr lang="en-US" b="1"/>
          </a:p>
          <a:p>
            <a:pPr>
              <a:defRPr/>
            </a:pPr>
            <a:r>
              <a:rPr lang="en-US" b="1"/>
              <a:t>© A+ Computer Science  -  www.apluscompsci.com</a:t>
            </a:r>
          </a:p>
        </p:txBody>
      </p:sp>
    </p:spTree>
    <p:extLst>
      <p:ext uri="{BB962C8B-B14F-4D97-AF65-F5344CB8AC3E}">
        <p14:creationId xmlns:p14="http://schemas.microsoft.com/office/powerpoint/2010/main" val="401510609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p:cNvSpPr>
            <a:spLocks noGrp="1" noChangeArrowheads="1"/>
          </p:cNvSpPr>
          <p:nvPr>
            <p:ph type="dt" sz="half" idx="10"/>
          </p:nvPr>
        </p:nvSpPr>
        <p:spPr>
          <a:ln/>
        </p:spPr>
        <p:txBody>
          <a:bodyPr/>
          <a:lstStyle>
            <a:lvl1pPr>
              <a:defRPr/>
            </a:lvl1pPr>
          </a:lstStyle>
          <a:p>
            <a:pPr>
              <a:defRPr/>
            </a:pPr>
            <a:endParaRPr lang="en-US"/>
          </a:p>
        </p:txBody>
      </p:sp>
      <p:sp>
        <p:nvSpPr>
          <p:cNvPr id="5" name="Rectangle 6"/>
          <p:cNvSpPr>
            <a:spLocks noGrp="1" noChangeArrowheads="1"/>
          </p:cNvSpPr>
          <p:nvPr>
            <p:ph type="sldNum" sz="quarter" idx="11"/>
          </p:nvPr>
        </p:nvSpPr>
        <p:spPr>
          <a:ln/>
        </p:spPr>
        <p:txBody>
          <a:bodyPr/>
          <a:lstStyle>
            <a:lvl1pPr>
              <a:defRPr/>
            </a:lvl1pPr>
          </a:lstStyle>
          <a:p>
            <a:pPr>
              <a:defRPr/>
            </a:pPr>
            <a:fld id="{88BAC133-8006-4042-A2C6-E2135B65489B}" type="slidenum">
              <a:rPr lang="en-US"/>
              <a:pPr>
                <a:defRPr/>
              </a:pPr>
              <a:t>‹#›</a:t>
            </a:fld>
            <a:endParaRPr lang="en-US"/>
          </a:p>
        </p:txBody>
      </p:sp>
      <p:sp>
        <p:nvSpPr>
          <p:cNvPr id="6" name="Rectangle 8"/>
          <p:cNvSpPr>
            <a:spLocks noGrp="1" noChangeArrowheads="1"/>
          </p:cNvSpPr>
          <p:nvPr>
            <p:ph type="ftr" sz="quarter" idx="12"/>
          </p:nvPr>
        </p:nvSpPr>
        <p:spPr>
          <a:ln/>
        </p:spPr>
        <p:txBody>
          <a:bodyPr/>
          <a:lstStyle>
            <a:lvl1pPr>
              <a:defRPr b="0">
                <a:latin typeface="Tahoma" pitchFamily="34" charset="0"/>
              </a:defRPr>
            </a:lvl1pPr>
          </a:lstStyle>
          <a:p>
            <a:pPr>
              <a:defRPr/>
            </a:pPr>
            <a:endParaRPr lang="en-US" b="1">
              <a:latin typeface="+mn-lt"/>
            </a:endParaRPr>
          </a:p>
          <a:p>
            <a:pPr>
              <a:defRPr/>
            </a:pPr>
            <a:endParaRPr lang="en-US"/>
          </a:p>
          <a:p>
            <a:pPr>
              <a:defRPr/>
            </a:pPr>
            <a:endParaRPr lang="en-US" b="1"/>
          </a:p>
          <a:p>
            <a:pPr>
              <a:defRPr/>
            </a:pPr>
            <a:r>
              <a:rPr lang="en-US" b="1"/>
              <a:t>© A+ Computer Science  -  www.apluscompsci.com</a:t>
            </a:r>
          </a:p>
        </p:txBody>
      </p:sp>
    </p:spTree>
    <p:extLst>
      <p:ext uri="{BB962C8B-B14F-4D97-AF65-F5344CB8AC3E}">
        <p14:creationId xmlns:p14="http://schemas.microsoft.com/office/powerpoint/2010/main" val="243840734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en-US"/>
              <a:t>Click to edit Master text styles</a:t>
            </a:r>
          </a:p>
        </p:txBody>
      </p:sp>
      <p:sp>
        <p:nvSpPr>
          <p:cNvPr id="4" name="Rectangle 4"/>
          <p:cNvSpPr>
            <a:spLocks noGrp="1" noChangeArrowheads="1"/>
          </p:cNvSpPr>
          <p:nvPr>
            <p:ph type="dt" sz="half" idx="10"/>
          </p:nvPr>
        </p:nvSpPr>
        <p:spPr>
          <a:ln/>
        </p:spPr>
        <p:txBody>
          <a:bodyPr/>
          <a:lstStyle>
            <a:lvl1pPr>
              <a:defRPr/>
            </a:lvl1pPr>
          </a:lstStyle>
          <a:p>
            <a:pPr>
              <a:defRPr/>
            </a:pPr>
            <a:endParaRPr lang="en-US"/>
          </a:p>
        </p:txBody>
      </p:sp>
      <p:sp>
        <p:nvSpPr>
          <p:cNvPr id="5" name="Rectangle 6"/>
          <p:cNvSpPr>
            <a:spLocks noGrp="1" noChangeArrowheads="1"/>
          </p:cNvSpPr>
          <p:nvPr>
            <p:ph type="sldNum" sz="quarter" idx="11"/>
          </p:nvPr>
        </p:nvSpPr>
        <p:spPr>
          <a:ln/>
        </p:spPr>
        <p:txBody>
          <a:bodyPr/>
          <a:lstStyle>
            <a:lvl1pPr>
              <a:defRPr/>
            </a:lvl1pPr>
          </a:lstStyle>
          <a:p>
            <a:pPr>
              <a:defRPr/>
            </a:pPr>
            <a:fld id="{91E6A31E-D5CB-4919-A098-37296F9BD392}" type="slidenum">
              <a:rPr lang="en-US"/>
              <a:pPr>
                <a:defRPr/>
              </a:pPr>
              <a:t>‹#›</a:t>
            </a:fld>
            <a:endParaRPr lang="en-US"/>
          </a:p>
        </p:txBody>
      </p:sp>
      <p:sp>
        <p:nvSpPr>
          <p:cNvPr id="6" name="Rectangle 8"/>
          <p:cNvSpPr>
            <a:spLocks noGrp="1" noChangeArrowheads="1"/>
          </p:cNvSpPr>
          <p:nvPr>
            <p:ph type="ftr" sz="quarter" idx="12"/>
          </p:nvPr>
        </p:nvSpPr>
        <p:spPr>
          <a:ln/>
        </p:spPr>
        <p:txBody>
          <a:bodyPr/>
          <a:lstStyle>
            <a:lvl1pPr>
              <a:defRPr b="0">
                <a:latin typeface="Tahoma" pitchFamily="34" charset="0"/>
              </a:defRPr>
            </a:lvl1pPr>
          </a:lstStyle>
          <a:p>
            <a:pPr>
              <a:defRPr/>
            </a:pPr>
            <a:endParaRPr lang="en-US" b="1">
              <a:latin typeface="+mn-lt"/>
            </a:endParaRPr>
          </a:p>
          <a:p>
            <a:pPr>
              <a:defRPr/>
            </a:pPr>
            <a:endParaRPr lang="en-US"/>
          </a:p>
          <a:p>
            <a:pPr>
              <a:defRPr/>
            </a:pPr>
            <a:endParaRPr lang="en-US" b="1"/>
          </a:p>
          <a:p>
            <a:pPr>
              <a:defRPr/>
            </a:pPr>
            <a:r>
              <a:rPr lang="en-US" b="1"/>
              <a:t>© A+ Computer Science  -  www.apluscompsci.com</a:t>
            </a:r>
          </a:p>
        </p:txBody>
      </p:sp>
    </p:spTree>
    <p:extLst>
      <p:ext uri="{BB962C8B-B14F-4D97-AF65-F5344CB8AC3E}">
        <p14:creationId xmlns:p14="http://schemas.microsoft.com/office/powerpoint/2010/main" val="331977467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85800" y="1981200"/>
            <a:ext cx="3810000" cy="41148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981200"/>
            <a:ext cx="3810000" cy="41148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Rectangle 4"/>
          <p:cNvSpPr>
            <a:spLocks noGrp="1" noChangeArrowheads="1"/>
          </p:cNvSpPr>
          <p:nvPr>
            <p:ph type="dt" sz="half" idx="10"/>
          </p:nvPr>
        </p:nvSpPr>
        <p:spPr>
          <a:ln/>
        </p:spPr>
        <p:txBody>
          <a:bodyPr/>
          <a:lstStyle>
            <a:lvl1pPr>
              <a:defRPr/>
            </a:lvl1pPr>
          </a:lstStyle>
          <a:p>
            <a:pPr>
              <a:defRPr/>
            </a:pPr>
            <a:endParaRPr lang="en-US"/>
          </a:p>
        </p:txBody>
      </p:sp>
      <p:sp>
        <p:nvSpPr>
          <p:cNvPr id="6" name="Rectangle 6"/>
          <p:cNvSpPr>
            <a:spLocks noGrp="1" noChangeArrowheads="1"/>
          </p:cNvSpPr>
          <p:nvPr>
            <p:ph type="sldNum" sz="quarter" idx="11"/>
          </p:nvPr>
        </p:nvSpPr>
        <p:spPr>
          <a:ln/>
        </p:spPr>
        <p:txBody>
          <a:bodyPr/>
          <a:lstStyle>
            <a:lvl1pPr>
              <a:defRPr/>
            </a:lvl1pPr>
          </a:lstStyle>
          <a:p>
            <a:pPr>
              <a:defRPr/>
            </a:pPr>
            <a:fld id="{57471938-B544-487E-930F-272EA0E4117E}" type="slidenum">
              <a:rPr lang="en-US"/>
              <a:pPr>
                <a:defRPr/>
              </a:pPr>
              <a:t>‹#›</a:t>
            </a:fld>
            <a:endParaRPr lang="en-US"/>
          </a:p>
        </p:txBody>
      </p:sp>
      <p:sp>
        <p:nvSpPr>
          <p:cNvPr id="7" name="Rectangle 8"/>
          <p:cNvSpPr>
            <a:spLocks noGrp="1" noChangeArrowheads="1"/>
          </p:cNvSpPr>
          <p:nvPr>
            <p:ph type="ftr" sz="quarter" idx="12"/>
          </p:nvPr>
        </p:nvSpPr>
        <p:spPr>
          <a:ln/>
        </p:spPr>
        <p:txBody>
          <a:bodyPr/>
          <a:lstStyle>
            <a:lvl1pPr>
              <a:defRPr b="0">
                <a:latin typeface="Tahoma" pitchFamily="34" charset="0"/>
              </a:defRPr>
            </a:lvl1pPr>
          </a:lstStyle>
          <a:p>
            <a:pPr>
              <a:defRPr/>
            </a:pPr>
            <a:endParaRPr lang="en-US" b="1">
              <a:latin typeface="+mn-lt"/>
            </a:endParaRPr>
          </a:p>
          <a:p>
            <a:pPr>
              <a:defRPr/>
            </a:pPr>
            <a:endParaRPr lang="en-US"/>
          </a:p>
          <a:p>
            <a:pPr>
              <a:defRPr/>
            </a:pPr>
            <a:endParaRPr lang="en-US" b="1"/>
          </a:p>
          <a:p>
            <a:pPr>
              <a:defRPr/>
            </a:pPr>
            <a:r>
              <a:rPr lang="en-US" b="1"/>
              <a:t>© A+ Computer Science  -  www.apluscompsci.com</a:t>
            </a:r>
          </a:p>
        </p:txBody>
      </p:sp>
    </p:spTree>
    <p:extLst>
      <p:ext uri="{BB962C8B-B14F-4D97-AF65-F5344CB8AC3E}">
        <p14:creationId xmlns:p14="http://schemas.microsoft.com/office/powerpoint/2010/main" val="268988308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1143000"/>
          </a:xfrm>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Rectangle 4"/>
          <p:cNvSpPr>
            <a:spLocks noGrp="1" noChangeArrowheads="1"/>
          </p:cNvSpPr>
          <p:nvPr>
            <p:ph type="dt" sz="half" idx="10"/>
          </p:nvPr>
        </p:nvSpPr>
        <p:spPr>
          <a:ln/>
        </p:spPr>
        <p:txBody>
          <a:bodyPr/>
          <a:lstStyle>
            <a:lvl1pPr>
              <a:defRPr/>
            </a:lvl1pPr>
          </a:lstStyle>
          <a:p>
            <a:pPr>
              <a:defRPr/>
            </a:pPr>
            <a:endParaRPr lang="en-US"/>
          </a:p>
        </p:txBody>
      </p:sp>
      <p:sp>
        <p:nvSpPr>
          <p:cNvPr id="8" name="Rectangle 6"/>
          <p:cNvSpPr>
            <a:spLocks noGrp="1" noChangeArrowheads="1"/>
          </p:cNvSpPr>
          <p:nvPr>
            <p:ph type="sldNum" sz="quarter" idx="11"/>
          </p:nvPr>
        </p:nvSpPr>
        <p:spPr>
          <a:ln/>
        </p:spPr>
        <p:txBody>
          <a:bodyPr/>
          <a:lstStyle>
            <a:lvl1pPr>
              <a:defRPr/>
            </a:lvl1pPr>
          </a:lstStyle>
          <a:p>
            <a:pPr>
              <a:defRPr/>
            </a:pPr>
            <a:fld id="{96AB4639-C0DE-4FA4-91C8-CB484847FB20}" type="slidenum">
              <a:rPr lang="en-US"/>
              <a:pPr>
                <a:defRPr/>
              </a:pPr>
              <a:t>‹#›</a:t>
            </a:fld>
            <a:endParaRPr lang="en-US"/>
          </a:p>
        </p:txBody>
      </p:sp>
      <p:sp>
        <p:nvSpPr>
          <p:cNvPr id="9" name="Rectangle 8"/>
          <p:cNvSpPr>
            <a:spLocks noGrp="1" noChangeArrowheads="1"/>
          </p:cNvSpPr>
          <p:nvPr>
            <p:ph type="ftr" sz="quarter" idx="12"/>
          </p:nvPr>
        </p:nvSpPr>
        <p:spPr>
          <a:ln/>
        </p:spPr>
        <p:txBody>
          <a:bodyPr/>
          <a:lstStyle>
            <a:lvl1pPr>
              <a:defRPr b="0">
                <a:latin typeface="Tahoma" pitchFamily="34" charset="0"/>
              </a:defRPr>
            </a:lvl1pPr>
          </a:lstStyle>
          <a:p>
            <a:pPr>
              <a:defRPr/>
            </a:pPr>
            <a:endParaRPr lang="en-US" b="1">
              <a:latin typeface="+mn-lt"/>
            </a:endParaRPr>
          </a:p>
          <a:p>
            <a:pPr>
              <a:defRPr/>
            </a:pPr>
            <a:endParaRPr lang="en-US"/>
          </a:p>
          <a:p>
            <a:pPr>
              <a:defRPr/>
            </a:pPr>
            <a:endParaRPr lang="en-US" b="1"/>
          </a:p>
          <a:p>
            <a:pPr>
              <a:defRPr/>
            </a:pPr>
            <a:r>
              <a:rPr lang="en-US" b="1"/>
              <a:t>© A+ Computer Science  -  www.apluscompsci.com</a:t>
            </a:r>
          </a:p>
        </p:txBody>
      </p:sp>
    </p:spTree>
    <p:extLst>
      <p:ext uri="{BB962C8B-B14F-4D97-AF65-F5344CB8AC3E}">
        <p14:creationId xmlns:p14="http://schemas.microsoft.com/office/powerpoint/2010/main" val="359842212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Rectangle 4"/>
          <p:cNvSpPr>
            <a:spLocks noGrp="1" noChangeArrowheads="1"/>
          </p:cNvSpPr>
          <p:nvPr>
            <p:ph type="dt" sz="half" idx="10"/>
          </p:nvPr>
        </p:nvSpPr>
        <p:spPr>
          <a:ln/>
        </p:spPr>
        <p:txBody>
          <a:bodyPr/>
          <a:lstStyle>
            <a:lvl1pPr>
              <a:defRPr/>
            </a:lvl1pPr>
          </a:lstStyle>
          <a:p>
            <a:pPr>
              <a:defRPr/>
            </a:pPr>
            <a:endParaRPr lang="en-US"/>
          </a:p>
        </p:txBody>
      </p:sp>
      <p:sp>
        <p:nvSpPr>
          <p:cNvPr id="4" name="Rectangle 6"/>
          <p:cNvSpPr>
            <a:spLocks noGrp="1" noChangeArrowheads="1"/>
          </p:cNvSpPr>
          <p:nvPr>
            <p:ph type="sldNum" sz="quarter" idx="11"/>
          </p:nvPr>
        </p:nvSpPr>
        <p:spPr>
          <a:ln/>
        </p:spPr>
        <p:txBody>
          <a:bodyPr/>
          <a:lstStyle>
            <a:lvl1pPr>
              <a:defRPr/>
            </a:lvl1pPr>
          </a:lstStyle>
          <a:p>
            <a:pPr>
              <a:defRPr/>
            </a:pPr>
            <a:fld id="{0D713244-FEF9-4DD2-9774-EB2ADD432F6A}" type="slidenum">
              <a:rPr lang="en-US"/>
              <a:pPr>
                <a:defRPr/>
              </a:pPr>
              <a:t>‹#›</a:t>
            </a:fld>
            <a:endParaRPr lang="en-US"/>
          </a:p>
        </p:txBody>
      </p:sp>
      <p:sp>
        <p:nvSpPr>
          <p:cNvPr id="5" name="Rectangle 8"/>
          <p:cNvSpPr>
            <a:spLocks noGrp="1" noChangeArrowheads="1"/>
          </p:cNvSpPr>
          <p:nvPr>
            <p:ph type="ftr" sz="quarter" idx="12"/>
          </p:nvPr>
        </p:nvSpPr>
        <p:spPr>
          <a:ln/>
        </p:spPr>
        <p:txBody>
          <a:bodyPr/>
          <a:lstStyle>
            <a:lvl1pPr>
              <a:defRPr b="0">
                <a:latin typeface="Tahoma" pitchFamily="34" charset="0"/>
              </a:defRPr>
            </a:lvl1pPr>
          </a:lstStyle>
          <a:p>
            <a:pPr>
              <a:defRPr/>
            </a:pPr>
            <a:endParaRPr lang="en-US" b="1">
              <a:latin typeface="+mn-lt"/>
            </a:endParaRPr>
          </a:p>
          <a:p>
            <a:pPr>
              <a:defRPr/>
            </a:pPr>
            <a:endParaRPr lang="en-US"/>
          </a:p>
          <a:p>
            <a:pPr>
              <a:defRPr/>
            </a:pPr>
            <a:endParaRPr lang="en-US" b="1"/>
          </a:p>
          <a:p>
            <a:pPr>
              <a:defRPr/>
            </a:pPr>
            <a:r>
              <a:rPr lang="en-US" b="1"/>
              <a:t>© A+ Computer Science  -  www.apluscompsci.com</a:t>
            </a:r>
          </a:p>
        </p:txBody>
      </p:sp>
    </p:spTree>
    <p:extLst>
      <p:ext uri="{BB962C8B-B14F-4D97-AF65-F5344CB8AC3E}">
        <p14:creationId xmlns:p14="http://schemas.microsoft.com/office/powerpoint/2010/main" val="277478746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Rectangle 4"/>
          <p:cNvSpPr>
            <a:spLocks noGrp="1" noChangeArrowheads="1"/>
          </p:cNvSpPr>
          <p:nvPr>
            <p:ph type="dt" sz="half" idx="10"/>
          </p:nvPr>
        </p:nvSpPr>
        <p:spPr>
          <a:ln/>
        </p:spPr>
        <p:txBody>
          <a:bodyPr/>
          <a:lstStyle>
            <a:lvl1pPr>
              <a:defRPr/>
            </a:lvl1pPr>
          </a:lstStyle>
          <a:p>
            <a:pPr>
              <a:defRPr/>
            </a:pPr>
            <a:endParaRPr lang="en-US"/>
          </a:p>
        </p:txBody>
      </p:sp>
      <p:sp>
        <p:nvSpPr>
          <p:cNvPr id="3" name="Rectangle 6"/>
          <p:cNvSpPr>
            <a:spLocks noGrp="1" noChangeArrowheads="1"/>
          </p:cNvSpPr>
          <p:nvPr>
            <p:ph type="sldNum" sz="quarter" idx="11"/>
          </p:nvPr>
        </p:nvSpPr>
        <p:spPr>
          <a:ln/>
        </p:spPr>
        <p:txBody>
          <a:bodyPr/>
          <a:lstStyle>
            <a:lvl1pPr>
              <a:defRPr/>
            </a:lvl1pPr>
          </a:lstStyle>
          <a:p>
            <a:pPr>
              <a:defRPr/>
            </a:pPr>
            <a:fld id="{5820E319-8829-4CDA-B5FC-22F831E6A1AD}" type="slidenum">
              <a:rPr lang="en-US"/>
              <a:pPr>
                <a:defRPr/>
              </a:pPr>
              <a:t>‹#›</a:t>
            </a:fld>
            <a:endParaRPr lang="en-US"/>
          </a:p>
        </p:txBody>
      </p:sp>
      <p:sp>
        <p:nvSpPr>
          <p:cNvPr id="4" name="Rectangle 8"/>
          <p:cNvSpPr>
            <a:spLocks noGrp="1" noChangeArrowheads="1"/>
          </p:cNvSpPr>
          <p:nvPr>
            <p:ph type="ftr" sz="quarter" idx="12"/>
          </p:nvPr>
        </p:nvSpPr>
        <p:spPr>
          <a:ln/>
        </p:spPr>
        <p:txBody>
          <a:bodyPr/>
          <a:lstStyle>
            <a:lvl1pPr>
              <a:defRPr b="0">
                <a:latin typeface="Tahoma" pitchFamily="34" charset="0"/>
              </a:defRPr>
            </a:lvl1pPr>
          </a:lstStyle>
          <a:p>
            <a:pPr>
              <a:defRPr/>
            </a:pPr>
            <a:endParaRPr lang="en-US" b="1">
              <a:latin typeface="+mn-lt"/>
            </a:endParaRPr>
          </a:p>
          <a:p>
            <a:pPr>
              <a:defRPr/>
            </a:pPr>
            <a:endParaRPr lang="en-US"/>
          </a:p>
          <a:p>
            <a:pPr>
              <a:defRPr/>
            </a:pPr>
            <a:endParaRPr lang="en-US" b="1"/>
          </a:p>
          <a:p>
            <a:pPr>
              <a:defRPr/>
            </a:pPr>
            <a:r>
              <a:rPr lang="en-US" b="1"/>
              <a:t>© A+ Computer Science  -  www.apluscompsci.com</a:t>
            </a:r>
          </a:p>
        </p:txBody>
      </p:sp>
    </p:spTree>
    <p:extLst>
      <p:ext uri="{BB962C8B-B14F-4D97-AF65-F5344CB8AC3E}">
        <p14:creationId xmlns:p14="http://schemas.microsoft.com/office/powerpoint/2010/main" val="237439495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Rectangle 4"/>
          <p:cNvSpPr>
            <a:spLocks noGrp="1" noChangeArrowheads="1"/>
          </p:cNvSpPr>
          <p:nvPr>
            <p:ph type="dt" sz="half" idx="10"/>
          </p:nvPr>
        </p:nvSpPr>
        <p:spPr>
          <a:ln/>
        </p:spPr>
        <p:txBody>
          <a:bodyPr/>
          <a:lstStyle>
            <a:lvl1pPr>
              <a:defRPr/>
            </a:lvl1pPr>
          </a:lstStyle>
          <a:p>
            <a:pPr>
              <a:defRPr/>
            </a:pPr>
            <a:endParaRPr lang="en-US"/>
          </a:p>
        </p:txBody>
      </p:sp>
      <p:sp>
        <p:nvSpPr>
          <p:cNvPr id="6" name="Rectangle 6"/>
          <p:cNvSpPr>
            <a:spLocks noGrp="1" noChangeArrowheads="1"/>
          </p:cNvSpPr>
          <p:nvPr>
            <p:ph type="sldNum" sz="quarter" idx="11"/>
          </p:nvPr>
        </p:nvSpPr>
        <p:spPr>
          <a:ln/>
        </p:spPr>
        <p:txBody>
          <a:bodyPr/>
          <a:lstStyle>
            <a:lvl1pPr>
              <a:defRPr/>
            </a:lvl1pPr>
          </a:lstStyle>
          <a:p>
            <a:pPr>
              <a:defRPr/>
            </a:pPr>
            <a:fld id="{C1078AF7-FA9C-4AE9-8830-C9C18BAA92CE}" type="slidenum">
              <a:rPr lang="en-US"/>
              <a:pPr>
                <a:defRPr/>
              </a:pPr>
              <a:t>‹#›</a:t>
            </a:fld>
            <a:endParaRPr lang="en-US"/>
          </a:p>
        </p:txBody>
      </p:sp>
      <p:sp>
        <p:nvSpPr>
          <p:cNvPr id="7" name="Rectangle 8"/>
          <p:cNvSpPr>
            <a:spLocks noGrp="1" noChangeArrowheads="1"/>
          </p:cNvSpPr>
          <p:nvPr>
            <p:ph type="ftr" sz="quarter" idx="12"/>
          </p:nvPr>
        </p:nvSpPr>
        <p:spPr>
          <a:ln/>
        </p:spPr>
        <p:txBody>
          <a:bodyPr/>
          <a:lstStyle>
            <a:lvl1pPr>
              <a:defRPr b="0">
                <a:latin typeface="Tahoma" pitchFamily="34" charset="0"/>
              </a:defRPr>
            </a:lvl1pPr>
          </a:lstStyle>
          <a:p>
            <a:pPr>
              <a:defRPr/>
            </a:pPr>
            <a:endParaRPr lang="en-US" b="1">
              <a:latin typeface="+mn-lt"/>
            </a:endParaRPr>
          </a:p>
          <a:p>
            <a:pPr>
              <a:defRPr/>
            </a:pPr>
            <a:endParaRPr lang="en-US"/>
          </a:p>
          <a:p>
            <a:pPr>
              <a:defRPr/>
            </a:pPr>
            <a:endParaRPr lang="en-US" b="1"/>
          </a:p>
          <a:p>
            <a:pPr>
              <a:defRPr/>
            </a:pPr>
            <a:r>
              <a:rPr lang="en-US" b="1"/>
              <a:t>© A+ Computer Science  -  www.apluscompsci.com</a:t>
            </a:r>
          </a:p>
        </p:txBody>
      </p:sp>
    </p:spTree>
    <p:extLst>
      <p:ext uri="{BB962C8B-B14F-4D97-AF65-F5344CB8AC3E}">
        <p14:creationId xmlns:p14="http://schemas.microsoft.com/office/powerpoint/2010/main" val="220141801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Rectangle 4"/>
          <p:cNvSpPr>
            <a:spLocks noGrp="1" noChangeArrowheads="1"/>
          </p:cNvSpPr>
          <p:nvPr>
            <p:ph type="dt" sz="half" idx="10"/>
          </p:nvPr>
        </p:nvSpPr>
        <p:spPr>
          <a:ln/>
        </p:spPr>
        <p:txBody>
          <a:bodyPr/>
          <a:lstStyle>
            <a:lvl1pPr>
              <a:defRPr/>
            </a:lvl1pPr>
          </a:lstStyle>
          <a:p>
            <a:pPr>
              <a:defRPr/>
            </a:pPr>
            <a:endParaRPr lang="en-US"/>
          </a:p>
        </p:txBody>
      </p:sp>
      <p:sp>
        <p:nvSpPr>
          <p:cNvPr id="6" name="Rectangle 6"/>
          <p:cNvSpPr>
            <a:spLocks noGrp="1" noChangeArrowheads="1"/>
          </p:cNvSpPr>
          <p:nvPr>
            <p:ph type="sldNum" sz="quarter" idx="11"/>
          </p:nvPr>
        </p:nvSpPr>
        <p:spPr>
          <a:ln/>
        </p:spPr>
        <p:txBody>
          <a:bodyPr/>
          <a:lstStyle>
            <a:lvl1pPr>
              <a:defRPr/>
            </a:lvl1pPr>
          </a:lstStyle>
          <a:p>
            <a:pPr>
              <a:defRPr/>
            </a:pPr>
            <a:fld id="{7BD72B21-4C4C-498D-8BEA-C250BB907B4D}" type="slidenum">
              <a:rPr lang="en-US"/>
              <a:pPr>
                <a:defRPr/>
              </a:pPr>
              <a:t>‹#›</a:t>
            </a:fld>
            <a:endParaRPr lang="en-US"/>
          </a:p>
        </p:txBody>
      </p:sp>
      <p:sp>
        <p:nvSpPr>
          <p:cNvPr id="7" name="Rectangle 8"/>
          <p:cNvSpPr>
            <a:spLocks noGrp="1" noChangeArrowheads="1"/>
          </p:cNvSpPr>
          <p:nvPr>
            <p:ph type="ftr" sz="quarter" idx="12"/>
          </p:nvPr>
        </p:nvSpPr>
        <p:spPr>
          <a:ln/>
        </p:spPr>
        <p:txBody>
          <a:bodyPr/>
          <a:lstStyle>
            <a:lvl1pPr>
              <a:defRPr b="0">
                <a:latin typeface="Tahoma" pitchFamily="34" charset="0"/>
              </a:defRPr>
            </a:lvl1pPr>
          </a:lstStyle>
          <a:p>
            <a:pPr>
              <a:defRPr/>
            </a:pPr>
            <a:endParaRPr lang="en-US" b="1">
              <a:latin typeface="+mn-lt"/>
            </a:endParaRPr>
          </a:p>
          <a:p>
            <a:pPr>
              <a:defRPr/>
            </a:pPr>
            <a:endParaRPr lang="en-US"/>
          </a:p>
          <a:p>
            <a:pPr>
              <a:defRPr/>
            </a:pPr>
            <a:endParaRPr lang="en-US" b="1"/>
          </a:p>
          <a:p>
            <a:pPr>
              <a:defRPr/>
            </a:pPr>
            <a:r>
              <a:rPr lang="en-US" b="1"/>
              <a:t>© A+ Computer Science  -  www.apluscompsci.com</a:t>
            </a:r>
          </a:p>
        </p:txBody>
      </p:sp>
    </p:spTree>
    <p:extLst>
      <p:ext uri="{BB962C8B-B14F-4D97-AF65-F5344CB8AC3E}">
        <p14:creationId xmlns:p14="http://schemas.microsoft.com/office/powerpoint/2010/main" val="232142674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p:cNvSpPr>
            <a:spLocks noGrp="1" noChangeArrowheads="1"/>
          </p:cNvSpPr>
          <p:nvPr>
            <p:ph type="dt" sz="half" idx="10"/>
          </p:nvPr>
        </p:nvSpPr>
        <p:spPr>
          <a:ln/>
        </p:spPr>
        <p:txBody>
          <a:bodyPr/>
          <a:lstStyle>
            <a:lvl1pPr>
              <a:defRPr/>
            </a:lvl1pPr>
          </a:lstStyle>
          <a:p>
            <a:pPr>
              <a:defRPr/>
            </a:pPr>
            <a:endParaRPr lang="en-US"/>
          </a:p>
        </p:txBody>
      </p:sp>
      <p:sp>
        <p:nvSpPr>
          <p:cNvPr id="5" name="Rectangle 6"/>
          <p:cNvSpPr>
            <a:spLocks noGrp="1" noChangeArrowheads="1"/>
          </p:cNvSpPr>
          <p:nvPr>
            <p:ph type="sldNum" sz="quarter" idx="11"/>
          </p:nvPr>
        </p:nvSpPr>
        <p:spPr>
          <a:ln/>
        </p:spPr>
        <p:txBody>
          <a:bodyPr/>
          <a:lstStyle>
            <a:lvl1pPr>
              <a:defRPr/>
            </a:lvl1pPr>
          </a:lstStyle>
          <a:p>
            <a:pPr>
              <a:defRPr/>
            </a:pPr>
            <a:fld id="{C8F13E7D-FBEA-4997-A3AC-8541F5D50424}" type="slidenum">
              <a:rPr lang="en-US"/>
              <a:pPr>
                <a:defRPr/>
              </a:pPr>
              <a:t>‹#›</a:t>
            </a:fld>
            <a:endParaRPr lang="en-US"/>
          </a:p>
        </p:txBody>
      </p:sp>
      <p:sp>
        <p:nvSpPr>
          <p:cNvPr id="6" name="Rectangle 8"/>
          <p:cNvSpPr>
            <a:spLocks noGrp="1" noChangeArrowheads="1"/>
          </p:cNvSpPr>
          <p:nvPr>
            <p:ph type="ftr" sz="quarter" idx="12"/>
          </p:nvPr>
        </p:nvSpPr>
        <p:spPr>
          <a:ln/>
        </p:spPr>
        <p:txBody>
          <a:bodyPr/>
          <a:lstStyle>
            <a:lvl1pPr>
              <a:defRPr b="0">
                <a:latin typeface="Tahoma" pitchFamily="34" charset="0"/>
              </a:defRPr>
            </a:lvl1pPr>
          </a:lstStyle>
          <a:p>
            <a:pPr>
              <a:defRPr/>
            </a:pPr>
            <a:endParaRPr lang="en-US" b="1">
              <a:latin typeface="+mn-lt"/>
            </a:endParaRPr>
          </a:p>
          <a:p>
            <a:pPr>
              <a:defRPr/>
            </a:pPr>
            <a:endParaRPr lang="en-US"/>
          </a:p>
          <a:p>
            <a:pPr>
              <a:defRPr/>
            </a:pPr>
            <a:endParaRPr lang="en-US" b="1"/>
          </a:p>
          <a:p>
            <a:pPr>
              <a:defRPr/>
            </a:pPr>
            <a:r>
              <a:rPr lang="en-US" b="1"/>
              <a:t>© A+ Computer Science  -  www.apluscompsci.com</a:t>
            </a:r>
          </a:p>
        </p:txBody>
      </p:sp>
    </p:spTree>
    <p:extLst>
      <p:ext uri="{BB962C8B-B14F-4D97-AF65-F5344CB8AC3E}">
        <p14:creationId xmlns:p14="http://schemas.microsoft.com/office/powerpoint/2010/main" val="149747109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15100" y="609600"/>
            <a:ext cx="1943100" cy="5486400"/>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85800" y="609600"/>
            <a:ext cx="5676900" cy="548640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p:cNvSpPr>
            <a:spLocks noGrp="1" noChangeArrowheads="1"/>
          </p:cNvSpPr>
          <p:nvPr>
            <p:ph type="dt" sz="half" idx="10"/>
          </p:nvPr>
        </p:nvSpPr>
        <p:spPr>
          <a:ln/>
        </p:spPr>
        <p:txBody>
          <a:bodyPr/>
          <a:lstStyle>
            <a:lvl1pPr>
              <a:defRPr/>
            </a:lvl1pPr>
          </a:lstStyle>
          <a:p>
            <a:pPr>
              <a:defRPr/>
            </a:pPr>
            <a:endParaRPr lang="en-US"/>
          </a:p>
        </p:txBody>
      </p:sp>
      <p:sp>
        <p:nvSpPr>
          <p:cNvPr id="5" name="Rectangle 6"/>
          <p:cNvSpPr>
            <a:spLocks noGrp="1" noChangeArrowheads="1"/>
          </p:cNvSpPr>
          <p:nvPr>
            <p:ph type="sldNum" sz="quarter" idx="11"/>
          </p:nvPr>
        </p:nvSpPr>
        <p:spPr>
          <a:ln/>
        </p:spPr>
        <p:txBody>
          <a:bodyPr/>
          <a:lstStyle>
            <a:lvl1pPr>
              <a:defRPr/>
            </a:lvl1pPr>
          </a:lstStyle>
          <a:p>
            <a:pPr>
              <a:defRPr/>
            </a:pPr>
            <a:fld id="{C9A8F924-4935-45CD-9CDC-E23DC92690DF}" type="slidenum">
              <a:rPr lang="en-US"/>
              <a:pPr>
                <a:defRPr/>
              </a:pPr>
              <a:t>‹#›</a:t>
            </a:fld>
            <a:endParaRPr lang="en-US"/>
          </a:p>
        </p:txBody>
      </p:sp>
      <p:sp>
        <p:nvSpPr>
          <p:cNvPr id="6" name="Rectangle 8"/>
          <p:cNvSpPr>
            <a:spLocks noGrp="1" noChangeArrowheads="1"/>
          </p:cNvSpPr>
          <p:nvPr>
            <p:ph type="ftr" sz="quarter" idx="12"/>
          </p:nvPr>
        </p:nvSpPr>
        <p:spPr>
          <a:ln/>
        </p:spPr>
        <p:txBody>
          <a:bodyPr/>
          <a:lstStyle>
            <a:lvl1pPr>
              <a:defRPr b="0">
                <a:latin typeface="Tahoma" pitchFamily="34" charset="0"/>
              </a:defRPr>
            </a:lvl1pPr>
          </a:lstStyle>
          <a:p>
            <a:pPr>
              <a:defRPr/>
            </a:pPr>
            <a:endParaRPr lang="en-US" b="1">
              <a:latin typeface="+mn-lt"/>
            </a:endParaRPr>
          </a:p>
          <a:p>
            <a:pPr>
              <a:defRPr/>
            </a:pPr>
            <a:endParaRPr lang="en-US"/>
          </a:p>
          <a:p>
            <a:pPr>
              <a:defRPr/>
            </a:pPr>
            <a:endParaRPr lang="en-US" b="1"/>
          </a:p>
          <a:p>
            <a:pPr>
              <a:defRPr/>
            </a:pPr>
            <a:r>
              <a:rPr lang="en-US" b="1"/>
              <a:t>© A+ Computer Science  -  www.apluscompsci.com</a:t>
            </a:r>
          </a:p>
        </p:txBody>
      </p:sp>
    </p:spTree>
    <p:extLst>
      <p:ext uri="{BB962C8B-B14F-4D97-AF65-F5344CB8AC3E}">
        <p14:creationId xmlns:p14="http://schemas.microsoft.com/office/powerpoint/2010/main" val="297004449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Rectangle 2"/>
          <p:cNvSpPr>
            <a:spLocks noGrp="1" noChangeArrowheads="1"/>
          </p:cNvSpPr>
          <p:nvPr>
            <p:ph type="title"/>
          </p:nvPr>
        </p:nvSpPr>
        <p:spPr bwMode="auto">
          <a:xfrm>
            <a:off x="685800" y="609600"/>
            <a:ext cx="7772400" cy="1143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2075" tIns="46038" rIns="92075" bIns="46038" numCol="1" anchor="ctr" anchorCtr="0" compatLnSpc="1">
            <a:prstTxWarp prst="textNoShape">
              <a:avLst/>
            </a:prstTxWarp>
          </a:bodyPr>
          <a:lstStyle/>
          <a:p>
            <a:pPr lvl="0"/>
            <a:r>
              <a:rPr lang="en-US"/>
              <a:t>Click to edit Master title style</a:t>
            </a:r>
          </a:p>
        </p:txBody>
      </p:sp>
      <p:sp>
        <p:nvSpPr>
          <p:cNvPr id="1027" name="Rectangle 3"/>
          <p:cNvSpPr>
            <a:spLocks noGrp="1" noChangeArrowheads="1"/>
          </p:cNvSpPr>
          <p:nvPr>
            <p:ph type="body" idx="1"/>
          </p:nvPr>
        </p:nvSpPr>
        <p:spPr bwMode="auto">
          <a:xfrm>
            <a:off x="685800" y="1981200"/>
            <a:ext cx="7772400" cy="4114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2075" tIns="46038" rIns="92075" bIns="46038"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28" name="Rectangle 4"/>
          <p:cNvSpPr>
            <a:spLocks noGrp="1" noChangeArrowheads="1"/>
          </p:cNvSpPr>
          <p:nvPr>
            <p:ph type="dt" sz="half" idx="2"/>
          </p:nvPr>
        </p:nvSpPr>
        <p:spPr bwMode="auto">
          <a:xfrm>
            <a:off x="685800" y="6248400"/>
            <a:ext cx="1905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2075" tIns="46038" rIns="92075" bIns="46038" numCol="1" anchor="ctr" anchorCtr="0" compatLnSpc="1">
            <a:prstTxWarp prst="textNoShape">
              <a:avLst/>
            </a:prstTxWarp>
          </a:bodyPr>
          <a:lstStyle>
            <a:lvl1pPr>
              <a:defRPr sz="1400">
                <a:latin typeface="+mn-lt"/>
              </a:defRPr>
            </a:lvl1pPr>
          </a:lstStyle>
          <a:p>
            <a:pPr>
              <a:defRPr/>
            </a:pPr>
            <a:endParaRPr lang="en-US"/>
          </a:p>
        </p:txBody>
      </p:sp>
      <p:sp>
        <p:nvSpPr>
          <p:cNvPr id="1030" name="Rectangle 6"/>
          <p:cNvSpPr>
            <a:spLocks noGrp="1" noChangeArrowheads="1"/>
          </p:cNvSpPr>
          <p:nvPr>
            <p:ph type="sldNum" sz="quarter" idx="4"/>
          </p:nvPr>
        </p:nvSpPr>
        <p:spPr bwMode="auto">
          <a:xfrm>
            <a:off x="6553200" y="6248400"/>
            <a:ext cx="1905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2075" tIns="46038" rIns="92075" bIns="46038" numCol="1" anchor="ctr" anchorCtr="0" compatLnSpc="1">
            <a:prstTxWarp prst="textNoShape">
              <a:avLst/>
            </a:prstTxWarp>
          </a:bodyPr>
          <a:lstStyle>
            <a:lvl1pPr algn="r">
              <a:defRPr sz="1400">
                <a:latin typeface="+mn-lt"/>
              </a:defRPr>
            </a:lvl1pPr>
          </a:lstStyle>
          <a:p>
            <a:pPr>
              <a:defRPr/>
            </a:pPr>
            <a:fld id="{D8886AA1-88A9-4F85-B9C4-C81CC8BB0412}" type="slidenum">
              <a:rPr lang="en-US"/>
              <a:pPr>
                <a:defRPr/>
              </a:pPr>
              <a:t>‹#›</a:t>
            </a:fld>
            <a:endParaRPr lang="en-US"/>
          </a:p>
        </p:txBody>
      </p:sp>
      <p:sp>
        <p:nvSpPr>
          <p:cNvPr id="1032" name="Rectangle 8"/>
          <p:cNvSpPr>
            <a:spLocks noGrp="1" noChangeArrowheads="1"/>
          </p:cNvSpPr>
          <p:nvPr>
            <p:ph type="ftr" sz="quarter" idx="3"/>
          </p:nvPr>
        </p:nvSpPr>
        <p:spPr bwMode="auto">
          <a:xfrm>
            <a:off x="3124200" y="6248400"/>
            <a:ext cx="28956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2075" tIns="46038" rIns="92075" bIns="46038" numCol="1" anchor="ctr" anchorCtr="0" compatLnSpc="1">
            <a:prstTxWarp prst="textNoShape">
              <a:avLst/>
            </a:prstTxWarp>
          </a:bodyPr>
          <a:lstStyle>
            <a:lvl1pPr algn="ctr">
              <a:defRPr sz="800" b="1">
                <a:latin typeface="+mn-lt"/>
              </a:defRPr>
            </a:lvl1pPr>
          </a:lstStyle>
          <a:p>
            <a:pPr>
              <a:defRPr/>
            </a:pPr>
            <a:endParaRPr lang="en-US"/>
          </a:p>
          <a:p>
            <a:pPr>
              <a:defRPr/>
            </a:pPr>
            <a:endParaRPr lang="en-US" b="0">
              <a:latin typeface="Tahoma" pitchFamily="34" charset="0"/>
            </a:endParaRPr>
          </a:p>
          <a:p>
            <a:pPr>
              <a:defRPr/>
            </a:pPr>
            <a:endParaRPr lang="en-US">
              <a:latin typeface="Tahoma" pitchFamily="34" charset="0"/>
            </a:endParaRPr>
          </a:p>
          <a:p>
            <a:pPr>
              <a:defRPr/>
            </a:pPr>
            <a:r>
              <a:rPr lang="en-US">
                <a:latin typeface="Tahoma" pitchFamily="34" charset="0"/>
              </a:rPr>
              <a:t>© A+ Computer Science  -  www.apluscompsci.com</a:t>
            </a: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dt="0"/>
  <p:txStyles>
    <p:titleStyle>
      <a:lvl1pPr algn="ctr" rtl="0" eaLnBrk="0" fontAlgn="base" hangingPunct="0">
        <a:spcBef>
          <a:spcPct val="0"/>
        </a:spcBef>
        <a:spcAft>
          <a:spcPct val="0"/>
        </a:spcAft>
        <a:defRPr sz="4400" b="0" i="0" u="none">
          <a:solidFill>
            <a:schemeClr val="tx2"/>
          </a:solidFill>
          <a:latin typeface="+mj-lt"/>
          <a:ea typeface="+mj-ea"/>
          <a:cs typeface="+mj-cs"/>
        </a:defRPr>
      </a:lvl1pPr>
      <a:lvl2pPr algn="ctr" rtl="0" eaLnBrk="0" fontAlgn="base" hangingPunct="0">
        <a:spcBef>
          <a:spcPct val="0"/>
        </a:spcBef>
        <a:spcAft>
          <a:spcPct val="0"/>
        </a:spcAft>
        <a:defRPr sz="4400">
          <a:solidFill>
            <a:schemeClr val="tx2"/>
          </a:solidFill>
          <a:latin typeface="Times New Roman" pitchFamily="18" charset="0"/>
        </a:defRPr>
      </a:lvl2pPr>
      <a:lvl3pPr algn="ctr" rtl="0" eaLnBrk="0" fontAlgn="base" hangingPunct="0">
        <a:spcBef>
          <a:spcPct val="0"/>
        </a:spcBef>
        <a:spcAft>
          <a:spcPct val="0"/>
        </a:spcAft>
        <a:defRPr sz="4400">
          <a:solidFill>
            <a:schemeClr val="tx2"/>
          </a:solidFill>
          <a:latin typeface="Times New Roman" pitchFamily="18" charset="0"/>
        </a:defRPr>
      </a:lvl3pPr>
      <a:lvl4pPr algn="ctr" rtl="0" eaLnBrk="0" fontAlgn="base" hangingPunct="0">
        <a:spcBef>
          <a:spcPct val="0"/>
        </a:spcBef>
        <a:spcAft>
          <a:spcPct val="0"/>
        </a:spcAft>
        <a:defRPr sz="4400">
          <a:solidFill>
            <a:schemeClr val="tx2"/>
          </a:solidFill>
          <a:latin typeface="Times New Roman" pitchFamily="18" charset="0"/>
        </a:defRPr>
      </a:lvl4pPr>
      <a:lvl5pPr algn="ctr" rtl="0" eaLnBrk="0" fontAlgn="base" hangingPunct="0">
        <a:spcBef>
          <a:spcPct val="0"/>
        </a:spcBef>
        <a:spcAft>
          <a:spcPct val="0"/>
        </a:spcAft>
        <a:defRPr sz="4400">
          <a:solidFill>
            <a:schemeClr val="tx2"/>
          </a:solidFill>
          <a:latin typeface="Times New Roman" pitchFamily="18" charset="0"/>
        </a:defRPr>
      </a:lvl5pPr>
      <a:lvl6pPr marL="457200" algn="ctr" rtl="0" eaLnBrk="0" fontAlgn="base" hangingPunct="0">
        <a:spcBef>
          <a:spcPct val="0"/>
        </a:spcBef>
        <a:spcAft>
          <a:spcPct val="0"/>
        </a:spcAft>
        <a:defRPr sz="4400">
          <a:solidFill>
            <a:schemeClr val="tx2"/>
          </a:solidFill>
          <a:latin typeface="Times New Roman" pitchFamily="18" charset="0"/>
        </a:defRPr>
      </a:lvl6pPr>
      <a:lvl7pPr marL="914400" algn="ctr" rtl="0" eaLnBrk="0" fontAlgn="base" hangingPunct="0">
        <a:spcBef>
          <a:spcPct val="0"/>
        </a:spcBef>
        <a:spcAft>
          <a:spcPct val="0"/>
        </a:spcAft>
        <a:defRPr sz="4400">
          <a:solidFill>
            <a:schemeClr val="tx2"/>
          </a:solidFill>
          <a:latin typeface="Times New Roman" pitchFamily="18" charset="0"/>
        </a:defRPr>
      </a:lvl7pPr>
      <a:lvl8pPr marL="1371600" algn="ctr" rtl="0" eaLnBrk="0" fontAlgn="base" hangingPunct="0">
        <a:spcBef>
          <a:spcPct val="0"/>
        </a:spcBef>
        <a:spcAft>
          <a:spcPct val="0"/>
        </a:spcAft>
        <a:defRPr sz="4400">
          <a:solidFill>
            <a:schemeClr val="tx2"/>
          </a:solidFill>
          <a:latin typeface="Times New Roman" pitchFamily="18" charset="0"/>
        </a:defRPr>
      </a:lvl8pPr>
      <a:lvl9pPr marL="1828800" algn="ctr" rtl="0" eaLnBrk="0" fontAlgn="base" hangingPunct="0">
        <a:spcBef>
          <a:spcPct val="0"/>
        </a:spcBef>
        <a:spcAft>
          <a:spcPct val="0"/>
        </a:spcAft>
        <a:defRPr sz="4400">
          <a:solidFill>
            <a:schemeClr val="tx2"/>
          </a:solidFill>
          <a:latin typeface="Times New Roman" pitchFamily="18" charset="0"/>
        </a:defRPr>
      </a:lvl9pPr>
    </p:titleStyle>
    <p:bodyStyle>
      <a:lvl1pPr marL="342900" indent="-342900" algn="l" rtl="0" eaLnBrk="0" fontAlgn="base" hangingPunct="0">
        <a:spcBef>
          <a:spcPct val="20000"/>
        </a:spcBef>
        <a:spcAft>
          <a:spcPct val="0"/>
        </a:spcAft>
        <a:buChar char="•"/>
        <a:defRPr sz="3200">
          <a:solidFill>
            <a:schemeClr val="tx1"/>
          </a:solidFill>
          <a:latin typeface="+mn-lt"/>
          <a:ea typeface="+mn-ea"/>
          <a:cs typeface="+mn-cs"/>
        </a:defRPr>
      </a:lvl1pPr>
      <a:lvl2pPr marL="742950" indent="-285750" algn="l" rtl="0" eaLnBrk="0" fontAlgn="base" hangingPunct="0">
        <a:spcBef>
          <a:spcPct val="20000"/>
        </a:spcBef>
        <a:spcAft>
          <a:spcPct val="0"/>
        </a:spcAft>
        <a:buChar char="–"/>
        <a:defRPr sz="2800" b="0" i="0" u="none">
          <a:solidFill>
            <a:schemeClr val="tx1"/>
          </a:solidFill>
          <a:latin typeface="+mn-lt"/>
        </a:defRPr>
      </a:lvl2pPr>
      <a:lvl3pPr marL="1143000" indent="-228600" algn="l" rtl="0" eaLnBrk="0" fontAlgn="base" hangingPunct="0">
        <a:spcBef>
          <a:spcPct val="20000"/>
        </a:spcBef>
        <a:spcAft>
          <a:spcPct val="0"/>
        </a:spcAft>
        <a:buChar char="•"/>
        <a:defRPr sz="2400">
          <a:solidFill>
            <a:schemeClr val="tx1"/>
          </a:solidFill>
          <a:latin typeface="+mn-lt"/>
        </a:defRPr>
      </a:lvl3pPr>
      <a:lvl4pPr marL="1600200" indent="-228600" algn="l" rtl="0" eaLnBrk="0" fontAlgn="base" hangingPunct="0">
        <a:spcBef>
          <a:spcPct val="20000"/>
        </a:spcBef>
        <a:spcAft>
          <a:spcPct val="0"/>
        </a:spcAft>
        <a:buChar char="–"/>
        <a:defRPr sz="2000">
          <a:solidFill>
            <a:schemeClr val="tx1"/>
          </a:solidFill>
          <a:latin typeface="+mn-lt"/>
        </a:defRPr>
      </a:lvl4pPr>
      <a:lvl5pPr marL="2057400" indent="-228600" algn="l" rtl="0" eaLnBrk="0" fontAlgn="base" hangingPunct="0">
        <a:spcBef>
          <a:spcPct val="20000"/>
        </a:spcBef>
        <a:spcAft>
          <a:spcPct val="0"/>
        </a:spcAft>
        <a:buChar char="•"/>
        <a:defRPr sz="2000">
          <a:solidFill>
            <a:schemeClr val="tx1"/>
          </a:solidFill>
          <a:latin typeface="+mn-lt"/>
        </a:defRPr>
      </a:lvl5pPr>
      <a:lvl6pPr marL="2514600" indent="-228600" algn="l" rtl="0" eaLnBrk="0" fontAlgn="base" hangingPunct="0">
        <a:spcBef>
          <a:spcPct val="20000"/>
        </a:spcBef>
        <a:spcAft>
          <a:spcPct val="0"/>
        </a:spcAft>
        <a:buChar char="•"/>
        <a:defRPr sz="2000">
          <a:solidFill>
            <a:schemeClr val="tx1"/>
          </a:solidFill>
          <a:latin typeface="+mn-lt"/>
        </a:defRPr>
      </a:lvl6pPr>
      <a:lvl7pPr marL="2971800" indent="-228600" algn="l" rtl="0" eaLnBrk="0" fontAlgn="base" hangingPunct="0">
        <a:spcBef>
          <a:spcPct val="20000"/>
        </a:spcBef>
        <a:spcAft>
          <a:spcPct val="0"/>
        </a:spcAft>
        <a:buChar char="•"/>
        <a:defRPr sz="2000">
          <a:solidFill>
            <a:schemeClr val="tx1"/>
          </a:solidFill>
          <a:latin typeface="+mn-lt"/>
        </a:defRPr>
      </a:lvl7pPr>
      <a:lvl8pPr marL="3429000" indent="-228600" algn="l" rtl="0" eaLnBrk="0" fontAlgn="base" hangingPunct="0">
        <a:spcBef>
          <a:spcPct val="20000"/>
        </a:spcBef>
        <a:spcAft>
          <a:spcPct val="0"/>
        </a:spcAft>
        <a:buChar char="•"/>
        <a:defRPr sz="2000">
          <a:solidFill>
            <a:schemeClr val="tx1"/>
          </a:solidFill>
          <a:latin typeface="+mn-lt"/>
        </a:defRPr>
      </a:lvl8pPr>
      <a:lvl9pPr marL="3886200" indent="-228600" algn="l" rtl="0" eaLnBrk="0" fontAlgn="base" hangingPunct="0">
        <a:spcBef>
          <a:spcPct val="20000"/>
        </a:spcBef>
        <a:spcAft>
          <a:spcPct val="0"/>
        </a:spcAft>
        <a:buChar char="•"/>
        <a:defRPr sz="2000">
          <a:solidFill>
            <a:schemeClr val="tx1"/>
          </a:solidFill>
          <a:latin typeface="+mn-lt"/>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image" Target="../media/image2.wmf"/><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image" Target="../media/image2.wmf"/><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5.xml"/><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986" name="Footer Placeholder 3"/>
          <p:cNvSpPr>
            <a:spLocks noGrp="1"/>
          </p:cNvSpPr>
          <p:nvPr>
            <p:ph type="ftr" sz="quarter" idx="12"/>
          </p:nvPr>
        </p:nvSpPr>
        <p:spPr>
          <a:noFill/>
        </p:spPr>
        <p:txBody>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endParaRPr lang="en-US" sz="800" b="1">
              <a:latin typeface="Times New Roman" pitchFamily="18" charset="0"/>
            </a:endParaRPr>
          </a:p>
          <a:p>
            <a:endParaRPr lang="en-US" sz="800"/>
          </a:p>
          <a:p>
            <a:endParaRPr lang="en-US" sz="800" b="1"/>
          </a:p>
          <a:p>
            <a:r>
              <a:rPr lang="en-US" sz="800" b="1"/>
              <a:t>© A+ Computer Science  -  www.apluscompsci.com</a:t>
            </a:r>
          </a:p>
        </p:txBody>
      </p:sp>
      <p:sp>
        <p:nvSpPr>
          <p:cNvPr id="41987" name="WordArt 2"/>
          <p:cNvSpPr>
            <a:spLocks noChangeArrowheads="1" noChangeShapeType="1" noTextEdit="1"/>
          </p:cNvSpPr>
          <p:nvPr/>
        </p:nvSpPr>
        <p:spPr bwMode="auto">
          <a:xfrm>
            <a:off x="1524000" y="1447800"/>
            <a:ext cx="6248400" cy="3124200"/>
          </a:xfrm>
          <a:prstGeom prst="rect">
            <a:avLst/>
          </a:prstGeom>
        </p:spPr>
        <p:txBody>
          <a:bodyPr wrap="none" fromWordArt="1">
            <a:prstTxWarp prst="textPlain">
              <a:avLst>
                <a:gd name="adj" fmla="val 50000"/>
              </a:avLst>
            </a:prstTxWarp>
          </a:bodyPr>
          <a:lstStyle/>
          <a:p>
            <a:pPr algn="ctr"/>
            <a:r>
              <a:rPr lang="en-US" sz="3600" kern="10" dirty="0">
                <a:ln w="9525">
                  <a:solidFill>
                    <a:srgbClr val="FFFF99"/>
                  </a:solidFill>
                  <a:round/>
                  <a:headEnd type="none" w="sm" len="sm"/>
                  <a:tailEnd type="none" w="sm" len="sm"/>
                </a:ln>
                <a:solidFill>
                  <a:srgbClr val="0000FF"/>
                </a:solidFill>
                <a:effectLst>
                  <a:outerShdw dist="35921" dir="2700000" algn="ctr" rotWithShape="0">
                    <a:srgbClr val="C0C0C0"/>
                  </a:outerShdw>
                </a:effectLst>
                <a:latin typeface="Impact"/>
              </a:rPr>
              <a:t>Tree</a:t>
            </a:r>
          </a:p>
          <a:p>
            <a:pPr algn="ctr"/>
            <a:r>
              <a:rPr lang="en-US" sz="3600" kern="10" dirty="0">
                <a:ln w="9525">
                  <a:solidFill>
                    <a:srgbClr val="FFFF99"/>
                  </a:solidFill>
                  <a:round/>
                  <a:headEnd type="none" w="sm" len="sm"/>
                  <a:tailEnd type="none" w="sm" len="sm"/>
                </a:ln>
                <a:solidFill>
                  <a:srgbClr val="0000FF"/>
                </a:solidFill>
                <a:effectLst>
                  <a:outerShdw dist="35921" dir="2700000" algn="ctr" rotWithShape="0">
                    <a:srgbClr val="C0C0C0"/>
                  </a:outerShdw>
                </a:effectLst>
                <a:latin typeface="Impact"/>
              </a:rPr>
              <a:t>Attributes</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06" name="Footer Placeholder 3"/>
          <p:cNvSpPr>
            <a:spLocks noGrp="1"/>
          </p:cNvSpPr>
          <p:nvPr>
            <p:ph type="ftr" sz="quarter" idx="12"/>
          </p:nvPr>
        </p:nvSpPr>
        <p:spPr>
          <a:noFill/>
        </p:spPr>
        <p:txBody>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endParaRPr lang="en-US" sz="800" b="1">
              <a:latin typeface="Times New Roman" pitchFamily="18" charset="0"/>
            </a:endParaRPr>
          </a:p>
          <a:p>
            <a:endParaRPr lang="en-US" sz="800"/>
          </a:p>
          <a:p>
            <a:endParaRPr lang="en-US" sz="800" b="1"/>
          </a:p>
          <a:p>
            <a:r>
              <a:rPr lang="en-US" sz="800" b="1"/>
              <a:t>© A+ Computer Science  -  www.apluscompsci.com</a:t>
            </a:r>
          </a:p>
        </p:txBody>
      </p:sp>
      <p:sp>
        <p:nvSpPr>
          <p:cNvPr id="47107" name="WordArt 2" descr="Narrow vertical"/>
          <p:cNvSpPr>
            <a:spLocks noChangeArrowheads="1" noChangeShapeType="1" noTextEdit="1"/>
          </p:cNvSpPr>
          <p:nvPr/>
        </p:nvSpPr>
        <p:spPr bwMode="auto">
          <a:xfrm>
            <a:off x="1295400" y="0"/>
            <a:ext cx="6324600" cy="1828800"/>
          </a:xfrm>
          <a:prstGeom prst="rect">
            <a:avLst/>
          </a:prstGeom>
          <a:ln>
            <a:noFill/>
          </a:ln>
        </p:spPr>
        <p:style>
          <a:lnRef idx="2">
            <a:schemeClr val="accent1"/>
          </a:lnRef>
          <a:fillRef idx="1">
            <a:schemeClr val="lt1"/>
          </a:fillRef>
          <a:effectRef idx="0">
            <a:schemeClr val="accent1"/>
          </a:effectRef>
          <a:fontRef idx="minor">
            <a:schemeClr val="dk1"/>
          </a:fontRef>
        </p:style>
        <p:txBody>
          <a:bodyPr wrap="none" fromWordArt="1">
            <a:prstTxWarp prst="textCurveUp">
              <a:avLst>
                <a:gd name="adj" fmla="val 35897"/>
              </a:avLst>
            </a:prstTxWarp>
          </a:bodyPr>
          <a:lstStyle/>
          <a:p>
            <a:pPr algn="ctr"/>
            <a:r>
              <a:rPr lang="en-US" sz="3600" kern="10" dirty="0">
                <a:ln w="12700">
                  <a:solidFill>
                    <a:srgbClr val="000000"/>
                  </a:solidFill>
                  <a:round/>
                  <a:headEnd type="none" w="sm" len="sm"/>
                  <a:tailEnd type="none" w="sm" len="sm"/>
                </a:ln>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10800000" scaled="1"/>
                  <a:tileRect/>
                </a:gradFill>
                <a:effectLst>
                  <a:glow rad="63500">
                    <a:schemeClr val="accent6">
                      <a:satMod val="175000"/>
                      <a:alpha val="40000"/>
                    </a:schemeClr>
                  </a:glow>
                  <a:outerShdw dist="45791" dir="2021404" algn="ctr" rotWithShape="0">
                    <a:srgbClr val="808080"/>
                  </a:outerShdw>
                </a:effectLst>
                <a:latin typeface="Arial Black"/>
              </a:rPr>
              <a:t>A </a:t>
            </a:r>
            <a:r>
              <a:rPr lang="en-US" sz="3600" b="1" kern="10" dirty="0">
                <a:ln w="12700">
                  <a:solidFill>
                    <a:srgbClr val="000000"/>
                  </a:solidFill>
                  <a:round/>
                  <a:headEnd type="none" w="sm" len="sm"/>
                  <a:tailEnd type="none" w="sm" len="sm"/>
                </a:ln>
                <a:solidFill>
                  <a:srgbClr val="0099CC"/>
                </a:solidFill>
                <a:effectLst>
                  <a:glow rad="63500">
                    <a:schemeClr val="accent6">
                      <a:satMod val="175000"/>
                      <a:alpha val="40000"/>
                    </a:schemeClr>
                  </a:glow>
                  <a:outerShdw dist="45791" dir="2021404" algn="ctr" rotWithShape="0">
                    <a:srgbClr val="808080"/>
                  </a:outerShdw>
                </a:effectLst>
                <a:latin typeface="Arial Black"/>
              </a:rPr>
              <a:t>Full</a:t>
            </a:r>
            <a:endParaRPr lang="en-US" sz="3600" kern="10" dirty="0">
              <a:ln w="12700">
                <a:solidFill>
                  <a:srgbClr val="000000"/>
                </a:solidFill>
                <a:round/>
                <a:headEnd type="none" w="sm" len="sm"/>
                <a:tailEnd type="none" w="sm" len="sm"/>
              </a:ln>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10800000" scaled="1"/>
                <a:tileRect/>
              </a:gradFill>
              <a:effectLst>
                <a:glow rad="63500">
                  <a:schemeClr val="accent6">
                    <a:satMod val="175000"/>
                    <a:alpha val="40000"/>
                  </a:schemeClr>
                </a:glow>
                <a:outerShdw dist="45791" dir="2021404" algn="ctr" rotWithShape="0">
                  <a:srgbClr val="808080"/>
                </a:outerShdw>
              </a:effectLst>
              <a:latin typeface="Arial Black"/>
            </a:endParaRPr>
          </a:p>
          <a:p>
            <a:pPr algn="ctr"/>
            <a:r>
              <a:rPr lang="en-US" sz="3600" kern="10" dirty="0">
                <a:ln w="12700">
                  <a:solidFill>
                    <a:srgbClr val="000000"/>
                  </a:solidFill>
                  <a:round/>
                  <a:headEnd type="none" w="sm" len="sm"/>
                  <a:tailEnd type="none" w="sm" len="sm"/>
                </a:ln>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10800000" scaled="1"/>
                  <a:tileRect/>
                </a:gradFill>
                <a:effectLst>
                  <a:glow rad="63500">
                    <a:schemeClr val="accent6">
                      <a:satMod val="175000"/>
                      <a:alpha val="40000"/>
                    </a:schemeClr>
                  </a:glow>
                  <a:outerShdw dist="45791" dir="2021404" algn="ctr" rotWithShape="0">
                    <a:srgbClr val="808080"/>
                  </a:outerShdw>
                </a:effectLst>
                <a:latin typeface="Arial Black"/>
              </a:rPr>
              <a:t>BINARY TREE</a:t>
            </a:r>
          </a:p>
        </p:txBody>
      </p:sp>
      <p:sp>
        <p:nvSpPr>
          <p:cNvPr id="47108" name="Text Box 3"/>
          <p:cNvSpPr txBox="1">
            <a:spLocks noChangeArrowheads="1"/>
          </p:cNvSpPr>
          <p:nvPr/>
        </p:nvSpPr>
        <p:spPr bwMode="auto">
          <a:xfrm>
            <a:off x="533400" y="2252584"/>
            <a:ext cx="8001000" cy="138499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r>
              <a:rPr lang="en-US" sz="2800" b="1" dirty="0"/>
              <a:t>A full / proper binary tree is strictly binary, </a:t>
            </a:r>
            <a:br>
              <a:rPr lang="en-US" sz="2800" b="1" dirty="0"/>
            </a:br>
            <a:r>
              <a:rPr lang="en-US" sz="2800" b="1" dirty="0"/>
              <a:t>i.e. every </a:t>
            </a:r>
            <a:r>
              <a:rPr lang="en-US" sz="2800" b="1" u="sng" dirty="0"/>
              <a:t>node</a:t>
            </a:r>
            <a:r>
              <a:rPr lang="en-US" sz="2800" b="1" dirty="0"/>
              <a:t> has exactly two children or no children at all.   </a:t>
            </a:r>
          </a:p>
        </p:txBody>
      </p:sp>
      <p:grpSp>
        <p:nvGrpSpPr>
          <p:cNvPr id="2" name="Group 1" descr="This time our tree with three levels is missing the two nodes the would go on the left side of the third row, but has both children on the right side of the third row. &#10;So the root has two children and its right child has two children. The other three nodes are leaves. We call this a full binary tree."/>
          <p:cNvGrpSpPr/>
          <p:nvPr/>
        </p:nvGrpSpPr>
        <p:grpSpPr>
          <a:xfrm>
            <a:off x="3380702" y="3581400"/>
            <a:ext cx="3352800" cy="1676400"/>
            <a:chOff x="2895600" y="3352800"/>
            <a:chExt cx="3352800" cy="1676400"/>
          </a:xfrm>
        </p:grpSpPr>
        <p:sp>
          <p:nvSpPr>
            <p:cNvPr id="15" name="Oval 5"/>
            <p:cNvSpPr>
              <a:spLocks noChangeArrowheads="1"/>
            </p:cNvSpPr>
            <p:nvPr/>
          </p:nvSpPr>
          <p:spPr bwMode="auto">
            <a:xfrm>
              <a:off x="3962400" y="33528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16" name="Oval 8"/>
            <p:cNvSpPr>
              <a:spLocks noChangeArrowheads="1"/>
            </p:cNvSpPr>
            <p:nvPr/>
          </p:nvSpPr>
          <p:spPr bwMode="auto">
            <a:xfrm>
              <a:off x="2895600" y="39624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17" name="Oval 9"/>
            <p:cNvSpPr>
              <a:spLocks noChangeArrowheads="1"/>
            </p:cNvSpPr>
            <p:nvPr/>
          </p:nvSpPr>
          <p:spPr bwMode="auto">
            <a:xfrm>
              <a:off x="5715000" y="45720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19" name="Oval 11"/>
            <p:cNvSpPr>
              <a:spLocks noChangeArrowheads="1"/>
            </p:cNvSpPr>
            <p:nvPr/>
          </p:nvSpPr>
          <p:spPr bwMode="auto">
            <a:xfrm>
              <a:off x="5105400" y="39624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0" name="Oval 12"/>
            <p:cNvSpPr>
              <a:spLocks noChangeArrowheads="1"/>
            </p:cNvSpPr>
            <p:nvPr/>
          </p:nvSpPr>
          <p:spPr bwMode="auto">
            <a:xfrm>
              <a:off x="4495800" y="45720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cxnSp>
          <p:nvCxnSpPr>
            <p:cNvPr id="21" name="Straight Connector 20"/>
            <p:cNvCxnSpPr>
              <a:stCxn id="15" idx="3"/>
              <a:endCxn id="16" idx="7"/>
            </p:cNvCxnSpPr>
            <p:nvPr/>
          </p:nvCxnSpPr>
          <p:spPr bwMode="auto">
            <a:xfrm flipH="1">
              <a:off x="3350885" y="3743045"/>
              <a:ext cx="689630"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2" name="Straight Connector 21"/>
            <p:cNvCxnSpPr>
              <a:stCxn id="15" idx="5"/>
              <a:endCxn id="19" idx="1"/>
            </p:cNvCxnSpPr>
            <p:nvPr/>
          </p:nvCxnSpPr>
          <p:spPr bwMode="auto">
            <a:xfrm>
              <a:off x="4417685" y="3743045"/>
              <a:ext cx="765830"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3" name="Straight Connector 22"/>
            <p:cNvCxnSpPr>
              <a:stCxn id="20" idx="7"/>
              <a:endCxn id="19" idx="3"/>
            </p:cNvCxnSpPr>
            <p:nvPr/>
          </p:nvCxnSpPr>
          <p:spPr bwMode="auto">
            <a:xfrm flipV="1">
              <a:off x="4951085" y="4352645"/>
              <a:ext cx="232430"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5" name="Straight Connector 24"/>
            <p:cNvCxnSpPr>
              <a:stCxn id="17" idx="1"/>
              <a:endCxn id="19" idx="5"/>
            </p:cNvCxnSpPr>
            <p:nvPr/>
          </p:nvCxnSpPr>
          <p:spPr bwMode="auto">
            <a:xfrm flipH="1" flipV="1">
              <a:off x="5560685" y="4352645"/>
              <a:ext cx="232430"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grpSp>
      <p:sp>
        <p:nvSpPr>
          <p:cNvPr id="14" name="Text Box 3"/>
          <p:cNvSpPr txBox="1">
            <a:spLocks noChangeArrowheads="1"/>
          </p:cNvSpPr>
          <p:nvPr/>
        </p:nvSpPr>
        <p:spPr bwMode="auto">
          <a:xfrm>
            <a:off x="1018502" y="5538763"/>
            <a:ext cx="7924800"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r>
              <a:rPr lang="en-US" sz="2800" b="1" dirty="0"/>
              <a:t>Equivalently:  every </a:t>
            </a:r>
            <a:r>
              <a:rPr lang="en-US" sz="2800" b="1" u="sng" dirty="0"/>
              <a:t>parent</a:t>
            </a:r>
            <a:r>
              <a:rPr lang="en-US" sz="2800" b="1" dirty="0"/>
              <a:t> is full.   </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06" name="Footer Placeholder 3"/>
          <p:cNvSpPr>
            <a:spLocks noGrp="1"/>
          </p:cNvSpPr>
          <p:nvPr>
            <p:ph type="ftr" sz="quarter" idx="12"/>
          </p:nvPr>
        </p:nvSpPr>
        <p:spPr>
          <a:xfrm>
            <a:off x="6204677" y="6359806"/>
            <a:ext cx="2895600" cy="457200"/>
          </a:xfrm>
          <a:noFill/>
        </p:spPr>
        <p:txBody>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endParaRPr lang="en-US" sz="800" b="1">
              <a:latin typeface="Times New Roman" pitchFamily="18" charset="0"/>
            </a:endParaRPr>
          </a:p>
          <a:p>
            <a:endParaRPr lang="en-US" sz="800"/>
          </a:p>
          <a:p>
            <a:endParaRPr lang="en-US" sz="800" b="1"/>
          </a:p>
          <a:p>
            <a:r>
              <a:rPr lang="en-US" sz="800" b="1"/>
              <a:t>© A+ Computer Science  -  www.apluscompsci.com</a:t>
            </a:r>
          </a:p>
        </p:txBody>
      </p:sp>
      <p:sp>
        <p:nvSpPr>
          <p:cNvPr id="47107" name="WordArt 2" descr="Narrow vertical"/>
          <p:cNvSpPr>
            <a:spLocks noChangeArrowheads="1" noChangeShapeType="1" noTextEdit="1"/>
          </p:cNvSpPr>
          <p:nvPr/>
        </p:nvSpPr>
        <p:spPr bwMode="auto">
          <a:xfrm>
            <a:off x="1295400" y="0"/>
            <a:ext cx="6324600" cy="1828800"/>
          </a:xfrm>
          <a:prstGeom prst="rect">
            <a:avLst/>
          </a:prstGeom>
          <a:ln>
            <a:noFill/>
          </a:ln>
        </p:spPr>
        <p:style>
          <a:lnRef idx="2">
            <a:schemeClr val="accent1"/>
          </a:lnRef>
          <a:fillRef idx="1">
            <a:schemeClr val="lt1"/>
          </a:fillRef>
          <a:effectRef idx="0">
            <a:schemeClr val="accent1"/>
          </a:effectRef>
          <a:fontRef idx="minor">
            <a:schemeClr val="dk1"/>
          </a:fontRef>
        </p:style>
        <p:txBody>
          <a:bodyPr wrap="none" fromWordArt="1">
            <a:prstTxWarp prst="textCurveUp">
              <a:avLst>
                <a:gd name="adj" fmla="val 35897"/>
              </a:avLst>
            </a:prstTxWarp>
          </a:bodyPr>
          <a:lstStyle/>
          <a:p>
            <a:pPr algn="ctr"/>
            <a:r>
              <a:rPr lang="en-US" sz="3600" kern="10" dirty="0">
                <a:ln w="12700">
                  <a:solidFill>
                    <a:srgbClr val="000000"/>
                  </a:solidFill>
                  <a:round/>
                  <a:headEnd type="none" w="sm" len="sm"/>
                  <a:tailEnd type="none" w="sm" len="sm"/>
                </a:ln>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10800000" scaled="1"/>
                  <a:tileRect/>
                </a:gradFill>
                <a:effectLst>
                  <a:glow rad="63500">
                    <a:schemeClr val="accent6">
                      <a:satMod val="175000"/>
                      <a:alpha val="40000"/>
                    </a:schemeClr>
                  </a:glow>
                  <a:outerShdw dist="45791" dir="2021404" algn="ctr" rotWithShape="0">
                    <a:srgbClr val="808080"/>
                  </a:outerShdw>
                </a:effectLst>
                <a:latin typeface="Arial Black"/>
              </a:rPr>
              <a:t>A </a:t>
            </a:r>
            <a:r>
              <a:rPr lang="en-US" sz="3600" b="1" kern="10" dirty="0">
                <a:ln w="12700">
                  <a:solidFill>
                    <a:srgbClr val="000000"/>
                  </a:solidFill>
                  <a:round/>
                  <a:headEnd type="none" w="sm" len="sm"/>
                  <a:tailEnd type="none" w="sm" len="sm"/>
                </a:ln>
                <a:solidFill>
                  <a:srgbClr val="0099CC"/>
                </a:solidFill>
                <a:effectLst>
                  <a:glow rad="63500">
                    <a:schemeClr val="accent6">
                      <a:satMod val="175000"/>
                      <a:alpha val="40000"/>
                    </a:schemeClr>
                  </a:glow>
                  <a:outerShdw dist="45791" dir="2021404" algn="ctr" rotWithShape="0">
                    <a:srgbClr val="808080"/>
                  </a:outerShdw>
                </a:effectLst>
                <a:latin typeface="Arial Black"/>
              </a:rPr>
              <a:t>Full</a:t>
            </a:r>
            <a:endParaRPr lang="en-US" sz="3600" kern="10" dirty="0">
              <a:ln w="12700">
                <a:solidFill>
                  <a:srgbClr val="000000"/>
                </a:solidFill>
                <a:round/>
                <a:headEnd type="none" w="sm" len="sm"/>
                <a:tailEnd type="none" w="sm" len="sm"/>
              </a:ln>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10800000" scaled="1"/>
                <a:tileRect/>
              </a:gradFill>
              <a:effectLst>
                <a:glow rad="63500">
                  <a:schemeClr val="accent6">
                    <a:satMod val="175000"/>
                    <a:alpha val="40000"/>
                  </a:schemeClr>
                </a:glow>
                <a:outerShdw dist="45791" dir="2021404" algn="ctr" rotWithShape="0">
                  <a:srgbClr val="808080"/>
                </a:outerShdw>
              </a:effectLst>
              <a:latin typeface="Arial Black"/>
            </a:endParaRPr>
          </a:p>
          <a:p>
            <a:pPr algn="ctr"/>
            <a:r>
              <a:rPr lang="en-US" sz="3600" kern="10" dirty="0">
                <a:ln w="12700">
                  <a:solidFill>
                    <a:srgbClr val="000000"/>
                  </a:solidFill>
                  <a:round/>
                  <a:headEnd type="none" w="sm" len="sm"/>
                  <a:tailEnd type="none" w="sm" len="sm"/>
                </a:ln>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10800000" scaled="1"/>
                  <a:tileRect/>
                </a:gradFill>
                <a:effectLst>
                  <a:glow rad="63500">
                    <a:schemeClr val="accent6">
                      <a:satMod val="175000"/>
                      <a:alpha val="40000"/>
                    </a:schemeClr>
                  </a:glow>
                  <a:outerShdw dist="45791" dir="2021404" algn="ctr" rotWithShape="0">
                    <a:srgbClr val="808080"/>
                  </a:outerShdw>
                </a:effectLst>
                <a:latin typeface="Arial Black"/>
              </a:rPr>
              <a:t>BINARY TREE</a:t>
            </a:r>
          </a:p>
        </p:txBody>
      </p:sp>
      <p:sp>
        <p:nvSpPr>
          <p:cNvPr id="47108" name="Text Box 3"/>
          <p:cNvSpPr txBox="1">
            <a:spLocks noChangeArrowheads="1"/>
          </p:cNvSpPr>
          <p:nvPr/>
        </p:nvSpPr>
        <p:spPr bwMode="auto">
          <a:xfrm>
            <a:off x="533400" y="2252584"/>
            <a:ext cx="8001000" cy="138499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r>
              <a:rPr lang="en-US" sz="2800" b="1" dirty="0">
                <a:solidFill>
                  <a:schemeClr val="accent6">
                    <a:lumMod val="75000"/>
                  </a:schemeClr>
                </a:solidFill>
              </a:rPr>
              <a:t>Full binary tree theorem: The number of leaves is always one more than the number of parents (a.k.a. internal nodes).</a:t>
            </a:r>
          </a:p>
        </p:txBody>
      </p:sp>
      <p:grpSp>
        <p:nvGrpSpPr>
          <p:cNvPr id="2" name="Group 1" descr="This time our tree with three levels is missing the two nodes the would go on the left side of the third row, but has both children on the right side of the third row. &#10;So the root has two children and its right child has two children. The other three nodes are leaves. We call this a full binary tree."/>
          <p:cNvGrpSpPr/>
          <p:nvPr/>
        </p:nvGrpSpPr>
        <p:grpSpPr>
          <a:xfrm>
            <a:off x="1066800" y="4572000"/>
            <a:ext cx="3352800" cy="1676400"/>
            <a:chOff x="2895600" y="3352800"/>
            <a:chExt cx="3352800" cy="1676400"/>
          </a:xfrm>
        </p:grpSpPr>
        <p:sp>
          <p:nvSpPr>
            <p:cNvPr id="15" name="Oval 5"/>
            <p:cNvSpPr>
              <a:spLocks noChangeArrowheads="1"/>
            </p:cNvSpPr>
            <p:nvPr/>
          </p:nvSpPr>
          <p:spPr bwMode="auto">
            <a:xfrm>
              <a:off x="3962400" y="33528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16" name="Oval 8"/>
            <p:cNvSpPr>
              <a:spLocks noChangeArrowheads="1"/>
            </p:cNvSpPr>
            <p:nvPr/>
          </p:nvSpPr>
          <p:spPr bwMode="auto">
            <a:xfrm>
              <a:off x="2895600" y="39624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17" name="Oval 9"/>
            <p:cNvSpPr>
              <a:spLocks noChangeArrowheads="1"/>
            </p:cNvSpPr>
            <p:nvPr/>
          </p:nvSpPr>
          <p:spPr bwMode="auto">
            <a:xfrm>
              <a:off x="5715000" y="45720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19" name="Oval 11"/>
            <p:cNvSpPr>
              <a:spLocks noChangeArrowheads="1"/>
            </p:cNvSpPr>
            <p:nvPr/>
          </p:nvSpPr>
          <p:spPr bwMode="auto">
            <a:xfrm>
              <a:off x="5105400" y="39624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0" name="Oval 12"/>
            <p:cNvSpPr>
              <a:spLocks noChangeArrowheads="1"/>
            </p:cNvSpPr>
            <p:nvPr/>
          </p:nvSpPr>
          <p:spPr bwMode="auto">
            <a:xfrm>
              <a:off x="4495800" y="45720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cxnSp>
          <p:nvCxnSpPr>
            <p:cNvPr id="21" name="Straight Connector 20"/>
            <p:cNvCxnSpPr>
              <a:stCxn id="15" idx="3"/>
              <a:endCxn id="16" idx="7"/>
            </p:cNvCxnSpPr>
            <p:nvPr/>
          </p:nvCxnSpPr>
          <p:spPr bwMode="auto">
            <a:xfrm flipH="1">
              <a:off x="3350885" y="3743045"/>
              <a:ext cx="689630"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2" name="Straight Connector 21"/>
            <p:cNvCxnSpPr>
              <a:stCxn id="15" idx="5"/>
              <a:endCxn id="19" idx="1"/>
            </p:cNvCxnSpPr>
            <p:nvPr/>
          </p:nvCxnSpPr>
          <p:spPr bwMode="auto">
            <a:xfrm>
              <a:off x="4417685" y="3743045"/>
              <a:ext cx="765830"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3" name="Straight Connector 22"/>
            <p:cNvCxnSpPr>
              <a:stCxn id="20" idx="7"/>
              <a:endCxn id="19" idx="3"/>
            </p:cNvCxnSpPr>
            <p:nvPr/>
          </p:nvCxnSpPr>
          <p:spPr bwMode="auto">
            <a:xfrm flipV="1">
              <a:off x="4951085" y="4352645"/>
              <a:ext cx="232430"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5" name="Straight Connector 24"/>
            <p:cNvCxnSpPr>
              <a:stCxn id="17" idx="1"/>
              <a:endCxn id="19" idx="5"/>
            </p:cNvCxnSpPr>
            <p:nvPr/>
          </p:nvCxnSpPr>
          <p:spPr bwMode="auto">
            <a:xfrm flipH="1" flipV="1">
              <a:off x="5560685" y="4352645"/>
              <a:ext cx="232430"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grpSp>
      <p:sp>
        <p:nvSpPr>
          <p:cNvPr id="14" name="Text Box 3"/>
          <p:cNvSpPr txBox="1">
            <a:spLocks noChangeArrowheads="1"/>
          </p:cNvSpPr>
          <p:nvPr/>
        </p:nvSpPr>
        <p:spPr bwMode="auto">
          <a:xfrm>
            <a:off x="1040736" y="3773377"/>
            <a:ext cx="5991898"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pPr algn="ctr"/>
            <a:r>
              <a:rPr lang="en-US" sz="2800" b="1" dirty="0">
                <a:solidFill>
                  <a:schemeClr val="accent6">
                    <a:lumMod val="75000"/>
                  </a:schemeClr>
                </a:solidFill>
              </a:rPr>
              <a:t>Leaves = Parents + 1</a:t>
            </a:r>
          </a:p>
        </p:txBody>
      </p:sp>
      <p:sp>
        <p:nvSpPr>
          <p:cNvPr id="3" name="Text Box 3">
            <a:extLst>
              <a:ext uri="{FF2B5EF4-FFF2-40B4-BE49-F238E27FC236}">
                <a16:creationId xmlns:a16="http://schemas.microsoft.com/office/drawing/2014/main" id="{F4E92F90-E67F-1A87-8A88-ABB7556D9E3A}"/>
              </a:ext>
            </a:extLst>
          </p:cNvPr>
          <p:cNvSpPr txBox="1">
            <a:spLocks noChangeArrowheads="1"/>
          </p:cNvSpPr>
          <p:nvPr/>
        </p:nvSpPr>
        <p:spPr bwMode="auto">
          <a:xfrm>
            <a:off x="5257800" y="4807487"/>
            <a:ext cx="3124200" cy="138499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r>
              <a:rPr lang="en-US" sz="2800" b="1" dirty="0"/>
              <a:t>Parents = 2</a:t>
            </a:r>
          </a:p>
          <a:p>
            <a:r>
              <a:rPr lang="en-US" sz="2800" b="1" dirty="0"/>
              <a:t>Leaves = 3</a:t>
            </a:r>
          </a:p>
          <a:p>
            <a:r>
              <a:rPr lang="en-US" sz="2800" b="1" dirty="0"/>
              <a:t>Total nodes = 5</a:t>
            </a:r>
          </a:p>
        </p:txBody>
      </p:sp>
    </p:spTree>
    <p:extLst>
      <p:ext uri="{BB962C8B-B14F-4D97-AF65-F5344CB8AC3E}">
        <p14:creationId xmlns:p14="http://schemas.microsoft.com/office/powerpoint/2010/main" val="13048878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06" name="Footer Placeholder 3"/>
          <p:cNvSpPr>
            <a:spLocks noGrp="1"/>
          </p:cNvSpPr>
          <p:nvPr>
            <p:ph type="ftr" sz="quarter" idx="12"/>
          </p:nvPr>
        </p:nvSpPr>
        <p:spPr>
          <a:xfrm>
            <a:off x="6204677" y="6359806"/>
            <a:ext cx="2895600" cy="457200"/>
          </a:xfrm>
          <a:noFill/>
        </p:spPr>
        <p:txBody>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endParaRPr lang="en-US" sz="800" b="1">
              <a:latin typeface="Times New Roman" pitchFamily="18" charset="0"/>
            </a:endParaRPr>
          </a:p>
          <a:p>
            <a:endParaRPr lang="en-US" sz="800"/>
          </a:p>
          <a:p>
            <a:endParaRPr lang="en-US" sz="800" b="1"/>
          </a:p>
          <a:p>
            <a:r>
              <a:rPr lang="en-US" sz="800" b="1"/>
              <a:t>© A+ Computer Science  -  www.apluscompsci.com</a:t>
            </a:r>
          </a:p>
        </p:txBody>
      </p:sp>
      <p:sp>
        <p:nvSpPr>
          <p:cNvPr id="47107" name="WordArt 2" descr="Narrow vertical"/>
          <p:cNvSpPr>
            <a:spLocks noChangeArrowheads="1" noChangeShapeType="1" noTextEdit="1"/>
          </p:cNvSpPr>
          <p:nvPr/>
        </p:nvSpPr>
        <p:spPr bwMode="auto">
          <a:xfrm>
            <a:off x="1295400" y="0"/>
            <a:ext cx="6324600" cy="1828800"/>
          </a:xfrm>
          <a:prstGeom prst="rect">
            <a:avLst/>
          </a:prstGeom>
          <a:ln>
            <a:noFill/>
          </a:ln>
        </p:spPr>
        <p:style>
          <a:lnRef idx="2">
            <a:schemeClr val="accent1"/>
          </a:lnRef>
          <a:fillRef idx="1">
            <a:schemeClr val="lt1"/>
          </a:fillRef>
          <a:effectRef idx="0">
            <a:schemeClr val="accent1"/>
          </a:effectRef>
          <a:fontRef idx="minor">
            <a:schemeClr val="dk1"/>
          </a:fontRef>
        </p:style>
        <p:txBody>
          <a:bodyPr wrap="none" fromWordArt="1">
            <a:prstTxWarp prst="textCurveUp">
              <a:avLst>
                <a:gd name="adj" fmla="val 35897"/>
              </a:avLst>
            </a:prstTxWarp>
          </a:bodyPr>
          <a:lstStyle/>
          <a:p>
            <a:pPr algn="ctr"/>
            <a:r>
              <a:rPr lang="en-US" sz="3600" kern="10" dirty="0">
                <a:ln w="12700">
                  <a:solidFill>
                    <a:srgbClr val="000000"/>
                  </a:solidFill>
                  <a:round/>
                  <a:headEnd type="none" w="sm" len="sm"/>
                  <a:tailEnd type="none" w="sm" len="sm"/>
                </a:ln>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10800000" scaled="1"/>
                  <a:tileRect/>
                </a:gradFill>
                <a:effectLst>
                  <a:glow rad="63500">
                    <a:schemeClr val="accent6">
                      <a:satMod val="175000"/>
                      <a:alpha val="40000"/>
                    </a:schemeClr>
                  </a:glow>
                  <a:outerShdw dist="45791" dir="2021404" algn="ctr" rotWithShape="0">
                    <a:srgbClr val="808080"/>
                  </a:outerShdw>
                </a:effectLst>
                <a:latin typeface="Arial Black"/>
              </a:rPr>
              <a:t>A </a:t>
            </a:r>
            <a:r>
              <a:rPr lang="en-US" sz="3600" b="1" kern="10" dirty="0">
                <a:ln w="12700">
                  <a:solidFill>
                    <a:srgbClr val="000000"/>
                  </a:solidFill>
                  <a:round/>
                  <a:headEnd type="none" w="sm" len="sm"/>
                  <a:tailEnd type="none" w="sm" len="sm"/>
                </a:ln>
                <a:solidFill>
                  <a:srgbClr val="0099CC"/>
                </a:solidFill>
                <a:effectLst>
                  <a:glow rad="63500">
                    <a:schemeClr val="accent6">
                      <a:satMod val="175000"/>
                      <a:alpha val="40000"/>
                    </a:schemeClr>
                  </a:glow>
                  <a:outerShdw dist="45791" dir="2021404" algn="ctr" rotWithShape="0">
                    <a:srgbClr val="808080"/>
                  </a:outerShdw>
                </a:effectLst>
                <a:latin typeface="Arial Black"/>
              </a:rPr>
              <a:t>Full</a:t>
            </a:r>
            <a:endParaRPr lang="en-US" sz="3600" kern="10" dirty="0">
              <a:ln w="12700">
                <a:solidFill>
                  <a:srgbClr val="000000"/>
                </a:solidFill>
                <a:round/>
                <a:headEnd type="none" w="sm" len="sm"/>
                <a:tailEnd type="none" w="sm" len="sm"/>
              </a:ln>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10800000" scaled="1"/>
                <a:tileRect/>
              </a:gradFill>
              <a:effectLst>
                <a:glow rad="63500">
                  <a:schemeClr val="accent6">
                    <a:satMod val="175000"/>
                    <a:alpha val="40000"/>
                  </a:schemeClr>
                </a:glow>
                <a:outerShdw dist="45791" dir="2021404" algn="ctr" rotWithShape="0">
                  <a:srgbClr val="808080"/>
                </a:outerShdw>
              </a:effectLst>
              <a:latin typeface="Arial Black"/>
            </a:endParaRPr>
          </a:p>
          <a:p>
            <a:pPr algn="ctr"/>
            <a:r>
              <a:rPr lang="en-US" sz="3600" kern="10" dirty="0">
                <a:ln w="12700">
                  <a:solidFill>
                    <a:srgbClr val="000000"/>
                  </a:solidFill>
                  <a:round/>
                  <a:headEnd type="none" w="sm" len="sm"/>
                  <a:tailEnd type="none" w="sm" len="sm"/>
                </a:ln>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10800000" scaled="1"/>
                  <a:tileRect/>
                </a:gradFill>
                <a:effectLst>
                  <a:glow rad="63500">
                    <a:schemeClr val="accent6">
                      <a:satMod val="175000"/>
                      <a:alpha val="40000"/>
                    </a:schemeClr>
                  </a:glow>
                  <a:outerShdw dist="45791" dir="2021404" algn="ctr" rotWithShape="0">
                    <a:srgbClr val="808080"/>
                  </a:outerShdw>
                </a:effectLst>
                <a:latin typeface="Arial Black"/>
              </a:rPr>
              <a:t>BINARY TREE</a:t>
            </a:r>
          </a:p>
        </p:txBody>
      </p:sp>
      <p:sp>
        <p:nvSpPr>
          <p:cNvPr id="47108" name="Text Box 3"/>
          <p:cNvSpPr txBox="1">
            <a:spLocks noChangeArrowheads="1"/>
          </p:cNvSpPr>
          <p:nvPr/>
        </p:nvSpPr>
        <p:spPr bwMode="auto">
          <a:xfrm>
            <a:off x="533400" y="2252584"/>
            <a:ext cx="8001000" cy="138499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r>
              <a:rPr lang="en-US" sz="2800" b="1" dirty="0">
                <a:solidFill>
                  <a:schemeClr val="accent6">
                    <a:lumMod val="75000"/>
                  </a:schemeClr>
                </a:solidFill>
              </a:rPr>
              <a:t>Full binary tree theorem 2: The number of nodes is always one more than twice the number of parents (a.k.a. internal nodes).</a:t>
            </a:r>
          </a:p>
        </p:txBody>
      </p:sp>
      <p:grpSp>
        <p:nvGrpSpPr>
          <p:cNvPr id="2" name="Group 1" descr="This time our tree with three levels is missing the two nodes the would go on the left side of the third row, but has both children on the right side of the third row. &#10;So the root has two children and its right child has two children. The other three nodes are leaves. We call this a full binary tree."/>
          <p:cNvGrpSpPr/>
          <p:nvPr/>
        </p:nvGrpSpPr>
        <p:grpSpPr>
          <a:xfrm>
            <a:off x="1905000" y="3886200"/>
            <a:ext cx="3352800" cy="1676400"/>
            <a:chOff x="2895600" y="3352800"/>
            <a:chExt cx="3352800" cy="1676400"/>
          </a:xfrm>
        </p:grpSpPr>
        <p:sp>
          <p:nvSpPr>
            <p:cNvPr id="15" name="Oval 5"/>
            <p:cNvSpPr>
              <a:spLocks noChangeArrowheads="1"/>
            </p:cNvSpPr>
            <p:nvPr/>
          </p:nvSpPr>
          <p:spPr bwMode="auto">
            <a:xfrm>
              <a:off x="3962400" y="33528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16" name="Oval 8"/>
            <p:cNvSpPr>
              <a:spLocks noChangeArrowheads="1"/>
            </p:cNvSpPr>
            <p:nvPr/>
          </p:nvSpPr>
          <p:spPr bwMode="auto">
            <a:xfrm>
              <a:off x="2895600" y="39624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17" name="Oval 9"/>
            <p:cNvSpPr>
              <a:spLocks noChangeArrowheads="1"/>
            </p:cNvSpPr>
            <p:nvPr/>
          </p:nvSpPr>
          <p:spPr bwMode="auto">
            <a:xfrm>
              <a:off x="5715000" y="45720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19" name="Oval 11"/>
            <p:cNvSpPr>
              <a:spLocks noChangeArrowheads="1"/>
            </p:cNvSpPr>
            <p:nvPr/>
          </p:nvSpPr>
          <p:spPr bwMode="auto">
            <a:xfrm>
              <a:off x="5105400" y="39624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0" name="Oval 12"/>
            <p:cNvSpPr>
              <a:spLocks noChangeArrowheads="1"/>
            </p:cNvSpPr>
            <p:nvPr/>
          </p:nvSpPr>
          <p:spPr bwMode="auto">
            <a:xfrm>
              <a:off x="4495800" y="45720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cxnSp>
          <p:nvCxnSpPr>
            <p:cNvPr id="21" name="Straight Connector 20"/>
            <p:cNvCxnSpPr>
              <a:stCxn id="15" idx="3"/>
              <a:endCxn id="16" idx="7"/>
            </p:cNvCxnSpPr>
            <p:nvPr/>
          </p:nvCxnSpPr>
          <p:spPr bwMode="auto">
            <a:xfrm flipH="1">
              <a:off x="3350885" y="3743045"/>
              <a:ext cx="689630"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2" name="Straight Connector 21"/>
            <p:cNvCxnSpPr>
              <a:stCxn id="15" idx="5"/>
              <a:endCxn id="19" idx="1"/>
            </p:cNvCxnSpPr>
            <p:nvPr/>
          </p:nvCxnSpPr>
          <p:spPr bwMode="auto">
            <a:xfrm>
              <a:off x="4417685" y="3743045"/>
              <a:ext cx="765830"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3" name="Straight Connector 22"/>
            <p:cNvCxnSpPr>
              <a:stCxn id="20" idx="7"/>
              <a:endCxn id="19" idx="3"/>
            </p:cNvCxnSpPr>
            <p:nvPr/>
          </p:nvCxnSpPr>
          <p:spPr bwMode="auto">
            <a:xfrm flipV="1">
              <a:off x="4951085" y="4352645"/>
              <a:ext cx="232430"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5" name="Straight Connector 24"/>
            <p:cNvCxnSpPr>
              <a:stCxn id="17" idx="1"/>
              <a:endCxn id="19" idx="5"/>
            </p:cNvCxnSpPr>
            <p:nvPr/>
          </p:nvCxnSpPr>
          <p:spPr bwMode="auto">
            <a:xfrm flipH="1" flipV="1">
              <a:off x="5560685" y="4352645"/>
              <a:ext cx="232430"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grpSp>
      <p:sp>
        <p:nvSpPr>
          <p:cNvPr id="14" name="Text Box 3"/>
          <p:cNvSpPr txBox="1">
            <a:spLocks noChangeArrowheads="1"/>
          </p:cNvSpPr>
          <p:nvPr/>
        </p:nvSpPr>
        <p:spPr bwMode="auto">
          <a:xfrm>
            <a:off x="5744084" y="4040492"/>
            <a:ext cx="2895600" cy="12971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pPr algn="ctr">
              <a:lnSpc>
                <a:spcPct val="150000"/>
              </a:lnSpc>
            </a:pPr>
            <a:r>
              <a:rPr lang="en-US" sz="2800" b="1" dirty="0">
                <a:solidFill>
                  <a:schemeClr val="accent6">
                    <a:lumMod val="75000"/>
                  </a:schemeClr>
                </a:solidFill>
              </a:rPr>
              <a:t>N = 2 * P + 1</a:t>
            </a:r>
          </a:p>
          <a:p>
            <a:pPr algn="ctr">
              <a:lnSpc>
                <a:spcPct val="150000"/>
              </a:lnSpc>
            </a:pPr>
            <a:r>
              <a:rPr lang="en-US" sz="2800" b="1" dirty="0">
                <a:solidFill>
                  <a:schemeClr val="accent6">
                    <a:lumMod val="75000"/>
                  </a:schemeClr>
                </a:solidFill>
              </a:rPr>
              <a:t>P = (N – 1) / 2</a:t>
            </a:r>
          </a:p>
        </p:txBody>
      </p:sp>
      <p:sp>
        <p:nvSpPr>
          <p:cNvPr id="3" name="Text Box 3">
            <a:extLst>
              <a:ext uri="{FF2B5EF4-FFF2-40B4-BE49-F238E27FC236}">
                <a16:creationId xmlns:a16="http://schemas.microsoft.com/office/drawing/2014/main" id="{F4E92F90-E67F-1A87-8A88-ABB7556D9E3A}"/>
              </a:ext>
            </a:extLst>
          </p:cNvPr>
          <p:cNvSpPr txBox="1">
            <a:spLocks noChangeArrowheads="1"/>
          </p:cNvSpPr>
          <p:nvPr/>
        </p:nvSpPr>
        <p:spPr bwMode="auto">
          <a:xfrm>
            <a:off x="480758" y="5291475"/>
            <a:ext cx="3124200" cy="138499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r>
              <a:rPr lang="en-US" sz="2800" b="1" dirty="0"/>
              <a:t>Parents = 2</a:t>
            </a:r>
          </a:p>
          <a:p>
            <a:r>
              <a:rPr lang="en-US" sz="2800" b="1" dirty="0"/>
              <a:t>Leaves = 3</a:t>
            </a:r>
          </a:p>
          <a:p>
            <a:r>
              <a:rPr lang="en-US" sz="2800" b="1" dirty="0"/>
              <a:t>Total nodes = 5</a:t>
            </a:r>
          </a:p>
        </p:txBody>
      </p:sp>
      <p:sp>
        <p:nvSpPr>
          <p:cNvPr id="4" name="Text Box 3">
            <a:extLst>
              <a:ext uri="{FF2B5EF4-FFF2-40B4-BE49-F238E27FC236}">
                <a16:creationId xmlns:a16="http://schemas.microsoft.com/office/drawing/2014/main" id="{3B56DC99-BA41-CF37-3C23-828674C963DD}"/>
              </a:ext>
            </a:extLst>
          </p:cNvPr>
          <p:cNvSpPr txBox="1">
            <a:spLocks noChangeArrowheads="1"/>
          </p:cNvSpPr>
          <p:nvPr/>
        </p:nvSpPr>
        <p:spPr bwMode="auto">
          <a:xfrm>
            <a:off x="5742529" y="5512272"/>
            <a:ext cx="2895600" cy="650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pPr algn="ctr">
              <a:lnSpc>
                <a:spcPct val="150000"/>
              </a:lnSpc>
            </a:pPr>
            <a:r>
              <a:rPr lang="en-US" sz="2800" b="1" dirty="0">
                <a:solidFill>
                  <a:schemeClr val="accent6">
                    <a:lumMod val="75000"/>
                  </a:schemeClr>
                </a:solidFill>
              </a:rPr>
              <a:t>L = ????????</a:t>
            </a:r>
          </a:p>
        </p:txBody>
      </p:sp>
    </p:spTree>
    <p:extLst>
      <p:ext uri="{BB962C8B-B14F-4D97-AF65-F5344CB8AC3E}">
        <p14:creationId xmlns:p14="http://schemas.microsoft.com/office/powerpoint/2010/main" val="41658810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ppt_x"/>
                                          </p:val>
                                        </p:tav>
                                        <p:tav tm="100000">
                                          <p:val>
                                            <p:strVal val="#ppt_x"/>
                                          </p:val>
                                        </p:tav>
                                      </p:tavLst>
                                    </p:anim>
                                    <p:anim calcmode="lin" valueType="num">
                                      <p:cBhvr additive="base">
                                        <p:cTn id="8" dur="500" fill="hold"/>
                                        <p:tgtEl>
                                          <p:spTgt spid="4"/>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06" name="Footer Placeholder 3"/>
          <p:cNvSpPr>
            <a:spLocks noGrp="1"/>
          </p:cNvSpPr>
          <p:nvPr>
            <p:ph type="ftr" sz="quarter" idx="12"/>
          </p:nvPr>
        </p:nvSpPr>
        <p:spPr>
          <a:xfrm>
            <a:off x="6204677" y="6359806"/>
            <a:ext cx="2895600" cy="457200"/>
          </a:xfrm>
          <a:noFill/>
        </p:spPr>
        <p:txBody>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endParaRPr lang="en-US" sz="800" b="1">
              <a:latin typeface="Times New Roman" pitchFamily="18" charset="0"/>
            </a:endParaRPr>
          </a:p>
          <a:p>
            <a:endParaRPr lang="en-US" sz="800"/>
          </a:p>
          <a:p>
            <a:endParaRPr lang="en-US" sz="800" b="1"/>
          </a:p>
          <a:p>
            <a:r>
              <a:rPr lang="en-US" sz="800" b="1"/>
              <a:t>© A+ Computer Science  -  www.apluscompsci.com</a:t>
            </a:r>
          </a:p>
        </p:txBody>
      </p:sp>
      <p:sp>
        <p:nvSpPr>
          <p:cNvPr id="47107" name="WordArt 2" descr="Narrow vertical"/>
          <p:cNvSpPr>
            <a:spLocks noChangeArrowheads="1" noChangeShapeType="1" noTextEdit="1"/>
          </p:cNvSpPr>
          <p:nvPr/>
        </p:nvSpPr>
        <p:spPr bwMode="auto">
          <a:xfrm>
            <a:off x="1295400" y="0"/>
            <a:ext cx="6324600" cy="1828800"/>
          </a:xfrm>
          <a:prstGeom prst="rect">
            <a:avLst/>
          </a:prstGeom>
          <a:ln>
            <a:noFill/>
          </a:ln>
        </p:spPr>
        <p:style>
          <a:lnRef idx="2">
            <a:schemeClr val="accent1"/>
          </a:lnRef>
          <a:fillRef idx="1">
            <a:schemeClr val="lt1"/>
          </a:fillRef>
          <a:effectRef idx="0">
            <a:schemeClr val="accent1"/>
          </a:effectRef>
          <a:fontRef idx="minor">
            <a:schemeClr val="dk1"/>
          </a:fontRef>
        </p:style>
        <p:txBody>
          <a:bodyPr wrap="none" fromWordArt="1">
            <a:prstTxWarp prst="textCurveUp">
              <a:avLst>
                <a:gd name="adj" fmla="val 35897"/>
              </a:avLst>
            </a:prstTxWarp>
          </a:bodyPr>
          <a:lstStyle/>
          <a:p>
            <a:pPr algn="ctr"/>
            <a:r>
              <a:rPr lang="en-US" sz="3600" kern="10" dirty="0">
                <a:ln w="12700">
                  <a:solidFill>
                    <a:srgbClr val="000000"/>
                  </a:solidFill>
                  <a:round/>
                  <a:headEnd type="none" w="sm" len="sm"/>
                  <a:tailEnd type="none" w="sm" len="sm"/>
                </a:ln>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10800000" scaled="1"/>
                  <a:tileRect/>
                </a:gradFill>
                <a:effectLst>
                  <a:glow rad="63500">
                    <a:schemeClr val="accent6">
                      <a:satMod val="175000"/>
                      <a:alpha val="40000"/>
                    </a:schemeClr>
                  </a:glow>
                  <a:outerShdw dist="45791" dir="2021404" algn="ctr" rotWithShape="0">
                    <a:srgbClr val="808080"/>
                  </a:outerShdw>
                </a:effectLst>
                <a:latin typeface="Arial Black"/>
              </a:rPr>
              <a:t>A </a:t>
            </a:r>
            <a:r>
              <a:rPr lang="en-US" sz="3600" b="1" kern="10" dirty="0">
                <a:ln w="12700">
                  <a:solidFill>
                    <a:srgbClr val="000000"/>
                  </a:solidFill>
                  <a:round/>
                  <a:headEnd type="none" w="sm" len="sm"/>
                  <a:tailEnd type="none" w="sm" len="sm"/>
                </a:ln>
                <a:solidFill>
                  <a:srgbClr val="0099CC"/>
                </a:solidFill>
                <a:effectLst>
                  <a:glow rad="63500">
                    <a:schemeClr val="accent6">
                      <a:satMod val="175000"/>
                      <a:alpha val="40000"/>
                    </a:schemeClr>
                  </a:glow>
                  <a:outerShdw dist="45791" dir="2021404" algn="ctr" rotWithShape="0">
                    <a:srgbClr val="808080"/>
                  </a:outerShdw>
                </a:effectLst>
                <a:latin typeface="Arial Black"/>
              </a:rPr>
              <a:t>Full</a:t>
            </a:r>
            <a:endParaRPr lang="en-US" sz="3600" kern="10" dirty="0">
              <a:ln w="12700">
                <a:solidFill>
                  <a:srgbClr val="000000"/>
                </a:solidFill>
                <a:round/>
                <a:headEnd type="none" w="sm" len="sm"/>
                <a:tailEnd type="none" w="sm" len="sm"/>
              </a:ln>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10800000" scaled="1"/>
                <a:tileRect/>
              </a:gradFill>
              <a:effectLst>
                <a:glow rad="63500">
                  <a:schemeClr val="accent6">
                    <a:satMod val="175000"/>
                    <a:alpha val="40000"/>
                  </a:schemeClr>
                </a:glow>
                <a:outerShdw dist="45791" dir="2021404" algn="ctr" rotWithShape="0">
                  <a:srgbClr val="808080"/>
                </a:outerShdw>
              </a:effectLst>
              <a:latin typeface="Arial Black"/>
            </a:endParaRPr>
          </a:p>
          <a:p>
            <a:pPr algn="ctr"/>
            <a:r>
              <a:rPr lang="en-US" sz="3600" kern="10" dirty="0">
                <a:ln w="12700">
                  <a:solidFill>
                    <a:srgbClr val="000000"/>
                  </a:solidFill>
                  <a:round/>
                  <a:headEnd type="none" w="sm" len="sm"/>
                  <a:tailEnd type="none" w="sm" len="sm"/>
                </a:ln>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10800000" scaled="1"/>
                  <a:tileRect/>
                </a:gradFill>
                <a:effectLst>
                  <a:glow rad="63500">
                    <a:schemeClr val="accent6">
                      <a:satMod val="175000"/>
                      <a:alpha val="40000"/>
                    </a:schemeClr>
                  </a:glow>
                  <a:outerShdw dist="45791" dir="2021404" algn="ctr" rotWithShape="0">
                    <a:srgbClr val="808080"/>
                  </a:outerShdw>
                </a:effectLst>
                <a:latin typeface="Arial Black"/>
              </a:rPr>
              <a:t>BINARY TREE</a:t>
            </a:r>
          </a:p>
        </p:txBody>
      </p:sp>
      <p:grpSp>
        <p:nvGrpSpPr>
          <p:cNvPr id="2" name="Group 1" descr="This time our tree with three levels is missing the two nodes the would go on the left side of the third row, but has both children on the right side of the third row. &#10;So the root has two children and its right child has two children. The other three nodes are leaves. We call this a full binary tree."/>
          <p:cNvGrpSpPr/>
          <p:nvPr/>
        </p:nvGrpSpPr>
        <p:grpSpPr>
          <a:xfrm>
            <a:off x="504316" y="2832336"/>
            <a:ext cx="3352800" cy="1676400"/>
            <a:chOff x="2895600" y="3352800"/>
            <a:chExt cx="3352800" cy="1676400"/>
          </a:xfrm>
        </p:grpSpPr>
        <p:sp>
          <p:nvSpPr>
            <p:cNvPr id="15" name="Oval 5"/>
            <p:cNvSpPr>
              <a:spLocks noChangeArrowheads="1"/>
            </p:cNvSpPr>
            <p:nvPr/>
          </p:nvSpPr>
          <p:spPr bwMode="auto">
            <a:xfrm>
              <a:off x="3962400" y="33528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16" name="Oval 8"/>
            <p:cNvSpPr>
              <a:spLocks noChangeArrowheads="1"/>
            </p:cNvSpPr>
            <p:nvPr/>
          </p:nvSpPr>
          <p:spPr bwMode="auto">
            <a:xfrm>
              <a:off x="2895600" y="39624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17" name="Oval 9"/>
            <p:cNvSpPr>
              <a:spLocks noChangeArrowheads="1"/>
            </p:cNvSpPr>
            <p:nvPr/>
          </p:nvSpPr>
          <p:spPr bwMode="auto">
            <a:xfrm>
              <a:off x="5715000" y="45720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19" name="Oval 11"/>
            <p:cNvSpPr>
              <a:spLocks noChangeArrowheads="1"/>
            </p:cNvSpPr>
            <p:nvPr/>
          </p:nvSpPr>
          <p:spPr bwMode="auto">
            <a:xfrm>
              <a:off x="5105400" y="39624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0" name="Oval 12"/>
            <p:cNvSpPr>
              <a:spLocks noChangeArrowheads="1"/>
            </p:cNvSpPr>
            <p:nvPr/>
          </p:nvSpPr>
          <p:spPr bwMode="auto">
            <a:xfrm>
              <a:off x="4495800" y="45720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cxnSp>
          <p:nvCxnSpPr>
            <p:cNvPr id="21" name="Straight Connector 20"/>
            <p:cNvCxnSpPr>
              <a:stCxn id="15" idx="3"/>
              <a:endCxn id="16" idx="7"/>
            </p:cNvCxnSpPr>
            <p:nvPr/>
          </p:nvCxnSpPr>
          <p:spPr bwMode="auto">
            <a:xfrm flipH="1">
              <a:off x="3350885" y="3743045"/>
              <a:ext cx="689630"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2" name="Straight Connector 21"/>
            <p:cNvCxnSpPr>
              <a:stCxn id="15" idx="5"/>
              <a:endCxn id="19" idx="1"/>
            </p:cNvCxnSpPr>
            <p:nvPr/>
          </p:nvCxnSpPr>
          <p:spPr bwMode="auto">
            <a:xfrm>
              <a:off x="4417685" y="3743045"/>
              <a:ext cx="765830"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3" name="Straight Connector 22"/>
            <p:cNvCxnSpPr>
              <a:stCxn id="20" idx="7"/>
              <a:endCxn id="19" idx="3"/>
            </p:cNvCxnSpPr>
            <p:nvPr/>
          </p:nvCxnSpPr>
          <p:spPr bwMode="auto">
            <a:xfrm flipV="1">
              <a:off x="4951085" y="4352645"/>
              <a:ext cx="232430"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5" name="Straight Connector 24"/>
            <p:cNvCxnSpPr>
              <a:stCxn id="17" idx="1"/>
              <a:endCxn id="19" idx="5"/>
            </p:cNvCxnSpPr>
            <p:nvPr/>
          </p:nvCxnSpPr>
          <p:spPr bwMode="auto">
            <a:xfrm flipH="1" flipV="1">
              <a:off x="5560685" y="4352645"/>
              <a:ext cx="232430"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grpSp>
      <p:sp>
        <p:nvSpPr>
          <p:cNvPr id="14" name="Text Box 3"/>
          <p:cNvSpPr txBox="1">
            <a:spLocks noChangeArrowheads="1"/>
          </p:cNvSpPr>
          <p:nvPr/>
        </p:nvSpPr>
        <p:spPr bwMode="auto">
          <a:xfrm>
            <a:off x="4572000" y="2438400"/>
            <a:ext cx="4191000" cy="38824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pPr algn="ctr">
              <a:lnSpc>
                <a:spcPct val="150000"/>
              </a:lnSpc>
            </a:pPr>
            <a:r>
              <a:rPr lang="en-US" sz="2800" b="1" dirty="0">
                <a:solidFill>
                  <a:srgbClr val="0000CC"/>
                </a:solidFill>
              </a:rPr>
              <a:t>P = (N – 1)/2</a:t>
            </a:r>
          </a:p>
          <a:p>
            <a:pPr algn="ctr">
              <a:lnSpc>
                <a:spcPct val="150000"/>
              </a:lnSpc>
            </a:pPr>
            <a:r>
              <a:rPr lang="en-US" sz="2800" b="1" dirty="0">
                <a:solidFill>
                  <a:schemeClr val="accent6">
                    <a:lumMod val="75000"/>
                  </a:schemeClr>
                </a:solidFill>
              </a:rPr>
              <a:t>L – 1 = (N – 1)/2</a:t>
            </a:r>
          </a:p>
          <a:p>
            <a:pPr algn="ctr">
              <a:lnSpc>
                <a:spcPct val="150000"/>
              </a:lnSpc>
            </a:pPr>
            <a:r>
              <a:rPr lang="en-US" sz="2800" b="1" dirty="0">
                <a:solidFill>
                  <a:schemeClr val="accent6">
                    <a:lumMod val="75000"/>
                  </a:schemeClr>
                </a:solidFill>
              </a:rPr>
              <a:t>L = (N – 1)/2 + 1</a:t>
            </a:r>
          </a:p>
          <a:p>
            <a:pPr algn="ctr">
              <a:lnSpc>
                <a:spcPct val="150000"/>
              </a:lnSpc>
            </a:pPr>
            <a:r>
              <a:rPr lang="en-US" sz="2800" b="1" dirty="0">
                <a:solidFill>
                  <a:schemeClr val="accent6">
                    <a:lumMod val="75000"/>
                  </a:schemeClr>
                </a:solidFill>
              </a:rPr>
              <a:t>L = (N – 1)/2 + 2/2</a:t>
            </a:r>
          </a:p>
          <a:p>
            <a:pPr algn="ctr">
              <a:lnSpc>
                <a:spcPct val="150000"/>
              </a:lnSpc>
            </a:pPr>
            <a:r>
              <a:rPr lang="en-US" sz="2800" b="1" dirty="0">
                <a:solidFill>
                  <a:schemeClr val="accent6">
                    <a:lumMod val="75000"/>
                  </a:schemeClr>
                </a:solidFill>
              </a:rPr>
              <a:t>L = (N – 1 + 2)/2</a:t>
            </a:r>
          </a:p>
          <a:p>
            <a:pPr algn="ctr">
              <a:lnSpc>
                <a:spcPct val="150000"/>
              </a:lnSpc>
            </a:pPr>
            <a:r>
              <a:rPr lang="en-US" sz="2800" b="1" dirty="0">
                <a:solidFill>
                  <a:srgbClr val="0000CC"/>
                </a:solidFill>
              </a:rPr>
              <a:t>L = (N + 1) / 2</a:t>
            </a:r>
          </a:p>
        </p:txBody>
      </p:sp>
      <p:sp>
        <p:nvSpPr>
          <p:cNvPr id="3" name="Text Box 3">
            <a:extLst>
              <a:ext uri="{FF2B5EF4-FFF2-40B4-BE49-F238E27FC236}">
                <a16:creationId xmlns:a16="http://schemas.microsoft.com/office/drawing/2014/main" id="{F4E92F90-E67F-1A87-8A88-ABB7556D9E3A}"/>
              </a:ext>
            </a:extLst>
          </p:cNvPr>
          <p:cNvSpPr txBox="1">
            <a:spLocks noChangeArrowheads="1"/>
          </p:cNvSpPr>
          <p:nvPr/>
        </p:nvSpPr>
        <p:spPr bwMode="auto">
          <a:xfrm>
            <a:off x="480758" y="5291475"/>
            <a:ext cx="3124200" cy="138499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r>
              <a:rPr lang="en-US" sz="2800" b="1" dirty="0"/>
              <a:t>Parents = 2</a:t>
            </a:r>
          </a:p>
          <a:p>
            <a:r>
              <a:rPr lang="en-US" sz="2800" b="1" dirty="0"/>
              <a:t>Leaves = 3</a:t>
            </a:r>
          </a:p>
          <a:p>
            <a:r>
              <a:rPr lang="en-US" sz="2800" b="1" dirty="0"/>
              <a:t>Total nodes = 5</a:t>
            </a:r>
          </a:p>
        </p:txBody>
      </p:sp>
    </p:spTree>
    <p:extLst>
      <p:ext uri="{BB962C8B-B14F-4D97-AF65-F5344CB8AC3E}">
        <p14:creationId xmlns:p14="http://schemas.microsoft.com/office/powerpoint/2010/main" val="157379042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06" name="Footer Placeholder 3"/>
          <p:cNvSpPr>
            <a:spLocks noGrp="1"/>
          </p:cNvSpPr>
          <p:nvPr>
            <p:ph type="ftr" sz="quarter" idx="12"/>
          </p:nvPr>
        </p:nvSpPr>
        <p:spPr>
          <a:xfrm>
            <a:off x="6204677" y="6359806"/>
            <a:ext cx="2895600" cy="457200"/>
          </a:xfrm>
          <a:noFill/>
        </p:spPr>
        <p:txBody>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endParaRPr lang="en-US" sz="800" b="1">
              <a:latin typeface="Times New Roman" pitchFamily="18" charset="0"/>
            </a:endParaRPr>
          </a:p>
          <a:p>
            <a:endParaRPr lang="en-US" sz="800"/>
          </a:p>
          <a:p>
            <a:endParaRPr lang="en-US" sz="800" b="1"/>
          </a:p>
          <a:p>
            <a:r>
              <a:rPr lang="en-US" sz="800" b="1"/>
              <a:t>© A+ Computer Science  -  www.apluscompsci.com</a:t>
            </a:r>
          </a:p>
        </p:txBody>
      </p:sp>
      <p:sp>
        <p:nvSpPr>
          <p:cNvPr id="47107" name="WordArt 2" descr="Narrow vertical"/>
          <p:cNvSpPr>
            <a:spLocks noChangeArrowheads="1" noChangeShapeType="1" noTextEdit="1"/>
          </p:cNvSpPr>
          <p:nvPr/>
        </p:nvSpPr>
        <p:spPr bwMode="auto">
          <a:xfrm>
            <a:off x="1295400" y="0"/>
            <a:ext cx="6324600" cy="1828800"/>
          </a:xfrm>
          <a:prstGeom prst="rect">
            <a:avLst/>
          </a:prstGeom>
          <a:ln>
            <a:noFill/>
          </a:ln>
        </p:spPr>
        <p:style>
          <a:lnRef idx="2">
            <a:schemeClr val="accent1"/>
          </a:lnRef>
          <a:fillRef idx="1">
            <a:schemeClr val="lt1"/>
          </a:fillRef>
          <a:effectRef idx="0">
            <a:schemeClr val="accent1"/>
          </a:effectRef>
          <a:fontRef idx="minor">
            <a:schemeClr val="dk1"/>
          </a:fontRef>
        </p:style>
        <p:txBody>
          <a:bodyPr wrap="none" fromWordArt="1">
            <a:prstTxWarp prst="textCurveUp">
              <a:avLst>
                <a:gd name="adj" fmla="val 35897"/>
              </a:avLst>
            </a:prstTxWarp>
          </a:bodyPr>
          <a:lstStyle/>
          <a:p>
            <a:pPr algn="ctr"/>
            <a:r>
              <a:rPr lang="en-US" sz="3600" kern="10" dirty="0">
                <a:ln w="12700">
                  <a:solidFill>
                    <a:srgbClr val="000000"/>
                  </a:solidFill>
                  <a:round/>
                  <a:headEnd type="none" w="sm" len="sm"/>
                  <a:tailEnd type="none" w="sm" len="sm"/>
                </a:ln>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10800000" scaled="1"/>
                  <a:tileRect/>
                </a:gradFill>
                <a:effectLst>
                  <a:glow rad="63500">
                    <a:schemeClr val="accent6">
                      <a:satMod val="175000"/>
                      <a:alpha val="40000"/>
                    </a:schemeClr>
                  </a:glow>
                  <a:outerShdw dist="45791" dir="2021404" algn="ctr" rotWithShape="0">
                    <a:srgbClr val="808080"/>
                  </a:outerShdw>
                </a:effectLst>
                <a:latin typeface="Arial Black"/>
              </a:rPr>
              <a:t>A </a:t>
            </a:r>
            <a:r>
              <a:rPr lang="en-US" sz="3600" b="1" kern="10" dirty="0">
                <a:ln w="12700">
                  <a:solidFill>
                    <a:srgbClr val="000000"/>
                  </a:solidFill>
                  <a:round/>
                  <a:headEnd type="none" w="sm" len="sm"/>
                  <a:tailEnd type="none" w="sm" len="sm"/>
                </a:ln>
                <a:solidFill>
                  <a:srgbClr val="0099CC"/>
                </a:solidFill>
                <a:effectLst>
                  <a:glow rad="63500">
                    <a:schemeClr val="accent6">
                      <a:satMod val="175000"/>
                      <a:alpha val="40000"/>
                    </a:schemeClr>
                  </a:glow>
                  <a:outerShdw dist="45791" dir="2021404" algn="ctr" rotWithShape="0">
                    <a:srgbClr val="808080"/>
                  </a:outerShdw>
                </a:effectLst>
                <a:latin typeface="Arial Black"/>
              </a:rPr>
              <a:t>Full</a:t>
            </a:r>
            <a:endParaRPr lang="en-US" sz="3600" kern="10" dirty="0">
              <a:ln w="12700">
                <a:solidFill>
                  <a:srgbClr val="000000"/>
                </a:solidFill>
                <a:round/>
                <a:headEnd type="none" w="sm" len="sm"/>
                <a:tailEnd type="none" w="sm" len="sm"/>
              </a:ln>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10800000" scaled="1"/>
                <a:tileRect/>
              </a:gradFill>
              <a:effectLst>
                <a:glow rad="63500">
                  <a:schemeClr val="accent6">
                    <a:satMod val="175000"/>
                    <a:alpha val="40000"/>
                  </a:schemeClr>
                </a:glow>
                <a:outerShdw dist="45791" dir="2021404" algn="ctr" rotWithShape="0">
                  <a:srgbClr val="808080"/>
                </a:outerShdw>
              </a:effectLst>
              <a:latin typeface="Arial Black"/>
            </a:endParaRPr>
          </a:p>
          <a:p>
            <a:pPr algn="ctr"/>
            <a:r>
              <a:rPr lang="en-US" sz="3600" kern="10" dirty="0">
                <a:ln w="12700">
                  <a:solidFill>
                    <a:srgbClr val="000000"/>
                  </a:solidFill>
                  <a:round/>
                  <a:headEnd type="none" w="sm" len="sm"/>
                  <a:tailEnd type="none" w="sm" len="sm"/>
                </a:ln>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10800000" scaled="1"/>
                  <a:tileRect/>
                </a:gradFill>
                <a:effectLst>
                  <a:glow rad="63500">
                    <a:schemeClr val="accent6">
                      <a:satMod val="175000"/>
                      <a:alpha val="40000"/>
                    </a:schemeClr>
                  </a:glow>
                  <a:outerShdw dist="45791" dir="2021404" algn="ctr" rotWithShape="0">
                    <a:srgbClr val="808080"/>
                  </a:outerShdw>
                </a:effectLst>
                <a:latin typeface="Arial Black"/>
              </a:rPr>
              <a:t>BINARY TREE</a:t>
            </a:r>
          </a:p>
        </p:txBody>
      </p:sp>
      <p:grpSp>
        <p:nvGrpSpPr>
          <p:cNvPr id="2" name="Group 1" descr="This time our tree with three levels is missing the two nodes the would go on the left side of the third row, but has both children on the right side of the third row. &#10;So the root has two children and its right child has two children. The other three nodes are leaves. We call this a full binary tree."/>
          <p:cNvGrpSpPr/>
          <p:nvPr/>
        </p:nvGrpSpPr>
        <p:grpSpPr>
          <a:xfrm>
            <a:off x="504316" y="2832336"/>
            <a:ext cx="3352800" cy="1676400"/>
            <a:chOff x="2895600" y="3352800"/>
            <a:chExt cx="3352800" cy="1676400"/>
          </a:xfrm>
        </p:grpSpPr>
        <p:sp>
          <p:nvSpPr>
            <p:cNvPr id="15" name="Oval 5"/>
            <p:cNvSpPr>
              <a:spLocks noChangeArrowheads="1"/>
            </p:cNvSpPr>
            <p:nvPr/>
          </p:nvSpPr>
          <p:spPr bwMode="auto">
            <a:xfrm>
              <a:off x="3962400" y="33528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16" name="Oval 8"/>
            <p:cNvSpPr>
              <a:spLocks noChangeArrowheads="1"/>
            </p:cNvSpPr>
            <p:nvPr/>
          </p:nvSpPr>
          <p:spPr bwMode="auto">
            <a:xfrm>
              <a:off x="2895600" y="39624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17" name="Oval 9"/>
            <p:cNvSpPr>
              <a:spLocks noChangeArrowheads="1"/>
            </p:cNvSpPr>
            <p:nvPr/>
          </p:nvSpPr>
          <p:spPr bwMode="auto">
            <a:xfrm>
              <a:off x="5715000" y="45720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19" name="Oval 11"/>
            <p:cNvSpPr>
              <a:spLocks noChangeArrowheads="1"/>
            </p:cNvSpPr>
            <p:nvPr/>
          </p:nvSpPr>
          <p:spPr bwMode="auto">
            <a:xfrm>
              <a:off x="5105400" y="39624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0" name="Oval 12"/>
            <p:cNvSpPr>
              <a:spLocks noChangeArrowheads="1"/>
            </p:cNvSpPr>
            <p:nvPr/>
          </p:nvSpPr>
          <p:spPr bwMode="auto">
            <a:xfrm>
              <a:off x="4495800" y="45720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cxnSp>
          <p:nvCxnSpPr>
            <p:cNvPr id="21" name="Straight Connector 20"/>
            <p:cNvCxnSpPr>
              <a:stCxn id="15" idx="3"/>
              <a:endCxn id="16" idx="7"/>
            </p:cNvCxnSpPr>
            <p:nvPr/>
          </p:nvCxnSpPr>
          <p:spPr bwMode="auto">
            <a:xfrm flipH="1">
              <a:off x="3350885" y="3743045"/>
              <a:ext cx="689630"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2" name="Straight Connector 21"/>
            <p:cNvCxnSpPr>
              <a:stCxn id="15" idx="5"/>
              <a:endCxn id="19" idx="1"/>
            </p:cNvCxnSpPr>
            <p:nvPr/>
          </p:nvCxnSpPr>
          <p:spPr bwMode="auto">
            <a:xfrm>
              <a:off x="4417685" y="3743045"/>
              <a:ext cx="765830"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3" name="Straight Connector 22"/>
            <p:cNvCxnSpPr>
              <a:stCxn id="20" idx="7"/>
              <a:endCxn id="19" idx="3"/>
            </p:cNvCxnSpPr>
            <p:nvPr/>
          </p:nvCxnSpPr>
          <p:spPr bwMode="auto">
            <a:xfrm flipV="1">
              <a:off x="4951085" y="4352645"/>
              <a:ext cx="232430"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5" name="Straight Connector 24"/>
            <p:cNvCxnSpPr>
              <a:stCxn id="17" idx="1"/>
              <a:endCxn id="19" idx="5"/>
            </p:cNvCxnSpPr>
            <p:nvPr/>
          </p:nvCxnSpPr>
          <p:spPr bwMode="auto">
            <a:xfrm flipH="1" flipV="1">
              <a:off x="5560685" y="4352645"/>
              <a:ext cx="232430"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grpSp>
      <p:sp>
        <p:nvSpPr>
          <p:cNvPr id="14" name="Text Box 3"/>
          <p:cNvSpPr txBox="1">
            <a:spLocks noChangeArrowheads="1"/>
          </p:cNvSpPr>
          <p:nvPr/>
        </p:nvSpPr>
        <p:spPr bwMode="auto">
          <a:xfrm>
            <a:off x="4572000" y="2555058"/>
            <a:ext cx="4191000" cy="32361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pPr algn="ctr">
              <a:lnSpc>
                <a:spcPct val="150000"/>
              </a:lnSpc>
            </a:pPr>
            <a:r>
              <a:rPr lang="en-US" sz="2800" b="1" dirty="0">
                <a:solidFill>
                  <a:srgbClr val="0000CC"/>
                </a:solidFill>
              </a:rPr>
              <a:t>N = 2P + 1</a:t>
            </a:r>
          </a:p>
          <a:p>
            <a:pPr algn="ctr">
              <a:lnSpc>
                <a:spcPct val="150000"/>
              </a:lnSpc>
            </a:pPr>
            <a:r>
              <a:rPr lang="en-US" sz="2800" b="1" dirty="0">
                <a:solidFill>
                  <a:srgbClr val="0000CC"/>
                </a:solidFill>
              </a:rPr>
              <a:t>P = (N – 1) / 2</a:t>
            </a:r>
          </a:p>
          <a:p>
            <a:pPr algn="ctr">
              <a:lnSpc>
                <a:spcPct val="150000"/>
              </a:lnSpc>
            </a:pPr>
            <a:endParaRPr lang="en-US" sz="2800" b="1" dirty="0">
              <a:solidFill>
                <a:srgbClr val="0000CC"/>
              </a:solidFill>
            </a:endParaRPr>
          </a:p>
          <a:p>
            <a:pPr algn="ctr">
              <a:lnSpc>
                <a:spcPct val="150000"/>
              </a:lnSpc>
            </a:pPr>
            <a:r>
              <a:rPr lang="en-US" sz="2800" b="1" dirty="0">
                <a:solidFill>
                  <a:srgbClr val="0000CC"/>
                </a:solidFill>
              </a:rPr>
              <a:t>L = (N + 1) / 2</a:t>
            </a:r>
          </a:p>
          <a:p>
            <a:pPr algn="ctr">
              <a:lnSpc>
                <a:spcPct val="150000"/>
              </a:lnSpc>
            </a:pPr>
            <a:r>
              <a:rPr lang="en-US" sz="2800" b="1" dirty="0">
                <a:solidFill>
                  <a:srgbClr val="0000CC"/>
                </a:solidFill>
              </a:rPr>
              <a:t>N = 2L – 1</a:t>
            </a:r>
          </a:p>
        </p:txBody>
      </p:sp>
      <p:sp>
        <p:nvSpPr>
          <p:cNvPr id="3" name="Text Box 3">
            <a:extLst>
              <a:ext uri="{FF2B5EF4-FFF2-40B4-BE49-F238E27FC236}">
                <a16:creationId xmlns:a16="http://schemas.microsoft.com/office/drawing/2014/main" id="{F4E92F90-E67F-1A87-8A88-ABB7556D9E3A}"/>
              </a:ext>
            </a:extLst>
          </p:cNvPr>
          <p:cNvSpPr txBox="1">
            <a:spLocks noChangeArrowheads="1"/>
          </p:cNvSpPr>
          <p:nvPr/>
        </p:nvSpPr>
        <p:spPr bwMode="auto">
          <a:xfrm>
            <a:off x="480758" y="5291475"/>
            <a:ext cx="3124200" cy="138499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r>
              <a:rPr lang="en-US" sz="2800" b="1" dirty="0"/>
              <a:t>Parents = 2</a:t>
            </a:r>
          </a:p>
          <a:p>
            <a:r>
              <a:rPr lang="en-US" sz="2800" b="1" dirty="0"/>
              <a:t>Leaves = 3</a:t>
            </a:r>
          </a:p>
          <a:p>
            <a:r>
              <a:rPr lang="en-US" sz="2800" b="1" dirty="0"/>
              <a:t>Total nodes = 5</a:t>
            </a:r>
          </a:p>
        </p:txBody>
      </p:sp>
    </p:spTree>
    <p:extLst>
      <p:ext uri="{BB962C8B-B14F-4D97-AF65-F5344CB8AC3E}">
        <p14:creationId xmlns:p14="http://schemas.microsoft.com/office/powerpoint/2010/main" val="392018283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010" name="Footer Placeholder 3"/>
          <p:cNvSpPr>
            <a:spLocks noGrp="1"/>
          </p:cNvSpPr>
          <p:nvPr>
            <p:ph type="ftr" sz="quarter" idx="12"/>
          </p:nvPr>
        </p:nvSpPr>
        <p:spPr>
          <a:xfrm>
            <a:off x="6248400" y="6324600"/>
            <a:ext cx="2895600" cy="457200"/>
          </a:xfrm>
          <a:noFill/>
        </p:spPr>
        <p:txBody>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pPr algn="r"/>
            <a:endParaRPr lang="en-US" sz="800" b="1">
              <a:latin typeface="Times New Roman" pitchFamily="18" charset="0"/>
            </a:endParaRPr>
          </a:p>
          <a:p>
            <a:pPr algn="r"/>
            <a:endParaRPr lang="en-US" sz="800"/>
          </a:p>
          <a:p>
            <a:pPr algn="r"/>
            <a:endParaRPr lang="en-US" sz="800" b="1"/>
          </a:p>
          <a:p>
            <a:pPr algn="r"/>
            <a:r>
              <a:rPr lang="en-US" sz="800" b="1"/>
              <a:t>© A+ Computer Science  -  www.apluscompsci.com</a:t>
            </a:r>
          </a:p>
        </p:txBody>
      </p:sp>
      <p:sp>
        <p:nvSpPr>
          <p:cNvPr id="43011" name="Text Box 2"/>
          <p:cNvSpPr txBox="1">
            <a:spLocks noChangeArrowheads="1"/>
          </p:cNvSpPr>
          <p:nvPr/>
        </p:nvSpPr>
        <p:spPr bwMode="auto">
          <a:xfrm>
            <a:off x="838200" y="5511003"/>
            <a:ext cx="7620000"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pPr>
              <a:tabLst>
                <a:tab pos="4114800" algn="l"/>
              </a:tabLst>
            </a:pPr>
            <a:r>
              <a:rPr lang="en-US" sz="2800" b="1" dirty="0">
                <a:solidFill>
                  <a:schemeClr val="accent2"/>
                </a:solidFill>
              </a:rPr>
              <a:t>NUMLEVELS  -  4 	NUMLEAVES  -  5</a:t>
            </a:r>
          </a:p>
        </p:txBody>
      </p:sp>
      <p:sp>
        <p:nvSpPr>
          <p:cNvPr id="43028" name="WordArt 19"/>
          <p:cNvSpPr>
            <a:spLocks noChangeArrowheads="1" noChangeShapeType="1" noTextEdit="1"/>
          </p:cNvSpPr>
          <p:nvPr/>
        </p:nvSpPr>
        <p:spPr bwMode="auto">
          <a:xfrm>
            <a:off x="1828800" y="228600"/>
            <a:ext cx="4953000" cy="457200"/>
          </a:xfrm>
          <a:prstGeom prst="rect">
            <a:avLst/>
          </a:prstGeom>
        </p:spPr>
        <p:txBody>
          <a:bodyPr wrap="none" fromWordArt="1">
            <a:prstTxWarp prst="textPlain">
              <a:avLst>
                <a:gd name="adj" fmla="val 50000"/>
              </a:avLst>
            </a:prstTxWarp>
          </a:bodyPr>
          <a:lstStyle/>
          <a:p>
            <a:pPr algn="ctr"/>
            <a:r>
              <a:rPr lang="en-US" sz="3600" kern="10" dirty="0">
                <a:ln w="9525">
                  <a:solidFill>
                    <a:srgbClr val="FFFF99"/>
                  </a:solidFill>
                  <a:round/>
                  <a:headEnd type="none" w="sm" len="sm"/>
                  <a:tailEnd type="none" w="sm" len="sm"/>
                </a:ln>
                <a:solidFill>
                  <a:srgbClr val="0000FF"/>
                </a:solidFill>
                <a:effectLst>
                  <a:outerShdw dist="35921" dir="2700000" algn="ctr" rotWithShape="0">
                    <a:srgbClr val="C0C0C0"/>
                  </a:outerShdw>
                </a:effectLst>
                <a:latin typeface="Impact"/>
              </a:rPr>
              <a:t>Tree Attributes</a:t>
            </a:r>
          </a:p>
        </p:txBody>
      </p:sp>
      <p:grpSp>
        <p:nvGrpSpPr>
          <p:cNvPr id="2" name="Group 1" descr="A binary tree with four levels and ten nodes:&#10;&#10;Row 0: 90&#10;Row 1:&#10; 90 has two children: 50 as a left child and 120 as a right child&#10;Row 2:&#10; 50 has two children: 40 as a left child and 65 as a right child&#10; 120 has two children: 100 as a left child and 150 as a right child&#10;Row 3:&#10;   40 has two children: 30 as a left child and 45 as a right child&#10;    65 only has a right child, 70&#10;">
            <a:extLst>
              <a:ext uri="{FF2B5EF4-FFF2-40B4-BE49-F238E27FC236}">
                <a16:creationId xmlns:a16="http://schemas.microsoft.com/office/drawing/2014/main" id="{1267F955-D1C6-DFD7-57AC-683EDE7C5161}"/>
              </a:ext>
            </a:extLst>
          </p:cNvPr>
          <p:cNvGrpSpPr/>
          <p:nvPr/>
        </p:nvGrpSpPr>
        <p:grpSpPr>
          <a:xfrm>
            <a:off x="838200" y="1066800"/>
            <a:ext cx="7129463" cy="2057400"/>
            <a:chOff x="838200" y="1066800"/>
            <a:chExt cx="7129463" cy="2057400"/>
          </a:xfrm>
        </p:grpSpPr>
        <p:sp>
          <p:nvSpPr>
            <p:cNvPr id="43012" name="Oval 3"/>
            <p:cNvSpPr>
              <a:spLocks noChangeArrowheads="1"/>
            </p:cNvSpPr>
            <p:nvPr/>
          </p:nvSpPr>
          <p:spPr bwMode="auto">
            <a:xfrm>
              <a:off x="3505200" y="26670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70</a:t>
              </a:r>
            </a:p>
          </p:txBody>
        </p:sp>
        <p:sp>
          <p:nvSpPr>
            <p:cNvPr id="43013" name="Oval 4"/>
            <p:cNvSpPr>
              <a:spLocks noChangeArrowheads="1"/>
            </p:cNvSpPr>
            <p:nvPr/>
          </p:nvSpPr>
          <p:spPr bwMode="auto">
            <a:xfrm>
              <a:off x="2133600" y="16002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50</a:t>
              </a:r>
            </a:p>
          </p:txBody>
        </p:sp>
        <p:sp>
          <p:nvSpPr>
            <p:cNvPr id="43014" name="Oval 5"/>
            <p:cNvSpPr>
              <a:spLocks noChangeArrowheads="1"/>
            </p:cNvSpPr>
            <p:nvPr/>
          </p:nvSpPr>
          <p:spPr bwMode="auto">
            <a:xfrm>
              <a:off x="1295400" y="21336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40</a:t>
              </a:r>
            </a:p>
          </p:txBody>
        </p:sp>
        <p:sp>
          <p:nvSpPr>
            <p:cNvPr id="43015" name="Oval 6"/>
            <p:cNvSpPr>
              <a:spLocks noChangeArrowheads="1"/>
            </p:cNvSpPr>
            <p:nvPr/>
          </p:nvSpPr>
          <p:spPr bwMode="auto">
            <a:xfrm>
              <a:off x="2971800" y="21336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65</a:t>
              </a:r>
            </a:p>
          </p:txBody>
        </p:sp>
        <p:sp>
          <p:nvSpPr>
            <p:cNvPr id="43016" name="Oval 7"/>
            <p:cNvSpPr>
              <a:spLocks noChangeArrowheads="1"/>
            </p:cNvSpPr>
            <p:nvPr/>
          </p:nvSpPr>
          <p:spPr bwMode="auto">
            <a:xfrm>
              <a:off x="6324600" y="16002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120</a:t>
              </a:r>
            </a:p>
          </p:txBody>
        </p:sp>
        <p:sp>
          <p:nvSpPr>
            <p:cNvPr id="43017" name="Oval 8"/>
            <p:cNvSpPr>
              <a:spLocks noChangeArrowheads="1"/>
            </p:cNvSpPr>
            <p:nvPr/>
          </p:nvSpPr>
          <p:spPr bwMode="auto">
            <a:xfrm>
              <a:off x="5486400" y="21336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100</a:t>
              </a:r>
            </a:p>
          </p:txBody>
        </p:sp>
        <p:sp>
          <p:nvSpPr>
            <p:cNvPr id="43018" name="Oval 9"/>
            <p:cNvSpPr>
              <a:spLocks noChangeArrowheads="1"/>
            </p:cNvSpPr>
            <p:nvPr/>
          </p:nvSpPr>
          <p:spPr bwMode="auto">
            <a:xfrm>
              <a:off x="7162800" y="21336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150</a:t>
              </a:r>
            </a:p>
          </p:txBody>
        </p:sp>
        <p:sp>
          <p:nvSpPr>
            <p:cNvPr id="43019" name="Oval 10"/>
            <p:cNvSpPr>
              <a:spLocks noChangeArrowheads="1"/>
            </p:cNvSpPr>
            <p:nvPr/>
          </p:nvSpPr>
          <p:spPr bwMode="auto">
            <a:xfrm>
              <a:off x="838200" y="26670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30</a:t>
              </a:r>
            </a:p>
          </p:txBody>
        </p:sp>
        <p:sp>
          <p:nvSpPr>
            <p:cNvPr id="43020" name="Oval 11"/>
            <p:cNvSpPr>
              <a:spLocks noChangeArrowheads="1"/>
            </p:cNvSpPr>
            <p:nvPr/>
          </p:nvSpPr>
          <p:spPr bwMode="auto">
            <a:xfrm>
              <a:off x="1828800" y="26670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45</a:t>
              </a:r>
            </a:p>
          </p:txBody>
        </p:sp>
        <p:sp>
          <p:nvSpPr>
            <p:cNvPr id="43021" name="Oval 12"/>
            <p:cNvSpPr>
              <a:spLocks noChangeArrowheads="1"/>
            </p:cNvSpPr>
            <p:nvPr/>
          </p:nvSpPr>
          <p:spPr bwMode="auto">
            <a:xfrm>
              <a:off x="4267200" y="10668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90</a:t>
              </a:r>
            </a:p>
          </p:txBody>
        </p:sp>
        <p:sp>
          <p:nvSpPr>
            <p:cNvPr id="43022" name="Line 13"/>
            <p:cNvSpPr>
              <a:spLocks noChangeShapeType="1"/>
            </p:cNvSpPr>
            <p:nvPr/>
          </p:nvSpPr>
          <p:spPr bwMode="auto">
            <a:xfrm flipH="1">
              <a:off x="2895600" y="1371600"/>
              <a:ext cx="1371600" cy="304800"/>
            </a:xfrm>
            <a:prstGeom prst="line">
              <a:avLst/>
            </a:prstGeom>
            <a:noFill/>
            <a:ln w="25400">
              <a:solidFill>
                <a:srgbClr val="FF0000"/>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43023" name="Line 14"/>
            <p:cNvSpPr>
              <a:spLocks noChangeShapeType="1"/>
            </p:cNvSpPr>
            <p:nvPr/>
          </p:nvSpPr>
          <p:spPr bwMode="auto">
            <a:xfrm>
              <a:off x="5105400" y="1371600"/>
              <a:ext cx="1219200" cy="304800"/>
            </a:xfrm>
            <a:prstGeom prst="line">
              <a:avLst/>
            </a:prstGeom>
            <a:noFill/>
            <a:ln w="25400">
              <a:solidFill>
                <a:srgbClr val="FF0000"/>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43024" name="Line 15"/>
            <p:cNvSpPr>
              <a:spLocks noChangeShapeType="1"/>
            </p:cNvSpPr>
            <p:nvPr/>
          </p:nvSpPr>
          <p:spPr bwMode="auto">
            <a:xfrm flipH="1">
              <a:off x="1981200" y="1981200"/>
              <a:ext cx="228600" cy="152400"/>
            </a:xfrm>
            <a:prstGeom prst="line">
              <a:avLst/>
            </a:prstGeom>
            <a:noFill/>
            <a:ln w="25400">
              <a:solidFill>
                <a:srgbClr val="FF0000"/>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43025" name="Line 16"/>
            <p:cNvSpPr>
              <a:spLocks noChangeShapeType="1"/>
            </p:cNvSpPr>
            <p:nvPr/>
          </p:nvSpPr>
          <p:spPr bwMode="auto">
            <a:xfrm flipH="1">
              <a:off x="6172200" y="1981200"/>
              <a:ext cx="228600" cy="152400"/>
            </a:xfrm>
            <a:prstGeom prst="line">
              <a:avLst/>
            </a:prstGeom>
            <a:noFill/>
            <a:ln w="25400">
              <a:solidFill>
                <a:srgbClr val="FF0000"/>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43026" name="Line 17"/>
            <p:cNvSpPr>
              <a:spLocks noChangeShapeType="1"/>
            </p:cNvSpPr>
            <p:nvPr/>
          </p:nvSpPr>
          <p:spPr bwMode="auto">
            <a:xfrm>
              <a:off x="2819400" y="1981200"/>
              <a:ext cx="304800" cy="152400"/>
            </a:xfrm>
            <a:prstGeom prst="line">
              <a:avLst/>
            </a:prstGeom>
            <a:noFill/>
            <a:ln w="25400">
              <a:solidFill>
                <a:srgbClr val="FF0000"/>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43027" name="Line 18"/>
            <p:cNvSpPr>
              <a:spLocks noChangeShapeType="1"/>
            </p:cNvSpPr>
            <p:nvPr/>
          </p:nvSpPr>
          <p:spPr bwMode="auto">
            <a:xfrm>
              <a:off x="7086600" y="1981200"/>
              <a:ext cx="304800" cy="152400"/>
            </a:xfrm>
            <a:prstGeom prst="line">
              <a:avLst/>
            </a:prstGeom>
            <a:noFill/>
            <a:ln w="25400">
              <a:solidFill>
                <a:srgbClr val="FF0000"/>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43029" name="Oval 20"/>
            <p:cNvSpPr>
              <a:spLocks noChangeArrowheads="1"/>
            </p:cNvSpPr>
            <p:nvPr/>
          </p:nvSpPr>
          <p:spPr bwMode="auto">
            <a:xfrm>
              <a:off x="4800600" y="26670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95</a:t>
              </a:r>
            </a:p>
          </p:txBody>
        </p:sp>
      </p:grpSp>
      <p:sp>
        <p:nvSpPr>
          <p:cNvPr id="3" name="TextBox 2">
            <a:extLst>
              <a:ext uri="{FF2B5EF4-FFF2-40B4-BE49-F238E27FC236}">
                <a16:creationId xmlns:a16="http://schemas.microsoft.com/office/drawing/2014/main" id="{2C6DBC21-0E0F-0EAB-9E24-E21ADE712964}"/>
              </a:ext>
            </a:extLst>
          </p:cNvPr>
          <p:cNvSpPr txBox="1"/>
          <p:nvPr/>
        </p:nvSpPr>
        <p:spPr>
          <a:xfrm>
            <a:off x="560784" y="3542520"/>
            <a:ext cx="8022431" cy="1492716"/>
          </a:xfrm>
          <a:prstGeom prst="rect">
            <a:avLst/>
          </a:prstGeom>
          <a:noFill/>
        </p:spPr>
        <p:txBody>
          <a:bodyPr wrap="square">
            <a:spAutoFit/>
          </a:bodyPr>
          <a:lstStyle/>
          <a:p>
            <a:pPr algn="ctr"/>
            <a:r>
              <a:rPr lang="en-US" sz="2800" b="1" dirty="0"/>
              <a:t>LEVEL = ROW = nodes with same height</a:t>
            </a:r>
          </a:p>
          <a:p>
            <a:pPr algn="ctr"/>
            <a:endParaRPr lang="en-US" sz="700" b="1" dirty="0"/>
          </a:p>
          <a:p>
            <a:pPr algn="ctr"/>
            <a:r>
              <a:rPr lang="en-US" sz="2800" b="1" dirty="0"/>
              <a:t>level 0 contains the root</a:t>
            </a:r>
          </a:p>
          <a:p>
            <a:pPr algn="ctr"/>
            <a:r>
              <a:rPr lang="en-US" sz="2800" b="1" dirty="0"/>
              <a:t> level 1 contains the children of the root </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descr="A diagram of a tree&#10;&#10;Description automatically generated">
            <a:extLst>
              <a:ext uri="{FF2B5EF4-FFF2-40B4-BE49-F238E27FC236}">
                <a16:creationId xmlns:a16="http://schemas.microsoft.com/office/drawing/2014/main" id="{4507BF4E-C13F-7F81-A24B-61792B97C2F4}"/>
              </a:ext>
            </a:extLst>
          </p:cNvPr>
          <p:cNvPicPr>
            <a:picLocks noChangeAspect="1"/>
          </p:cNvPicPr>
          <p:nvPr/>
        </p:nvPicPr>
        <p:blipFill rotWithShape="1">
          <a:blip r:embed="rId3">
            <a:extLst>
              <a:ext uri="{28A0092B-C50C-407E-A947-70E740481C1C}">
                <a14:useLocalDpi xmlns:a14="http://schemas.microsoft.com/office/drawing/2010/main" val="0"/>
              </a:ext>
            </a:extLst>
          </a:blip>
          <a:srcRect r="3950"/>
          <a:stretch/>
        </p:blipFill>
        <p:spPr>
          <a:xfrm>
            <a:off x="0" y="381000"/>
            <a:ext cx="8944435" cy="6324600"/>
          </a:xfrm>
          <a:prstGeom prst="rect">
            <a:avLst/>
          </a:prstGeom>
        </p:spPr>
      </p:pic>
      <p:sp>
        <p:nvSpPr>
          <p:cNvPr id="2" name="TextBox 1">
            <a:extLst>
              <a:ext uri="{FF2B5EF4-FFF2-40B4-BE49-F238E27FC236}">
                <a16:creationId xmlns:a16="http://schemas.microsoft.com/office/drawing/2014/main" id="{F6BF22EA-9448-2E2C-539A-E0877611E941}"/>
              </a:ext>
            </a:extLst>
          </p:cNvPr>
          <p:cNvSpPr txBox="1"/>
          <p:nvPr/>
        </p:nvSpPr>
        <p:spPr>
          <a:xfrm>
            <a:off x="228600" y="76200"/>
            <a:ext cx="3352800" cy="1815882"/>
          </a:xfrm>
          <a:prstGeom prst="rect">
            <a:avLst/>
          </a:prstGeom>
          <a:noFill/>
        </p:spPr>
        <p:txBody>
          <a:bodyPr wrap="square">
            <a:spAutoFit/>
          </a:bodyPr>
          <a:lstStyle/>
          <a:p>
            <a:pPr algn="l"/>
            <a:r>
              <a:rPr lang="en-US" sz="2800" b="0" i="0" dirty="0">
                <a:solidFill>
                  <a:srgbClr val="0000CC"/>
                </a:solidFill>
                <a:effectLst/>
                <a:latin typeface="Source Sans Pro SemiBold" panose="020B0603030403020204" pitchFamily="34" charset="0"/>
                <a:ea typeface="Source Sans Pro SemiBold" panose="020B0603030403020204" pitchFamily="34" charset="0"/>
              </a:rPr>
              <a:t>The </a:t>
            </a:r>
            <a:r>
              <a:rPr lang="en-US" sz="2800" b="0" i="0" u="sng" dirty="0">
                <a:solidFill>
                  <a:srgbClr val="0000CC"/>
                </a:solidFill>
                <a:effectLst/>
                <a:latin typeface="Source Sans Pro SemiBold" panose="020B0603030403020204" pitchFamily="34" charset="0"/>
                <a:ea typeface="Source Sans Pro SemiBold" panose="020B0603030403020204" pitchFamily="34" charset="0"/>
              </a:rPr>
              <a:t>depth of a node </a:t>
            </a:r>
            <a:r>
              <a:rPr lang="en-US" sz="2800" b="0" i="0" dirty="0">
                <a:solidFill>
                  <a:srgbClr val="0000CC"/>
                </a:solidFill>
                <a:effectLst/>
                <a:latin typeface="Source Sans Pro SemiBold" panose="020B0603030403020204" pitchFamily="34" charset="0"/>
                <a:ea typeface="Source Sans Pro SemiBold" panose="020B0603030403020204" pitchFamily="34" charset="0"/>
              </a:rPr>
              <a:t>is the number of edges from the root to the node.</a:t>
            </a:r>
          </a:p>
        </p:txBody>
      </p:sp>
      <p:sp>
        <p:nvSpPr>
          <p:cNvPr id="4" name="TextBox 3">
            <a:extLst>
              <a:ext uri="{FF2B5EF4-FFF2-40B4-BE49-F238E27FC236}">
                <a16:creationId xmlns:a16="http://schemas.microsoft.com/office/drawing/2014/main" id="{A9D72184-60F0-C734-FC63-E3624F13A94B}"/>
              </a:ext>
            </a:extLst>
          </p:cNvPr>
          <p:cNvSpPr txBox="1"/>
          <p:nvPr/>
        </p:nvSpPr>
        <p:spPr>
          <a:xfrm>
            <a:off x="190500" y="5092005"/>
            <a:ext cx="4533900" cy="1384995"/>
          </a:xfrm>
          <a:prstGeom prst="rect">
            <a:avLst/>
          </a:prstGeom>
          <a:noFill/>
        </p:spPr>
        <p:txBody>
          <a:bodyPr wrap="square">
            <a:spAutoFit/>
          </a:bodyPr>
          <a:lstStyle/>
          <a:p>
            <a:pPr algn="l"/>
            <a:r>
              <a:rPr lang="en-US" sz="2800" b="0" i="0" dirty="0">
                <a:solidFill>
                  <a:srgbClr val="0000CC"/>
                </a:solidFill>
                <a:effectLst/>
                <a:latin typeface="Source Sans Pro SemiBold" panose="020B0603030403020204" pitchFamily="34" charset="0"/>
                <a:ea typeface="Source Sans Pro SemiBold" panose="020B0603030403020204" pitchFamily="34" charset="0"/>
                <a:cs typeface="Tahoma" panose="020B0604030504040204" pitchFamily="34" charset="0"/>
              </a:rPr>
              <a:t>The </a:t>
            </a:r>
            <a:r>
              <a:rPr lang="en-US" sz="2800" b="0" i="0" u="sng" dirty="0">
                <a:solidFill>
                  <a:srgbClr val="0000CC"/>
                </a:solidFill>
                <a:effectLst/>
                <a:latin typeface="Source Sans Pro SemiBold" panose="020B0603030403020204" pitchFamily="34" charset="0"/>
                <a:ea typeface="Source Sans Pro SemiBold" panose="020B0603030403020204" pitchFamily="34" charset="0"/>
                <a:cs typeface="Tahoma" panose="020B0604030504040204" pitchFamily="34" charset="0"/>
              </a:rPr>
              <a:t>height of a node </a:t>
            </a:r>
            <a:r>
              <a:rPr lang="en-US" sz="2800" b="0" i="0" dirty="0">
                <a:solidFill>
                  <a:srgbClr val="0000CC"/>
                </a:solidFill>
                <a:effectLst/>
                <a:latin typeface="Source Sans Pro SemiBold" panose="020B0603030403020204" pitchFamily="34" charset="0"/>
                <a:ea typeface="Source Sans Pro SemiBold" panose="020B0603030403020204" pitchFamily="34" charset="0"/>
                <a:cs typeface="Tahoma" panose="020B0604030504040204" pitchFamily="34" charset="0"/>
              </a:rPr>
              <a:t>is the number of edges from the node to the deepest leaf.</a:t>
            </a:r>
          </a:p>
        </p:txBody>
      </p:sp>
    </p:spTree>
    <p:extLst>
      <p:ext uri="{BB962C8B-B14F-4D97-AF65-F5344CB8AC3E}">
        <p14:creationId xmlns:p14="http://schemas.microsoft.com/office/powerpoint/2010/main" val="267347836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082" name="Footer Placeholder 3"/>
          <p:cNvSpPr>
            <a:spLocks noGrp="1"/>
          </p:cNvSpPr>
          <p:nvPr>
            <p:ph type="ftr" sz="quarter" idx="12"/>
          </p:nvPr>
        </p:nvSpPr>
        <p:spPr>
          <a:xfrm>
            <a:off x="6190673" y="6301698"/>
            <a:ext cx="2895600" cy="457200"/>
          </a:xfrm>
          <a:noFill/>
        </p:spPr>
        <p:txBody>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endParaRPr lang="en-US" sz="800" b="1" dirty="0">
              <a:latin typeface="Times New Roman" pitchFamily="18" charset="0"/>
            </a:endParaRPr>
          </a:p>
          <a:p>
            <a:endParaRPr lang="en-US" sz="800" dirty="0"/>
          </a:p>
          <a:p>
            <a:endParaRPr lang="en-US" sz="800" b="1" dirty="0"/>
          </a:p>
          <a:p>
            <a:r>
              <a:rPr lang="en-US" sz="800" b="1" dirty="0"/>
              <a:t>© A+ Computer Science  -  www.apluscompsci.com</a:t>
            </a:r>
          </a:p>
        </p:txBody>
      </p:sp>
      <p:sp>
        <p:nvSpPr>
          <p:cNvPr id="46083" name="Text Box 2"/>
          <p:cNvSpPr txBox="1">
            <a:spLocks noChangeArrowheads="1"/>
          </p:cNvSpPr>
          <p:nvPr/>
        </p:nvSpPr>
        <p:spPr bwMode="auto">
          <a:xfrm>
            <a:off x="3133436" y="3632021"/>
            <a:ext cx="2743200" cy="592138"/>
          </a:xfrm>
          <a:prstGeom prst="rect">
            <a:avLst/>
          </a:prstGeom>
          <a:noFill/>
          <a:ln w="12700">
            <a:solidFill>
              <a:srgbClr val="0000FF"/>
            </a:solidFill>
            <a:miter lim="800000"/>
            <a:headEnd type="none" w="sm" len="sm"/>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r>
              <a:rPr lang="en-US" sz="3200" b="1">
                <a:solidFill>
                  <a:schemeClr val="accent2"/>
                </a:solidFill>
              </a:rPr>
              <a:t>HEIGHT  -  3</a:t>
            </a:r>
          </a:p>
        </p:txBody>
      </p:sp>
      <p:sp>
        <p:nvSpPr>
          <p:cNvPr id="46100" name="WordArt 19"/>
          <p:cNvSpPr>
            <a:spLocks noChangeArrowheads="1" noChangeShapeType="1" noTextEdit="1"/>
          </p:cNvSpPr>
          <p:nvPr/>
        </p:nvSpPr>
        <p:spPr bwMode="auto">
          <a:xfrm>
            <a:off x="1828800" y="228600"/>
            <a:ext cx="4953000" cy="457200"/>
          </a:xfrm>
          <a:prstGeom prst="rect">
            <a:avLst/>
          </a:prstGeom>
        </p:spPr>
        <p:txBody>
          <a:bodyPr wrap="none" fromWordArt="1">
            <a:prstTxWarp prst="textPlain">
              <a:avLst>
                <a:gd name="adj" fmla="val 50000"/>
              </a:avLst>
            </a:prstTxWarp>
          </a:bodyPr>
          <a:lstStyle/>
          <a:p>
            <a:pPr algn="ctr"/>
            <a:r>
              <a:rPr lang="en-US" sz="3600" kern="10" dirty="0">
                <a:ln w="9525">
                  <a:solidFill>
                    <a:srgbClr val="FFFF99"/>
                  </a:solidFill>
                  <a:round/>
                  <a:headEnd type="none" w="sm" len="sm"/>
                  <a:tailEnd type="none" w="sm" len="sm"/>
                </a:ln>
                <a:solidFill>
                  <a:srgbClr val="0000FF"/>
                </a:solidFill>
                <a:effectLst>
                  <a:outerShdw dist="35921" dir="2700000" algn="ctr" rotWithShape="0">
                    <a:srgbClr val="C0C0C0"/>
                  </a:outerShdw>
                </a:effectLst>
                <a:latin typeface="Impact"/>
              </a:rPr>
              <a:t>Height</a:t>
            </a:r>
          </a:p>
        </p:txBody>
      </p:sp>
      <p:grpSp>
        <p:nvGrpSpPr>
          <p:cNvPr id="2" name="Group 1" descr="A binary tree with four levels and ten nodes:&#10;&#10;Row 0: 90&#10;Row 1:&#10; 90 has two children: 50 as a left child and 120 as a right child&#10;Row 2:&#10; 50 has two children: 40 as a left child and 65 as a right child&#10; 120 has two children: 100 as a left child and 150 as a right child&#10;Row 3:&#10;   40 has two children: 30 as a left child and 45 as a right child&#10;    65 only has a right child, 70&#10;">
            <a:extLst>
              <a:ext uri="{FF2B5EF4-FFF2-40B4-BE49-F238E27FC236}">
                <a16:creationId xmlns:a16="http://schemas.microsoft.com/office/drawing/2014/main" id="{FCCEE31A-BD26-4F07-7DF3-D3CE28CA8CA0}"/>
              </a:ext>
            </a:extLst>
          </p:cNvPr>
          <p:cNvGrpSpPr/>
          <p:nvPr/>
        </p:nvGrpSpPr>
        <p:grpSpPr>
          <a:xfrm>
            <a:off x="838200" y="1066800"/>
            <a:ext cx="7129463" cy="2057400"/>
            <a:chOff x="838200" y="1066800"/>
            <a:chExt cx="7129463" cy="2057400"/>
          </a:xfrm>
        </p:grpSpPr>
        <p:sp>
          <p:nvSpPr>
            <p:cNvPr id="46084" name="Oval 3"/>
            <p:cNvSpPr>
              <a:spLocks noChangeArrowheads="1"/>
            </p:cNvSpPr>
            <p:nvPr/>
          </p:nvSpPr>
          <p:spPr bwMode="auto">
            <a:xfrm>
              <a:off x="3505200" y="26670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70</a:t>
              </a:r>
            </a:p>
          </p:txBody>
        </p:sp>
        <p:sp>
          <p:nvSpPr>
            <p:cNvPr id="46085" name="Oval 4"/>
            <p:cNvSpPr>
              <a:spLocks noChangeArrowheads="1"/>
            </p:cNvSpPr>
            <p:nvPr/>
          </p:nvSpPr>
          <p:spPr bwMode="auto">
            <a:xfrm>
              <a:off x="2133600" y="16002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50</a:t>
              </a:r>
            </a:p>
          </p:txBody>
        </p:sp>
        <p:sp>
          <p:nvSpPr>
            <p:cNvPr id="46086" name="Oval 5"/>
            <p:cNvSpPr>
              <a:spLocks noChangeArrowheads="1"/>
            </p:cNvSpPr>
            <p:nvPr/>
          </p:nvSpPr>
          <p:spPr bwMode="auto">
            <a:xfrm>
              <a:off x="1295400" y="21336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40</a:t>
              </a:r>
            </a:p>
          </p:txBody>
        </p:sp>
        <p:sp>
          <p:nvSpPr>
            <p:cNvPr id="46087" name="Oval 6"/>
            <p:cNvSpPr>
              <a:spLocks noChangeArrowheads="1"/>
            </p:cNvSpPr>
            <p:nvPr/>
          </p:nvSpPr>
          <p:spPr bwMode="auto">
            <a:xfrm>
              <a:off x="2971800" y="21336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65</a:t>
              </a:r>
            </a:p>
          </p:txBody>
        </p:sp>
        <p:sp>
          <p:nvSpPr>
            <p:cNvPr id="46088" name="Oval 7"/>
            <p:cNvSpPr>
              <a:spLocks noChangeArrowheads="1"/>
            </p:cNvSpPr>
            <p:nvPr/>
          </p:nvSpPr>
          <p:spPr bwMode="auto">
            <a:xfrm>
              <a:off x="6324600" y="16002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120</a:t>
              </a:r>
            </a:p>
          </p:txBody>
        </p:sp>
        <p:sp>
          <p:nvSpPr>
            <p:cNvPr id="46089" name="Oval 8"/>
            <p:cNvSpPr>
              <a:spLocks noChangeArrowheads="1"/>
            </p:cNvSpPr>
            <p:nvPr/>
          </p:nvSpPr>
          <p:spPr bwMode="auto">
            <a:xfrm>
              <a:off x="5486400" y="21336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100</a:t>
              </a:r>
            </a:p>
          </p:txBody>
        </p:sp>
        <p:sp>
          <p:nvSpPr>
            <p:cNvPr id="46090" name="Oval 9"/>
            <p:cNvSpPr>
              <a:spLocks noChangeArrowheads="1"/>
            </p:cNvSpPr>
            <p:nvPr/>
          </p:nvSpPr>
          <p:spPr bwMode="auto">
            <a:xfrm>
              <a:off x="7162800" y="21336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150</a:t>
              </a:r>
            </a:p>
          </p:txBody>
        </p:sp>
        <p:sp>
          <p:nvSpPr>
            <p:cNvPr id="46091" name="Oval 10"/>
            <p:cNvSpPr>
              <a:spLocks noChangeArrowheads="1"/>
            </p:cNvSpPr>
            <p:nvPr/>
          </p:nvSpPr>
          <p:spPr bwMode="auto">
            <a:xfrm>
              <a:off x="838200" y="26670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30</a:t>
              </a:r>
            </a:p>
          </p:txBody>
        </p:sp>
        <p:sp>
          <p:nvSpPr>
            <p:cNvPr id="46092" name="Oval 11"/>
            <p:cNvSpPr>
              <a:spLocks noChangeArrowheads="1"/>
            </p:cNvSpPr>
            <p:nvPr/>
          </p:nvSpPr>
          <p:spPr bwMode="auto">
            <a:xfrm>
              <a:off x="1828800" y="26670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45</a:t>
              </a:r>
            </a:p>
          </p:txBody>
        </p:sp>
        <p:sp>
          <p:nvSpPr>
            <p:cNvPr id="46093" name="Oval 12"/>
            <p:cNvSpPr>
              <a:spLocks noChangeArrowheads="1"/>
            </p:cNvSpPr>
            <p:nvPr/>
          </p:nvSpPr>
          <p:spPr bwMode="auto">
            <a:xfrm>
              <a:off x="4267200" y="10668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90</a:t>
              </a:r>
            </a:p>
          </p:txBody>
        </p:sp>
        <p:sp>
          <p:nvSpPr>
            <p:cNvPr id="46094" name="Line 13"/>
            <p:cNvSpPr>
              <a:spLocks noChangeShapeType="1"/>
            </p:cNvSpPr>
            <p:nvPr/>
          </p:nvSpPr>
          <p:spPr bwMode="auto">
            <a:xfrm flipH="1">
              <a:off x="2895600" y="1371600"/>
              <a:ext cx="1371600" cy="304800"/>
            </a:xfrm>
            <a:prstGeom prst="line">
              <a:avLst/>
            </a:prstGeom>
            <a:noFill/>
            <a:ln w="76200">
              <a:solidFill>
                <a:srgbClr val="FF0000"/>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46095" name="Line 14"/>
            <p:cNvSpPr>
              <a:spLocks noChangeShapeType="1"/>
            </p:cNvSpPr>
            <p:nvPr/>
          </p:nvSpPr>
          <p:spPr bwMode="auto">
            <a:xfrm>
              <a:off x="5105400" y="1371600"/>
              <a:ext cx="1219200" cy="304800"/>
            </a:xfrm>
            <a:prstGeom prst="line">
              <a:avLst/>
            </a:prstGeom>
            <a:noFill/>
            <a:ln w="25400">
              <a:solidFill>
                <a:srgbClr val="FF0000"/>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46096" name="Line 15"/>
            <p:cNvSpPr>
              <a:spLocks noChangeShapeType="1"/>
            </p:cNvSpPr>
            <p:nvPr/>
          </p:nvSpPr>
          <p:spPr bwMode="auto">
            <a:xfrm flipH="1">
              <a:off x="1977170" y="1981200"/>
              <a:ext cx="232629" cy="228600"/>
            </a:xfrm>
            <a:prstGeom prst="line">
              <a:avLst/>
            </a:prstGeom>
            <a:noFill/>
            <a:ln w="25400">
              <a:solidFill>
                <a:srgbClr val="FF0000"/>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46097" name="Line 16"/>
            <p:cNvSpPr>
              <a:spLocks noChangeShapeType="1"/>
            </p:cNvSpPr>
            <p:nvPr/>
          </p:nvSpPr>
          <p:spPr bwMode="auto">
            <a:xfrm flipH="1">
              <a:off x="6172200" y="1981200"/>
              <a:ext cx="228600" cy="152400"/>
            </a:xfrm>
            <a:prstGeom prst="line">
              <a:avLst/>
            </a:prstGeom>
            <a:noFill/>
            <a:ln w="25400">
              <a:solidFill>
                <a:srgbClr val="FF0000"/>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46098" name="Line 17"/>
            <p:cNvSpPr>
              <a:spLocks noChangeShapeType="1"/>
            </p:cNvSpPr>
            <p:nvPr/>
          </p:nvSpPr>
          <p:spPr bwMode="auto">
            <a:xfrm>
              <a:off x="2819400" y="1981200"/>
              <a:ext cx="304800" cy="152400"/>
            </a:xfrm>
            <a:prstGeom prst="line">
              <a:avLst/>
            </a:prstGeom>
            <a:noFill/>
            <a:ln w="76200">
              <a:solidFill>
                <a:srgbClr val="FF0000"/>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46099" name="Line 18"/>
            <p:cNvSpPr>
              <a:spLocks noChangeShapeType="1"/>
            </p:cNvSpPr>
            <p:nvPr/>
          </p:nvSpPr>
          <p:spPr bwMode="auto">
            <a:xfrm>
              <a:off x="7086600" y="1981200"/>
              <a:ext cx="304800" cy="152400"/>
            </a:xfrm>
            <a:prstGeom prst="line">
              <a:avLst/>
            </a:prstGeom>
            <a:noFill/>
            <a:ln w="25400">
              <a:solidFill>
                <a:srgbClr val="FF0000"/>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46101" name="Oval 20"/>
            <p:cNvSpPr>
              <a:spLocks noChangeArrowheads="1"/>
            </p:cNvSpPr>
            <p:nvPr/>
          </p:nvSpPr>
          <p:spPr bwMode="auto">
            <a:xfrm>
              <a:off x="4800600" y="26670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95</a:t>
              </a:r>
            </a:p>
          </p:txBody>
        </p:sp>
        <p:sp>
          <p:nvSpPr>
            <p:cNvPr id="28" name="Line 16"/>
            <p:cNvSpPr>
              <a:spLocks noChangeShapeType="1"/>
            </p:cNvSpPr>
            <p:nvPr/>
          </p:nvSpPr>
          <p:spPr bwMode="auto">
            <a:xfrm flipH="1">
              <a:off x="5410200" y="2590800"/>
              <a:ext cx="228600" cy="152400"/>
            </a:xfrm>
            <a:prstGeom prst="line">
              <a:avLst/>
            </a:prstGeom>
            <a:noFill/>
            <a:ln w="25400">
              <a:solidFill>
                <a:srgbClr val="FF0000"/>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29" name="Line 17"/>
            <p:cNvSpPr>
              <a:spLocks noChangeShapeType="1"/>
            </p:cNvSpPr>
            <p:nvPr/>
          </p:nvSpPr>
          <p:spPr bwMode="auto">
            <a:xfrm>
              <a:off x="3581400" y="2584938"/>
              <a:ext cx="228600" cy="152400"/>
            </a:xfrm>
            <a:prstGeom prst="line">
              <a:avLst/>
            </a:prstGeom>
            <a:noFill/>
            <a:ln w="76200">
              <a:solidFill>
                <a:srgbClr val="FF0000"/>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30" name="Line 17"/>
            <p:cNvSpPr>
              <a:spLocks noChangeShapeType="1"/>
            </p:cNvSpPr>
            <p:nvPr/>
          </p:nvSpPr>
          <p:spPr bwMode="auto">
            <a:xfrm>
              <a:off x="1824771" y="2590800"/>
              <a:ext cx="304800" cy="152400"/>
            </a:xfrm>
            <a:prstGeom prst="line">
              <a:avLst/>
            </a:prstGeom>
            <a:noFill/>
            <a:ln w="25400">
              <a:solidFill>
                <a:srgbClr val="FF0000"/>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31" name="Line 15"/>
            <p:cNvSpPr>
              <a:spLocks noChangeShapeType="1"/>
            </p:cNvSpPr>
            <p:nvPr/>
          </p:nvSpPr>
          <p:spPr bwMode="auto">
            <a:xfrm flipH="1">
              <a:off x="1411532" y="2584938"/>
              <a:ext cx="228600" cy="152400"/>
            </a:xfrm>
            <a:prstGeom prst="line">
              <a:avLst/>
            </a:prstGeom>
            <a:noFill/>
            <a:ln w="25400">
              <a:solidFill>
                <a:srgbClr val="FF0000"/>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grpSp>
      <p:sp>
        <p:nvSpPr>
          <p:cNvPr id="3" name="TextBox 2">
            <a:extLst>
              <a:ext uri="{FF2B5EF4-FFF2-40B4-BE49-F238E27FC236}">
                <a16:creationId xmlns:a16="http://schemas.microsoft.com/office/drawing/2014/main" id="{5EBCEA05-9D2F-A6F5-8363-F365E1528B34}"/>
              </a:ext>
            </a:extLst>
          </p:cNvPr>
          <p:cNvSpPr txBox="1"/>
          <p:nvPr/>
        </p:nvSpPr>
        <p:spPr>
          <a:xfrm>
            <a:off x="533400" y="4849881"/>
            <a:ext cx="8382000" cy="650819"/>
          </a:xfrm>
          <a:prstGeom prst="rect">
            <a:avLst/>
          </a:prstGeom>
          <a:noFill/>
        </p:spPr>
        <p:txBody>
          <a:bodyPr wrap="square">
            <a:spAutoFit/>
          </a:bodyPr>
          <a:lstStyle/>
          <a:p>
            <a:pPr>
              <a:lnSpc>
                <a:spcPct val="150000"/>
              </a:lnSpc>
              <a:tabLst>
                <a:tab pos="1311275" algn="l"/>
              </a:tabLst>
            </a:pPr>
            <a:r>
              <a:rPr lang="en-US" sz="2800" b="1" dirty="0"/>
              <a:t>Height	= # of edges from root to lowest leaf</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058" name="Footer Placeholder 3"/>
          <p:cNvSpPr>
            <a:spLocks noGrp="1"/>
          </p:cNvSpPr>
          <p:nvPr>
            <p:ph type="ftr" sz="quarter" idx="12"/>
          </p:nvPr>
        </p:nvSpPr>
        <p:spPr>
          <a:xfrm>
            <a:off x="6248400" y="6324600"/>
            <a:ext cx="2895600" cy="457200"/>
          </a:xfrm>
          <a:noFill/>
        </p:spPr>
        <p:txBody>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endParaRPr lang="en-US" sz="800" b="1" dirty="0">
              <a:latin typeface="Times New Roman" pitchFamily="18" charset="0"/>
            </a:endParaRPr>
          </a:p>
          <a:p>
            <a:endParaRPr lang="en-US" sz="800" dirty="0"/>
          </a:p>
          <a:p>
            <a:endParaRPr lang="en-US" sz="800" b="1" dirty="0"/>
          </a:p>
          <a:p>
            <a:r>
              <a:rPr lang="en-US" sz="800" b="1" dirty="0"/>
              <a:t>© A+ Computer Science  -  www.apluscompsci.com</a:t>
            </a:r>
          </a:p>
        </p:txBody>
      </p:sp>
      <p:sp>
        <p:nvSpPr>
          <p:cNvPr id="45059" name="Text Box 2"/>
          <p:cNvSpPr txBox="1">
            <a:spLocks noChangeArrowheads="1"/>
          </p:cNvSpPr>
          <p:nvPr/>
        </p:nvSpPr>
        <p:spPr bwMode="auto">
          <a:xfrm>
            <a:off x="3126580" y="3746500"/>
            <a:ext cx="3045619" cy="584775"/>
          </a:xfrm>
          <a:prstGeom prst="rect">
            <a:avLst/>
          </a:prstGeom>
          <a:noFill/>
          <a:ln w="12700">
            <a:solidFill>
              <a:srgbClr val="0000FF"/>
            </a:solidFill>
            <a:miter lim="800000"/>
            <a:headEnd type="none" w="sm" len="sm"/>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r>
              <a:rPr lang="en-US" sz="3200" b="1" dirty="0">
                <a:solidFill>
                  <a:schemeClr val="accent2"/>
                </a:solidFill>
              </a:rPr>
              <a:t>Diameter =  6</a:t>
            </a:r>
          </a:p>
        </p:txBody>
      </p:sp>
      <p:grpSp>
        <p:nvGrpSpPr>
          <p:cNvPr id="4" name="Group 3" descr="A binary tree with four levels and ten nodes:&#10;&#10;Row 0: 90&#10;Row 1:&#10; 90 has two children: 50 as a left child and 120 as a right child&#10;Row 2:&#10; 50 has two children: 40 as a left child and 65 as a right child&#10; 120 has two children: 100 as a left child and 150 as a right child&#10;Row 3:&#10;   40 has two children: 30 as a left child and 45 as a right child&#10;    65 only has a right child, 70&#10;">
            <a:extLst>
              <a:ext uri="{FF2B5EF4-FFF2-40B4-BE49-F238E27FC236}">
                <a16:creationId xmlns:a16="http://schemas.microsoft.com/office/drawing/2014/main" id="{9CE86303-9B5C-E8E0-D1B7-1D29BE50BED0}"/>
              </a:ext>
            </a:extLst>
          </p:cNvPr>
          <p:cNvGrpSpPr/>
          <p:nvPr/>
        </p:nvGrpSpPr>
        <p:grpSpPr>
          <a:xfrm>
            <a:off x="838200" y="1066800"/>
            <a:ext cx="7129463" cy="2057400"/>
            <a:chOff x="838200" y="1066800"/>
            <a:chExt cx="7129463" cy="2057400"/>
          </a:xfrm>
        </p:grpSpPr>
        <p:sp>
          <p:nvSpPr>
            <p:cNvPr id="45060" name="Oval 3"/>
            <p:cNvSpPr>
              <a:spLocks noChangeArrowheads="1"/>
            </p:cNvSpPr>
            <p:nvPr/>
          </p:nvSpPr>
          <p:spPr bwMode="auto">
            <a:xfrm>
              <a:off x="3505200" y="26670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70</a:t>
              </a:r>
            </a:p>
          </p:txBody>
        </p:sp>
        <p:sp>
          <p:nvSpPr>
            <p:cNvPr id="45061" name="Oval 4"/>
            <p:cNvSpPr>
              <a:spLocks noChangeArrowheads="1"/>
            </p:cNvSpPr>
            <p:nvPr/>
          </p:nvSpPr>
          <p:spPr bwMode="auto">
            <a:xfrm>
              <a:off x="2133600" y="16002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50</a:t>
              </a:r>
            </a:p>
          </p:txBody>
        </p:sp>
        <p:sp>
          <p:nvSpPr>
            <p:cNvPr id="45062" name="Oval 5"/>
            <p:cNvSpPr>
              <a:spLocks noChangeArrowheads="1"/>
            </p:cNvSpPr>
            <p:nvPr/>
          </p:nvSpPr>
          <p:spPr bwMode="auto">
            <a:xfrm>
              <a:off x="1295400" y="21336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40</a:t>
              </a:r>
            </a:p>
          </p:txBody>
        </p:sp>
        <p:sp>
          <p:nvSpPr>
            <p:cNvPr id="45063" name="Oval 6"/>
            <p:cNvSpPr>
              <a:spLocks noChangeArrowheads="1"/>
            </p:cNvSpPr>
            <p:nvPr/>
          </p:nvSpPr>
          <p:spPr bwMode="auto">
            <a:xfrm>
              <a:off x="2971800" y="21336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65</a:t>
              </a:r>
            </a:p>
          </p:txBody>
        </p:sp>
        <p:sp>
          <p:nvSpPr>
            <p:cNvPr id="45064" name="Oval 7"/>
            <p:cNvSpPr>
              <a:spLocks noChangeArrowheads="1"/>
            </p:cNvSpPr>
            <p:nvPr/>
          </p:nvSpPr>
          <p:spPr bwMode="auto">
            <a:xfrm>
              <a:off x="6324600" y="16002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120</a:t>
              </a:r>
            </a:p>
          </p:txBody>
        </p:sp>
        <p:sp>
          <p:nvSpPr>
            <p:cNvPr id="45065" name="Oval 8"/>
            <p:cNvSpPr>
              <a:spLocks noChangeArrowheads="1"/>
            </p:cNvSpPr>
            <p:nvPr/>
          </p:nvSpPr>
          <p:spPr bwMode="auto">
            <a:xfrm>
              <a:off x="5486400" y="21336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100</a:t>
              </a:r>
            </a:p>
          </p:txBody>
        </p:sp>
        <p:sp>
          <p:nvSpPr>
            <p:cNvPr id="45066" name="Oval 9"/>
            <p:cNvSpPr>
              <a:spLocks noChangeArrowheads="1"/>
            </p:cNvSpPr>
            <p:nvPr/>
          </p:nvSpPr>
          <p:spPr bwMode="auto">
            <a:xfrm>
              <a:off x="7162800" y="21336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dirty="0"/>
                <a:t>150</a:t>
              </a:r>
            </a:p>
          </p:txBody>
        </p:sp>
        <p:sp>
          <p:nvSpPr>
            <p:cNvPr id="45067" name="Oval 10"/>
            <p:cNvSpPr>
              <a:spLocks noChangeArrowheads="1"/>
            </p:cNvSpPr>
            <p:nvPr/>
          </p:nvSpPr>
          <p:spPr bwMode="auto">
            <a:xfrm>
              <a:off x="838200" y="26670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30</a:t>
              </a:r>
            </a:p>
          </p:txBody>
        </p:sp>
        <p:sp>
          <p:nvSpPr>
            <p:cNvPr id="45068" name="Oval 11"/>
            <p:cNvSpPr>
              <a:spLocks noChangeArrowheads="1"/>
            </p:cNvSpPr>
            <p:nvPr/>
          </p:nvSpPr>
          <p:spPr bwMode="auto">
            <a:xfrm>
              <a:off x="1828800" y="26670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45</a:t>
              </a:r>
            </a:p>
          </p:txBody>
        </p:sp>
        <p:sp>
          <p:nvSpPr>
            <p:cNvPr id="45069" name="Oval 12"/>
            <p:cNvSpPr>
              <a:spLocks noChangeArrowheads="1"/>
            </p:cNvSpPr>
            <p:nvPr/>
          </p:nvSpPr>
          <p:spPr bwMode="auto">
            <a:xfrm>
              <a:off x="4267200" y="10668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90</a:t>
              </a:r>
            </a:p>
          </p:txBody>
        </p:sp>
        <p:sp>
          <p:nvSpPr>
            <p:cNvPr id="45070" name="Line 13"/>
            <p:cNvSpPr>
              <a:spLocks noChangeShapeType="1"/>
            </p:cNvSpPr>
            <p:nvPr/>
          </p:nvSpPr>
          <p:spPr bwMode="auto">
            <a:xfrm flipH="1">
              <a:off x="2895600" y="1371600"/>
              <a:ext cx="1371600" cy="304800"/>
            </a:xfrm>
            <a:prstGeom prst="line">
              <a:avLst/>
            </a:prstGeom>
            <a:noFill/>
            <a:ln w="25400">
              <a:solidFill>
                <a:srgbClr val="FF0000"/>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45071" name="Line 14"/>
            <p:cNvSpPr>
              <a:spLocks noChangeShapeType="1"/>
            </p:cNvSpPr>
            <p:nvPr/>
          </p:nvSpPr>
          <p:spPr bwMode="auto">
            <a:xfrm>
              <a:off x="5105400" y="1371600"/>
              <a:ext cx="1219200" cy="304800"/>
            </a:xfrm>
            <a:prstGeom prst="line">
              <a:avLst/>
            </a:prstGeom>
            <a:noFill/>
            <a:ln w="25400">
              <a:solidFill>
                <a:srgbClr val="FF0000"/>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45072" name="Line 15"/>
            <p:cNvSpPr>
              <a:spLocks noChangeShapeType="1"/>
            </p:cNvSpPr>
            <p:nvPr/>
          </p:nvSpPr>
          <p:spPr bwMode="auto">
            <a:xfrm flipH="1">
              <a:off x="1981200" y="1981200"/>
              <a:ext cx="228600" cy="152400"/>
            </a:xfrm>
            <a:prstGeom prst="line">
              <a:avLst/>
            </a:prstGeom>
            <a:noFill/>
            <a:ln w="25400">
              <a:solidFill>
                <a:srgbClr val="FF0000"/>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45073" name="Line 16"/>
            <p:cNvSpPr>
              <a:spLocks noChangeShapeType="1"/>
            </p:cNvSpPr>
            <p:nvPr/>
          </p:nvSpPr>
          <p:spPr bwMode="auto">
            <a:xfrm flipH="1">
              <a:off x="6172200" y="1981200"/>
              <a:ext cx="228600" cy="152400"/>
            </a:xfrm>
            <a:prstGeom prst="line">
              <a:avLst/>
            </a:prstGeom>
            <a:noFill/>
            <a:ln w="25400">
              <a:solidFill>
                <a:srgbClr val="FF0000"/>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45074" name="Line 17"/>
            <p:cNvSpPr>
              <a:spLocks noChangeShapeType="1"/>
            </p:cNvSpPr>
            <p:nvPr/>
          </p:nvSpPr>
          <p:spPr bwMode="auto">
            <a:xfrm>
              <a:off x="2819400" y="1981200"/>
              <a:ext cx="304800" cy="152400"/>
            </a:xfrm>
            <a:prstGeom prst="line">
              <a:avLst/>
            </a:prstGeom>
            <a:noFill/>
            <a:ln w="25400">
              <a:solidFill>
                <a:srgbClr val="FF0000"/>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45075" name="Line 18"/>
            <p:cNvSpPr>
              <a:spLocks noChangeShapeType="1"/>
            </p:cNvSpPr>
            <p:nvPr/>
          </p:nvSpPr>
          <p:spPr bwMode="auto">
            <a:xfrm>
              <a:off x="7086600" y="1981200"/>
              <a:ext cx="304800" cy="152400"/>
            </a:xfrm>
            <a:prstGeom prst="line">
              <a:avLst/>
            </a:prstGeom>
            <a:noFill/>
            <a:ln w="25400">
              <a:solidFill>
                <a:srgbClr val="FF0000"/>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45077" name="Oval 20"/>
            <p:cNvSpPr>
              <a:spLocks noChangeArrowheads="1"/>
            </p:cNvSpPr>
            <p:nvPr/>
          </p:nvSpPr>
          <p:spPr bwMode="auto">
            <a:xfrm>
              <a:off x="4800600" y="26670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95</a:t>
              </a:r>
            </a:p>
          </p:txBody>
        </p:sp>
      </p:grpSp>
      <p:sp>
        <p:nvSpPr>
          <p:cNvPr id="90136" name="Text Box 24">
            <a:extLst>
              <a:ext uri="{C183D7F6-B498-43B3-948B-1728B52AA6E4}">
                <adec:decorative xmlns:adec="http://schemas.microsoft.com/office/drawing/2017/decorative" val="1"/>
              </a:ext>
            </a:extLst>
          </p:cNvPr>
          <p:cNvSpPr txBox="1">
            <a:spLocks noChangeArrowheads="1"/>
          </p:cNvSpPr>
          <p:nvPr/>
        </p:nvSpPr>
        <p:spPr bwMode="auto">
          <a:xfrm>
            <a:off x="685800" y="2590800"/>
            <a:ext cx="1066800" cy="495300"/>
          </a:xfrm>
          <a:prstGeom prst="rect">
            <a:avLst/>
          </a:prstGeom>
          <a:solidFill>
            <a:schemeClr val="bg1">
              <a:alpha val="0"/>
            </a:schemeClr>
          </a:solidFill>
          <a:ln w="38100">
            <a:solidFill>
              <a:srgbClr val="808000"/>
            </a:solidFill>
            <a:miter lim="800000"/>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pPr>
              <a:spcBef>
                <a:spcPct val="50000"/>
              </a:spcBef>
            </a:pPr>
            <a:endParaRPr lang="en-US"/>
          </a:p>
        </p:txBody>
      </p:sp>
      <p:sp>
        <p:nvSpPr>
          <p:cNvPr id="90137" name="Text Box 25">
            <a:extLst>
              <a:ext uri="{C183D7F6-B498-43B3-948B-1728B52AA6E4}">
                <adec:decorative xmlns:adec="http://schemas.microsoft.com/office/drawing/2017/decorative" val="1"/>
              </a:ext>
            </a:extLst>
          </p:cNvPr>
          <p:cNvSpPr txBox="1">
            <a:spLocks noChangeArrowheads="1"/>
          </p:cNvSpPr>
          <p:nvPr/>
        </p:nvSpPr>
        <p:spPr bwMode="auto">
          <a:xfrm>
            <a:off x="1143000" y="2057400"/>
            <a:ext cx="1066800" cy="495300"/>
          </a:xfrm>
          <a:prstGeom prst="rect">
            <a:avLst/>
          </a:prstGeom>
          <a:solidFill>
            <a:schemeClr val="bg1">
              <a:alpha val="0"/>
            </a:schemeClr>
          </a:solidFill>
          <a:ln w="38100">
            <a:solidFill>
              <a:srgbClr val="808000"/>
            </a:solidFill>
            <a:miter lim="800000"/>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pPr>
              <a:spcBef>
                <a:spcPct val="50000"/>
              </a:spcBef>
            </a:pPr>
            <a:endParaRPr lang="en-US"/>
          </a:p>
        </p:txBody>
      </p:sp>
      <p:sp>
        <p:nvSpPr>
          <p:cNvPr id="90138" name="Text Box 26">
            <a:extLst>
              <a:ext uri="{C183D7F6-B498-43B3-948B-1728B52AA6E4}">
                <adec:decorative xmlns:adec="http://schemas.microsoft.com/office/drawing/2017/decorative" val="1"/>
              </a:ext>
            </a:extLst>
          </p:cNvPr>
          <p:cNvSpPr txBox="1">
            <a:spLocks noChangeArrowheads="1"/>
          </p:cNvSpPr>
          <p:nvPr/>
        </p:nvSpPr>
        <p:spPr bwMode="auto">
          <a:xfrm>
            <a:off x="1981200" y="1562100"/>
            <a:ext cx="1066800" cy="495300"/>
          </a:xfrm>
          <a:prstGeom prst="rect">
            <a:avLst/>
          </a:prstGeom>
          <a:solidFill>
            <a:schemeClr val="bg1">
              <a:alpha val="0"/>
            </a:schemeClr>
          </a:solidFill>
          <a:ln w="38100">
            <a:solidFill>
              <a:srgbClr val="808000"/>
            </a:solidFill>
            <a:miter lim="800000"/>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pPr>
              <a:spcBef>
                <a:spcPct val="50000"/>
              </a:spcBef>
            </a:pPr>
            <a:endParaRPr lang="en-US"/>
          </a:p>
        </p:txBody>
      </p:sp>
      <p:sp>
        <p:nvSpPr>
          <p:cNvPr id="90139" name="Text Box 27">
            <a:extLst>
              <a:ext uri="{C183D7F6-B498-43B3-948B-1728B52AA6E4}">
                <adec:decorative xmlns:adec="http://schemas.microsoft.com/office/drawing/2017/decorative" val="1"/>
              </a:ext>
            </a:extLst>
          </p:cNvPr>
          <p:cNvSpPr txBox="1">
            <a:spLocks noChangeArrowheads="1"/>
          </p:cNvSpPr>
          <p:nvPr/>
        </p:nvSpPr>
        <p:spPr bwMode="auto">
          <a:xfrm>
            <a:off x="4114800" y="1028700"/>
            <a:ext cx="1066800" cy="495300"/>
          </a:xfrm>
          <a:prstGeom prst="rect">
            <a:avLst/>
          </a:prstGeom>
          <a:solidFill>
            <a:schemeClr val="bg1">
              <a:alpha val="0"/>
            </a:schemeClr>
          </a:solidFill>
          <a:ln w="38100">
            <a:solidFill>
              <a:srgbClr val="808000"/>
            </a:solidFill>
            <a:miter lim="800000"/>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pPr>
              <a:spcBef>
                <a:spcPct val="50000"/>
              </a:spcBef>
            </a:pPr>
            <a:endParaRPr lang="en-US"/>
          </a:p>
        </p:txBody>
      </p:sp>
      <p:sp>
        <p:nvSpPr>
          <p:cNvPr id="90140" name="Text Box 28">
            <a:extLst>
              <a:ext uri="{C183D7F6-B498-43B3-948B-1728B52AA6E4}">
                <adec:decorative xmlns:adec="http://schemas.microsoft.com/office/drawing/2017/decorative" val="1"/>
              </a:ext>
            </a:extLst>
          </p:cNvPr>
          <p:cNvSpPr txBox="1">
            <a:spLocks noChangeArrowheads="1"/>
          </p:cNvSpPr>
          <p:nvPr/>
        </p:nvSpPr>
        <p:spPr bwMode="auto">
          <a:xfrm>
            <a:off x="6172200" y="1562100"/>
            <a:ext cx="1066800" cy="495300"/>
          </a:xfrm>
          <a:prstGeom prst="rect">
            <a:avLst/>
          </a:prstGeom>
          <a:solidFill>
            <a:schemeClr val="bg1">
              <a:alpha val="0"/>
            </a:schemeClr>
          </a:solidFill>
          <a:ln w="38100">
            <a:solidFill>
              <a:srgbClr val="808000"/>
            </a:solidFill>
            <a:miter lim="800000"/>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pPr>
              <a:spcBef>
                <a:spcPct val="50000"/>
              </a:spcBef>
            </a:pPr>
            <a:endParaRPr lang="en-US"/>
          </a:p>
        </p:txBody>
      </p:sp>
      <p:sp>
        <p:nvSpPr>
          <p:cNvPr id="90141" name="Text Box 29">
            <a:extLst>
              <a:ext uri="{C183D7F6-B498-43B3-948B-1728B52AA6E4}">
                <adec:decorative xmlns:adec="http://schemas.microsoft.com/office/drawing/2017/decorative" val="1"/>
              </a:ext>
            </a:extLst>
          </p:cNvPr>
          <p:cNvSpPr txBox="1">
            <a:spLocks noChangeArrowheads="1"/>
          </p:cNvSpPr>
          <p:nvPr/>
        </p:nvSpPr>
        <p:spPr bwMode="auto">
          <a:xfrm>
            <a:off x="5410200" y="2095500"/>
            <a:ext cx="1066800" cy="495300"/>
          </a:xfrm>
          <a:prstGeom prst="rect">
            <a:avLst/>
          </a:prstGeom>
          <a:solidFill>
            <a:schemeClr val="bg1">
              <a:alpha val="0"/>
            </a:schemeClr>
          </a:solidFill>
          <a:ln w="38100">
            <a:solidFill>
              <a:srgbClr val="808000"/>
            </a:solidFill>
            <a:miter lim="800000"/>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pPr>
              <a:spcBef>
                <a:spcPct val="50000"/>
              </a:spcBef>
            </a:pPr>
            <a:endParaRPr lang="en-US"/>
          </a:p>
        </p:txBody>
      </p:sp>
      <p:sp>
        <p:nvSpPr>
          <p:cNvPr id="90142" name="Text Box 30">
            <a:extLst>
              <a:ext uri="{C183D7F6-B498-43B3-948B-1728B52AA6E4}">
                <adec:decorative xmlns:adec="http://schemas.microsoft.com/office/drawing/2017/decorative" val="1"/>
              </a:ext>
            </a:extLst>
          </p:cNvPr>
          <p:cNvSpPr txBox="1">
            <a:spLocks noChangeArrowheads="1"/>
          </p:cNvSpPr>
          <p:nvPr/>
        </p:nvSpPr>
        <p:spPr bwMode="auto">
          <a:xfrm>
            <a:off x="4648200" y="2628900"/>
            <a:ext cx="1066800" cy="495300"/>
          </a:xfrm>
          <a:prstGeom prst="rect">
            <a:avLst/>
          </a:prstGeom>
          <a:solidFill>
            <a:schemeClr val="bg1">
              <a:alpha val="0"/>
            </a:schemeClr>
          </a:solidFill>
          <a:ln w="38100">
            <a:solidFill>
              <a:srgbClr val="808000"/>
            </a:solidFill>
            <a:miter lim="800000"/>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pPr>
              <a:spcBef>
                <a:spcPct val="50000"/>
              </a:spcBef>
            </a:pPr>
            <a:endParaRPr lang="en-US"/>
          </a:p>
        </p:txBody>
      </p:sp>
      <p:pic>
        <p:nvPicPr>
          <p:cNvPr id="90148" name="Picture 36"/>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819400" y="2057400"/>
            <a:ext cx="1117600" cy="546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90149" name="Picture 37"/>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352800" y="2590800"/>
            <a:ext cx="1117600" cy="546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90150" name="Picture 38">
            <a:extLst>
              <a:ext uri="{C183D7F6-B498-43B3-948B-1728B52AA6E4}">
                <adec:decorative xmlns:adec="http://schemas.microsoft.com/office/drawing/2017/decorative" val="1"/>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981200" y="1511300"/>
            <a:ext cx="1117600" cy="546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90151" name="Picture 39">
            <a:extLst>
              <a:ext uri="{C183D7F6-B498-43B3-948B-1728B52AA6E4}">
                <adec:decorative xmlns:adec="http://schemas.microsoft.com/office/drawing/2017/decorative" val="1"/>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114800" y="990600"/>
            <a:ext cx="1117600" cy="546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90152" name="Picture 40">
            <a:extLst>
              <a:ext uri="{C183D7F6-B498-43B3-948B-1728B52AA6E4}">
                <adec:decorative xmlns:adec="http://schemas.microsoft.com/office/drawing/2017/decorative" val="1"/>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172200" y="1524000"/>
            <a:ext cx="1117600" cy="546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90153" name="Picture 41"/>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10200" y="2057400"/>
            <a:ext cx="1117600" cy="546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90154" name="Picture 42"/>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648200" y="2590800"/>
            <a:ext cx="1117600" cy="546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3" name="TextBox 2">
            <a:extLst>
              <a:ext uri="{FF2B5EF4-FFF2-40B4-BE49-F238E27FC236}">
                <a16:creationId xmlns:a16="http://schemas.microsoft.com/office/drawing/2014/main" id="{0EC2C0C5-3BB0-1937-3FB3-C837E4DFE2F3}"/>
              </a:ext>
            </a:extLst>
          </p:cNvPr>
          <p:cNvSpPr txBox="1"/>
          <p:nvPr/>
        </p:nvSpPr>
        <p:spPr>
          <a:xfrm>
            <a:off x="632222" y="4813300"/>
            <a:ext cx="8031956" cy="1200329"/>
          </a:xfrm>
          <a:prstGeom prst="rect">
            <a:avLst/>
          </a:prstGeom>
          <a:noFill/>
        </p:spPr>
        <p:txBody>
          <a:bodyPr wrap="square">
            <a:spAutoFit/>
          </a:bodyPr>
          <a:lstStyle/>
          <a:p>
            <a:pPr>
              <a:tabLst>
                <a:tab pos="1655763" algn="l"/>
              </a:tabLst>
            </a:pPr>
            <a:r>
              <a:rPr lang="en-US" sz="2400" b="1" dirty="0"/>
              <a:t>Diameter =  the number of edges on the longest path between two nodes in the tree (does not have to go through the root!)</a:t>
            </a:r>
          </a:p>
        </p:txBody>
      </p:sp>
      <p:sp>
        <p:nvSpPr>
          <p:cNvPr id="2" name="TextBox 1">
            <a:extLst>
              <a:ext uri="{FF2B5EF4-FFF2-40B4-BE49-F238E27FC236}">
                <a16:creationId xmlns:a16="http://schemas.microsoft.com/office/drawing/2014/main" id="{0F8DE7CA-814E-7A2E-6561-E367DCF3A486}"/>
              </a:ext>
            </a:extLst>
          </p:cNvPr>
          <p:cNvSpPr txBox="1"/>
          <p:nvPr/>
        </p:nvSpPr>
        <p:spPr>
          <a:xfrm>
            <a:off x="3145066" y="109746"/>
            <a:ext cx="2808782" cy="769441"/>
          </a:xfrm>
          <a:prstGeom prst="rect">
            <a:avLst/>
          </a:prstGeom>
          <a:noFill/>
        </p:spPr>
        <p:txBody>
          <a:bodyPr wrap="none" rtlCol="0">
            <a:spAutoFit/>
          </a:bodyPr>
          <a:lstStyle/>
          <a:p>
            <a:r>
              <a:rPr lang="en-US" sz="4400" b="1" dirty="0">
                <a:solidFill>
                  <a:srgbClr val="0000CC"/>
                </a:solidFill>
              </a:rPr>
              <a:t>Diameter</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8" presetClass="entr" presetSubtype="16" fill="hold" grpId="0" nodeType="clickEffect">
                                  <p:stCondLst>
                                    <p:cond delay="0"/>
                                  </p:stCondLst>
                                  <p:childTnLst>
                                    <p:set>
                                      <p:cBhvr>
                                        <p:cTn id="6" dur="1" fill="hold">
                                          <p:stCondLst>
                                            <p:cond delay="0"/>
                                          </p:stCondLst>
                                        </p:cTn>
                                        <p:tgtEl>
                                          <p:spTgt spid="90136"/>
                                        </p:tgtEl>
                                        <p:attrNameLst>
                                          <p:attrName>style.visibility</p:attrName>
                                        </p:attrNameLst>
                                      </p:cBhvr>
                                      <p:to>
                                        <p:strVal val="visible"/>
                                      </p:to>
                                    </p:set>
                                    <p:animEffect transition="in" filter="diamond(in)">
                                      <p:cBhvr>
                                        <p:cTn id="7" dur="2000"/>
                                        <p:tgtEl>
                                          <p:spTgt spid="90136"/>
                                        </p:tgtEl>
                                      </p:cBhvr>
                                    </p:animEffect>
                                  </p:childTnLst>
                                </p:cTn>
                              </p:par>
                              <p:par>
                                <p:cTn id="8" presetID="8" presetClass="entr" presetSubtype="16" fill="hold" grpId="0" nodeType="withEffect">
                                  <p:stCondLst>
                                    <p:cond delay="0"/>
                                  </p:stCondLst>
                                  <p:childTnLst>
                                    <p:set>
                                      <p:cBhvr>
                                        <p:cTn id="9" dur="1" fill="hold">
                                          <p:stCondLst>
                                            <p:cond delay="0"/>
                                          </p:stCondLst>
                                        </p:cTn>
                                        <p:tgtEl>
                                          <p:spTgt spid="90137"/>
                                        </p:tgtEl>
                                        <p:attrNameLst>
                                          <p:attrName>style.visibility</p:attrName>
                                        </p:attrNameLst>
                                      </p:cBhvr>
                                      <p:to>
                                        <p:strVal val="visible"/>
                                      </p:to>
                                    </p:set>
                                    <p:animEffect transition="in" filter="diamond(in)">
                                      <p:cBhvr>
                                        <p:cTn id="10" dur="2000"/>
                                        <p:tgtEl>
                                          <p:spTgt spid="90137"/>
                                        </p:tgtEl>
                                      </p:cBhvr>
                                    </p:animEffect>
                                  </p:childTnLst>
                                </p:cTn>
                              </p:par>
                              <p:par>
                                <p:cTn id="11" presetID="8" presetClass="entr" presetSubtype="16" fill="hold" grpId="0" nodeType="withEffect">
                                  <p:stCondLst>
                                    <p:cond delay="0"/>
                                  </p:stCondLst>
                                  <p:childTnLst>
                                    <p:set>
                                      <p:cBhvr>
                                        <p:cTn id="12" dur="1" fill="hold">
                                          <p:stCondLst>
                                            <p:cond delay="0"/>
                                          </p:stCondLst>
                                        </p:cTn>
                                        <p:tgtEl>
                                          <p:spTgt spid="90138"/>
                                        </p:tgtEl>
                                        <p:attrNameLst>
                                          <p:attrName>style.visibility</p:attrName>
                                        </p:attrNameLst>
                                      </p:cBhvr>
                                      <p:to>
                                        <p:strVal val="visible"/>
                                      </p:to>
                                    </p:set>
                                    <p:animEffect transition="in" filter="diamond(in)">
                                      <p:cBhvr>
                                        <p:cTn id="13" dur="2000"/>
                                        <p:tgtEl>
                                          <p:spTgt spid="90138"/>
                                        </p:tgtEl>
                                      </p:cBhvr>
                                    </p:animEffect>
                                  </p:childTnLst>
                                </p:cTn>
                              </p:par>
                              <p:par>
                                <p:cTn id="14" presetID="8" presetClass="entr" presetSubtype="16" fill="hold" grpId="0" nodeType="withEffect">
                                  <p:stCondLst>
                                    <p:cond delay="0"/>
                                  </p:stCondLst>
                                  <p:childTnLst>
                                    <p:set>
                                      <p:cBhvr>
                                        <p:cTn id="15" dur="1" fill="hold">
                                          <p:stCondLst>
                                            <p:cond delay="0"/>
                                          </p:stCondLst>
                                        </p:cTn>
                                        <p:tgtEl>
                                          <p:spTgt spid="90139"/>
                                        </p:tgtEl>
                                        <p:attrNameLst>
                                          <p:attrName>style.visibility</p:attrName>
                                        </p:attrNameLst>
                                      </p:cBhvr>
                                      <p:to>
                                        <p:strVal val="visible"/>
                                      </p:to>
                                    </p:set>
                                    <p:animEffect transition="in" filter="diamond(in)">
                                      <p:cBhvr>
                                        <p:cTn id="16" dur="2000"/>
                                        <p:tgtEl>
                                          <p:spTgt spid="90139"/>
                                        </p:tgtEl>
                                      </p:cBhvr>
                                    </p:animEffect>
                                  </p:childTnLst>
                                </p:cTn>
                              </p:par>
                              <p:par>
                                <p:cTn id="17" presetID="8" presetClass="entr" presetSubtype="16" fill="hold" grpId="0" nodeType="withEffect">
                                  <p:stCondLst>
                                    <p:cond delay="0"/>
                                  </p:stCondLst>
                                  <p:childTnLst>
                                    <p:set>
                                      <p:cBhvr>
                                        <p:cTn id="18" dur="1" fill="hold">
                                          <p:stCondLst>
                                            <p:cond delay="0"/>
                                          </p:stCondLst>
                                        </p:cTn>
                                        <p:tgtEl>
                                          <p:spTgt spid="90140"/>
                                        </p:tgtEl>
                                        <p:attrNameLst>
                                          <p:attrName>style.visibility</p:attrName>
                                        </p:attrNameLst>
                                      </p:cBhvr>
                                      <p:to>
                                        <p:strVal val="visible"/>
                                      </p:to>
                                    </p:set>
                                    <p:animEffect transition="in" filter="diamond(in)">
                                      <p:cBhvr>
                                        <p:cTn id="19" dur="2000"/>
                                        <p:tgtEl>
                                          <p:spTgt spid="90140"/>
                                        </p:tgtEl>
                                      </p:cBhvr>
                                    </p:animEffect>
                                  </p:childTnLst>
                                </p:cTn>
                              </p:par>
                              <p:par>
                                <p:cTn id="20" presetID="8" presetClass="entr" presetSubtype="16" fill="hold" grpId="0" nodeType="withEffect">
                                  <p:stCondLst>
                                    <p:cond delay="0"/>
                                  </p:stCondLst>
                                  <p:childTnLst>
                                    <p:set>
                                      <p:cBhvr>
                                        <p:cTn id="21" dur="1" fill="hold">
                                          <p:stCondLst>
                                            <p:cond delay="0"/>
                                          </p:stCondLst>
                                        </p:cTn>
                                        <p:tgtEl>
                                          <p:spTgt spid="90141"/>
                                        </p:tgtEl>
                                        <p:attrNameLst>
                                          <p:attrName>style.visibility</p:attrName>
                                        </p:attrNameLst>
                                      </p:cBhvr>
                                      <p:to>
                                        <p:strVal val="visible"/>
                                      </p:to>
                                    </p:set>
                                    <p:animEffect transition="in" filter="diamond(in)">
                                      <p:cBhvr>
                                        <p:cTn id="22" dur="2000"/>
                                        <p:tgtEl>
                                          <p:spTgt spid="90141"/>
                                        </p:tgtEl>
                                      </p:cBhvr>
                                    </p:animEffect>
                                  </p:childTnLst>
                                </p:cTn>
                              </p:par>
                              <p:par>
                                <p:cTn id="23" presetID="8" presetClass="entr" presetSubtype="16" fill="hold" grpId="0" nodeType="withEffect">
                                  <p:stCondLst>
                                    <p:cond delay="0"/>
                                  </p:stCondLst>
                                  <p:childTnLst>
                                    <p:set>
                                      <p:cBhvr>
                                        <p:cTn id="24" dur="1" fill="hold">
                                          <p:stCondLst>
                                            <p:cond delay="0"/>
                                          </p:stCondLst>
                                        </p:cTn>
                                        <p:tgtEl>
                                          <p:spTgt spid="90142"/>
                                        </p:tgtEl>
                                        <p:attrNameLst>
                                          <p:attrName>style.visibility</p:attrName>
                                        </p:attrNameLst>
                                      </p:cBhvr>
                                      <p:to>
                                        <p:strVal val="visible"/>
                                      </p:to>
                                    </p:set>
                                    <p:animEffect transition="in" filter="diamond(in)">
                                      <p:cBhvr>
                                        <p:cTn id="25" dur="2000"/>
                                        <p:tgtEl>
                                          <p:spTgt spid="90142"/>
                                        </p:tgtEl>
                                      </p:cBhvr>
                                    </p:animEffect>
                                  </p:childTnLst>
                                </p:cTn>
                              </p:par>
                            </p:childTnLst>
                          </p:cTn>
                        </p:par>
                      </p:childTnLst>
                    </p:cTn>
                  </p:par>
                  <p:par>
                    <p:cTn id="26" fill="hold" nodeType="clickPar">
                      <p:stCondLst>
                        <p:cond delay="indefinite"/>
                      </p:stCondLst>
                      <p:childTnLst>
                        <p:par>
                          <p:cTn id="27" fill="hold" nodeType="withGroup">
                            <p:stCondLst>
                              <p:cond delay="0"/>
                            </p:stCondLst>
                            <p:childTnLst>
                              <p:par>
                                <p:cTn id="28" presetID="8" presetClass="exit" presetSubtype="16" fill="hold" grpId="1" nodeType="clickEffect">
                                  <p:stCondLst>
                                    <p:cond delay="0"/>
                                  </p:stCondLst>
                                  <p:childTnLst>
                                    <p:animEffect transition="out" filter="diamond(in)">
                                      <p:cBhvr>
                                        <p:cTn id="29" dur="2000"/>
                                        <p:tgtEl>
                                          <p:spTgt spid="90136"/>
                                        </p:tgtEl>
                                      </p:cBhvr>
                                    </p:animEffect>
                                    <p:set>
                                      <p:cBhvr>
                                        <p:cTn id="30" dur="1" fill="hold">
                                          <p:stCondLst>
                                            <p:cond delay="1999"/>
                                          </p:stCondLst>
                                        </p:cTn>
                                        <p:tgtEl>
                                          <p:spTgt spid="90136"/>
                                        </p:tgtEl>
                                        <p:attrNameLst>
                                          <p:attrName>style.visibility</p:attrName>
                                        </p:attrNameLst>
                                      </p:cBhvr>
                                      <p:to>
                                        <p:strVal val="hidden"/>
                                      </p:to>
                                    </p:set>
                                  </p:childTnLst>
                                </p:cTn>
                              </p:par>
                              <p:par>
                                <p:cTn id="31" presetID="8" presetClass="exit" presetSubtype="16" fill="hold" grpId="1" nodeType="withEffect">
                                  <p:stCondLst>
                                    <p:cond delay="0"/>
                                  </p:stCondLst>
                                  <p:childTnLst>
                                    <p:animEffect transition="out" filter="diamond(in)">
                                      <p:cBhvr>
                                        <p:cTn id="32" dur="2000"/>
                                        <p:tgtEl>
                                          <p:spTgt spid="90137"/>
                                        </p:tgtEl>
                                      </p:cBhvr>
                                    </p:animEffect>
                                    <p:set>
                                      <p:cBhvr>
                                        <p:cTn id="33" dur="1" fill="hold">
                                          <p:stCondLst>
                                            <p:cond delay="1999"/>
                                          </p:stCondLst>
                                        </p:cTn>
                                        <p:tgtEl>
                                          <p:spTgt spid="90137"/>
                                        </p:tgtEl>
                                        <p:attrNameLst>
                                          <p:attrName>style.visibility</p:attrName>
                                        </p:attrNameLst>
                                      </p:cBhvr>
                                      <p:to>
                                        <p:strVal val="hidden"/>
                                      </p:to>
                                    </p:set>
                                  </p:childTnLst>
                                </p:cTn>
                              </p:par>
                              <p:par>
                                <p:cTn id="34" presetID="8" presetClass="exit" presetSubtype="16" fill="hold" grpId="1" nodeType="withEffect">
                                  <p:stCondLst>
                                    <p:cond delay="0"/>
                                  </p:stCondLst>
                                  <p:childTnLst>
                                    <p:animEffect transition="out" filter="diamond(in)">
                                      <p:cBhvr>
                                        <p:cTn id="35" dur="2000"/>
                                        <p:tgtEl>
                                          <p:spTgt spid="90138"/>
                                        </p:tgtEl>
                                      </p:cBhvr>
                                    </p:animEffect>
                                    <p:set>
                                      <p:cBhvr>
                                        <p:cTn id="36" dur="1" fill="hold">
                                          <p:stCondLst>
                                            <p:cond delay="1999"/>
                                          </p:stCondLst>
                                        </p:cTn>
                                        <p:tgtEl>
                                          <p:spTgt spid="90138"/>
                                        </p:tgtEl>
                                        <p:attrNameLst>
                                          <p:attrName>style.visibility</p:attrName>
                                        </p:attrNameLst>
                                      </p:cBhvr>
                                      <p:to>
                                        <p:strVal val="hidden"/>
                                      </p:to>
                                    </p:set>
                                  </p:childTnLst>
                                </p:cTn>
                              </p:par>
                              <p:par>
                                <p:cTn id="37" presetID="8" presetClass="exit" presetSubtype="16" fill="hold" grpId="1" nodeType="withEffect">
                                  <p:stCondLst>
                                    <p:cond delay="0"/>
                                  </p:stCondLst>
                                  <p:childTnLst>
                                    <p:animEffect transition="out" filter="diamond(in)">
                                      <p:cBhvr>
                                        <p:cTn id="38" dur="2000"/>
                                        <p:tgtEl>
                                          <p:spTgt spid="90139"/>
                                        </p:tgtEl>
                                      </p:cBhvr>
                                    </p:animEffect>
                                    <p:set>
                                      <p:cBhvr>
                                        <p:cTn id="39" dur="1" fill="hold">
                                          <p:stCondLst>
                                            <p:cond delay="1999"/>
                                          </p:stCondLst>
                                        </p:cTn>
                                        <p:tgtEl>
                                          <p:spTgt spid="90139"/>
                                        </p:tgtEl>
                                        <p:attrNameLst>
                                          <p:attrName>style.visibility</p:attrName>
                                        </p:attrNameLst>
                                      </p:cBhvr>
                                      <p:to>
                                        <p:strVal val="hidden"/>
                                      </p:to>
                                    </p:set>
                                  </p:childTnLst>
                                </p:cTn>
                              </p:par>
                              <p:par>
                                <p:cTn id="40" presetID="8" presetClass="exit" presetSubtype="16" fill="hold" grpId="1" nodeType="withEffect">
                                  <p:stCondLst>
                                    <p:cond delay="0"/>
                                  </p:stCondLst>
                                  <p:childTnLst>
                                    <p:animEffect transition="out" filter="diamond(in)">
                                      <p:cBhvr>
                                        <p:cTn id="41" dur="2000"/>
                                        <p:tgtEl>
                                          <p:spTgt spid="90140"/>
                                        </p:tgtEl>
                                      </p:cBhvr>
                                    </p:animEffect>
                                    <p:set>
                                      <p:cBhvr>
                                        <p:cTn id="42" dur="1" fill="hold">
                                          <p:stCondLst>
                                            <p:cond delay="1999"/>
                                          </p:stCondLst>
                                        </p:cTn>
                                        <p:tgtEl>
                                          <p:spTgt spid="90140"/>
                                        </p:tgtEl>
                                        <p:attrNameLst>
                                          <p:attrName>style.visibility</p:attrName>
                                        </p:attrNameLst>
                                      </p:cBhvr>
                                      <p:to>
                                        <p:strVal val="hidden"/>
                                      </p:to>
                                    </p:set>
                                  </p:childTnLst>
                                </p:cTn>
                              </p:par>
                              <p:par>
                                <p:cTn id="43" presetID="8" presetClass="exit" presetSubtype="16" fill="hold" grpId="1" nodeType="withEffect">
                                  <p:stCondLst>
                                    <p:cond delay="0"/>
                                  </p:stCondLst>
                                  <p:childTnLst>
                                    <p:animEffect transition="out" filter="diamond(in)">
                                      <p:cBhvr>
                                        <p:cTn id="44" dur="2000"/>
                                        <p:tgtEl>
                                          <p:spTgt spid="90141"/>
                                        </p:tgtEl>
                                      </p:cBhvr>
                                    </p:animEffect>
                                    <p:set>
                                      <p:cBhvr>
                                        <p:cTn id="45" dur="1" fill="hold">
                                          <p:stCondLst>
                                            <p:cond delay="1999"/>
                                          </p:stCondLst>
                                        </p:cTn>
                                        <p:tgtEl>
                                          <p:spTgt spid="90141"/>
                                        </p:tgtEl>
                                        <p:attrNameLst>
                                          <p:attrName>style.visibility</p:attrName>
                                        </p:attrNameLst>
                                      </p:cBhvr>
                                      <p:to>
                                        <p:strVal val="hidden"/>
                                      </p:to>
                                    </p:set>
                                  </p:childTnLst>
                                </p:cTn>
                              </p:par>
                              <p:par>
                                <p:cTn id="46" presetID="8" presetClass="exit" presetSubtype="16" fill="hold" grpId="1" nodeType="withEffect">
                                  <p:stCondLst>
                                    <p:cond delay="0"/>
                                  </p:stCondLst>
                                  <p:childTnLst>
                                    <p:animEffect transition="out" filter="diamond(in)">
                                      <p:cBhvr>
                                        <p:cTn id="47" dur="2000"/>
                                        <p:tgtEl>
                                          <p:spTgt spid="90142"/>
                                        </p:tgtEl>
                                      </p:cBhvr>
                                    </p:animEffect>
                                    <p:set>
                                      <p:cBhvr>
                                        <p:cTn id="48" dur="1" fill="hold">
                                          <p:stCondLst>
                                            <p:cond delay="1999"/>
                                          </p:stCondLst>
                                        </p:cTn>
                                        <p:tgtEl>
                                          <p:spTgt spid="90142"/>
                                        </p:tgtEl>
                                        <p:attrNameLst>
                                          <p:attrName>style.visibility</p:attrName>
                                        </p:attrNameLst>
                                      </p:cBhvr>
                                      <p:to>
                                        <p:strVal val="hidden"/>
                                      </p:to>
                                    </p:set>
                                  </p:childTnLst>
                                </p:cTn>
                              </p:par>
                            </p:childTnLst>
                          </p:cTn>
                        </p:par>
                      </p:childTnLst>
                    </p:cTn>
                  </p:par>
                  <p:par>
                    <p:cTn id="49" fill="hold" nodeType="clickPar">
                      <p:stCondLst>
                        <p:cond delay="indefinite"/>
                      </p:stCondLst>
                      <p:childTnLst>
                        <p:par>
                          <p:cTn id="50" fill="hold" nodeType="withGroup">
                            <p:stCondLst>
                              <p:cond delay="0"/>
                            </p:stCondLst>
                            <p:childTnLst>
                              <p:par>
                                <p:cTn id="51" presetID="8" presetClass="entr" presetSubtype="16" fill="hold" nodeType="clickEffect">
                                  <p:stCondLst>
                                    <p:cond delay="0"/>
                                  </p:stCondLst>
                                  <p:childTnLst>
                                    <p:set>
                                      <p:cBhvr>
                                        <p:cTn id="52" dur="1" fill="hold">
                                          <p:stCondLst>
                                            <p:cond delay="0"/>
                                          </p:stCondLst>
                                        </p:cTn>
                                        <p:tgtEl>
                                          <p:spTgt spid="90149"/>
                                        </p:tgtEl>
                                        <p:attrNameLst>
                                          <p:attrName>style.visibility</p:attrName>
                                        </p:attrNameLst>
                                      </p:cBhvr>
                                      <p:to>
                                        <p:strVal val="visible"/>
                                      </p:to>
                                    </p:set>
                                    <p:animEffect transition="in" filter="diamond(in)">
                                      <p:cBhvr>
                                        <p:cTn id="53" dur="2000"/>
                                        <p:tgtEl>
                                          <p:spTgt spid="90149"/>
                                        </p:tgtEl>
                                      </p:cBhvr>
                                    </p:animEffect>
                                  </p:childTnLst>
                                </p:cTn>
                              </p:par>
                              <p:par>
                                <p:cTn id="54" presetID="8" presetClass="entr" presetSubtype="16" fill="hold" nodeType="withEffect">
                                  <p:stCondLst>
                                    <p:cond delay="0"/>
                                  </p:stCondLst>
                                  <p:childTnLst>
                                    <p:set>
                                      <p:cBhvr>
                                        <p:cTn id="55" dur="1" fill="hold">
                                          <p:stCondLst>
                                            <p:cond delay="0"/>
                                          </p:stCondLst>
                                        </p:cTn>
                                        <p:tgtEl>
                                          <p:spTgt spid="90150"/>
                                        </p:tgtEl>
                                        <p:attrNameLst>
                                          <p:attrName>style.visibility</p:attrName>
                                        </p:attrNameLst>
                                      </p:cBhvr>
                                      <p:to>
                                        <p:strVal val="visible"/>
                                      </p:to>
                                    </p:set>
                                    <p:animEffect transition="in" filter="diamond(in)">
                                      <p:cBhvr>
                                        <p:cTn id="56" dur="2000"/>
                                        <p:tgtEl>
                                          <p:spTgt spid="90150"/>
                                        </p:tgtEl>
                                      </p:cBhvr>
                                    </p:animEffect>
                                  </p:childTnLst>
                                </p:cTn>
                              </p:par>
                              <p:par>
                                <p:cTn id="57" presetID="8" presetClass="entr" presetSubtype="16" fill="hold" nodeType="withEffect">
                                  <p:stCondLst>
                                    <p:cond delay="0"/>
                                  </p:stCondLst>
                                  <p:childTnLst>
                                    <p:set>
                                      <p:cBhvr>
                                        <p:cTn id="58" dur="1" fill="hold">
                                          <p:stCondLst>
                                            <p:cond delay="0"/>
                                          </p:stCondLst>
                                        </p:cTn>
                                        <p:tgtEl>
                                          <p:spTgt spid="90148"/>
                                        </p:tgtEl>
                                        <p:attrNameLst>
                                          <p:attrName>style.visibility</p:attrName>
                                        </p:attrNameLst>
                                      </p:cBhvr>
                                      <p:to>
                                        <p:strVal val="visible"/>
                                      </p:to>
                                    </p:set>
                                    <p:animEffect transition="in" filter="diamond(in)">
                                      <p:cBhvr>
                                        <p:cTn id="59" dur="2000"/>
                                        <p:tgtEl>
                                          <p:spTgt spid="90148"/>
                                        </p:tgtEl>
                                      </p:cBhvr>
                                    </p:animEffect>
                                  </p:childTnLst>
                                </p:cTn>
                              </p:par>
                              <p:par>
                                <p:cTn id="60" presetID="8" presetClass="entr" presetSubtype="16" fill="hold" nodeType="withEffect">
                                  <p:stCondLst>
                                    <p:cond delay="0"/>
                                  </p:stCondLst>
                                  <p:childTnLst>
                                    <p:set>
                                      <p:cBhvr>
                                        <p:cTn id="61" dur="1" fill="hold">
                                          <p:stCondLst>
                                            <p:cond delay="0"/>
                                          </p:stCondLst>
                                        </p:cTn>
                                        <p:tgtEl>
                                          <p:spTgt spid="90151"/>
                                        </p:tgtEl>
                                        <p:attrNameLst>
                                          <p:attrName>style.visibility</p:attrName>
                                        </p:attrNameLst>
                                      </p:cBhvr>
                                      <p:to>
                                        <p:strVal val="visible"/>
                                      </p:to>
                                    </p:set>
                                    <p:animEffect transition="in" filter="diamond(in)">
                                      <p:cBhvr>
                                        <p:cTn id="62" dur="2000"/>
                                        <p:tgtEl>
                                          <p:spTgt spid="90151"/>
                                        </p:tgtEl>
                                      </p:cBhvr>
                                    </p:animEffect>
                                  </p:childTnLst>
                                </p:cTn>
                              </p:par>
                              <p:par>
                                <p:cTn id="63" presetID="8" presetClass="entr" presetSubtype="16" fill="hold" nodeType="withEffect">
                                  <p:stCondLst>
                                    <p:cond delay="0"/>
                                  </p:stCondLst>
                                  <p:childTnLst>
                                    <p:set>
                                      <p:cBhvr>
                                        <p:cTn id="64" dur="1" fill="hold">
                                          <p:stCondLst>
                                            <p:cond delay="0"/>
                                          </p:stCondLst>
                                        </p:cTn>
                                        <p:tgtEl>
                                          <p:spTgt spid="90152"/>
                                        </p:tgtEl>
                                        <p:attrNameLst>
                                          <p:attrName>style.visibility</p:attrName>
                                        </p:attrNameLst>
                                      </p:cBhvr>
                                      <p:to>
                                        <p:strVal val="visible"/>
                                      </p:to>
                                    </p:set>
                                    <p:animEffect transition="in" filter="diamond(in)">
                                      <p:cBhvr>
                                        <p:cTn id="65" dur="2000"/>
                                        <p:tgtEl>
                                          <p:spTgt spid="90152"/>
                                        </p:tgtEl>
                                      </p:cBhvr>
                                    </p:animEffect>
                                  </p:childTnLst>
                                </p:cTn>
                              </p:par>
                              <p:par>
                                <p:cTn id="66" presetID="8" presetClass="entr" presetSubtype="16" fill="hold" nodeType="withEffect">
                                  <p:stCondLst>
                                    <p:cond delay="0"/>
                                  </p:stCondLst>
                                  <p:childTnLst>
                                    <p:set>
                                      <p:cBhvr>
                                        <p:cTn id="67" dur="1" fill="hold">
                                          <p:stCondLst>
                                            <p:cond delay="0"/>
                                          </p:stCondLst>
                                        </p:cTn>
                                        <p:tgtEl>
                                          <p:spTgt spid="90153"/>
                                        </p:tgtEl>
                                        <p:attrNameLst>
                                          <p:attrName>style.visibility</p:attrName>
                                        </p:attrNameLst>
                                      </p:cBhvr>
                                      <p:to>
                                        <p:strVal val="visible"/>
                                      </p:to>
                                    </p:set>
                                    <p:animEffect transition="in" filter="diamond(in)">
                                      <p:cBhvr>
                                        <p:cTn id="68" dur="2000"/>
                                        <p:tgtEl>
                                          <p:spTgt spid="90153"/>
                                        </p:tgtEl>
                                      </p:cBhvr>
                                    </p:animEffect>
                                  </p:childTnLst>
                                </p:cTn>
                              </p:par>
                              <p:par>
                                <p:cTn id="69" presetID="8" presetClass="entr" presetSubtype="16" fill="hold" nodeType="withEffect">
                                  <p:stCondLst>
                                    <p:cond delay="0"/>
                                  </p:stCondLst>
                                  <p:childTnLst>
                                    <p:set>
                                      <p:cBhvr>
                                        <p:cTn id="70" dur="1" fill="hold">
                                          <p:stCondLst>
                                            <p:cond delay="0"/>
                                          </p:stCondLst>
                                        </p:cTn>
                                        <p:tgtEl>
                                          <p:spTgt spid="90154"/>
                                        </p:tgtEl>
                                        <p:attrNameLst>
                                          <p:attrName>style.visibility</p:attrName>
                                        </p:attrNameLst>
                                      </p:cBhvr>
                                      <p:to>
                                        <p:strVal val="visible"/>
                                      </p:to>
                                    </p:set>
                                    <p:animEffect transition="in" filter="diamond(in)">
                                      <p:cBhvr>
                                        <p:cTn id="71" dur="2000"/>
                                        <p:tgtEl>
                                          <p:spTgt spid="90154"/>
                                        </p:tgtEl>
                                      </p:cBhvr>
                                    </p:animEffect>
                                  </p:childTnLst>
                                </p:cTn>
                              </p:par>
                            </p:childTnLst>
                          </p:cTn>
                        </p:par>
                      </p:childTnLst>
                    </p:cTn>
                  </p:par>
                  <p:par>
                    <p:cTn id="72" fill="hold" nodeType="clickPar">
                      <p:stCondLst>
                        <p:cond delay="indefinite"/>
                      </p:stCondLst>
                      <p:childTnLst>
                        <p:par>
                          <p:cTn id="73" fill="hold" nodeType="withGroup">
                            <p:stCondLst>
                              <p:cond delay="0"/>
                            </p:stCondLst>
                            <p:childTnLst>
                              <p:par>
                                <p:cTn id="74" presetID="8" presetClass="exit" presetSubtype="16" fill="hold" nodeType="clickEffect">
                                  <p:stCondLst>
                                    <p:cond delay="0"/>
                                  </p:stCondLst>
                                  <p:childTnLst>
                                    <p:animEffect transition="out" filter="diamond(in)">
                                      <p:cBhvr>
                                        <p:cTn id="75" dur="2000"/>
                                        <p:tgtEl>
                                          <p:spTgt spid="90149"/>
                                        </p:tgtEl>
                                      </p:cBhvr>
                                    </p:animEffect>
                                    <p:set>
                                      <p:cBhvr>
                                        <p:cTn id="76" dur="1" fill="hold">
                                          <p:stCondLst>
                                            <p:cond delay="1999"/>
                                          </p:stCondLst>
                                        </p:cTn>
                                        <p:tgtEl>
                                          <p:spTgt spid="90149"/>
                                        </p:tgtEl>
                                        <p:attrNameLst>
                                          <p:attrName>style.visibility</p:attrName>
                                        </p:attrNameLst>
                                      </p:cBhvr>
                                      <p:to>
                                        <p:strVal val="hidden"/>
                                      </p:to>
                                    </p:set>
                                  </p:childTnLst>
                                </p:cTn>
                              </p:par>
                              <p:par>
                                <p:cTn id="77" presetID="8" presetClass="exit" presetSubtype="16" fill="hold" nodeType="withEffect">
                                  <p:stCondLst>
                                    <p:cond delay="0"/>
                                  </p:stCondLst>
                                  <p:childTnLst>
                                    <p:animEffect transition="out" filter="diamond(in)">
                                      <p:cBhvr>
                                        <p:cTn id="78" dur="2000"/>
                                        <p:tgtEl>
                                          <p:spTgt spid="90150"/>
                                        </p:tgtEl>
                                      </p:cBhvr>
                                    </p:animEffect>
                                    <p:set>
                                      <p:cBhvr>
                                        <p:cTn id="79" dur="1" fill="hold">
                                          <p:stCondLst>
                                            <p:cond delay="1999"/>
                                          </p:stCondLst>
                                        </p:cTn>
                                        <p:tgtEl>
                                          <p:spTgt spid="90150"/>
                                        </p:tgtEl>
                                        <p:attrNameLst>
                                          <p:attrName>style.visibility</p:attrName>
                                        </p:attrNameLst>
                                      </p:cBhvr>
                                      <p:to>
                                        <p:strVal val="hidden"/>
                                      </p:to>
                                    </p:set>
                                  </p:childTnLst>
                                </p:cTn>
                              </p:par>
                              <p:par>
                                <p:cTn id="80" presetID="8" presetClass="exit" presetSubtype="16" fill="hold" nodeType="withEffect">
                                  <p:stCondLst>
                                    <p:cond delay="0"/>
                                  </p:stCondLst>
                                  <p:childTnLst>
                                    <p:animEffect transition="out" filter="diamond(in)">
                                      <p:cBhvr>
                                        <p:cTn id="81" dur="2000"/>
                                        <p:tgtEl>
                                          <p:spTgt spid="90148"/>
                                        </p:tgtEl>
                                      </p:cBhvr>
                                    </p:animEffect>
                                    <p:set>
                                      <p:cBhvr>
                                        <p:cTn id="82" dur="1" fill="hold">
                                          <p:stCondLst>
                                            <p:cond delay="1999"/>
                                          </p:stCondLst>
                                        </p:cTn>
                                        <p:tgtEl>
                                          <p:spTgt spid="90148"/>
                                        </p:tgtEl>
                                        <p:attrNameLst>
                                          <p:attrName>style.visibility</p:attrName>
                                        </p:attrNameLst>
                                      </p:cBhvr>
                                      <p:to>
                                        <p:strVal val="hidden"/>
                                      </p:to>
                                    </p:set>
                                  </p:childTnLst>
                                </p:cTn>
                              </p:par>
                              <p:par>
                                <p:cTn id="83" presetID="8" presetClass="exit" presetSubtype="16" fill="hold" nodeType="withEffect">
                                  <p:stCondLst>
                                    <p:cond delay="0"/>
                                  </p:stCondLst>
                                  <p:childTnLst>
                                    <p:animEffect transition="out" filter="diamond(in)">
                                      <p:cBhvr>
                                        <p:cTn id="84" dur="2000"/>
                                        <p:tgtEl>
                                          <p:spTgt spid="90151"/>
                                        </p:tgtEl>
                                      </p:cBhvr>
                                    </p:animEffect>
                                    <p:set>
                                      <p:cBhvr>
                                        <p:cTn id="85" dur="1" fill="hold">
                                          <p:stCondLst>
                                            <p:cond delay="1999"/>
                                          </p:stCondLst>
                                        </p:cTn>
                                        <p:tgtEl>
                                          <p:spTgt spid="90151"/>
                                        </p:tgtEl>
                                        <p:attrNameLst>
                                          <p:attrName>style.visibility</p:attrName>
                                        </p:attrNameLst>
                                      </p:cBhvr>
                                      <p:to>
                                        <p:strVal val="hidden"/>
                                      </p:to>
                                    </p:set>
                                  </p:childTnLst>
                                </p:cTn>
                              </p:par>
                              <p:par>
                                <p:cTn id="86" presetID="8" presetClass="exit" presetSubtype="16" fill="hold" nodeType="withEffect">
                                  <p:stCondLst>
                                    <p:cond delay="0"/>
                                  </p:stCondLst>
                                  <p:childTnLst>
                                    <p:animEffect transition="out" filter="diamond(in)">
                                      <p:cBhvr>
                                        <p:cTn id="87" dur="2000"/>
                                        <p:tgtEl>
                                          <p:spTgt spid="90152"/>
                                        </p:tgtEl>
                                      </p:cBhvr>
                                    </p:animEffect>
                                    <p:set>
                                      <p:cBhvr>
                                        <p:cTn id="88" dur="1" fill="hold">
                                          <p:stCondLst>
                                            <p:cond delay="1999"/>
                                          </p:stCondLst>
                                        </p:cTn>
                                        <p:tgtEl>
                                          <p:spTgt spid="90152"/>
                                        </p:tgtEl>
                                        <p:attrNameLst>
                                          <p:attrName>style.visibility</p:attrName>
                                        </p:attrNameLst>
                                      </p:cBhvr>
                                      <p:to>
                                        <p:strVal val="hidden"/>
                                      </p:to>
                                    </p:set>
                                  </p:childTnLst>
                                </p:cTn>
                              </p:par>
                              <p:par>
                                <p:cTn id="89" presetID="8" presetClass="exit" presetSubtype="16" fill="hold" nodeType="withEffect">
                                  <p:stCondLst>
                                    <p:cond delay="0"/>
                                  </p:stCondLst>
                                  <p:childTnLst>
                                    <p:animEffect transition="out" filter="diamond(in)">
                                      <p:cBhvr>
                                        <p:cTn id="90" dur="2000"/>
                                        <p:tgtEl>
                                          <p:spTgt spid="90153"/>
                                        </p:tgtEl>
                                      </p:cBhvr>
                                    </p:animEffect>
                                    <p:set>
                                      <p:cBhvr>
                                        <p:cTn id="91" dur="1" fill="hold">
                                          <p:stCondLst>
                                            <p:cond delay="1999"/>
                                          </p:stCondLst>
                                        </p:cTn>
                                        <p:tgtEl>
                                          <p:spTgt spid="90153"/>
                                        </p:tgtEl>
                                        <p:attrNameLst>
                                          <p:attrName>style.visibility</p:attrName>
                                        </p:attrNameLst>
                                      </p:cBhvr>
                                      <p:to>
                                        <p:strVal val="hidden"/>
                                      </p:to>
                                    </p:set>
                                  </p:childTnLst>
                                </p:cTn>
                              </p:par>
                              <p:par>
                                <p:cTn id="92" presetID="8" presetClass="exit" presetSubtype="16" fill="hold" nodeType="withEffect">
                                  <p:stCondLst>
                                    <p:cond delay="0"/>
                                  </p:stCondLst>
                                  <p:childTnLst>
                                    <p:animEffect transition="out" filter="diamond(in)">
                                      <p:cBhvr>
                                        <p:cTn id="93" dur="2000"/>
                                        <p:tgtEl>
                                          <p:spTgt spid="90154"/>
                                        </p:tgtEl>
                                      </p:cBhvr>
                                    </p:animEffect>
                                    <p:set>
                                      <p:cBhvr>
                                        <p:cTn id="94" dur="1" fill="hold">
                                          <p:stCondLst>
                                            <p:cond delay="1999"/>
                                          </p:stCondLst>
                                        </p:cTn>
                                        <p:tgtEl>
                                          <p:spTgt spid="90154"/>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0136" grpId="0" animBg="1"/>
      <p:bldP spid="90136" grpId="1" animBg="1"/>
      <p:bldP spid="90137" grpId="0" animBg="1"/>
      <p:bldP spid="90137" grpId="1" animBg="1"/>
      <p:bldP spid="90138" grpId="0" animBg="1"/>
      <p:bldP spid="90138" grpId="1" animBg="1"/>
      <p:bldP spid="90139" grpId="0" animBg="1"/>
      <p:bldP spid="90139" grpId="1" animBg="1"/>
      <p:bldP spid="90140" grpId="0" animBg="1"/>
      <p:bldP spid="90140" grpId="1" animBg="1"/>
      <p:bldP spid="90141" grpId="0" animBg="1"/>
      <p:bldP spid="90141" grpId="1" animBg="1"/>
      <p:bldP spid="90142" grpId="0" animBg="1"/>
      <p:bldP spid="90142" grpId="1" animBg="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058" name="Footer Placeholder 3"/>
          <p:cNvSpPr>
            <a:spLocks noGrp="1"/>
          </p:cNvSpPr>
          <p:nvPr>
            <p:ph type="ftr" sz="quarter" idx="12"/>
          </p:nvPr>
        </p:nvSpPr>
        <p:spPr>
          <a:noFill/>
        </p:spPr>
        <p:txBody>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endParaRPr lang="en-US" sz="800" b="1">
              <a:latin typeface="Times New Roman" pitchFamily="18" charset="0"/>
            </a:endParaRPr>
          </a:p>
          <a:p>
            <a:endParaRPr lang="en-US" sz="800"/>
          </a:p>
          <a:p>
            <a:endParaRPr lang="en-US" sz="800" b="1"/>
          </a:p>
          <a:p>
            <a:r>
              <a:rPr lang="en-US" sz="800" b="1"/>
              <a:t>© A+ Computer Science  -  www.apluscompsci.com</a:t>
            </a:r>
          </a:p>
        </p:txBody>
      </p:sp>
      <p:sp>
        <p:nvSpPr>
          <p:cNvPr id="45059" name="Text Box 2"/>
          <p:cNvSpPr txBox="1">
            <a:spLocks noChangeArrowheads="1"/>
          </p:cNvSpPr>
          <p:nvPr/>
        </p:nvSpPr>
        <p:spPr bwMode="auto">
          <a:xfrm>
            <a:off x="2938463" y="4889212"/>
            <a:ext cx="3276600" cy="584775"/>
          </a:xfrm>
          <a:prstGeom prst="rect">
            <a:avLst/>
          </a:prstGeom>
          <a:noFill/>
          <a:ln w="12700">
            <a:solidFill>
              <a:srgbClr val="0000FF"/>
            </a:solidFill>
            <a:miter lim="800000"/>
            <a:headEnd type="none" w="sm" len="sm"/>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r>
              <a:rPr lang="en-US" sz="3200" b="1" dirty="0">
                <a:solidFill>
                  <a:schemeClr val="accent2"/>
                </a:solidFill>
              </a:rPr>
              <a:t>Diameter </a:t>
            </a:r>
            <a:r>
              <a:rPr lang="en-US" sz="3200" b="1">
                <a:solidFill>
                  <a:schemeClr val="accent2"/>
                </a:solidFill>
              </a:rPr>
              <a:t>=  4</a:t>
            </a:r>
            <a:endParaRPr lang="en-US" sz="3200" b="1" dirty="0">
              <a:solidFill>
                <a:schemeClr val="accent2"/>
              </a:solidFill>
            </a:endParaRPr>
          </a:p>
        </p:txBody>
      </p:sp>
      <p:grpSp>
        <p:nvGrpSpPr>
          <p:cNvPr id="8" name="Group 7" descr="A binary tree with four levels and seven nodes:&#10;&#10;Row 0: 90&#10;Row 1:&#10; 90 has one child: 50 as a left child&#10;Row 2:&#10; 50 has two children: 40 as a left child and 65 as a right child&#10;Row 3:&#10;   40 has two children: 30 as a left child and 45 as a right child&#10;    65 only has a right child, 70&#10;">
            <a:extLst>
              <a:ext uri="{FF2B5EF4-FFF2-40B4-BE49-F238E27FC236}">
                <a16:creationId xmlns:a16="http://schemas.microsoft.com/office/drawing/2014/main" id="{DC879B01-34A1-9829-DFD0-009EB1B2976C}"/>
              </a:ext>
            </a:extLst>
          </p:cNvPr>
          <p:cNvGrpSpPr/>
          <p:nvPr/>
        </p:nvGrpSpPr>
        <p:grpSpPr>
          <a:xfrm>
            <a:off x="838200" y="1403350"/>
            <a:ext cx="4233863" cy="2057400"/>
            <a:chOff x="838200" y="1403350"/>
            <a:chExt cx="4233863" cy="2057400"/>
          </a:xfrm>
        </p:grpSpPr>
        <p:sp>
          <p:nvSpPr>
            <p:cNvPr id="45060" name="Oval 3"/>
            <p:cNvSpPr>
              <a:spLocks noChangeArrowheads="1"/>
            </p:cNvSpPr>
            <p:nvPr/>
          </p:nvSpPr>
          <p:spPr bwMode="auto">
            <a:xfrm>
              <a:off x="3505200" y="300355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70</a:t>
              </a:r>
            </a:p>
          </p:txBody>
        </p:sp>
        <p:sp>
          <p:nvSpPr>
            <p:cNvPr id="45061" name="Oval 4"/>
            <p:cNvSpPr>
              <a:spLocks noChangeArrowheads="1"/>
            </p:cNvSpPr>
            <p:nvPr/>
          </p:nvSpPr>
          <p:spPr bwMode="auto">
            <a:xfrm>
              <a:off x="2133600" y="193675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50</a:t>
              </a:r>
            </a:p>
          </p:txBody>
        </p:sp>
        <p:sp>
          <p:nvSpPr>
            <p:cNvPr id="45062" name="Oval 5"/>
            <p:cNvSpPr>
              <a:spLocks noChangeArrowheads="1"/>
            </p:cNvSpPr>
            <p:nvPr/>
          </p:nvSpPr>
          <p:spPr bwMode="auto">
            <a:xfrm>
              <a:off x="1295400" y="247015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40</a:t>
              </a:r>
            </a:p>
          </p:txBody>
        </p:sp>
        <p:sp>
          <p:nvSpPr>
            <p:cNvPr id="45063" name="Oval 6"/>
            <p:cNvSpPr>
              <a:spLocks noChangeArrowheads="1"/>
            </p:cNvSpPr>
            <p:nvPr/>
          </p:nvSpPr>
          <p:spPr bwMode="auto">
            <a:xfrm>
              <a:off x="2971800" y="247015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65</a:t>
              </a:r>
            </a:p>
          </p:txBody>
        </p:sp>
        <p:sp>
          <p:nvSpPr>
            <p:cNvPr id="45067" name="Oval 10"/>
            <p:cNvSpPr>
              <a:spLocks noChangeArrowheads="1"/>
            </p:cNvSpPr>
            <p:nvPr/>
          </p:nvSpPr>
          <p:spPr bwMode="auto">
            <a:xfrm>
              <a:off x="838200" y="300355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30</a:t>
              </a:r>
            </a:p>
          </p:txBody>
        </p:sp>
        <p:sp>
          <p:nvSpPr>
            <p:cNvPr id="45068" name="Oval 11"/>
            <p:cNvSpPr>
              <a:spLocks noChangeArrowheads="1"/>
            </p:cNvSpPr>
            <p:nvPr/>
          </p:nvSpPr>
          <p:spPr bwMode="auto">
            <a:xfrm>
              <a:off x="1828800" y="300355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45</a:t>
              </a:r>
            </a:p>
          </p:txBody>
        </p:sp>
        <p:sp>
          <p:nvSpPr>
            <p:cNvPr id="45069" name="Oval 12"/>
            <p:cNvSpPr>
              <a:spLocks noChangeArrowheads="1"/>
            </p:cNvSpPr>
            <p:nvPr/>
          </p:nvSpPr>
          <p:spPr bwMode="auto">
            <a:xfrm>
              <a:off x="4267200" y="140335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90</a:t>
              </a:r>
            </a:p>
          </p:txBody>
        </p:sp>
        <p:sp>
          <p:nvSpPr>
            <p:cNvPr id="45070" name="Line 13"/>
            <p:cNvSpPr>
              <a:spLocks noChangeShapeType="1"/>
            </p:cNvSpPr>
            <p:nvPr/>
          </p:nvSpPr>
          <p:spPr bwMode="auto">
            <a:xfrm flipH="1">
              <a:off x="2895600" y="1708150"/>
              <a:ext cx="1371600" cy="304800"/>
            </a:xfrm>
            <a:prstGeom prst="line">
              <a:avLst/>
            </a:prstGeom>
            <a:noFill/>
            <a:ln w="25400">
              <a:solidFill>
                <a:srgbClr val="FF0000"/>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45072" name="Line 15"/>
            <p:cNvSpPr>
              <a:spLocks noChangeShapeType="1"/>
            </p:cNvSpPr>
            <p:nvPr/>
          </p:nvSpPr>
          <p:spPr bwMode="auto">
            <a:xfrm flipH="1">
              <a:off x="1981200" y="2317750"/>
              <a:ext cx="228600" cy="152400"/>
            </a:xfrm>
            <a:prstGeom prst="line">
              <a:avLst/>
            </a:prstGeom>
            <a:noFill/>
            <a:ln w="25400">
              <a:solidFill>
                <a:srgbClr val="FF0000"/>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45074" name="Line 17"/>
            <p:cNvSpPr>
              <a:spLocks noChangeShapeType="1"/>
            </p:cNvSpPr>
            <p:nvPr/>
          </p:nvSpPr>
          <p:spPr bwMode="auto">
            <a:xfrm>
              <a:off x="2819400" y="2317750"/>
              <a:ext cx="304800" cy="152400"/>
            </a:xfrm>
            <a:prstGeom prst="line">
              <a:avLst/>
            </a:prstGeom>
            <a:noFill/>
            <a:ln w="25400">
              <a:solidFill>
                <a:srgbClr val="FF0000"/>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grpSp>
      <p:sp>
        <p:nvSpPr>
          <p:cNvPr id="2" name="TextBox 1">
            <a:extLst>
              <a:ext uri="{FF2B5EF4-FFF2-40B4-BE49-F238E27FC236}">
                <a16:creationId xmlns:a16="http://schemas.microsoft.com/office/drawing/2014/main" id="{DC4F2A04-0F2F-6E0B-31F3-3FFB864F781D}"/>
              </a:ext>
            </a:extLst>
          </p:cNvPr>
          <p:cNvSpPr txBox="1"/>
          <p:nvPr/>
        </p:nvSpPr>
        <p:spPr>
          <a:xfrm>
            <a:off x="3145066" y="109746"/>
            <a:ext cx="2808782" cy="769441"/>
          </a:xfrm>
          <a:prstGeom prst="rect">
            <a:avLst/>
          </a:prstGeom>
          <a:noFill/>
        </p:spPr>
        <p:txBody>
          <a:bodyPr wrap="none" rtlCol="0">
            <a:spAutoFit/>
          </a:bodyPr>
          <a:lstStyle/>
          <a:p>
            <a:r>
              <a:rPr lang="en-US" sz="4400" b="1" dirty="0">
                <a:solidFill>
                  <a:srgbClr val="0000CC"/>
                </a:solidFill>
              </a:rPr>
              <a:t>Diameter</a:t>
            </a:r>
          </a:p>
        </p:txBody>
      </p:sp>
      <p:grpSp>
        <p:nvGrpSpPr>
          <p:cNvPr id="15" name="Group 14">
            <a:extLst>
              <a:ext uri="{FF2B5EF4-FFF2-40B4-BE49-F238E27FC236}">
                <a16:creationId xmlns:a16="http://schemas.microsoft.com/office/drawing/2014/main" id="{E5035378-DD18-230D-4F15-FE09BCA8A5E8}"/>
              </a:ext>
              <a:ext uri="{C183D7F6-B498-43B3-948B-1728B52AA6E4}">
                <adec:decorative xmlns:adec="http://schemas.microsoft.com/office/drawing/2017/decorative" val="1"/>
              </a:ext>
            </a:extLst>
          </p:cNvPr>
          <p:cNvGrpSpPr/>
          <p:nvPr/>
        </p:nvGrpSpPr>
        <p:grpSpPr>
          <a:xfrm>
            <a:off x="1143000" y="1892300"/>
            <a:ext cx="3327400" cy="1612900"/>
            <a:chOff x="1143000" y="1600200"/>
            <a:chExt cx="3327400" cy="1612900"/>
          </a:xfrm>
        </p:grpSpPr>
        <p:sp>
          <p:nvSpPr>
            <p:cNvPr id="3" name="Text Box 24">
              <a:extLst>
                <a:ext uri="{FF2B5EF4-FFF2-40B4-BE49-F238E27FC236}">
                  <a16:creationId xmlns:a16="http://schemas.microsoft.com/office/drawing/2014/main" id="{5C4251DA-933A-7948-0B65-BD9FF6A22D37}"/>
                </a:ext>
              </a:extLst>
            </p:cNvPr>
            <p:cNvSpPr txBox="1">
              <a:spLocks noChangeArrowheads="1"/>
            </p:cNvSpPr>
            <p:nvPr/>
          </p:nvSpPr>
          <p:spPr bwMode="auto">
            <a:xfrm>
              <a:off x="1676400" y="2667000"/>
              <a:ext cx="1066800" cy="495300"/>
            </a:xfrm>
            <a:prstGeom prst="rect">
              <a:avLst/>
            </a:prstGeom>
            <a:solidFill>
              <a:schemeClr val="bg1">
                <a:alpha val="0"/>
              </a:schemeClr>
            </a:solidFill>
            <a:ln w="38100">
              <a:solidFill>
                <a:srgbClr val="808000"/>
              </a:solidFill>
              <a:miter lim="800000"/>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pPr>
                <a:spcBef>
                  <a:spcPct val="50000"/>
                </a:spcBef>
              </a:pPr>
              <a:endParaRPr lang="en-US"/>
            </a:p>
          </p:txBody>
        </p:sp>
        <p:sp>
          <p:nvSpPr>
            <p:cNvPr id="4" name="Text Box 25">
              <a:extLst>
                <a:ext uri="{FF2B5EF4-FFF2-40B4-BE49-F238E27FC236}">
                  <a16:creationId xmlns:a16="http://schemas.microsoft.com/office/drawing/2014/main" id="{ACBBDEFA-58E4-18B6-8C2B-07B500C8AF06}"/>
                </a:ext>
              </a:extLst>
            </p:cNvPr>
            <p:cNvSpPr txBox="1">
              <a:spLocks noChangeArrowheads="1"/>
            </p:cNvSpPr>
            <p:nvPr/>
          </p:nvSpPr>
          <p:spPr bwMode="auto">
            <a:xfrm>
              <a:off x="1143000" y="2133600"/>
              <a:ext cx="1066800" cy="495300"/>
            </a:xfrm>
            <a:prstGeom prst="rect">
              <a:avLst/>
            </a:prstGeom>
            <a:solidFill>
              <a:schemeClr val="bg1">
                <a:alpha val="0"/>
              </a:schemeClr>
            </a:solidFill>
            <a:ln w="38100">
              <a:solidFill>
                <a:srgbClr val="808000"/>
              </a:solidFill>
              <a:miter lim="800000"/>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pPr>
                <a:spcBef>
                  <a:spcPct val="50000"/>
                </a:spcBef>
              </a:pPr>
              <a:endParaRPr lang="en-US"/>
            </a:p>
          </p:txBody>
        </p:sp>
        <p:pic>
          <p:nvPicPr>
            <p:cNvPr id="5" name="Picture 36">
              <a:extLst>
                <a:ext uri="{FF2B5EF4-FFF2-40B4-BE49-F238E27FC236}">
                  <a16:creationId xmlns:a16="http://schemas.microsoft.com/office/drawing/2014/main" id="{488478D6-44B7-ABD1-E880-1183D11BE74F}"/>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819400" y="2133600"/>
              <a:ext cx="1117600" cy="546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 name="Picture 37">
              <a:extLst>
                <a:ext uri="{FF2B5EF4-FFF2-40B4-BE49-F238E27FC236}">
                  <a16:creationId xmlns:a16="http://schemas.microsoft.com/office/drawing/2014/main" id="{5B4DD659-9959-569F-4AA4-EFFD8277DBA0}"/>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352800" y="2667000"/>
              <a:ext cx="1117600" cy="546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7" name="Picture 38">
              <a:extLst>
                <a:ext uri="{FF2B5EF4-FFF2-40B4-BE49-F238E27FC236}">
                  <a16:creationId xmlns:a16="http://schemas.microsoft.com/office/drawing/2014/main" id="{7FEAC94B-3027-B66E-B38E-9B5969F290E1}"/>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981200" y="1600200"/>
              <a:ext cx="1117600" cy="546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pSp>
      <p:grpSp>
        <p:nvGrpSpPr>
          <p:cNvPr id="9" name="Group 8">
            <a:extLst>
              <a:ext uri="{FF2B5EF4-FFF2-40B4-BE49-F238E27FC236}">
                <a16:creationId xmlns:a16="http://schemas.microsoft.com/office/drawing/2014/main" id="{1D07B34C-B44D-3EBD-A935-990D8EF2A8B4}"/>
              </a:ext>
              <a:ext uri="{C183D7F6-B498-43B3-948B-1728B52AA6E4}">
                <adec:decorative xmlns:adec="http://schemas.microsoft.com/office/drawing/2017/decorative" val="1"/>
              </a:ext>
            </a:extLst>
          </p:cNvPr>
          <p:cNvGrpSpPr/>
          <p:nvPr/>
        </p:nvGrpSpPr>
        <p:grpSpPr>
          <a:xfrm>
            <a:off x="698500" y="1905000"/>
            <a:ext cx="3784600" cy="1612900"/>
            <a:chOff x="685800" y="1600200"/>
            <a:chExt cx="3784600" cy="1612900"/>
          </a:xfrm>
        </p:grpSpPr>
        <p:sp>
          <p:nvSpPr>
            <p:cNvPr id="10" name="Text Box 24">
              <a:extLst>
                <a:ext uri="{FF2B5EF4-FFF2-40B4-BE49-F238E27FC236}">
                  <a16:creationId xmlns:a16="http://schemas.microsoft.com/office/drawing/2014/main" id="{C5D362BE-5AF7-9342-CDAC-E230F9A93AA1}"/>
                </a:ext>
              </a:extLst>
            </p:cNvPr>
            <p:cNvSpPr txBox="1">
              <a:spLocks noChangeArrowheads="1"/>
            </p:cNvSpPr>
            <p:nvPr/>
          </p:nvSpPr>
          <p:spPr bwMode="auto">
            <a:xfrm>
              <a:off x="685800" y="2667000"/>
              <a:ext cx="1066800" cy="495300"/>
            </a:xfrm>
            <a:prstGeom prst="rect">
              <a:avLst/>
            </a:prstGeom>
            <a:solidFill>
              <a:schemeClr val="bg1">
                <a:alpha val="0"/>
              </a:schemeClr>
            </a:solidFill>
            <a:ln w="38100">
              <a:solidFill>
                <a:srgbClr val="808000"/>
              </a:solidFill>
              <a:miter lim="800000"/>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pPr>
                <a:spcBef>
                  <a:spcPct val="50000"/>
                </a:spcBef>
              </a:pPr>
              <a:endParaRPr lang="en-US"/>
            </a:p>
          </p:txBody>
        </p:sp>
        <p:sp>
          <p:nvSpPr>
            <p:cNvPr id="11" name="Text Box 25">
              <a:extLst>
                <a:ext uri="{FF2B5EF4-FFF2-40B4-BE49-F238E27FC236}">
                  <a16:creationId xmlns:a16="http://schemas.microsoft.com/office/drawing/2014/main" id="{6E962384-23ED-00AB-7ECC-9CA8F1257A04}"/>
                </a:ext>
              </a:extLst>
            </p:cNvPr>
            <p:cNvSpPr txBox="1">
              <a:spLocks noChangeArrowheads="1"/>
            </p:cNvSpPr>
            <p:nvPr/>
          </p:nvSpPr>
          <p:spPr bwMode="auto">
            <a:xfrm>
              <a:off x="1143000" y="2133600"/>
              <a:ext cx="1066800" cy="495300"/>
            </a:xfrm>
            <a:prstGeom prst="rect">
              <a:avLst/>
            </a:prstGeom>
            <a:solidFill>
              <a:schemeClr val="bg1">
                <a:alpha val="0"/>
              </a:schemeClr>
            </a:solidFill>
            <a:ln w="38100">
              <a:solidFill>
                <a:srgbClr val="808000"/>
              </a:solidFill>
              <a:miter lim="800000"/>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pPr>
                <a:spcBef>
                  <a:spcPct val="50000"/>
                </a:spcBef>
              </a:pPr>
              <a:endParaRPr lang="en-US"/>
            </a:p>
          </p:txBody>
        </p:sp>
        <p:pic>
          <p:nvPicPr>
            <p:cNvPr id="12" name="Picture 36">
              <a:extLst>
                <a:ext uri="{FF2B5EF4-FFF2-40B4-BE49-F238E27FC236}">
                  <a16:creationId xmlns:a16="http://schemas.microsoft.com/office/drawing/2014/main" id="{33685F0E-65F8-D0CF-DF36-81473AA6EA72}"/>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819400" y="2133600"/>
              <a:ext cx="1117600" cy="546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3" name="Picture 37">
              <a:extLst>
                <a:ext uri="{FF2B5EF4-FFF2-40B4-BE49-F238E27FC236}">
                  <a16:creationId xmlns:a16="http://schemas.microsoft.com/office/drawing/2014/main" id="{92E5EE1B-6E8D-39B8-1FC8-C10286DAAA63}"/>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352800" y="2667000"/>
              <a:ext cx="1117600" cy="546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4" name="Picture 38">
              <a:extLst>
                <a:ext uri="{FF2B5EF4-FFF2-40B4-BE49-F238E27FC236}">
                  <a16:creationId xmlns:a16="http://schemas.microsoft.com/office/drawing/2014/main" id="{537F1E59-20CD-A636-588D-7B93D21D610B}"/>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981200" y="1600200"/>
              <a:ext cx="1117600" cy="546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pSp>
    </p:spTree>
    <p:extLst>
      <p:ext uri="{BB962C8B-B14F-4D97-AF65-F5344CB8AC3E}">
        <p14:creationId xmlns:p14="http://schemas.microsoft.com/office/powerpoint/2010/main" val="40728036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nodeType="clickEffect">
                                  <p:stCondLst>
                                    <p:cond delay="0"/>
                                  </p:stCondLst>
                                  <p:childTnLst>
                                    <p:set>
                                      <p:cBhvr>
                                        <p:cTn id="10" dur="1" fill="hold">
                                          <p:stCondLst>
                                            <p:cond delay="0"/>
                                          </p:stCondLst>
                                        </p:cTn>
                                        <p:tgtEl>
                                          <p:spTgt spid="9"/>
                                        </p:tgtEl>
                                        <p:attrNameLst>
                                          <p:attrName>style.visibility</p:attrName>
                                        </p:attrNameLst>
                                      </p:cBhvr>
                                      <p:to>
                                        <p:strVal val="hidden"/>
                                      </p:to>
                                    </p:set>
                                  </p:childTnLst>
                                </p:cTn>
                              </p:par>
                              <p:par>
                                <p:cTn id="11" presetID="1" presetClass="entr" presetSubtype="0" fill="hold" nodeType="withEffect">
                                  <p:stCondLst>
                                    <p:cond delay="0"/>
                                  </p:stCondLst>
                                  <p:childTnLst>
                                    <p:set>
                                      <p:cBhvr>
                                        <p:cTn id="12"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Footer Placeholder 3"/>
          <p:cNvSpPr>
            <a:spLocks noGrp="1"/>
          </p:cNvSpPr>
          <p:nvPr>
            <p:ph type="ftr" sz="quarter" idx="12"/>
          </p:nvPr>
        </p:nvSpPr>
        <p:spPr>
          <a:noFill/>
        </p:spPr>
        <p:txBody>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endParaRPr lang="en-US" sz="800" b="1">
              <a:latin typeface="Times New Roman" pitchFamily="18" charset="0"/>
            </a:endParaRPr>
          </a:p>
          <a:p>
            <a:endParaRPr lang="en-US" sz="800"/>
          </a:p>
          <a:p>
            <a:endParaRPr lang="en-US" sz="800" b="1"/>
          </a:p>
          <a:p>
            <a:r>
              <a:rPr lang="en-US" sz="800" b="1"/>
              <a:t>© A+ Computer Science  -  www.apluscompsci.com</a:t>
            </a:r>
          </a:p>
        </p:txBody>
      </p:sp>
      <p:sp>
        <p:nvSpPr>
          <p:cNvPr id="21507" name="WordArt 2"/>
          <p:cNvSpPr>
            <a:spLocks noChangeArrowheads="1" noChangeShapeType="1" noTextEdit="1"/>
          </p:cNvSpPr>
          <p:nvPr/>
        </p:nvSpPr>
        <p:spPr bwMode="auto">
          <a:xfrm>
            <a:off x="1524000" y="1447800"/>
            <a:ext cx="6248400" cy="3124200"/>
          </a:xfrm>
          <a:prstGeom prst="rect">
            <a:avLst/>
          </a:prstGeom>
        </p:spPr>
        <p:txBody>
          <a:bodyPr wrap="none" fromWordArt="1">
            <a:prstTxWarp prst="textPlain">
              <a:avLst>
                <a:gd name="adj" fmla="val 50000"/>
              </a:avLst>
            </a:prstTxWarp>
          </a:bodyPr>
          <a:lstStyle/>
          <a:p>
            <a:pPr algn="ctr"/>
            <a:r>
              <a:rPr lang="en-US" sz="3600" kern="10" dirty="0">
                <a:ln w="9525">
                  <a:solidFill>
                    <a:srgbClr val="FFFF99"/>
                  </a:solidFill>
                  <a:round/>
                  <a:headEnd type="none" w="sm" len="sm"/>
                  <a:tailEnd type="none" w="sm" len="sm"/>
                </a:ln>
                <a:solidFill>
                  <a:srgbClr val="0000FF"/>
                </a:solidFill>
                <a:effectLst>
                  <a:outerShdw dist="35921" dir="2700000" algn="ctr" rotWithShape="0">
                    <a:srgbClr val="C0C0C0"/>
                  </a:outerShdw>
                </a:effectLst>
                <a:latin typeface="Impact"/>
              </a:rPr>
              <a:t>Building a</a:t>
            </a:r>
          </a:p>
          <a:p>
            <a:pPr algn="ctr"/>
            <a:r>
              <a:rPr lang="en-US" sz="3600" kern="10" dirty="0">
                <a:ln w="9525">
                  <a:solidFill>
                    <a:srgbClr val="FFFF99"/>
                  </a:solidFill>
                  <a:round/>
                  <a:headEnd type="none" w="sm" len="sm"/>
                  <a:tailEnd type="none" w="sm" len="sm"/>
                </a:ln>
                <a:solidFill>
                  <a:srgbClr val="0000FF"/>
                </a:solidFill>
                <a:effectLst>
                  <a:outerShdw dist="35921" dir="2700000" algn="ctr" rotWithShape="0">
                    <a:srgbClr val="C0C0C0"/>
                  </a:outerShdw>
                </a:effectLst>
                <a:latin typeface="Impact"/>
              </a:rPr>
              <a:t>BST</a:t>
            </a:r>
          </a:p>
        </p:txBody>
      </p:sp>
    </p:spTree>
    <p:extLst>
      <p:ext uri="{BB962C8B-B14F-4D97-AF65-F5344CB8AC3E}">
        <p14:creationId xmlns:p14="http://schemas.microsoft.com/office/powerpoint/2010/main" val="224453527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01" name="Rectangle 1"/>
          <p:cNvSpPr>
            <a:spLocks noGrp="1" noChangeArrowheads="1"/>
          </p:cNvSpPr>
          <p:nvPr>
            <p:ph type="title"/>
          </p:nvPr>
        </p:nvSpPr>
        <p:spPr/>
        <p:txBody>
          <a:bodyPr rIns="132080"/>
          <a:lstStyle/>
          <a:p>
            <a:pPr eaLnBrk="1" hangingPunct="1"/>
            <a:r>
              <a:rPr lang="en-US" altLang="en-US" sz="4000" dirty="0">
                <a:solidFill>
                  <a:srgbClr val="800000"/>
                </a:solidFill>
                <a:latin typeface="Aptos ExtraBold" panose="020B0004020202020204" pitchFamily="34" charset="0"/>
                <a:ea typeface="MS PGothic" charset="-128"/>
              </a:rPr>
              <a:t>Building a BST</a:t>
            </a:r>
          </a:p>
        </p:txBody>
      </p:sp>
      <p:sp>
        <p:nvSpPr>
          <p:cNvPr id="51202" name="Slide Number Placeholder 3"/>
          <p:cNvSpPr>
            <a:spLocks noGrp="1"/>
          </p:cNvSpPr>
          <p:nvPr>
            <p:ph type="sldNum" sz="quarter" idx="12"/>
          </p:nvPr>
        </p:nvSpPr>
        <p:spPr bwMode="auto">
          <a:noFill/>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pPr>
              <a:lnSpc>
                <a:spcPct val="80000"/>
              </a:lnSpc>
            </a:pPr>
            <a:fld id="{4E621424-F6BA-4946-A00C-6394B07655A9}" type="slidenum">
              <a:rPr lang="en-US" altLang="en-US" sz="1200">
                <a:solidFill>
                  <a:srgbClr val="FFFFFF"/>
                </a:solidFill>
              </a:rPr>
              <a:pPr>
                <a:lnSpc>
                  <a:spcPct val="80000"/>
                </a:lnSpc>
              </a:pPr>
              <a:t>13</a:t>
            </a:fld>
            <a:endParaRPr lang="en-US" altLang="en-US" sz="1200">
              <a:solidFill>
                <a:srgbClr val="FFFFFF"/>
              </a:solidFill>
            </a:endParaRPr>
          </a:p>
        </p:txBody>
      </p:sp>
      <p:sp>
        <p:nvSpPr>
          <p:cNvPr id="51203" name="Rectangle 2"/>
          <p:cNvSpPr>
            <a:spLocks noGrp="1" noChangeArrowheads="1"/>
          </p:cNvSpPr>
          <p:nvPr>
            <p:ph type="body" idx="4294967295"/>
          </p:nvPr>
        </p:nvSpPr>
        <p:spPr>
          <a:xfrm>
            <a:off x="609600" y="2057400"/>
            <a:ext cx="8153400" cy="3048000"/>
          </a:xfrm>
        </p:spPr>
        <p:txBody>
          <a:bodyPr rIns="132080"/>
          <a:lstStyle/>
          <a:p>
            <a:pPr marL="0" indent="0" eaLnBrk="1" hangingPunct="1">
              <a:buNone/>
            </a:pPr>
            <a:r>
              <a:rPr lang="en-US" altLang="en-US" dirty="0">
                <a:latin typeface="Aptos ExtraBold" panose="020F0502020204030204" pitchFamily="34" charset="0"/>
                <a:ea typeface="MS PGothic" charset="-128"/>
              </a:rPr>
              <a:t>To insert a new item:</a:t>
            </a:r>
          </a:p>
          <a:p>
            <a:pPr marL="900113" lvl="1" indent="-457200" eaLnBrk="1" hangingPunct="1">
              <a:spcBef>
                <a:spcPts val="1800"/>
              </a:spcBef>
              <a:buFont typeface="Wingdings" panose="05000000000000000000" pitchFamily="2" charset="2"/>
              <a:buChar char="§"/>
            </a:pPr>
            <a:r>
              <a:rPr lang="en-US" altLang="en-US" sz="3200" dirty="0">
                <a:latin typeface="Aptos ExtraBold" panose="020F0502020204030204" pitchFamily="34" charset="0"/>
                <a:ea typeface="MS PGothic" charset="-128"/>
              </a:rPr>
              <a:t>Pretend to look for the item</a:t>
            </a:r>
          </a:p>
          <a:p>
            <a:pPr marL="900113" lvl="1" indent="-457200" eaLnBrk="1" hangingPunct="1">
              <a:spcBef>
                <a:spcPts val="1800"/>
              </a:spcBef>
              <a:buFont typeface="Wingdings" panose="05000000000000000000" pitchFamily="2" charset="2"/>
              <a:buChar char="§"/>
            </a:pPr>
            <a:r>
              <a:rPr lang="en-US" altLang="en-US" sz="3200" dirty="0">
                <a:latin typeface="Aptos ExtraBold" panose="020F0502020204030204" pitchFamily="34" charset="0"/>
                <a:ea typeface="MS PGothic" charset="-128"/>
              </a:rPr>
              <a:t>Put the new node in the place where you fall off the tree</a:t>
            </a:r>
            <a:endParaRPr lang="en-US" altLang="en-US" sz="3200" i="1" dirty="0">
              <a:latin typeface="Aptos ExtraBold" panose="020F0502020204030204" pitchFamily="34" charset="0"/>
              <a:ea typeface="MS PGothic" charset="-128"/>
            </a:endParaRPr>
          </a:p>
        </p:txBody>
      </p:sp>
    </p:spTree>
    <p:extLst>
      <p:ext uri="{BB962C8B-B14F-4D97-AF65-F5344CB8AC3E}">
        <p14:creationId xmlns:p14="http://schemas.microsoft.com/office/powerpoint/2010/main" val="1130107485"/>
      </p:ext>
    </p:extLst>
  </p:cSld>
  <p:clrMapOvr>
    <a:masterClrMapping/>
  </p:clrMapOvr>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01" name="Rectangle 1"/>
          <p:cNvSpPr>
            <a:spLocks noGrp="1" noChangeArrowheads="1"/>
          </p:cNvSpPr>
          <p:nvPr>
            <p:ph type="title"/>
          </p:nvPr>
        </p:nvSpPr>
        <p:spPr/>
        <p:txBody>
          <a:bodyPr rIns="132080"/>
          <a:lstStyle/>
          <a:p>
            <a:pPr eaLnBrk="1" hangingPunct="1"/>
            <a:r>
              <a:rPr lang="en-US" altLang="en-US" sz="3200">
                <a:solidFill>
                  <a:srgbClr val="800000"/>
                </a:solidFill>
                <a:ea typeface="MS PGothic" charset="-128"/>
              </a:rPr>
              <a:t>Building a BST</a:t>
            </a:r>
          </a:p>
        </p:txBody>
      </p:sp>
      <p:sp>
        <p:nvSpPr>
          <p:cNvPr id="51202" name="Slide Number Placeholder 3"/>
          <p:cNvSpPr>
            <a:spLocks noGrp="1"/>
          </p:cNvSpPr>
          <p:nvPr>
            <p:ph type="sldNum" sz="quarter" idx="12"/>
          </p:nvPr>
        </p:nvSpPr>
        <p:spPr bwMode="auto">
          <a:noFill/>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pPr>
              <a:lnSpc>
                <a:spcPct val="80000"/>
              </a:lnSpc>
            </a:pPr>
            <a:fld id="{4E621424-F6BA-4946-A00C-6394B07655A9}" type="slidenum">
              <a:rPr lang="en-US" altLang="en-US" sz="1200">
                <a:solidFill>
                  <a:srgbClr val="FFFFFF"/>
                </a:solidFill>
              </a:rPr>
              <a:pPr>
                <a:lnSpc>
                  <a:spcPct val="80000"/>
                </a:lnSpc>
              </a:pPr>
              <a:t>14</a:t>
            </a:fld>
            <a:endParaRPr lang="en-US" altLang="en-US" sz="1200">
              <a:solidFill>
                <a:srgbClr val="FFFFFF"/>
              </a:solidFill>
            </a:endParaRPr>
          </a:p>
        </p:txBody>
      </p:sp>
      <p:cxnSp>
        <p:nvCxnSpPr>
          <p:cNvPr id="11" name="Straight Arrow Connector 10">
            <a:extLst>
              <a:ext uri="{C183D7F6-B498-43B3-948B-1728B52AA6E4}">
                <adec:decorative xmlns:adec="http://schemas.microsoft.com/office/drawing/2017/decorative" val="1"/>
              </a:ext>
            </a:extLst>
          </p:cNvPr>
          <p:cNvCxnSpPr/>
          <p:nvPr/>
        </p:nvCxnSpPr>
        <p:spPr>
          <a:xfrm>
            <a:off x="4495800" y="1752600"/>
            <a:ext cx="0" cy="53340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
        <p:nvSpPr>
          <p:cNvPr id="14" name="Rectangle 13" descr="Jayden is the first value we're adding to the tree"/>
          <p:cNvSpPr/>
          <p:nvPr/>
        </p:nvSpPr>
        <p:spPr>
          <a:xfrm>
            <a:off x="6553200" y="2300207"/>
            <a:ext cx="1128450" cy="461665"/>
          </a:xfrm>
          <a:prstGeom prst="rect">
            <a:avLst/>
          </a:prstGeom>
        </p:spPr>
        <p:txBody>
          <a:bodyPr wrap="none">
            <a:spAutoFit/>
          </a:bodyPr>
          <a:lstStyle/>
          <a:p>
            <a:r>
              <a:rPr lang="en-US" altLang="en-US" dirty="0">
                <a:solidFill>
                  <a:schemeClr val="tx1"/>
                </a:solidFill>
              </a:rPr>
              <a:t>Jayden</a:t>
            </a:r>
            <a:endParaRPr lang="en-US" dirty="0"/>
          </a:p>
        </p:txBody>
      </p:sp>
    </p:spTree>
    <p:extLst>
      <p:ext uri="{BB962C8B-B14F-4D97-AF65-F5344CB8AC3E}">
        <p14:creationId xmlns:p14="http://schemas.microsoft.com/office/powerpoint/2010/main" val="1251283801"/>
      </p:ext>
    </p:extLst>
  </p:cSld>
  <p:clrMapOvr>
    <a:masterClrMapping/>
  </p:clrMapOvr>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01" name="Rectangle 1"/>
          <p:cNvSpPr>
            <a:spLocks noGrp="1" noChangeArrowheads="1"/>
          </p:cNvSpPr>
          <p:nvPr>
            <p:ph type="title"/>
          </p:nvPr>
        </p:nvSpPr>
        <p:spPr/>
        <p:txBody>
          <a:bodyPr rIns="132080"/>
          <a:lstStyle/>
          <a:p>
            <a:pPr eaLnBrk="1" hangingPunct="1"/>
            <a:r>
              <a:rPr lang="en-US" altLang="en-US" sz="3200">
                <a:solidFill>
                  <a:srgbClr val="800000"/>
                </a:solidFill>
                <a:ea typeface="MS PGothic" charset="-128"/>
              </a:rPr>
              <a:t>Building a BST</a:t>
            </a:r>
          </a:p>
        </p:txBody>
      </p:sp>
      <p:sp>
        <p:nvSpPr>
          <p:cNvPr id="51202" name="Slide Number Placeholder 3"/>
          <p:cNvSpPr>
            <a:spLocks noGrp="1"/>
          </p:cNvSpPr>
          <p:nvPr>
            <p:ph type="sldNum" sz="quarter" idx="12"/>
          </p:nvPr>
        </p:nvSpPr>
        <p:spPr bwMode="auto">
          <a:noFill/>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pPr>
              <a:lnSpc>
                <a:spcPct val="80000"/>
              </a:lnSpc>
            </a:pPr>
            <a:fld id="{4E621424-F6BA-4946-A00C-6394B07655A9}" type="slidenum">
              <a:rPr lang="en-US" altLang="en-US" sz="1200">
                <a:solidFill>
                  <a:srgbClr val="FFFFFF"/>
                </a:solidFill>
              </a:rPr>
              <a:pPr>
                <a:lnSpc>
                  <a:spcPct val="80000"/>
                </a:lnSpc>
              </a:pPr>
              <a:t>15</a:t>
            </a:fld>
            <a:endParaRPr lang="en-US" altLang="en-US" sz="1200">
              <a:solidFill>
                <a:srgbClr val="FFFFFF"/>
              </a:solidFill>
            </a:endParaRPr>
          </a:p>
        </p:txBody>
      </p:sp>
      <p:grpSp>
        <p:nvGrpSpPr>
          <p:cNvPr id="2" name="Group 1" descr="The tree has &quot;Jayden&quot; as a root and no other nodes.">
            <a:extLst>
              <a:ext uri="{FF2B5EF4-FFF2-40B4-BE49-F238E27FC236}">
                <a16:creationId xmlns:a16="http://schemas.microsoft.com/office/drawing/2014/main" id="{224CBFEB-4053-4EFF-3EE6-BBFF79F6020D}"/>
              </a:ext>
            </a:extLst>
          </p:cNvPr>
          <p:cNvGrpSpPr/>
          <p:nvPr/>
        </p:nvGrpSpPr>
        <p:grpSpPr>
          <a:xfrm>
            <a:off x="3942603" y="1752600"/>
            <a:ext cx="1128450" cy="1383814"/>
            <a:chOff x="3942603" y="1752600"/>
            <a:chExt cx="1128450" cy="1383814"/>
          </a:xfrm>
        </p:grpSpPr>
        <p:cxnSp>
          <p:nvCxnSpPr>
            <p:cNvPr id="11" name="Straight Arrow Connector 10"/>
            <p:cNvCxnSpPr/>
            <p:nvPr/>
          </p:nvCxnSpPr>
          <p:spPr>
            <a:xfrm>
              <a:off x="4495800" y="1752600"/>
              <a:ext cx="0" cy="53340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
          <p:nvSpPr>
            <p:cNvPr id="14" name="Rectangle 13"/>
            <p:cNvSpPr/>
            <p:nvPr/>
          </p:nvSpPr>
          <p:spPr>
            <a:xfrm>
              <a:off x="3942603" y="2281535"/>
              <a:ext cx="1128450" cy="461665"/>
            </a:xfrm>
            <a:prstGeom prst="rect">
              <a:avLst/>
            </a:prstGeom>
            <a:ln>
              <a:solidFill>
                <a:schemeClr val="accent2"/>
              </a:solidFill>
            </a:ln>
          </p:spPr>
          <p:txBody>
            <a:bodyPr wrap="none">
              <a:spAutoFit/>
            </a:bodyPr>
            <a:lstStyle/>
            <a:p>
              <a:r>
                <a:rPr lang="en-US" altLang="en-US" dirty="0">
                  <a:solidFill>
                    <a:schemeClr val="tx1"/>
                  </a:solidFill>
                </a:rPr>
                <a:t>Jayden</a:t>
              </a:r>
              <a:endParaRPr lang="en-US" dirty="0"/>
            </a:p>
          </p:txBody>
        </p:sp>
        <p:cxnSp>
          <p:nvCxnSpPr>
            <p:cNvPr id="6" name="Straight Arrow Connector 5"/>
            <p:cNvCxnSpPr/>
            <p:nvPr/>
          </p:nvCxnSpPr>
          <p:spPr>
            <a:xfrm flipH="1">
              <a:off x="3942603" y="2743200"/>
              <a:ext cx="520909" cy="38100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8" name="Straight Arrow Connector 7"/>
            <p:cNvCxnSpPr/>
            <p:nvPr/>
          </p:nvCxnSpPr>
          <p:spPr>
            <a:xfrm>
              <a:off x="4463512" y="2755414"/>
              <a:ext cx="520909" cy="38100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505116887"/>
      </p:ext>
    </p:extLst>
  </p:cSld>
  <p:clrMapOvr>
    <a:masterClrMapping/>
  </p:clrMapOvr>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01" name="Rectangle 1"/>
          <p:cNvSpPr>
            <a:spLocks noGrp="1" noChangeArrowheads="1"/>
          </p:cNvSpPr>
          <p:nvPr>
            <p:ph type="title"/>
          </p:nvPr>
        </p:nvSpPr>
        <p:spPr/>
        <p:txBody>
          <a:bodyPr rIns="132080"/>
          <a:lstStyle/>
          <a:p>
            <a:pPr eaLnBrk="1" hangingPunct="1"/>
            <a:r>
              <a:rPr lang="en-US" altLang="en-US" sz="3200">
                <a:solidFill>
                  <a:srgbClr val="800000"/>
                </a:solidFill>
                <a:ea typeface="MS PGothic" charset="-128"/>
              </a:rPr>
              <a:t>Building a BST</a:t>
            </a:r>
          </a:p>
        </p:txBody>
      </p:sp>
      <p:sp>
        <p:nvSpPr>
          <p:cNvPr id="51202" name="Slide Number Placeholder 3"/>
          <p:cNvSpPr>
            <a:spLocks noGrp="1"/>
          </p:cNvSpPr>
          <p:nvPr>
            <p:ph type="sldNum" sz="quarter" idx="12"/>
          </p:nvPr>
        </p:nvSpPr>
        <p:spPr bwMode="auto">
          <a:noFill/>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pPr>
              <a:lnSpc>
                <a:spcPct val="80000"/>
              </a:lnSpc>
            </a:pPr>
            <a:fld id="{4E621424-F6BA-4946-A00C-6394B07655A9}" type="slidenum">
              <a:rPr lang="en-US" altLang="en-US" sz="1200">
                <a:solidFill>
                  <a:srgbClr val="FFFFFF"/>
                </a:solidFill>
              </a:rPr>
              <a:pPr>
                <a:lnSpc>
                  <a:spcPct val="80000"/>
                </a:lnSpc>
              </a:pPr>
              <a:t>16</a:t>
            </a:fld>
            <a:endParaRPr lang="en-US" altLang="en-US" sz="1200">
              <a:solidFill>
                <a:srgbClr val="FFFFFF"/>
              </a:solidFill>
            </a:endParaRPr>
          </a:p>
        </p:txBody>
      </p:sp>
      <p:grpSp>
        <p:nvGrpSpPr>
          <p:cNvPr id="2" name="Group 1" descr="&quot;Fahad&quot; is the next value to add.&#10;The tree has &quot;Jayden&quot; as a root and no other nodes.">
            <a:extLst>
              <a:ext uri="{FF2B5EF4-FFF2-40B4-BE49-F238E27FC236}">
                <a16:creationId xmlns:a16="http://schemas.microsoft.com/office/drawing/2014/main" id="{920C70FD-E672-B954-FD00-D4BB2D40AF10}"/>
              </a:ext>
            </a:extLst>
          </p:cNvPr>
          <p:cNvGrpSpPr/>
          <p:nvPr/>
        </p:nvGrpSpPr>
        <p:grpSpPr>
          <a:xfrm>
            <a:off x="3942603" y="1752600"/>
            <a:ext cx="2539904" cy="1383814"/>
            <a:chOff x="3942603" y="1752600"/>
            <a:chExt cx="2539904" cy="1383814"/>
          </a:xfrm>
        </p:grpSpPr>
        <p:cxnSp>
          <p:nvCxnSpPr>
            <p:cNvPr id="11" name="Straight Arrow Connector 10"/>
            <p:cNvCxnSpPr/>
            <p:nvPr/>
          </p:nvCxnSpPr>
          <p:spPr>
            <a:xfrm>
              <a:off x="4495800" y="1752600"/>
              <a:ext cx="0" cy="53340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
          <p:nvSpPr>
            <p:cNvPr id="14" name="Rectangle 13"/>
            <p:cNvSpPr/>
            <p:nvPr/>
          </p:nvSpPr>
          <p:spPr>
            <a:xfrm>
              <a:off x="3942603" y="2281535"/>
              <a:ext cx="1128450" cy="461665"/>
            </a:xfrm>
            <a:prstGeom prst="rect">
              <a:avLst/>
            </a:prstGeom>
            <a:ln>
              <a:solidFill>
                <a:schemeClr val="accent2"/>
              </a:solidFill>
            </a:ln>
          </p:spPr>
          <p:txBody>
            <a:bodyPr wrap="none">
              <a:spAutoFit/>
            </a:bodyPr>
            <a:lstStyle/>
            <a:p>
              <a:r>
                <a:rPr lang="en-US" altLang="en-US" dirty="0">
                  <a:solidFill>
                    <a:schemeClr val="tx1"/>
                  </a:solidFill>
                </a:rPr>
                <a:t>Jayden</a:t>
              </a:r>
              <a:endParaRPr lang="en-US" dirty="0"/>
            </a:p>
          </p:txBody>
        </p:sp>
        <p:cxnSp>
          <p:nvCxnSpPr>
            <p:cNvPr id="6" name="Straight Arrow Connector 5"/>
            <p:cNvCxnSpPr/>
            <p:nvPr/>
          </p:nvCxnSpPr>
          <p:spPr>
            <a:xfrm flipH="1">
              <a:off x="3942603" y="2743200"/>
              <a:ext cx="520909" cy="38100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8" name="Straight Arrow Connector 7"/>
            <p:cNvCxnSpPr/>
            <p:nvPr/>
          </p:nvCxnSpPr>
          <p:spPr>
            <a:xfrm>
              <a:off x="4463512" y="2755414"/>
              <a:ext cx="520909" cy="38100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
          <p:nvSpPr>
            <p:cNvPr id="9" name="Rectangle 8"/>
            <p:cNvSpPr/>
            <p:nvPr/>
          </p:nvSpPr>
          <p:spPr>
            <a:xfrm>
              <a:off x="5486400" y="2281534"/>
              <a:ext cx="996107" cy="461665"/>
            </a:xfrm>
            <a:prstGeom prst="rect">
              <a:avLst/>
            </a:prstGeom>
          </p:spPr>
          <p:txBody>
            <a:bodyPr wrap="none">
              <a:spAutoFit/>
            </a:bodyPr>
            <a:lstStyle/>
            <a:p>
              <a:r>
                <a:rPr lang="en-US" altLang="en-US" dirty="0">
                  <a:solidFill>
                    <a:schemeClr val="tx1"/>
                  </a:solidFill>
                </a:rPr>
                <a:t>Fahad</a:t>
              </a:r>
              <a:endParaRPr lang="en-US" dirty="0"/>
            </a:p>
          </p:txBody>
        </p:sp>
      </p:grpSp>
    </p:spTree>
    <p:extLst>
      <p:ext uri="{BB962C8B-B14F-4D97-AF65-F5344CB8AC3E}">
        <p14:creationId xmlns:p14="http://schemas.microsoft.com/office/powerpoint/2010/main" val="1873746212"/>
      </p:ext>
    </p:extLst>
  </p:cSld>
  <p:clrMapOvr>
    <a:masterClrMapping/>
  </p:clrMapOvr>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01" name="Rectangle 1"/>
          <p:cNvSpPr>
            <a:spLocks noGrp="1" noChangeArrowheads="1"/>
          </p:cNvSpPr>
          <p:nvPr>
            <p:ph type="title"/>
          </p:nvPr>
        </p:nvSpPr>
        <p:spPr/>
        <p:txBody>
          <a:bodyPr rIns="132080"/>
          <a:lstStyle/>
          <a:p>
            <a:pPr eaLnBrk="1" hangingPunct="1"/>
            <a:r>
              <a:rPr lang="en-US" altLang="en-US" sz="3200">
                <a:solidFill>
                  <a:srgbClr val="800000"/>
                </a:solidFill>
                <a:ea typeface="MS PGothic" charset="-128"/>
              </a:rPr>
              <a:t>Building a BST</a:t>
            </a:r>
          </a:p>
        </p:txBody>
      </p:sp>
      <p:sp>
        <p:nvSpPr>
          <p:cNvPr id="51202" name="Slide Number Placeholder 3"/>
          <p:cNvSpPr>
            <a:spLocks noGrp="1"/>
          </p:cNvSpPr>
          <p:nvPr>
            <p:ph type="sldNum" sz="quarter" idx="12"/>
          </p:nvPr>
        </p:nvSpPr>
        <p:spPr bwMode="auto">
          <a:noFill/>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pPr>
              <a:lnSpc>
                <a:spcPct val="80000"/>
              </a:lnSpc>
            </a:pPr>
            <a:fld id="{4E621424-F6BA-4946-A00C-6394B07655A9}" type="slidenum">
              <a:rPr lang="en-US" altLang="en-US" sz="1200">
                <a:solidFill>
                  <a:srgbClr val="FFFFFF"/>
                </a:solidFill>
              </a:rPr>
              <a:pPr>
                <a:lnSpc>
                  <a:spcPct val="80000"/>
                </a:lnSpc>
              </a:pPr>
              <a:t>17</a:t>
            </a:fld>
            <a:endParaRPr lang="en-US" altLang="en-US" sz="1200">
              <a:solidFill>
                <a:srgbClr val="FFFFFF"/>
              </a:solidFill>
            </a:endParaRPr>
          </a:p>
        </p:txBody>
      </p:sp>
      <p:grpSp>
        <p:nvGrpSpPr>
          <p:cNvPr id="2" name="Group 1" descr="&quot;Fahad&quot; belongs as the left child of &quot;Jayden&quot; because it's smaller than &quot;Jayden&quot;.">
            <a:extLst>
              <a:ext uri="{FF2B5EF4-FFF2-40B4-BE49-F238E27FC236}">
                <a16:creationId xmlns:a16="http://schemas.microsoft.com/office/drawing/2014/main" id="{BE7C09DB-E906-4FFE-7206-E698EFE11824}"/>
              </a:ext>
            </a:extLst>
          </p:cNvPr>
          <p:cNvGrpSpPr/>
          <p:nvPr/>
        </p:nvGrpSpPr>
        <p:grpSpPr>
          <a:xfrm>
            <a:off x="3236894" y="1752600"/>
            <a:ext cx="1834159" cy="1854286"/>
            <a:chOff x="3236894" y="1752600"/>
            <a:chExt cx="1834159" cy="1854286"/>
          </a:xfrm>
        </p:grpSpPr>
        <p:cxnSp>
          <p:nvCxnSpPr>
            <p:cNvPr id="11" name="Straight Arrow Connector 10"/>
            <p:cNvCxnSpPr/>
            <p:nvPr/>
          </p:nvCxnSpPr>
          <p:spPr>
            <a:xfrm>
              <a:off x="4495800" y="1752600"/>
              <a:ext cx="0" cy="53340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
          <p:nvSpPr>
            <p:cNvPr id="14" name="Rectangle 13"/>
            <p:cNvSpPr/>
            <p:nvPr/>
          </p:nvSpPr>
          <p:spPr>
            <a:xfrm>
              <a:off x="3942603" y="2281535"/>
              <a:ext cx="1128450" cy="461665"/>
            </a:xfrm>
            <a:prstGeom prst="rect">
              <a:avLst/>
            </a:prstGeom>
            <a:ln>
              <a:solidFill>
                <a:schemeClr val="accent2"/>
              </a:solidFill>
            </a:ln>
          </p:spPr>
          <p:txBody>
            <a:bodyPr wrap="none">
              <a:spAutoFit/>
            </a:bodyPr>
            <a:lstStyle/>
            <a:p>
              <a:r>
                <a:rPr lang="en-US" altLang="en-US" dirty="0">
                  <a:solidFill>
                    <a:schemeClr val="tx1"/>
                  </a:solidFill>
                </a:rPr>
                <a:t>Jayden</a:t>
              </a:r>
              <a:endParaRPr lang="en-US" dirty="0"/>
            </a:p>
          </p:txBody>
        </p:sp>
        <p:cxnSp>
          <p:nvCxnSpPr>
            <p:cNvPr id="6" name="Straight Arrow Connector 5"/>
            <p:cNvCxnSpPr/>
            <p:nvPr/>
          </p:nvCxnSpPr>
          <p:spPr>
            <a:xfrm flipH="1">
              <a:off x="3942603" y="2743200"/>
              <a:ext cx="520909" cy="38100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8" name="Straight Arrow Connector 7"/>
            <p:cNvCxnSpPr/>
            <p:nvPr/>
          </p:nvCxnSpPr>
          <p:spPr>
            <a:xfrm>
              <a:off x="4463512" y="2755414"/>
              <a:ext cx="520909" cy="38100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
          <p:nvSpPr>
            <p:cNvPr id="9" name="Rectangle 8"/>
            <p:cNvSpPr/>
            <p:nvPr/>
          </p:nvSpPr>
          <p:spPr>
            <a:xfrm>
              <a:off x="3236894" y="3145221"/>
              <a:ext cx="996107" cy="461665"/>
            </a:xfrm>
            <a:prstGeom prst="rect">
              <a:avLst/>
            </a:prstGeom>
          </p:spPr>
          <p:txBody>
            <a:bodyPr wrap="none">
              <a:spAutoFit/>
            </a:bodyPr>
            <a:lstStyle/>
            <a:p>
              <a:r>
                <a:rPr lang="en-US" altLang="en-US" dirty="0">
                  <a:solidFill>
                    <a:schemeClr val="tx1"/>
                  </a:solidFill>
                </a:rPr>
                <a:t>Fahad</a:t>
              </a:r>
              <a:endParaRPr lang="en-US" dirty="0"/>
            </a:p>
          </p:txBody>
        </p:sp>
      </p:grpSp>
    </p:spTree>
    <p:extLst>
      <p:ext uri="{BB962C8B-B14F-4D97-AF65-F5344CB8AC3E}">
        <p14:creationId xmlns:p14="http://schemas.microsoft.com/office/powerpoint/2010/main" val="1626565326"/>
      </p:ext>
    </p:extLst>
  </p:cSld>
  <p:clrMapOvr>
    <a:masterClrMapping/>
  </p:clrMapOvr>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01" name="Rectangle 1"/>
          <p:cNvSpPr>
            <a:spLocks noGrp="1" noChangeArrowheads="1"/>
          </p:cNvSpPr>
          <p:nvPr>
            <p:ph type="title"/>
          </p:nvPr>
        </p:nvSpPr>
        <p:spPr/>
        <p:txBody>
          <a:bodyPr rIns="132080"/>
          <a:lstStyle/>
          <a:p>
            <a:pPr eaLnBrk="1" hangingPunct="1"/>
            <a:r>
              <a:rPr lang="en-US" altLang="en-US" sz="3200">
                <a:solidFill>
                  <a:srgbClr val="800000"/>
                </a:solidFill>
                <a:ea typeface="MS PGothic" charset="-128"/>
              </a:rPr>
              <a:t>Building a BST</a:t>
            </a:r>
          </a:p>
        </p:txBody>
      </p:sp>
      <p:sp>
        <p:nvSpPr>
          <p:cNvPr id="51202" name="Slide Number Placeholder 3"/>
          <p:cNvSpPr>
            <a:spLocks noGrp="1"/>
          </p:cNvSpPr>
          <p:nvPr>
            <p:ph type="sldNum" sz="quarter" idx="12"/>
          </p:nvPr>
        </p:nvSpPr>
        <p:spPr bwMode="auto">
          <a:noFill/>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pPr>
              <a:lnSpc>
                <a:spcPct val="80000"/>
              </a:lnSpc>
            </a:pPr>
            <a:fld id="{4E621424-F6BA-4946-A00C-6394B07655A9}" type="slidenum">
              <a:rPr lang="en-US" altLang="en-US" sz="1200">
                <a:solidFill>
                  <a:srgbClr val="FFFFFF"/>
                </a:solidFill>
              </a:rPr>
              <a:pPr>
                <a:lnSpc>
                  <a:spcPct val="80000"/>
                </a:lnSpc>
              </a:pPr>
              <a:t>18</a:t>
            </a:fld>
            <a:endParaRPr lang="en-US" altLang="en-US" sz="1200">
              <a:solidFill>
                <a:srgbClr val="FFFFFF"/>
              </a:solidFill>
            </a:endParaRPr>
          </a:p>
        </p:txBody>
      </p:sp>
      <p:grpSp>
        <p:nvGrpSpPr>
          <p:cNvPr id="2" name="Group 1" descr="The tree is now:&#10;Level 0: Jayden&#10;Level 1: Jayden's left child is Fahad">
            <a:extLst>
              <a:ext uri="{FF2B5EF4-FFF2-40B4-BE49-F238E27FC236}">
                <a16:creationId xmlns:a16="http://schemas.microsoft.com/office/drawing/2014/main" id="{00BF3877-A5DB-B82F-0CD1-72EDE330384C}"/>
              </a:ext>
            </a:extLst>
          </p:cNvPr>
          <p:cNvGrpSpPr/>
          <p:nvPr/>
        </p:nvGrpSpPr>
        <p:grpSpPr>
          <a:xfrm>
            <a:off x="3236894" y="1752600"/>
            <a:ext cx="1834159" cy="2244739"/>
            <a:chOff x="3236894" y="1752600"/>
            <a:chExt cx="1834159" cy="2244739"/>
          </a:xfrm>
        </p:grpSpPr>
        <p:cxnSp>
          <p:nvCxnSpPr>
            <p:cNvPr id="11" name="Straight Arrow Connector 10"/>
            <p:cNvCxnSpPr/>
            <p:nvPr/>
          </p:nvCxnSpPr>
          <p:spPr>
            <a:xfrm>
              <a:off x="4495800" y="1752600"/>
              <a:ext cx="0" cy="53340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
          <p:nvSpPr>
            <p:cNvPr id="14" name="Rectangle 13"/>
            <p:cNvSpPr/>
            <p:nvPr/>
          </p:nvSpPr>
          <p:spPr>
            <a:xfrm>
              <a:off x="3942603" y="2281535"/>
              <a:ext cx="1128450" cy="461665"/>
            </a:xfrm>
            <a:prstGeom prst="rect">
              <a:avLst/>
            </a:prstGeom>
            <a:ln>
              <a:solidFill>
                <a:schemeClr val="accent2"/>
              </a:solidFill>
            </a:ln>
          </p:spPr>
          <p:txBody>
            <a:bodyPr wrap="none">
              <a:spAutoFit/>
            </a:bodyPr>
            <a:lstStyle/>
            <a:p>
              <a:r>
                <a:rPr lang="en-US" altLang="en-US" dirty="0">
                  <a:solidFill>
                    <a:schemeClr val="tx1"/>
                  </a:solidFill>
                </a:rPr>
                <a:t>Jayden</a:t>
              </a:r>
              <a:endParaRPr lang="en-US" dirty="0"/>
            </a:p>
          </p:txBody>
        </p:sp>
        <p:cxnSp>
          <p:nvCxnSpPr>
            <p:cNvPr id="6" name="Straight Arrow Connector 5"/>
            <p:cNvCxnSpPr/>
            <p:nvPr/>
          </p:nvCxnSpPr>
          <p:spPr>
            <a:xfrm flipH="1">
              <a:off x="3942603" y="2743200"/>
              <a:ext cx="520909" cy="38100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8" name="Straight Arrow Connector 7"/>
            <p:cNvCxnSpPr/>
            <p:nvPr/>
          </p:nvCxnSpPr>
          <p:spPr>
            <a:xfrm>
              <a:off x="4463512" y="2755414"/>
              <a:ext cx="520909" cy="38100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
          <p:nvSpPr>
            <p:cNvPr id="9" name="Rectangle 8"/>
            <p:cNvSpPr/>
            <p:nvPr/>
          </p:nvSpPr>
          <p:spPr>
            <a:xfrm>
              <a:off x="3236894" y="3145221"/>
              <a:ext cx="996107" cy="461665"/>
            </a:xfrm>
            <a:prstGeom prst="rect">
              <a:avLst/>
            </a:prstGeom>
            <a:ln>
              <a:solidFill>
                <a:schemeClr val="accent2"/>
              </a:solidFill>
            </a:ln>
          </p:spPr>
          <p:txBody>
            <a:bodyPr wrap="none">
              <a:spAutoFit/>
            </a:bodyPr>
            <a:lstStyle/>
            <a:p>
              <a:r>
                <a:rPr lang="en-US" altLang="en-US" dirty="0">
                  <a:solidFill>
                    <a:schemeClr val="tx1"/>
                  </a:solidFill>
                </a:rPr>
                <a:t>Fahad</a:t>
              </a:r>
              <a:endParaRPr lang="en-US" dirty="0"/>
            </a:p>
          </p:txBody>
        </p:sp>
        <p:cxnSp>
          <p:nvCxnSpPr>
            <p:cNvPr id="10" name="Straight Arrow Connector 9"/>
            <p:cNvCxnSpPr/>
            <p:nvPr/>
          </p:nvCxnSpPr>
          <p:spPr>
            <a:xfrm flipH="1">
              <a:off x="3301582" y="3604125"/>
              <a:ext cx="520909" cy="38100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p:cNvCxnSpPr/>
            <p:nvPr/>
          </p:nvCxnSpPr>
          <p:spPr>
            <a:xfrm>
              <a:off x="3822491" y="3616339"/>
              <a:ext cx="520909" cy="38100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479960999"/>
      </p:ext>
    </p:extLst>
  </p:cSld>
  <p:clrMapOvr>
    <a:masterClrMapping/>
  </p:clrMapOvr>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01" name="Rectangle 1"/>
          <p:cNvSpPr>
            <a:spLocks noGrp="1" noChangeArrowheads="1"/>
          </p:cNvSpPr>
          <p:nvPr>
            <p:ph type="title"/>
          </p:nvPr>
        </p:nvSpPr>
        <p:spPr/>
        <p:txBody>
          <a:bodyPr rIns="132080"/>
          <a:lstStyle/>
          <a:p>
            <a:pPr eaLnBrk="1" hangingPunct="1"/>
            <a:r>
              <a:rPr lang="en-US" altLang="en-US" sz="3200">
                <a:solidFill>
                  <a:srgbClr val="800000"/>
                </a:solidFill>
                <a:ea typeface="MS PGothic" charset="-128"/>
              </a:rPr>
              <a:t>Building a BST</a:t>
            </a:r>
          </a:p>
        </p:txBody>
      </p:sp>
      <p:sp>
        <p:nvSpPr>
          <p:cNvPr id="51202" name="Slide Number Placeholder 3"/>
          <p:cNvSpPr>
            <a:spLocks noGrp="1"/>
          </p:cNvSpPr>
          <p:nvPr>
            <p:ph type="sldNum" sz="quarter" idx="12"/>
          </p:nvPr>
        </p:nvSpPr>
        <p:spPr bwMode="auto">
          <a:noFill/>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pPr>
              <a:lnSpc>
                <a:spcPct val="80000"/>
              </a:lnSpc>
            </a:pPr>
            <a:fld id="{4E621424-F6BA-4946-A00C-6394B07655A9}" type="slidenum">
              <a:rPr lang="en-US" altLang="en-US" sz="1200">
                <a:solidFill>
                  <a:srgbClr val="FFFFFF"/>
                </a:solidFill>
              </a:rPr>
              <a:pPr>
                <a:lnSpc>
                  <a:spcPct val="80000"/>
                </a:lnSpc>
              </a:pPr>
              <a:t>19</a:t>
            </a:fld>
            <a:endParaRPr lang="en-US" altLang="en-US" sz="1200">
              <a:solidFill>
                <a:srgbClr val="FFFFFF"/>
              </a:solidFill>
            </a:endParaRPr>
          </a:p>
        </p:txBody>
      </p:sp>
      <p:grpSp>
        <p:nvGrpSpPr>
          <p:cNvPr id="2" name="Group 1" descr="&quot;Marvin&quot; is the next value to add.&#10;The tree is now:&#10;Level 0: Jayden&#10;Level 1: Jayden's left child is Fahad">
            <a:extLst>
              <a:ext uri="{FF2B5EF4-FFF2-40B4-BE49-F238E27FC236}">
                <a16:creationId xmlns:a16="http://schemas.microsoft.com/office/drawing/2014/main" id="{0326E32F-757E-41E5-FC7A-2661AB091766}"/>
              </a:ext>
            </a:extLst>
          </p:cNvPr>
          <p:cNvGrpSpPr/>
          <p:nvPr/>
        </p:nvGrpSpPr>
        <p:grpSpPr>
          <a:xfrm>
            <a:off x="3236894" y="1752600"/>
            <a:ext cx="3111269" cy="2244739"/>
            <a:chOff x="3236894" y="1752600"/>
            <a:chExt cx="3111269" cy="2244739"/>
          </a:xfrm>
        </p:grpSpPr>
        <p:cxnSp>
          <p:nvCxnSpPr>
            <p:cNvPr id="11" name="Straight Arrow Connector 10"/>
            <p:cNvCxnSpPr/>
            <p:nvPr/>
          </p:nvCxnSpPr>
          <p:spPr>
            <a:xfrm>
              <a:off x="4495800" y="1752600"/>
              <a:ext cx="0" cy="53340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
          <p:nvSpPr>
            <p:cNvPr id="14" name="Rectangle 13"/>
            <p:cNvSpPr/>
            <p:nvPr/>
          </p:nvSpPr>
          <p:spPr>
            <a:xfrm>
              <a:off x="3942603" y="2281535"/>
              <a:ext cx="1128450" cy="461665"/>
            </a:xfrm>
            <a:prstGeom prst="rect">
              <a:avLst/>
            </a:prstGeom>
            <a:ln>
              <a:solidFill>
                <a:schemeClr val="accent2"/>
              </a:solidFill>
            </a:ln>
          </p:spPr>
          <p:txBody>
            <a:bodyPr wrap="none">
              <a:spAutoFit/>
            </a:bodyPr>
            <a:lstStyle/>
            <a:p>
              <a:r>
                <a:rPr lang="en-US" altLang="en-US" dirty="0">
                  <a:solidFill>
                    <a:schemeClr val="tx1"/>
                  </a:solidFill>
                </a:rPr>
                <a:t>Jayden</a:t>
              </a:r>
              <a:endParaRPr lang="en-US" dirty="0"/>
            </a:p>
          </p:txBody>
        </p:sp>
        <p:cxnSp>
          <p:nvCxnSpPr>
            <p:cNvPr id="6" name="Straight Arrow Connector 5"/>
            <p:cNvCxnSpPr/>
            <p:nvPr/>
          </p:nvCxnSpPr>
          <p:spPr>
            <a:xfrm flipH="1">
              <a:off x="3942603" y="2743200"/>
              <a:ext cx="520909" cy="38100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8" name="Straight Arrow Connector 7"/>
            <p:cNvCxnSpPr/>
            <p:nvPr/>
          </p:nvCxnSpPr>
          <p:spPr>
            <a:xfrm>
              <a:off x="4463512" y="2755414"/>
              <a:ext cx="520909" cy="38100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
          <p:nvSpPr>
            <p:cNvPr id="9" name="Rectangle 8"/>
            <p:cNvSpPr/>
            <p:nvPr/>
          </p:nvSpPr>
          <p:spPr>
            <a:xfrm>
              <a:off x="3236894" y="3145221"/>
              <a:ext cx="996107" cy="461665"/>
            </a:xfrm>
            <a:prstGeom prst="rect">
              <a:avLst/>
            </a:prstGeom>
            <a:ln>
              <a:solidFill>
                <a:schemeClr val="accent2"/>
              </a:solidFill>
            </a:ln>
          </p:spPr>
          <p:txBody>
            <a:bodyPr wrap="none">
              <a:spAutoFit/>
            </a:bodyPr>
            <a:lstStyle/>
            <a:p>
              <a:r>
                <a:rPr lang="en-US" altLang="en-US" dirty="0">
                  <a:solidFill>
                    <a:schemeClr val="tx1"/>
                  </a:solidFill>
                </a:rPr>
                <a:t>Fahad</a:t>
              </a:r>
              <a:endParaRPr lang="en-US" dirty="0"/>
            </a:p>
          </p:txBody>
        </p:sp>
        <p:cxnSp>
          <p:nvCxnSpPr>
            <p:cNvPr id="10" name="Straight Arrow Connector 9"/>
            <p:cNvCxnSpPr/>
            <p:nvPr/>
          </p:nvCxnSpPr>
          <p:spPr>
            <a:xfrm flipH="1">
              <a:off x="3301582" y="3604125"/>
              <a:ext cx="520909" cy="38100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p:cNvCxnSpPr/>
            <p:nvPr/>
          </p:nvCxnSpPr>
          <p:spPr>
            <a:xfrm>
              <a:off x="3822491" y="3616339"/>
              <a:ext cx="520909" cy="38100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
          <p:nvSpPr>
            <p:cNvPr id="13" name="Rectangle 12"/>
            <p:cNvSpPr/>
            <p:nvPr/>
          </p:nvSpPr>
          <p:spPr>
            <a:xfrm>
              <a:off x="5257800" y="2281534"/>
              <a:ext cx="1090363" cy="461665"/>
            </a:xfrm>
            <a:prstGeom prst="rect">
              <a:avLst/>
            </a:prstGeom>
          </p:spPr>
          <p:txBody>
            <a:bodyPr wrap="none">
              <a:spAutoFit/>
            </a:bodyPr>
            <a:lstStyle/>
            <a:p>
              <a:r>
                <a:rPr lang="en-US" dirty="0"/>
                <a:t>Marvin</a:t>
              </a:r>
            </a:p>
          </p:txBody>
        </p:sp>
      </p:grpSp>
    </p:spTree>
    <p:extLst>
      <p:ext uri="{BB962C8B-B14F-4D97-AF65-F5344CB8AC3E}">
        <p14:creationId xmlns:p14="http://schemas.microsoft.com/office/powerpoint/2010/main" val="191594858"/>
      </p:ext>
    </p:extLst>
  </p:cSld>
  <p:clrMapOvr>
    <a:masterClrMapping/>
  </p:clrMapOvr>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01" name="Rectangle 1"/>
          <p:cNvSpPr>
            <a:spLocks noGrp="1" noChangeArrowheads="1"/>
          </p:cNvSpPr>
          <p:nvPr>
            <p:ph type="title"/>
          </p:nvPr>
        </p:nvSpPr>
        <p:spPr/>
        <p:txBody>
          <a:bodyPr rIns="132080"/>
          <a:lstStyle/>
          <a:p>
            <a:pPr eaLnBrk="1" hangingPunct="1"/>
            <a:r>
              <a:rPr lang="en-US" altLang="en-US" sz="3200">
                <a:solidFill>
                  <a:srgbClr val="800000"/>
                </a:solidFill>
                <a:ea typeface="MS PGothic" charset="-128"/>
              </a:rPr>
              <a:t>Building a BST</a:t>
            </a:r>
          </a:p>
        </p:txBody>
      </p:sp>
      <p:sp>
        <p:nvSpPr>
          <p:cNvPr id="51202" name="Slide Number Placeholder 3"/>
          <p:cNvSpPr>
            <a:spLocks noGrp="1"/>
          </p:cNvSpPr>
          <p:nvPr>
            <p:ph type="sldNum" sz="quarter" idx="12"/>
          </p:nvPr>
        </p:nvSpPr>
        <p:spPr bwMode="auto">
          <a:noFill/>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pPr>
              <a:lnSpc>
                <a:spcPct val="80000"/>
              </a:lnSpc>
            </a:pPr>
            <a:fld id="{4E621424-F6BA-4946-A00C-6394B07655A9}" type="slidenum">
              <a:rPr lang="en-US" altLang="en-US" sz="1200">
                <a:solidFill>
                  <a:srgbClr val="FFFFFF"/>
                </a:solidFill>
              </a:rPr>
              <a:pPr>
                <a:lnSpc>
                  <a:spcPct val="80000"/>
                </a:lnSpc>
              </a:pPr>
              <a:t>20</a:t>
            </a:fld>
            <a:endParaRPr lang="en-US" altLang="en-US" sz="1200">
              <a:solidFill>
                <a:srgbClr val="FFFFFF"/>
              </a:solidFill>
            </a:endParaRPr>
          </a:p>
        </p:txBody>
      </p:sp>
      <p:grpSp>
        <p:nvGrpSpPr>
          <p:cNvPr id="2" name="Group 1" descr="Marvin belongs as the right child of Jayden.">
            <a:extLst>
              <a:ext uri="{FF2B5EF4-FFF2-40B4-BE49-F238E27FC236}">
                <a16:creationId xmlns:a16="http://schemas.microsoft.com/office/drawing/2014/main" id="{6879E0CF-371B-D99D-88BE-498324517FC4}"/>
              </a:ext>
            </a:extLst>
          </p:cNvPr>
          <p:cNvGrpSpPr/>
          <p:nvPr/>
        </p:nvGrpSpPr>
        <p:grpSpPr>
          <a:xfrm>
            <a:off x="3236894" y="1752600"/>
            <a:ext cx="2715150" cy="2244739"/>
            <a:chOff x="3236894" y="1752600"/>
            <a:chExt cx="2715150" cy="2244739"/>
          </a:xfrm>
        </p:grpSpPr>
        <p:cxnSp>
          <p:nvCxnSpPr>
            <p:cNvPr id="11" name="Straight Arrow Connector 10"/>
            <p:cNvCxnSpPr/>
            <p:nvPr/>
          </p:nvCxnSpPr>
          <p:spPr>
            <a:xfrm>
              <a:off x="4495800" y="1752600"/>
              <a:ext cx="0" cy="53340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
          <p:nvSpPr>
            <p:cNvPr id="14" name="Rectangle 13"/>
            <p:cNvSpPr/>
            <p:nvPr/>
          </p:nvSpPr>
          <p:spPr>
            <a:xfrm>
              <a:off x="3942603" y="2281535"/>
              <a:ext cx="1128450" cy="461665"/>
            </a:xfrm>
            <a:prstGeom prst="rect">
              <a:avLst/>
            </a:prstGeom>
            <a:ln>
              <a:solidFill>
                <a:schemeClr val="accent2"/>
              </a:solidFill>
            </a:ln>
          </p:spPr>
          <p:txBody>
            <a:bodyPr wrap="none">
              <a:spAutoFit/>
            </a:bodyPr>
            <a:lstStyle/>
            <a:p>
              <a:r>
                <a:rPr lang="en-US" altLang="en-US" dirty="0">
                  <a:solidFill>
                    <a:schemeClr val="tx1"/>
                  </a:solidFill>
                </a:rPr>
                <a:t>Jayden</a:t>
              </a:r>
              <a:endParaRPr lang="en-US" dirty="0"/>
            </a:p>
          </p:txBody>
        </p:sp>
        <p:cxnSp>
          <p:nvCxnSpPr>
            <p:cNvPr id="6" name="Straight Arrow Connector 5"/>
            <p:cNvCxnSpPr/>
            <p:nvPr/>
          </p:nvCxnSpPr>
          <p:spPr>
            <a:xfrm flipH="1">
              <a:off x="3942603" y="2743200"/>
              <a:ext cx="520909" cy="38100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8" name="Straight Arrow Connector 7"/>
            <p:cNvCxnSpPr/>
            <p:nvPr/>
          </p:nvCxnSpPr>
          <p:spPr>
            <a:xfrm>
              <a:off x="4463512" y="2755414"/>
              <a:ext cx="520909" cy="38100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
          <p:nvSpPr>
            <p:cNvPr id="9" name="Rectangle 8"/>
            <p:cNvSpPr/>
            <p:nvPr/>
          </p:nvSpPr>
          <p:spPr>
            <a:xfrm>
              <a:off x="3236894" y="3145221"/>
              <a:ext cx="996107" cy="461665"/>
            </a:xfrm>
            <a:prstGeom prst="rect">
              <a:avLst/>
            </a:prstGeom>
            <a:ln>
              <a:solidFill>
                <a:schemeClr val="accent2"/>
              </a:solidFill>
            </a:ln>
          </p:spPr>
          <p:txBody>
            <a:bodyPr wrap="none">
              <a:spAutoFit/>
            </a:bodyPr>
            <a:lstStyle/>
            <a:p>
              <a:r>
                <a:rPr lang="en-US" altLang="en-US" dirty="0">
                  <a:solidFill>
                    <a:schemeClr val="tx1"/>
                  </a:solidFill>
                </a:rPr>
                <a:t>Fahad</a:t>
              </a:r>
              <a:endParaRPr lang="en-US" dirty="0"/>
            </a:p>
          </p:txBody>
        </p:sp>
        <p:cxnSp>
          <p:nvCxnSpPr>
            <p:cNvPr id="10" name="Straight Arrow Connector 9"/>
            <p:cNvCxnSpPr/>
            <p:nvPr/>
          </p:nvCxnSpPr>
          <p:spPr>
            <a:xfrm flipH="1">
              <a:off x="3301582" y="3604125"/>
              <a:ext cx="520909" cy="38100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p:cNvCxnSpPr/>
            <p:nvPr/>
          </p:nvCxnSpPr>
          <p:spPr>
            <a:xfrm>
              <a:off x="3822491" y="3616339"/>
              <a:ext cx="520909" cy="38100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
          <p:nvSpPr>
            <p:cNvPr id="13" name="Rectangle 12"/>
            <p:cNvSpPr/>
            <p:nvPr/>
          </p:nvSpPr>
          <p:spPr>
            <a:xfrm>
              <a:off x="4861681" y="3155454"/>
              <a:ext cx="1090363" cy="461665"/>
            </a:xfrm>
            <a:prstGeom prst="rect">
              <a:avLst/>
            </a:prstGeom>
          </p:spPr>
          <p:txBody>
            <a:bodyPr wrap="none">
              <a:spAutoFit/>
            </a:bodyPr>
            <a:lstStyle/>
            <a:p>
              <a:r>
                <a:rPr lang="en-US" dirty="0"/>
                <a:t>Marvin</a:t>
              </a:r>
            </a:p>
          </p:txBody>
        </p:sp>
      </p:grpSp>
    </p:spTree>
    <p:extLst>
      <p:ext uri="{BB962C8B-B14F-4D97-AF65-F5344CB8AC3E}">
        <p14:creationId xmlns:p14="http://schemas.microsoft.com/office/powerpoint/2010/main" val="1441802578"/>
      </p:ext>
    </p:extLst>
  </p:cSld>
  <p:clrMapOvr>
    <a:masterClrMapping/>
  </p:clrMapOvr>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01" name="Rectangle 1"/>
          <p:cNvSpPr>
            <a:spLocks noGrp="1" noChangeArrowheads="1"/>
          </p:cNvSpPr>
          <p:nvPr>
            <p:ph type="title"/>
          </p:nvPr>
        </p:nvSpPr>
        <p:spPr/>
        <p:txBody>
          <a:bodyPr rIns="132080"/>
          <a:lstStyle/>
          <a:p>
            <a:pPr eaLnBrk="1" hangingPunct="1"/>
            <a:r>
              <a:rPr lang="en-US" altLang="en-US" sz="3200">
                <a:solidFill>
                  <a:srgbClr val="800000"/>
                </a:solidFill>
                <a:ea typeface="MS PGothic" charset="-128"/>
              </a:rPr>
              <a:t>Building a BST</a:t>
            </a:r>
          </a:p>
        </p:txBody>
      </p:sp>
      <p:sp>
        <p:nvSpPr>
          <p:cNvPr id="51202" name="Slide Number Placeholder 3"/>
          <p:cNvSpPr>
            <a:spLocks noGrp="1"/>
          </p:cNvSpPr>
          <p:nvPr>
            <p:ph type="sldNum" sz="quarter" idx="12"/>
          </p:nvPr>
        </p:nvSpPr>
        <p:spPr bwMode="auto">
          <a:noFill/>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pPr>
              <a:lnSpc>
                <a:spcPct val="80000"/>
              </a:lnSpc>
            </a:pPr>
            <a:fld id="{4E621424-F6BA-4946-A00C-6394B07655A9}" type="slidenum">
              <a:rPr lang="en-US" altLang="en-US" sz="1200">
                <a:solidFill>
                  <a:srgbClr val="FFFFFF"/>
                </a:solidFill>
              </a:rPr>
              <a:pPr>
                <a:lnSpc>
                  <a:spcPct val="80000"/>
                </a:lnSpc>
              </a:pPr>
              <a:t>21</a:t>
            </a:fld>
            <a:endParaRPr lang="en-US" altLang="en-US" sz="1200">
              <a:solidFill>
                <a:srgbClr val="FFFFFF"/>
              </a:solidFill>
            </a:endParaRPr>
          </a:p>
        </p:txBody>
      </p:sp>
      <p:grpSp>
        <p:nvGrpSpPr>
          <p:cNvPr id="2" name="Group 1" descr="&quot;April&quot; is the next value to add.&#10;The tree is now:&#10;Level 0: Jayden&#10;Level 1: Jayden's left child is Fahad and the right child is Marvin">
            <a:extLst>
              <a:ext uri="{FF2B5EF4-FFF2-40B4-BE49-F238E27FC236}">
                <a16:creationId xmlns:a16="http://schemas.microsoft.com/office/drawing/2014/main" id="{D5CC7016-39EE-337B-C18E-08B892C5C9E9}"/>
              </a:ext>
            </a:extLst>
          </p:cNvPr>
          <p:cNvGrpSpPr/>
          <p:nvPr/>
        </p:nvGrpSpPr>
        <p:grpSpPr>
          <a:xfrm>
            <a:off x="3236894" y="1752600"/>
            <a:ext cx="2811828" cy="2279678"/>
            <a:chOff x="3236894" y="1752600"/>
            <a:chExt cx="2811828" cy="2279678"/>
          </a:xfrm>
        </p:grpSpPr>
        <p:cxnSp>
          <p:nvCxnSpPr>
            <p:cNvPr id="11" name="Straight Arrow Connector 10"/>
            <p:cNvCxnSpPr/>
            <p:nvPr/>
          </p:nvCxnSpPr>
          <p:spPr>
            <a:xfrm>
              <a:off x="4495800" y="1752600"/>
              <a:ext cx="0" cy="53340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
          <p:nvSpPr>
            <p:cNvPr id="14" name="Rectangle 13"/>
            <p:cNvSpPr/>
            <p:nvPr/>
          </p:nvSpPr>
          <p:spPr>
            <a:xfrm>
              <a:off x="3942603" y="2281535"/>
              <a:ext cx="1128450" cy="461665"/>
            </a:xfrm>
            <a:prstGeom prst="rect">
              <a:avLst/>
            </a:prstGeom>
            <a:ln>
              <a:solidFill>
                <a:schemeClr val="accent2"/>
              </a:solidFill>
            </a:ln>
          </p:spPr>
          <p:txBody>
            <a:bodyPr wrap="none">
              <a:spAutoFit/>
            </a:bodyPr>
            <a:lstStyle/>
            <a:p>
              <a:r>
                <a:rPr lang="en-US" altLang="en-US" dirty="0">
                  <a:solidFill>
                    <a:schemeClr val="tx1"/>
                  </a:solidFill>
                </a:rPr>
                <a:t>Jayden</a:t>
              </a:r>
              <a:endParaRPr lang="en-US" dirty="0"/>
            </a:p>
          </p:txBody>
        </p:sp>
        <p:cxnSp>
          <p:nvCxnSpPr>
            <p:cNvPr id="6" name="Straight Arrow Connector 5"/>
            <p:cNvCxnSpPr/>
            <p:nvPr/>
          </p:nvCxnSpPr>
          <p:spPr>
            <a:xfrm flipH="1">
              <a:off x="3942603" y="2743200"/>
              <a:ext cx="520909" cy="38100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8" name="Straight Arrow Connector 7"/>
            <p:cNvCxnSpPr/>
            <p:nvPr/>
          </p:nvCxnSpPr>
          <p:spPr>
            <a:xfrm>
              <a:off x="4463512" y="2755414"/>
              <a:ext cx="520909" cy="38100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
          <p:nvSpPr>
            <p:cNvPr id="9" name="Rectangle 8"/>
            <p:cNvSpPr/>
            <p:nvPr/>
          </p:nvSpPr>
          <p:spPr>
            <a:xfrm>
              <a:off x="3236894" y="3145221"/>
              <a:ext cx="996107" cy="461665"/>
            </a:xfrm>
            <a:prstGeom prst="rect">
              <a:avLst/>
            </a:prstGeom>
            <a:ln>
              <a:solidFill>
                <a:schemeClr val="accent2"/>
              </a:solidFill>
            </a:ln>
          </p:spPr>
          <p:txBody>
            <a:bodyPr wrap="none">
              <a:spAutoFit/>
            </a:bodyPr>
            <a:lstStyle/>
            <a:p>
              <a:r>
                <a:rPr lang="en-US" altLang="en-US" dirty="0">
                  <a:solidFill>
                    <a:schemeClr val="tx1"/>
                  </a:solidFill>
                </a:rPr>
                <a:t>Fahad</a:t>
              </a:r>
              <a:endParaRPr lang="en-US" dirty="0"/>
            </a:p>
          </p:txBody>
        </p:sp>
        <p:cxnSp>
          <p:nvCxnSpPr>
            <p:cNvPr id="10" name="Straight Arrow Connector 9"/>
            <p:cNvCxnSpPr/>
            <p:nvPr/>
          </p:nvCxnSpPr>
          <p:spPr>
            <a:xfrm flipH="1">
              <a:off x="3301582" y="3604125"/>
              <a:ext cx="520909" cy="38100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p:cNvCxnSpPr/>
            <p:nvPr/>
          </p:nvCxnSpPr>
          <p:spPr>
            <a:xfrm>
              <a:off x="3822491" y="3616339"/>
              <a:ext cx="520909" cy="38100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
          <p:nvSpPr>
            <p:cNvPr id="13" name="Rectangle 12"/>
            <p:cNvSpPr/>
            <p:nvPr/>
          </p:nvSpPr>
          <p:spPr>
            <a:xfrm>
              <a:off x="4861681" y="3155454"/>
              <a:ext cx="1090363" cy="461665"/>
            </a:xfrm>
            <a:prstGeom prst="rect">
              <a:avLst/>
            </a:prstGeom>
            <a:ln>
              <a:solidFill>
                <a:schemeClr val="accent2"/>
              </a:solidFill>
            </a:ln>
          </p:spPr>
          <p:txBody>
            <a:bodyPr wrap="none">
              <a:spAutoFit/>
            </a:bodyPr>
            <a:lstStyle/>
            <a:p>
              <a:r>
                <a:rPr lang="en-US" dirty="0"/>
                <a:t>Marvin</a:t>
              </a:r>
            </a:p>
          </p:txBody>
        </p:sp>
        <p:cxnSp>
          <p:nvCxnSpPr>
            <p:cNvPr id="15" name="Straight Arrow Connector 14"/>
            <p:cNvCxnSpPr/>
            <p:nvPr/>
          </p:nvCxnSpPr>
          <p:spPr>
            <a:xfrm flipH="1">
              <a:off x="4788541" y="3639064"/>
              <a:ext cx="520909" cy="38100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p:cNvCxnSpPr/>
            <p:nvPr/>
          </p:nvCxnSpPr>
          <p:spPr>
            <a:xfrm>
              <a:off x="5309450" y="3651278"/>
              <a:ext cx="520909" cy="38100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
          <p:nvSpPr>
            <p:cNvPr id="17" name="Rectangle 16"/>
            <p:cNvSpPr/>
            <p:nvPr/>
          </p:nvSpPr>
          <p:spPr>
            <a:xfrm>
              <a:off x="5257800" y="2281534"/>
              <a:ext cx="790922" cy="461665"/>
            </a:xfrm>
            <a:prstGeom prst="rect">
              <a:avLst/>
            </a:prstGeom>
          </p:spPr>
          <p:txBody>
            <a:bodyPr wrap="none">
              <a:spAutoFit/>
            </a:bodyPr>
            <a:lstStyle/>
            <a:p>
              <a:r>
                <a:rPr lang="en-US" altLang="en-US" dirty="0"/>
                <a:t>A</a:t>
              </a:r>
              <a:r>
                <a:rPr lang="en-US" altLang="en-US" dirty="0">
                  <a:solidFill>
                    <a:schemeClr val="tx1"/>
                  </a:solidFill>
                </a:rPr>
                <a:t>pril</a:t>
              </a:r>
              <a:endParaRPr lang="en-US" dirty="0"/>
            </a:p>
          </p:txBody>
        </p:sp>
      </p:grpSp>
    </p:spTree>
    <p:extLst>
      <p:ext uri="{BB962C8B-B14F-4D97-AF65-F5344CB8AC3E}">
        <p14:creationId xmlns:p14="http://schemas.microsoft.com/office/powerpoint/2010/main" val="1055100647"/>
      </p:ext>
    </p:extLst>
  </p:cSld>
  <p:clrMapOvr>
    <a:masterClrMapping/>
  </p:clrMapOvr>
  <p:transition/>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01" name="Rectangle 1"/>
          <p:cNvSpPr>
            <a:spLocks noGrp="1" noChangeArrowheads="1"/>
          </p:cNvSpPr>
          <p:nvPr>
            <p:ph type="title"/>
          </p:nvPr>
        </p:nvSpPr>
        <p:spPr/>
        <p:txBody>
          <a:bodyPr rIns="132080"/>
          <a:lstStyle/>
          <a:p>
            <a:pPr eaLnBrk="1" hangingPunct="1"/>
            <a:r>
              <a:rPr lang="en-US" altLang="en-US" sz="3200">
                <a:solidFill>
                  <a:srgbClr val="800000"/>
                </a:solidFill>
                <a:ea typeface="MS PGothic" charset="-128"/>
              </a:rPr>
              <a:t>Building a BST</a:t>
            </a:r>
          </a:p>
        </p:txBody>
      </p:sp>
      <p:sp>
        <p:nvSpPr>
          <p:cNvPr id="51202" name="Slide Number Placeholder 3"/>
          <p:cNvSpPr>
            <a:spLocks noGrp="1"/>
          </p:cNvSpPr>
          <p:nvPr>
            <p:ph type="sldNum" sz="quarter" idx="12"/>
          </p:nvPr>
        </p:nvSpPr>
        <p:spPr bwMode="auto">
          <a:noFill/>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pPr>
              <a:lnSpc>
                <a:spcPct val="80000"/>
              </a:lnSpc>
            </a:pPr>
            <a:fld id="{4E621424-F6BA-4946-A00C-6394B07655A9}" type="slidenum">
              <a:rPr lang="en-US" altLang="en-US" sz="1200">
                <a:solidFill>
                  <a:srgbClr val="FFFFFF"/>
                </a:solidFill>
              </a:rPr>
              <a:pPr>
                <a:lnSpc>
                  <a:spcPct val="80000"/>
                </a:lnSpc>
              </a:pPr>
              <a:t>22</a:t>
            </a:fld>
            <a:endParaRPr lang="en-US" altLang="en-US" sz="1200">
              <a:solidFill>
                <a:srgbClr val="FFFFFF"/>
              </a:solidFill>
            </a:endParaRPr>
          </a:p>
        </p:txBody>
      </p:sp>
      <p:grpSp>
        <p:nvGrpSpPr>
          <p:cNvPr id="2" name="Group 1" descr="&quot;April&quot; belongs left of Jayden since it's smaller than Jayden">
            <a:extLst>
              <a:ext uri="{FF2B5EF4-FFF2-40B4-BE49-F238E27FC236}">
                <a16:creationId xmlns:a16="http://schemas.microsoft.com/office/drawing/2014/main" id="{0CA0E7D7-22F1-25F1-5449-25FE7D987BF2}"/>
              </a:ext>
            </a:extLst>
          </p:cNvPr>
          <p:cNvGrpSpPr/>
          <p:nvPr/>
        </p:nvGrpSpPr>
        <p:grpSpPr>
          <a:xfrm>
            <a:off x="2457230" y="1752600"/>
            <a:ext cx="3494814" cy="2279678"/>
            <a:chOff x="2457230" y="1752600"/>
            <a:chExt cx="3494814" cy="2279678"/>
          </a:xfrm>
        </p:grpSpPr>
        <p:cxnSp>
          <p:nvCxnSpPr>
            <p:cNvPr id="11" name="Straight Arrow Connector 10"/>
            <p:cNvCxnSpPr/>
            <p:nvPr/>
          </p:nvCxnSpPr>
          <p:spPr>
            <a:xfrm>
              <a:off x="4495800" y="1752600"/>
              <a:ext cx="0" cy="53340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
          <p:nvSpPr>
            <p:cNvPr id="14" name="Rectangle 13"/>
            <p:cNvSpPr/>
            <p:nvPr/>
          </p:nvSpPr>
          <p:spPr>
            <a:xfrm>
              <a:off x="3942603" y="2281535"/>
              <a:ext cx="1128450" cy="461665"/>
            </a:xfrm>
            <a:prstGeom prst="rect">
              <a:avLst/>
            </a:prstGeom>
            <a:ln>
              <a:solidFill>
                <a:schemeClr val="accent2"/>
              </a:solidFill>
            </a:ln>
          </p:spPr>
          <p:txBody>
            <a:bodyPr wrap="none">
              <a:spAutoFit/>
            </a:bodyPr>
            <a:lstStyle/>
            <a:p>
              <a:r>
                <a:rPr lang="en-US" altLang="en-US" dirty="0">
                  <a:solidFill>
                    <a:schemeClr val="tx1"/>
                  </a:solidFill>
                </a:rPr>
                <a:t>Jayden</a:t>
              </a:r>
              <a:endParaRPr lang="en-US" dirty="0"/>
            </a:p>
          </p:txBody>
        </p:sp>
        <p:cxnSp>
          <p:nvCxnSpPr>
            <p:cNvPr id="6" name="Straight Arrow Connector 5"/>
            <p:cNvCxnSpPr/>
            <p:nvPr/>
          </p:nvCxnSpPr>
          <p:spPr>
            <a:xfrm flipH="1">
              <a:off x="3942603" y="2743200"/>
              <a:ext cx="520909" cy="38100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8" name="Straight Arrow Connector 7"/>
            <p:cNvCxnSpPr/>
            <p:nvPr/>
          </p:nvCxnSpPr>
          <p:spPr>
            <a:xfrm>
              <a:off x="4463512" y="2755414"/>
              <a:ext cx="520909" cy="38100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
          <p:nvSpPr>
            <p:cNvPr id="9" name="Rectangle 8"/>
            <p:cNvSpPr/>
            <p:nvPr/>
          </p:nvSpPr>
          <p:spPr>
            <a:xfrm>
              <a:off x="3236894" y="3145221"/>
              <a:ext cx="996107" cy="461665"/>
            </a:xfrm>
            <a:prstGeom prst="rect">
              <a:avLst/>
            </a:prstGeom>
            <a:ln>
              <a:solidFill>
                <a:schemeClr val="accent2"/>
              </a:solidFill>
            </a:ln>
          </p:spPr>
          <p:txBody>
            <a:bodyPr wrap="none">
              <a:spAutoFit/>
            </a:bodyPr>
            <a:lstStyle/>
            <a:p>
              <a:r>
                <a:rPr lang="en-US" altLang="en-US" dirty="0">
                  <a:solidFill>
                    <a:schemeClr val="tx1"/>
                  </a:solidFill>
                </a:rPr>
                <a:t>Fahad</a:t>
              </a:r>
              <a:endParaRPr lang="en-US" dirty="0"/>
            </a:p>
          </p:txBody>
        </p:sp>
        <p:cxnSp>
          <p:nvCxnSpPr>
            <p:cNvPr id="10" name="Straight Arrow Connector 9"/>
            <p:cNvCxnSpPr/>
            <p:nvPr/>
          </p:nvCxnSpPr>
          <p:spPr>
            <a:xfrm flipH="1">
              <a:off x="3301582" y="3604125"/>
              <a:ext cx="520909" cy="38100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p:cNvCxnSpPr/>
            <p:nvPr/>
          </p:nvCxnSpPr>
          <p:spPr>
            <a:xfrm>
              <a:off x="3822491" y="3616339"/>
              <a:ext cx="520909" cy="38100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
          <p:nvSpPr>
            <p:cNvPr id="13" name="Rectangle 12"/>
            <p:cNvSpPr/>
            <p:nvPr/>
          </p:nvSpPr>
          <p:spPr>
            <a:xfrm>
              <a:off x="4861681" y="3155454"/>
              <a:ext cx="1090363" cy="461665"/>
            </a:xfrm>
            <a:prstGeom prst="rect">
              <a:avLst/>
            </a:prstGeom>
            <a:ln>
              <a:solidFill>
                <a:schemeClr val="accent2"/>
              </a:solidFill>
            </a:ln>
          </p:spPr>
          <p:txBody>
            <a:bodyPr wrap="none">
              <a:spAutoFit/>
            </a:bodyPr>
            <a:lstStyle/>
            <a:p>
              <a:r>
                <a:rPr lang="en-US" dirty="0"/>
                <a:t>Marvin</a:t>
              </a:r>
            </a:p>
          </p:txBody>
        </p:sp>
        <p:cxnSp>
          <p:nvCxnSpPr>
            <p:cNvPr id="15" name="Straight Arrow Connector 14"/>
            <p:cNvCxnSpPr/>
            <p:nvPr/>
          </p:nvCxnSpPr>
          <p:spPr>
            <a:xfrm flipH="1">
              <a:off x="4788541" y="3639064"/>
              <a:ext cx="520909" cy="38100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p:cNvCxnSpPr/>
            <p:nvPr/>
          </p:nvCxnSpPr>
          <p:spPr>
            <a:xfrm>
              <a:off x="5309450" y="3651278"/>
              <a:ext cx="520909" cy="38100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
          <p:nvSpPr>
            <p:cNvPr id="18" name="Rectangle 17"/>
            <p:cNvSpPr/>
            <p:nvPr/>
          </p:nvSpPr>
          <p:spPr>
            <a:xfrm>
              <a:off x="2457230" y="3136414"/>
              <a:ext cx="790922" cy="461665"/>
            </a:xfrm>
            <a:prstGeom prst="rect">
              <a:avLst/>
            </a:prstGeom>
          </p:spPr>
          <p:txBody>
            <a:bodyPr wrap="none">
              <a:spAutoFit/>
            </a:bodyPr>
            <a:lstStyle/>
            <a:p>
              <a:r>
                <a:rPr lang="en-US" altLang="en-US" dirty="0"/>
                <a:t>A</a:t>
              </a:r>
              <a:r>
                <a:rPr lang="en-US" altLang="en-US" dirty="0">
                  <a:solidFill>
                    <a:schemeClr val="tx1"/>
                  </a:solidFill>
                </a:rPr>
                <a:t>pril</a:t>
              </a:r>
              <a:endParaRPr lang="en-US" dirty="0"/>
            </a:p>
          </p:txBody>
        </p:sp>
      </p:grpSp>
    </p:spTree>
    <p:extLst>
      <p:ext uri="{BB962C8B-B14F-4D97-AF65-F5344CB8AC3E}">
        <p14:creationId xmlns:p14="http://schemas.microsoft.com/office/powerpoint/2010/main" val="496694905"/>
      </p:ext>
    </p:extLst>
  </p:cSld>
  <p:clrMapOvr>
    <a:masterClrMapping/>
  </p:clrMapOvr>
  <p:transition/>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01" name="Rectangle 1"/>
          <p:cNvSpPr>
            <a:spLocks noGrp="1" noChangeArrowheads="1"/>
          </p:cNvSpPr>
          <p:nvPr>
            <p:ph type="title"/>
          </p:nvPr>
        </p:nvSpPr>
        <p:spPr/>
        <p:txBody>
          <a:bodyPr rIns="132080"/>
          <a:lstStyle/>
          <a:p>
            <a:pPr eaLnBrk="1" hangingPunct="1"/>
            <a:r>
              <a:rPr lang="en-US" altLang="en-US" sz="3200">
                <a:solidFill>
                  <a:srgbClr val="800000"/>
                </a:solidFill>
                <a:ea typeface="MS PGothic" charset="-128"/>
              </a:rPr>
              <a:t>Building a BST</a:t>
            </a:r>
          </a:p>
        </p:txBody>
      </p:sp>
      <p:sp>
        <p:nvSpPr>
          <p:cNvPr id="51202" name="Slide Number Placeholder 3"/>
          <p:cNvSpPr>
            <a:spLocks noGrp="1"/>
          </p:cNvSpPr>
          <p:nvPr>
            <p:ph type="sldNum" sz="quarter" idx="12"/>
          </p:nvPr>
        </p:nvSpPr>
        <p:spPr bwMode="auto">
          <a:noFill/>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pPr>
              <a:lnSpc>
                <a:spcPct val="80000"/>
              </a:lnSpc>
            </a:pPr>
            <a:fld id="{4E621424-F6BA-4946-A00C-6394B07655A9}" type="slidenum">
              <a:rPr lang="en-US" altLang="en-US" sz="1200">
                <a:solidFill>
                  <a:srgbClr val="FFFFFF"/>
                </a:solidFill>
              </a:rPr>
              <a:pPr>
                <a:lnSpc>
                  <a:spcPct val="80000"/>
                </a:lnSpc>
              </a:pPr>
              <a:t>23</a:t>
            </a:fld>
            <a:endParaRPr lang="en-US" altLang="en-US" sz="1200">
              <a:solidFill>
                <a:srgbClr val="FFFFFF"/>
              </a:solidFill>
            </a:endParaRPr>
          </a:p>
        </p:txBody>
      </p:sp>
      <p:grpSp>
        <p:nvGrpSpPr>
          <p:cNvPr id="2" name="Group 1" descr="April belongs left of Fahad since it's smaller than Fahad.">
            <a:extLst>
              <a:ext uri="{FF2B5EF4-FFF2-40B4-BE49-F238E27FC236}">
                <a16:creationId xmlns:a16="http://schemas.microsoft.com/office/drawing/2014/main" id="{BC09F3CB-D806-E58F-82DC-F953C7CD2389}"/>
              </a:ext>
            </a:extLst>
          </p:cNvPr>
          <p:cNvGrpSpPr/>
          <p:nvPr/>
        </p:nvGrpSpPr>
        <p:grpSpPr>
          <a:xfrm>
            <a:off x="2856441" y="1752600"/>
            <a:ext cx="3095603" cy="2691429"/>
            <a:chOff x="2856441" y="1752600"/>
            <a:chExt cx="3095603" cy="2691429"/>
          </a:xfrm>
        </p:grpSpPr>
        <p:cxnSp>
          <p:nvCxnSpPr>
            <p:cNvPr id="11" name="Straight Arrow Connector 10"/>
            <p:cNvCxnSpPr/>
            <p:nvPr/>
          </p:nvCxnSpPr>
          <p:spPr>
            <a:xfrm>
              <a:off x="4495800" y="1752600"/>
              <a:ext cx="0" cy="53340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
          <p:nvSpPr>
            <p:cNvPr id="14" name="Rectangle 13"/>
            <p:cNvSpPr/>
            <p:nvPr/>
          </p:nvSpPr>
          <p:spPr>
            <a:xfrm>
              <a:off x="3942603" y="2281535"/>
              <a:ext cx="1128450" cy="461665"/>
            </a:xfrm>
            <a:prstGeom prst="rect">
              <a:avLst/>
            </a:prstGeom>
            <a:ln>
              <a:solidFill>
                <a:schemeClr val="accent2"/>
              </a:solidFill>
            </a:ln>
          </p:spPr>
          <p:txBody>
            <a:bodyPr wrap="none">
              <a:spAutoFit/>
            </a:bodyPr>
            <a:lstStyle/>
            <a:p>
              <a:r>
                <a:rPr lang="en-US" altLang="en-US" dirty="0">
                  <a:solidFill>
                    <a:schemeClr val="tx1"/>
                  </a:solidFill>
                </a:rPr>
                <a:t>Jayden</a:t>
              </a:r>
              <a:endParaRPr lang="en-US" dirty="0"/>
            </a:p>
          </p:txBody>
        </p:sp>
        <p:cxnSp>
          <p:nvCxnSpPr>
            <p:cNvPr id="6" name="Straight Arrow Connector 5"/>
            <p:cNvCxnSpPr/>
            <p:nvPr/>
          </p:nvCxnSpPr>
          <p:spPr>
            <a:xfrm flipH="1">
              <a:off x="3942603" y="2743200"/>
              <a:ext cx="520909" cy="38100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8" name="Straight Arrow Connector 7"/>
            <p:cNvCxnSpPr/>
            <p:nvPr/>
          </p:nvCxnSpPr>
          <p:spPr>
            <a:xfrm>
              <a:off x="4463512" y="2755414"/>
              <a:ext cx="520909" cy="38100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
          <p:nvSpPr>
            <p:cNvPr id="9" name="Rectangle 8"/>
            <p:cNvSpPr/>
            <p:nvPr/>
          </p:nvSpPr>
          <p:spPr>
            <a:xfrm>
              <a:off x="3236894" y="3145221"/>
              <a:ext cx="996107" cy="461665"/>
            </a:xfrm>
            <a:prstGeom prst="rect">
              <a:avLst/>
            </a:prstGeom>
            <a:ln>
              <a:solidFill>
                <a:schemeClr val="accent2"/>
              </a:solidFill>
            </a:ln>
          </p:spPr>
          <p:txBody>
            <a:bodyPr wrap="none">
              <a:spAutoFit/>
            </a:bodyPr>
            <a:lstStyle/>
            <a:p>
              <a:r>
                <a:rPr lang="en-US" altLang="en-US" dirty="0">
                  <a:solidFill>
                    <a:schemeClr val="tx1"/>
                  </a:solidFill>
                </a:rPr>
                <a:t>Fahad</a:t>
              </a:r>
              <a:endParaRPr lang="en-US" dirty="0"/>
            </a:p>
          </p:txBody>
        </p:sp>
        <p:cxnSp>
          <p:nvCxnSpPr>
            <p:cNvPr id="10" name="Straight Arrow Connector 9"/>
            <p:cNvCxnSpPr/>
            <p:nvPr/>
          </p:nvCxnSpPr>
          <p:spPr>
            <a:xfrm flipH="1">
              <a:off x="3301582" y="3604125"/>
              <a:ext cx="520909" cy="38100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p:cNvCxnSpPr/>
            <p:nvPr/>
          </p:nvCxnSpPr>
          <p:spPr>
            <a:xfrm>
              <a:off x="3822491" y="3616339"/>
              <a:ext cx="520909" cy="38100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
          <p:nvSpPr>
            <p:cNvPr id="13" name="Rectangle 12"/>
            <p:cNvSpPr/>
            <p:nvPr/>
          </p:nvSpPr>
          <p:spPr>
            <a:xfrm>
              <a:off x="4861681" y="3155454"/>
              <a:ext cx="1090363" cy="461665"/>
            </a:xfrm>
            <a:prstGeom prst="rect">
              <a:avLst/>
            </a:prstGeom>
            <a:ln>
              <a:solidFill>
                <a:schemeClr val="accent2"/>
              </a:solidFill>
            </a:ln>
          </p:spPr>
          <p:txBody>
            <a:bodyPr wrap="none">
              <a:spAutoFit/>
            </a:bodyPr>
            <a:lstStyle/>
            <a:p>
              <a:r>
                <a:rPr lang="en-US" dirty="0"/>
                <a:t>Marvin</a:t>
              </a:r>
            </a:p>
          </p:txBody>
        </p:sp>
        <p:cxnSp>
          <p:nvCxnSpPr>
            <p:cNvPr id="15" name="Straight Arrow Connector 14"/>
            <p:cNvCxnSpPr/>
            <p:nvPr/>
          </p:nvCxnSpPr>
          <p:spPr>
            <a:xfrm flipH="1">
              <a:off x="4788541" y="3639064"/>
              <a:ext cx="520909" cy="38100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p:cNvCxnSpPr/>
            <p:nvPr/>
          </p:nvCxnSpPr>
          <p:spPr>
            <a:xfrm>
              <a:off x="5309450" y="3651278"/>
              <a:ext cx="520909" cy="38100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
          <p:nvSpPr>
            <p:cNvPr id="18" name="Rectangle 17"/>
            <p:cNvSpPr/>
            <p:nvPr/>
          </p:nvSpPr>
          <p:spPr>
            <a:xfrm>
              <a:off x="2856441" y="3982364"/>
              <a:ext cx="790922" cy="461665"/>
            </a:xfrm>
            <a:prstGeom prst="rect">
              <a:avLst/>
            </a:prstGeom>
          </p:spPr>
          <p:txBody>
            <a:bodyPr wrap="none">
              <a:spAutoFit/>
            </a:bodyPr>
            <a:lstStyle/>
            <a:p>
              <a:r>
                <a:rPr lang="en-US" altLang="en-US" dirty="0"/>
                <a:t>A</a:t>
              </a:r>
              <a:r>
                <a:rPr lang="en-US" altLang="en-US" dirty="0">
                  <a:solidFill>
                    <a:schemeClr val="tx1"/>
                  </a:solidFill>
                </a:rPr>
                <a:t>pril</a:t>
              </a:r>
              <a:endParaRPr lang="en-US" dirty="0"/>
            </a:p>
          </p:txBody>
        </p:sp>
      </p:grpSp>
    </p:spTree>
    <p:extLst>
      <p:ext uri="{BB962C8B-B14F-4D97-AF65-F5344CB8AC3E}">
        <p14:creationId xmlns:p14="http://schemas.microsoft.com/office/powerpoint/2010/main" val="802192166"/>
      </p:ext>
    </p:extLst>
  </p:cSld>
  <p:clrMapOvr>
    <a:masterClrMapping/>
  </p:clrMapOvr>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01" name="Rectangle 1"/>
          <p:cNvSpPr>
            <a:spLocks noGrp="1" noChangeArrowheads="1"/>
          </p:cNvSpPr>
          <p:nvPr>
            <p:ph type="title"/>
          </p:nvPr>
        </p:nvSpPr>
        <p:spPr/>
        <p:txBody>
          <a:bodyPr rIns="132080"/>
          <a:lstStyle/>
          <a:p>
            <a:pPr eaLnBrk="1" hangingPunct="1"/>
            <a:r>
              <a:rPr lang="en-US" altLang="en-US" sz="3200">
                <a:solidFill>
                  <a:srgbClr val="800000"/>
                </a:solidFill>
                <a:ea typeface="MS PGothic" charset="-128"/>
              </a:rPr>
              <a:t>Building a BST</a:t>
            </a:r>
          </a:p>
        </p:txBody>
      </p:sp>
      <p:sp>
        <p:nvSpPr>
          <p:cNvPr id="51202" name="Slide Number Placeholder 3"/>
          <p:cNvSpPr>
            <a:spLocks noGrp="1"/>
          </p:cNvSpPr>
          <p:nvPr>
            <p:ph type="sldNum" sz="quarter" idx="12"/>
          </p:nvPr>
        </p:nvSpPr>
        <p:spPr bwMode="auto">
          <a:noFill/>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pPr>
              <a:lnSpc>
                <a:spcPct val="80000"/>
              </a:lnSpc>
            </a:pPr>
            <a:fld id="{4E621424-F6BA-4946-A00C-6394B07655A9}" type="slidenum">
              <a:rPr lang="en-US" altLang="en-US" sz="1200">
                <a:solidFill>
                  <a:srgbClr val="FFFFFF"/>
                </a:solidFill>
              </a:rPr>
              <a:pPr>
                <a:lnSpc>
                  <a:spcPct val="80000"/>
                </a:lnSpc>
              </a:pPr>
              <a:t>24</a:t>
            </a:fld>
            <a:endParaRPr lang="en-US" altLang="en-US" sz="1200">
              <a:solidFill>
                <a:srgbClr val="FFFFFF"/>
              </a:solidFill>
            </a:endParaRPr>
          </a:p>
        </p:txBody>
      </p:sp>
      <p:grpSp>
        <p:nvGrpSpPr>
          <p:cNvPr id="2" name="Group 1" descr="The tree is now:&#10;Level 0: Jayden&#10;Level 1: Jayden's left child is Fahad and the right child is Marvin&#10;Level 2: Fahad's left child is April">
            <a:extLst>
              <a:ext uri="{FF2B5EF4-FFF2-40B4-BE49-F238E27FC236}">
                <a16:creationId xmlns:a16="http://schemas.microsoft.com/office/drawing/2014/main" id="{9EDFB90A-16B9-C3A0-B60A-6D63AF62F4EC}"/>
              </a:ext>
            </a:extLst>
          </p:cNvPr>
          <p:cNvGrpSpPr/>
          <p:nvPr/>
        </p:nvGrpSpPr>
        <p:grpSpPr>
          <a:xfrm>
            <a:off x="2856441" y="1752600"/>
            <a:ext cx="3095603" cy="2691429"/>
            <a:chOff x="2856441" y="1752600"/>
            <a:chExt cx="3095603" cy="2691429"/>
          </a:xfrm>
        </p:grpSpPr>
        <p:cxnSp>
          <p:nvCxnSpPr>
            <p:cNvPr id="11" name="Straight Arrow Connector 10"/>
            <p:cNvCxnSpPr/>
            <p:nvPr/>
          </p:nvCxnSpPr>
          <p:spPr>
            <a:xfrm>
              <a:off x="4495800" y="1752600"/>
              <a:ext cx="0" cy="53340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
          <p:nvSpPr>
            <p:cNvPr id="14" name="Rectangle 13"/>
            <p:cNvSpPr/>
            <p:nvPr/>
          </p:nvSpPr>
          <p:spPr>
            <a:xfrm>
              <a:off x="3942603" y="2281535"/>
              <a:ext cx="1128450" cy="461665"/>
            </a:xfrm>
            <a:prstGeom prst="rect">
              <a:avLst/>
            </a:prstGeom>
            <a:ln>
              <a:solidFill>
                <a:schemeClr val="accent2"/>
              </a:solidFill>
            </a:ln>
          </p:spPr>
          <p:txBody>
            <a:bodyPr wrap="none">
              <a:spAutoFit/>
            </a:bodyPr>
            <a:lstStyle/>
            <a:p>
              <a:r>
                <a:rPr lang="en-US" altLang="en-US" dirty="0">
                  <a:solidFill>
                    <a:schemeClr val="tx1"/>
                  </a:solidFill>
                </a:rPr>
                <a:t>Jayden</a:t>
              </a:r>
              <a:endParaRPr lang="en-US" dirty="0"/>
            </a:p>
          </p:txBody>
        </p:sp>
        <p:cxnSp>
          <p:nvCxnSpPr>
            <p:cNvPr id="6" name="Straight Arrow Connector 5"/>
            <p:cNvCxnSpPr/>
            <p:nvPr/>
          </p:nvCxnSpPr>
          <p:spPr>
            <a:xfrm flipH="1">
              <a:off x="3942603" y="2743200"/>
              <a:ext cx="520909" cy="38100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8" name="Straight Arrow Connector 7"/>
            <p:cNvCxnSpPr/>
            <p:nvPr/>
          </p:nvCxnSpPr>
          <p:spPr>
            <a:xfrm>
              <a:off x="4463512" y="2755414"/>
              <a:ext cx="520909" cy="38100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
          <p:nvSpPr>
            <p:cNvPr id="9" name="Rectangle 8"/>
            <p:cNvSpPr/>
            <p:nvPr/>
          </p:nvSpPr>
          <p:spPr>
            <a:xfrm>
              <a:off x="3236894" y="3145221"/>
              <a:ext cx="996107" cy="461665"/>
            </a:xfrm>
            <a:prstGeom prst="rect">
              <a:avLst/>
            </a:prstGeom>
            <a:ln>
              <a:solidFill>
                <a:schemeClr val="accent2"/>
              </a:solidFill>
            </a:ln>
          </p:spPr>
          <p:txBody>
            <a:bodyPr wrap="none">
              <a:spAutoFit/>
            </a:bodyPr>
            <a:lstStyle/>
            <a:p>
              <a:r>
                <a:rPr lang="en-US" altLang="en-US" dirty="0">
                  <a:solidFill>
                    <a:schemeClr val="tx1"/>
                  </a:solidFill>
                </a:rPr>
                <a:t>Fahad</a:t>
              </a:r>
              <a:endParaRPr lang="en-US" dirty="0"/>
            </a:p>
          </p:txBody>
        </p:sp>
        <p:cxnSp>
          <p:nvCxnSpPr>
            <p:cNvPr id="10" name="Straight Arrow Connector 9"/>
            <p:cNvCxnSpPr/>
            <p:nvPr/>
          </p:nvCxnSpPr>
          <p:spPr>
            <a:xfrm flipH="1">
              <a:off x="3301582" y="3604125"/>
              <a:ext cx="520909" cy="38100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p:cNvCxnSpPr/>
            <p:nvPr/>
          </p:nvCxnSpPr>
          <p:spPr>
            <a:xfrm>
              <a:off x="3822491" y="3616339"/>
              <a:ext cx="520909" cy="38100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
          <p:nvSpPr>
            <p:cNvPr id="13" name="Rectangle 12"/>
            <p:cNvSpPr/>
            <p:nvPr/>
          </p:nvSpPr>
          <p:spPr>
            <a:xfrm>
              <a:off x="4861681" y="3155454"/>
              <a:ext cx="1090363" cy="461665"/>
            </a:xfrm>
            <a:prstGeom prst="rect">
              <a:avLst/>
            </a:prstGeom>
            <a:ln>
              <a:solidFill>
                <a:schemeClr val="accent2"/>
              </a:solidFill>
            </a:ln>
          </p:spPr>
          <p:txBody>
            <a:bodyPr wrap="none">
              <a:spAutoFit/>
            </a:bodyPr>
            <a:lstStyle/>
            <a:p>
              <a:r>
                <a:rPr lang="en-US" dirty="0"/>
                <a:t>Marvin</a:t>
              </a:r>
            </a:p>
          </p:txBody>
        </p:sp>
        <p:cxnSp>
          <p:nvCxnSpPr>
            <p:cNvPr id="15" name="Straight Arrow Connector 14"/>
            <p:cNvCxnSpPr/>
            <p:nvPr/>
          </p:nvCxnSpPr>
          <p:spPr>
            <a:xfrm flipH="1">
              <a:off x="4788541" y="3639064"/>
              <a:ext cx="520909" cy="38100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p:cNvCxnSpPr/>
            <p:nvPr/>
          </p:nvCxnSpPr>
          <p:spPr>
            <a:xfrm>
              <a:off x="5309450" y="3651278"/>
              <a:ext cx="520909" cy="38100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
          <p:nvSpPr>
            <p:cNvPr id="18" name="Rectangle 17"/>
            <p:cNvSpPr/>
            <p:nvPr/>
          </p:nvSpPr>
          <p:spPr>
            <a:xfrm>
              <a:off x="2856441" y="3982364"/>
              <a:ext cx="790922" cy="461665"/>
            </a:xfrm>
            <a:prstGeom prst="rect">
              <a:avLst/>
            </a:prstGeom>
            <a:ln>
              <a:solidFill>
                <a:schemeClr val="accent2"/>
              </a:solidFill>
            </a:ln>
          </p:spPr>
          <p:txBody>
            <a:bodyPr wrap="none">
              <a:spAutoFit/>
            </a:bodyPr>
            <a:lstStyle/>
            <a:p>
              <a:r>
                <a:rPr lang="en-US" altLang="en-US" dirty="0"/>
                <a:t>A</a:t>
              </a:r>
              <a:r>
                <a:rPr lang="en-US" altLang="en-US" dirty="0">
                  <a:solidFill>
                    <a:schemeClr val="tx1"/>
                  </a:solidFill>
                </a:rPr>
                <a:t>pril</a:t>
              </a:r>
              <a:endParaRPr lang="en-US" dirty="0"/>
            </a:p>
          </p:txBody>
        </p:sp>
      </p:grpSp>
    </p:spTree>
    <p:extLst>
      <p:ext uri="{BB962C8B-B14F-4D97-AF65-F5344CB8AC3E}">
        <p14:creationId xmlns:p14="http://schemas.microsoft.com/office/powerpoint/2010/main" val="1244976470"/>
      </p:ext>
    </p:extLst>
  </p:cSld>
  <p:clrMapOvr>
    <a:masterClrMapping/>
  </p:clrMapOvr>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01" name="Rectangle 1"/>
          <p:cNvSpPr>
            <a:spLocks noGrp="1" noChangeArrowheads="1"/>
          </p:cNvSpPr>
          <p:nvPr>
            <p:ph type="title"/>
          </p:nvPr>
        </p:nvSpPr>
        <p:spPr>
          <a:xfrm>
            <a:off x="685800" y="152400"/>
            <a:ext cx="7772400" cy="1143000"/>
          </a:xfrm>
        </p:spPr>
        <p:txBody>
          <a:bodyPr rIns="132080"/>
          <a:lstStyle/>
          <a:p>
            <a:pPr eaLnBrk="1" hangingPunct="1"/>
            <a:r>
              <a:rPr lang="en-US" altLang="en-US" sz="3200">
                <a:solidFill>
                  <a:srgbClr val="800000"/>
                </a:solidFill>
                <a:ea typeface="MS PGothic" charset="-128"/>
              </a:rPr>
              <a:t>Building a BST</a:t>
            </a:r>
          </a:p>
        </p:txBody>
      </p:sp>
      <p:grpSp>
        <p:nvGrpSpPr>
          <p:cNvPr id="2" name="Group 1" descr="The tree is now:&#10;Level 0: Jayden&#10;Level 1: Jayden's left child is Fahad and the right child is Marvin&#10;Level 2: Fahad's left child is April, march's left child is June and the right child is Marvin&#10;Level 3: April's right child is Carlos, June's left child is Julio, and Marvin's right child is Syed&#10;Level 4: Syed's left child is Paolo&#10;Level 5: Paolo's left child is Naomi">
            <a:extLst>
              <a:ext uri="{FF2B5EF4-FFF2-40B4-BE49-F238E27FC236}">
                <a16:creationId xmlns:a16="http://schemas.microsoft.com/office/drawing/2014/main" id="{FDCF5183-6D2E-C5F9-F91D-67CEF67475A7}"/>
              </a:ext>
            </a:extLst>
          </p:cNvPr>
          <p:cNvGrpSpPr/>
          <p:nvPr/>
        </p:nvGrpSpPr>
        <p:grpSpPr>
          <a:xfrm>
            <a:off x="2856441" y="1295400"/>
            <a:ext cx="4382559" cy="5098012"/>
            <a:chOff x="2856441" y="1295400"/>
            <a:chExt cx="4382559" cy="5098012"/>
          </a:xfrm>
        </p:grpSpPr>
        <p:cxnSp>
          <p:nvCxnSpPr>
            <p:cNvPr id="11" name="Straight Arrow Connector 10"/>
            <p:cNvCxnSpPr/>
            <p:nvPr/>
          </p:nvCxnSpPr>
          <p:spPr>
            <a:xfrm>
              <a:off x="4495800" y="1295400"/>
              <a:ext cx="0" cy="53340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
          <p:nvSpPr>
            <p:cNvPr id="14" name="Rectangle 13"/>
            <p:cNvSpPr/>
            <p:nvPr/>
          </p:nvSpPr>
          <p:spPr>
            <a:xfrm>
              <a:off x="3942603" y="1824335"/>
              <a:ext cx="1128450" cy="461665"/>
            </a:xfrm>
            <a:prstGeom prst="rect">
              <a:avLst/>
            </a:prstGeom>
            <a:ln>
              <a:solidFill>
                <a:schemeClr val="accent2"/>
              </a:solidFill>
            </a:ln>
          </p:spPr>
          <p:txBody>
            <a:bodyPr wrap="none">
              <a:spAutoFit/>
            </a:bodyPr>
            <a:lstStyle/>
            <a:p>
              <a:r>
                <a:rPr lang="en-US" altLang="en-US" dirty="0">
                  <a:solidFill>
                    <a:schemeClr val="tx1"/>
                  </a:solidFill>
                </a:rPr>
                <a:t>Jayden</a:t>
              </a:r>
              <a:endParaRPr lang="en-US" dirty="0"/>
            </a:p>
          </p:txBody>
        </p:sp>
        <p:cxnSp>
          <p:nvCxnSpPr>
            <p:cNvPr id="6" name="Straight Arrow Connector 5"/>
            <p:cNvCxnSpPr/>
            <p:nvPr/>
          </p:nvCxnSpPr>
          <p:spPr>
            <a:xfrm flipH="1">
              <a:off x="3942603" y="2286000"/>
              <a:ext cx="520909" cy="38100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8" name="Straight Arrow Connector 7"/>
            <p:cNvCxnSpPr/>
            <p:nvPr/>
          </p:nvCxnSpPr>
          <p:spPr>
            <a:xfrm>
              <a:off x="4463512" y="2298214"/>
              <a:ext cx="520909" cy="38100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
          <p:nvSpPr>
            <p:cNvPr id="9" name="Rectangle 8"/>
            <p:cNvSpPr/>
            <p:nvPr/>
          </p:nvSpPr>
          <p:spPr>
            <a:xfrm>
              <a:off x="3236894" y="2688021"/>
              <a:ext cx="996107" cy="461665"/>
            </a:xfrm>
            <a:prstGeom prst="rect">
              <a:avLst/>
            </a:prstGeom>
            <a:ln>
              <a:solidFill>
                <a:schemeClr val="accent2"/>
              </a:solidFill>
            </a:ln>
          </p:spPr>
          <p:txBody>
            <a:bodyPr wrap="none">
              <a:spAutoFit/>
            </a:bodyPr>
            <a:lstStyle/>
            <a:p>
              <a:r>
                <a:rPr lang="en-US" altLang="en-US" dirty="0">
                  <a:solidFill>
                    <a:schemeClr val="tx1"/>
                  </a:solidFill>
                </a:rPr>
                <a:t>Fahad</a:t>
              </a:r>
              <a:endParaRPr lang="en-US" dirty="0"/>
            </a:p>
          </p:txBody>
        </p:sp>
        <p:cxnSp>
          <p:nvCxnSpPr>
            <p:cNvPr id="10" name="Straight Arrow Connector 9"/>
            <p:cNvCxnSpPr/>
            <p:nvPr/>
          </p:nvCxnSpPr>
          <p:spPr>
            <a:xfrm flipH="1">
              <a:off x="3301582" y="3146925"/>
              <a:ext cx="520909" cy="38100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
          <p:nvSpPr>
            <p:cNvPr id="13" name="Rectangle 12"/>
            <p:cNvSpPr/>
            <p:nvPr/>
          </p:nvSpPr>
          <p:spPr>
            <a:xfrm>
              <a:off x="4861681" y="2698254"/>
              <a:ext cx="952505" cy="461665"/>
            </a:xfrm>
            <a:prstGeom prst="rect">
              <a:avLst/>
            </a:prstGeom>
            <a:ln>
              <a:solidFill>
                <a:schemeClr val="accent2"/>
              </a:solidFill>
            </a:ln>
          </p:spPr>
          <p:txBody>
            <a:bodyPr wrap="none">
              <a:spAutoFit/>
            </a:bodyPr>
            <a:lstStyle/>
            <a:p>
              <a:r>
                <a:rPr lang="en-US" altLang="en-US" dirty="0">
                  <a:solidFill>
                    <a:schemeClr val="tx1"/>
                  </a:solidFill>
                </a:rPr>
                <a:t>march</a:t>
              </a:r>
              <a:endParaRPr lang="en-US" dirty="0"/>
            </a:p>
          </p:txBody>
        </p:sp>
        <p:cxnSp>
          <p:nvCxnSpPr>
            <p:cNvPr id="15" name="Straight Arrow Connector 14"/>
            <p:cNvCxnSpPr/>
            <p:nvPr/>
          </p:nvCxnSpPr>
          <p:spPr>
            <a:xfrm flipH="1">
              <a:off x="4788541" y="3181864"/>
              <a:ext cx="520909" cy="38100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p:cNvCxnSpPr/>
            <p:nvPr/>
          </p:nvCxnSpPr>
          <p:spPr>
            <a:xfrm>
              <a:off x="5309450" y="3194078"/>
              <a:ext cx="520909" cy="38100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
          <p:nvSpPr>
            <p:cNvPr id="18" name="Rectangle 17"/>
            <p:cNvSpPr/>
            <p:nvPr/>
          </p:nvSpPr>
          <p:spPr>
            <a:xfrm>
              <a:off x="2856441" y="3525164"/>
              <a:ext cx="790922" cy="461665"/>
            </a:xfrm>
            <a:prstGeom prst="rect">
              <a:avLst/>
            </a:prstGeom>
            <a:ln>
              <a:solidFill>
                <a:schemeClr val="accent2"/>
              </a:solidFill>
            </a:ln>
          </p:spPr>
          <p:txBody>
            <a:bodyPr wrap="none">
              <a:spAutoFit/>
            </a:bodyPr>
            <a:lstStyle/>
            <a:p>
              <a:r>
                <a:rPr lang="en-US" altLang="en-US" dirty="0"/>
                <a:t>A</a:t>
              </a:r>
              <a:r>
                <a:rPr lang="en-US" altLang="en-US" dirty="0">
                  <a:solidFill>
                    <a:schemeClr val="tx1"/>
                  </a:solidFill>
                </a:rPr>
                <a:t>pril</a:t>
              </a:r>
              <a:endParaRPr lang="en-US" dirty="0"/>
            </a:p>
          </p:txBody>
        </p:sp>
        <p:sp>
          <p:nvSpPr>
            <p:cNvPr id="17" name="Rectangle 16"/>
            <p:cNvSpPr/>
            <p:nvPr/>
          </p:nvSpPr>
          <p:spPr>
            <a:xfrm>
              <a:off x="5569904" y="3580334"/>
              <a:ext cx="1090363" cy="461665"/>
            </a:xfrm>
            <a:prstGeom prst="rect">
              <a:avLst/>
            </a:prstGeom>
            <a:ln>
              <a:solidFill>
                <a:schemeClr val="accent2"/>
              </a:solidFill>
            </a:ln>
          </p:spPr>
          <p:txBody>
            <a:bodyPr wrap="none">
              <a:spAutoFit/>
            </a:bodyPr>
            <a:lstStyle/>
            <a:p>
              <a:r>
                <a:rPr lang="en-US" dirty="0"/>
                <a:t>Marvin</a:t>
              </a:r>
            </a:p>
          </p:txBody>
        </p:sp>
        <p:sp>
          <p:nvSpPr>
            <p:cNvPr id="19" name="Rectangle 18"/>
            <p:cNvSpPr/>
            <p:nvPr/>
          </p:nvSpPr>
          <p:spPr>
            <a:xfrm>
              <a:off x="4468767" y="3586512"/>
              <a:ext cx="817853" cy="461665"/>
            </a:xfrm>
            <a:prstGeom prst="rect">
              <a:avLst/>
            </a:prstGeom>
            <a:ln>
              <a:solidFill>
                <a:schemeClr val="accent2"/>
              </a:solidFill>
            </a:ln>
          </p:spPr>
          <p:txBody>
            <a:bodyPr wrap="none">
              <a:spAutoFit/>
            </a:bodyPr>
            <a:lstStyle/>
            <a:p>
              <a:r>
                <a:rPr lang="en-US" altLang="en-US" dirty="0"/>
                <a:t>J</a:t>
              </a:r>
              <a:r>
                <a:rPr lang="en-US" altLang="en-US" dirty="0">
                  <a:solidFill>
                    <a:schemeClr val="tx1"/>
                  </a:solidFill>
                </a:rPr>
                <a:t>une</a:t>
              </a:r>
              <a:endParaRPr lang="en-US" dirty="0"/>
            </a:p>
          </p:txBody>
        </p:sp>
        <p:sp>
          <p:nvSpPr>
            <p:cNvPr id="20" name="Rectangle 19"/>
            <p:cNvSpPr/>
            <p:nvPr/>
          </p:nvSpPr>
          <p:spPr>
            <a:xfrm>
              <a:off x="4057415" y="4444677"/>
              <a:ext cx="792525" cy="461665"/>
            </a:xfrm>
            <a:prstGeom prst="rect">
              <a:avLst/>
            </a:prstGeom>
            <a:ln>
              <a:solidFill>
                <a:schemeClr val="accent2"/>
              </a:solidFill>
            </a:ln>
          </p:spPr>
          <p:txBody>
            <a:bodyPr wrap="none">
              <a:spAutoFit/>
            </a:bodyPr>
            <a:lstStyle/>
            <a:p>
              <a:r>
                <a:rPr lang="en-US" altLang="en-US" dirty="0">
                  <a:solidFill>
                    <a:schemeClr val="tx1"/>
                  </a:solidFill>
                </a:rPr>
                <a:t>Julio</a:t>
              </a:r>
              <a:endParaRPr lang="en-US" dirty="0"/>
            </a:p>
          </p:txBody>
        </p:sp>
        <p:cxnSp>
          <p:nvCxnSpPr>
            <p:cNvPr id="21" name="Straight Arrow Connector 20"/>
            <p:cNvCxnSpPr>
              <a:endCxn id="20" idx="0"/>
            </p:cNvCxnSpPr>
            <p:nvPr/>
          </p:nvCxnSpPr>
          <p:spPr>
            <a:xfrm flipH="1">
              <a:off x="4453678" y="4055927"/>
              <a:ext cx="391233" cy="388750"/>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
          <p:nvSpPr>
            <p:cNvPr id="22" name="Rectangle 21"/>
            <p:cNvSpPr/>
            <p:nvPr/>
          </p:nvSpPr>
          <p:spPr>
            <a:xfrm>
              <a:off x="2945775" y="4442953"/>
              <a:ext cx="1016625" cy="461665"/>
            </a:xfrm>
            <a:prstGeom prst="rect">
              <a:avLst/>
            </a:prstGeom>
            <a:ln>
              <a:solidFill>
                <a:schemeClr val="accent2"/>
              </a:solidFill>
            </a:ln>
          </p:spPr>
          <p:txBody>
            <a:bodyPr wrap="none">
              <a:spAutoFit/>
            </a:bodyPr>
            <a:lstStyle/>
            <a:p>
              <a:r>
                <a:rPr lang="en-US" altLang="en-US" dirty="0">
                  <a:solidFill>
                    <a:schemeClr val="tx1"/>
                  </a:solidFill>
                </a:rPr>
                <a:t>Carlos</a:t>
              </a:r>
              <a:endParaRPr lang="en-US" dirty="0"/>
            </a:p>
          </p:txBody>
        </p:sp>
        <p:cxnSp>
          <p:nvCxnSpPr>
            <p:cNvPr id="23" name="Straight Arrow Connector 22"/>
            <p:cNvCxnSpPr>
              <a:endCxn id="22" idx="0"/>
            </p:cNvCxnSpPr>
            <p:nvPr/>
          </p:nvCxnSpPr>
          <p:spPr>
            <a:xfrm>
              <a:off x="3321033" y="3984049"/>
              <a:ext cx="133055" cy="458904"/>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
          <p:nvSpPr>
            <p:cNvPr id="24" name="Rectangle 23"/>
            <p:cNvSpPr/>
            <p:nvPr/>
          </p:nvSpPr>
          <p:spPr>
            <a:xfrm>
              <a:off x="6403900" y="4442953"/>
              <a:ext cx="835100" cy="461665"/>
            </a:xfrm>
            <a:prstGeom prst="rect">
              <a:avLst/>
            </a:prstGeom>
            <a:ln>
              <a:solidFill>
                <a:schemeClr val="accent2"/>
              </a:solidFill>
            </a:ln>
          </p:spPr>
          <p:txBody>
            <a:bodyPr wrap="none">
              <a:spAutoFit/>
            </a:bodyPr>
            <a:lstStyle/>
            <a:p>
              <a:r>
                <a:rPr lang="en-US" altLang="en-US" dirty="0">
                  <a:solidFill>
                    <a:schemeClr val="tx1"/>
                  </a:solidFill>
                </a:rPr>
                <a:t>Syed</a:t>
              </a:r>
              <a:endParaRPr lang="en-US" dirty="0"/>
            </a:p>
          </p:txBody>
        </p:sp>
        <p:cxnSp>
          <p:nvCxnSpPr>
            <p:cNvPr id="25" name="Straight Arrow Connector 24"/>
            <p:cNvCxnSpPr/>
            <p:nvPr/>
          </p:nvCxnSpPr>
          <p:spPr>
            <a:xfrm>
              <a:off x="6114988" y="4055927"/>
              <a:ext cx="614610" cy="387026"/>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
          <p:nvSpPr>
            <p:cNvPr id="26" name="Rectangle 25"/>
            <p:cNvSpPr/>
            <p:nvPr/>
          </p:nvSpPr>
          <p:spPr>
            <a:xfrm>
              <a:off x="5792208" y="5285970"/>
              <a:ext cx="913392" cy="461665"/>
            </a:xfrm>
            <a:prstGeom prst="rect">
              <a:avLst/>
            </a:prstGeom>
            <a:ln>
              <a:solidFill>
                <a:schemeClr val="accent2"/>
              </a:solidFill>
            </a:ln>
          </p:spPr>
          <p:txBody>
            <a:bodyPr wrap="none">
              <a:spAutoFit/>
            </a:bodyPr>
            <a:lstStyle/>
            <a:p>
              <a:r>
                <a:rPr lang="en-US" altLang="en-US" dirty="0">
                  <a:solidFill>
                    <a:schemeClr val="tx1"/>
                  </a:solidFill>
                </a:rPr>
                <a:t>Paolo</a:t>
              </a:r>
              <a:endParaRPr lang="en-US" dirty="0"/>
            </a:p>
          </p:txBody>
        </p:sp>
        <p:cxnSp>
          <p:nvCxnSpPr>
            <p:cNvPr id="28" name="Straight Arrow Connector 27"/>
            <p:cNvCxnSpPr/>
            <p:nvPr/>
          </p:nvCxnSpPr>
          <p:spPr>
            <a:xfrm flipH="1">
              <a:off x="5792208" y="5769421"/>
              <a:ext cx="267774" cy="185826"/>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
          <p:nvSpPr>
            <p:cNvPr id="29" name="Rectangle 28"/>
            <p:cNvSpPr/>
            <p:nvPr/>
          </p:nvSpPr>
          <p:spPr>
            <a:xfrm>
              <a:off x="5201318" y="5931747"/>
              <a:ext cx="1047082" cy="461665"/>
            </a:xfrm>
            <a:prstGeom prst="rect">
              <a:avLst/>
            </a:prstGeom>
            <a:ln>
              <a:solidFill>
                <a:schemeClr val="accent2"/>
              </a:solidFill>
            </a:ln>
          </p:spPr>
          <p:txBody>
            <a:bodyPr wrap="none">
              <a:spAutoFit/>
            </a:bodyPr>
            <a:lstStyle/>
            <a:p>
              <a:r>
                <a:rPr lang="en-US" altLang="en-US" dirty="0">
                  <a:solidFill>
                    <a:schemeClr val="tx1"/>
                  </a:solidFill>
                </a:rPr>
                <a:t>Naomi</a:t>
              </a:r>
              <a:endParaRPr lang="en-US" dirty="0"/>
            </a:p>
          </p:txBody>
        </p:sp>
        <p:cxnSp>
          <p:nvCxnSpPr>
            <p:cNvPr id="30" name="Straight Arrow Connector 29"/>
            <p:cNvCxnSpPr/>
            <p:nvPr/>
          </p:nvCxnSpPr>
          <p:spPr>
            <a:xfrm flipH="1">
              <a:off x="6324600" y="4904618"/>
              <a:ext cx="346071" cy="398041"/>
            </a:xfrm>
            <a:prstGeom prst="straightConnector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112513749"/>
      </p:ext>
    </p:extLst>
  </p:cSld>
  <p:clrMapOvr>
    <a:masterClrMapping/>
  </p:clrMapOvr>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87C144-CA8A-BF9A-C4F4-87884EFC6978}"/>
              </a:ext>
            </a:extLst>
          </p:cNvPr>
          <p:cNvSpPr>
            <a:spLocks noGrp="1"/>
          </p:cNvSpPr>
          <p:nvPr>
            <p:ph type="title"/>
          </p:nvPr>
        </p:nvSpPr>
        <p:spPr>
          <a:xfrm>
            <a:off x="762000" y="28575"/>
            <a:ext cx="7772400" cy="1143000"/>
          </a:xfrm>
        </p:spPr>
        <p:txBody>
          <a:bodyPr/>
          <a:lstStyle/>
          <a:p>
            <a:r>
              <a:rPr lang="en-US" sz="3600" b="1" dirty="0">
                <a:solidFill>
                  <a:srgbClr val="0070C0"/>
                </a:solidFill>
                <a:latin typeface="Aptos Black" panose="020B0004020202020204" pitchFamily="34" charset="0"/>
              </a:rPr>
              <a:t>Add Method</a:t>
            </a:r>
          </a:p>
        </p:txBody>
      </p:sp>
      <p:sp>
        <p:nvSpPr>
          <p:cNvPr id="3" name="Footer Placeholder 2">
            <a:extLst>
              <a:ext uri="{FF2B5EF4-FFF2-40B4-BE49-F238E27FC236}">
                <a16:creationId xmlns:a16="http://schemas.microsoft.com/office/drawing/2014/main" id="{6B1C526F-31D5-74B7-2AF9-57058313B18F}"/>
              </a:ext>
            </a:extLst>
          </p:cNvPr>
          <p:cNvSpPr>
            <a:spLocks noGrp="1"/>
          </p:cNvSpPr>
          <p:nvPr>
            <p:ph type="ftr" sz="quarter" idx="12"/>
          </p:nvPr>
        </p:nvSpPr>
        <p:spPr>
          <a:xfrm>
            <a:off x="6172200" y="6248400"/>
            <a:ext cx="2895600" cy="457200"/>
          </a:xfrm>
        </p:spPr>
        <p:txBody>
          <a:bodyPr/>
          <a:lstStyle/>
          <a:p>
            <a:pPr>
              <a:defRPr/>
            </a:pPr>
            <a:endParaRPr lang="en-US" b="1" dirty="0">
              <a:latin typeface="+mn-lt"/>
            </a:endParaRPr>
          </a:p>
          <a:p>
            <a:pPr>
              <a:defRPr/>
            </a:pPr>
            <a:endParaRPr lang="en-US" dirty="0"/>
          </a:p>
          <a:p>
            <a:pPr>
              <a:defRPr/>
            </a:pPr>
            <a:endParaRPr lang="en-US" b="1" dirty="0"/>
          </a:p>
          <a:p>
            <a:pPr>
              <a:defRPr/>
            </a:pPr>
            <a:r>
              <a:rPr lang="en-US" b="1" dirty="0"/>
              <a:t>© A+ Computer Science  -  www.apluscompsci.com</a:t>
            </a:r>
          </a:p>
        </p:txBody>
      </p:sp>
      <p:sp>
        <p:nvSpPr>
          <p:cNvPr id="5" name="TextBox 4">
            <a:extLst>
              <a:ext uri="{FF2B5EF4-FFF2-40B4-BE49-F238E27FC236}">
                <a16:creationId xmlns:a16="http://schemas.microsoft.com/office/drawing/2014/main" id="{C381B947-EEB3-F69A-E7AE-8091FAD6C3DE}"/>
              </a:ext>
            </a:extLst>
          </p:cNvPr>
          <p:cNvSpPr txBox="1"/>
          <p:nvPr/>
        </p:nvSpPr>
        <p:spPr>
          <a:xfrm>
            <a:off x="381000" y="1143000"/>
            <a:ext cx="8458200" cy="5262979"/>
          </a:xfrm>
          <a:prstGeom prst="rect">
            <a:avLst/>
          </a:prstGeom>
          <a:noFill/>
        </p:spPr>
        <p:txBody>
          <a:bodyPr wrap="square">
            <a:spAutoFit/>
          </a:bodyPr>
          <a:lstStyle/>
          <a:p>
            <a:r>
              <a:rPr lang="en-US" sz="2800" b="1" dirty="0">
                <a:latin typeface="Courier New" panose="02070309020205020404" pitchFamily="49" charset="0"/>
              </a:rPr>
              <a:t>public void add(Comparable </a:t>
            </a:r>
            <a:r>
              <a:rPr lang="en-US" sz="2800" b="1" dirty="0" err="1">
                <a:latin typeface="Courier New" panose="02070309020205020404" pitchFamily="49" charset="0"/>
              </a:rPr>
              <a:t>val</a:t>
            </a:r>
            <a:r>
              <a:rPr lang="en-US" sz="2800" b="1" dirty="0">
                <a:latin typeface="Courier New" panose="02070309020205020404" pitchFamily="49" charset="0"/>
              </a:rPr>
              <a:t>)</a:t>
            </a:r>
            <a:br>
              <a:rPr lang="en-US" sz="2800" b="1" dirty="0">
                <a:latin typeface="Courier New" panose="02070309020205020404" pitchFamily="49" charset="0"/>
              </a:rPr>
            </a:br>
            <a:r>
              <a:rPr lang="en-US" sz="2800" b="1" dirty="0">
                <a:latin typeface="Courier New" panose="02070309020205020404" pitchFamily="49" charset="0"/>
              </a:rPr>
              <a:t>{</a:t>
            </a:r>
            <a:br>
              <a:rPr lang="en-US" sz="2800" b="1" dirty="0">
                <a:latin typeface="Courier New" panose="02070309020205020404" pitchFamily="49" charset="0"/>
              </a:rPr>
            </a:br>
            <a:r>
              <a:rPr lang="en-US" sz="2800" b="1" dirty="0">
                <a:latin typeface="Courier New" panose="02070309020205020404" pitchFamily="49" charset="0"/>
              </a:rPr>
              <a:t>   root = add(</a:t>
            </a:r>
            <a:r>
              <a:rPr lang="en-US" sz="2800" b="1" dirty="0" err="1">
                <a:latin typeface="Courier New" panose="02070309020205020404" pitchFamily="49" charset="0"/>
              </a:rPr>
              <a:t>val</a:t>
            </a:r>
            <a:r>
              <a:rPr lang="en-US" sz="2800" b="1" dirty="0">
                <a:latin typeface="Courier New" panose="02070309020205020404" pitchFamily="49" charset="0"/>
              </a:rPr>
              <a:t>, root);</a:t>
            </a:r>
            <a:br>
              <a:rPr lang="en-US" sz="2800" b="1" dirty="0">
                <a:latin typeface="Courier New" panose="02070309020205020404" pitchFamily="49" charset="0"/>
              </a:rPr>
            </a:br>
            <a:r>
              <a:rPr lang="en-US" sz="2800" b="1" dirty="0">
                <a:latin typeface="Courier New" panose="02070309020205020404" pitchFamily="49" charset="0"/>
              </a:rPr>
              <a:t>}</a:t>
            </a:r>
            <a:br>
              <a:rPr lang="en-US" sz="2800" b="1" dirty="0">
                <a:latin typeface="Courier New" panose="02070309020205020404" pitchFamily="49" charset="0"/>
              </a:rPr>
            </a:br>
            <a:br>
              <a:rPr lang="en-US" sz="2800" b="1" dirty="0">
                <a:latin typeface="Courier New" panose="02070309020205020404" pitchFamily="49" charset="0"/>
              </a:rPr>
            </a:br>
            <a:r>
              <a:rPr lang="en-US" sz="2800" b="1" dirty="0">
                <a:latin typeface="Courier New" panose="02070309020205020404" pitchFamily="49" charset="0"/>
              </a:rPr>
              <a:t>private </a:t>
            </a:r>
            <a:r>
              <a:rPr lang="en-US" sz="2800" b="1" dirty="0" err="1">
                <a:latin typeface="Courier New" panose="02070309020205020404" pitchFamily="49" charset="0"/>
              </a:rPr>
              <a:t>TreeNode</a:t>
            </a:r>
            <a:r>
              <a:rPr lang="en-US" sz="2800" b="1" dirty="0">
                <a:latin typeface="Courier New" panose="02070309020205020404" pitchFamily="49" charset="0"/>
              </a:rPr>
              <a:t> add(Comparable </a:t>
            </a:r>
            <a:r>
              <a:rPr lang="en-US" sz="2800" b="1" dirty="0" err="1">
                <a:latin typeface="Courier New" panose="02070309020205020404" pitchFamily="49" charset="0"/>
              </a:rPr>
              <a:t>val</a:t>
            </a:r>
            <a:r>
              <a:rPr lang="en-US" sz="2800" b="1" dirty="0">
                <a:latin typeface="Courier New" panose="02070309020205020404" pitchFamily="49" charset="0"/>
              </a:rPr>
              <a:t>, </a:t>
            </a:r>
          </a:p>
          <a:p>
            <a:r>
              <a:rPr lang="en-US" sz="2800" b="1" dirty="0">
                <a:latin typeface="Courier New" panose="02070309020205020404" pitchFamily="49" charset="0"/>
              </a:rPr>
              <a:t>                     </a:t>
            </a:r>
            <a:r>
              <a:rPr lang="en-US" sz="2800" b="1" dirty="0" err="1">
                <a:latin typeface="Courier New" panose="02070309020205020404" pitchFamily="49" charset="0"/>
              </a:rPr>
              <a:t>TreeNode</a:t>
            </a:r>
            <a:r>
              <a:rPr lang="en-US" sz="2800" b="1" dirty="0">
                <a:latin typeface="Courier New" panose="02070309020205020404" pitchFamily="49" charset="0"/>
              </a:rPr>
              <a:t> tree) {</a:t>
            </a:r>
          </a:p>
          <a:p>
            <a:endParaRPr lang="en-US" sz="2800" b="1" dirty="0">
              <a:latin typeface="Courier New" panose="02070309020205020404" pitchFamily="49" charset="0"/>
            </a:endParaRPr>
          </a:p>
          <a:p>
            <a:endParaRPr lang="en-US" sz="2800" b="1" dirty="0">
              <a:latin typeface="Courier New" panose="02070309020205020404" pitchFamily="49" charset="0"/>
            </a:endParaRPr>
          </a:p>
          <a:p>
            <a:endParaRPr lang="en-US" sz="2800" b="1" dirty="0">
              <a:latin typeface="Courier New" panose="02070309020205020404" pitchFamily="49" charset="0"/>
            </a:endParaRPr>
          </a:p>
          <a:p>
            <a:endParaRPr lang="en-US" sz="2800" b="1" dirty="0">
              <a:latin typeface="Courier New" panose="02070309020205020404" pitchFamily="49" charset="0"/>
            </a:endParaRPr>
          </a:p>
          <a:p>
            <a:r>
              <a:rPr lang="en-US" sz="2800" b="1" dirty="0">
                <a:latin typeface="Courier New" panose="02070309020205020404" pitchFamily="49" charset="0"/>
              </a:rPr>
              <a:t>}</a:t>
            </a:r>
            <a:endParaRPr lang="en-US" sz="2800" b="1" dirty="0"/>
          </a:p>
        </p:txBody>
      </p:sp>
    </p:spTree>
    <p:extLst>
      <p:ext uri="{BB962C8B-B14F-4D97-AF65-F5344CB8AC3E}">
        <p14:creationId xmlns:p14="http://schemas.microsoft.com/office/powerpoint/2010/main" val="235526628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87C144-CA8A-BF9A-C4F4-87884EFC6978}"/>
              </a:ext>
            </a:extLst>
          </p:cNvPr>
          <p:cNvSpPr>
            <a:spLocks noGrp="1"/>
          </p:cNvSpPr>
          <p:nvPr>
            <p:ph type="title"/>
          </p:nvPr>
        </p:nvSpPr>
        <p:spPr>
          <a:xfrm>
            <a:off x="762000" y="28575"/>
            <a:ext cx="7772400" cy="1143000"/>
          </a:xfrm>
        </p:spPr>
        <p:txBody>
          <a:bodyPr/>
          <a:lstStyle/>
          <a:p>
            <a:r>
              <a:rPr lang="en-US" sz="3600" b="1" dirty="0">
                <a:solidFill>
                  <a:srgbClr val="0070C0"/>
                </a:solidFill>
                <a:latin typeface="Aptos Black" panose="020B0004020202020204" pitchFamily="34" charset="0"/>
              </a:rPr>
              <a:t>Add Method</a:t>
            </a:r>
          </a:p>
        </p:txBody>
      </p:sp>
      <p:sp>
        <p:nvSpPr>
          <p:cNvPr id="3" name="Footer Placeholder 2">
            <a:extLst>
              <a:ext uri="{FF2B5EF4-FFF2-40B4-BE49-F238E27FC236}">
                <a16:creationId xmlns:a16="http://schemas.microsoft.com/office/drawing/2014/main" id="{6B1C526F-31D5-74B7-2AF9-57058313B18F}"/>
              </a:ext>
            </a:extLst>
          </p:cNvPr>
          <p:cNvSpPr>
            <a:spLocks noGrp="1"/>
          </p:cNvSpPr>
          <p:nvPr>
            <p:ph type="ftr" sz="quarter" idx="12"/>
          </p:nvPr>
        </p:nvSpPr>
        <p:spPr>
          <a:xfrm>
            <a:off x="6088856" y="6248400"/>
            <a:ext cx="2895600" cy="457200"/>
          </a:xfrm>
        </p:spPr>
        <p:txBody>
          <a:bodyPr/>
          <a:lstStyle/>
          <a:p>
            <a:pPr>
              <a:defRPr/>
            </a:pPr>
            <a:endParaRPr lang="en-US" b="1" dirty="0">
              <a:latin typeface="+mn-lt"/>
            </a:endParaRPr>
          </a:p>
          <a:p>
            <a:pPr>
              <a:defRPr/>
            </a:pPr>
            <a:endParaRPr lang="en-US" dirty="0"/>
          </a:p>
          <a:p>
            <a:pPr>
              <a:defRPr/>
            </a:pPr>
            <a:endParaRPr lang="en-US" b="1" dirty="0"/>
          </a:p>
          <a:p>
            <a:pPr>
              <a:defRPr/>
            </a:pPr>
            <a:r>
              <a:rPr lang="en-US" b="1" dirty="0"/>
              <a:t>© A+ Computer Science  -  www.apluscompsci.com</a:t>
            </a:r>
          </a:p>
        </p:txBody>
      </p:sp>
      <p:sp>
        <p:nvSpPr>
          <p:cNvPr id="5" name="TextBox 4">
            <a:extLst>
              <a:ext uri="{FF2B5EF4-FFF2-40B4-BE49-F238E27FC236}">
                <a16:creationId xmlns:a16="http://schemas.microsoft.com/office/drawing/2014/main" id="{C381B947-EEB3-F69A-E7AE-8091FAD6C3DE}"/>
              </a:ext>
            </a:extLst>
          </p:cNvPr>
          <p:cNvSpPr txBox="1"/>
          <p:nvPr/>
        </p:nvSpPr>
        <p:spPr>
          <a:xfrm>
            <a:off x="159544" y="1078051"/>
            <a:ext cx="8991600" cy="5632311"/>
          </a:xfrm>
          <a:prstGeom prst="rect">
            <a:avLst/>
          </a:prstGeom>
          <a:noFill/>
        </p:spPr>
        <p:txBody>
          <a:bodyPr wrap="square">
            <a:spAutoFit/>
          </a:bodyPr>
          <a:lstStyle/>
          <a:p>
            <a:r>
              <a:rPr lang="en-US" b="1" dirty="0">
                <a:latin typeface="Courier New" panose="02070309020205020404" pitchFamily="49" charset="0"/>
              </a:rPr>
              <a:t>private </a:t>
            </a:r>
            <a:r>
              <a:rPr lang="en-US" b="1" dirty="0" err="1">
                <a:latin typeface="Courier New" panose="02070309020205020404" pitchFamily="49" charset="0"/>
              </a:rPr>
              <a:t>TreeNode</a:t>
            </a:r>
            <a:r>
              <a:rPr lang="en-US" b="1" dirty="0">
                <a:latin typeface="Courier New" panose="02070309020205020404" pitchFamily="49" charset="0"/>
              </a:rPr>
              <a:t> add(Comparable </a:t>
            </a:r>
            <a:r>
              <a:rPr lang="en-US" b="1" dirty="0" err="1">
                <a:latin typeface="Courier New" panose="02070309020205020404" pitchFamily="49" charset="0"/>
              </a:rPr>
              <a:t>val</a:t>
            </a:r>
            <a:r>
              <a:rPr lang="en-US" b="1" dirty="0">
                <a:latin typeface="Courier New" panose="02070309020205020404" pitchFamily="49" charset="0"/>
              </a:rPr>
              <a:t>, </a:t>
            </a:r>
          </a:p>
          <a:p>
            <a:r>
              <a:rPr lang="en-US" b="1" dirty="0">
                <a:latin typeface="Courier New" panose="02070309020205020404" pitchFamily="49" charset="0"/>
              </a:rPr>
              <a:t>                     </a:t>
            </a:r>
            <a:r>
              <a:rPr lang="en-US" b="1" dirty="0" err="1">
                <a:latin typeface="Courier New" panose="02070309020205020404" pitchFamily="49" charset="0"/>
              </a:rPr>
              <a:t>TreeNode</a:t>
            </a:r>
            <a:r>
              <a:rPr lang="en-US" b="1" dirty="0">
                <a:latin typeface="Courier New" panose="02070309020205020404" pitchFamily="49" charset="0"/>
              </a:rPr>
              <a:t> tree){</a:t>
            </a:r>
            <a:br>
              <a:rPr lang="en-US" b="1" dirty="0">
                <a:latin typeface="Courier New" panose="02070309020205020404" pitchFamily="49" charset="0"/>
              </a:rPr>
            </a:br>
            <a:r>
              <a:rPr lang="en-US" b="1" dirty="0">
                <a:latin typeface="Courier New" panose="02070309020205020404" pitchFamily="49" charset="0"/>
              </a:rPr>
              <a:t>   if(tree == null)</a:t>
            </a:r>
            <a:br>
              <a:rPr lang="en-US" b="1" dirty="0">
                <a:latin typeface="Courier New" panose="02070309020205020404" pitchFamily="49" charset="0"/>
              </a:rPr>
            </a:br>
            <a:r>
              <a:rPr lang="en-US" b="1" dirty="0">
                <a:latin typeface="Courier New" panose="02070309020205020404" pitchFamily="49" charset="0"/>
              </a:rPr>
              <a:t>      return new </a:t>
            </a:r>
            <a:r>
              <a:rPr lang="en-US" b="1" dirty="0" err="1">
                <a:latin typeface="Courier New" panose="02070309020205020404" pitchFamily="49" charset="0"/>
              </a:rPr>
              <a:t>TreeNode</a:t>
            </a:r>
            <a:r>
              <a:rPr lang="en-US" b="1" dirty="0">
                <a:latin typeface="Courier New" panose="02070309020205020404" pitchFamily="49" charset="0"/>
              </a:rPr>
              <a:t>(</a:t>
            </a:r>
            <a:r>
              <a:rPr lang="en-US" b="1" dirty="0" err="1">
                <a:latin typeface="Courier New" panose="02070309020205020404" pitchFamily="49" charset="0"/>
              </a:rPr>
              <a:t>val</a:t>
            </a:r>
            <a:r>
              <a:rPr lang="en-US" b="1" dirty="0">
                <a:latin typeface="Courier New" panose="02070309020205020404" pitchFamily="49" charset="0"/>
              </a:rPr>
              <a:t>);</a:t>
            </a:r>
            <a:br>
              <a:rPr lang="en-US" b="1" dirty="0">
                <a:latin typeface="Courier New" panose="02070309020205020404" pitchFamily="49" charset="0"/>
              </a:rPr>
            </a:br>
            <a:r>
              <a:rPr lang="en-US" b="1" dirty="0">
                <a:latin typeface="Courier New" panose="02070309020205020404" pitchFamily="49" charset="0"/>
              </a:rPr>
              <a:t>      </a:t>
            </a:r>
            <a:br>
              <a:rPr lang="en-US" b="1" dirty="0">
                <a:latin typeface="Courier New" panose="02070309020205020404" pitchFamily="49" charset="0"/>
              </a:rPr>
            </a:br>
            <a:r>
              <a:rPr lang="en-US" b="1" dirty="0">
                <a:latin typeface="Courier New" panose="02070309020205020404" pitchFamily="49" charset="0"/>
              </a:rPr>
              <a:t>   Comparable </a:t>
            </a:r>
            <a:r>
              <a:rPr lang="en-US" b="1" dirty="0" err="1">
                <a:latin typeface="Courier New" panose="02070309020205020404" pitchFamily="49" charset="0"/>
              </a:rPr>
              <a:t>treeValue</a:t>
            </a:r>
            <a:r>
              <a:rPr lang="en-US" b="1" dirty="0">
                <a:latin typeface="Courier New" panose="02070309020205020404" pitchFamily="49" charset="0"/>
              </a:rPr>
              <a:t> = </a:t>
            </a:r>
            <a:r>
              <a:rPr lang="en-US" b="1" dirty="0" err="1">
                <a:latin typeface="Courier New" panose="02070309020205020404" pitchFamily="49" charset="0"/>
              </a:rPr>
              <a:t>tree.getValue</a:t>
            </a:r>
            <a:r>
              <a:rPr lang="en-US" b="1" dirty="0">
                <a:latin typeface="Courier New" panose="02070309020205020404" pitchFamily="49" charset="0"/>
              </a:rPr>
              <a:t>();</a:t>
            </a:r>
            <a:br>
              <a:rPr lang="en-US" b="1" dirty="0">
                <a:latin typeface="Courier New" panose="02070309020205020404" pitchFamily="49" charset="0"/>
              </a:rPr>
            </a:br>
            <a:r>
              <a:rPr lang="en-US" b="1" dirty="0">
                <a:latin typeface="Courier New" panose="02070309020205020404" pitchFamily="49" charset="0"/>
              </a:rPr>
              <a:t>   int </a:t>
            </a:r>
            <a:r>
              <a:rPr lang="en-US" b="1" dirty="0" err="1">
                <a:latin typeface="Courier New" panose="02070309020205020404" pitchFamily="49" charset="0"/>
              </a:rPr>
              <a:t>dirTest</a:t>
            </a:r>
            <a:r>
              <a:rPr lang="en-US" b="1" dirty="0">
                <a:latin typeface="Courier New" panose="02070309020205020404" pitchFamily="49" charset="0"/>
              </a:rPr>
              <a:t> = </a:t>
            </a:r>
            <a:r>
              <a:rPr lang="en-US" b="1" dirty="0" err="1">
                <a:latin typeface="Courier New" panose="02070309020205020404" pitchFamily="49" charset="0"/>
              </a:rPr>
              <a:t>val.compareTo</a:t>
            </a:r>
            <a:r>
              <a:rPr lang="en-US" b="1" dirty="0">
                <a:latin typeface="Courier New" panose="02070309020205020404" pitchFamily="49" charset="0"/>
              </a:rPr>
              <a:t>(</a:t>
            </a:r>
            <a:r>
              <a:rPr lang="en-US" b="1" dirty="0" err="1">
                <a:latin typeface="Courier New" panose="02070309020205020404" pitchFamily="49" charset="0"/>
              </a:rPr>
              <a:t>treeValue</a:t>
            </a:r>
            <a:r>
              <a:rPr lang="en-US" b="1" dirty="0">
                <a:latin typeface="Courier New" panose="02070309020205020404" pitchFamily="49" charset="0"/>
              </a:rPr>
              <a:t>);      </a:t>
            </a:r>
            <a:br>
              <a:rPr lang="en-US" b="1" dirty="0">
                <a:latin typeface="Courier New" panose="02070309020205020404" pitchFamily="49" charset="0"/>
              </a:rPr>
            </a:br>
            <a:r>
              <a:rPr lang="en-US" b="1" dirty="0">
                <a:latin typeface="Courier New" panose="02070309020205020404" pitchFamily="49" charset="0"/>
              </a:rPr>
              <a:t>      </a:t>
            </a:r>
            <a:br>
              <a:rPr lang="en-US" b="1" dirty="0">
                <a:latin typeface="Courier New" panose="02070309020205020404" pitchFamily="49" charset="0"/>
              </a:rPr>
            </a:br>
            <a:r>
              <a:rPr lang="en-US" b="1" dirty="0">
                <a:latin typeface="Courier New" panose="02070309020205020404" pitchFamily="49" charset="0"/>
              </a:rPr>
              <a:t>   if(</a:t>
            </a:r>
            <a:r>
              <a:rPr lang="en-US" b="1" dirty="0" err="1">
                <a:latin typeface="Courier New" panose="02070309020205020404" pitchFamily="49" charset="0"/>
              </a:rPr>
              <a:t>dirTest</a:t>
            </a:r>
            <a:r>
              <a:rPr lang="en-US" b="1" dirty="0">
                <a:latin typeface="Courier New" panose="02070309020205020404" pitchFamily="49" charset="0"/>
              </a:rPr>
              <a:t> &lt; 0)</a:t>
            </a:r>
            <a:br>
              <a:rPr lang="en-US" b="1" dirty="0">
                <a:latin typeface="Courier New" panose="02070309020205020404" pitchFamily="49" charset="0"/>
              </a:rPr>
            </a:br>
            <a:r>
              <a:rPr lang="en-US" b="1" dirty="0">
                <a:latin typeface="Courier New" panose="02070309020205020404" pitchFamily="49" charset="0"/>
              </a:rPr>
              <a:t>      </a:t>
            </a:r>
            <a:r>
              <a:rPr lang="en-US" b="1" dirty="0" err="1">
                <a:latin typeface="Courier New" panose="02070309020205020404" pitchFamily="49" charset="0"/>
              </a:rPr>
              <a:t>tree.setLeft</a:t>
            </a:r>
            <a:r>
              <a:rPr lang="en-US" b="1" dirty="0">
                <a:latin typeface="Courier New" panose="02070309020205020404" pitchFamily="49" charset="0"/>
              </a:rPr>
              <a:t>(add(</a:t>
            </a:r>
            <a:r>
              <a:rPr lang="en-US" b="1" dirty="0" err="1">
                <a:latin typeface="Courier New" panose="02070309020205020404" pitchFamily="49" charset="0"/>
              </a:rPr>
              <a:t>val</a:t>
            </a:r>
            <a:r>
              <a:rPr lang="en-US" b="1" dirty="0">
                <a:latin typeface="Courier New" panose="02070309020205020404" pitchFamily="49" charset="0"/>
              </a:rPr>
              <a:t>, </a:t>
            </a:r>
            <a:r>
              <a:rPr lang="en-US" b="1" dirty="0" err="1">
                <a:latin typeface="Courier New" panose="02070309020205020404" pitchFamily="49" charset="0"/>
              </a:rPr>
              <a:t>tree.getLeft</a:t>
            </a:r>
            <a:r>
              <a:rPr lang="en-US" b="1" dirty="0">
                <a:latin typeface="Courier New" panose="02070309020205020404" pitchFamily="49" charset="0"/>
              </a:rPr>
              <a:t>()));</a:t>
            </a:r>
            <a:br>
              <a:rPr lang="en-US" b="1" dirty="0">
                <a:latin typeface="Courier New" panose="02070309020205020404" pitchFamily="49" charset="0"/>
              </a:rPr>
            </a:br>
            <a:r>
              <a:rPr lang="en-US" b="1" dirty="0">
                <a:latin typeface="Courier New" panose="02070309020205020404" pitchFamily="49" charset="0"/>
              </a:rPr>
              <a:t>   else if(</a:t>
            </a:r>
            <a:r>
              <a:rPr lang="en-US" b="1" dirty="0" err="1">
                <a:latin typeface="Courier New" panose="02070309020205020404" pitchFamily="49" charset="0"/>
              </a:rPr>
              <a:t>dirTest</a:t>
            </a:r>
            <a:r>
              <a:rPr lang="en-US" b="1" dirty="0">
                <a:latin typeface="Courier New" panose="02070309020205020404" pitchFamily="49" charset="0"/>
              </a:rPr>
              <a:t> &gt; 0)</a:t>
            </a:r>
            <a:br>
              <a:rPr lang="en-US" b="1" dirty="0">
                <a:latin typeface="Courier New" panose="02070309020205020404" pitchFamily="49" charset="0"/>
              </a:rPr>
            </a:br>
            <a:r>
              <a:rPr lang="en-US" b="1" dirty="0">
                <a:latin typeface="Courier New" panose="02070309020205020404" pitchFamily="49" charset="0"/>
              </a:rPr>
              <a:t>      </a:t>
            </a:r>
            <a:r>
              <a:rPr lang="en-US" b="1" dirty="0" err="1">
                <a:latin typeface="Courier New" panose="02070309020205020404" pitchFamily="49" charset="0"/>
              </a:rPr>
              <a:t>tree.setRight</a:t>
            </a:r>
            <a:r>
              <a:rPr lang="en-US" b="1" dirty="0">
                <a:latin typeface="Courier New" panose="02070309020205020404" pitchFamily="49" charset="0"/>
              </a:rPr>
              <a:t>(add(</a:t>
            </a:r>
            <a:r>
              <a:rPr lang="en-US" b="1" dirty="0" err="1">
                <a:latin typeface="Courier New" panose="02070309020205020404" pitchFamily="49" charset="0"/>
              </a:rPr>
              <a:t>val</a:t>
            </a:r>
            <a:r>
              <a:rPr lang="en-US" b="1" dirty="0">
                <a:latin typeface="Courier New" panose="02070309020205020404" pitchFamily="49" charset="0"/>
              </a:rPr>
              <a:t>, </a:t>
            </a:r>
            <a:r>
              <a:rPr lang="en-US" b="1" dirty="0" err="1">
                <a:latin typeface="Courier New" panose="02070309020205020404" pitchFamily="49" charset="0"/>
              </a:rPr>
              <a:t>tree.getRight</a:t>
            </a:r>
            <a:r>
              <a:rPr lang="en-US" b="1" dirty="0">
                <a:latin typeface="Courier New" panose="02070309020205020404" pitchFamily="49" charset="0"/>
              </a:rPr>
              <a:t>()));</a:t>
            </a:r>
            <a:br>
              <a:rPr lang="en-US" b="1" dirty="0">
                <a:latin typeface="Courier New" panose="02070309020205020404" pitchFamily="49" charset="0"/>
              </a:rPr>
            </a:br>
            <a:r>
              <a:rPr lang="en-US" b="1" dirty="0">
                <a:latin typeface="Courier New" panose="02070309020205020404" pitchFamily="49" charset="0"/>
              </a:rPr>
              <a:t>      </a:t>
            </a:r>
            <a:br>
              <a:rPr lang="en-US" b="1" dirty="0">
                <a:latin typeface="Courier New" panose="02070309020205020404" pitchFamily="49" charset="0"/>
              </a:rPr>
            </a:br>
            <a:r>
              <a:rPr lang="en-US" b="1" dirty="0">
                <a:latin typeface="Courier New" panose="02070309020205020404" pitchFamily="49" charset="0"/>
              </a:rPr>
              <a:t>   return tree;</a:t>
            </a:r>
            <a:br>
              <a:rPr lang="en-US" b="1" dirty="0">
                <a:latin typeface="Courier New" panose="02070309020205020404" pitchFamily="49" charset="0"/>
              </a:rPr>
            </a:br>
            <a:r>
              <a:rPr lang="en-US" b="1" dirty="0">
                <a:latin typeface="Courier New" panose="02070309020205020404" pitchFamily="49" charset="0"/>
              </a:rPr>
              <a:t>}</a:t>
            </a:r>
            <a:endParaRPr lang="en-US" sz="3200" b="1" dirty="0"/>
          </a:p>
        </p:txBody>
      </p:sp>
    </p:spTree>
    <p:extLst>
      <p:ext uri="{BB962C8B-B14F-4D97-AF65-F5344CB8AC3E}">
        <p14:creationId xmlns:p14="http://schemas.microsoft.com/office/powerpoint/2010/main" val="364281993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394" name="Footer Placeholder 3"/>
          <p:cNvSpPr>
            <a:spLocks noGrp="1"/>
          </p:cNvSpPr>
          <p:nvPr>
            <p:ph type="ftr" sz="quarter" idx="12"/>
          </p:nvPr>
        </p:nvSpPr>
        <p:spPr>
          <a:noFill/>
        </p:spPr>
        <p:txBody>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endParaRPr lang="en-US" sz="800" b="1">
              <a:latin typeface="Times New Roman" pitchFamily="18" charset="0"/>
            </a:endParaRPr>
          </a:p>
          <a:p>
            <a:endParaRPr lang="en-US" sz="800"/>
          </a:p>
          <a:p>
            <a:endParaRPr lang="en-US" sz="800" b="1"/>
          </a:p>
          <a:p>
            <a:r>
              <a:rPr lang="en-US" sz="800" b="1"/>
              <a:t>© A+ Computer Science  -  www.apluscompsci.com</a:t>
            </a:r>
          </a:p>
        </p:txBody>
      </p:sp>
      <p:sp>
        <p:nvSpPr>
          <p:cNvPr id="59395" name="WordArt 2"/>
          <p:cNvSpPr>
            <a:spLocks noChangeArrowheads="1" noChangeShapeType="1" noTextEdit="1"/>
          </p:cNvSpPr>
          <p:nvPr/>
        </p:nvSpPr>
        <p:spPr bwMode="auto">
          <a:xfrm>
            <a:off x="762000" y="2362200"/>
            <a:ext cx="7391400" cy="1905000"/>
          </a:xfrm>
          <a:prstGeom prst="rect">
            <a:avLst/>
          </a:prstGeom>
        </p:spPr>
        <p:txBody>
          <a:bodyPr wrap="none" fromWordArt="1">
            <a:prstTxWarp prst="textPlain">
              <a:avLst>
                <a:gd name="adj" fmla="val 50000"/>
              </a:avLst>
            </a:prstTxWarp>
          </a:bodyPr>
          <a:lstStyle/>
          <a:p>
            <a:pPr algn="ctr"/>
            <a:r>
              <a:rPr lang="en-US" sz="3600" kern="10">
                <a:ln w="9525">
                  <a:solidFill>
                    <a:srgbClr val="FFFF00"/>
                  </a:solidFill>
                  <a:round/>
                  <a:headEnd type="none" w="sm" len="sm"/>
                  <a:tailEnd type="none" w="sm" len="sm"/>
                </a:ln>
                <a:solidFill>
                  <a:srgbClr val="0000FF"/>
                </a:solidFill>
                <a:effectLst>
                  <a:outerShdw dist="35921" dir="2700000" algn="ctr" rotWithShape="0">
                    <a:srgbClr val="C0C0C0">
                      <a:alpha val="79999"/>
                    </a:srgbClr>
                  </a:outerShdw>
                </a:effectLst>
                <a:latin typeface="Impact"/>
              </a:rPr>
              <a:t>BigO</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43" name="WordArt 2"/>
          <p:cNvSpPr>
            <a:spLocks noChangeArrowheads="1" noChangeShapeType="1" noTextEdit="1"/>
          </p:cNvSpPr>
          <p:nvPr/>
        </p:nvSpPr>
        <p:spPr bwMode="auto">
          <a:xfrm>
            <a:off x="3048000" y="299013"/>
            <a:ext cx="2819400" cy="392575"/>
          </a:xfrm>
          <a:prstGeom prst="rect">
            <a:avLst/>
          </a:prstGeom>
        </p:spPr>
        <p:txBody>
          <a:bodyPr wrap="none" fromWordArt="1">
            <a:prstTxWarp prst="textPlain">
              <a:avLst>
                <a:gd name="adj" fmla="val 50000"/>
              </a:avLst>
            </a:prstTxWarp>
          </a:bodyPr>
          <a:lstStyle/>
          <a:p>
            <a:pPr algn="ctr"/>
            <a:r>
              <a:rPr lang="en-US" sz="3600" kern="10" dirty="0">
                <a:ln w="9525">
                  <a:solidFill>
                    <a:srgbClr val="FFFF00"/>
                  </a:solidFill>
                  <a:round/>
                  <a:headEnd type="none" w="sm" len="sm"/>
                  <a:tailEnd type="none" w="sm" len="sm"/>
                </a:ln>
                <a:solidFill>
                  <a:srgbClr val="0000FF"/>
                </a:solidFill>
                <a:effectLst>
                  <a:outerShdw dist="35921" dir="2700000" algn="ctr" rotWithShape="0">
                    <a:srgbClr val="C0C0C0"/>
                  </a:outerShdw>
                </a:effectLst>
                <a:latin typeface="Impact"/>
              </a:rPr>
              <a:t>BST Big O</a:t>
            </a:r>
          </a:p>
        </p:txBody>
      </p:sp>
      <p:sp>
        <p:nvSpPr>
          <p:cNvPr id="61444" name="Text Box 3"/>
          <p:cNvSpPr txBox="1">
            <a:spLocks noChangeArrowheads="1"/>
          </p:cNvSpPr>
          <p:nvPr/>
        </p:nvSpPr>
        <p:spPr bwMode="auto">
          <a:xfrm>
            <a:off x="1676400" y="1005733"/>
            <a:ext cx="6629400" cy="212365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pPr eaLnBrk="1" hangingPunct="1">
              <a:spcBef>
                <a:spcPct val="50000"/>
              </a:spcBef>
            </a:pPr>
            <a:r>
              <a:rPr lang="en-US" b="1" dirty="0"/>
              <a:t>traverse all nodes			O(N)</a:t>
            </a:r>
          </a:p>
          <a:p>
            <a:pPr eaLnBrk="1" hangingPunct="1">
              <a:spcBef>
                <a:spcPct val="50000"/>
              </a:spcBef>
            </a:pPr>
            <a:r>
              <a:rPr lang="en-US" b="1" dirty="0"/>
              <a:t>search for an item		O(log</a:t>
            </a:r>
            <a:r>
              <a:rPr lang="en-US" b="1" baseline="-25000" dirty="0"/>
              <a:t>2</a:t>
            </a:r>
            <a:r>
              <a:rPr lang="en-US" b="1" dirty="0"/>
              <a:t>N)</a:t>
            </a:r>
          </a:p>
          <a:p>
            <a:pPr eaLnBrk="1" hangingPunct="1">
              <a:spcBef>
                <a:spcPct val="50000"/>
              </a:spcBef>
            </a:pPr>
            <a:r>
              <a:rPr lang="en-US" b="1" dirty="0"/>
              <a:t>remove any item			O(log</a:t>
            </a:r>
            <a:r>
              <a:rPr lang="en-US" b="1" baseline="-25000" dirty="0"/>
              <a:t>2</a:t>
            </a:r>
            <a:r>
              <a:rPr lang="en-US" b="1" dirty="0"/>
              <a:t>N)	</a:t>
            </a:r>
          </a:p>
          <a:p>
            <a:pPr eaLnBrk="1" hangingPunct="1">
              <a:spcBef>
                <a:spcPct val="50000"/>
              </a:spcBef>
            </a:pPr>
            <a:r>
              <a:rPr lang="en-US" b="1" dirty="0"/>
              <a:t>add item 				O(log</a:t>
            </a:r>
            <a:r>
              <a:rPr lang="en-US" b="1" baseline="-25000" dirty="0"/>
              <a:t>2</a:t>
            </a:r>
            <a:r>
              <a:rPr lang="en-US" b="1" dirty="0"/>
              <a:t>N)	</a:t>
            </a:r>
          </a:p>
        </p:txBody>
      </p:sp>
      <p:grpSp>
        <p:nvGrpSpPr>
          <p:cNvPr id="10" name="Group 9">
            <a:extLst>
              <a:ext uri="{FF2B5EF4-FFF2-40B4-BE49-F238E27FC236}">
                <a16:creationId xmlns:a16="http://schemas.microsoft.com/office/drawing/2014/main" id="{23F90D87-6A03-45B0-8241-9FE85F02A701}"/>
              </a:ext>
            </a:extLst>
          </p:cNvPr>
          <p:cNvGrpSpPr/>
          <p:nvPr/>
        </p:nvGrpSpPr>
        <p:grpSpPr>
          <a:xfrm>
            <a:off x="5129555" y="4803858"/>
            <a:ext cx="2577319" cy="456448"/>
            <a:chOff x="3429000" y="2286000"/>
            <a:chExt cx="3276600" cy="580292"/>
          </a:xfrm>
        </p:grpSpPr>
        <p:sp>
          <p:nvSpPr>
            <p:cNvPr id="12" name="Rectangle 11">
              <a:extLst>
                <a:ext uri="{FF2B5EF4-FFF2-40B4-BE49-F238E27FC236}">
                  <a16:creationId xmlns:a16="http://schemas.microsoft.com/office/drawing/2014/main" id="{BA646419-5946-4AC8-BC41-B6749F31F816}"/>
                </a:ext>
              </a:extLst>
            </p:cNvPr>
            <p:cNvSpPr/>
            <p:nvPr/>
          </p:nvSpPr>
          <p:spPr bwMode="auto">
            <a:xfrm>
              <a:off x="3429000" y="2286000"/>
              <a:ext cx="533400" cy="457200"/>
            </a:xfrm>
            <a:prstGeom prst="rect">
              <a:avLst/>
            </a:prstGeom>
            <a:solidFill>
              <a:schemeClr val="bg1"/>
            </a:solidFill>
            <a:ln w="12700" cap="flat" cmpd="sng" algn="ctr">
              <a:solidFill>
                <a:schemeClr val="bg1"/>
              </a:solidFill>
              <a:prstDash val="solid"/>
              <a:round/>
              <a:headEnd type="none" w="sm" len="sm"/>
              <a:tailEnd type="none" w="sm" len="sm"/>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2400" b="0" i="0" u="none" strike="noStrike" cap="none" normalizeH="0" baseline="0">
                <a:ln>
                  <a:noFill/>
                </a:ln>
                <a:solidFill>
                  <a:schemeClr val="tx1"/>
                </a:solidFill>
                <a:effectLst/>
                <a:latin typeface="Tahoma" pitchFamily="34" charset="0"/>
              </a:endParaRPr>
            </a:p>
          </p:txBody>
        </p:sp>
        <p:sp>
          <p:nvSpPr>
            <p:cNvPr id="13" name="Rectangle 12">
              <a:extLst>
                <a:ext uri="{FF2B5EF4-FFF2-40B4-BE49-F238E27FC236}">
                  <a16:creationId xmlns:a16="http://schemas.microsoft.com/office/drawing/2014/main" id="{34178CE3-82DA-4989-B803-4FF8C7A55E24}"/>
                </a:ext>
              </a:extLst>
            </p:cNvPr>
            <p:cNvSpPr/>
            <p:nvPr/>
          </p:nvSpPr>
          <p:spPr bwMode="auto">
            <a:xfrm>
              <a:off x="6172200" y="2409092"/>
              <a:ext cx="533400" cy="457200"/>
            </a:xfrm>
            <a:prstGeom prst="rect">
              <a:avLst/>
            </a:prstGeom>
            <a:solidFill>
              <a:schemeClr val="bg1"/>
            </a:solidFill>
            <a:ln w="12700" cap="flat" cmpd="sng" algn="ctr">
              <a:solidFill>
                <a:schemeClr val="bg1"/>
              </a:solidFill>
              <a:prstDash val="solid"/>
              <a:round/>
              <a:headEnd type="none" w="sm" len="sm"/>
              <a:tailEnd type="none" w="sm" len="sm"/>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2400" b="0" i="0" u="none" strike="noStrike" cap="none" normalizeH="0" baseline="0">
                <a:ln>
                  <a:noFill/>
                </a:ln>
                <a:solidFill>
                  <a:schemeClr val="tx1"/>
                </a:solidFill>
                <a:effectLst/>
                <a:latin typeface="Tahoma" pitchFamily="34" charset="0"/>
              </a:endParaRPr>
            </a:p>
          </p:txBody>
        </p:sp>
      </p:grpSp>
      <p:sp>
        <p:nvSpPr>
          <p:cNvPr id="16" name="TextBox 15">
            <a:extLst>
              <a:ext uri="{FF2B5EF4-FFF2-40B4-BE49-F238E27FC236}">
                <a16:creationId xmlns:a16="http://schemas.microsoft.com/office/drawing/2014/main" id="{EC6BDC91-D472-4ED7-AEF9-2B6E7C331E07}"/>
              </a:ext>
            </a:extLst>
          </p:cNvPr>
          <p:cNvSpPr txBox="1"/>
          <p:nvPr/>
        </p:nvSpPr>
        <p:spPr>
          <a:xfrm>
            <a:off x="228600" y="4064830"/>
            <a:ext cx="4572000" cy="2031325"/>
          </a:xfrm>
          <a:prstGeom prst="rect">
            <a:avLst/>
          </a:prstGeom>
          <a:noFill/>
        </p:spPr>
        <p:txBody>
          <a:bodyPr wrap="square">
            <a:spAutoFit/>
          </a:bodyPr>
          <a:lstStyle/>
          <a:p>
            <a:pPr algn="ctr" eaLnBrk="1" hangingPunct="1">
              <a:spcBef>
                <a:spcPct val="50000"/>
              </a:spcBef>
            </a:pPr>
            <a:r>
              <a:rPr lang="en-US" sz="2800" b="1" u="sng" dirty="0">
                <a:solidFill>
                  <a:schemeClr val="accent2"/>
                </a:solidFill>
              </a:rPr>
              <a:t>Average case</a:t>
            </a:r>
          </a:p>
          <a:p>
            <a:pPr algn="ctr" eaLnBrk="1" hangingPunct="1">
              <a:spcBef>
                <a:spcPct val="50000"/>
              </a:spcBef>
            </a:pPr>
            <a:r>
              <a:rPr lang="en-US" sz="2800" b="1" dirty="0">
                <a:solidFill>
                  <a:schemeClr val="accent2"/>
                </a:solidFill>
              </a:rPr>
              <a:t>these results assume the tree is balanced or nearly balanced.</a:t>
            </a:r>
            <a:endParaRPr lang="en-US" sz="2800" b="1" dirty="0"/>
          </a:p>
        </p:txBody>
      </p:sp>
      <p:grpSp>
        <p:nvGrpSpPr>
          <p:cNvPr id="3" name="Group 2" descr="A balanced binary tree with equal numbers of nodes in the left and right subtrees.">
            <a:extLst>
              <a:ext uri="{FF2B5EF4-FFF2-40B4-BE49-F238E27FC236}">
                <a16:creationId xmlns:a16="http://schemas.microsoft.com/office/drawing/2014/main" id="{9C1F77BB-43E6-4F74-B088-136DEE363027}"/>
              </a:ext>
            </a:extLst>
          </p:cNvPr>
          <p:cNvGrpSpPr/>
          <p:nvPr/>
        </p:nvGrpSpPr>
        <p:grpSpPr>
          <a:xfrm>
            <a:off x="4953000" y="3787300"/>
            <a:ext cx="3810000" cy="2946012"/>
            <a:chOff x="4953000" y="3787300"/>
            <a:chExt cx="3810000" cy="2946012"/>
          </a:xfrm>
        </p:grpSpPr>
        <p:pic>
          <p:nvPicPr>
            <p:cNvPr id="14" name="Picture 2">
              <a:extLst>
                <a:ext uri="{FF2B5EF4-FFF2-40B4-BE49-F238E27FC236}">
                  <a16:creationId xmlns:a16="http://schemas.microsoft.com/office/drawing/2014/main" id="{38A18019-3557-4850-952A-38AA305921D1}"/>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 r="43750" b="40770"/>
            <a:stretch/>
          </p:blipFill>
          <p:spPr bwMode="auto">
            <a:xfrm>
              <a:off x="4953000" y="3787300"/>
              <a:ext cx="3810000" cy="29460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cap="flat" cmpd="sng">
                  <a:solidFill>
                    <a:schemeClr val="tx1"/>
                  </a:solidFill>
                  <a:prstDash val="solid"/>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7" name="Rectangle 16">
              <a:extLst>
                <a:ext uri="{FF2B5EF4-FFF2-40B4-BE49-F238E27FC236}">
                  <a16:creationId xmlns:a16="http://schemas.microsoft.com/office/drawing/2014/main" id="{2138F9B4-7226-4D9F-8713-FAAAE768742A}"/>
                </a:ext>
              </a:extLst>
            </p:cNvPr>
            <p:cNvSpPr/>
            <p:nvPr/>
          </p:nvSpPr>
          <p:spPr bwMode="auto">
            <a:xfrm>
              <a:off x="7532811" y="4706284"/>
              <a:ext cx="533400" cy="457200"/>
            </a:xfrm>
            <a:prstGeom prst="rect">
              <a:avLst/>
            </a:prstGeom>
            <a:solidFill>
              <a:srgbClr val="FFFBFB"/>
            </a:solidFill>
            <a:ln w="12700" cap="flat" cmpd="sng" algn="ctr">
              <a:solidFill>
                <a:schemeClr val="bg1"/>
              </a:solidFill>
              <a:prstDash val="solid"/>
              <a:round/>
              <a:headEnd type="none" w="sm" len="sm"/>
              <a:tailEnd type="none" w="sm" len="sm"/>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2400" b="0" i="0" u="none" strike="noStrike" cap="none" normalizeH="0" baseline="0">
                <a:ln>
                  <a:noFill/>
                </a:ln>
                <a:solidFill>
                  <a:schemeClr val="tx1"/>
                </a:solidFill>
                <a:effectLst/>
                <a:latin typeface="Tahoma" pitchFamily="34" charset="0"/>
              </a:endParaRPr>
            </a:p>
          </p:txBody>
        </p:sp>
      </p:gr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p:cNvSpPr txBox="1"/>
          <p:nvPr/>
        </p:nvSpPr>
        <p:spPr>
          <a:xfrm>
            <a:off x="228600" y="338137"/>
            <a:ext cx="4648200" cy="2739211"/>
          </a:xfrm>
          <a:prstGeom prst="rect">
            <a:avLst/>
          </a:prstGeom>
          <a:noFill/>
        </p:spPr>
        <p:txBody>
          <a:bodyPr wrap="square" rtlCol="0">
            <a:spAutoFit/>
          </a:bodyPr>
          <a:lstStyle/>
          <a:p>
            <a:r>
              <a:rPr lang="en-US" sz="2800" b="1" dirty="0">
                <a:solidFill>
                  <a:srgbClr val="0000CC"/>
                </a:solidFill>
              </a:rPr>
              <a:t>Worst case:</a:t>
            </a:r>
          </a:p>
          <a:p>
            <a:pPr algn="ctr"/>
            <a:endParaRPr lang="en-US" sz="1400" b="1" dirty="0">
              <a:solidFill>
                <a:srgbClr val="0000CC"/>
              </a:solidFill>
            </a:endParaRPr>
          </a:p>
          <a:p>
            <a:r>
              <a:rPr lang="en-US" sz="2800" b="1" dirty="0"/>
              <a:t>Data entered in natural order or reverse order.</a:t>
            </a:r>
            <a:br>
              <a:rPr lang="en-US" sz="2800" b="1" dirty="0"/>
            </a:br>
            <a:endParaRPr lang="en-US" sz="1200" b="1" dirty="0"/>
          </a:p>
          <a:p>
            <a:r>
              <a:rPr lang="en-US" sz="2800" b="1" dirty="0"/>
              <a:t>Or any other tree with as many levels as nodes.</a:t>
            </a:r>
          </a:p>
        </p:txBody>
      </p:sp>
      <p:grpSp>
        <p:nvGrpSpPr>
          <p:cNvPr id="4" name="Group 3" descr="A degenerate tree with seven nodes and seven levels.">
            <a:extLst>
              <a:ext uri="{FF2B5EF4-FFF2-40B4-BE49-F238E27FC236}">
                <a16:creationId xmlns:a16="http://schemas.microsoft.com/office/drawing/2014/main" id="{90659242-EA6D-47F0-8F75-1942DE1B4597}"/>
              </a:ext>
            </a:extLst>
          </p:cNvPr>
          <p:cNvGrpSpPr/>
          <p:nvPr/>
        </p:nvGrpSpPr>
        <p:grpSpPr>
          <a:xfrm>
            <a:off x="4800600" y="304800"/>
            <a:ext cx="3733800" cy="5982247"/>
            <a:chOff x="4876800" y="457200"/>
            <a:chExt cx="3352800" cy="5371814"/>
          </a:xfrm>
        </p:grpSpPr>
        <p:pic>
          <p:nvPicPr>
            <p:cNvPr id="13" name="Picture 2">
              <a:extLst>
                <a:ext uri="{FF2B5EF4-FFF2-40B4-BE49-F238E27FC236}">
                  <a16:creationId xmlns:a16="http://schemas.microsoft.com/office/drawing/2014/main" id="{4EEF68DC-FE59-4BCC-A441-814A657C5552}"/>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54167"/>
            <a:stretch/>
          </p:blipFill>
          <p:spPr bwMode="auto">
            <a:xfrm>
              <a:off x="4876800" y="457200"/>
              <a:ext cx="3352800" cy="537181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cap="flat" cmpd="sng">
                  <a:solidFill>
                    <a:schemeClr val="tx1"/>
                  </a:solidFill>
                  <a:prstDash val="solid"/>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4" name="Rectangle 13">
              <a:extLst>
                <a:ext uri="{FF2B5EF4-FFF2-40B4-BE49-F238E27FC236}">
                  <a16:creationId xmlns:a16="http://schemas.microsoft.com/office/drawing/2014/main" id="{5AC469E8-0317-4384-810B-E3B41002A6C4}"/>
                </a:ext>
              </a:extLst>
            </p:cNvPr>
            <p:cNvSpPr/>
            <p:nvPr/>
          </p:nvSpPr>
          <p:spPr bwMode="auto">
            <a:xfrm>
              <a:off x="6400800" y="1371600"/>
              <a:ext cx="533400" cy="457200"/>
            </a:xfrm>
            <a:prstGeom prst="rect">
              <a:avLst/>
            </a:prstGeom>
            <a:solidFill>
              <a:srgbClr val="FFFBFB"/>
            </a:solidFill>
            <a:ln w="12700" cap="flat" cmpd="sng" algn="ctr">
              <a:solidFill>
                <a:schemeClr val="bg1"/>
              </a:solidFill>
              <a:prstDash val="solid"/>
              <a:round/>
              <a:headEnd type="none" w="sm" len="sm"/>
              <a:tailEnd type="none" w="sm" len="sm"/>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2400" b="0" i="0" u="none" strike="noStrike" cap="none" normalizeH="0" baseline="0">
                <a:ln>
                  <a:noFill/>
                </a:ln>
                <a:solidFill>
                  <a:schemeClr val="tx1"/>
                </a:solidFill>
                <a:effectLst/>
                <a:latin typeface="Tahoma" pitchFamily="34" charset="0"/>
              </a:endParaRPr>
            </a:p>
          </p:txBody>
        </p:sp>
      </p:grpSp>
      <p:sp>
        <p:nvSpPr>
          <p:cNvPr id="15" name="TextBox 14">
            <a:extLst>
              <a:ext uri="{FF2B5EF4-FFF2-40B4-BE49-F238E27FC236}">
                <a16:creationId xmlns:a16="http://schemas.microsoft.com/office/drawing/2014/main" id="{7C167133-0CC0-4D42-B59E-90C695992769}"/>
              </a:ext>
            </a:extLst>
          </p:cNvPr>
          <p:cNvSpPr txBox="1"/>
          <p:nvPr/>
        </p:nvSpPr>
        <p:spPr>
          <a:xfrm>
            <a:off x="685800" y="3962400"/>
            <a:ext cx="3733800" cy="1815882"/>
          </a:xfrm>
          <a:prstGeom prst="rect">
            <a:avLst/>
          </a:prstGeom>
          <a:noFill/>
        </p:spPr>
        <p:txBody>
          <a:bodyPr wrap="square">
            <a:spAutoFit/>
          </a:bodyPr>
          <a:lstStyle/>
          <a:p>
            <a:pPr eaLnBrk="1" hangingPunct="1">
              <a:spcBef>
                <a:spcPct val="50000"/>
              </a:spcBef>
            </a:pPr>
            <a:r>
              <a:rPr lang="en-US" sz="2800" b="1" dirty="0"/>
              <a:t>Adding	 O(n)</a:t>
            </a:r>
          </a:p>
          <a:p>
            <a:pPr eaLnBrk="1" hangingPunct="1">
              <a:spcBef>
                <a:spcPct val="50000"/>
              </a:spcBef>
            </a:pPr>
            <a:r>
              <a:rPr lang="en-US" sz="2800" b="1" dirty="0"/>
              <a:t>Searching	 O(n)</a:t>
            </a:r>
          </a:p>
          <a:p>
            <a:pPr eaLnBrk="1" hangingPunct="1">
              <a:spcBef>
                <a:spcPct val="50000"/>
              </a:spcBef>
            </a:pPr>
            <a:r>
              <a:rPr lang="en-US" sz="2800" b="1" dirty="0"/>
              <a:t>Removing	 O(n)</a:t>
            </a:r>
          </a:p>
        </p:txBody>
      </p:sp>
    </p:spTree>
    <p:extLst>
      <p:ext uri="{BB962C8B-B14F-4D97-AF65-F5344CB8AC3E}">
        <p14:creationId xmlns:p14="http://schemas.microsoft.com/office/powerpoint/2010/main" val="116937271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p:cNvSpPr txBox="1"/>
          <p:nvPr/>
        </p:nvSpPr>
        <p:spPr>
          <a:xfrm>
            <a:off x="762000" y="76200"/>
            <a:ext cx="7924800" cy="2786981"/>
          </a:xfrm>
          <a:prstGeom prst="rect">
            <a:avLst/>
          </a:prstGeom>
          <a:noFill/>
        </p:spPr>
        <p:txBody>
          <a:bodyPr wrap="square" rtlCol="0">
            <a:spAutoFit/>
          </a:bodyPr>
          <a:lstStyle/>
          <a:p>
            <a:pPr>
              <a:lnSpc>
                <a:spcPct val="150000"/>
              </a:lnSpc>
            </a:pPr>
            <a:r>
              <a:rPr lang="en-US" b="1" dirty="0">
                <a:solidFill>
                  <a:srgbClr val="0000CC"/>
                </a:solidFill>
              </a:rPr>
              <a:t>Best case = O(1)</a:t>
            </a:r>
            <a:r>
              <a:rPr lang="en-US" dirty="0">
                <a:solidFill>
                  <a:srgbClr val="0000CC"/>
                </a:solidFill>
              </a:rPr>
              <a:t>	 </a:t>
            </a:r>
          </a:p>
          <a:p>
            <a:pPr marL="342900" indent="-342900">
              <a:lnSpc>
                <a:spcPct val="150000"/>
              </a:lnSpc>
              <a:buFont typeface="Arial" panose="020B0604020202020204" pitchFamily="34" charset="0"/>
              <a:buChar char="•"/>
            </a:pPr>
            <a:r>
              <a:rPr lang="en-US" dirty="0"/>
              <a:t>Search value is the root</a:t>
            </a:r>
          </a:p>
          <a:p>
            <a:pPr marL="342900" indent="-342900">
              <a:lnSpc>
                <a:spcPct val="150000"/>
              </a:lnSpc>
              <a:buFont typeface="Arial" panose="020B0604020202020204" pitchFamily="34" charset="0"/>
              <a:buChar char="•"/>
            </a:pPr>
            <a:r>
              <a:rPr lang="en-US" dirty="0"/>
              <a:t>Adding to a tree with only one branch when the new value starts the other branch</a:t>
            </a:r>
          </a:p>
          <a:p>
            <a:pPr marL="342900" indent="-342900">
              <a:lnSpc>
                <a:spcPct val="150000"/>
              </a:lnSpc>
              <a:buFont typeface="Arial" panose="020B0604020202020204" pitchFamily="34" charset="0"/>
              <a:buChar char="•"/>
            </a:pPr>
            <a:r>
              <a:rPr lang="en-US" dirty="0"/>
              <a:t>Removing a node which has 0 or 1 child</a:t>
            </a:r>
          </a:p>
        </p:txBody>
      </p:sp>
      <p:pic>
        <p:nvPicPr>
          <p:cNvPr id="1026" name="Picture 2" descr="The initial tree is a degenerate tree with 20 as the root, 14 as its left child, and 9 as 14's left child.&#10;Inserting 22 would be O(1)">
            <a:extLst>
              <a:ext uri="{FF2B5EF4-FFF2-40B4-BE49-F238E27FC236}">
                <a16:creationId xmlns:a16="http://schemas.microsoft.com/office/drawing/2014/main" id="{18CB4DEF-428C-05B9-CF58-3A0AF8882EE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66700" y="3048000"/>
            <a:ext cx="8610600" cy="33051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7338893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44" name="Text Box 3"/>
          <p:cNvSpPr txBox="1">
            <a:spLocks noChangeArrowheads="1"/>
          </p:cNvSpPr>
          <p:nvPr/>
        </p:nvSpPr>
        <p:spPr bwMode="auto">
          <a:xfrm>
            <a:off x="1600200" y="1295400"/>
            <a:ext cx="6629400" cy="2677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pPr eaLnBrk="1" hangingPunct="1">
              <a:spcBef>
                <a:spcPct val="50000"/>
              </a:spcBef>
            </a:pPr>
            <a:r>
              <a:rPr lang="en-US" b="1" dirty="0"/>
              <a:t>traverse all nodes			O(N)</a:t>
            </a:r>
          </a:p>
          <a:p>
            <a:pPr eaLnBrk="1" hangingPunct="1">
              <a:spcBef>
                <a:spcPct val="50000"/>
              </a:spcBef>
            </a:pPr>
            <a:r>
              <a:rPr lang="en-US" b="1" dirty="0">
                <a:solidFill>
                  <a:schemeClr val="accent1">
                    <a:lumMod val="50000"/>
                  </a:schemeClr>
                </a:solidFill>
              </a:rPr>
              <a:t>search for an item		O(log</a:t>
            </a:r>
            <a:r>
              <a:rPr lang="en-US" b="1" baseline="-25000" dirty="0">
                <a:solidFill>
                  <a:schemeClr val="accent1">
                    <a:lumMod val="50000"/>
                  </a:schemeClr>
                </a:solidFill>
              </a:rPr>
              <a:t>2</a:t>
            </a:r>
            <a:r>
              <a:rPr lang="en-US" b="1" dirty="0">
                <a:solidFill>
                  <a:schemeClr val="accent1">
                    <a:lumMod val="50000"/>
                  </a:schemeClr>
                </a:solidFill>
              </a:rPr>
              <a:t>N)</a:t>
            </a:r>
          </a:p>
          <a:p>
            <a:pPr eaLnBrk="1" hangingPunct="1">
              <a:spcBef>
                <a:spcPct val="50000"/>
              </a:spcBef>
            </a:pPr>
            <a:r>
              <a:rPr lang="en-US" b="1" dirty="0">
                <a:solidFill>
                  <a:srgbClr val="C00000"/>
                </a:solidFill>
              </a:rPr>
              <a:t>remove any item			O(N)	</a:t>
            </a:r>
          </a:p>
          <a:p>
            <a:pPr eaLnBrk="1" hangingPunct="1">
              <a:spcBef>
                <a:spcPct val="50000"/>
              </a:spcBef>
            </a:pPr>
            <a:r>
              <a:rPr lang="en-US" b="1" dirty="0"/>
              <a:t>access a </a:t>
            </a:r>
            <a:r>
              <a:rPr lang="en-US" b="1" u="sng" dirty="0"/>
              <a:t>spot</a:t>
            </a:r>
            <a:r>
              <a:rPr lang="en-US" b="1" dirty="0"/>
              <a:t>			O(1)	</a:t>
            </a:r>
          </a:p>
          <a:p>
            <a:pPr eaLnBrk="1" hangingPunct="1">
              <a:spcBef>
                <a:spcPct val="50000"/>
              </a:spcBef>
            </a:pPr>
            <a:r>
              <a:rPr lang="en-US" b="1" dirty="0">
                <a:solidFill>
                  <a:srgbClr val="C00000"/>
                </a:solidFill>
              </a:rPr>
              <a:t>add item 				O(N)</a:t>
            </a:r>
          </a:p>
        </p:txBody>
      </p:sp>
      <p:grpSp>
        <p:nvGrpSpPr>
          <p:cNvPr id="10" name="Group 9">
            <a:extLst>
              <a:ext uri="{FF2B5EF4-FFF2-40B4-BE49-F238E27FC236}">
                <a16:creationId xmlns:a16="http://schemas.microsoft.com/office/drawing/2014/main" id="{23F90D87-6A03-45B0-8241-9FE85F02A701}"/>
              </a:ext>
            </a:extLst>
          </p:cNvPr>
          <p:cNvGrpSpPr/>
          <p:nvPr/>
        </p:nvGrpSpPr>
        <p:grpSpPr>
          <a:xfrm>
            <a:off x="5129555" y="4803858"/>
            <a:ext cx="2577319" cy="456448"/>
            <a:chOff x="3429000" y="2286000"/>
            <a:chExt cx="3276600" cy="580292"/>
          </a:xfrm>
        </p:grpSpPr>
        <p:sp>
          <p:nvSpPr>
            <p:cNvPr id="12" name="Rectangle 11">
              <a:extLst>
                <a:ext uri="{FF2B5EF4-FFF2-40B4-BE49-F238E27FC236}">
                  <a16:creationId xmlns:a16="http://schemas.microsoft.com/office/drawing/2014/main" id="{BA646419-5946-4AC8-BC41-B6749F31F816}"/>
                </a:ext>
              </a:extLst>
            </p:cNvPr>
            <p:cNvSpPr/>
            <p:nvPr/>
          </p:nvSpPr>
          <p:spPr bwMode="auto">
            <a:xfrm>
              <a:off x="3429000" y="2286000"/>
              <a:ext cx="533400" cy="457200"/>
            </a:xfrm>
            <a:prstGeom prst="rect">
              <a:avLst/>
            </a:prstGeom>
            <a:solidFill>
              <a:schemeClr val="bg1"/>
            </a:solidFill>
            <a:ln w="12700" cap="flat" cmpd="sng" algn="ctr">
              <a:solidFill>
                <a:schemeClr val="bg1"/>
              </a:solidFill>
              <a:prstDash val="solid"/>
              <a:round/>
              <a:headEnd type="none" w="sm" len="sm"/>
              <a:tailEnd type="none" w="sm" len="sm"/>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2400" b="0" i="0" u="none" strike="noStrike" cap="none" normalizeH="0" baseline="0">
                <a:ln>
                  <a:noFill/>
                </a:ln>
                <a:solidFill>
                  <a:schemeClr val="tx1"/>
                </a:solidFill>
                <a:effectLst/>
                <a:latin typeface="Tahoma" pitchFamily="34" charset="0"/>
              </a:endParaRPr>
            </a:p>
          </p:txBody>
        </p:sp>
        <p:sp>
          <p:nvSpPr>
            <p:cNvPr id="13" name="Rectangle 12">
              <a:extLst>
                <a:ext uri="{FF2B5EF4-FFF2-40B4-BE49-F238E27FC236}">
                  <a16:creationId xmlns:a16="http://schemas.microsoft.com/office/drawing/2014/main" id="{34178CE3-82DA-4989-B803-4FF8C7A55E24}"/>
                </a:ext>
              </a:extLst>
            </p:cNvPr>
            <p:cNvSpPr/>
            <p:nvPr/>
          </p:nvSpPr>
          <p:spPr bwMode="auto">
            <a:xfrm>
              <a:off x="6172200" y="2409092"/>
              <a:ext cx="533400" cy="457200"/>
            </a:xfrm>
            <a:prstGeom prst="rect">
              <a:avLst/>
            </a:prstGeom>
            <a:solidFill>
              <a:schemeClr val="bg1"/>
            </a:solidFill>
            <a:ln w="12700" cap="flat" cmpd="sng" algn="ctr">
              <a:solidFill>
                <a:schemeClr val="bg1"/>
              </a:solidFill>
              <a:prstDash val="solid"/>
              <a:round/>
              <a:headEnd type="none" w="sm" len="sm"/>
              <a:tailEnd type="none" w="sm" len="sm"/>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2400" b="0" i="0" u="none" strike="noStrike" cap="none" normalizeH="0" baseline="0">
                <a:ln>
                  <a:noFill/>
                </a:ln>
                <a:solidFill>
                  <a:schemeClr val="tx1"/>
                </a:solidFill>
                <a:effectLst/>
                <a:latin typeface="Tahoma" pitchFamily="34" charset="0"/>
              </a:endParaRPr>
            </a:p>
          </p:txBody>
        </p:sp>
      </p:grpSp>
      <p:sp>
        <p:nvSpPr>
          <p:cNvPr id="16" name="TextBox 15">
            <a:extLst>
              <a:ext uri="{FF2B5EF4-FFF2-40B4-BE49-F238E27FC236}">
                <a16:creationId xmlns:a16="http://schemas.microsoft.com/office/drawing/2014/main" id="{EC6BDC91-D472-4ED7-AEF9-2B6E7C331E07}"/>
              </a:ext>
            </a:extLst>
          </p:cNvPr>
          <p:cNvSpPr txBox="1"/>
          <p:nvPr/>
        </p:nvSpPr>
        <p:spPr>
          <a:xfrm>
            <a:off x="609599" y="5144869"/>
            <a:ext cx="7924800" cy="646331"/>
          </a:xfrm>
          <a:prstGeom prst="rect">
            <a:avLst/>
          </a:prstGeom>
          <a:noFill/>
        </p:spPr>
        <p:txBody>
          <a:bodyPr wrap="square">
            <a:spAutoFit/>
          </a:bodyPr>
          <a:lstStyle/>
          <a:p>
            <a:pPr algn="ctr" eaLnBrk="1" hangingPunct="1">
              <a:spcBef>
                <a:spcPct val="50000"/>
              </a:spcBef>
            </a:pPr>
            <a:r>
              <a:rPr lang="en-US" sz="3600" b="1" dirty="0">
                <a:solidFill>
                  <a:schemeClr val="accent2"/>
                </a:solidFill>
              </a:rPr>
              <a:t>[2, 3, 5, 8, 10, 19, 23, 27, 32]</a:t>
            </a:r>
            <a:endParaRPr lang="en-US" sz="3600" b="1" dirty="0"/>
          </a:p>
        </p:txBody>
      </p:sp>
      <p:sp>
        <p:nvSpPr>
          <p:cNvPr id="2" name="TextBox 1">
            <a:extLst>
              <a:ext uri="{FF2B5EF4-FFF2-40B4-BE49-F238E27FC236}">
                <a16:creationId xmlns:a16="http://schemas.microsoft.com/office/drawing/2014/main" id="{A9C03A65-E039-EE14-D29F-9ED53F20D14F}"/>
              </a:ext>
            </a:extLst>
          </p:cNvPr>
          <p:cNvSpPr txBox="1"/>
          <p:nvPr/>
        </p:nvSpPr>
        <p:spPr>
          <a:xfrm>
            <a:off x="327889" y="261280"/>
            <a:ext cx="8488221" cy="461665"/>
          </a:xfrm>
          <a:prstGeom prst="rect">
            <a:avLst/>
          </a:prstGeom>
          <a:noFill/>
        </p:spPr>
        <p:txBody>
          <a:bodyPr wrap="none" rtlCol="0">
            <a:spAutoFit/>
          </a:bodyPr>
          <a:lstStyle/>
          <a:p>
            <a:r>
              <a:rPr lang="en-US" b="1" dirty="0">
                <a:solidFill>
                  <a:schemeClr val="accent6">
                    <a:lumMod val="75000"/>
                  </a:schemeClr>
                </a:solidFill>
              </a:rPr>
              <a:t>Using a Sorted Array and the Binary Search Algorithm</a:t>
            </a:r>
          </a:p>
        </p:txBody>
      </p:sp>
    </p:spTree>
    <p:extLst>
      <p:ext uri="{BB962C8B-B14F-4D97-AF65-F5344CB8AC3E}">
        <p14:creationId xmlns:p14="http://schemas.microsoft.com/office/powerpoint/2010/main" val="75461544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Comparing Data Structures</a:t>
            </a:r>
          </a:p>
        </p:txBody>
      </p:sp>
      <mc:AlternateContent xmlns:mc="http://schemas.openxmlformats.org/markup-compatibility/2006" xmlns:a14="http://schemas.microsoft.com/office/drawing/2010/main">
        <mc:Choice Requires="a14">
          <p:graphicFrame>
            <p:nvGraphicFramePr>
              <p:cNvPr id="5" name="Content Placeholder 4"/>
              <p:cNvGraphicFramePr>
                <a:graphicFrameLocks noGrp="1"/>
              </p:cNvGraphicFramePr>
              <p:nvPr>
                <p:ph sz="quarter" idx="1"/>
                <p:extLst>
                  <p:ext uri="{D42A27DB-BD31-4B8C-83A1-F6EECF244321}">
                    <p14:modId xmlns:p14="http://schemas.microsoft.com/office/powerpoint/2010/main" val="4278070130"/>
                  </p:ext>
                </p:extLst>
              </p:nvPr>
            </p:nvGraphicFramePr>
            <p:xfrm>
              <a:off x="0" y="-7144"/>
              <a:ext cx="9144001" cy="6865143"/>
            </p:xfrm>
            <a:graphic>
              <a:graphicData uri="http://schemas.openxmlformats.org/drawingml/2006/table">
                <a:tbl>
                  <a:tblPr firstRow="1" bandRow="1">
                    <a:tableStyleId>{5C22544A-7EE6-4342-B048-85BDC9FD1C3A}</a:tableStyleId>
                  </a:tblPr>
                  <a:tblGrid>
                    <a:gridCol w="2953435">
                      <a:extLst>
                        <a:ext uri="{9D8B030D-6E8A-4147-A177-3AD203B41FA5}">
                          <a16:colId xmlns:a16="http://schemas.microsoft.com/office/drawing/2014/main" val="20000"/>
                        </a:ext>
                      </a:extLst>
                    </a:gridCol>
                    <a:gridCol w="1968092">
                      <a:extLst>
                        <a:ext uri="{9D8B030D-6E8A-4147-A177-3AD203B41FA5}">
                          <a16:colId xmlns:a16="http://schemas.microsoft.com/office/drawing/2014/main" val="20001"/>
                        </a:ext>
                      </a:extLst>
                    </a:gridCol>
                    <a:gridCol w="2111237">
                      <a:extLst>
                        <a:ext uri="{9D8B030D-6E8A-4147-A177-3AD203B41FA5}">
                          <a16:colId xmlns:a16="http://schemas.microsoft.com/office/drawing/2014/main" val="20002"/>
                        </a:ext>
                      </a:extLst>
                    </a:gridCol>
                    <a:gridCol w="2111237">
                      <a:extLst>
                        <a:ext uri="{9D8B030D-6E8A-4147-A177-3AD203B41FA5}">
                          <a16:colId xmlns:a16="http://schemas.microsoft.com/office/drawing/2014/main" val="1749272156"/>
                        </a:ext>
                      </a:extLst>
                    </a:gridCol>
                  </a:tblGrid>
                  <a:tr h="946555">
                    <a:tc>
                      <a:txBody>
                        <a:bodyPr/>
                        <a:lstStyle/>
                        <a:p>
                          <a:pPr algn="ctr"/>
                          <a:r>
                            <a:rPr lang="en-US" sz="2400" b="0" dirty="0">
                              <a:latin typeface="Abadi" panose="020B0604020104020204" pitchFamily="34" charset="0"/>
                            </a:rPr>
                            <a:t>Data Structure</a:t>
                          </a:r>
                        </a:p>
                      </a:txBody>
                      <a:tcPr anchor="ctr"/>
                    </a:tc>
                    <a:tc>
                      <a:txBody>
                        <a:bodyPr/>
                        <a:lstStyle/>
                        <a:p>
                          <a:pPr algn="ctr"/>
                          <a:r>
                            <a:rPr lang="en-US" sz="2400" b="0" dirty="0">
                              <a:latin typeface="Abadi" panose="020B0604020104020204" pitchFamily="34" charset="0"/>
                            </a:rPr>
                            <a:t>add(</a:t>
                          </a:r>
                          <a:r>
                            <a:rPr lang="en-US" sz="2400" b="0" dirty="0" err="1">
                              <a:latin typeface="Abadi" panose="020B0604020104020204" pitchFamily="34" charset="0"/>
                            </a:rPr>
                            <a:t>val</a:t>
                          </a:r>
                          <a:r>
                            <a:rPr lang="en-US" sz="2400" b="0" dirty="0">
                              <a:latin typeface="Abadi" panose="020B0604020104020204" pitchFamily="34" charset="0"/>
                            </a:rPr>
                            <a:t> x)</a:t>
                          </a:r>
                        </a:p>
                      </a:txBody>
                      <a:tcPr anchor="ctr"/>
                    </a:tc>
                    <a:tc>
                      <a:txBody>
                        <a:bodyPr/>
                        <a:lstStyle/>
                        <a:p>
                          <a:pPr algn="ctr"/>
                          <a:r>
                            <a:rPr lang="en-US" sz="2400" b="0" dirty="0">
                              <a:latin typeface="Abadi" panose="020B0604020104020204" pitchFamily="34" charset="0"/>
                            </a:rPr>
                            <a:t>lookup(int i)</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2400" b="0" dirty="0">
                              <a:latin typeface="Abadi" panose="020B0604020104020204" pitchFamily="34" charset="0"/>
                            </a:rPr>
                            <a:t>search(</a:t>
                          </a:r>
                          <a:r>
                            <a:rPr lang="en-US" sz="2400" b="0" dirty="0" err="1">
                              <a:latin typeface="Abadi" panose="020B0604020104020204" pitchFamily="34" charset="0"/>
                            </a:rPr>
                            <a:t>val</a:t>
                          </a:r>
                          <a:r>
                            <a:rPr lang="en-US" sz="2400" b="0" dirty="0">
                              <a:latin typeface="Abadi" panose="020B0604020104020204" pitchFamily="34" charset="0"/>
                            </a:rPr>
                            <a:t> x)</a:t>
                          </a:r>
                        </a:p>
                      </a:txBody>
                      <a:tcPr anchor="ctr"/>
                    </a:tc>
                    <a:extLst>
                      <a:ext uri="{0D108BD9-81ED-4DB2-BD59-A6C34878D82A}">
                        <a16:rowId xmlns:a16="http://schemas.microsoft.com/office/drawing/2014/main" val="10000"/>
                      </a:ext>
                    </a:extLst>
                  </a:tr>
                  <a:tr h="1723880">
                    <a:tc>
                      <a:txBody>
                        <a:bodyPr/>
                        <a:lstStyle/>
                        <a:p>
                          <a:r>
                            <a:rPr lang="en-US" sz="2400" b="1" dirty="0">
                              <a:latin typeface="Abadi" panose="020B0604020104020204" pitchFamily="34" charset="0"/>
                            </a:rPr>
                            <a:t>Array</a:t>
                          </a:r>
                        </a:p>
                      </a:txBody>
                      <a:tcPr/>
                    </a:tc>
                    <a:tc>
                      <a:txBody>
                        <a:bodyPr/>
                        <a:lstStyle/>
                        <a:p>
                          <a:pPr/>
                          <a14:m>
                            <m:oMathPara xmlns:m="http://schemas.openxmlformats.org/officeDocument/2006/math">
                              <m:oMathParaPr>
                                <m:jc m:val="center"/>
                              </m:oMathParaPr>
                              <m:oMath xmlns:m="http://schemas.openxmlformats.org/officeDocument/2006/math">
                                <m:r>
                                  <a:rPr lang="en-US" sz="3200" b="0" i="1" smtClean="0">
                                    <a:latin typeface="Cambria Math" panose="02040503050406030204" pitchFamily="18" charset="0"/>
                                  </a:rPr>
                                  <m:t>𝑂</m:t>
                                </m:r>
                                <m:r>
                                  <a:rPr lang="en-US" sz="3200" b="0" i="1" smtClean="0">
                                    <a:latin typeface="Cambria Math" panose="02040503050406030204" pitchFamily="18" charset="0"/>
                                  </a:rPr>
                                  <m:t>(</m:t>
                                </m:r>
                                <m:r>
                                  <a:rPr lang="en-US" sz="3200" b="0" i="1" smtClean="0">
                                    <a:latin typeface="Cambria Math" panose="02040503050406030204" pitchFamily="18" charset="0"/>
                                  </a:rPr>
                                  <m:t>𝑛</m:t>
                                </m:r>
                                <m:r>
                                  <a:rPr lang="en-US" sz="3200" b="0" i="1" smtClean="0">
                                    <a:latin typeface="Cambria Math" panose="02040503050406030204" pitchFamily="18" charset="0"/>
                                  </a:rPr>
                                  <m:t>)</m:t>
                                </m:r>
                              </m:oMath>
                            </m:oMathPara>
                          </a14:m>
                          <a:endParaRPr lang="en-US" sz="3200" dirty="0"/>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3200" b="0" i="1" kern="1200" smtClean="0">
                                    <a:solidFill>
                                      <a:schemeClr val="dk1"/>
                                    </a:solidFill>
                                    <a:latin typeface="Cambria Math" panose="02040503050406030204" pitchFamily="18" charset="0"/>
                                    <a:ea typeface="+mn-ea"/>
                                    <a:cs typeface="+mn-cs"/>
                                  </a:rPr>
                                  <m:t>𝑂</m:t>
                                </m:r>
                                <m:r>
                                  <a:rPr lang="en-US" sz="3200" b="0" i="1" kern="1200" smtClean="0">
                                    <a:solidFill>
                                      <a:schemeClr val="dk1"/>
                                    </a:solidFill>
                                    <a:latin typeface="Cambria Math" panose="02040503050406030204" pitchFamily="18" charset="0"/>
                                    <a:ea typeface="+mn-ea"/>
                                    <a:cs typeface="+mn-cs"/>
                                  </a:rPr>
                                  <m:t>(1)</m:t>
                                </m:r>
                              </m:oMath>
                            </m:oMathPara>
                          </a14:m>
                          <a:endParaRPr lang="en-US" sz="3200" b="0" i="1" kern="1200" dirty="0">
                            <a:solidFill>
                              <a:schemeClr val="dk1"/>
                            </a:solidFill>
                            <a:latin typeface="Cambria Math" panose="02040503050406030204" pitchFamily="18" charset="0"/>
                            <a:ea typeface="+mn-ea"/>
                            <a:cs typeface="+mn-cs"/>
                          </a:endParaRP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3200" b="0" i="1" kern="1200" smtClean="0">
                                    <a:solidFill>
                                      <a:schemeClr val="dk1"/>
                                    </a:solidFill>
                                    <a:latin typeface="Cambria Math" panose="02040503050406030204" pitchFamily="18" charset="0"/>
                                    <a:ea typeface="+mn-ea"/>
                                    <a:cs typeface="+mn-cs"/>
                                  </a:rPr>
                                  <m:t>𝑂</m:t>
                                </m:r>
                                <m:r>
                                  <a:rPr lang="en-US" sz="3200" b="0" i="1" kern="1200" smtClean="0">
                                    <a:solidFill>
                                      <a:schemeClr val="dk1"/>
                                    </a:solidFill>
                                    <a:latin typeface="Cambria Math" panose="02040503050406030204" pitchFamily="18" charset="0"/>
                                    <a:ea typeface="+mn-ea"/>
                                    <a:cs typeface="+mn-cs"/>
                                  </a:rPr>
                                  <m:t>(</m:t>
                                </m:r>
                                <m:r>
                                  <a:rPr lang="en-US" sz="3200" b="0" i="1" kern="1200" smtClean="0">
                                    <a:solidFill>
                                      <a:schemeClr val="dk1"/>
                                    </a:solidFill>
                                    <a:latin typeface="Cambria Math" panose="02040503050406030204" pitchFamily="18" charset="0"/>
                                    <a:ea typeface="+mn-ea"/>
                                    <a:cs typeface="+mn-cs"/>
                                  </a:rPr>
                                  <m:t>𝑛</m:t>
                                </m:r>
                                <m:r>
                                  <a:rPr lang="en-US" sz="3200" b="0" i="1" kern="1200" smtClean="0">
                                    <a:solidFill>
                                      <a:schemeClr val="dk1"/>
                                    </a:solidFill>
                                    <a:latin typeface="Cambria Math" panose="02040503050406030204" pitchFamily="18" charset="0"/>
                                    <a:ea typeface="+mn-ea"/>
                                    <a:cs typeface="+mn-cs"/>
                                  </a:rPr>
                                  <m:t>)</m:t>
                                </m:r>
                              </m:oMath>
                            </m:oMathPara>
                          </a14:m>
                          <a:endParaRPr lang="en-US" sz="3200" b="0" i="1" kern="1200" dirty="0">
                            <a:solidFill>
                              <a:schemeClr val="dk1"/>
                            </a:solidFill>
                            <a:latin typeface="Cambria Math" panose="02040503050406030204" pitchFamily="18" charset="0"/>
                            <a:ea typeface="+mn-ea"/>
                            <a:cs typeface="+mn-cs"/>
                          </a:endParaRPr>
                        </a:p>
                      </a:txBody>
                      <a:tcPr anchor="ctr"/>
                    </a:tc>
                    <a:extLst>
                      <a:ext uri="{0D108BD9-81ED-4DB2-BD59-A6C34878D82A}">
                        <a16:rowId xmlns:a16="http://schemas.microsoft.com/office/drawing/2014/main" val="10001"/>
                      </a:ext>
                    </a:extLst>
                  </a:tr>
                  <a:tr h="1398236">
                    <a:tc>
                      <a:txBody>
                        <a:bodyPr/>
                        <a:lstStyle/>
                        <a:p>
                          <a:r>
                            <a:rPr lang="en-US" sz="2400" b="1" dirty="0">
                              <a:latin typeface="Abadi" panose="020B0604020104020204" pitchFamily="34" charset="0"/>
                            </a:rPr>
                            <a:t>Linked List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3200" b="0" i="1" kern="1200" smtClean="0">
                                    <a:solidFill>
                                      <a:schemeClr val="dk1"/>
                                    </a:solidFill>
                                    <a:latin typeface="Cambria Math" panose="02040503050406030204" pitchFamily="18" charset="0"/>
                                    <a:ea typeface="+mn-ea"/>
                                    <a:cs typeface="+mn-cs"/>
                                  </a:rPr>
                                  <m:t>𝑂</m:t>
                                </m:r>
                                <m:r>
                                  <a:rPr lang="en-US" sz="3200" b="0" i="1" kern="1200" smtClean="0">
                                    <a:solidFill>
                                      <a:schemeClr val="dk1"/>
                                    </a:solidFill>
                                    <a:latin typeface="Cambria Math" panose="02040503050406030204" pitchFamily="18" charset="0"/>
                                    <a:ea typeface="+mn-ea"/>
                                    <a:cs typeface="+mn-cs"/>
                                  </a:rPr>
                                  <m:t>(1)</m:t>
                                </m:r>
                              </m:oMath>
                            </m:oMathPara>
                          </a14:m>
                          <a:endParaRPr lang="en-US" sz="3200" b="0" i="1" kern="1200" dirty="0">
                            <a:solidFill>
                              <a:schemeClr val="dk1"/>
                            </a:solidFill>
                            <a:latin typeface="Cambria Math" panose="02040503050406030204" pitchFamily="18" charset="0"/>
                            <a:ea typeface="+mn-ea"/>
                            <a:cs typeface="+mn-cs"/>
                          </a:endParaRP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3200" b="0" i="1" kern="1200" smtClean="0">
                                    <a:solidFill>
                                      <a:schemeClr val="dk1"/>
                                    </a:solidFill>
                                    <a:latin typeface="Cambria Math" panose="02040503050406030204" pitchFamily="18" charset="0"/>
                                    <a:ea typeface="+mn-ea"/>
                                    <a:cs typeface="+mn-cs"/>
                                  </a:rPr>
                                  <m:t>𝑂</m:t>
                                </m:r>
                                <m:r>
                                  <a:rPr lang="en-US" sz="3200" b="0" i="1" kern="1200" smtClean="0">
                                    <a:solidFill>
                                      <a:schemeClr val="dk1"/>
                                    </a:solidFill>
                                    <a:latin typeface="Cambria Math" panose="02040503050406030204" pitchFamily="18" charset="0"/>
                                    <a:ea typeface="+mn-ea"/>
                                    <a:cs typeface="+mn-cs"/>
                                  </a:rPr>
                                  <m:t>(</m:t>
                                </m:r>
                                <m:r>
                                  <a:rPr lang="en-US" sz="3200" b="0" i="1" kern="1200" smtClean="0">
                                    <a:solidFill>
                                      <a:schemeClr val="dk1"/>
                                    </a:solidFill>
                                    <a:latin typeface="Cambria Math" panose="02040503050406030204" pitchFamily="18" charset="0"/>
                                    <a:ea typeface="+mn-ea"/>
                                    <a:cs typeface="+mn-cs"/>
                                  </a:rPr>
                                  <m:t>𝑛</m:t>
                                </m:r>
                                <m:r>
                                  <a:rPr lang="en-US" sz="3200" b="0" i="1" kern="1200" smtClean="0">
                                    <a:solidFill>
                                      <a:schemeClr val="dk1"/>
                                    </a:solidFill>
                                    <a:latin typeface="Cambria Math" panose="02040503050406030204" pitchFamily="18" charset="0"/>
                                    <a:ea typeface="+mn-ea"/>
                                    <a:cs typeface="+mn-cs"/>
                                  </a:rPr>
                                  <m:t>)</m:t>
                                </m:r>
                              </m:oMath>
                            </m:oMathPara>
                          </a14:m>
                          <a:endParaRPr lang="en-US" sz="3200" b="0" i="1" kern="1200" dirty="0">
                            <a:solidFill>
                              <a:schemeClr val="dk1"/>
                            </a:solidFill>
                            <a:latin typeface="Cambria Math" panose="02040503050406030204" pitchFamily="18" charset="0"/>
                            <a:ea typeface="+mn-ea"/>
                            <a:cs typeface="+mn-cs"/>
                          </a:endParaRP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3200" b="0" i="1" kern="1200" smtClean="0">
                                    <a:solidFill>
                                      <a:schemeClr val="dk1"/>
                                    </a:solidFill>
                                    <a:latin typeface="Cambria Math" panose="02040503050406030204" pitchFamily="18" charset="0"/>
                                    <a:ea typeface="+mn-ea"/>
                                    <a:cs typeface="+mn-cs"/>
                                  </a:rPr>
                                  <m:t>𝑂</m:t>
                                </m:r>
                                <m:r>
                                  <a:rPr lang="en-US" sz="3200" b="0" i="1" kern="1200" smtClean="0">
                                    <a:solidFill>
                                      <a:schemeClr val="dk1"/>
                                    </a:solidFill>
                                    <a:latin typeface="Cambria Math" panose="02040503050406030204" pitchFamily="18" charset="0"/>
                                    <a:ea typeface="+mn-ea"/>
                                    <a:cs typeface="+mn-cs"/>
                                  </a:rPr>
                                  <m:t>(</m:t>
                                </m:r>
                                <m:r>
                                  <a:rPr lang="en-US" sz="3200" b="0" i="1" kern="1200" smtClean="0">
                                    <a:solidFill>
                                      <a:schemeClr val="dk1"/>
                                    </a:solidFill>
                                    <a:latin typeface="Cambria Math" panose="02040503050406030204" pitchFamily="18" charset="0"/>
                                    <a:ea typeface="+mn-ea"/>
                                    <a:cs typeface="+mn-cs"/>
                                  </a:rPr>
                                  <m:t>𝑛</m:t>
                                </m:r>
                                <m:r>
                                  <a:rPr lang="en-US" sz="3200" b="0" i="1" kern="1200" smtClean="0">
                                    <a:solidFill>
                                      <a:schemeClr val="dk1"/>
                                    </a:solidFill>
                                    <a:latin typeface="Cambria Math" panose="02040503050406030204" pitchFamily="18" charset="0"/>
                                    <a:ea typeface="+mn-ea"/>
                                    <a:cs typeface="+mn-cs"/>
                                  </a:rPr>
                                  <m:t>)</m:t>
                                </m:r>
                              </m:oMath>
                            </m:oMathPara>
                          </a14:m>
                          <a:endParaRPr lang="en-US" sz="3200" b="0" i="1" kern="1200" dirty="0">
                            <a:solidFill>
                              <a:schemeClr val="dk1"/>
                            </a:solidFill>
                            <a:latin typeface="Cambria Math" panose="02040503050406030204" pitchFamily="18" charset="0"/>
                            <a:ea typeface="+mn-ea"/>
                            <a:cs typeface="+mn-cs"/>
                          </a:endParaRPr>
                        </a:p>
                      </a:txBody>
                      <a:tcPr anchor="ctr"/>
                    </a:tc>
                    <a:extLst>
                      <a:ext uri="{0D108BD9-81ED-4DB2-BD59-A6C34878D82A}">
                        <a16:rowId xmlns:a16="http://schemas.microsoft.com/office/drawing/2014/main" val="10002"/>
                      </a:ext>
                    </a:extLst>
                  </a:tr>
                  <a:tr h="139823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400" b="1" dirty="0">
                              <a:latin typeface="Abadi" panose="020B0604020104020204" pitchFamily="34" charset="0"/>
                            </a:rPr>
                            <a:t>Binary Tree</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3200" b="0" i="1" kern="1200" smtClean="0">
                                    <a:solidFill>
                                      <a:schemeClr val="dk1"/>
                                    </a:solidFill>
                                    <a:latin typeface="Cambria Math" panose="02040503050406030204" pitchFamily="18" charset="0"/>
                                    <a:ea typeface="+mn-ea"/>
                                    <a:cs typeface="+mn-cs"/>
                                  </a:rPr>
                                  <m:t>𝑂</m:t>
                                </m:r>
                                <m:r>
                                  <a:rPr lang="en-US" sz="3200" b="0" i="1" kern="1200" smtClean="0">
                                    <a:solidFill>
                                      <a:schemeClr val="dk1"/>
                                    </a:solidFill>
                                    <a:latin typeface="Cambria Math" panose="02040503050406030204" pitchFamily="18" charset="0"/>
                                    <a:ea typeface="+mn-ea"/>
                                    <a:cs typeface="+mn-cs"/>
                                  </a:rPr>
                                  <m:t>(1)</m:t>
                                </m:r>
                              </m:oMath>
                            </m:oMathPara>
                          </a14:m>
                          <a:endParaRPr lang="en-US" sz="3200" b="0" i="1" kern="1200" dirty="0">
                            <a:solidFill>
                              <a:schemeClr val="dk1"/>
                            </a:solidFill>
                            <a:latin typeface="Cambria Math" panose="02040503050406030204" pitchFamily="18" charset="0"/>
                            <a:ea typeface="+mn-ea"/>
                            <a:cs typeface="+mn-cs"/>
                          </a:endParaRP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3200" b="0" i="1" kern="1200" smtClean="0">
                                    <a:solidFill>
                                      <a:schemeClr val="dk1"/>
                                    </a:solidFill>
                                    <a:latin typeface="Cambria Math" panose="02040503050406030204" pitchFamily="18" charset="0"/>
                                    <a:ea typeface="+mn-ea"/>
                                    <a:cs typeface="+mn-cs"/>
                                  </a:rPr>
                                  <m:t>𝑂</m:t>
                                </m:r>
                                <m:r>
                                  <a:rPr lang="en-US" sz="3200" b="0" i="1" kern="1200" smtClean="0">
                                    <a:solidFill>
                                      <a:schemeClr val="dk1"/>
                                    </a:solidFill>
                                    <a:latin typeface="Cambria Math" panose="02040503050406030204" pitchFamily="18" charset="0"/>
                                    <a:ea typeface="+mn-ea"/>
                                    <a:cs typeface="+mn-cs"/>
                                  </a:rPr>
                                  <m:t>(</m:t>
                                </m:r>
                                <m:r>
                                  <a:rPr lang="en-US" sz="3200" b="0" i="1" kern="1200" smtClean="0">
                                    <a:solidFill>
                                      <a:schemeClr val="dk1"/>
                                    </a:solidFill>
                                    <a:latin typeface="Cambria Math" panose="02040503050406030204" pitchFamily="18" charset="0"/>
                                    <a:ea typeface="+mn-ea"/>
                                    <a:cs typeface="+mn-cs"/>
                                  </a:rPr>
                                  <m:t>𝑛</m:t>
                                </m:r>
                                <m:r>
                                  <a:rPr lang="en-US" sz="3200" b="0" i="1" kern="1200" smtClean="0">
                                    <a:solidFill>
                                      <a:schemeClr val="dk1"/>
                                    </a:solidFill>
                                    <a:latin typeface="Cambria Math" panose="02040503050406030204" pitchFamily="18" charset="0"/>
                                    <a:ea typeface="+mn-ea"/>
                                    <a:cs typeface="+mn-cs"/>
                                  </a:rPr>
                                  <m:t>)</m:t>
                                </m:r>
                              </m:oMath>
                            </m:oMathPara>
                          </a14:m>
                          <a:endParaRPr lang="en-US" sz="3200" b="0" i="1" kern="1200" dirty="0">
                            <a:solidFill>
                              <a:schemeClr val="dk1"/>
                            </a:solidFill>
                            <a:latin typeface="Cambria Math" panose="02040503050406030204" pitchFamily="18" charset="0"/>
                            <a:ea typeface="+mn-ea"/>
                            <a:cs typeface="+mn-cs"/>
                          </a:endParaRP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3200" b="0" i="1" kern="1200" smtClean="0">
                                    <a:solidFill>
                                      <a:schemeClr val="dk1"/>
                                    </a:solidFill>
                                    <a:latin typeface="Cambria Math" panose="02040503050406030204" pitchFamily="18" charset="0"/>
                                    <a:ea typeface="+mn-ea"/>
                                    <a:cs typeface="+mn-cs"/>
                                  </a:rPr>
                                  <m:t>𝑂</m:t>
                                </m:r>
                                <m:r>
                                  <a:rPr lang="en-US" sz="3200" b="0" i="1" kern="1200" smtClean="0">
                                    <a:solidFill>
                                      <a:schemeClr val="dk1"/>
                                    </a:solidFill>
                                    <a:latin typeface="Cambria Math" panose="02040503050406030204" pitchFamily="18" charset="0"/>
                                    <a:ea typeface="+mn-ea"/>
                                    <a:cs typeface="+mn-cs"/>
                                  </a:rPr>
                                  <m:t>(</m:t>
                                </m:r>
                                <m:r>
                                  <a:rPr lang="en-US" sz="3200" b="0" i="1" kern="1200" smtClean="0">
                                    <a:solidFill>
                                      <a:schemeClr val="dk1"/>
                                    </a:solidFill>
                                    <a:latin typeface="Cambria Math" panose="02040503050406030204" pitchFamily="18" charset="0"/>
                                    <a:ea typeface="+mn-ea"/>
                                    <a:cs typeface="+mn-cs"/>
                                  </a:rPr>
                                  <m:t>𝑛</m:t>
                                </m:r>
                                <m:r>
                                  <a:rPr lang="en-US" sz="3200" b="0" i="1" kern="1200" smtClean="0">
                                    <a:solidFill>
                                      <a:schemeClr val="dk1"/>
                                    </a:solidFill>
                                    <a:latin typeface="Cambria Math" panose="02040503050406030204" pitchFamily="18" charset="0"/>
                                    <a:ea typeface="+mn-ea"/>
                                    <a:cs typeface="+mn-cs"/>
                                  </a:rPr>
                                  <m:t>)</m:t>
                                </m:r>
                              </m:oMath>
                            </m:oMathPara>
                          </a14:m>
                          <a:endParaRPr lang="en-US" sz="3200" b="0" i="1" kern="1200" dirty="0">
                            <a:solidFill>
                              <a:schemeClr val="dk1"/>
                            </a:solidFill>
                            <a:latin typeface="Cambria Math" panose="02040503050406030204" pitchFamily="18" charset="0"/>
                            <a:ea typeface="+mn-ea"/>
                            <a:cs typeface="+mn-cs"/>
                          </a:endParaRPr>
                        </a:p>
                      </a:txBody>
                      <a:tcPr anchor="ctr"/>
                    </a:tc>
                    <a:extLst>
                      <a:ext uri="{0D108BD9-81ED-4DB2-BD59-A6C34878D82A}">
                        <a16:rowId xmlns:a16="http://schemas.microsoft.com/office/drawing/2014/main" val="2435764593"/>
                      </a:ext>
                    </a:extLst>
                  </a:tr>
                  <a:tr h="139823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400" b="1" dirty="0">
                              <a:latin typeface="Abadi" panose="020B0604020104020204" pitchFamily="34" charset="0"/>
                            </a:rPr>
                            <a:t>BST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3200" b="0" i="1" kern="1200" smtClean="0">
                                    <a:solidFill>
                                      <a:schemeClr val="dk1"/>
                                    </a:solidFill>
                                    <a:latin typeface="Cambria Math" panose="02040503050406030204" pitchFamily="18" charset="0"/>
                                    <a:ea typeface="+mn-ea"/>
                                    <a:cs typeface="+mn-cs"/>
                                  </a:rPr>
                                  <m:t>𝑂</m:t>
                                </m:r>
                                <m:r>
                                  <a:rPr lang="en-US" sz="3200" b="0" i="1" kern="1200" smtClean="0">
                                    <a:solidFill>
                                      <a:schemeClr val="dk1"/>
                                    </a:solidFill>
                                    <a:latin typeface="Cambria Math" panose="02040503050406030204" pitchFamily="18" charset="0"/>
                                    <a:ea typeface="+mn-ea"/>
                                    <a:cs typeface="+mn-cs"/>
                                  </a:rPr>
                                  <m:t>(</m:t>
                                </m:r>
                                <m:func>
                                  <m:funcPr>
                                    <m:ctrlPr>
                                      <a:rPr lang="en-US" sz="3200" b="0" i="1" kern="1200" smtClean="0">
                                        <a:solidFill>
                                          <a:schemeClr val="dk1"/>
                                        </a:solidFill>
                                        <a:latin typeface="Cambria Math" panose="02040503050406030204" pitchFamily="18" charset="0"/>
                                        <a:ea typeface="+mn-ea"/>
                                        <a:cs typeface="+mn-cs"/>
                                      </a:rPr>
                                    </m:ctrlPr>
                                  </m:funcPr>
                                  <m:fName>
                                    <m:r>
                                      <m:rPr>
                                        <m:sty m:val="p"/>
                                      </m:rPr>
                                      <a:rPr lang="en-US" sz="3200" b="0" i="1" kern="1200" smtClean="0">
                                        <a:solidFill>
                                          <a:schemeClr val="dk1"/>
                                        </a:solidFill>
                                        <a:latin typeface="Cambria Math" panose="02040503050406030204" pitchFamily="18" charset="0"/>
                                        <a:ea typeface="+mn-ea"/>
                                        <a:cs typeface="+mn-cs"/>
                                      </a:rPr>
                                      <m:t>log</m:t>
                                    </m:r>
                                  </m:fName>
                                  <m:e>
                                    <m:r>
                                      <a:rPr lang="en-US" sz="3200" b="0" i="1" kern="1200" smtClean="0">
                                        <a:solidFill>
                                          <a:schemeClr val="dk1"/>
                                        </a:solidFill>
                                        <a:latin typeface="Cambria Math" panose="02040503050406030204" pitchFamily="18" charset="0"/>
                                        <a:ea typeface="+mn-ea"/>
                                        <a:cs typeface="+mn-cs"/>
                                      </a:rPr>
                                      <m:t>𝑛</m:t>
                                    </m:r>
                                  </m:e>
                                </m:func>
                                <m:r>
                                  <a:rPr lang="en-US" sz="3200" b="0" i="1" kern="1200" smtClean="0">
                                    <a:solidFill>
                                      <a:schemeClr val="dk1"/>
                                    </a:solidFill>
                                    <a:latin typeface="Cambria Math" panose="02040503050406030204" pitchFamily="18" charset="0"/>
                                    <a:ea typeface="+mn-ea"/>
                                    <a:cs typeface="+mn-cs"/>
                                  </a:rPr>
                                  <m:t>)</m:t>
                                </m:r>
                              </m:oMath>
                            </m:oMathPara>
                          </a14:m>
                          <a:endParaRPr lang="en-US" sz="3200" b="0" i="1" kern="1200" dirty="0">
                            <a:solidFill>
                              <a:schemeClr val="dk1"/>
                            </a:solidFill>
                            <a:latin typeface="Cambria Math" panose="02040503050406030204" pitchFamily="18" charset="0"/>
                            <a:ea typeface="+mn-ea"/>
                            <a:cs typeface="+mn-cs"/>
                          </a:endParaRP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3200" b="0" i="1" kern="1200" smtClean="0">
                                    <a:solidFill>
                                      <a:schemeClr val="dk1"/>
                                    </a:solidFill>
                                    <a:latin typeface="Cambria Math" panose="02040503050406030204" pitchFamily="18" charset="0"/>
                                    <a:ea typeface="+mn-ea"/>
                                    <a:cs typeface="+mn-cs"/>
                                  </a:rPr>
                                  <m:t>𝑂</m:t>
                                </m:r>
                                <m:r>
                                  <a:rPr lang="en-US" sz="3200" b="0" i="1" kern="1200" smtClean="0">
                                    <a:solidFill>
                                      <a:schemeClr val="dk1"/>
                                    </a:solidFill>
                                    <a:latin typeface="Cambria Math" panose="02040503050406030204" pitchFamily="18" charset="0"/>
                                    <a:ea typeface="+mn-ea"/>
                                    <a:cs typeface="+mn-cs"/>
                                  </a:rPr>
                                  <m:t>(</m:t>
                                </m:r>
                                <m:func>
                                  <m:funcPr>
                                    <m:ctrlPr>
                                      <a:rPr lang="en-US" sz="3200" b="0" i="1" kern="1200" smtClean="0">
                                        <a:solidFill>
                                          <a:schemeClr val="dk1"/>
                                        </a:solidFill>
                                        <a:latin typeface="Cambria Math" panose="02040503050406030204" pitchFamily="18" charset="0"/>
                                        <a:ea typeface="+mn-ea"/>
                                        <a:cs typeface="+mn-cs"/>
                                      </a:rPr>
                                    </m:ctrlPr>
                                  </m:funcPr>
                                  <m:fName>
                                    <m:r>
                                      <m:rPr>
                                        <m:sty m:val="p"/>
                                      </m:rPr>
                                      <a:rPr lang="en-US" sz="3200" b="0" i="1" kern="1200" smtClean="0">
                                        <a:solidFill>
                                          <a:schemeClr val="dk1"/>
                                        </a:solidFill>
                                        <a:latin typeface="Cambria Math" panose="02040503050406030204" pitchFamily="18" charset="0"/>
                                        <a:ea typeface="+mn-ea"/>
                                        <a:cs typeface="+mn-cs"/>
                                      </a:rPr>
                                      <m:t>log</m:t>
                                    </m:r>
                                  </m:fName>
                                  <m:e>
                                    <m:r>
                                      <a:rPr lang="en-US" sz="3200" b="0" i="1" kern="1200" smtClean="0">
                                        <a:solidFill>
                                          <a:schemeClr val="dk1"/>
                                        </a:solidFill>
                                        <a:latin typeface="Cambria Math" panose="02040503050406030204" pitchFamily="18" charset="0"/>
                                        <a:ea typeface="+mn-ea"/>
                                        <a:cs typeface="+mn-cs"/>
                                      </a:rPr>
                                      <m:t>𝑛</m:t>
                                    </m:r>
                                  </m:e>
                                </m:func>
                                <m:r>
                                  <a:rPr lang="en-US" sz="3200" b="0" i="1" kern="1200" smtClean="0">
                                    <a:solidFill>
                                      <a:schemeClr val="dk1"/>
                                    </a:solidFill>
                                    <a:latin typeface="Cambria Math" panose="02040503050406030204" pitchFamily="18" charset="0"/>
                                    <a:ea typeface="+mn-ea"/>
                                    <a:cs typeface="+mn-cs"/>
                                  </a:rPr>
                                  <m:t>)</m:t>
                                </m:r>
                              </m:oMath>
                            </m:oMathPara>
                          </a14:m>
                          <a:endParaRPr lang="en-US" sz="3200" b="0" i="1" kern="1200" dirty="0">
                            <a:solidFill>
                              <a:schemeClr val="dk1"/>
                            </a:solidFill>
                            <a:latin typeface="Cambria Math" panose="02040503050406030204" pitchFamily="18" charset="0"/>
                            <a:ea typeface="+mn-ea"/>
                            <a:cs typeface="+mn-cs"/>
                          </a:endParaRP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3200" b="0" i="1" kern="1200" smtClean="0">
                                    <a:solidFill>
                                      <a:schemeClr val="dk1"/>
                                    </a:solidFill>
                                    <a:latin typeface="Cambria Math" panose="02040503050406030204" pitchFamily="18" charset="0"/>
                                    <a:ea typeface="+mn-ea"/>
                                    <a:cs typeface="+mn-cs"/>
                                  </a:rPr>
                                  <m:t>𝑂</m:t>
                                </m:r>
                                <m:r>
                                  <a:rPr lang="en-US" sz="3200" b="0" i="1" kern="1200" smtClean="0">
                                    <a:solidFill>
                                      <a:schemeClr val="dk1"/>
                                    </a:solidFill>
                                    <a:latin typeface="Cambria Math" panose="02040503050406030204" pitchFamily="18" charset="0"/>
                                    <a:ea typeface="+mn-ea"/>
                                    <a:cs typeface="+mn-cs"/>
                                  </a:rPr>
                                  <m:t>(</m:t>
                                </m:r>
                                <m:func>
                                  <m:funcPr>
                                    <m:ctrlPr>
                                      <a:rPr lang="en-US" sz="3200" b="0" i="1" kern="1200" smtClean="0">
                                        <a:solidFill>
                                          <a:schemeClr val="dk1"/>
                                        </a:solidFill>
                                        <a:latin typeface="Cambria Math" panose="02040503050406030204" pitchFamily="18" charset="0"/>
                                        <a:ea typeface="+mn-ea"/>
                                        <a:cs typeface="+mn-cs"/>
                                      </a:rPr>
                                    </m:ctrlPr>
                                  </m:funcPr>
                                  <m:fName>
                                    <m:r>
                                      <m:rPr>
                                        <m:sty m:val="p"/>
                                      </m:rPr>
                                      <a:rPr lang="en-US" sz="3200" b="0" i="1" kern="1200" smtClean="0">
                                        <a:solidFill>
                                          <a:schemeClr val="dk1"/>
                                        </a:solidFill>
                                        <a:latin typeface="Cambria Math" panose="02040503050406030204" pitchFamily="18" charset="0"/>
                                        <a:ea typeface="+mn-ea"/>
                                        <a:cs typeface="+mn-cs"/>
                                      </a:rPr>
                                      <m:t>log</m:t>
                                    </m:r>
                                  </m:fName>
                                  <m:e>
                                    <m:r>
                                      <a:rPr lang="en-US" sz="3200" b="0" i="1" kern="1200" smtClean="0">
                                        <a:solidFill>
                                          <a:schemeClr val="dk1"/>
                                        </a:solidFill>
                                        <a:latin typeface="Cambria Math" panose="02040503050406030204" pitchFamily="18" charset="0"/>
                                        <a:ea typeface="+mn-ea"/>
                                        <a:cs typeface="+mn-cs"/>
                                      </a:rPr>
                                      <m:t>𝑛</m:t>
                                    </m:r>
                                  </m:e>
                                </m:func>
                                <m:r>
                                  <a:rPr lang="en-US" sz="3200" b="0" i="1" kern="1200" smtClean="0">
                                    <a:solidFill>
                                      <a:schemeClr val="dk1"/>
                                    </a:solidFill>
                                    <a:latin typeface="Cambria Math" panose="02040503050406030204" pitchFamily="18" charset="0"/>
                                    <a:ea typeface="+mn-ea"/>
                                    <a:cs typeface="+mn-cs"/>
                                  </a:rPr>
                                  <m:t>)</m:t>
                                </m:r>
                              </m:oMath>
                            </m:oMathPara>
                          </a14:m>
                          <a:endParaRPr lang="en-US" sz="3200" b="0" i="1" kern="1200" dirty="0">
                            <a:solidFill>
                              <a:schemeClr val="dk1"/>
                            </a:solidFill>
                            <a:latin typeface="Cambria Math" panose="02040503050406030204" pitchFamily="18" charset="0"/>
                            <a:ea typeface="+mn-ea"/>
                            <a:cs typeface="+mn-cs"/>
                          </a:endParaRPr>
                        </a:p>
                      </a:txBody>
                      <a:tcPr anchor="ctr"/>
                    </a:tc>
                    <a:extLst>
                      <a:ext uri="{0D108BD9-81ED-4DB2-BD59-A6C34878D82A}">
                        <a16:rowId xmlns:a16="http://schemas.microsoft.com/office/drawing/2014/main" val="1607392861"/>
                      </a:ext>
                    </a:extLst>
                  </a:tr>
                </a:tbl>
              </a:graphicData>
            </a:graphic>
          </p:graphicFrame>
        </mc:Choice>
        <mc:Fallback xmlns="">
          <p:graphicFrame>
            <p:nvGraphicFramePr>
              <p:cNvPr id="5" name="Content Placeholder 4"/>
              <p:cNvGraphicFramePr>
                <a:graphicFrameLocks noGrp="1"/>
              </p:cNvGraphicFramePr>
              <p:nvPr>
                <p:ph sz="quarter" idx="1"/>
                <p:extLst>
                  <p:ext uri="{D42A27DB-BD31-4B8C-83A1-F6EECF244321}">
                    <p14:modId xmlns:p14="http://schemas.microsoft.com/office/powerpoint/2010/main" val="4278070130"/>
                  </p:ext>
                </p:extLst>
              </p:nvPr>
            </p:nvGraphicFramePr>
            <p:xfrm>
              <a:off x="0" y="-7144"/>
              <a:ext cx="9144001" cy="6865143"/>
            </p:xfrm>
            <a:graphic>
              <a:graphicData uri="http://schemas.openxmlformats.org/drawingml/2006/table">
                <a:tbl>
                  <a:tblPr firstRow="1" bandRow="1">
                    <a:tableStyleId>{5C22544A-7EE6-4342-B048-85BDC9FD1C3A}</a:tableStyleId>
                  </a:tblPr>
                  <a:tblGrid>
                    <a:gridCol w="2953435">
                      <a:extLst>
                        <a:ext uri="{9D8B030D-6E8A-4147-A177-3AD203B41FA5}">
                          <a16:colId xmlns:a16="http://schemas.microsoft.com/office/drawing/2014/main" val="20000"/>
                        </a:ext>
                      </a:extLst>
                    </a:gridCol>
                    <a:gridCol w="1968092">
                      <a:extLst>
                        <a:ext uri="{9D8B030D-6E8A-4147-A177-3AD203B41FA5}">
                          <a16:colId xmlns:a16="http://schemas.microsoft.com/office/drawing/2014/main" val="20001"/>
                        </a:ext>
                      </a:extLst>
                    </a:gridCol>
                    <a:gridCol w="2111237">
                      <a:extLst>
                        <a:ext uri="{9D8B030D-6E8A-4147-A177-3AD203B41FA5}">
                          <a16:colId xmlns:a16="http://schemas.microsoft.com/office/drawing/2014/main" val="20002"/>
                        </a:ext>
                      </a:extLst>
                    </a:gridCol>
                    <a:gridCol w="2111237">
                      <a:extLst>
                        <a:ext uri="{9D8B030D-6E8A-4147-A177-3AD203B41FA5}">
                          <a16:colId xmlns:a16="http://schemas.microsoft.com/office/drawing/2014/main" val="1749272156"/>
                        </a:ext>
                      </a:extLst>
                    </a:gridCol>
                  </a:tblGrid>
                  <a:tr h="946555">
                    <a:tc>
                      <a:txBody>
                        <a:bodyPr/>
                        <a:lstStyle/>
                        <a:p>
                          <a:pPr algn="ctr"/>
                          <a:r>
                            <a:rPr lang="en-US" sz="2400" b="0" dirty="0">
                              <a:latin typeface="Abadi" panose="020B0604020104020204" pitchFamily="34" charset="0"/>
                            </a:rPr>
                            <a:t>Data Structure</a:t>
                          </a:r>
                        </a:p>
                      </a:txBody>
                      <a:tcPr anchor="ctr"/>
                    </a:tc>
                    <a:tc>
                      <a:txBody>
                        <a:bodyPr/>
                        <a:lstStyle/>
                        <a:p>
                          <a:pPr algn="ctr"/>
                          <a:r>
                            <a:rPr lang="en-US" sz="2400" b="0" dirty="0">
                              <a:latin typeface="Abadi" panose="020B0604020104020204" pitchFamily="34" charset="0"/>
                            </a:rPr>
                            <a:t>add(</a:t>
                          </a:r>
                          <a:r>
                            <a:rPr lang="en-US" sz="2400" b="0" dirty="0" err="1">
                              <a:latin typeface="Abadi" panose="020B0604020104020204" pitchFamily="34" charset="0"/>
                            </a:rPr>
                            <a:t>val</a:t>
                          </a:r>
                          <a:r>
                            <a:rPr lang="en-US" sz="2400" b="0" dirty="0">
                              <a:latin typeface="Abadi" panose="020B0604020104020204" pitchFamily="34" charset="0"/>
                            </a:rPr>
                            <a:t> x)</a:t>
                          </a:r>
                        </a:p>
                      </a:txBody>
                      <a:tcPr anchor="ctr"/>
                    </a:tc>
                    <a:tc>
                      <a:txBody>
                        <a:bodyPr/>
                        <a:lstStyle/>
                        <a:p>
                          <a:pPr algn="ctr"/>
                          <a:r>
                            <a:rPr lang="en-US" sz="2400" b="0" dirty="0">
                              <a:latin typeface="Abadi" panose="020B0604020104020204" pitchFamily="34" charset="0"/>
                            </a:rPr>
                            <a:t>lookup(int i)</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2400" b="0" dirty="0">
                              <a:latin typeface="Abadi" panose="020B0604020104020204" pitchFamily="34" charset="0"/>
                            </a:rPr>
                            <a:t>search(</a:t>
                          </a:r>
                          <a:r>
                            <a:rPr lang="en-US" sz="2400" b="0" dirty="0" err="1">
                              <a:latin typeface="Abadi" panose="020B0604020104020204" pitchFamily="34" charset="0"/>
                            </a:rPr>
                            <a:t>val</a:t>
                          </a:r>
                          <a:r>
                            <a:rPr lang="en-US" sz="2400" b="0" dirty="0">
                              <a:latin typeface="Abadi" panose="020B0604020104020204" pitchFamily="34" charset="0"/>
                            </a:rPr>
                            <a:t> x)</a:t>
                          </a:r>
                        </a:p>
                      </a:txBody>
                      <a:tcPr anchor="ctr"/>
                    </a:tc>
                    <a:extLst>
                      <a:ext uri="{0D108BD9-81ED-4DB2-BD59-A6C34878D82A}">
                        <a16:rowId xmlns:a16="http://schemas.microsoft.com/office/drawing/2014/main" val="10000"/>
                      </a:ext>
                    </a:extLst>
                  </a:tr>
                  <a:tr h="1723880">
                    <a:tc>
                      <a:txBody>
                        <a:bodyPr/>
                        <a:lstStyle/>
                        <a:p>
                          <a:r>
                            <a:rPr lang="en-US" sz="2400" b="1" dirty="0">
                              <a:latin typeface="Abadi" panose="020B0604020104020204" pitchFamily="34" charset="0"/>
                            </a:rPr>
                            <a:t>Array</a:t>
                          </a:r>
                        </a:p>
                      </a:txBody>
                      <a:tcPr/>
                    </a:tc>
                    <a:tc>
                      <a:txBody>
                        <a:bodyPr/>
                        <a:lstStyle/>
                        <a:p>
                          <a:endParaRPr lang="en-US"/>
                        </a:p>
                      </a:txBody>
                      <a:tcPr anchor="ctr">
                        <a:blipFill>
                          <a:blip r:embed="rId3"/>
                          <a:stretch>
                            <a:fillRect l="-150774" t="-55124" r="-215789" b="-244523"/>
                          </a:stretch>
                        </a:blipFill>
                      </a:tcPr>
                    </a:tc>
                    <a:tc>
                      <a:txBody>
                        <a:bodyPr/>
                        <a:lstStyle/>
                        <a:p>
                          <a:endParaRPr lang="en-US"/>
                        </a:p>
                      </a:txBody>
                      <a:tcPr anchor="ctr">
                        <a:blipFill>
                          <a:blip r:embed="rId3"/>
                          <a:stretch>
                            <a:fillRect l="-234104" t="-55124" r="-101445" b="-244523"/>
                          </a:stretch>
                        </a:blipFill>
                      </a:tcPr>
                    </a:tc>
                    <a:tc>
                      <a:txBody>
                        <a:bodyPr/>
                        <a:lstStyle/>
                        <a:p>
                          <a:endParaRPr lang="en-US"/>
                        </a:p>
                      </a:txBody>
                      <a:tcPr anchor="ctr">
                        <a:blipFill>
                          <a:blip r:embed="rId3"/>
                          <a:stretch>
                            <a:fillRect l="-333141" t="-55124" r="-1153" b="-244523"/>
                          </a:stretch>
                        </a:blipFill>
                      </a:tcPr>
                    </a:tc>
                    <a:extLst>
                      <a:ext uri="{0D108BD9-81ED-4DB2-BD59-A6C34878D82A}">
                        <a16:rowId xmlns:a16="http://schemas.microsoft.com/office/drawing/2014/main" val="10001"/>
                      </a:ext>
                    </a:extLst>
                  </a:tr>
                  <a:tr h="1398236">
                    <a:tc>
                      <a:txBody>
                        <a:bodyPr/>
                        <a:lstStyle/>
                        <a:p>
                          <a:r>
                            <a:rPr lang="en-US" sz="2400" b="1" dirty="0">
                              <a:latin typeface="Abadi" panose="020B0604020104020204" pitchFamily="34" charset="0"/>
                            </a:rPr>
                            <a:t>Linked List</a:t>
                          </a:r>
                        </a:p>
                      </a:txBody>
                      <a:tcPr/>
                    </a:tc>
                    <a:tc>
                      <a:txBody>
                        <a:bodyPr/>
                        <a:lstStyle/>
                        <a:p>
                          <a:endParaRPr lang="en-US"/>
                        </a:p>
                      </a:txBody>
                      <a:tcPr anchor="ctr">
                        <a:blipFill>
                          <a:blip r:embed="rId3"/>
                          <a:stretch>
                            <a:fillRect l="-150774" t="-190870" r="-215789" b="-200870"/>
                          </a:stretch>
                        </a:blipFill>
                      </a:tcPr>
                    </a:tc>
                    <a:tc>
                      <a:txBody>
                        <a:bodyPr/>
                        <a:lstStyle/>
                        <a:p>
                          <a:endParaRPr lang="en-US"/>
                        </a:p>
                      </a:txBody>
                      <a:tcPr anchor="ctr">
                        <a:blipFill>
                          <a:blip r:embed="rId3"/>
                          <a:stretch>
                            <a:fillRect l="-234104" t="-190870" r="-101445" b="-200870"/>
                          </a:stretch>
                        </a:blipFill>
                      </a:tcPr>
                    </a:tc>
                    <a:tc>
                      <a:txBody>
                        <a:bodyPr/>
                        <a:lstStyle/>
                        <a:p>
                          <a:endParaRPr lang="en-US"/>
                        </a:p>
                      </a:txBody>
                      <a:tcPr anchor="ctr">
                        <a:blipFill>
                          <a:blip r:embed="rId3"/>
                          <a:stretch>
                            <a:fillRect l="-333141" t="-190870" r="-1153" b="-200870"/>
                          </a:stretch>
                        </a:blipFill>
                      </a:tcPr>
                    </a:tc>
                    <a:extLst>
                      <a:ext uri="{0D108BD9-81ED-4DB2-BD59-A6C34878D82A}">
                        <a16:rowId xmlns:a16="http://schemas.microsoft.com/office/drawing/2014/main" val="10002"/>
                      </a:ext>
                    </a:extLst>
                  </a:tr>
                  <a:tr h="139823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400" b="1" dirty="0">
                              <a:latin typeface="Abadi" panose="020B0604020104020204" pitchFamily="34" charset="0"/>
                            </a:rPr>
                            <a:t>Binary Tree</a:t>
                          </a:r>
                        </a:p>
                      </a:txBody>
                      <a:tcPr/>
                    </a:tc>
                    <a:tc>
                      <a:txBody>
                        <a:bodyPr/>
                        <a:lstStyle/>
                        <a:p>
                          <a:endParaRPr lang="en-US"/>
                        </a:p>
                      </a:txBody>
                      <a:tcPr anchor="ctr">
                        <a:blipFill>
                          <a:blip r:embed="rId3"/>
                          <a:stretch>
                            <a:fillRect l="-150774" t="-292140" r="-215789" b="-101747"/>
                          </a:stretch>
                        </a:blipFill>
                      </a:tcPr>
                    </a:tc>
                    <a:tc>
                      <a:txBody>
                        <a:bodyPr/>
                        <a:lstStyle/>
                        <a:p>
                          <a:endParaRPr lang="en-US"/>
                        </a:p>
                      </a:txBody>
                      <a:tcPr anchor="ctr">
                        <a:blipFill>
                          <a:blip r:embed="rId3"/>
                          <a:stretch>
                            <a:fillRect l="-234104" t="-292140" r="-101445" b="-101747"/>
                          </a:stretch>
                        </a:blipFill>
                      </a:tcPr>
                    </a:tc>
                    <a:tc>
                      <a:txBody>
                        <a:bodyPr/>
                        <a:lstStyle/>
                        <a:p>
                          <a:endParaRPr lang="en-US"/>
                        </a:p>
                      </a:txBody>
                      <a:tcPr anchor="ctr">
                        <a:blipFill>
                          <a:blip r:embed="rId3"/>
                          <a:stretch>
                            <a:fillRect l="-333141" t="-292140" r="-1153" b="-101747"/>
                          </a:stretch>
                        </a:blipFill>
                      </a:tcPr>
                    </a:tc>
                    <a:extLst>
                      <a:ext uri="{0D108BD9-81ED-4DB2-BD59-A6C34878D82A}">
                        <a16:rowId xmlns:a16="http://schemas.microsoft.com/office/drawing/2014/main" val="2435764593"/>
                      </a:ext>
                    </a:extLst>
                  </a:tr>
                  <a:tr h="139823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400" b="1" dirty="0">
                              <a:latin typeface="Abadi" panose="020B0604020104020204" pitchFamily="34" charset="0"/>
                            </a:rPr>
                            <a:t>BST</a:t>
                          </a:r>
                        </a:p>
                      </a:txBody>
                      <a:tcPr/>
                    </a:tc>
                    <a:tc>
                      <a:txBody>
                        <a:bodyPr/>
                        <a:lstStyle/>
                        <a:p>
                          <a:endParaRPr lang="en-US"/>
                        </a:p>
                      </a:txBody>
                      <a:tcPr anchor="ctr">
                        <a:blipFill>
                          <a:blip r:embed="rId3"/>
                          <a:stretch>
                            <a:fillRect l="-150774" t="-390435" r="-215789" b="-1304"/>
                          </a:stretch>
                        </a:blipFill>
                      </a:tcPr>
                    </a:tc>
                    <a:tc>
                      <a:txBody>
                        <a:bodyPr/>
                        <a:lstStyle/>
                        <a:p>
                          <a:endParaRPr lang="en-US"/>
                        </a:p>
                      </a:txBody>
                      <a:tcPr anchor="ctr">
                        <a:blipFill>
                          <a:blip r:embed="rId3"/>
                          <a:stretch>
                            <a:fillRect l="-234104" t="-390435" r="-101445" b="-1304"/>
                          </a:stretch>
                        </a:blipFill>
                      </a:tcPr>
                    </a:tc>
                    <a:tc>
                      <a:txBody>
                        <a:bodyPr/>
                        <a:lstStyle/>
                        <a:p>
                          <a:endParaRPr lang="en-US"/>
                        </a:p>
                      </a:txBody>
                      <a:tcPr anchor="ctr">
                        <a:blipFill>
                          <a:blip r:embed="rId3"/>
                          <a:stretch>
                            <a:fillRect l="-333141" t="-390435" r="-1153" b="-1304"/>
                          </a:stretch>
                        </a:blipFill>
                      </a:tcPr>
                    </a:tc>
                    <a:extLst>
                      <a:ext uri="{0D108BD9-81ED-4DB2-BD59-A6C34878D82A}">
                        <a16:rowId xmlns:a16="http://schemas.microsoft.com/office/drawing/2014/main" val="1607392861"/>
                      </a:ext>
                    </a:extLst>
                  </a:tr>
                </a:tbl>
              </a:graphicData>
            </a:graphic>
          </p:graphicFrame>
        </mc:Fallback>
      </mc:AlternateContent>
      <p:grpSp>
        <p:nvGrpSpPr>
          <p:cNvPr id="32" name="Group 31" descr="Array: [2, 1, 3, 0]"/>
          <p:cNvGrpSpPr/>
          <p:nvPr/>
        </p:nvGrpSpPr>
        <p:grpSpPr>
          <a:xfrm>
            <a:off x="609492" y="1668943"/>
            <a:ext cx="1579453" cy="407486"/>
            <a:chOff x="838201" y="4796557"/>
            <a:chExt cx="1092593" cy="281880"/>
          </a:xfrm>
        </p:grpSpPr>
        <p:sp>
          <p:nvSpPr>
            <p:cNvPr id="28" name="Rectangle 27"/>
            <p:cNvSpPr/>
            <p:nvPr/>
          </p:nvSpPr>
          <p:spPr>
            <a:xfrm>
              <a:off x="838201" y="4800600"/>
              <a:ext cx="273148" cy="277837"/>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sz="2000" dirty="0"/>
                <a:t>2</a:t>
              </a:r>
            </a:p>
          </p:txBody>
        </p:sp>
        <p:sp>
          <p:nvSpPr>
            <p:cNvPr id="29" name="Rectangle 28"/>
            <p:cNvSpPr/>
            <p:nvPr/>
          </p:nvSpPr>
          <p:spPr>
            <a:xfrm>
              <a:off x="1111350" y="4800599"/>
              <a:ext cx="273148" cy="277837"/>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sz="2000" dirty="0"/>
                <a:t>1</a:t>
              </a:r>
            </a:p>
          </p:txBody>
        </p:sp>
        <p:sp>
          <p:nvSpPr>
            <p:cNvPr id="30" name="Rectangle 29"/>
            <p:cNvSpPr/>
            <p:nvPr/>
          </p:nvSpPr>
          <p:spPr>
            <a:xfrm>
              <a:off x="1384498" y="4796557"/>
              <a:ext cx="273148" cy="277837"/>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sz="2000" dirty="0"/>
                <a:t>3</a:t>
              </a:r>
            </a:p>
          </p:txBody>
        </p:sp>
        <p:sp>
          <p:nvSpPr>
            <p:cNvPr id="31" name="Rectangle 30"/>
            <p:cNvSpPr/>
            <p:nvPr/>
          </p:nvSpPr>
          <p:spPr>
            <a:xfrm>
              <a:off x="1657646" y="4796557"/>
              <a:ext cx="273148" cy="277837"/>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sz="2000" dirty="0"/>
                <a:t>0</a:t>
              </a:r>
            </a:p>
          </p:txBody>
        </p:sp>
      </p:grpSp>
      <p:grpSp>
        <p:nvGrpSpPr>
          <p:cNvPr id="37" name="Group 36" descr="Linked list:&#10;2 -&gt; 1 -&gt; 3 -&gt; 0"/>
          <p:cNvGrpSpPr/>
          <p:nvPr/>
        </p:nvGrpSpPr>
        <p:grpSpPr>
          <a:xfrm>
            <a:off x="529162" y="3338314"/>
            <a:ext cx="1996627" cy="299251"/>
            <a:chOff x="838201" y="4092663"/>
            <a:chExt cx="1904999" cy="285518"/>
          </a:xfrm>
        </p:grpSpPr>
        <p:grpSp>
          <p:nvGrpSpPr>
            <p:cNvPr id="6" name="Group 46"/>
            <p:cNvGrpSpPr>
              <a:grpSpLocks/>
            </p:cNvGrpSpPr>
            <p:nvPr/>
          </p:nvGrpSpPr>
          <p:grpSpPr bwMode="auto">
            <a:xfrm>
              <a:off x="838201" y="4092663"/>
              <a:ext cx="1904999" cy="285518"/>
              <a:chOff x="1600200" y="1447795"/>
              <a:chExt cx="4325051" cy="645093"/>
            </a:xfrm>
          </p:grpSpPr>
          <p:grpSp>
            <p:nvGrpSpPr>
              <p:cNvPr id="7" name="Group 13"/>
              <p:cNvGrpSpPr>
                <a:grpSpLocks/>
              </p:cNvGrpSpPr>
              <p:nvPr/>
            </p:nvGrpSpPr>
            <p:grpSpPr bwMode="auto">
              <a:xfrm>
                <a:off x="1600200" y="1447795"/>
                <a:ext cx="632604" cy="609605"/>
                <a:chOff x="1600200" y="1752595"/>
                <a:chExt cx="632604" cy="609605"/>
              </a:xfrm>
            </p:grpSpPr>
            <p:sp>
              <p:nvSpPr>
                <p:cNvPr id="26" name="Oval 54"/>
                <p:cNvSpPr>
                  <a:spLocks/>
                </p:cNvSpPr>
                <p:nvPr/>
              </p:nvSpPr>
              <p:spPr bwMode="auto">
                <a:xfrm>
                  <a:off x="1600200" y="1752600"/>
                  <a:ext cx="632604" cy="609600"/>
                </a:xfrm>
                <a:prstGeom prst="ellipse">
                  <a:avLst/>
                </a:prstGeom>
                <a:solidFill>
                  <a:schemeClr val="bg1"/>
                </a:solidFill>
                <a:ln w="12700">
                  <a:solidFill>
                    <a:schemeClr val="tx1"/>
                  </a:solidFill>
                  <a:round/>
                  <a:headEnd/>
                  <a:tailEnd/>
                </a:ln>
                <a:extLst>
                  <a:ext uri="{909E8E84-426E-40dd-AFC4-6F175D3DCCD1}">
                    <a14:hiddenFill xmlns="" xmlns:a14="http://schemas.microsoft.com/office/drawing/2010/main">
                      <a:solidFill>
                        <a:srgbClr val="FFFFFF"/>
                      </a:solidFill>
                    </a14:hiddenFill>
                  </a:ext>
                </a:extLst>
              </p:spPr>
              <p:txBody>
                <a:bodyPr lIns="0" tIns="0" rIns="0" bIns="0"/>
                <a:lstStyle>
                  <a:lvl1pPr>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pPr eaLnBrk="1" hangingPunct="1"/>
                  <a:endParaRPr lang="fr-FR" altLang="en-US"/>
                </a:p>
              </p:txBody>
            </p:sp>
            <p:sp>
              <p:nvSpPr>
                <p:cNvPr id="27" name="Rectangle 59"/>
                <p:cNvSpPr>
                  <a:spLocks/>
                </p:cNvSpPr>
                <p:nvPr/>
              </p:nvSpPr>
              <p:spPr bwMode="auto">
                <a:xfrm>
                  <a:off x="1687936" y="1752595"/>
                  <a:ext cx="209673" cy="276998"/>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a:solidFill>
                        <a:srgbClr val="000000"/>
                      </a:solidFill>
                      <a:miter lim="800000"/>
                      <a:headEnd/>
                      <a:tailEnd/>
                    </a14:hiddenLine>
                  </a:ext>
                </a:extLst>
              </p:spPr>
              <p:txBody>
                <a:bodyPr wrap="none" lIns="0" tIns="0" rIns="40639" bIns="0">
                  <a:spAutoFit/>
                </a:bodyPr>
                <a:lstStyle>
                  <a:lvl1pPr marL="39688">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pPr eaLnBrk="1" hangingPunct="1"/>
                  <a:r>
                    <a:rPr lang="en-US" altLang="en-US" sz="1800" dirty="0">
                      <a:solidFill>
                        <a:schemeClr val="tx1"/>
                      </a:solidFill>
                      <a:latin typeface="Arial" charset="0"/>
                      <a:sym typeface="Arial" charset="0"/>
                    </a:rPr>
                    <a:t>2</a:t>
                  </a:r>
                </a:p>
              </p:txBody>
            </p:sp>
          </p:grpSp>
          <p:grpSp>
            <p:nvGrpSpPr>
              <p:cNvPr id="8" name="Group 20"/>
              <p:cNvGrpSpPr>
                <a:grpSpLocks/>
              </p:cNvGrpSpPr>
              <p:nvPr/>
            </p:nvGrpSpPr>
            <p:grpSpPr bwMode="auto">
              <a:xfrm>
                <a:off x="2837203" y="1447795"/>
                <a:ext cx="632604" cy="645093"/>
                <a:chOff x="1313203" y="1752595"/>
                <a:chExt cx="632604" cy="645093"/>
              </a:xfrm>
            </p:grpSpPr>
            <p:sp>
              <p:nvSpPr>
                <p:cNvPr id="24" name="Oval 54"/>
                <p:cNvSpPr>
                  <a:spLocks/>
                </p:cNvSpPr>
                <p:nvPr/>
              </p:nvSpPr>
              <p:spPr bwMode="auto">
                <a:xfrm>
                  <a:off x="1313203" y="1788088"/>
                  <a:ext cx="632604" cy="609600"/>
                </a:xfrm>
                <a:prstGeom prst="ellipse">
                  <a:avLst/>
                </a:prstGeom>
                <a:solidFill>
                  <a:schemeClr val="bg1"/>
                </a:solidFill>
                <a:ln w="12700">
                  <a:solidFill>
                    <a:schemeClr val="tx1"/>
                  </a:solidFill>
                  <a:round/>
                  <a:headEnd/>
                  <a:tailEnd/>
                </a:ln>
                <a:extLst>
                  <a:ext uri="{909E8E84-426E-40dd-AFC4-6F175D3DCCD1}">
                    <a14:hiddenFill xmlns="" xmlns:a14="http://schemas.microsoft.com/office/drawing/2010/main">
                      <a:solidFill>
                        <a:srgbClr val="FFFFFF"/>
                      </a:solidFill>
                    </a14:hiddenFill>
                  </a:ext>
                </a:extLst>
              </p:spPr>
              <p:txBody>
                <a:bodyPr lIns="0" tIns="0" rIns="0" bIns="0"/>
                <a:lstStyle>
                  <a:lvl1pPr>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pPr eaLnBrk="1" hangingPunct="1"/>
                  <a:endParaRPr lang="fr-FR" altLang="en-US"/>
                </a:p>
              </p:txBody>
            </p:sp>
            <p:sp>
              <p:nvSpPr>
                <p:cNvPr id="25" name="Rectangle 59"/>
                <p:cNvSpPr>
                  <a:spLocks/>
                </p:cNvSpPr>
                <p:nvPr/>
              </p:nvSpPr>
              <p:spPr bwMode="auto">
                <a:xfrm>
                  <a:off x="1423545" y="1752595"/>
                  <a:ext cx="209673" cy="27700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a:solidFill>
                        <a:srgbClr val="000000"/>
                      </a:solidFill>
                      <a:miter lim="800000"/>
                      <a:headEnd/>
                      <a:tailEnd/>
                    </a14:hiddenLine>
                  </a:ext>
                </a:extLst>
              </p:spPr>
              <p:txBody>
                <a:bodyPr wrap="none" lIns="0" tIns="0" rIns="40639" bIns="0">
                  <a:spAutoFit/>
                </a:bodyPr>
                <a:lstStyle>
                  <a:lvl1pPr marL="39688">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pPr eaLnBrk="1" hangingPunct="1"/>
                  <a:r>
                    <a:rPr lang="en-US" altLang="en-US" sz="1800" dirty="0">
                      <a:solidFill>
                        <a:schemeClr val="tx1"/>
                      </a:solidFill>
                      <a:latin typeface="Arial" charset="0"/>
                      <a:sym typeface="Arial" charset="0"/>
                    </a:rPr>
                    <a:t>1</a:t>
                  </a:r>
                </a:p>
              </p:txBody>
            </p:sp>
          </p:grpSp>
          <p:grpSp>
            <p:nvGrpSpPr>
              <p:cNvPr id="9" name="Group 23"/>
              <p:cNvGrpSpPr>
                <a:grpSpLocks/>
              </p:cNvGrpSpPr>
              <p:nvPr/>
            </p:nvGrpSpPr>
            <p:grpSpPr bwMode="auto">
              <a:xfrm>
                <a:off x="4081632" y="1447795"/>
                <a:ext cx="632604" cy="625845"/>
                <a:chOff x="1033632" y="1752595"/>
                <a:chExt cx="632604" cy="625845"/>
              </a:xfrm>
            </p:grpSpPr>
            <p:sp>
              <p:nvSpPr>
                <p:cNvPr id="22" name="Oval 54"/>
                <p:cNvSpPr>
                  <a:spLocks/>
                </p:cNvSpPr>
                <p:nvPr/>
              </p:nvSpPr>
              <p:spPr bwMode="auto">
                <a:xfrm>
                  <a:off x="1033632" y="1752600"/>
                  <a:ext cx="632604" cy="609600"/>
                </a:xfrm>
                <a:prstGeom prst="ellipse">
                  <a:avLst/>
                </a:prstGeom>
                <a:solidFill>
                  <a:schemeClr val="bg1"/>
                </a:solidFill>
                <a:ln w="12700">
                  <a:solidFill>
                    <a:schemeClr val="tx1"/>
                  </a:solidFill>
                  <a:round/>
                  <a:headEnd/>
                  <a:tailEnd/>
                </a:ln>
                <a:extLst>
                  <a:ext uri="{909E8E84-426E-40dd-AFC4-6F175D3DCCD1}">
                    <a14:hiddenFill xmlns="" xmlns:a14="http://schemas.microsoft.com/office/drawing/2010/main">
                      <a:solidFill>
                        <a:srgbClr val="FFFFFF"/>
                      </a:solidFill>
                    </a14:hiddenFill>
                  </a:ext>
                </a:extLst>
              </p:spPr>
              <p:txBody>
                <a:bodyPr lIns="0" tIns="0" rIns="0" bIns="0"/>
                <a:lstStyle>
                  <a:lvl1pPr>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pPr eaLnBrk="1" hangingPunct="1"/>
                  <a:endParaRPr lang="fr-FR" altLang="en-US"/>
                </a:p>
              </p:txBody>
            </p:sp>
            <p:sp>
              <p:nvSpPr>
                <p:cNvPr id="23" name="Rectangle 59"/>
                <p:cNvSpPr>
                  <a:spLocks/>
                </p:cNvSpPr>
                <p:nvPr/>
              </p:nvSpPr>
              <p:spPr bwMode="auto">
                <a:xfrm>
                  <a:off x="1147230" y="1752595"/>
                  <a:ext cx="476033" cy="625845"/>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a:solidFill>
                        <a:srgbClr val="000000"/>
                      </a:solidFill>
                      <a:miter lim="800000"/>
                      <a:headEnd/>
                      <a:tailEnd/>
                    </a14:hiddenLine>
                  </a:ext>
                </a:extLst>
              </p:spPr>
              <p:txBody>
                <a:bodyPr wrap="none" lIns="0" tIns="0" rIns="40639" bIns="0">
                  <a:spAutoFit/>
                </a:bodyPr>
                <a:lstStyle>
                  <a:lvl1pPr marL="39688">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pPr eaLnBrk="1" hangingPunct="1"/>
                  <a:r>
                    <a:rPr lang="en-US" altLang="en-US" sz="1800" dirty="0">
                      <a:solidFill>
                        <a:schemeClr val="tx1"/>
                      </a:solidFill>
                      <a:latin typeface="Arial" charset="0"/>
                      <a:sym typeface="Arial" charset="0"/>
                    </a:rPr>
                    <a:t>3</a:t>
                  </a:r>
                </a:p>
              </p:txBody>
            </p:sp>
          </p:grpSp>
          <p:grpSp>
            <p:nvGrpSpPr>
              <p:cNvPr id="10" name="Group 26"/>
              <p:cNvGrpSpPr>
                <a:grpSpLocks/>
              </p:cNvGrpSpPr>
              <p:nvPr/>
            </p:nvGrpSpPr>
            <p:grpSpPr bwMode="auto">
              <a:xfrm>
                <a:off x="5292647" y="1459294"/>
                <a:ext cx="632604" cy="609605"/>
                <a:chOff x="572995" y="1752595"/>
                <a:chExt cx="632604" cy="609605"/>
              </a:xfrm>
            </p:grpSpPr>
            <p:sp>
              <p:nvSpPr>
                <p:cNvPr id="20" name="Oval 54"/>
                <p:cNvSpPr>
                  <a:spLocks/>
                </p:cNvSpPr>
                <p:nvPr/>
              </p:nvSpPr>
              <p:spPr bwMode="auto">
                <a:xfrm>
                  <a:off x="572995" y="1752600"/>
                  <a:ext cx="632604" cy="609600"/>
                </a:xfrm>
                <a:prstGeom prst="ellipse">
                  <a:avLst/>
                </a:prstGeom>
                <a:solidFill>
                  <a:schemeClr val="bg1"/>
                </a:solidFill>
                <a:ln w="12700">
                  <a:solidFill>
                    <a:schemeClr val="tx1"/>
                  </a:solidFill>
                  <a:round/>
                  <a:headEnd/>
                  <a:tailEnd/>
                </a:ln>
                <a:extLst>
                  <a:ext uri="{909E8E84-426E-40dd-AFC4-6F175D3DCCD1}">
                    <a14:hiddenFill xmlns="" xmlns:a14="http://schemas.microsoft.com/office/drawing/2010/main">
                      <a:solidFill>
                        <a:srgbClr val="FFFFFF"/>
                      </a:solidFill>
                    </a14:hiddenFill>
                  </a:ext>
                </a:extLst>
              </p:spPr>
              <p:txBody>
                <a:bodyPr lIns="0" tIns="0" rIns="0" bIns="0"/>
                <a:lstStyle>
                  <a:lvl1pPr>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pPr eaLnBrk="1" hangingPunct="1"/>
                  <a:endParaRPr lang="fr-FR" altLang="en-US"/>
                </a:p>
              </p:txBody>
            </p:sp>
            <p:sp>
              <p:nvSpPr>
                <p:cNvPr id="21" name="Rectangle 59"/>
                <p:cNvSpPr>
                  <a:spLocks/>
                </p:cNvSpPr>
                <p:nvPr/>
              </p:nvSpPr>
              <p:spPr bwMode="auto">
                <a:xfrm>
                  <a:off x="660731" y="1752595"/>
                  <a:ext cx="209673" cy="27700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a:solidFill>
                        <a:srgbClr val="000000"/>
                      </a:solidFill>
                      <a:miter lim="800000"/>
                      <a:headEnd/>
                      <a:tailEnd/>
                    </a14:hiddenLine>
                  </a:ext>
                </a:extLst>
              </p:spPr>
              <p:txBody>
                <a:bodyPr wrap="none" lIns="0" tIns="0" rIns="40639" bIns="0">
                  <a:spAutoFit/>
                </a:bodyPr>
                <a:lstStyle>
                  <a:lvl1pPr marL="39688">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pPr eaLnBrk="1" hangingPunct="1"/>
                  <a:r>
                    <a:rPr lang="en-US" altLang="en-US" sz="1800" dirty="0">
                      <a:solidFill>
                        <a:schemeClr val="tx1"/>
                      </a:solidFill>
                      <a:latin typeface="Arial" charset="0"/>
                      <a:sym typeface="Arial" charset="0"/>
                    </a:rPr>
                    <a:t>0</a:t>
                  </a:r>
                </a:p>
              </p:txBody>
            </p:sp>
          </p:grpSp>
          <p:cxnSp>
            <p:nvCxnSpPr>
              <p:cNvPr id="11" name="Straight Arrow Connector 10"/>
              <p:cNvCxnSpPr/>
              <p:nvPr/>
            </p:nvCxnSpPr>
            <p:spPr>
              <a:xfrm flipV="1">
                <a:off x="2232809" y="1752598"/>
                <a:ext cx="607689" cy="6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cxnSp>
          <p:nvCxnSpPr>
            <p:cNvPr id="34" name="Straight Arrow Connector 33"/>
            <p:cNvCxnSpPr/>
            <p:nvPr/>
          </p:nvCxnSpPr>
          <p:spPr bwMode="auto">
            <a:xfrm flipV="1">
              <a:off x="1663133" y="4229760"/>
              <a:ext cx="267661" cy="28"/>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5" name="Straight Arrow Connector 34"/>
            <p:cNvCxnSpPr/>
            <p:nvPr/>
          </p:nvCxnSpPr>
          <p:spPr bwMode="auto">
            <a:xfrm flipV="1">
              <a:off x="2204127" y="4236442"/>
              <a:ext cx="267661" cy="28"/>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grpSp>
        <p:nvGrpSpPr>
          <p:cNvPr id="13" name="Group 12" descr="Binary tree with three nodes:&#10;Root: 1&#10;Node 1 has a left child of 2 and right child of 3"/>
          <p:cNvGrpSpPr/>
          <p:nvPr/>
        </p:nvGrpSpPr>
        <p:grpSpPr>
          <a:xfrm>
            <a:off x="1086559" y="4527655"/>
            <a:ext cx="1316518" cy="641033"/>
            <a:chOff x="1743059" y="5381857"/>
            <a:chExt cx="1167194" cy="568325"/>
          </a:xfrm>
        </p:grpSpPr>
        <p:sp>
          <p:nvSpPr>
            <p:cNvPr id="66" name="Oval 4"/>
            <p:cNvSpPr>
              <a:spLocks/>
            </p:cNvSpPr>
            <p:nvPr/>
          </p:nvSpPr>
          <p:spPr bwMode="auto">
            <a:xfrm>
              <a:off x="1743059" y="5645382"/>
              <a:ext cx="309563" cy="304800"/>
            </a:xfrm>
            <a:prstGeom prst="ellipse">
              <a:avLst/>
            </a:prstGeom>
            <a:solidFill>
              <a:schemeClr val="bg1"/>
            </a:solidFill>
            <a:ln w="12700">
              <a:solidFill>
                <a:schemeClr val="tx1"/>
              </a:solidFill>
              <a:round/>
              <a:headEnd/>
              <a:tailEnd/>
            </a:ln>
            <a:extLst>
              <a:ext uri="{909E8E84-426E-40dd-AFC4-6F175D3DCCD1}">
                <a14:hiddenFill xmlns="" xmlns:a14="http://schemas.microsoft.com/office/drawing/2010/main">
                  <a:solidFill>
                    <a:srgbClr val="FFFFFF"/>
                  </a:solidFill>
                </a14:hiddenFill>
              </a:ext>
            </a:extLst>
          </p:spPr>
          <p:txBody>
            <a:bodyPr lIns="0" tIns="0" rIns="0" bIns="0"/>
            <a:lstStyle>
              <a:lvl1pPr>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pPr eaLnBrk="1" hangingPunct="1"/>
              <a:endParaRPr lang="fr-FR" altLang="en-US"/>
            </a:p>
          </p:txBody>
        </p:sp>
        <p:sp>
          <p:nvSpPr>
            <p:cNvPr id="67" name="Oval 4"/>
            <p:cNvSpPr>
              <a:spLocks/>
            </p:cNvSpPr>
            <p:nvPr/>
          </p:nvSpPr>
          <p:spPr bwMode="auto">
            <a:xfrm>
              <a:off x="2576878" y="5645322"/>
              <a:ext cx="309563" cy="304800"/>
            </a:xfrm>
            <a:prstGeom prst="ellipse">
              <a:avLst/>
            </a:prstGeom>
            <a:solidFill>
              <a:schemeClr val="bg1"/>
            </a:solidFill>
            <a:ln w="12700">
              <a:solidFill>
                <a:schemeClr val="tx1"/>
              </a:solidFill>
              <a:round/>
              <a:headEnd/>
              <a:tailEnd/>
            </a:ln>
            <a:extLst>
              <a:ext uri="{909E8E84-426E-40dd-AFC4-6F175D3DCCD1}">
                <a14:hiddenFill xmlns="" xmlns:a14="http://schemas.microsoft.com/office/drawing/2010/main">
                  <a:solidFill>
                    <a:srgbClr val="FFFFFF"/>
                  </a:solidFill>
                </a14:hiddenFill>
              </a:ext>
            </a:extLst>
          </p:spPr>
          <p:txBody>
            <a:bodyPr lIns="0" tIns="0" rIns="0" bIns="0"/>
            <a:lstStyle>
              <a:lvl1pPr>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pPr eaLnBrk="1" hangingPunct="1"/>
              <a:endParaRPr lang="fr-FR" altLang="en-US"/>
            </a:p>
          </p:txBody>
        </p:sp>
        <p:grpSp>
          <p:nvGrpSpPr>
            <p:cNvPr id="45" name="Group 3"/>
            <p:cNvGrpSpPr>
              <a:grpSpLocks/>
            </p:cNvGrpSpPr>
            <p:nvPr/>
          </p:nvGrpSpPr>
          <p:grpSpPr bwMode="auto">
            <a:xfrm>
              <a:off x="1808528" y="5381857"/>
              <a:ext cx="1101725" cy="561975"/>
              <a:chOff x="80" y="433"/>
              <a:chExt cx="694" cy="354"/>
            </a:xfrm>
          </p:grpSpPr>
          <p:sp>
            <p:nvSpPr>
              <p:cNvPr id="46" name="Oval 4"/>
              <p:cNvSpPr>
                <a:spLocks/>
              </p:cNvSpPr>
              <p:nvPr/>
            </p:nvSpPr>
            <p:spPr bwMode="auto">
              <a:xfrm>
                <a:off x="285" y="433"/>
                <a:ext cx="195" cy="192"/>
              </a:xfrm>
              <a:prstGeom prst="ellipse">
                <a:avLst/>
              </a:prstGeom>
              <a:solidFill>
                <a:schemeClr val="bg1"/>
              </a:solidFill>
              <a:ln w="12700">
                <a:solidFill>
                  <a:schemeClr val="tx1"/>
                </a:solidFill>
                <a:round/>
                <a:headEnd/>
                <a:tailEnd/>
              </a:ln>
              <a:extLst>
                <a:ext uri="{909E8E84-426E-40dd-AFC4-6F175D3DCCD1}">
                  <a14:hiddenFill xmlns="" xmlns:a14="http://schemas.microsoft.com/office/drawing/2010/main">
                    <a:solidFill>
                      <a:srgbClr val="FFFFFF"/>
                    </a:solidFill>
                  </a14:hiddenFill>
                </a:ext>
              </a:extLst>
            </p:spPr>
            <p:txBody>
              <a:bodyPr lIns="0" tIns="0" rIns="0" bIns="0"/>
              <a:lstStyle>
                <a:lvl1pPr>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pPr eaLnBrk="1" hangingPunct="1"/>
                <a:endParaRPr lang="fr-FR" altLang="en-US"/>
              </a:p>
            </p:txBody>
          </p:sp>
          <p:sp>
            <p:nvSpPr>
              <p:cNvPr id="49" name="Rectangle 7"/>
              <p:cNvSpPr>
                <a:spLocks/>
              </p:cNvSpPr>
              <p:nvPr/>
            </p:nvSpPr>
            <p:spPr bwMode="auto">
              <a:xfrm>
                <a:off x="324" y="441"/>
                <a:ext cx="132" cy="174"/>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a:solidFill>
                      <a:srgbClr val="000000"/>
                    </a:solidFill>
                    <a:miter lim="800000"/>
                    <a:headEnd/>
                    <a:tailEnd/>
                  </a14:hiddenLine>
                </a:ext>
              </a:extLst>
            </p:spPr>
            <p:txBody>
              <a:bodyPr wrap="none" lIns="0" tIns="0" rIns="40639" bIns="0">
                <a:spAutoFit/>
              </a:bodyPr>
              <a:lstStyle>
                <a:lvl1pPr marL="39688">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pPr eaLnBrk="1" hangingPunct="1"/>
                <a:r>
                  <a:rPr lang="en-US" altLang="en-US" sz="1800" dirty="0">
                    <a:solidFill>
                      <a:schemeClr val="tx1"/>
                    </a:solidFill>
                    <a:latin typeface="Arial" charset="0"/>
                    <a:sym typeface="Arial" charset="0"/>
                  </a:rPr>
                  <a:t>1</a:t>
                </a:r>
              </a:p>
            </p:txBody>
          </p:sp>
          <p:sp>
            <p:nvSpPr>
              <p:cNvPr id="50" name="Rectangle 8"/>
              <p:cNvSpPr>
                <a:spLocks/>
              </p:cNvSpPr>
              <p:nvPr/>
            </p:nvSpPr>
            <p:spPr bwMode="auto">
              <a:xfrm>
                <a:off x="80" y="613"/>
                <a:ext cx="132" cy="174"/>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a:solidFill>
                      <a:srgbClr val="000000"/>
                    </a:solidFill>
                    <a:miter lim="800000"/>
                    <a:headEnd/>
                    <a:tailEnd/>
                  </a14:hiddenLine>
                </a:ext>
              </a:extLst>
            </p:spPr>
            <p:txBody>
              <a:bodyPr wrap="none" lIns="0" tIns="0" rIns="40639" bIns="0">
                <a:spAutoFit/>
              </a:bodyPr>
              <a:lstStyle>
                <a:lvl1pPr marL="39688">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pPr eaLnBrk="1" hangingPunct="1"/>
                <a:r>
                  <a:rPr lang="en-US" altLang="en-US" sz="1800" dirty="0">
                    <a:solidFill>
                      <a:schemeClr val="tx1"/>
                    </a:solidFill>
                    <a:latin typeface="Arial" charset="0"/>
                    <a:sym typeface="Arial" charset="0"/>
                  </a:rPr>
                  <a:t>2</a:t>
                </a:r>
              </a:p>
            </p:txBody>
          </p:sp>
          <p:sp>
            <p:nvSpPr>
              <p:cNvPr id="51" name="Rectangle 9"/>
              <p:cNvSpPr>
                <a:spLocks/>
              </p:cNvSpPr>
              <p:nvPr/>
            </p:nvSpPr>
            <p:spPr bwMode="auto">
              <a:xfrm>
                <a:off x="598" y="606"/>
                <a:ext cx="176" cy="174"/>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a:solidFill>
                      <a:srgbClr val="000000"/>
                    </a:solidFill>
                    <a:miter lim="800000"/>
                    <a:headEnd/>
                    <a:tailEnd/>
                  </a14:hiddenLine>
                </a:ext>
              </a:extLst>
            </p:spPr>
            <p:txBody>
              <a:bodyPr wrap="square" lIns="0" tIns="0" rIns="40639" bIns="0">
                <a:spAutoFit/>
              </a:bodyPr>
              <a:lstStyle>
                <a:lvl1pPr marL="39688">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pPr eaLnBrk="1" hangingPunct="1"/>
                <a:r>
                  <a:rPr lang="en-US" altLang="en-US" sz="1800">
                    <a:solidFill>
                      <a:schemeClr val="tx1"/>
                    </a:solidFill>
                    <a:latin typeface="Arial" charset="0"/>
                    <a:sym typeface="Arial" charset="0"/>
                  </a:rPr>
                  <a:t>3</a:t>
                </a:r>
              </a:p>
            </p:txBody>
          </p:sp>
          <p:sp>
            <p:nvSpPr>
              <p:cNvPr id="52" name="Line 10"/>
              <p:cNvSpPr>
                <a:spLocks noChangeShapeType="1"/>
              </p:cNvSpPr>
              <p:nvPr/>
            </p:nvSpPr>
            <p:spPr bwMode="auto">
              <a:xfrm flipH="1">
                <a:off x="218" y="597"/>
                <a:ext cx="100" cy="68"/>
              </a:xfrm>
              <a:prstGeom prst="line">
                <a:avLst/>
              </a:prstGeom>
              <a:noFill/>
              <a:ln w="12700">
                <a:solidFill>
                  <a:schemeClr val="tx1"/>
                </a:solidFill>
                <a:round/>
                <a:headEnd/>
                <a:tailEnd type="triangle" w="med" len="med"/>
              </a:ln>
              <a:extLst>
                <a:ext uri="{909E8E84-426E-40dd-AFC4-6F175D3DCCD1}">
                  <a14:hiddenFill xmlns="" xmlns:a14="http://schemas.microsoft.com/office/drawing/2010/main">
                    <a:noFill/>
                  </a14:hiddenFill>
                </a:ext>
              </a:extLst>
            </p:spPr>
            <p:txBody>
              <a:bodyPr/>
              <a:lstStyle/>
              <a:p>
                <a:endParaRPr lang="en-US"/>
              </a:p>
            </p:txBody>
          </p:sp>
          <p:sp>
            <p:nvSpPr>
              <p:cNvPr id="53" name="Line 11"/>
              <p:cNvSpPr>
                <a:spLocks noChangeShapeType="1"/>
              </p:cNvSpPr>
              <p:nvPr/>
            </p:nvSpPr>
            <p:spPr bwMode="auto">
              <a:xfrm>
                <a:off x="456" y="597"/>
                <a:ext cx="117" cy="68"/>
              </a:xfrm>
              <a:prstGeom prst="line">
                <a:avLst/>
              </a:prstGeom>
              <a:noFill/>
              <a:ln w="12700">
                <a:solidFill>
                  <a:schemeClr val="tx1"/>
                </a:solidFill>
                <a:round/>
                <a:headEnd/>
                <a:tailEnd type="triangle" w="med" len="med"/>
              </a:ln>
              <a:extLst>
                <a:ext uri="{909E8E84-426E-40dd-AFC4-6F175D3DCCD1}">
                  <a14:hiddenFill xmlns="" xmlns:a14="http://schemas.microsoft.com/office/drawing/2010/main">
                    <a:noFill/>
                  </a14:hiddenFill>
                </a:ext>
              </a:extLst>
            </p:spPr>
            <p:txBody>
              <a:bodyPr/>
              <a:lstStyle/>
              <a:p>
                <a:endParaRPr lang="en-US"/>
              </a:p>
            </p:txBody>
          </p:sp>
        </p:grpSp>
      </p:grpSp>
      <p:grpSp>
        <p:nvGrpSpPr>
          <p:cNvPr id="48" name="Group 47" descr="Binary Search Tree with three nodes:&#10;Root: 2&#10;Node 2 has a left child of 1 and right child of 3"/>
          <p:cNvGrpSpPr/>
          <p:nvPr/>
        </p:nvGrpSpPr>
        <p:grpSpPr>
          <a:xfrm>
            <a:off x="996167" y="5821809"/>
            <a:ext cx="1401883" cy="682599"/>
            <a:chOff x="1743059" y="5381857"/>
            <a:chExt cx="1167194" cy="568325"/>
          </a:xfrm>
        </p:grpSpPr>
        <p:sp>
          <p:nvSpPr>
            <p:cNvPr id="54" name="Oval 4"/>
            <p:cNvSpPr>
              <a:spLocks/>
            </p:cNvSpPr>
            <p:nvPr/>
          </p:nvSpPr>
          <p:spPr bwMode="auto">
            <a:xfrm>
              <a:off x="1743059" y="5645382"/>
              <a:ext cx="309563" cy="304800"/>
            </a:xfrm>
            <a:prstGeom prst="ellipse">
              <a:avLst/>
            </a:prstGeom>
            <a:solidFill>
              <a:schemeClr val="bg1"/>
            </a:solidFill>
            <a:ln w="12700">
              <a:solidFill>
                <a:schemeClr val="tx1"/>
              </a:solidFill>
              <a:round/>
              <a:headEnd/>
              <a:tailEnd/>
            </a:ln>
            <a:extLst>
              <a:ext uri="{909E8E84-426E-40dd-AFC4-6F175D3DCCD1}">
                <a14:hiddenFill xmlns="" xmlns:a14="http://schemas.microsoft.com/office/drawing/2010/main">
                  <a:solidFill>
                    <a:srgbClr val="FFFFFF"/>
                  </a:solidFill>
                </a14:hiddenFill>
              </a:ext>
            </a:extLst>
          </p:spPr>
          <p:txBody>
            <a:bodyPr lIns="0" tIns="0" rIns="0" bIns="0"/>
            <a:lstStyle>
              <a:lvl1pPr>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pPr eaLnBrk="1" hangingPunct="1"/>
              <a:endParaRPr lang="fr-FR" altLang="en-US"/>
            </a:p>
          </p:txBody>
        </p:sp>
        <p:sp>
          <p:nvSpPr>
            <p:cNvPr id="55" name="Oval 4"/>
            <p:cNvSpPr>
              <a:spLocks/>
            </p:cNvSpPr>
            <p:nvPr/>
          </p:nvSpPr>
          <p:spPr bwMode="auto">
            <a:xfrm>
              <a:off x="2576878" y="5645322"/>
              <a:ext cx="309563" cy="304800"/>
            </a:xfrm>
            <a:prstGeom prst="ellipse">
              <a:avLst/>
            </a:prstGeom>
            <a:solidFill>
              <a:schemeClr val="bg1"/>
            </a:solidFill>
            <a:ln w="12700">
              <a:solidFill>
                <a:schemeClr val="tx1"/>
              </a:solidFill>
              <a:round/>
              <a:headEnd/>
              <a:tailEnd/>
            </a:ln>
            <a:extLst>
              <a:ext uri="{909E8E84-426E-40dd-AFC4-6F175D3DCCD1}">
                <a14:hiddenFill xmlns="" xmlns:a14="http://schemas.microsoft.com/office/drawing/2010/main">
                  <a:solidFill>
                    <a:srgbClr val="FFFFFF"/>
                  </a:solidFill>
                </a14:hiddenFill>
              </a:ext>
            </a:extLst>
          </p:spPr>
          <p:txBody>
            <a:bodyPr lIns="0" tIns="0" rIns="0" bIns="0"/>
            <a:lstStyle>
              <a:lvl1pPr>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pPr eaLnBrk="1" hangingPunct="1"/>
              <a:endParaRPr lang="fr-FR" altLang="en-US"/>
            </a:p>
          </p:txBody>
        </p:sp>
        <p:grpSp>
          <p:nvGrpSpPr>
            <p:cNvPr id="56" name="Group 3"/>
            <p:cNvGrpSpPr>
              <a:grpSpLocks/>
            </p:cNvGrpSpPr>
            <p:nvPr/>
          </p:nvGrpSpPr>
          <p:grpSpPr bwMode="auto">
            <a:xfrm>
              <a:off x="1808528" y="5381857"/>
              <a:ext cx="1101725" cy="561975"/>
              <a:chOff x="80" y="433"/>
              <a:chExt cx="694" cy="354"/>
            </a:xfrm>
          </p:grpSpPr>
          <p:sp>
            <p:nvSpPr>
              <p:cNvPr id="57" name="Oval 4"/>
              <p:cNvSpPr>
                <a:spLocks/>
              </p:cNvSpPr>
              <p:nvPr/>
            </p:nvSpPr>
            <p:spPr bwMode="auto">
              <a:xfrm>
                <a:off x="285" y="433"/>
                <a:ext cx="195" cy="192"/>
              </a:xfrm>
              <a:prstGeom prst="ellipse">
                <a:avLst/>
              </a:prstGeom>
              <a:solidFill>
                <a:schemeClr val="bg1"/>
              </a:solidFill>
              <a:ln w="12700">
                <a:solidFill>
                  <a:schemeClr val="tx1"/>
                </a:solidFill>
                <a:round/>
                <a:headEnd/>
                <a:tailEnd/>
              </a:ln>
              <a:extLst>
                <a:ext uri="{909E8E84-426E-40dd-AFC4-6F175D3DCCD1}">
                  <a14:hiddenFill xmlns="" xmlns:a14="http://schemas.microsoft.com/office/drawing/2010/main">
                    <a:solidFill>
                      <a:srgbClr val="FFFFFF"/>
                    </a:solidFill>
                  </a14:hiddenFill>
                </a:ext>
              </a:extLst>
            </p:spPr>
            <p:txBody>
              <a:bodyPr lIns="0" tIns="0" rIns="0" bIns="0"/>
              <a:lstStyle>
                <a:lvl1pPr>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pPr eaLnBrk="1" hangingPunct="1"/>
                <a:endParaRPr lang="fr-FR" altLang="en-US"/>
              </a:p>
            </p:txBody>
          </p:sp>
          <p:sp>
            <p:nvSpPr>
              <p:cNvPr id="58" name="Rectangle 7"/>
              <p:cNvSpPr>
                <a:spLocks/>
              </p:cNvSpPr>
              <p:nvPr/>
            </p:nvSpPr>
            <p:spPr bwMode="auto">
              <a:xfrm>
                <a:off x="324" y="441"/>
                <a:ext cx="177" cy="224"/>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a:solidFill>
                      <a:srgbClr val="000000"/>
                    </a:solidFill>
                    <a:miter lim="800000"/>
                    <a:headEnd/>
                    <a:tailEnd/>
                  </a14:hiddenLine>
                </a:ext>
              </a:extLst>
            </p:spPr>
            <p:txBody>
              <a:bodyPr wrap="none" lIns="0" tIns="0" rIns="40639" bIns="0">
                <a:spAutoFit/>
              </a:bodyPr>
              <a:lstStyle>
                <a:lvl1pPr marL="39688">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pPr eaLnBrk="1" hangingPunct="1"/>
                <a:r>
                  <a:rPr lang="en-US" altLang="en-US" sz="1800" dirty="0">
                    <a:solidFill>
                      <a:schemeClr val="tx1"/>
                    </a:solidFill>
                    <a:latin typeface="Arial" charset="0"/>
                    <a:sym typeface="Arial" charset="0"/>
                  </a:rPr>
                  <a:t>2</a:t>
                </a:r>
              </a:p>
            </p:txBody>
          </p:sp>
          <p:sp>
            <p:nvSpPr>
              <p:cNvPr id="59" name="Rectangle 8"/>
              <p:cNvSpPr>
                <a:spLocks/>
              </p:cNvSpPr>
              <p:nvPr/>
            </p:nvSpPr>
            <p:spPr bwMode="auto">
              <a:xfrm>
                <a:off x="80" y="613"/>
                <a:ext cx="132" cy="174"/>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a:solidFill>
                      <a:srgbClr val="000000"/>
                    </a:solidFill>
                    <a:miter lim="800000"/>
                    <a:headEnd/>
                    <a:tailEnd/>
                  </a14:hiddenLine>
                </a:ext>
              </a:extLst>
            </p:spPr>
            <p:txBody>
              <a:bodyPr wrap="none" lIns="0" tIns="0" rIns="40639" bIns="0">
                <a:spAutoFit/>
              </a:bodyPr>
              <a:lstStyle>
                <a:lvl1pPr marL="39688">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pPr eaLnBrk="1" hangingPunct="1"/>
                <a:r>
                  <a:rPr lang="en-US" altLang="en-US" sz="1800" dirty="0">
                    <a:solidFill>
                      <a:schemeClr val="tx1"/>
                    </a:solidFill>
                    <a:latin typeface="Arial" charset="0"/>
                    <a:sym typeface="Arial" charset="0"/>
                  </a:rPr>
                  <a:t>1</a:t>
                </a:r>
              </a:p>
            </p:txBody>
          </p:sp>
          <p:sp>
            <p:nvSpPr>
              <p:cNvPr id="60" name="Rectangle 9"/>
              <p:cNvSpPr>
                <a:spLocks/>
              </p:cNvSpPr>
              <p:nvPr/>
            </p:nvSpPr>
            <p:spPr bwMode="auto">
              <a:xfrm>
                <a:off x="598" y="606"/>
                <a:ext cx="176" cy="174"/>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a:solidFill>
                      <a:srgbClr val="000000"/>
                    </a:solidFill>
                    <a:miter lim="800000"/>
                    <a:headEnd/>
                    <a:tailEnd/>
                  </a14:hiddenLine>
                </a:ext>
              </a:extLst>
            </p:spPr>
            <p:txBody>
              <a:bodyPr wrap="square" lIns="0" tIns="0" rIns="40639" bIns="0">
                <a:spAutoFit/>
              </a:bodyPr>
              <a:lstStyle>
                <a:lvl1pPr marL="39688">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pPr eaLnBrk="1" hangingPunct="1"/>
                <a:r>
                  <a:rPr lang="en-US" altLang="en-US" sz="1800">
                    <a:solidFill>
                      <a:schemeClr val="tx1"/>
                    </a:solidFill>
                    <a:latin typeface="Arial" charset="0"/>
                    <a:sym typeface="Arial" charset="0"/>
                  </a:rPr>
                  <a:t>3</a:t>
                </a:r>
              </a:p>
            </p:txBody>
          </p:sp>
          <p:sp>
            <p:nvSpPr>
              <p:cNvPr id="61" name="Line 10"/>
              <p:cNvSpPr>
                <a:spLocks noChangeShapeType="1"/>
              </p:cNvSpPr>
              <p:nvPr/>
            </p:nvSpPr>
            <p:spPr bwMode="auto">
              <a:xfrm flipH="1">
                <a:off x="218" y="597"/>
                <a:ext cx="100" cy="68"/>
              </a:xfrm>
              <a:prstGeom prst="line">
                <a:avLst/>
              </a:prstGeom>
              <a:noFill/>
              <a:ln w="12700">
                <a:solidFill>
                  <a:schemeClr val="tx1"/>
                </a:solidFill>
                <a:round/>
                <a:headEnd/>
                <a:tailEnd type="triangle" w="med" len="med"/>
              </a:ln>
              <a:extLst>
                <a:ext uri="{909E8E84-426E-40dd-AFC4-6F175D3DCCD1}">
                  <a14:hiddenFill xmlns="" xmlns:a14="http://schemas.microsoft.com/office/drawing/2010/main">
                    <a:noFill/>
                  </a14:hiddenFill>
                </a:ext>
              </a:extLst>
            </p:spPr>
            <p:txBody>
              <a:bodyPr/>
              <a:lstStyle/>
              <a:p>
                <a:endParaRPr lang="en-US"/>
              </a:p>
            </p:txBody>
          </p:sp>
          <p:sp>
            <p:nvSpPr>
              <p:cNvPr id="62" name="Line 11"/>
              <p:cNvSpPr>
                <a:spLocks noChangeShapeType="1"/>
              </p:cNvSpPr>
              <p:nvPr/>
            </p:nvSpPr>
            <p:spPr bwMode="auto">
              <a:xfrm>
                <a:off x="456" y="597"/>
                <a:ext cx="117" cy="68"/>
              </a:xfrm>
              <a:prstGeom prst="line">
                <a:avLst/>
              </a:prstGeom>
              <a:noFill/>
              <a:ln w="12700">
                <a:solidFill>
                  <a:schemeClr val="tx1"/>
                </a:solidFill>
                <a:round/>
                <a:headEnd/>
                <a:tailEnd type="triangle" w="med" len="med"/>
              </a:ln>
              <a:extLst>
                <a:ext uri="{909E8E84-426E-40dd-AFC4-6F175D3DCCD1}">
                  <a14:hiddenFill xmlns="" xmlns:a14="http://schemas.microsoft.com/office/drawing/2010/main">
                    <a:noFill/>
                  </a14:hiddenFill>
                </a:ext>
              </a:extLst>
            </p:spPr>
            <p:txBody>
              <a:bodyPr/>
              <a:lstStyle/>
              <a:p>
                <a:endParaRPr lang="en-US"/>
              </a:p>
            </p:txBody>
          </p:sp>
        </p:grpSp>
      </p:grpSp>
    </p:spTree>
    <p:extLst>
      <p:ext uri="{BB962C8B-B14F-4D97-AF65-F5344CB8AC3E}">
        <p14:creationId xmlns:p14="http://schemas.microsoft.com/office/powerpoint/2010/main" val="1551460615"/>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MMPROD_UIDATA" val="&lt;database version=&quot;9.0&quot;&gt;&lt;object type=&quot;1&quot; unique_id=&quot;10001&quot;&gt;&lt;object type=&quot;2&quot; unique_id=&quot;10002&quot;&gt;&lt;object type=&quot;3&quot; unique_id=&quot;10003&quot;&gt;&lt;property id=&quot;20148&quot; value=&quot;5&quot;/&gt;&lt;property id=&quot;20300&quot; value=&quot;Slide 1&quot;/&gt;&lt;property id=&quot;20307&quot; value=&quot;256&quot;/&gt;&lt;/object&gt;&lt;object type=&quot;3&quot; unique_id=&quot;10004&quot;&gt;&lt;property id=&quot;20148&quot; value=&quot;5&quot;/&gt;&lt;property id=&quot;20300&quot; value=&quot;Slide 2&quot;/&gt;&lt;property id=&quot;20307&quot; value=&quot;351&quot;/&gt;&lt;/object&gt;&lt;object type=&quot;3&quot; unique_id=&quot;10005&quot;&gt;&lt;property id=&quot;20148&quot; value=&quot;5&quot;/&gt;&lt;property id=&quot;20300&quot; value=&quot;Slide 3&quot;/&gt;&lt;property id=&quot;20307&quot; value=&quot;352&quot;/&gt;&lt;/object&gt;&lt;object type=&quot;3&quot; unique_id=&quot;10006&quot;&gt;&lt;property id=&quot;20148&quot; value=&quot;5&quot;/&gt;&lt;property id=&quot;20300&quot; value=&quot;Slide 4&quot;/&gt;&lt;property id=&quot;20307&quot; value=&quot;364&quot;/&gt;&lt;/object&gt;&lt;object type=&quot;3&quot; unique_id=&quot;10007&quot;&gt;&lt;property id=&quot;20148&quot; value=&quot;5&quot;/&gt;&lt;property id=&quot;20300&quot; value=&quot;Slide 5&quot;/&gt;&lt;property id=&quot;20307&quot; value=&quot;337&quot;/&gt;&lt;/object&gt;&lt;object type=&quot;3&quot; unique_id=&quot;10008&quot;&gt;&lt;property id=&quot;20148&quot; value=&quot;5&quot;/&gt;&lt;property id=&quot;20300&quot; value=&quot;Slide 6&quot;/&gt;&lt;property id=&quot;20307&quot; value=&quot;365&quot;/&gt;&lt;/object&gt;&lt;object type=&quot;3&quot; unique_id=&quot;10009&quot;&gt;&lt;property id=&quot;20148&quot; value=&quot;5&quot;/&gt;&lt;property id=&quot;20300&quot; value=&quot;Slide 7&quot;/&gt;&lt;property id=&quot;20307&quot; value=&quot;356&quot;/&gt;&lt;/object&gt;&lt;object type=&quot;3&quot; unique_id=&quot;10010&quot;&gt;&lt;property id=&quot;20148&quot; value=&quot;5&quot;/&gt;&lt;property id=&quot;20300&quot; value=&quot;Slide 8&quot;/&gt;&lt;property id=&quot;20307&quot; value=&quot;355&quot;/&gt;&lt;/object&gt;&lt;object type=&quot;3&quot; unique_id=&quot;10011&quot;&gt;&lt;property id=&quot;20148&quot; value=&quot;5&quot;/&gt;&lt;property id=&quot;20300&quot; value=&quot;Slide 9&quot;/&gt;&lt;property id=&quot;20307&quot; value=&quot;341&quot;/&gt;&lt;/object&gt;&lt;object type=&quot;3&quot; unique_id=&quot;10012&quot;&gt;&lt;property id=&quot;20148&quot; value=&quot;5&quot;/&gt;&lt;property id=&quot;20300&quot; value=&quot;Slide 10&quot;/&gt;&lt;property id=&quot;20307&quot; value=&quot;264&quot;/&gt;&lt;/object&gt;&lt;object type=&quot;3&quot; unique_id=&quot;10013&quot;&gt;&lt;property id=&quot;20148&quot; value=&quot;5&quot;/&gt;&lt;property id=&quot;20300&quot; value=&quot;Slide 11&quot;/&gt;&lt;property id=&quot;20307&quot; value=&quot;357&quot;/&gt;&lt;/object&gt;&lt;object type=&quot;3&quot; unique_id=&quot;10014&quot;&gt;&lt;property id=&quot;20148&quot; value=&quot;5&quot;/&gt;&lt;property id=&quot;20300&quot; value=&quot;Slide 12&quot;/&gt;&lt;property id=&quot;20307&quot; value=&quot;342&quot;/&gt;&lt;/object&gt;&lt;object type=&quot;3&quot; unique_id=&quot;10015&quot;&gt;&lt;property id=&quot;20148&quot; value=&quot;5&quot;/&gt;&lt;property id=&quot;20300&quot; value=&quot;Slide 13&quot;/&gt;&lt;property id=&quot;20307&quot; value=&quot;349&quot;/&gt;&lt;/object&gt;&lt;object type=&quot;3&quot; unique_id=&quot;10016&quot;&gt;&lt;property id=&quot;20148&quot; value=&quot;5&quot;/&gt;&lt;property id=&quot;20300&quot; value=&quot;Slide 14&quot;/&gt;&lt;property id=&quot;20307&quot; value=&quot;343&quot;/&gt;&lt;/object&gt;&lt;object type=&quot;3&quot; unique_id=&quot;10017&quot;&gt;&lt;property id=&quot;20148&quot; value=&quot;5&quot;/&gt;&lt;property id=&quot;20300&quot; value=&quot;Slide 15&quot;/&gt;&lt;property id=&quot;20307&quot; value=&quot;344&quot;/&gt;&lt;/object&gt;&lt;object type=&quot;3&quot; unique_id=&quot;10018&quot;&gt;&lt;property id=&quot;20148&quot; value=&quot;5&quot;/&gt;&lt;property id=&quot;20300&quot; value=&quot;Slide 16&quot;/&gt;&lt;property id=&quot;20307&quot; value=&quot;345&quot;/&gt;&lt;/object&gt;&lt;object type=&quot;3&quot; unique_id=&quot;10019&quot;&gt;&lt;property id=&quot;20148&quot; value=&quot;5&quot;/&gt;&lt;property id=&quot;20300&quot; value=&quot;Slide 17&quot;/&gt;&lt;property id=&quot;20307&quot; value=&quot;348&quot;/&gt;&lt;/object&gt;&lt;object type=&quot;3&quot; unique_id=&quot;10020&quot;&gt;&lt;property id=&quot;20148&quot; value=&quot;5&quot;/&gt;&lt;property id=&quot;20300&quot; value=&quot;Slide 18&quot;/&gt;&lt;property id=&quot;20307&quot; value=&quot;346&quot;/&gt;&lt;/object&gt;&lt;object type=&quot;3&quot; unique_id=&quot;10021&quot;&gt;&lt;property id=&quot;20148&quot; value=&quot;5&quot;/&gt;&lt;property id=&quot;20300&quot; value=&quot;Slide 19&quot;/&gt;&lt;property id=&quot;20307&quot; value=&quot;347&quot;/&gt;&lt;/object&gt;&lt;object type=&quot;3&quot; unique_id=&quot;10022&quot;&gt;&lt;property id=&quot;20148&quot; value=&quot;5&quot;/&gt;&lt;property id=&quot;20300&quot; value=&quot;Slide 20&quot;/&gt;&lt;property id=&quot;20307&quot; value=&quot;333&quot;/&gt;&lt;/object&gt;&lt;object type=&quot;3&quot; unique_id=&quot;10023&quot;&gt;&lt;property id=&quot;20148&quot; value=&quot;5&quot;/&gt;&lt;property id=&quot;20300&quot; value=&quot;Slide 21&quot;/&gt;&lt;property id=&quot;20307&quot; value=&quot;257&quot;/&gt;&lt;/object&gt;&lt;object type=&quot;3&quot; unique_id=&quot;10024&quot;&gt;&lt;property id=&quot;20148&quot; value=&quot;5&quot;/&gt;&lt;property id=&quot;20300&quot; value=&quot;Slide 22&quot;/&gt;&lt;property id=&quot;20307&quot; value=&quot;334&quot;/&gt;&lt;/object&gt;&lt;object type=&quot;3&quot; unique_id=&quot;10025&quot;&gt;&lt;property id=&quot;20148&quot; value=&quot;5&quot;/&gt;&lt;property id=&quot;20300&quot; value=&quot;Slide 23&quot;/&gt;&lt;property id=&quot;20307&quot; value=&quot;358&quot;/&gt;&lt;/object&gt;&lt;object type=&quot;3&quot; unique_id=&quot;10026&quot;&gt;&lt;property id=&quot;20148&quot; value=&quot;5&quot;/&gt;&lt;property id=&quot;20300&quot; value=&quot;Slide 24&quot;/&gt;&lt;property id=&quot;20307&quot; value=&quot;359&quot;/&gt;&lt;/object&gt;&lt;object type=&quot;3&quot; unique_id=&quot;10027&quot;&gt;&lt;property id=&quot;20148&quot; value=&quot;5&quot;/&gt;&lt;property id=&quot;20300&quot; value=&quot;Slide 25&quot;/&gt;&lt;property id=&quot;20307&quot; value=&quot;360&quot;/&gt;&lt;/object&gt;&lt;object type=&quot;3&quot; unique_id=&quot;10028&quot;&gt;&lt;property id=&quot;20148&quot; value=&quot;5&quot;/&gt;&lt;property id=&quot;20300&quot; value=&quot;Slide 26&quot;/&gt;&lt;property id=&quot;20307&quot; value=&quot;322&quot;/&gt;&lt;/object&gt;&lt;object type=&quot;3&quot; unique_id=&quot;10029&quot;&gt;&lt;property id=&quot;20148&quot; value=&quot;5&quot;/&gt;&lt;property id=&quot;20300&quot; value=&quot;Slide 27&quot;/&gt;&lt;property id=&quot;20307&quot; value=&quot;323&quot;/&gt;&lt;/object&gt;&lt;object type=&quot;3&quot; unique_id=&quot;10030&quot;&gt;&lt;property id=&quot;20148&quot; value=&quot;5&quot;/&gt;&lt;property id=&quot;20300&quot; value=&quot;Slide 28&quot;/&gt;&lt;property id=&quot;20307&quot; value=&quot;379&quot;/&gt;&lt;/object&gt;&lt;object type=&quot;3&quot; unique_id=&quot;10031&quot;&gt;&lt;property id=&quot;20148&quot; value=&quot;5&quot;/&gt;&lt;property id=&quot;20300&quot; value=&quot;Slide 29&quot;/&gt;&lt;property id=&quot;20307&quot; value=&quot;380&quot;/&gt;&lt;/object&gt;&lt;object type=&quot;3&quot; unique_id=&quot;10032&quot;&gt;&lt;property id=&quot;20148&quot; value=&quot;5&quot;/&gt;&lt;property id=&quot;20300&quot; value=&quot;Slide 30&quot;/&gt;&lt;property id=&quot;20307&quot; value=&quot;381&quot;/&gt;&lt;/object&gt;&lt;object type=&quot;3&quot; unique_id=&quot;10033&quot;&gt;&lt;property id=&quot;20148&quot; value=&quot;5&quot;/&gt;&lt;property id=&quot;20300&quot; value=&quot;Slide 31&quot;/&gt;&lt;property id=&quot;20307&quot; value=&quot;362&quot;/&gt;&lt;/object&gt;&lt;object type=&quot;3&quot; unique_id=&quot;10034&quot;&gt;&lt;property id=&quot;20148&quot; value=&quot;5&quot;/&gt;&lt;property id=&quot;20300&quot; value=&quot;Slide 32&quot;/&gt;&lt;property id=&quot;20307&quot; value=&quot;363&quot;/&gt;&lt;/object&gt;&lt;object type=&quot;3&quot; unique_id=&quot;10035&quot;&gt;&lt;property id=&quot;20148&quot; value=&quot;5&quot;/&gt;&lt;property id=&quot;20300&quot; value=&quot;Slide 33&quot;/&gt;&lt;property id=&quot;20307&quot; value=&quot;368&quot;/&gt;&lt;/object&gt;&lt;object type=&quot;3&quot; unique_id=&quot;10036&quot;&gt;&lt;property id=&quot;20148&quot; value=&quot;5&quot;/&gt;&lt;property id=&quot;20300&quot; value=&quot;Slide 34&quot;/&gt;&lt;property id=&quot;20307&quot; value=&quot;328&quot;/&gt;&lt;/object&gt;&lt;object type=&quot;3&quot; unique_id=&quot;10037&quot;&gt;&lt;property id=&quot;20148&quot; value=&quot;5&quot;/&gt;&lt;property id=&quot;20300&quot; value=&quot;Slide 35&quot;/&gt;&lt;property id=&quot;20307&quot; value=&quot;369&quot;/&gt;&lt;/object&gt;&lt;object type=&quot;3&quot; unique_id=&quot;10038&quot;&gt;&lt;property id=&quot;20148&quot; value=&quot;5&quot;/&gt;&lt;property id=&quot;20300&quot; value=&quot;Slide 36&quot;/&gt;&lt;property id=&quot;20307&quot; value=&quot;373&quot;/&gt;&lt;/object&gt;&lt;object type=&quot;3&quot; unique_id=&quot;10039&quot;&gt;&lt;property id=&quot;20148&quot; value=&quot;5&quot;/&gt;&lt;property id=&quot;20300&quot; value=&quot;Slide 37&quot;/&gt;&lt;property id=&quot;20307&quot; value=&quot;374&quot;/&gt;&lt;/object&gt;&lt;object type=&quot;3&quot; unique_id=&quot;10040&quot;&gt;&lt;property id=&quot;20148&quot; value=&quot;5&quot;/&gt;&lt;property id=&quot;20300&quot; value=&quot;Slide 38&quot;/&gt;&lt;property id=&quot;20307&quot; value=&quot;375&quot;/&gt;&lt;/object&gt;&lt;object type=&quot;3&quot; unique_id=&quot;10041&quot;&gt;&lt;property id=&quot;20148&quot; value=&quot;5&quot;/&gt;&lt;property id=&quot;20300&quot; value=&quot;Slide 39&quot;/&gt;&lt;property id=&quot;20307&quot; value=&quot;376&quot;/&gt;&lt;/object&gt;&lt;object type=&quot;3&quot; unique_id=&quot;10042&quot;&gt;&lt;property id=&quot;20148&quot; value=&quot;5&quot;/&gt;&lt;property id=&quot;20300&quot; value=&quot;Slide 40&quot;/&gt;&lt;property id=&quot;20307&quot; value=&quot;329&quot;/&gt;&lt;/object&gt;&lt;object type=&quot;3&quot; unique_id=&quot;10043&quot;&gt;&lt;property id=&quot;20148&quot; value=&quot;5&quot;/&gt;&lt;property id=&quot;20300&quot; value=&quot;Slide 41&quot;/&gt;&lt;property id=&quot;20307&quot; value=&quot;366&quot;/&gt;&lt;/object&gt;&lt;object type=&quot;3&quot; unique_id=&quot;10044&quot;&gt;&lt;property id=&quot;20148&quot; value=&quot;5&quot;/&gt;&lt;property id=&quot;20300&quot; value=&quot;Slide 42&quot;/&gt;&lt;property id=&quot;20307&quot; value=&quot;336&quot;/&gt;&lt;/object&gt;&lt;object type=&quot;3&quot; unique_id=&quot;10045&quot;&gt;&lt;property id=&quot;20148&quot; value=&quot;5&quot;/&gt;&lt;property id=&quot;20300&quot; value=&quot;Slide 43&quot;/&gt;&lt;property id=&quot;20307&quot; value=&quot;330&quot;/&gt;&lt;/object&gt;&lt;object type=&quot;3&quot; unique_id=&quot;10046&quot;&gt;&lt;property id=&quot;20148&quot; value=&quot;5&quot;/&gt;&lt;property id=&quot;20300&quot; value=&quot;Slide 44&quot;/&gt;&lt;property id=&quot;20307&quot; value=&quot;367&quot;/&gt;&lt;/object&gt;&lt;object type=&quot;3&quot; unique_id=&quot;10047&quot;&gt;&lt;property id=&quot;20148&quot; value=&quot;5&quot;/&gt;&lt;property id=&quot;20300&quot; value=&quot;Slide 45&quot;/&gt;&lt;property id=&quot;20307&quot; value=&quot;316&quot;/&gt;&lt;/object&gt;&lt;object type=&quot;3&quot; unique_id=&quot;10048&quot;&gt;&lt;property id=&quot;20148&quot; value=&quot;5&quot;/&gt;&lt;property id=&quot;20300&quot; value=&quot;Slide 46&quot;/&gt;&lt;property id=&quot;20307&quot; value=&quot;279&quot;/&gt;&lt;/object&gt;&lt;object type=&quot;3&quot; unique_id=&quot;10049&quot;&gt;&lt;property id=&quot;20148&quot; value=&quot;5&quot;/&gt;&lt;property id=&quot;20300&quot; value=&quot;Slide 47&quot;/&gt;&lt;property id=&quot;20307&quot; value=&quot;378&quot;/&gt;&lt;/object&gt;&lt;object type=&quot;3&quot; unique_id=&quot;10050&quot;&gt;&lt;property id=&quot;20148&quot; value=&quot;5&quot;/&gt;&lt;property id=&quot;20300&quot; value=&quot;Slide 48&quot;/&gt;&lt;property id=&quot;20307&quot; value=&quot;382&quot;/&gt;&lt;/object&gt;&lt;object type=&quot;3&quot; unique_id=&quot;10051&quot;&gt;&lt;property id=&quot;20148&quot; value=&quot;5&quot;/&gt;&lt;property id=&quot;20300&quot; value=&quot;Slide 49&quot;/&gt;&lt;property id=&quot;20307&quot; value=&quot;307&quot;/&gt;&lt;/object&gt;&lt;object type=&quot;3&quot; unique_id=&quot;10052&quot;&gt;&lt;property id=&quot;20148&quot; value=&quot;5&quot;/&gt;&lt;property id=&quot;20300&quot; value=&quot;Slide 50&quot;/&gt;&lt;property id=&quot;20307&quot; value=&quot;377&quot;/&gt;&lt;/object&gt;&lt;object type=&quot;3&quot; unique_id=&quot;10053&quot;&gt;&lt;property id=&quot;20148&quot; value=&quot;5&quot;/&gt;&lt;property id=&quot;20300&quot; value=&quot;Slide 51&quot;/&gt;&lt;property id=&quot;20307&quot; value=&quot;312&quot;/&gt;&lt;/object&gt;&lt;object type=&quot;3&quot; unique_id=&quot;10054&quot;&gt;&lt;property id=&quot;20148&quot; value=&quot;5&quot;/&gt;&lt;property id=&quot;20300&quot; value=&quot;Slide 52&quot;/&gt;&lt;property id=&quot;20307&quot; value=&quot;372&quot;/&gt;&lt;/object&gt;&lt;object type=&quot;3&quot; unique_id=&quot;10055&quot;&gt;&lt;property id=&quot;20148&quot; value=&quot;5&quot;/&gt;&lt;property id=&quot;20300&quot; value=&quot;Slide 53&quot;/&gt;&lt;property id=&quot;20307&quot; value=&quot;332&quot;/&gt;&lt;/object&gt;&lt;object type=&quot;3&quot; unique_id=&quot;10056&quot;&gt;&lt;property id=&quot;20148&quot; value=&quot;5&quot;/&gt;&lt;property id=&quot;20300&quot; value=&quot;Slide 54&quot;/&gt;&lt;property id=&quot;20307&quot; value=&quot;272&quot;/&gt;&lt;/object&gt;&lt;object type=&quot;3&quot; unique_id=&quot;10057&quot;&gt;&lt;property id=&quot;20148&quot; value=&quot;5&quot;/&gt;&lt;property id=&quot;20300&quot; value=&quot;Slide 55&quot;/&gt;&lt;property id=&quot;20307&quot; value=&quot;280&quot;/&gt;&lt;/object&gt;&lt;object type=&quot;3&quot; unique_id=&quot;10058&quot;&gt;&lt;property id=&quot;20148&quot; value=&quot;5&quot;/&gt;&lt;property id=&quot;20300&quot; value=&quot;Slide 56&quot;/&gt;&lt;property id=&quot;20307&quot; value=&quot;384&quot;/&gt;&lt;/object&gt;&lt;object type=&quot;3&quot; unique_id=&quot;10059&quot;&gt;&lt;property id=&quot;20148&quot; value=&quot;5&quot;/&gt;&lt;property id=&quot;20300&quot; value=&quot;Slide 57&quot;/&gt;&lt;property id=&quot;20307&quot; value=&quot;315&quot;/&gt;&lt;/object&gt;&lt;object type=&quot;3&quot; unique_id=&quot;10060&quot;&gt;&lt;property id=&quot;20148&quot; value=&quot;5&quot;/&gt;&lt;property id=&quot;20300&quot; value=&quot;Slide 58&quot;/&gt;&lt;property id=&quot;20307&quot; value=&quot;314&quot;/&gt;&lt;/object&gt;&lt;object type=&quot;3&quot; unique_id=&quot;10061&quot;&gt;&lt;property id=&quot;20148&quot; value=&quot;5&quot;/&gt;&lt;property id=&quot;20300&quot; value=&quot;Slide 59&quot;/&gt;&lt;property id=&quot;20307&quot; value=&quot;339&quot;/&gt;&lt;/object&gt;&lt;object type=&quot;3&quot; unique_id=&quot;10062&quot;&gt;&lt;property id=&quot;20148&quot; value=&quot;5&quot;/&gt;&lt;property id=&quot;20300&quot; value=&quot;Slide 60&quot;/&gt;&lt;property id=&quot;20307&quot; value=&quot;353&quot;/&gt;&lt;/object&gt;&lt;object type=&quot;3&quot; unique_id=&quot;10063&quot;&gt;&lt;property id=&quot;20148&quot; value=&quot;5&quot;/&gt;&lt;property id=&quot;20300&quot; value=&quot;Slide 61&quot;/&gt;&lt;property id=&quot;20307&quot; value=&quot;338&quot;/&gt;&lt;/object&gt;&lt;object type=&quot;3&quot; unique_id=&quot;10064&quot;&gt;&lt;property id=&quot;20148&quot; value=&quot;5&quot;/&gt;&lt;property id=&quot;20300&quot; value=&quot;Slide 62&quot;/&gt;&lt;property id=&quot;20307&quot; value=&quot;383&quot;/&gt;&lt;/object&gt;&lt;object type=&quot;3&quot; unique_id=&quot;10065&quot;&gt;&lt;property id=&quot;20148&quot; value=&quot;5&quot;/&gt;&lt;property id=&quot;20300&quot; value=&quot;Slide 63&quot;/&gt;&lt;property id=&quot;20307&quot; value=&quot;318&quot;/&gt;&lt;/object&gt;&lt;/object&gt;&lt;object type=&quot;8&quot; unique_id=&quot;10130&quot;&gt;&lt;/object&gt;&lt;/object&gt;&lt;/database&gt;"/>
  <p:tag name="MMPROD_NEXTUNIQUEID" val="10009"/>
  <p:tag name="SECTOMILLISECCONVERTED" val="1"/>
</p:tagLst>
</file>

<file path=ppt/theme/theme1.xml><?xml version="1.0" encoding="utf-8"?>
<a:theme xmlns:a="http://schemas.openxmlformats.org/drawingml/2006/main" name="Default Design">
  <a:themeElements>
    <a:clrScheme name="Default Design 1">
      <a:dk1>
        <a:srgbClr val="000000"/>
      </a:dk1>
      <a:lt1>
        <a:srgbClr val="FFFFFF"/>
      </a:lt1>
      <a:dk2>
        <a:srgbClr val="000000"/>
      </a:dk2>
      <a:lt2>
        <a:srgbClr val="969696"/>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Default Design">
      <a:majorFont>
        <a:latin typeface="Times New Roman"/>
        <a:ea typeface=""/>
        <a:cs typeface=""/>
      </a:majorFont>
      <a:minorFont>
        <a:latin typeface="Times New Roman"/>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en-US" sz="2400" b="0" i="0" u="none" strike="noStrike" cap="none" normalizeH="0" baseline="0" smtClean="0">
            <a:ln>
              <a:noFill/>
            </a:ln>
            <a:solidFill>
              <a:schemeClr val="tx1"/>
            </a:solidFill>
            <a:effectLst/>
            <a:latin typeface="Tahoma" pitchFamily="34" charset="0"/>
          </a:defRPr>
        </a:defPPr>
      </a:lstStyle>
    </a:spDef>
    <a:lnDef>
      <a:spPr bwMode="auto">
        <a:xfrm>
          <a:off x="0" y="0"/>
          <a:ext cx="1" cy="1"/>
        </a:xfrm>
        <a:custGeom>
          <a:avLst/>
          <a:gdLst/>
          <a:ahLst/>
          <a:cxnLst/>
          <a:rect l="0" t="0" r="0" b="0"/>
          <a:pathLst/>
        </a:cu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en-US" sz="2400" b="0" i="0" u="none" strike="noStrike" cap="none" normalizeH="0" baseline="0" smtClean="0">
            <a:ln>
              <a:noFill/>
            </a:ln>
            <a:solidFill>
              <a:schemeClr val="tx1"/>
            </a:solidFill>
            <a:effectLst/>
            <a:latin typeface="Tahoma" pitchFamily="34" charset="0"/>
          </a:defRPr>
        </a:defPPr>
      </a:lstStyle>
    </a:lnDef>
  </a:objectDefaults>
  <a:extraClrSchemeLst>
    <a:extraClrScheme>
      <a:clrScheme name="Default Design 1">
        <a:dk1>
          <a:srgbClr val="000000"/>
        </a:dk1>
        <a:lt1>
          <a:srgbClr val="FFFFFF"/>
        </a:lt1>
        <a:dk2>
          <a:srgbClr val="000000"/>
        </a:dk2>
        <a:lt2>
          <a:srgbClr val="969696"/>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Default Design 2">
        <a:dk1>
          <a:srgbClr val="000000"/>
        </a:dk1>
        <a:lt1>
          <a:srgbClr val="FFFFFF"/>
        </a:lt1>
        <a:dk2>
          <a:srgbClr val="0000FF"/>
        </a:dk2>
        <a:lt2>
          <a:srgbClr val="FFFF00"/>
        </a:lt2>
        <a:accent1>
          <a:srgbClr val="FF9900"/>
        </a:accent1>
        <a:accent2>
          <a:srgbClr val="00FFFF"/>
        </a:accent2>
        <a:accent3>
          <a:srgbClr val="AAAAFF"/>
        </a:accent3>
        <a:accent4>
          <a:srgbClr val="DADADA"/>
        </a:accent4>
        <a:accent5>
          <a:srgbClr val="FFCAAA"/>
        </a:accent5>
        <a:accent6>
          <a:srgbClr val="00E7E7"/>
        </a:accent6>
        <a:hlink>
          <a:srgbClr val="FF0033"/>
        </a:hlink>
        <a:folHlink>
          <a:srgbClr val="969696"/>
        </a:folHlink>
      </a:clrScheme>
      <a:clrMap bg1="dk2" tx1="lt1" bg2="dk1" tx2="lt2" accent1="accent1" accent2="accent2" accent3="accent3" accent4="accent4" accent5="accent5" accent6="accent6" hlink="hlink" folHlink="folHlink"/>
    </a:extraClrScheme>
    <a:extraClrScheme>
      <a:clrScheme name="Default Design 3">
        <a:dk1>
          <a:srgbClr val="000000"/>
        </a:dk1>
        <a:lt1>
          <a:srgbClr val="FFFFCC"/>
        </a:lt1>
        <a:dk2>
          <a:srgbClr val="999933"/>
        </a:dk2>
        <a:lt2>
          <a:srgbClr val="808000"/>
        </a:lt2>
        <a:accent1>
          <a:srgbClr val="339933"/>
        </a:accent1>
        <a:accent2>
          <a:srgbClr val="800000"/>
        </a:accent2>
        <a:accent3>
          <a:srgbClr val="FFFFE2"/>
        </a:accent3>
        <a:accent4>
          <a:srgbClr val="000000"/>
        </a:accent4>
        <a:accent5>
          <a:srgbClr val="ADCAAD"/>
        </a:accent5>
        <a:accent6>
          <a:srgbClr val="730000"/>
        </a:accent6>
        <a:hlink>
          <a:srgbClr val="0033CC"/>
        </a:hlink>
        <a:folHlink>
          <a:srgbClr val="FFCC66"/>
        </a:folHlink>
      </a:clrScheme>
      <a:clrMap bg1="lt1" tx1="dk1" bg2="lt2" tx2="dk2" accent1="accent1" accent2="accent2" accent3="accent3" accent4="accent4" accent5="accent5" accent6="accent6" hlink="hlink" folHlink="folHlink"/>
    </a:extraClrScheme>
    <a:extraClrScheme>
      <a:clrScheme name="Default Design 4">
        <a:dk1>
          <a:srgbClr val="000000"/>
        </a:dk1>
        <a:lt1>
          <a:srgbClr val="FFFFFF"/>
        </a:lt1>
        <a:dk2>
          <a:srgbClr val="000000"/>
        </a:dk2>
        <a:lt2>
          <a:srgbClr val="393939"/>
        </a:lt2>
        <a:accent1>
          <a:srgbClr val="CBCBCB"/>
        </a:accent1>
        <a:accent2>
          <a:srgbClr val="868686"/>
        </a:accent2>
        <a:accent3>
          <a:srgbClr val="FFFFFF"/>
        </a:accent3>
        <a:accent4>
          <a:srgbClr val="000000"/>
        </a:accent4>
        <a:accent5>
          <a:srgbClr val="E2E2E2"/>
        </a:accent5>
        <a:accent6>
          <a:srgbClr val="797979"/>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Default Design 5">
        <a:dk1>
          <a:srgbClr val="000000"/>
        </a:dk1>
        <a:lt1>
          <a:srgbClr val="FFFFFF"/>
        </a:lt1>
        <a:dk2>
          <a:srgbClr val="000000"/>
        </a:dk2>
        <a:lt2>
          <a:srgbClr val="9F9F9F"/>
        </a:lt2>
        <a:accent1>
          <a:srgbClr val="FFCC66"/>
        </a:accent1>
        <a:accent2>
          <a:srgbClr val="0000FF"/>
        </a:accent2>
        <a:accent3>
          <a:srgbClr val="FFFFFF"/>
        </a:accent3>
        <a:accent4>
          <a:srgbClr val="000000"/>
        </a:accent4>
        <a:accent5>
          <a:srgbClr val="FFE2B8"/>
        </a:accent5>
        <a:accent6>
          <a:srgbClr val="0000E7"/>
        </a:accent6>
        <a:hlink>
          <a:srgbClr val="CC00CC"/>
        </a:hlink>
        <a:folHlink>
          <a:srgbClr val="C0C0C0"/>
        </a:folHlink>
      </a:clrScheme>
      <a:clrMap bg1="lt1" tx1="dk1" bg2="lt2" tx2="dk2" accent1="accent1" accent2="accent2" accent3="accent3" accent4="accent4" accent5="accent5" accent6="accent6" hlink="hlink" folHlink="folHlink"/>
    </a:extraClrScheme>
    <a:extraClrScheme>
      <a:clrScheme name="Default Design 6">
        <a:dk1>
          <a:srgbClr val="000000"/>
        </a:dk1>
        <a:lt1>
          <a:srgbClr val="FFFFFF"/>
        </a:lt1>
        <a:dk2>
          <a:srgbClr val="000000"/>
        </a:dk2>
        <a:lt2>
          <a:srgbClr val="868686"/>
        </a:lt2>
        <a:accent1>
          <a:srgbClr val="CBCBCB"/>
        </a:accent1>
        <a:accent2>
          <a:srgbClr val="0066FF"/>
        </a:accent2>
        <a:accent3>
          <a:srgbClr val="FFFFFF"/>
        </a:accent3>
        <a:accent4>
          <a:srgbClr val="000000"/>
        </a:accent4>
        <a:accent5>
          <a:srgbClr val="E2E2E2"/>
        </a:accent5>
        <a:accent6>
          <a:srgbClr val="005CE7"/>
        </a:accent6>
        <a:hlink>
          <a:srgbClr val="FF0033"/>
        </a:hlink>
        <a:folHlink>
          <a:srgbClr val="009900"/>
        </a:folHlink>
      </a:clrScheme>
      <a:clrMap bg1="lt1" tx1="dk1" bg2="lt2" tx2="dk2" accent1="accent1" accent2="accent2" accent3="accent3" accent4="accent4" accent5="accent5" accent6="accent6" hlink="hlink" folHlink="folHlink"/>
    </a:extraClrScheme>
    <a:extraClrScheme>
      <a:clrScheme name="Default Design 7">
        <a:dk1>
          <a:srgbClr val="000000"/>
        </a:dk1>
        <a:lt1>
          <a:srgbClr val="FFFFFF"/>
        </a:lt1>
        <a:dk2>
          <a:srgbClr val="000000"/>
        </a:dk2>
        <a:lt2>
          <a:srgbClr val="969696"/>
        </a:lt2>
        <a:accent1>
          <a:srgbClr val="3399FF"/>
        </a:accent1>
        <a:accent2>
          <a:srgbClr val="99FFCC"/>
        </a:accent2>
        <a:accent3>
          <a:srgbClr val="FFFFFF"/>
        </a:accent3>
        <a:accent4>
          <a:srgbClr val="000000"/>
        </a:accent4>
        <a:accent5>
          <a:srgbClr val="ADCAFF"/>
        </a:accent5>
        <a:accent6>
          <a:srgbClr val="8AE7B9"/>
        </a:accent6>
        <a:hlink>
          <a:srgbClr val="CC00CC"/>
        </a:hlink>
        <a:folHlink>
          <a:srgbClr val="B2B2B2"/>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Office Theme">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2671</TotalTime>
  <Words>2345</Words>
  <Application>Microsoft Office PowerPoint</Application>
  <PresentationFormat>On-screen Show (4:3)</PresentationFormat>
  <Paragraphs>350</Paragraphs>
  <Slides>33</Slides>
  <Notes>27</Notes>
  <HiddenSlides>0</HiddenSlides>
  <MMClips>0</MMClips>
  <ScaleCrop>false</ScaleCrop>
  <HeadingPairs>
    <vt:vector size="6" baseType="variant">
      <vt:variant>
        <vt:lpstr>Fonts Used</vt:lpstr>
      </vt:variant>
      <vt:variant>
        <vt:i4>13</vt:i4>
      </vt:variant>
      <vt:variant>
        <vt:lpstr>Theme</vt:lpstr>
      </vt:variant>
      <vt:variant>
        <vt:i4>1</vt:i4>
      </vt:variant>
      <vt:variant>
        <vt:lpstr>Slide Titles</vt:lpstr>
      </vt:variant>
      <vt:variant>
        <vt:i4>33</vt:i4>
      </vt:variant>
    </vt:vector>
  </HeadingPairs>
  <TitlesOfParts>
    <vt:vector size="47" baseType="lpstr">
      <vt:lpstr>MS PGothic</vt:lpstr>
      <vt:lpstr>Abadi</vt:lpstr>
      <vt:lpstr>Aptos Black</vt:lpstr>
      <vt:lpstr>Aptos ExtraBold</vt:lpstr>
      <vt:lpstr>Arial</vt:lpstr>
      <vt:lpstr>Arial Black</vt:lpstr>
      <vt:lpstr>Cambria Math</vt:lpstr>
      <vt:lpstr>Courier New</vt:lpstr>
      <vt:lpstr>Impact</vt:lpstr>
      <vt:lpstr>Source Sans Pro SemiBold</vt:lpstr>
      <vt:lpstr>Tahoma</vt:lpstr>
      <vt:lpstr>Times New Roman</vt:lpstr>
      <vt:lpstr>Wingdings</vt:lpstr>
      <vt:lpstr>Default Design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Building a BST</vt:lpstr>
      <vt:lpstr>Building a BST</vt:lpstr>
      <vt:lpstr>Building a BST</vt:lpstr>
      <vt:lpstr>Building a BST</vt:lpstr>
      <vt:lpstr>Building a BST</vt:lpstr>
      <vt:lpstr>Building a BST</vt:lpstr>
      <vt:lpstr>Building a BST</vt:lpstr>
      <vt:lpstr>Building a BST</vt:lpstr>
      <vt:lpstr>Building a BST</vt:lpstr>
      <vt:lpstr>Building a BST</vt:lpstr>
      <vt:lpstr>Building a BST</vt:lpstr>
      <vt:lpstr>Building a BST</vt:lpstr>
      <vt:lpstr>Building a BST</vt:lpstr>
      <vt:lpstr>Add Method</vt:lpstr>
      <vt:lpstr>Add Method</vt:lpstr>
      <vt:lpstr>PowerPoint Presentation</vt:lpstr>
      <vt:lpstr>PowerPoint Presentation</vt:lpstr>
      <vt:lpstr>PowerPoint Presentation</vt:lpstr>
      <vt:lpstr>PowerPoint Presentation</vt:lpstr>
      <vt:lpstr>PowerPoint Presentation</vt:lpstr>
      <vt:lpstr>Comparing Data Structures</vt:lpstr>
    </vt:vector>
  </TitlesOfParts>
  <Manager>www.apluscompsci.com</Manager>
  <Company>A+ Computer Science</Company>
  <LinksUpToDate>false</LinksUpToDate>
  <SharedDoc>false</SharedDoc>
  <HyperlinkBase>www.apluscompsci.com</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Binary Trees</dc:title>
  <dc:subject>Binary Trees</dc:subject>
  <dc:creator>A+ Computer Science</dc:creator>
  <cp:keywords>www.apluscompsci.com</cp:keywords>
  <dc:description>Binary Trees_x000d_
©A+ Computer Science_x000d_
www.apluscompsci.com</dc:description>
  <cp:lastModifiedBy>Weldon Jasik</cp:lastModifiedBy>
  <cp:revision>482</cp:revision>
  <cp:lastPrinted>2000-11-07T14:58:20Z</cp:lastPrinted>
  <dcterms:created xsi:type="dcterms:W3CDTF">2000-01-19T01:43:11Z</dcterms:created>
  <dcterms:modified xsi:type="dcterms:W3CDTF">2026-02-02T14:17:11Z</dcterms:modified>
  <cp:category>www.apluscompsci.com</cp:category>
</cp:coreProperties>
</file>