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9"/>
  </p:notesMasterIdLst>
  <p:handoutMasterIdLst>
    <p:handoutMasterId r:id="rId20"/>
  </p:handoutMasterIdLst>
  <p:sldIdLst>
    <p:sldId id="257" r:id="rId2"/>
    <p:sldId id="313" r:id="rId3"/>
    <p:sldId id="343" r:id="rId4"/>
    <p:sldId id="342" r:id="rId5"/>
    <p:sldId id="281" r:id="rId6"/>
    <p:sldId id="335" r:id="rId7"/>
    <p:sldId id="336" r:id="rId8"/>
    <p:sldId id="344" r:id="rId9"/>
    <p:sldId id="345" r:id="rId10"/>
    <p:sldId id="333" r:id="rId11"/>
    <p:sldId id="340" r:id="rId12"/>
    <p:sldId id="334" r:id="rId13"/>
    <p:sldId id="341" r:id="rId14"/>
    <p:sldId id="318" r:id="rId15"/>
    <p:sldId id="314" r:id="rId16"/>
    <p:sldId id="316" r:id="rId17"/>
    <p:sldId id="301" r:id="rId18"/>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3366CC"/>
    <a:srgbClr val="000099"/>
    <a:srgbClr val="008000"/>
    <a:srgbClr val="66FFFF"/>
    <a:srgbClr val="FFFFCC"/>
    <a:srgbClr val="0066FF"/>
    <a:srgbClr val="CC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3" autoAdjust="0"/>
    <p:restoredTop sz="86469" autoAdjust="0"/>
  </p:normalViewPr>
  <p:slideViewPr>
    <p:cSldViewPr snapToGrid="0">
      <p:cViewPr varScale="1">
        <p:scale>
          <a:sx n="69" d="100"/>
          <a:sy n="69" d="100"/>
        </p:scale>
        <p:origin x="336"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CCD1801F-DEAE-4FFE-A1D6-99445BF5855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2771" name="Rectangle 1027">
            <a:extLst>
              <a:ext uri="{FF2B5EF4-FFF2-40B4-BE49-F238E27FC236}">
                <a16:creationId xmlns:a16="http://schemas.microsoft.com/office/drawing/2014/main" id="{20A3624A-CF23-4A95-8479-263D28F2A353}"/>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2772" name="Rectangle 1028">
            <a:extLst>
              <a:ext uri="{FF2B5EF4-FFF2-40B4-BE49-F238E27FC236}">
                <a16:creationId xmlns:a16="http://schemas.microsoft.com/office/drawing/2014/main" id="{2560D3C0-6677-4626-B6F0-30E2D648F37D}"/>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2773" name="Rectangle 1029">
            <a:extLst>
              <a:ext uri="{FF2B5EF4-FFF2-40B4-BE49-F238E27FC236}">
                <a16:creationId xmlns:a16="http://schemas.microsoft.com/office/drawing/2014/main" id="{6F1E3573-114E-419D-9719-73C3C575F6A1}"/>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47BDB78-A737-4A3C-B041-2FA54A71B8C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E12EAB-7917-4460-91E6-60258A5BADC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0723" name="Rectangle 3">
            <a:extLst>
              <a:ext uri="{FF2B5EF4-FFF2-40B4-BE49-F238E27FC236}">
                <a16:creationId xmlns:a16="http://schemas.microsoft.com/office/drawing/2014/main" id="{9E38BFE3-CD3A-4651-B930-229E1365E947}"/>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4DF629F9-E810-4F7E-AA84-0BBABC17B21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5" name="Rectangle 5">
            <a:extLst>
              <a:ext uri="{FF2B5EF4-FFF2-40B4-BE49-F238E27FC236}">
                <a16:creationId xmlns:a16="http://schemas.microsoft.com/office/drawing/2014/main" id="{B7629FD0-0195-446E-A6A4-B9D6D07AA286}"/>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4B70D21B-C359-4683-9592-85097B14A43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0727" name="Rectangle 7">
            <a:extLst>
              <a:ext uri="{FF2B5EF4-FFF2-40B4-BE49-F238E27FC236}">
                <a16:creationId xmlns:a16="http://schemas.microsoft.com/office/drawing/2014/main" id="{B2477419-A76C-46CA-99C4-32FA314E4BB0}"/>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270AEE1-45CC-4E63-B918-7CC249E080E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0" dirty="0">
                <a:latin typeface="Arial" panose="020B0604020202020204" pitchFamily="34" charset="0"/>
                <a:cs typeface="Arial" panose="020B0604020202020204" pitchFamily="34" charset="0"/>
              </a:rPr>
              <a:t>It just so happens that a heap is a very good data structure to implement a priority queue, because the operations which are made efficient by the heap data </a:t>
            </a:r>
            <a:r>
              <a:rPr lang="en-US" altLang="en-US" sz="1200" b="0" dirty="0" err="1">
                <a:latin typeface="Arial" panose="020B0604020202020204" pitchFamily="34" charset="0"/>
                <a:cs typeface="Arial" panose="020B0604020202020204" pitchFamily="34" charset="0"/>
              </a:rPr>
              <a:t>strucure</a:t>
            </a:r>
            <a:r>
              <a:rPr lang="en-US" altLang="en-US" sz="1200" b="0" dirty="0">
                <a:latin typeface="Arial" panose="020B0604020202020204" pitchFamily="34" charset="0"/>
                <a:cs typeface="Arial" panose="020B0604020202020204" pitchFamily="34" charset="0"/>
              </a:rPr>
              <a:t> are the operations that the priority queue interface needs.</a:t>
            </a:r>
          </a:p>
          <a:p>
            <a:endParaRPr lang="en-US" dirty="0"/>
          </a:p>
        </p:txBody>
      </p:sp>
      <p:sp>
        <p:nvSpPr>
          <p:cNvPr id="4" name="Slide Number Placeholder 3"/>
          <p:cNvSpPr>
            <a:spLocks noGrp="1"/>
          </p:cNvSpPr>
          <p:nvPr>
            <p:ph type="sldNum" sz="quarter" idx="5"/>
          </p:nvPr>
        </p:nvSpPr>
        <p:spPr/>
        <p:txBody>
          <a:bodyPr/>
          <a:lstStyle/>
          <a:p>
            <a:fld id="{7270AEE1-45CC-4E63-B918-7CC249E080EA}" type="slidenum">
              <a:rPr lang="en-US" altLang="en-US" smtClean="0"/>
              <a:pPr/>
              <a:t>6</a:t>
            </a:fld>
            <a:endParaRPr lang="en-US" altLang="en-US"/>
          </a:p>
        </p:txBody>
      </p:sp>
    </p:spTree>
    <p:extLst>
      <p:ext uri="{BB962C8B-B14F-4D97-AF65-F5344CB8AC3E}">
        <p14:creationId xmlns:p14="http://schemas.microsoft.com/office/powerpoint/2010/main" val="4211660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11</a:t>
            </a:fld>
            <a:endParaRPr lang="en-US" altLang="en-US"/>
          </a:p>
        </p:txBody>
      </p:sp>
    </p:spTree>
    <p:extLst>
      <p:ext uri="{BB962C8B-B14F-4D97-AF65-F5344CB8AC3E}">
        <p14:creationId xmlns:p14="http://schemas.microsoft.com/office/powerpoint/2010/main" val="1835191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E65841B9-C432-4A79-A955-EF26C5FE338A}"/>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A21BCA29-DB42-4486-96D7-C36113A70C34}"/>
              </a:ext>
            </a:extLst>
          </p:cNvPr>
          <p:cNvSpPr>
            <a:spLocks noGrp="1" noChangeArrowheads="1"/>
          </p:cNvSpPr>
          <p:nvPr>
            <p:ph type="body" idx="1"/>
          </p:nvPr>
        </p:nvSpPr>
        <p:spPr>
          <a:noFill/>
        </p:spPr>
        <p:txBody>
          <a:bodyPr/>
          <a:lstStyle/>
          <a:p>
            <a:endParaRPr lang="en-US" altLang="en-US"/>
          </a:p>
        </p:txBody>
      </p:sp>
      <p:sp>
        <p:nvSpPr>
          <p:cNvPr id="25604" name="Slide Number Placeholder 3">
            <a:extLst>
              <a:ext uri="{FF2B5EF4-FFF2-40B4-BE49-F238E27FC236}">
                <a16:creationId xmlns:a16="http://schemas.microsoft.com/office/drawing/2014/main" id="{0EE5D495-92A6-4ED7-B436-452735D77134}"/>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EEBA019-D4B6-4704-B5A4-73145C0F5A8E}" type="slidenum">
              <a:rPr lang="en-US" altLang="en-US" sz="1200"/>
              <a:pPr/>
              <a:t>13</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B7CAF78F-A197-4A08-A2CF-30829353917E}"/>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7BE71AE9-7F78-4C3E-BD60-A32CF43713B3}"/>
              </a:ext>
            </a:extLst>
          </p:cNvPr>
          <p:cNvSpPr>
            <a:spLocks noGrp="1" noChangeArrowheads="1"/>
          </p:cNvSpPr>
          <p:nvPr>
            <p:ph type="body" idx="1"/>
          </p:nvPr>
        </p:nvSpPr>
        <p:spPr>
          <a:noFill/>
        </p:spPr>
        <p:txBody>
          <a:bodyPr/>
          <a:lstStyle/>
          <a:p>
            <a:r>
              <a:rPr lang="en-US" altLang="en-US"/>
              <a:t>The built-in iterator does not traverse the data structure in any particular order because the underlying data structure doesn't support it. A binary heap is only partially ordered, with the smallest element at the root. When you remove that, the heap is reordered so that the next smallest element is at the root. There is no efficient ordered traversal algorithm so none is provided in Java. </a:t>
            </a:r>
          </a:p>
          <a:p>
            <a:endParaRPr lang="en-US" altLang="en-US"/>
          </a:p>
        </p:txBody>
      </p:sp>
      <p:sp>
        <p:nvSpPr>
          <p:cNvPr id="11268" name="Slide Number Placeholder 3">
            <a:extLst>
              <a:ext uri="{FF2B5EF4-FFF2-40B4-BE49-F238E27FC236}">
                <a16:creationId xmlns:a16="http://schemas.microsoft.com/office/drawing/2014/main" id="{BCC27601-9E36-4D92-B7D2-6D0E7BF663A2}"/>
              </a:ext>
            </a:extLst>
          </p:cNvPr>
          <p:cNvSpPr>
            <a:spLocks noGrp="1"/>
          </p:cNvSpPr>
          <p:nvPr>
            <p:ph type="sldNum" sz="quarter" idx="5"/>
          </p:nvPr>
        </p:nvSpPr>
        <p:spPr>
          <a:noFill/>
        </p:spPr>
        <p:txBody>
          <a:bodyPr/>
          <a:lstStyle>
            <a:lvl1pPr algn="r">
              <a:defRPr sz="2800" b="1">
                <a:solidFill>
                  <a:schemeClr val="tx1"/>
                </a:solidFill>
                <a:latin typeface="Tahoma" panose="020B0604030504040204" pitchFamily="34" charset="0"/>
              </a:defRPr>
            </a:lvl1pPr>
            <a:lvl2pPr marL="742950" indent="-285750" algn="r">
              <a:defRPr sz="2800" b="1">
                <a:solidFill>
                  <a:schemeClr val="tx1"/>
                </a:solidFill>
                <a:latin typeface="Tahoma" panose="020B0604030504040204" pitchFamily="34" charset="0"/>
              </a:defRPr>
            </a:lvl2pPr>
            <a:lvl3pPr marL="1143000" indent="-228600" algn="r">
              <a:defRPr sz="2800" b="1">
                <a:solidFill>
                  <a:schemeClr val="tx1"/>
                </a:solidFill>
                <a:latin typeface="Tahoma" panose="020B0604030504040204" pitchFamily="34" charset="0"/>
              </a:defRPr>
            </a:lvl3pPr>
            <a:lvl4pPr marL="1600200" indent="-228600" algn="r">
              <a:defRPr sz="2800" b="1">
                <a:solidFill>
                  <a:schemeClr val="tx1"/>
                </a:solidFill>
                <a:latin typeface="Tahoma" panose="020B0604030504040204" pitchFamily="34" charset="0"/>
              </a:defRPr>
            </a:lvl4pPr>
            <a:lvl5pPr marL="2057400" indent="-228600" algn="r">
              <a:defRPr sz="2800" b="1">
                <a:solidFill>
                  <a:schemeClr val="tx1"/>
                </a:solidFill>
                <a:latin typeface="Tahoma" panose="020B0604030504040204" pitchFamily="34" charset="0"/>
              </a:defRPr>
            </a:lvl5pPr>
            <a:lvl6pPr marL="2514600" indent="-228600" algn="r" eaLnBrk="0" fontAlgn="base" hangingPunct="0">
              <a:spcBef>
                <a:spcPct val="0"/>
              </a:spcBef>
              <a:spcAft>
                <a:spcPct val="0"/>
              </a:spcAft>
              <a:defRPr sz="2800" b="1">
                <a:solidFill>
                  <a:schemeClr val="tx1"/>
                </a:solidFill>
                <a:latin typeface="Tahoma" panose="020B0604030504040204" pitchFamily="34" charset="0"/>
              </a:defRPr>
            </a:lvl6pPr>
            <a:lvl7pPr marL="2971800" indent="-228600" algn="r" eaLnBrk="0" fontAlgn="base" hangingPunct="0">
              <a:spcBef>
                <a:spcPct val="0"/>
              </a:spcBef>
              <a:spcAft>
                <a:spcPct val="0"/>
              </a:spcAft>
              <a:defRPr sz="2800" b="1">
                <a:solidFill>
                  <a:schemeClr val="tx1"/>
                </a:solidFill>
                <a:latin typeface="Tahoma" panose="020B0604030504040204" pitchFamily="34" charset="0"/>
              </a:defRPr>
            </a:lvl7pPr>
            <a:lvl8pPr marL="3429000" indent="-228600" algn="r" eaLnBrk="0" fontAlgn="base" hangingPunct="0">
              <a:spcBef>
                <a:spcPct val="0"/>
              </a:spcBef>
              <a:spcAft>
                <a:spcPct val="0"/>
              </a:spcAft>
              <a:defRPr sz="2800" b="1">
                <a:solidFill>
                  <a:schemeClr val="tx1"/>
                </a:solidFill>
                <a:latin typeface="Tahoma" panose="020B0604030504040204" pitchFamily="34" charset="0"/>
              </a:defRPr>
            </a:lvl8pPr>
            <a:lvl9pPr marL="3886200" indent="-228600" algn="r" eaLnBrk="0" fontAlgn="base" hangingPunct="0">
              <a:spcBef>
                <a:spcPct val="0"/>
              </a:spcBef>
              <a:spcAft>
                <a:spcPct val="0"/>
              </a:spcAft>
              <a:defRPr sz="2800" b="1">
                <a:solidFill>
                  <a:schemeClr val="tx1"/>
                </a:solidFill>
                <a:latin typeface="Tahoma" panose="020B0604030504040204" pitchFamily="34" charset="0"/>
              </a:defRPr>
            </a:lvl9pPr>
          </a:lstStyle>
          <a:p>
            <a:fld id="{60700D2D-1526-4527-B64E-134A55EA6A84}" type="slidenum">
              <a:rPr lang="en-US" altLang="en-US" sz="1200"/>
              <a:pPr/>
              <a:t>14</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D0B9C4E-2EFC-47B3-AE66-9369C16532E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BBCE74B-EDCE-44E3-866D-135836D79010}"/>
              </a:ext>
            </a:extLst>
          </p:cNvPr>
          <p:cNvSpPr>
            <a:spLocks noGrp="1" noChangeArrowheads="1"/>
          </p:cNvSpPr>
          <p:nvPr>
            <p:ph type="sldNum" sz="quarter" idx="11"/>
          </p:nvPr>
        </p:nvSpPr>
        <p:spPr>
          <a:ln/>
        </p:spPr>
        <p:txBody>
          <a:bodyPr/>
          <a:lstStyle>
            <a:lvl1pPr>
              <a:defRPr/>
            </a:lvl1pPr>
          </a:lstStyle>
          <a:p>
            <a:fld id="{D7F80C42-B06F-4610-85AD-3E89F96CA7A8}" type="slidenum">
              <a:rPr lang="en-US" altLang="en-US"/>
              <a:pPr/>
              <a:t>‹#›</a:t>
            </a:fld>
            <a:endParaRPr lang="en-US" altLang="en-US"/>
          </a:p>
        </p:txBody>
      </p:sp>
      <p:sp>
        <p:nvSpPr>
          <p:cNvPr id="6" name="Rectangle 7">
            <a:extLst>
              <a:ext uri="{FF2B5EF4-FFF2-40B4-BE49-F238E27FC236}">
                <a16:creationId xmlns:a16="http://schemas.microsoft.com/office/drawing/2014/main" id="{C8B468C3-C092-407F-B14D-C8578E18428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18001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1417229-90DD-4750-8C02-6EBFBC436E6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4812AF4-AE2F-45F7-8CBC-9C28D33E356A}"/>
              </a:ext>
            </a:extLst>
          </p:cNvPr>
          <p:cNvSpPr>
            <a:spLocks noGrp="1" noChangeArrowheads="1"/>
          </p:cNvSpPr>
          <p:nvPr>
            <p:ph type="sldNum" sz="quarter" idx="11"/>
          </p:nvPr>
        </p:nvSpPr>
        <p:spPr>
          <a:ln/>
        </p:spPr>
        <p:txBody>
          <a:bodyPr/>
          <a:lstStyle>
            <a:lvl1pPr>
              <a:defRPr/>
            </a:lvl1pPr>
          </a:lstStyle>
          <a:p>
            <a:fld id="{E9AB64FB-E1C9-48D9-97FF-2125C42C0401}" type="slidenum">
              <a:rPr lang="en-US" altLang="en-US"/>
              <a:pPr/>
              <a:t>‹#›</a:t>
            </a:fld>
            <a:endParaRPr lang="en-US" altLang="en-US"/>
          </a:p>
        </p:txBody>
      </p:sp>
      <p:sp>
        <p:nvSpPr>
          <p:cNvPr id="6" name="Rectangle 7">
            <a:extLst>
              <a:ext uri="{FF2B5EF4-FFF2-40B4-BE49-F238E27FC236}">
                <a16:creationId xmlns:a16="http://schemas.microsoft.com/office/drawing/2014/main" id="{51EB0D4F-162D-48D8-96F5-3E427C0C18CE}"/>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222410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85BD2B6-30EC-4A33-AC1B-2D19A539752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E7B08A6-42E1-4C06-822B-6C966E8707A2}"/>
              </a:ext>
            </a:extLst>
          </p:cNvPr>
          <p:cNvSpPr>
            <a:spLocks noGrp="1" noChangeArrowheads="1"/>
          </p:cNvSpPr>
          <p:nvPr>
            <p:ph type="sldNum" sz="quarter" idx="11"/>
          </p:nvPr>
        </p:nvSpPr>
        <p:spPr>
          <a:ln/>
        </p:spPr>
        <p:txBody>
          <a:bodyPr/>
          <a:lstStyle>
            <a:lvl1pPr>
              <a:defRPr/>
            </a:lvl1pPr>
          </a:lstStyle>
          <a:p>
            <a:fld id="{20ACA458-DAC5-4A5D-A38A-46920D357B0C}" type="slidenum">
              <a:rPr lang="en-US" altLang="en-US"/>
              <a:pPr/>
              <a:t>‹#›</a:t>
            </a:fld>
            <a:endParaRPr lang="en-US" altLang="en-US"/>
          </a:p>
        </p:txBody>
      </p:sp>
      <p:sp>
        <p:nvSpPr>
          <p:cNvPr id="6" name="Rectangle 7">
            <a:extLst>
              <a:ext uri="{FF2B5EF4-FFF2-40B4-BE49-F238E27FC236}">
                <a16:creationId xmlns:a16="http://schemas.microsoft.com/office/drawing/2014/main" id="{50F38A38-03A2-495E-99FD-94B0989A3791}"/>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891092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5CB60C6-780F-41C8-9BBB-B5069E8DD70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6A55A60-AFA8-44CD-9AED-805FADCA182F}"/>
              </a:ext>
            </a:extLst>
          </p:cNvPr>
          <p:cNvSpPr>
            <a:spLocks noGrp="1" noChangeArrowheads="1"/>
          </p:cNvSpPr>
          <p:nvPr>
            <p:ph type="sldNum" sz="quarter" idx="11"/>
          </p:nvPr>
        </p:nvSpPr>
        <p:spPr>
          <a:ln/>
        </p:spPr>
        <p:txBody>
          <a:bodyPr/>
          <a:lstStyle>
            <a:lvl1pPr>
              <a:defRPr/>
            </a:lvl1pPr>
          </a:lstStyle>
          <a:p>
            <a:fld id="{193E44FB-A2C1-478E-8687-C4822E94DE9F}" type="slidenum">
              <a:rPr lang="en-US" altLang="en-US"/>
              <a:pPr/>
              <a:t>‹#›</a:t>
            </a:fld>
            <a:endParaRPr lang="en-US" altLang="en-US"/>
          </a:p>
        </p:txBody>
      </p:sp>
      <p:sp>
        <p:nvSpPr>
          <p:cNvPr id="7" name="Rectangle 7">
            <a:extLst>
              <a:ext uri="{FF2B5EF4-FFF2-40B4-BE49-F238E27FC236}">
                <a16:creationId xmlns:a16="http://schemas.microsoft.com/office/drawing/2014/main" id="{14926C90-89D6-4327-9506-86204DF53863}"/>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277992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77970F9-54F5-4078-B889-0B51B6DF08A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7F0E855C-B76E-4DEE-8B96-95CA0844C629}"/>
              </a:ext>
            </a:extLst>
          </p:cNvPr>
          <p:cNvSpPr>
            <a:spLocks noGrp="1" noChangeArrowheads="1"/>
          </p:cNvSpPr>
          <p:nvPr>
            <p:ph type="sldNum" sz="quarter" idx="11"/>
          </p:nvPr>
        </p:nvSpPr>
        <p:spPr>
          <a:ln/>
        </p:spPr>
        <p:txBody>
          <a:bodyPr/>
          <a:lstStyle>
            <a:lvl1pPr>
              <a:defRPr/>
            </a:lvl1pPr>
          </a:lstStyle>
          <a:p>
            <a:fld id="{CCC4CA25-376B-4415-8578-428578C716E5}" type="slidenum">
              <a:rPr lang="en-US" altLang="en-US"/>
              <a:pPr/>
              <a:t>‹#›</a:t>
            </a:fld>
            <a:endParaRPr lang="en-US" altLang="en-US"/>
          </a:p>
        </p:txBody>
      </p:sp>
      <p:sp>
        <p:nvSpPr>
          <p:cNvPr id="9" name="Rectangle 7">
            <a:extLst>
              <a:ext uri="{FF2B5EF4-FFF2-40B4-BE49-F238E27FC236}">
                <a16:creationId xmlns:a16="http://schemas.microsoft.com/office/drawing/2014/main" id="{690D4FEE-308C-4C80-B7D0-F1622268A9AF}"/>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556758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37B41F8-91EA-4F44-9B23-A5DC8681807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DBD7C4D-7879-4FD8-89DA-5DA4EC24FA46}"/>
              </a:ext>
            </a:extLst>
          </p:cNvPr>
          <p:cNvSpPr>
            <a:spLocks noGrp="1" noChangeArrowheads="1"/>
          </p:cNvSpPr>
          <p:nvPr>
            <p:ph type="sldNum" sz="quarter" idx="11"/>
          </p:nvPr>
        </p:nvSpPr>
        <p:spPr>
          <a:ln/>
        </p:spPr>
        <p:txBody>
          <a:bodyPr/>
          <a:lstStyle>
            <a:lvl1pPr>
              <a:defRPr/>
            </a:lvl1pPr>
          </a:lstStyle>
          <a:p>
            <a:fld id="{BE7348F4-BFB9-4D6A-95FF-06BDF6AB3651}" type="slidenum">
              <a:rPr lang="en-US" altLang="en-US"/>
              <a:pPr/>
              <a:t>‹#›</a:t>
            </a:fld>
            <a:endParaRPr lang="en-US" altLang="en-US"/>
          </a:p>
        </p:txBody>
      </p:sp>
      <p:sp>
        <p:nvSpPr>
          <p:cNvPr id="5" name="Rectangle 7">
            <a:extLst>
              <a:ext uri="{FF2B5EF4-FFF2-40B4-BE49-F238E27FC236}">
                <a16:creationId xmlns:a16="http://schemas.microsoft.com/office/drawing/2014/main" id="{47E97242-F758-4FC5-AAAD-BDBD698647C2}"/>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30379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D8B08C1-DC6F-4837-AEA9-D898A9340B9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BE95C27C-6DC4-4D7C-AFE4-8F93A0272BBD}"/>
              </a:ext>
            </a:extLst>
          </p:cNvPr>
          <p:cNvSpPr>
            <a:spLocks noGrp="1" noChangeArrowheads="1"/>
          </p:cNvSpPr>
          <p:nvPr>
            <p:ph type="sldNum" sz="quarter" idx="11"/>
          </p:nvPr>
        </p:nvSpPr>
        <p:spPr>
          <a:ln/>
        </p:spPr>
        <p:txBody>
          <a:bodyPr/>
          <a:lstStyle>
            <a:lvl1pPr>
              <a:defRPr/>
            </a:lvl1pPr>
          </a:lstStyle>
          <a:p>
            <a:fld id="{2787E605-F3F9-4A8D-9AEC-6A6E0AD73ABD}" type="slidenum">
              <a:rPr lang="en-US" altLang="en-US"/>
              <a:pPr/>
              <a:t>‹#›</a:t>
            </a:fld>
            <a:endParaRPr lang="en-US" altLang="en-US"/>
          </a:p>
        </p:txBody>
      </p:sp>
      <p:sp>
        <p:nvSpPr>
          <p:cNvPr id="4" name="Rectangle 7">
            <a:extLst>
              <a:ext uri="{FF2B5EF4-FFF2-40B4-BE49-F238E27FC236}">
                <a16:creationId xmlns:a16="http://schemas.microsoft.com/office/drawing/2014/main" id="{3BFA09C1-44C3-483A-8580-0A09D6F5CB01}"/>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885010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4873C44-E5F6-47F4-8C8B-AF46CF66EF7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C60DC34-BE73-48A4-B94E-7235CB503298}"/>
              </a:ext>
            </a:extLst>
          </p:cNvPr>
          <p:cNvSpPr>
            <a:spLocks noGrp="1" noChangeArrowheads="1"/>
          </p:cNvSpPr>
          <p:nvPr>
            <p:ph type="sldNum" sz="quarter" idx="11"/>
          </p:nvPr>
        </p:nvSpPr>
        <p:spPr>
          <a:ln/>
        </p:spPr>
        <p:txBody>
          <a:bodyPr/>
          <a:lstStyle>
            <a:lvl1pPr>
              <a:defRPr/>
            </a:lvl1pPr>
          </a:lstStyle>
          <a:p>
            <a:fld id="{02FC8488-9F53-4C7F-84D0-FC858F259BF2}" type="slidenum">
              <a:rPr lang="en-US" altLang="en-US"/>
              <a:pPr/>
              <a:t>‹#›</a:t>
            </a:fld>
            <a:endParaRPr lang="en-US" altLang="en-US"/>
          </a:p>
        </p:txBody>
      </p:sp>
      <p:sp>
        <p:nvSpPr>
          <p:cNvPr id="7" name="Rectangle 7">
            <a:extLst>
              <a:ext uri="{FF2B5EF4-FFF2-40B4-BE49-F238E27FC236}">
                <a16:creationId xmlns:a16="http://schemas.microsoft.com/office/drawing/2014/main" id="{E576FB58-8BF9-4460-B1DD-CA7F4E0513EA}"/>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27011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86186A3-3B0A-442D-8267-E800F25DA79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8C28B45-E6C5-4B90-A529-61CA2BB5BA53}"/>
              </a:ext>
            </a:extLst>
          </p:cNvPr>
          <p:cNvSpPr>
            <a:spLocks noGrp="1" noChangeArrowheads="1"/>
          </p:cNvSpPr>
          <p:nvPr>
            <p:ph type="sldNum" sz="quarter" idx="11"/>
          </p:nvPr>
        </p:nvSpPr>
        <p:spPr>
          <a:ln/>
        </p:spPr>
        <p:txBody>
          <a:bodyPr/>
          <a:lstStyle>
            <a:lvl1pPr>
              <a:defRPr/>
            </a:lvl1pPr>
          </a:lstStyle>
          <a:p>
            <a:fld id="{807359C5-1FCE-4C4E-85AC-15C0645824A0}" type="slidenum">
              <a:rPr lang="en-US" altLang="en-US"/>
              <a:pPr/>
              <a:t>‹#›</a:t>
            </a:fld>
            <a:endParaRPr lang="en-US" altLang="en-US"/>
          </a:p>
        </p:txBody>
      </p:sp>
      <p:sp>
        <p:nvSpPr>
          <p:cNvPr id="7" name="Rectangle 7">
            <a:extLst>
              <a:ext uri="{FF2B5EF4-FFF2-40B4-BE49-F238E27FC236}">
                <a16:creationId xmlns:a16="http://schemas.microsoft.com/office/drawing/2014/main" id="{D1A8C45B-5053-48BD-914C-B02049784C71}"/>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29196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4AE7E9C-1133-4569-8AE9-2555591D04A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1C1424F-2913-47A5-A180-E8A4DC9A0744}"/>
              </a:ext>
            </a:extLst>
          </p:cNvPr>
          <p:cNvSpPr>
            <a:spLocks noGrp="1" noChangeArrowheads="1"/>
          </p:cNvSpPr>
          <p:nvPr>
            <p:ph type="sldNum" sz="quarter" idx="11"/>
          </p:nvPr>
        </p:nvSpPr>
        <p:spPr>
          <a:ln/>
        </p:spPr>
        <p:txBody>
          <a:bodyPr/>
          <a:lstStyle>
            <a:lvl1pPr>
              <a:defRPr/>
            </a:lvl1pPr>
          </a:lstStyle>
          <a:p>
            <a:fld id="{E51952F1-CA23-4D7A-9786-F95C8066FC49}" type="slidenum">
              <a:rPr lang="en-US" altLang="en-US"/>
              <a:pPr/>
              <a:t>‹#›</a:t>
            </a:fld>
            <a:endParaRPr lang="en-US" altLang="en-US"/>
          </a:p>
        </p:txBody>
      </p:sp>
      <p:sp>
        <p:nvSpPr>
          <p:cNvPr id="6" name="Rectangle 7">
            <a:extLst>
              <a:ext uri="{FF2B5EF4-FFF2-40B4-BE49-F238E27FC236}">
                <a16:creationId xmlns:a16="http://schemas.microsoft.com/office/drawing/2014/main" id="{7CC5699C-38CD-4012-89AB-7CBFC8D8C7D4}"/>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32960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81A42B3-F170-4408-9253-D50123A9A86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CEFB8E7-48F7-474E-A076-E84791CE8E22}"/>
              </a:ext>
            </a:extLst>
          </p:cNvPr>
          <p:cNvSpPr>
            <a:spLocks noGrp="1" noChangeArrowheads="1"/>
          </p:cNvSpPr>
          <p:nvPr>
            <p:ph type="sldNum" sz="quarter" idx="11"/>
          </p:nvPr>
        </p:nvSpPr>
        <p:spPr>
          <a:ln/>
        </p:spPr>
        <p:txBody>
          <a:bodyPr/>
          <a:lstStyle>
            <a:lvl1pPr>
              <a:defRPr/>
            </a:lvl1pPr>
          </a:lstStyle>
          <a:p>
            <a:fld id="{C745F6E7-9E8A-436B-AC99-2D81D476BCAF}" type="slidenum">
              <a:rPr lang="en-US" altLang="en-US"/>
              <a:pPr/>
              <a:t>‹#›</a:t>
            </a:fld>
            <a:endParaRPr lang="en-US" altLang="en-US"/>
          </a:p>
        </p:txBody>
      </p:sp>
      <p:sp>
        <p:nvSpPr>
          <p:cNvPr id="6" name="Rectangle 7">
            <a:extLst>
              <a:ext uri="{FF2B5EF4-FFF2-40B4-BE49-F238E27FC236}">
                <a16:creationId xmlns:a16="http://schemas.microsoft.com/office/drawing/2014/main" id="{25AA4097-5C1D-43E7-B5DB-80082FE9C0A7}"/>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2861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A06CBF2-E9E4-40D1-B019-5171DC0B73F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E4A1EA0-61B4-42ED-B44D-E29C03CDC22D}"/>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F2AC58A-A5CD-4ED6-BE6F-306381193F7C}"/>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4CC16017-18CD-4490-B90C-35448E4A4CC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FF9C88B0-69C2-4A5A-8A61-5E7C4B9CAE48}" type="slidenum">
              <a:rPr lang="en-US" altLang="en-US"/>
              <a:pPr/>
              <a:t>‹#›</a:t>
            </a:fld>
            <a:endParaRPr lang="en-US" altLang="en-US"/>
          </a:p>
        </p:txBody>
      </p:sp>
      <p:sp>
        <p:nvSpPr>
          <p:cNvPr id="1031" name="Rectangle 7">
            <a:extLst>
              <a:ext uri="{FF2B5EF4-FFF2-40B4-BE49-F238E27FC236}">
                <a16:creationId xmlns:a16="http://schemas.microsoft.com/office/drawing/2014/main" id="{E54E96FF-30E1-41C7-A694-B50B268E9B3A}"/>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1116-9B66-6DC0-5923-E8A9FB18BBAC}"/>
              </a:ext>
            </a:extLst>
          </p:cNvPr>
          <p:cNvSpPr>
            <a:spLocks noGrp="1"/>
          </p:cNvSpPr>
          <p:nvPr>
            <p:ph type="title" idx="4294967295"/>
          </p:nvPr>
        </p:nvSpPr>
        <p:spPr>
          <a:xfrm>
            <a:off x="762000" y="914400"/>
            <a:ext cx="7783670" cy="144655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8800" b="0" i="0" u="none" strike="noStrike" kern="1200" cap="none" spc="0" normalizeH="0" baseline="0" noProof="0" dirty="0">
                <a:ln w="0"/>
                <a:solidFill>
                  <a:srgbClr val="3366CC"/>
                </a:solidFill>
                <a:effectLst>
                  <a:glow rad="63500">
                    <a:schemeClr val="accent2">
                      <a:satMod val="175000"/>
                      <a:alpha val="40000"/>
                    </a:schemeClr>
                  </a:glow>
                  <a:outerShdw blurRad="38100" dist="25400" dir="5400000" algn="ctr" rotWithShape="0">
                    <a:srgbClr val="6E747A">
                      <a:alpha val="43000"/>
                    </a:srgbClr>
                  </a:outerShdw>
                </a:effectLst>
                <a:uLnTx/>
                <a:uFillTx/>
                <a:latin typeface="Tahoma" panose="020B0604030504040204" pitchFamily="34" charset="0"/>
                <a:ea typeface="+mn-ea"/>
                <a:cs typeface="+mn-cs"/>
              </a:rPr>
              <a:t>Priority Queues</a:t>
            </a:r>
          </a:p>
        </p:txBody>
      </p:sp>
      <p:pic>
        <p:nvPicPr>
          <p:cNvPr id="2050" name="Picture 2" descr="A picture of an emergency room sign">
            <a:extLst>
              <a:ext uri="{FF2B5EF4-FFF2-40B4-BE49-F238E27FC236}">
                <a16:creationId xmlns:a16="http://schemas.microsoft.com/office/drawing/2014/main" id="{CCBE4FE5-BD4A-E326-A093-4DB8D66878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6810" y="3086557"/>
            <a:ext cx="4230379" cy="2820987"/>
          </a:xfrm>
          <a:prstGeom prst="rect">
            <a:avLst/>
          </a:prstGeom>
          <a:noFill/>
          <a:extLst>
            <a:ext uri="{909E8E84-426E-40DD-AFC4-6F175D3DCCD1}">
              <a14:hiddenFill xmlns:a14="http://schemas.microsoft.com/office/drawing/2010/main">
                <a:solidFill>
                  <a:srgbClr val="FFFFFF"/>
                </a:solidFill>
              </a14:hiddenFill>
            </a:ext>
          </a:extLst>
        </p:spPr>
      </p:pic>
      <p:sp>
        <p:nvSpPr>
          <p:cNvPr id="4098" name="Footer Placeholder 3">
            <a:extLst>
              <a:ext uri="{FF2B5EF4-FFF2-40B4-BE49-F238E27FC236}">
                <a16:creationId xmlns:a16="http://schemas.microsoft.com/office/drawing/2014/main" id="{0AC3102B-9101-4577-ABED-57E9341F577A}"/>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WordArt 3">
            <a:extLst>
              <a:ext uri="{FF2B5EF4-FFF2-40B4-BE49-F238E27FC236}">
                <a16:creationId xmlns:a16="http://schemas.microsoft.com/office/drawing/2014/main" id="{48B4DB5A-7C4B-4BA5-BA1F-46C871B68105}"/>
              </a:ext>
            </a:extLst>
          </p:cNvPr>
          <p:cNvSpPr>
            <a:spLocks noGrp="1" noChangeArrowheads="1" noChangeShapeType="1" noTextEdit="1"/>
          </p:cNvSpPr>
          <p:nvPr>
            <p:ph type="title" idx="4294967295"/>
          </p:nvPr>
        </p:nvSpPr>
        <p:spPr bwMode="auto">
          <a:xfrm>
            <a:off x="2590800" y="381000"/>
            <a:ext cx="3429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5123" name="Text Box 2">
            <a:extLst>
              <a:ext uri="{FF2B5EF4-FFF2-40B4-BE49-F238E27FC236}">
                <a16:creationId xmlns:a16="http://schemas.microsoft.com/office/drawing/2014/main" id="{F11478F5-2296-47A5-9435-A18C692BE7E9}"/>
              </a:ext>
            </a:extLst>
          </p:cNvPr>
          <p:cNvSpPr txBox="1">
            <a:spLocks noChangeArrowheads="1"/>
          </p:cNvSpPr>
          <p:nvPr/>
        </p:nvSpPr>
        <p:spPr bwMode="auto">
          <a:xfrm>
            <a:off x="685800" y="2249031"/>
            <a:ext cx="8153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dirty="0">
                <a:latin typeface="Tahoma" panose="020B0604030504040204" pitchFamily="34" charset="0"/>
              </a:rPr>
              <a:t>A </a:t>
            </a:r>
            <a:r>
              <a:rPr lang="en-US" altLang="en-US" sz="3600" dirty="0" err="1">
                <a:latin typeface="Tahoma" panose="020B0604030504040204" pitchFamily="34" charset="0"/>
              </a:rPr>
              <a:t>PriorityQueue</a:t>
            </a:r>
            <a:r>
              <a:rPr lang="en-US" altLang="en-US" sz="3600" dirty="0">
                <a:latin typeface="Tahoma" panose="020B0604030504040204" pitchFamily="34" charset="0"/>
              </a:rPr>
              <a:t> is a queue structure that, when polled, removes the </a:t>
            </a:r>
            <a:r>
              <a:rPr lang="en-US" altLang="en-US" sz="3600" u="sng" dirty="0">
                <a:latin typeface="Tahoma" panose="020B0604030504040204" pitchFamily="34" charset="0"/>
              </a:rPr>
              <a:t>highest priority item</a:t>
            </a:r>
            <a:r>
              <a:rPr lang="en-US" altLang="en-US" sz="3600" dirty="0">
                <a:latin typeface="Tahoma" panose="020B0604030504040204" pitchFamily="34" charset="0"/>
              </a:rPr>
              <a:t>, not the first one added as with a normal queue.</a:t>
            </a:r>
          </a:p>
        </p:txBody>
      </p:sp>
      <p:sp>
        <p:nvSpPr>
          <p:cNvPr id="5122" name="Footer Placeholder 3">
            <a:extLst>
              <a:ext uri="{FF2B5EF4-FFF2-40B4-BE49-F238E27FC236}">
                <a16:creationId xmlns:a16="http://schemas.microsoft.com/office/drawing/2014/main" id="{31F52C4C-755D-4C52-8C36-CC9D200C70D0}"/>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picture of an emergency room entrance">
            <a:extLst>
              <a:ext uri="{FF2B5EF4-FFF2-40B4-BE49-F238E27FC236}">
                <a16:creationId xmlns:a16="http://schemas.microsoft.com/office/drawing/2014/main" id="{3BD1ED7C-7B6A-07DE-3F34-EF0E24579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028950"/>
            <a:ext cx="4572000" cy="3448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2">
            <a:extLst>
              <a:ext uri="{FF2B5EF4-FFF2-40B4-BE49-F238E27FC236}">
                <a16:creationId xmlns:a16="http://schemas.microsoft.com/office/drawing/2014/main" id="{C12F1C56-10AC-F394-5589-BDDE848F1A75}"/>
              </a:ext>
            </a:extLst>
          </p:cNvPr>
          <p:cNvSpPr txBox="1">
            <a:spLocks noChangeArrowheads="1"/>
          </p:cNvSpPr>
          <p:nvPr/>
        </p:nvSpPr>
        <p:spPr bwMode="auto">
          <a:xfrm>
            <a:off x="685800" y="207818"/>
            <a:ext cx="80391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Tahoma" panose="020B0604030504040204" pitchFamily="34" charset="0"/>
              </a:rPr>
              <a:t>An Emergency Department operates as a priority queue. A triage nurse determines the severity of patients’ ailments, and those with the most severe issues are treated first.</a:t>
            </a:r>
          </a:p>
        </p:txBody>
      </p:sp>
    </p:spTree>
    <p:extLst>
      <p:ext uri="{BB962C8B-B14F-4D97-AF65-F5344CB8AC3E}">
        <p14:creationId xmlns:p14="http://schemas.microsoft.com/office/powerpoint/2010/main" val="3257397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WordArt 3">
            <a:extLst>
              <a:ext uri="{FF2B5EF4-FFF2-40B4-BE49-F238E27FC236}">
                <a16:creationId xmlns:a16="http://schemas.microsoft.com/office/drawing/2014/main" id="{48B4DB5A-7C4B-4BA5-BA1F-46C871B68105}"/>
              </a:ext>
            </a:extLst>
          </p:cNvPr>
          <p:cNvSpPr>
            <a:spLocks noGrp="1" noChangeArrowheads="1" noChangeShapeType="1" noTextEdit="1"/>
          </p:cNvSpPr>
          <p:nvPr>
            <p:ph type="title" idx="4294967295"/>
          </p:nvPr>
        </p:nvSpPr>
        <p:spPr bwMode="auto">
          <a:xfrm>
            <a:off x="2590800" y="381000"/>
            <a:ext cx="3429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5123" name="Text Box 2">
            <a:extLst>
              <a:ext uri="{FF2B5EF4-FFF2-40B4-BE49-F238E27FC236}">
                <a16:creationId xmlns:a16="http://schemas.microsoft.com/office/drawing/2014/main" id="{F11478F5-2296-47A5-9435-A18C692BE7E9}"/>
              </a:ext>
            </a:extLst>
          </p:cNvPr>
          <p:cNvSpPr txBox="1">
            <a:spLocks noChangeArrowheads="1"/>
          </p:cNvSpPr>
          <p:nvPr/>
        </p:nvSpPr>
        <p:spPr bwMode="auto">
          <a:xfrm>
            <a:off x="685800" y="1676400"/>
            <a:ext cx="8153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The Java </a:t>
            </a:r>
            <a:r>
              <a:rPr lang="en-US" altLang="en-US" sz="2800" dirty="0" err="1">
                <a:latin typeface="Tahoma" panose="020B0604030504040204" pitchFamily="34" charset="0"/>
              </a:rPr>
              <a:t>PriorityQueue</a:t>
            </a:r>
            <a:r>
              <a:rPr lang="en-US" altLang="en-US" sz="2800" dirty="0">
                <a:latin typeface="Tahoma" panose="020B0604030504040204" pitchFamily="34" charset="0"/>
              </a:rPr>
              <a:t> is a min heap</a:t>
            </a:r>
          </a:p>
          <a:p>
            <a:pPr>
              <a:spcBef>
                <a:spcPct val="0"/>
              </a:spcBef>
              <a:buFontTx/>
              <a:buNone/>
            </a:pPr>
            <a:r>
              <a:rPr lang="en-US" altLang="en-US" sz="2800" dirty="0">
                <a:latin typeface="Tahoma" panose="020B0604030504040204" pitchFamily="34" charset="0"/>
              </a:rPr>
              <a:t>as it removes the </a:t>
            </a:r>
            <a:r>
              <a:rPr lang="en-US" altLang="en-US" sz="2800" u="sng" dirty="0">
                <a:latin typeface="Tahoma" panose="020B0604030504040204" pitchFamily="34" charset="0"/>
              </a:rPr>
              <a:t>smallest</a:t>
            </a:r>
            <a:r>
              <a:rPr lang="en-US" altLang="en-US" sz="2800" dirty="0">
                <a:latin typeface="Tahoma" panose="020B0604030504040204" pitchFamily="34" charset="0"/>
              </a:rPr>
              <a:t> items first.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The Java </a:t>
            </a:r>
            <a:r>
              <a:rPr lang="en-US" altLang="en-US" sz="2800" dirty="0" err="1">
                <a:latin typeface="Tahoma" panose="020B0604030504040204" pitchFamily="34" charset="0"/>
              </a:rPr>
              <a:t>PriorityQueue</a:t>
            </a:r>
            <a:r>
              <a:rPr lang="en-US" altLang="en-US" sz="2800" dirty="0">
                <a:latin typeface="Tahoma" panose="020B0604030504040204" pitchFamily="34" charset="0"/>
              </a:rPr>
              <a:t> stores </a:t>
            </a:r>
            <a:r>
              <a:rPr lang="en-US" altLang="en-US" sz="2800" dirty="0" err="1">
                <a:solidFill>
                  <a:schemeClr val="accent6">
                    <a:lumMod val="75000"/>
                  </a:schemeClr>
                </a:solidFill>
                <a:latin typeface="Tahoma" panose="020B0604030504040204" pitchFamily="34" charset="0"/>
              </a:rPr>
              <a:t>Comparables</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5122" name="Footer Placeholder 3">
            <a:extLst>
              <a:ext uri="{FF2B5EF4-FFF2-40B4-BE49-F238E27FC236}">
                <a16:creationId xmlns:a16="http://schemas.microsoft.com/office/drawing/2014/main" id="{31F52C4C-755D-4C52-8C36-CC9D200C70D0}"/>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extLst>
      <p:ext uri="{BB962C8B-B14F-4D97-AF65-F5344CB8AC3E}">
        <p14:creationId xmlns:p14="http://schemas.microsoft.com/office/powerpoint/2010/main" val="1030373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3" name="WordArt 35">
            <a:extLst>
              <a:ext uri="{FF2B5EF4-FFF2-40B4-BE49-F238E27FC236}">
                <a16:creationId xmlns:a16="http://schemas.microsoft.com/office/drawing/2014/main" id="{3CA16B09-B570-4F86-844F-D4ED187C87BB}"/>
              </a:ext>
            </a:extLst>
          </p:cNvPr>
          <p:cNvSpPr>
            <a:spLocks noGrp="1" noChangeArrowheads="1" noChangeShapeType="1" noTextEdit="1"/>
          </p:cNvSpPr>
          <p:nvPr>
            <p:ph type="title" idx="4294967295"/>
          </p:nvPr>
        </p:nvSpPr>
        <p:spPr bwMode="auto">
          <a:xfrm>
            <a:off x="1371600" y="533400"/>
            <a:ext cx="6248400" cy="8382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min heap</a:t>
            </a:r>
          </a:p>
        </p:txBody>
      </p:sp>
      <p:grpSp>
        <p:nvGrpSpPr>
          <p:cNvPr id="2" name="Group 1" descr="Level order:&#10;9 | 18 23 | 20 21 25 end&#10;Row-by-row description:&#10;The tree has the number 9 as its root node. This root has two children:  &#10;&#10;- The left child is 18, which has two children:&#10;  - The left child of 18 is 20.&#10;  - The right child of 18 is 21.&#10;&#10;- The right child of the root (9) is 23, which has one child:&#10;  - The left child of 23 is 25.">
            <a:extLst>
              <a:ext uri="{FF2B5EF4-FFF2-40B4-BE49-F238E27FC236}">
                <a16:creationId xmlns:a16="http://schemas.microsoft.com/office/drawing/2014/main" id="{BC43CDDA-D43E-6726-ADF9-29D477C50C9B}"/>
              </a:ext>
            </a:extLst>
          </p:cNvPr>
          <p:cNvGrpSpPr/>
          <p:nvPr/>
        </p:nvGrpSpPr>
        <p:grpSpPr>
          <a:xfrm>
            <a:off x="1219200" y="2133600"/>
            <a:ext cx="5834063" cy="1524000"/>
            <a:chOff x="1219200" y="2133600"/>
            <a:chExt cx="5834063" cy="1524000"/>
          </a:xfrm>
        </p:grpSpPr>
        <p:sp>
          <p:nvSpPr>
            <p:cNvPr id="9222" name="Oval 20">
              <a:extLst>
                <a:ext uri="{FF2B5EF4-FFF2-40B4-BE49-F238E27FC236}">
                  <a16:creationId xmlns:a16="http://schemas.microsoft.com/office/drawing/2014/main" id="{6DEF2BE8-E9B9-45C9-BBFD-ABE5402ED4A0}"/>
                </a:ext>
              </a:extLst>
            </p:cNvPr>
            <p:cNvSpPr>
              <a:spLocks noChangeArrowheads="1"/>
            </p:cNvSpPr>
            <p:nvPr/>
          </p:nvSpPr>
          <p:spPr bwMode="auto">
            <a:xfrm>
              <a:off x="20574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18</a:t>
              </a:r>
            </a:p>
          </p:txBody>
        </p:sp>
        <p:sp>
          <p:nvSpPr>
            <p:cNvPr id="9223" name="Oval 21">
              <a:extLst>
                <a:ext uri="{FF2B5EF4-FFF2-40B4-BE49-F238E27FC236}">
                  <a16:creationId xmlns:a16="http://schemas.microsoft.com/office/drawing/2014/main" id="{1A2FDAB2-9EB1-4666-A6C3-B155705C2C4B}"/>
                </a:ext>
              </a:extLst>
            </p:cNvPr>
            <p:cNvSpPr>
              <a:spLocks noChangeArrowheads="1"/>
            </p:cNvSpPr>
            <p:nvPr/>
          </p:nvSpPr>
          <p:spPr bwMode="auto">
            <a:xfrm>
              <a:off x="1219200" y="32004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20</a:t>
              </a:r>
            </a:p>
          </p:txBody>
        </p:sp>
        <p:sp>
          <p:nvSpPr>
            <p:cNvPr id="9224" name="Oval 22">
              <a:extLst>
                <a:ext uri="{FF2B5EF4-FFF2-40B4-BE49-F238E27FC236}">
                  <a16:creationId xmlns:a16="http://schemas.microsoft.com/office/drawing/2014/main" id="{6924B271-5790-4519-A45E-83B152C5B809}"/>
                </a:ext>
              </a:extLst>
            </p:cNvPr>
            <p:cNvSpPr>
              <a:spLocks noChangeArrowheads="1"/>
            </p:cNvSpPr>
            <p:nvPr/>
          </p:nvSpPr>
          <p:spPr bwMode="auto">
            <a:xfrm>
              <a:off x="2895600" y="32004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dirty="0">
                  <a:latin typeface="Tahoma" panose="020B0604030504040204" pitchFamily="34" charset="0"/>
                </a:rPr>
                <a:t>27</a:t>
              </a:r>
            </a:p>
          </p:txBody>
        </p:sp>
        <p:sp>
          <p:nvSpPr>
            <p:cNvPr id="9225" name="Oval 23">
              <a:extLst>
                <a:ext uri="{FF2B5EF4-FFF2-40B4-BE49-F238E27FC236}">
                  <a16:creationId xmlns:a16="http://schemas.microsoft.com/office/drawing/2014/main" id="{230A692C-1025-4260-ACA3-04BFA69AC71C}"/>
                </a:ext>
              </a:extLst>
            </p:cNvPr>
            <p:cNvSpPr>
              <a:spLocks noChangeArrowheads="1"/>
            </p:cNvSpPr>
            <p:nvPr/>
          </p:nvSpPr>
          <p:spPr bwMode="auto">
            <a:xfrm>
              <a:off x="62484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23</a:t>
              </a:r>
            </a:p>
          </p:txBody>
        </p:sp>
        <p:sp>
          <p:nvSpPr>
            <p:cNvPr id="9226" name="Oval 24">
              <a:extLst>
                <a:ext uri="{FF2B5EF4-FFF2-40B4-BE49-F238E27FC236}">
                  <a16:creationId xmlns:a16="http://schemas.microsoft.com/office/drawing/2014/main" id="{165FD51E-8ECA-4B7D-8059-2A345445D8DF}"/>
                </a:ext>
              </a:extLst>
            </p:cNvPr>
            <p:cNvSpPr>
              <a:spLocks noChangeArrowheads="1"/>
            </p:cNvSpPr>
            <p:nvPr/>
          </p:nvSpPr>
          <p:spPr bwMode="auto">
            <a:xfrm>
              <a:off x="5410200" y="32004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25</a:t>
              </a:r>
            </a:p>
          </p:txBody>
        </p:sp>
        <p:sp>
          <p:nvSpPr>
            <p:cNvPr id="9227" name="Oval 28">
              <a:extLst>
                <a:ext uri="{FF2B5EF4-FFF2-40B4-BE49-F238E27FC236}">
                  <a16:creationId xmlns:a16="http://schemas.microsoft.com/office/drawing/2014/main" id="{9D22314A-B560-466F-B452-DEB030A09F11}"/>
                </a:ext>
              </a:extLst>
            </p:cNvPr>
            <p:cNvSpPr>
              <a:spLocks noChangeArrowheads="1"/>
            </p:cNvSpPr>
            <p:nvPr/>
          </p:nvSpPr>
          <p:spPr bwMode="auto">
            <a:xfrm>
              <a:off x="41910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9</a:t>
              </a:r>
            </a:p>
          </p:txBody>
        </p:sp>
        <p:sp>
          <p:nvSpPr>
            <p:cNvPr id="9228" name="Line 29">
              <a:extLst>
                <a:ext uri="{FF2B5EF4-FFF2-40B4-BE49-F238E27FC236}">
                  <a16:creationId xmlns:a16="http://schemas.microsoft.com/office/drawing/2014/main" id="{E16653E3-BFC8-4B50-BAA6-244ACECC843D}"/>
                </a:ext>
              </a:extLst>
            </p:cNvPr>
            <p:cNvSpPr>
              <a:spLocks noChangeShapeType="1"/>
            </p:cNvSpPr>
            <p:nvPr/>
          </p:nvSpPr>
          <p:spPr bwMode="auto">
            <a:xfrm flipH="1">
              <a:off x="2819400" y="24384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9" name="Line 30">
              <a:extLst>
                <a:ext uri="{FF2B5EF4-FFF2-40B4-BE49-F238E27FC236}">
                  <a16:creationId xmlns:a16="http://schemas.microsoft.com/office/drawing/2014/main" id="{59DF05AB-DA0C-46E5-98D4-ADFCB35F5FE7}"/>
                </a:ext>
              </a:extLst>
            </p:cNvPr>
            <p:cNvSpPr>
              <a:spLocks noChangeShapeType="1"/>
            </p:cNvSpPr>
            <p:nvPr/>
          </p:nvSpPr>
          <p:spPr bwMode="auto">
            <a:xfrm>
              <a:off x="5029200" y="24384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0" name="Line 31">
              <a:extLst>
                <a:ext uri="{FF2B5EF4-FFF2-40B4-BE49-F238E27FC236}">
                  <a16:creationId xmlns:a16="http://schemas.microsoft.com/office/drawing/2014/main" id="{CCAE417B-FB32-47AB-B831-94ACAFFACC8B}"/>
                </a:ext>
              </a:extLst>
            </p:cNvPr>
            <p:cNvSpPr>
              <a:spLocks noChangeShapeType="1"/>
            </p:cNvSpPr>
            <p:nvPr/>
          </p:nvSpPr>
          <p:spPr bwMode="auto">
            <a:xfrm flipH="1">
              <a:off x="1905000" y="30480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1" name="Line 32">
              <a:extLst>
                <a:ext uri="{FF2B5EF4-FFF2-40B4-BE49-F238E27FC236}">
                  <a16:creationId xmlns:a16="http://schemas.microsoft.com/office/drawing/2014/main" id="{AB1666AD-BEA0-49EE-A175-3A287577B460}"/>
                </a:ext>
              </a:extLst>
            </p:cNvPr>
            <p:cNvSpPr>
              <a:spLocks noChangeShapeType="1"/>
            </p:cNvSpPr>
            <p:nvPr/>
          </p:nvSpPr>
          <p:spPr bwMode="auto">
            <a:xfrm flipH="1">
              <a:off x="6096000" y="30480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2" name="Line 33">
              <a:extLst>
                <a:ext uri="{FF2B5EF4-FFF2-40B4-BE49-F238E27FC236}">
                  <a16:creationId xmlns:a16="http://schemas.microsoft.com/office/drawing/2014/main" id="{10CC1D37-CAC8-49C2-8293-8D0B7F29AC0D}"/>
                </a:ext>
              </a:extLst>
            </p:cNvPr>
            <p:cNvSpPr>
              <a:spLocks noChangeShapeType="1"/>
            </p:cNvSpPr>
            <p:nvPr/>
          </p:nvSpPr>
          <p:spPr bwMode="auto">
            <a:xfrm>
              <a:off x="2743200" y="30480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221" name="Text Box 17">
            <a:extLst>
              <a:ext uri="{FF2B5EF4-FFF2-40B4-BE49-F238E27FC236}">
                <a16:creationId xmlns:a16="http://schemas.microsoft.com/office/drawing/2014/main" id="{C33BECF0-F50B-464B-9E35-0931A8D16B5A}"/>
              </a:ext>
            </a:extLst>
          </p:cNvPr>
          <p:cNvSpPr txBox="1">
            <a:spLocks noChangeArrowheads="1"/>
          </p:cNvSpPr>
          <p:nvPr/>
        </p:nvSpPr>
        <p:spPr bwMode="auto">
          <a:xfrm>
            <a:off x="1676400" y="4419600"/>
            <a:ext cx="6677891" cy="830997"/>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chemeClr val="accent2"/>
                </a:solidFill>
                <a:latin typeface="Tahoma" panose="020B0604030504040204" pitchFamily="34" charset="0"/>
              </a:rPr>
              <a:t>A min heap is a complete binary tree that has a root smaller than all of its children.</a:t>
            </a:r>
          </a:p>
        </p:txBody>
      </p:sp>
      <p:sp>
        <p:nvSpPr>
          <p:cNvPr id="9218" name="Footer Placeholder 3">
            <a:extLst>
              <a:ext uri="{FF2B5EF4-FFF2-40B4-BE49-F238E27FC236}">
                <a16:creationId xmlns:a16="http://schemas.microsoft.com/office/drawing/2014/main" id="{88B70949-74B1-4008-901C-D0BC11E78B54}"/>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6148" name="WordArt 3">
            <a:extLst>
              <a:ext uri="{FF2B5EF4-FFF2-40B4-BE49-F238E27FC236}">
                <a16:creationId xmlns:a16="http://schemas.microsoft.com/office/drawing/2014/main" id="{E886A210-D567-403D-9083-ABF8794CCB06}"/>
              </a:ext>
            </a:extLst>
          </p:cNvPr>
          <p:cNvSpPr>
            <a:spLocks noGrp="1" noChangeArrowheads="1" noChangeShapeType="1" noTextEdit="1"/>
          </p:cNvSpPr>
          <p:nvPr>
            <p:ph type="title" idx="4294967295"/>
          </p:nvPr>
        </p:nvSpPr>
        <p:spPr bwMode="auto">
          <a:xfrm>
            <a:off x="2743200" y="304800"/>
            <a:ext cx="2895600" cy="7620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6147" name="Text Box 2">
            <a:extLst>
              <a:ext uri="{FF2B5EF4-FFF2-40B4-BE49-F238E27FC236}">
                <a16:creationId xmlns:a16="http://schemas.microsoft.com/office/drawing/2014/main" id="{C39AD511-8C71-430E-8287-0E60F81B44DC}"/>
              </a:ext>
            </a:extLst>
          </p:cNvPr>
          <p:cNvSpPr txBox="1">
            <a:spLocks noChangeArrowheads="1"/>
          </p:cNvSpPr>
          <p:nvPr/>
        </p:nvSpPr>
        <p:spPr bwMode="auto">
          <a:xfrm>
            <a:off x="381000" y="1295400"/>
            <a:ext cx="8534400"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50000"/>
              </a:lnSpc>
              <a:spcBef>
                <a:spcPct val="0"/>
              </a:spcBef>
              <a:buFontTx/>
              <a:buNone/>
            </a:pPr>
            <a:r>
              <a:rPr lang="en-US" altLang="en-US" sz="3600" b="0">
                <a:latin typeface="Arial" panose="020B0604020202020204" pitchFamily="34" charset="0"/>
                <a:cs typeface="Arial" panose="020B0604020202020204" pitchFamily="34" charset="0"/>
              </a:rPr>
              <a:t>A priority queue is an </a:t>
            </a:r>
            <a:r>
              <a:rPr lang="en-US" altLang="en-US" sz="3600" b="0">
                <a:solidFill>
                  <a:srgbClr val="000099"/>
                </a:solidFill>
                <a:latin typeface="Arial" panose="020B0604020202020204" pitchFamily="34" charset="0"/>
                <a:cs typeface="Arial" panose="020B0604020202020204" pitchFamily="34" charset="0"/>
              </a:rPr>
              <a:t>abstract datatype</a:t>
            </a:r>
            <a:r>
              <a:rPr lang="en-US" altLang="en-US" sz="2800" b="0">
                <a:latin typeface="Arial" panose="020B0604020202020204" pitchFamily="34" charset="0"/>
                <a:cs typeface="Arial" panose="020B0604020202020204" pitchFamily="34" charset="0"/>
              </a:rPr>
              <a:t>. </a:t>
            </a:r>
          </a:p>
          <a:p>
            <a:pPr algn="ctr">
              <a:spcBef>
                <a:spcPct val="0"/>
              </a:spcBef>
              <a:buFontTx/>
              <a:buNone/>
            </a:pPr>
            <a:r>
              <a:rPr lang="en-US" altLang="en-US" sz="2800" b="0">
                <a:latin typeface="Arial" panose="020B0604020202020204" pitchFamily="34" charset="0"/>
                <a:cs typeface="Arial" panose="020B0604020202020204" pitchFamily="34" charset="0"/>
              </a:rPr>
              <a:t>It is a shorthand way of describing a particular interface and behavior, and says nothing about the underlying implementation.</a:t>
            </a:r>
          </a:p>
          <a:p>
            <a:pPr>
              <a:spcBef>
                <a:spcPct val="0"/>
              </a:spcBef>
              <a:buFontTx/>
              <a:buNone/>
            </a:pPr>
            <a:endParaRPr lang="en-US" altLang="en-US" sz="2800" b="0">
              <a:latin typeface="Arial" panose="020B0604020202020204" pitchFamily="34" charset="0"/>
              <a:cs typeface="Arial" panose="020B0604020202020204" pitchFamily="34" charset="0"/>
            </a:endParaRPr>
          </a:p>
          <a:p>
            <a:pPr algn="ctr">
              <a:lnSpc>
                <a:spcPct val="150000"/>
              </a:lnSpc>
              <a:spcBef>
                <a:spcPct val="0"/>
              </a:spcBef>
              <a:buFontTx/>
              <a:buNone/>
            </a:pPr>
            <a:r>
              <a:rPr lang="en-US" altLang="en-US" sz="3600" b="0">
                <a:latin typeface="Arial" panose="020B0604020202020204" pitchFamily="34" charset="0"/>
                <a:cs typeface="Arial" panose="020B0604020202020204" pitchFamily="34" charset="0"/>
              </a:rPr>
              <a:t>A heap is a </a:t>
            </a:r>
            <a:r>
              <a:rPr lang="en-US" altLang="en-US" sz="3600" b="0">
                <a:solidFill>
                  <a:srgbClr val="000099"/>
                </a:solidFill>
                <a:latin typeface="Arial" panose="020B0604020202020204" pitchFamily="34" charset="0"/>
                <a:cs typeface="Arial" panose="020B0604020202020204" pitchFamily="34" charset="0"/>
              </a:rPr>
              <a:t>data structure</a:t>
            </a:r>
            <a:r>
              <a:rPr lang="en-US" altLang="en-US" sz="2800" b="0">
                <a:latin typeface="Arial" panose="020B0604020202020204" pitchFamily="34" charset="0"/>
                <a:cs typeface="Arial" panose="020B0604020202020204" pitchFamily="34" charset="0"/>
              </a:rPr>
              <a:t>. </a:t>
            </a:r>
          </a:p>
          <a:p>
            <a:pPr algn="ctr">
              <a:spcBef>
                <a:spcPct val="0"/>
              </a:spcBef>
              <a:buFontTx/>
              <a:buNone/>
            </a:pPr>
            <a:r>
              <a:rPr lang="en-US" altLang="en-US" sz="2800" b="0">
                <a:latin typeface="Arial" panose="020B0604020202020204" pitchFamily="34" charset="0"/>
                <a:cs typeface="Arial" panose="020B0604020202020204" pitchFamily="34" charset="0"/>
              </a:rPr>
              <a:t>It is a name for a particular way of storing data that makes certain operations very efficient.</a:t>
            </a:r>
          </a:p>
          <a:p>
            <a:pPr>
              <a:spcBef>
                <a:spcPct val="0"/>
              </a:spcBef>
              <a:buFontTx/>
              <a:buNone/>
            </a:pPr>
            <a:endParaRPr lang="en-US" altLang="en-US" sz="2800">
              <a:latin typeface="Arial" panose="020B0604020202020204" pitchFamily="34" charset="0"/>
              <a:cs typeface="Arial" panose="020B0604020202020204" pitchFamily="34" charset="0"/>
            </a:endParaRPr>
          </a:p>
        </p:txBody>
      </p:sp>
      <p:sp>
        <p:nvSpPr>
          <p:cNvPr id="6146" name="Footer Placeholder 3">
            <a:extLst>
              <a:ext uri="{FF2B5EF4-FFF2-40B4-BE49-F238E27FC236}">
                <a16:creationId xmlns:a16="http://schemas.microsoft.com/office/drawing/2014/main" id="{978541DF-7F59-440B-8585-F54722145516}"/>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spcBef>
                <a:spcPct val="0"/>
              </a:spcBef>
              <a:buFontTx/>
              <a:buNone/>
            </a:pPr>
            <a:endParaRPr lang="en-US" altLang="en-US" sz="800" b="1"/>
          </a:p>
          <a:p>
            <a:pPr algn="l">
              <a:spcBef>
                <a:spcPct val="0"/>
              </a:spcBef>
              <a:buFontTx/>
              <a:buNone/>
            </a:pPr>
            <a:endParaRPr lang="en-US" altLang="en-US" sz="800">
              <a:latin typeface="Tahoma" panose="020B0604030504040204" pitchFamily="34" charset="0"/>
            </a:endParaRPr>
          </a:p>
          <a:p>
            <a:pPr algn="l">
              <a:spcBef>
                <a:spcPct val="0"/>
              </a:spcBef>
              <a:buFontTx/>
              <a:buNone/>
            </a:pPr>
            <a:endParaRPr lang="en-US" altLang="en-US" sz="800" b="1">
              <a:latin typeface="Tahoma" panose="020B0604030504040204" pitchFamily="34" charset="0"/>
            </a:endParaRPr>
          </a:p>
          <a:p>
            <a:pPr algn="l">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7172" name="WordArt 3">
            <a:extLst>
              <a:ext uri="{FF2B5EF4-FFF2-40B4-BE49-F238E27FC236}">
                <a16:creationId xmlns:a16="http://schemas.microsoft.com/office/drawing/2014/main" id="{6F4EF0B8-73D5-42E5-B26D-B6615CF69CB0}"/>
              </a:ext>
            </a:extLst>
          </p:cNvPr>
          <p:cNvSpPr>
            <a:spLocks noGrp="1" noChangeArrowheads="1" noChangeShapeType="1" noTextEdit="1"/>
          </p:cNvSpPr>
          <p:nvPr>
            <p:ph type="title" idx="4294967295"/>
          </p:nvPr>
        </p:nvSpPr>
        <p:spPr bwMode="auto">
          <a:xfrm>
            <a:off x="3200400" y="176213"/>
            <a:ext cx="2514600" cy="661987"/>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7171" name="Text Box 2">
            <a:extLst>
              <a:ext uri="{FF2B5EF4-FFF2-40B4-BE49-F238E27FC236}">
                <a16:creationId xmlns:a16="http://schemas.microsoft.com/office/drawing/2014/main" id="{A21B2ED0-FB3D-412B-BBC3-F9329589B457}"/>
              </a:ext>
            </a:extLst>
          </p:cNvPr>
          <p:cNvSpPr txBox="1">
            <a:spLocks noChangeArrowheads="1"/>
          </p:cNvSpPr>
          <p:nvPr/>
        </p:nvSpPr>
        <p:spPr bwMode="auto">
          <a:xfrm>
            <a:off x="228600" y="1112838"/>
            <a:ext cx="8534400" cy="581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b="0" dirty="0">
                <a:latin typeface="Arial" panose="020B0604020202020204" pitchFamily="34" charset="0"/>
                <a:cs typeface="Arial" panose="020B0604020202020204" pitchFamily="34" charset="0"/>
              </a:rPr>
              <a:t>A </a:t>
            </a:r>
            <a:r>
              <a:rPr lang="en-US" altLang="en-US" sz="3600" dirty="0">
                <a:latin typeface="Arial" panose="020B0604020202020204" pitchFamily="34" charset="0"/>
                <a:cs typeface="Arial" panose="020B0604020202020204" pitchFamily="34" charset="0"/>
              </a:rPr>
              <a:t>priority queue </a:t>
            </a:r>
            <a:r>
              <a:rPr lang="en-US" altLang="en-US" sz="3600" b="0" dirty="0">
                <a:latin typeface="Arial" panose="020B0604020202020204" pitchFamily="34" charset="0"/>
                <a:cs typeface="Arial" panose="020B0604020202020204" pitchFamily="34" charset="0"/>
              </a:rPr>
              <a:t>is an </a:t>
            </a:r>
            <a:r>
              <a:rPr lang="en-US" altLang="en-US" sz="3600" b="0" dirty="0">
                <a:solidFill>
                  <a:srgbClr val="000099"/>
                </a:solidFill>
                <a:latin typeface="Arial" panose="020B0604020202020204" pitchFamily="34" charset="0"/>
                <a:cs typeface="Arial" panose="020B0604020202020204" pitchFamily="34" charset="0"/>
              </a:rPr>
              <a:t>abstract datatype</a:t>
            </a:r>
            <a:r>
              <a:rPr lang="en-US" altLang="en-US" sz="2800" b="0" dirty="0">
                <a:latin typeface="Arial" panose="020B0604020202020204" pitchFamily="34" charset="0"/>
                <a:cs typeface="Arial" panose="020B0604020202020204" pitchFamily="34" charset="0"/>
              </a:rPr>
              <a:t>. </a:t>
            </a:r>
          </a:p>
          <a:p>
            <a:pPr algn="ctr">
              <a:spcBef>
                <a:spcPct val="0"/>
              </a:spcBef>
              <a:buFontTx/>
              <a:buNone/>
            </a:pPr>
            <a:endParaRPr lang="en-US" altLang="en-US" sz="2800" b="0" dirty="0">
              <a:latin typeface="Arial" panose="020B0604020202020204" pitchFamily="34" charset="0"/>
              <a:cs typeface="Arial" panose="020B0604020202020204" pitchFamily="34" charset="0"/>
            </a:endParaRPr>
          </a:p>
          <a:p>
            <a:pPr algn="ctr">
              <a:spcBef>
                <a:spcPct val="0"/>
              </a:spcBef>
              <a:buFontTx/>
              <a:buNone/>
            </a:pPr>
            <a:r>
              <a:rPr lang="en-US" altLang="en-US" sz="3600" b="0" dirty="0">
                <a:latin typeface="Arial" panose="020B0604020202020204" pitchFamily="34" charset="0"/>
                <a:cs typeface="Arial" panose="020B0604020202020204" pitchFamily="34" charset="0"/>
              </a:rPr>
              <a:t>A </a:t>
            </a:r>
            <a:r>
              <a:rPr lang="en-US" altLang="en-US" sz="3600" dirty="0">
                <a:latin typeface="Arial" panose="020B0604020202020204" pitchFamily="34" charset="0"/>
                <a:cs typeface="Arial" panose="020B0604020202020204" pitchFamily="34" charset="0"/>
              </a:rPr>
              <a:t>heap</a:t>
            </a:r>
            <a:r>
              <a:rPr lang="en-US" altLang="en-US" sz="3600" b="0" dirty="0">
                <a:latin typeface="Arial" panose="020B0604020202020204" pitchFamily="34" charset="0"/>
                <a:cs typeface="Arial" panose="020B0604020202020204" pitchFamily="34" charset="0"/>
              </a:rPr>
              <a:t> is a </a:t>
            </a:r>
            <a:r>
              <a:rPr lang="en-US" altLang="en-US" sz="3600" b="0" dirty="0">
                <a:solidFill>
                  <a:srgbClr val="000099"/>
                </a:solidFill>
                <a:latin typeface="Arial" panose="020B0604020202020204" pitchFamily="34" charset="0"/>
                <a:cs typeface="Arial" panose="020B0604020202020204" pitchFamily="34" charset="0"/>
              </a:rPr>
              <a:t>data structure</a:t>
            </a:r>
            <a:r>
              <a:rPr lang="en-US" altLang="en-US" sz="2800" b="0" dirty="0">
                <a:latin typeface="Arial" panose="020B0604020202020204" pitchFamily="34" charset="0"/>
                <a:cs typeface="Arial" panose="020B0604020202020204" pitchFamily="34" charset="0"/>
              </a:rPr>
              <a:t>. </a:t>
            </a:r>
          </a:p>
          <a:p>
            <a:pPr>
              <a:spcBef>
                <a:spcPct val="0"/>
              </a:spcBef>
              <a:buFontTx/>
              <a:buNone/>
            </a:pPr>
            <a:endParaRPr lang="en-US" altLang="en-US" sz="2800" b="0" dirty="0">
              <a:latin typeface="Arial" panose="020B0604020202020204" pitchFamily="34" charset="0"/>
              <a:cs typeface="Arial" panose="020B0604020202020204" pitchFamily="34" charset="0"/>
            </a:endParaRPr>
          </a:p>
          <a:p>
            <a:pPr algn="ctr">
              <a:spcBef>
                <a:spcPct val="0"/>
              </a:spcBef>
              <a:buFontTx/>
              <a:buNone/>
            </a:pPr>
            <a:r>
              <a:rPr lang="en-US" altLang="en-US" sz="3600" b="0" dirty="0">
                <a:latin typeface="Arial" panose="020B0604020202020204" pitchFamily="34" charset="0"/>
                <a:cs typeface="Arial" panose="020B0604020202020204" pitchFamily="34" charset="0"/>
              </a:rPr>
              <a:t>It just so happens that a heap is a very good data structure to implement a priority queue, because the operations which are made efficient by the heap data </a:t>
            </a:r>
            <a:r>
              <a:rPr lang="en-US" altLang="en-US" sz="3600" b="0" dirty="0" err="1">
                <a:latin typeface="Arial" panose="020B0604020202020204" pitchFamily="34" charset="0"/>
                <a:cs typeface="Arial" panose="020B0604020202020204" pitchFamily="34" charset="0"/>
              </a:rPr>
              <a:t>strucure</a:t>
            </a:r>
            <a:r>
              <a:rPr lang="en-US" altLang="en-US" sz="3600" b="0" dirty="0">
                <a:latin typeface="Arial" panose="020B0604020202020204" pitchFamily="34" charset="0"/>
                <a:cs typeface="Arial" panose="020B0604020202020204" pitchFamily="34" charset="0"/>
              </a:rPr>
              <a:t> are the operations that the priority queue interface needs.</a:t>
            </a:r>
          </a:p>
          <a:p>
            <a:pPr>
              <a:spcBef>
                <a:spcPct val="0"/>
              </a:spcBef>
              <a:buFontTx/>
              <a:buNone/>
            </a:pPr>
            <a:endParaRPr lang="en-US" altLang="en-US" sz="2800" dirty="0">
              <a:latin typeface="Arial" panose="020B0604020202020204" pitchFamily="34" charset="0"/>
              <a:cs typeface="Arial" panose="020B0604020202020204" pitchFamily="34" charset="0"/>
            </a:endParaRPr>
          </a:p>
        </p:txBody>
      </p:sp>
      <p:sp>
        <p:nvSpPr>
          <p:cNvPr id="7170" name="Footer Placeholder 3">
            <a:extLst>
              <a:ext uri="{FF2B5EF4-FFF2-40B4-BE49-F238E27FC236}">
                <a16:creationId xmlns:a16="http://schemas.microsoft.com/office/drawing/2014/main" id="{997A4589-DFAD-47A9-837D-37AEDE540D04}"/>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spcBef>
                <a:spcPct val="0"/>
              </a:spcBef>
              <a:buFontTx/>
              <a:buNone/>
            </a:pPr>
            <a:endParaRPr lang="en-US" altLang="en-US" sz="800" b="1"/>
          </a:p>
          <a:p>
            <a:pPr algn="l">
              <a:spcBef>
                <a:spcPct val="0"/>
              </a:spcBef>
              <a:buFontTx/>
              <a:buNone/>
            </a:pPr>
            <a:endParaRPr lang="en-US" altLang="en-US" sz="800">
              <a:latin typeface="Tahoma" panose="020B0604030504040204" pitchFamily="34" charset="0"/>
            </a:endParaRPr>
          </a:p>
          <a:p>
            <a:pPr algn="l">
              <a:spcBef>
                <a:spcPct val="0"/>
              </a:spcBef>
              <a:buFontTx/>
              <a:buNone/>
            </a:pPr>
            <a:endParaRPr lang="en-US" altLang="en-US" sz="800" b="1">
              <a:latin typeface="Tahoma" panose="020B0604030504040204" pitchFamily="34" charset="0"/>
            </a:endParaRPr>
          </a:p>
          <a:p>
            <a:pPr algn="l">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7172" name="WordArt 3">
            <a:extLst>
              <a:ext uri="{FF2B5EF4-FFF2-40B4-BE49-F238E27FC236}">
                <a16:creationId xmlns:a16="http://schemas.microsoft.com/office/drawing/2014/main" id="{6F4EF0B8-73D5-42E5-B26D-B6615CF69CB0}"/>
              </a:ext>
            </a:extLst>
          </p:cNvPr>
          <p:cNvSpPr>
            <a:spLocks noGrp="1" noChangeArrowheads="1" noChangeShapeType="1" noTextEdit="1"/>
          </p:cNvSpPr>
          <p:nvPr>
            <p:ph type="title" idx="4294967295"/>
          </p:nvPr>
        </p:nvSpPr>
        <p:spPr bwMode="auto">
          <a:xfrm>
            <a:off x="3200400" y="176213"/>
            <a:ext cx="2514600" cy="661987"/>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7171" name="Text Box 2">
            <a:extLst>
              <a:ext uri="{FF2B5EF4-FFF2-40B4-BE49-F238E27FC236}">
                <a16:creationId xmlns:a16="http://schemas.microsoft.com/office/drawing/2014/main" id="{A21B2ED0-FB3D-412B-BBC3-F9329589B457}"/>
              </a:ext>
            </a:extLst>
          </p:cNvPr>
          <p:cNvSpPr txBox="1">
            <a:spLocks noChangeArrowheads="1"/>
          </p:cNvSpPr>
          <p:nvPr/>
        </p:nvSpPr>
        <p:spPr bwMode="auto">
          <a:xfrm>
            <a:off x="304800" y="1399308"/>
            <a:ext cx="85344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400" dirty="0">
                <a:latin typeface="Arial" panose="020B0604020202020204" pitchFamily="34" charset="0"/>
                <a:cs typeface="Arial" panose="020B0604020202020204" pitchFamily="34" charset="0"/>
              </a:rPr>
              <a:t>Could a sorted array be used to implement a PQ?</a:t>
            </a:r>
            <a:endParaRPr lang="en-US" altLang="en-US" sz="3600" dirty="0">
              <a:latin typeface="Arial" panose="020B0604020202020204" pitchFamily="34" charset="0"/>
              <a:cs typeface="Arial" panose="020B0604020202020204" pitchFamily="34" charset="0"/>
            </a:endParaRPr>
          </a:p>
        </p:txBody>
      </p:sp>
      <p:sp>
        <p:nvSpPr>
          <p:cNvPr id="4" name="Text Box 2">
            <a:extLst>
              <a:ext uri="{FF2B5EF4-FFF2-40B4-BE49-F238E27FC236}">
                <a16:creationId xmlns:a16="http://schemas.microsoft.com/office/drawing/2014/main" id="{FBC203E3-D32F-7585-202A-1DECB9CEE555}"/>
              </a:ext>
            </a:extLst>
          </p:cNvPr>
          <p:cNvSpPr txBox="1">
            <a:spLocks noChangeArrowheads="1"/>
          </p:cNvSpPr>
          <p:nvPr/>
        </p:nvSpPr>
        <p:spPr bwMode="auto">
          <a:xfrm>
            <a:off x="190500" y="3061913"/>
            <a:ext cx="8534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400" dirty="0">
                <a:latin typeface="Arial" panose="020B0604020202020204" pitchFamily="34" charset="0"/>
                <a:cs typeface="Arial" panose="020B0604020202020204" pitchFamily="34" charset="0"/>
              </a:rPr>
              <a:t>Yes, but we don’t use that.</a:t>
            </a:r>
          </a:p>
        </p:txBody>
      </p:sp>
      <p:sp>
        <p:nvSpPr>
          <p:cNvPr id="3" name="TextBox 2">
            <a:extLst>
              <a:ext uri="{FF2B5EF4-FFF2-40B4-BE49-F238E27FC236}">
                <a16:creationId xmlns:a16="http://schemas.microsoft.com/office/drawing/2014/main" id="{0DF4ECD4-DE1C-5D28-DDA2-B1DED487E7F1}"/>
              </a:ext>
            </a:extLst>
          </p:cNvPr>
          <p:cNvSpPr txBox="1"/>
          <p:nvPr/>
        </p:nvSpPr>
        <p:spPr>
          <a:xfrm>
            <a:off x="2171700" y="4142508"/>
            <a:ext cx="4572000" cy="769441"/>
          </a:xfrm>
          <a:prstGeom prst="rect">
            <a:avLst/>
          </a:prstGeom>
          <a:noFill/>
        </p:spPr>
        <p:txBody>
          <a:bodyPr wrap="square">
            <a:spAutoFit/>
          </a:bodyPr>
          <a:lstStyle/>
          <a:p>
            <a:pPr algn="ctr">
              <a:spcBef>
                <a:spcPct val="0"/>
              </a:spcBef>
              <a:buFontTx/>
              <a:buNone/>
            </a:pPr>
            <a:r>
              <a:rPr lang="en-US" altLang="en-US" sz="4400" dirty="0">
                <a:latin typeface="Arial" panose="020B0604020202020204" pitchFamily="34" charset="0"/>
                <a:cs typeface="Arial" panose="020B0604020202020204" pitchFamily="34" charset="0"/>
              </a:rPr>
              <a:t>Why not?</a:t>
            </a:r>
          </a:p>
        </p:txBody>
      </p:sp>
      <p:sp>
        <p:nvSpPr>
          <p:cNvPr id="7170" name="Footer Placeholder 3">
            <a:extLst>
              <a:ext uri="{FF2B5EF4-FFF2-40B4-BE49-F238E27FC236}">
                <a16:creationId xmlns:a16="http://schemas.microsoft.com/office/drawing/2014/main" id="{997A4589-DFAD-47A9-837D-37AEDE540D04}"/>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spcBef>
                <a:spcPct val="0"/>
              </a:spcBef>
              <a:buFontTx/>
              <a:buNone/>
            </a:pPr>
            <a:endParaRPr lang="en-US" altLang="en-US" sz="800" b="1"/>
          </a:p>
          <a:p>
            <a:pPr algn="l">
              <a:spcBef>
                <a:spcPct val="0"/>
              </a:spcBef>
              <a:buFontTx/>
              <a:buNone/>
            </a:pPr>
            <a:endParaRPr lang="en-US" altLang="en-US" sz="800">
              <a:latin typeface="Tahoma" panose="020B0604030504040204" pitchFamily="34" charset="0"/>
            </a:endParaRPr>
          </a:p>
          <a:p>
            <a:pPr algn="l">
              <a:spcBef>
                <a:spcPct val="0"/>
              </a:spcBef>
              <a:buFontTx/>
              <a:buNone/>
            </a:pPr>
            <a:endParaRPr lang="en-US" altLang="en-US" sz="800" b="1">
              <a:latin typeface="Tahoma" panose="020B0604030504040204" pitchFamily="34" charset="0"/>
            </a:endParaRPr>
          </a:p>
          <a:p>
            <a:pPr algn="l">
              <a:spcBef>
                <a:spcPct val="0"/>
              </a:spcBef>
              <a:buFontTx/>
              <a:buNone/>
            </a:pPr>
            <a:r>
              <a:rPr lang="en-US" altLang="en-US" sz="800" b="1">
                <a:latin typeface="Tahoma" panose="020B0604030504040204" pitchFamily="34" charset="0"/>
              </a:rPr>
              <a:t>© A+ Computer Science  -  www.apluscompsci.com</a:t>
            </a:r>
          </a:p>
        </p:txBody>
      </p:sp>
    </p:spTree>
    <p:extLst>
      <p:ext uri="{BB962C8B-B14F-4D97-AF65-F5344CB8AC3E}">
        <p14:creationId xmlns:p14="http://schemas.microsoft.com/office/powerpoint/2010/main" val="901175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87AB8D5-16E0-A77F-604B-4B5F3B5BD9B1}"/>
              </a:ext>
            </a:extLst>
          </p:cNvPr>
          <p:cNvSpPr txBox="1">
            <a:spLocks noGrp="1"/>
          </p:cNvSpPr>
          <p:nvPr>
            <p:ph type="title" idx="4294967295"/>
          </p:nvPr>
        </p:nvSpPr>
        <p:spPr>
          <a:xfrm>
            <a:off x="2118730" y="5068"/>
            <a:ext cx="4860073" cy="73539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0" fontAlgn="base" latinLnBrk="0" hangingPunct="0">
              <a:lnSpc>
                <a:spcPct val="114000"/>
              </a:lnSpc>
              <a:spcBef>
                <a:spcPct val="0"/>
              </a:spcBef>
              <a:spcAft>
                <a:spcPct val="0"/>
              </a:spcAft>
              <a:buClrTx/>
              <a:buSzTx/>
              <a:buFontTx/>
              <a:buNone/>
              <a:tabLst/>
              <a:defRPr/>
            </a:pPr>
            <a:r>
              <a:rPr kumimoji="0" lang="en-US" altLang="en-US" sz="4000" b="1"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n-ea"/>
                <a:cs typeface="Arial" panose="020B0604020202020204" pitchFamily="34" charset="0"/>
              </a:rPr>
              <a:t>Why use a heap?</a:t>
            </a:r>
          </a:p>
        </p:txBody>
      </p:sp>
      <p:graphicFrame>
        <p:nvGraphicFramePr>
          <p:cNvPr id="2" name="Table 1">
            <a:extLst>
              <a:ext uri="{FF2B5EF4-FFF2-40B4-BE49-F238E27FC236}">
                <a16:creationId xmlns:a16="http://schemas.microsoft.com/office/drawing/2014/main" id="{C6A79E80-BB67-B0C7-DBBF-257FA29DA0F5}"/>
              </a:ext>
            </a:extLst>
          </p:cNvPr>
          <p:cNvGraphicFramePr>
            <a:graphicFrameLocks noGrp="1"/>
          </p:cNvGraphicFramePr>
          <p:nvPr>
            <p:extLst>
              <p:ext uri="{D42A27DB-BD31-4B8C-83A1-F6EECF244321}">
                <p14:modId xmlns:p14="http://schemas.microsoft.com/office/powerpoint/2010/main" val="282991424"/>
              </p:ext>
            </p:extLst>
          </p:nvPr>
        </p:nvGraphicFramePr>
        <p:xfrm>
          <a:off x="96644" y="884044"/>
          <a:ext cx="9047356" cy="2316480"/>
        </p:xfrm>
        <a:graphic>
          <a:graphicData uri="http://schemas.openxmlformats.org/drawingml/2006/table">
            <a:tbl>
              <a:tblPr firstRow="1" bandRow="1">
                <a:tableStyleId>{5C22544A-7EE6-4342-B048-85BDC9FD1C3A}</a:tableStyleId>
              </a:tblPr>
              <a:tblGrid>
                <a:gridCol w="6348761">
                  <a:extLst>
                    <a:ext uri="{9D8B030D-6E8A-4147-A177-3AD203B41FA5}">
                      <a16:colId xmlns:a16="http://schemas.microsoft.com/office/drawing/2014/main" val="897955460"/>
                    </a:ext>
                  </a:extLst>
                </a:gridCol>
                <a:gridCol w="2698595">
                  <a:extLst>
                    <a:ext uri="{9D8B030D-6E8A-4147-A177-3AD203B41FA5}">
                      <a16:colId xmlns:a16="http://schemas.microsoft.com/office/drawing/2014/main" val="1412983074"/>
                    </a:ext>
                  </a:extLst>
                </a:gridCol>
              </a:tblGrid>
              <a:tr h="370840">
                <a:tc>
                  <a:txBody>
                    <a:bodyPr/>
                    <a:lstStyle/>
                    <a:p>
                      <a:pPr algn="ctr"/>
                      <a:r>
                        <a:rPr lang="en-US" sz="3200" dirty="0">
                          <a:latin typeface="Abadi" panose="020B0604020104020204" pitchFamily="34" charset="0"/>
                        </a:rPr>
                        <a:t>Operation</a:t>
                      </a:r>
                    </a:p>
                  </a:txBody>
                  <a:tcPr/>
                </a:tc>
                <a:tc>
                  <a:txBody>
                    <a:bodyPr/>
                    <a:lstStyle/>
                    <a:p>
                      <a:pPr algn="ctr"/>
                      <a:r>
                        <a:rPr lang="en-US" sz="3200" dirty="0">
                          <a:latin typeface="Abadi" panose="020B0604020104020204" pitchFamily="34" charset="0"/>
                        </a:rPr>
                        <a:t>Big O</a:t>
                      </a:r>
                    </a:p>
                  </a:txBody>
                  <a:tcPr/>
                </a:tc>
                <a:extLst>
                  <a:ext uri="{0D108BD9-81ED-4DB2-BD59-A6C34878D82A}">
                    <a16:rowId xmlns:a16="http://schemas.microsoft.com/office/drawing/2014/main" val="1893197528"/>
                  </a:ext>
                </a:extLst>
              </a:tr>
              <a:tr h="370840">
                <a:tc>
                  <a:txBody>
                    <a:bodyPr/>
                    <a:lstStyle/>
                    <a:p>
                      <a:pPr algn="ctr"/>
                      <a:r>
                        <a:rPr lang="en-US" sz="3200" dirty="0">
                          <a:latin typeface="Abadi" panose="020B0604020104020204" pitchFamily="34" charset="0"/>
                        </a:rPr>
                        <a:t>Adding to a heap</a:t>
                      </a:r>
                    </a:p>
                  </a:txBody>
                  <a:tcPr/>
                </a:tc>
                <a:tc>
                  <a:txBody>
                    <a:bodyPr/>
                    <a:lstStyle/>
                    <a:p>
                      <a:pPr algn="ctr"/>
                      <a:r>
                        <a:rPr lang="en-US" sz="3200" dirty="0">
                          <a:latin typeface="Abadi" panose="020B0604020104020204" pitchFamily="34" charset="0"/>
                        </a:rPr>
                        <a:t>O(log n)</a:t>
                      </a:r>
                    </a:p>
                  </a:txBody>
                  <a:tcPr/>
                </a:tc>
                <a:extLst>
                  <a:ext uri="{0D108BD9-81ED-4DB2-BD59-A6C34878D82A}">
                    <a16:rowId xmlns:a16="http://schemas.microsoft.com/office/drawing/2014/main" val="1311686429"/>
                  </a:ext>
                </a:extLst>
              </a:tr>
              <a:tr h="370840">
                <a:tc>
                  <a:txBody>
                    <a:bodyPr/>
                    <a:lstStyle/>
                    <a:p>
                      <a:pPr algn="ctr"/>
                      <a:r>
                        <a:rPr lang="en-US" sz="3200" dirty="0">
                          <a:latin typeface="Abadi" panose="020B0604020104020204" pitchFamily="34" charset="0"/>
                        </a:rPr>
                        <a:t>Adding to a sorted array</a:t>
                      </a:r>
                    </a:p>
                  </a:txBody>
                  <a:tcPr/>
                </a:tc>
                <a:tc>
                  <a:txBody>
                    <a:bodyPr/>
                    <a:lstStyle/>
                    <a:p>
                      <a:pPr algn="ctr"/>
                      <a:r>
                        <a:rPr lang="en-US" sz="3200" dirty="0">
                          <a:latin typeface="Abadi" panose="020B0604020104020204" pitchFamily="34" charset="0"/>
                        </a:rPr>
                        <a:t>O(n)</a:t>
                      </a:r>
                    </a:p>
                  </a:txBody>
                  <a:tcPr/>
                </a:tc>
                <a:extLst>
                  <a:ext uri="{0D108BD9-81ED-4DB2-BD59-A6C34878D82A}">
                    <a16:rowId xmlns:a16="http://schemas.microsoft.com/office/drawing/2014/main" val="765262708"/>
                  </a:ext>
                </a:extLst>
              </a:tr>
              <a:tr h="370840">
                <a:tc>
                  <a:txBody>
                    <a:bodyPr/>
                    <a:lstStyle/>
                    <a:p>
                      <a:pPr algn="ctr"/>
                      <a:r>
                        <a:rPr lang="en-US" sz="3200" dirty="0">
                          <a:latin typeface="Abadi" panose="020B0604020104020204" pitchFamily="34" charset="0"/>
                        </a:rPr>
                        <a:t>Sorting an array</a:t>
                      </a:r>
                    </a:p>
                  </a:txBody>
                  <a:tcPr/>
                </a:tc>
                <a:tc>
                  <a:txBody>
                    <a:bodyPr/>
                    <a:lstStyle/>
                    <a:p>
                      <a:pPr algn="ctr"/>
                      <a:r>
                        <a:rPr lang="en-US" sz="3200" dirty="0">
                          <a:latin typeface="Abadi" panose="020B0604020104020204" pitchFamily="34" charset="0"/>
                        </a:rPr>
                        <a:t>O(n log n)</a:t>
                      </a:r>
                    </a:p>
                  </a:txBody>
                  <a:tcPr/>
                </a:tc>
                <a:extLst>
                  <a:ext uri="{0D108BD9-81ED-4DB2-BD59-A6C34878D82A}">
                    <a16:rowId xmlns:a16="http://schemas.microsoft.com/office/drawing/2014/main" val="2365016042"/>
                  </a:ext>
                </a:extLst>
              </a:tr>
            </a:tbl>
          </a:graphicData>
        </a:graphic>
      </p:graphicFrame>
      <p:pic>
        <p:nvPicPr>
          <p:cNvPr id="3" name="Picture 6" descr="A graph showing the different Big O graphs. Here they are in order of growth (i.e. from best to worst): O(1), O(log n), O(n), O(n log n), O(n^2), O(2^n)">
            <a:extLst>
              <a:ext uri="{FF2B5EF4-FFF2-40B4-BE49-F238E27FC236}">
                <a16:creationId xmlns:a16="http://schemas.microsoft.com/office/drawing/2014/main" id="{4A035069-D43F-5658-A6CD-B366307F2E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0" t="22834" r="4858" b="21892"/>
          <a:stretch/>
        </p:blipFill>
        <p:spPr bwMode="auto">
          <a:xfrm>
            <a:off x="947854" y="3429000"/>
            <a:ext cx="7449014" cy="342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91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WordArt 2">
            <a:extLst>
              <a:ext uri="{FF2B5EF4-FFF2-40B4-BE49-F238E27FC236}">
                <a16:creationId xmlns:a16="http://schemas.microsoft.com/office/drawing/2014/main" id="{3C91C352-DB68-4DDD-A298-A077FAA1E083}"/>
              </a:ext>
            </a:extLst>
          </p:cNvPr>
          <p:cNvSpPr>
            <a:spLocks noGrp="1" noChangeArrowheads="1" noChangeShapeType="1" noTextEdit="1"/>
          </p:cNvSpPr>
          <p:nvPr>
            <p:ph type="title" idx="4294967295"/>
          </p:nvPr>
        </p:nvSpPr>
        <p:spPr bwMode="auto">
          <a:xfrm>
            <a:off x="990600" y="1066800"/>
            <a:ext cx="6553200" cy="3733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CCFFFF"/>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PQ</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CCFFFF"/>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Methods</a:t>
            </a:r>
          </a:p>
        </p:txBody>
      </p:sp>
      <p:sp>
        <p:nvSpPr>
          <p:cNvPr id="8194" name="Footer Placeholder 3">
            <a:extLst>
              <a:ext uri="{FF2B5EF4-FFF2-40B4-BE49-F238E27FC236}">
                <a16:creationId xmlns:a16="http://schemas.microsoft.com/office/drawing/2014/main" id="{93CEB6C0-C1B3-4CA8-AABE-0CD5BEAAA1B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08C5-6C89-591F-C29A-181E1D1DB2AE}"/>
              </a:ext>
            </a:extLst>
          </p:cNvPr>
          <p:cNvSpPr>
            <a:spLocks noGrp="1"/>
          </p:cNvSpPr>
          <p:nvPr>
            <p:ph type="title" idx="4294967295"/>
          </p:nvPr>
        </p:nvSpPr>
        <p:spPr>
          <a:xfrm>
            <a:off x="114664" y="188087"/>
            <a:ext cx="3041131" cy="1143000"/>
          </a:xfrm>
        </p:spPr>
        <p:txBody>
          <a:bodyPr/>
          <a:lstStyle/>
          <a:p>
            <a:r>
              <a:rPr lang="en-US" sz="3600" b="1" dirty="0">
                <a:latin typeface="Abadi" panose="020B0604020104020204" pitchFamily="34" charset="0"/>
              </a:rPr>
              <a:t>Java Collection Hierarchy</a:t>
            </a:r>
          </a:p>
        </p:txBody>
      </p:sp>
      <p:grpSp>
        <p:nvGrpSpPr>
          <p:cNvPr id="4" name="Group 3" descr="The Queue interface extends the Collection interface.&#10;The LinkedList class implements both the List and Queue interfaces, so it can be used as a normal linked list or specifically as a queue.&#10;The PriorityQueue class only implements the Queue interface, not the List interface.">
            <a:extLst>
              <a:ext uri="{FF2B5EF4-FFF2-40B4-BE49-F238E27FC236}">
                <a16:creationId xmlns:a16="http://schemas.microsoft.com/office/drawing/2014/main" id="{0DF8F3B1-CCA4-4E45-B97F-B151152940EB}"/>
              </a:ext>
            </a:extLst>
          </p:cNvPr>
          <p:cNvGrpSpPr/>
          <p:nvPr/>
        </p:nvGrpSpPr>
        <p:grpSpPr>
          <a:xfrm>
            <a:off x="609600" y="42205"/>
            <a:ext cx="7848600" cy="6739595"/>
            <a:chOff x="609600" y="42205"/>
            <a:chExt cx="7848600" cy="6739595"/>
          </a:xfrm>
        </p:grpSpPr>
        <p:pic>
          <p:nvPicPr>
            <p:cNvPr id="5" name="Picture 4" descr="Diagram, schematic&#10;&#10;Description automatically generated">
              <a:extLst>
                <a:ext uri="{FF2B5EF4-FFF2-40B4-BE49-F238E27FC236}">
                  <a16:creationId xmlns:a16="http://schemas.microsoft.com/office/drawing/2014/main" id="{1BA1C837-B04A-4B23-9BEE-F9F879320B54}"/>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609600" y="42205"/>
              <a:ext cx="7848600" cy="6739595"/>
            </a:xfrm>
            <a:prstGeom prst="rect">
              <a:avLst/>
            </a:prstGeom>
          </p:spPr>
        </p:pic>
        <p:sp>
          <p:nvSpPr>
            <p:cNvPr id="6" name="Freeform: Shape 5">
              <a:extLst>
                <a:ext uri="{FF2B5EF4-FFF2-40B4-BE49-F238E27FC236}">
                  <a16:creationId xmlns:a16="http://schemas.microsoft.com/office/drawing/2014/main" id="{9B2634DC-F4AA-4045-8AE1-B79B067D0FEB}"/>
                </a:ext>
              </a:extLst>
            </p:cNvPr>
            <p:cNvSpPr/>
            <p:nvPr/>
          </p:nvSpPr>
          <p:spPr bwMode="auto">
            <a:xfrm>
              <a:off x="4221479" y="1005840"/>
              <a:ext cx="400461" cy="359664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61" h="3596640">
                  <a:moveTo>
                    <a:pt x="0" y="3596640"/>
                  </a:moveTo>
                  <a:cubicBezTo>
                    <a:pt x="81280" y="3591560"/>
                    <a:pt x="162560" y="3586480"/>
                    <a:pt x="228600" y="3520440"/>
                  </a:cubicBezTo>
                  <a:cubicBezTo>
                    <a:pt x="294640" y="3454400"/>
                    <a:pt x="375990" y="3608920"/>
                    <a:pt x="396240" y="3200400"/>
                  </a:cubicBezTo>
                  <a:cubicBezTo>
                    <a:pt x="416490" y="2791880"/>
                    <a:pt x="357721" y="1602717"/>
                    <a:pt x="350101" y="1069317"/>
                  </a:cubicBezTo>
                  <a:cubicBezTo>
                    <a:pt x="342481" y="535917"/>
                    <a:pt x="369570" y="358140"/>
                    <a:pt x="350520"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id="{0FAFD044-0A98-466F-A699-E8B6BE32CE3A}"/>
                </a:ext>
              </a:extLst>
            </p:cNvPr>
            <p:cNvSpPr txBox="1"/>
            <p:nvPr/>
          </p:nvSpPr>
          <p:spPr>
            <a:xfrm>
              <a:off x="914400" y="4582496"/>
              <a:ext cx="1143000" cy="369332"/>
            </a:xfrm>
            <a:prstGeom prst="rect">
              <a:avLst/>
            </a:prstGeom>
            <a:noFill/>
            <a:ln w="19050">
              <a:solidFill>
                <a:schemeClr val="tx1"/>
              </a:solidFill>
            </a:ln>
          </p:spPr>
          <p:txBody>
            <a:bodyPr wrap="square" rtlCol="0">
              <a:spAutoFit/>
            </a:bodyPr>
            <a:lstStyle/>
            <a:p>
              <a:pPr algn="ctr"/>
              <a:r>
                <a:rPr lang="en-US" sz="1800" b="0" dirty="0">
                  <a:latin typeface="Trebuchet MS" panose="020B0603020202020204" pitchFamily="34" charset="0"/>
                </a:rPr>
                <a:t>Vector</a:t>
              </a:r>
              <a:endParaRPr lang="en-US" sz="3200" b="0" dirty="0">
                <a:latin typeface="Trebuchet MS" panose="020B0603020202020204" pitchFamily="34" charset="0"/>
              </a:endParaRPr>
            </a:p>
          </p:txBody>
        </p:sp>
        <p:pic>
          <p:nvPicPr>
            <p:cNvPr id="8" name="Picture 7">
              <a:extLst>
                <a:ext uri="{FF2B5EF4-FFF2-40B4-BE49-F238E27FC236}">
                  <a16:creationId xmlns:a16="http://schemas.microsoft.com/office/drawing/2014/main" id="{B70494F4-14C4-493A-8B56-2D6819B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231" y="4999828"/>
              <a:ext cx="190304" cy="515934"/>
            </a:xfrm>
            <a:prstGeom prst="rect">
              <a:avLst/>
            </a:prstGeom>
          </p:spPr>
        </p:pic>
        <p:pic>
          <p:nvPicPr>
            <p:cNvPr id="9" name="Picture 8">
              <a:extLst>
                <a:ext uri="{FF2B5EF4-FFF2-40B4-BE49-F238E27FC236}">
                  <a16:creationId xmlns:a16="http://schemas.microsoft.com/office/drawing/2014/main" id="{F937E365-45FA-4C9E-A5F2-29CE22FD5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944" y="1029039"/>
              <a:ext cx="190304" cy="515934"/>
            </a:xfrm>
            <a:prstGeom prst="rect">
              <a:avLst/>
            </a:prstGeom>
          </p:spPr>
        </p:pic>
        <p:sp>
          <p:nvSpPr>
            <p:cNvPr id="10" name="Freeform: Shape 9">
              <a:extLst>
                <a:ext uri="{FF2B5EF4-FFF2-40B4-BE49-F238E27FC236}">
                  <a16:creationId xmlns:a16="http://schemas.microsoft.com/office/drawing/2014/main" id="{846AA933-C469-42F7-A162-1025B85AD767}"/>
                </a:ext>
              </a:extLst>
            </p:cNvPr>
            <p:cNvSpPr/>
            <p:nvPr/>
          </p:nvSpPr>
          <p:spPr bwMode="auto">
            <a:xfrm>
              <a:off x="2066907" y="2517256"/>
              <a:ext cx="432503" cy="227118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 name="connsiteX0" fmla="*/ 0 w 414354"/>
                <a:gd name="connsiteY0" fmla="*/ 3596640 h 3596640"/>
                <a:gd name="connsiteX1" fmla="*/ 228600 w 414354"/>
                <a:gd name="connsiteY1" fmla="*/ 3520440 h 3596640"/>
                <a:gd name="connsiteX2" fmla="*/ 396240 w 414354"/>
                <a:gd name="connsiteY2" fmla="*/ 3200400 h 3596640"/>
                <a:gd name="connsiteX3" fmla="*/ 404630 w 414354"/>
                <a:gd name="connsiteY3" fmla="*/ 1895632 h 3596640"/>
                <a:gd name="connsiteX4" fmla="*/ 350520 w 414354"/>
                <a:gd name="connsiteY4" fmla="*/ 0 h 3596640"/>
                <a:gd name="connsiteX0" fmla="*/ 0 w 414354"/>
                <a:gd name="connsiteY0" fmla="*/ 2271180 h 2271180"/>
                <a:gd name="connsiteX1" fmla="*/ 228600 w 414354"/>
                <a:gd name="connsiteY1" fmla="*/ 2194980 h 2271180"/>
                <a:gd name="connsiteX2" fmla="*/ 396240 w 414354"/>
                <a:gd name="connsiteY2" fmla="*/ 1874940 h 2271180"/>
                <a:gd name="connsiteX3" fmla="*/ 404630 w 414354"/>
                <a:gd name="connsiteY3" fmla="*/ 570172 h 2271180"/>
                <a:gd name="connsiteX4" fmla="*/ 400854 w 414354"/>
                <a:gd name="connsiteY4" fmla="*/ 0 h 2271180"/>
                <a:gd name="connsiteX0" fmla="*/ 0 w 426664"/>
                <a:gd name="connsiteY0" fmla="*/ 2271180 h 2271180"/>
                <a:gd name="connsiteX1" fmla="*/ 228600 w 426664"/>
                <a:gd name="connsiteY1" fmla="*/ 2194980 h 2271180"/>
                <a:gd name="connsiteX2" fmla="*/ 396240 w 426664"/>
                <a:gd name="connsiteY2" fmla="*/ 1874940 h 2271180"/>
                <a:gd name="connsiteX3" fmla="*/ 404630 w 426664"/>
                <a:gd name="connsiteY3" fmla="*/ 570172 h 2271180"/>
                <a:gd name="connsiteX4" fmla="*/ 421826 w 426664"/>
                <a:gd name="connsiteY4" fmla="*/ 0 h 2271180"/>
                <a:gd name="connsiteX0" fmla="*/ 0 w 432503"/>
                <a:gd name="connsiteY0" fmla="*/ 2271180 h 2271180"/>
                <a:gd name="connsiteX1" fmla="*/ 228600 w 432503"/>
                <a:gd name="connsiteY1" fmla="*/ 2194980 h 2271180"/>
                <a:gd name="connsiteX2" fmla="*/ 396240 w 432503"/>
                <a:gd name="connsiteY2" fmla="*/ 1874940 h 2271180"/>
                <a:gd name="connsiteX3" fmla="*/ 429797 w 432503"/>
                <a:gd name="connsiteY3" fmla="*/ 691813 h 2271180"/>
                <a:gd name="connsiteX4" fmla="*/ 421826 w 432503"/>
                <a:gd name="connsiteY4" fmla="*/ 0 h 227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503" h="2271180">
                  <a:moveTo>
                    <a:pt x="0" y="2271180"/>
                  </a:moveTo>
                  <a:cubicBezTo>
                    <a:pt x="81280" y="2266100"/>
                    <a:pt x="162560" y="2261020"/>
                    <a:pt x="228600" y="2194980"/>
                  </a:cubicBezTo>
                  <a:cubicBezTo>
                    <a:pt x="294640" y="2128940"/>
                    <a:pt x="362707" y="2125468"/>
                    <a:pt x="396240" y="1874940"/>
                  </a:cubicBezTo>
                  <a:cubicBezTo>
                    <a:pt x="429773" y="1624412"/>
                    <a:pt x="437417" y="1225213"/>
                    <a:pt x="429797" y="691813"/>
                  </a:cubicBezTo>
                  <a:cubicBezTo>
                    <a:pt x="422177" y="158413"/>
                    <a:pt x="440876" y="358140"/>
                    <a:pt x="421826"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pic>
          <p:nvPicPr>
            <p:cNvPr id="11" name="Picture 10">
              <a:extLst>
                <a:ext uri="{FF2B5EF4-FFF2-40B4-BE49-F238E27FC236}">
                  <a16:creationId xmlns:a16="http://schemas.microsoft.com/office/drawing/2014/main" id="{9905A9FB-B2DE-47A9-8A38-905FB9525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5871" y="2506901"/>
              <a:ext cx="190304" cy="515934"/>
            </a:xfrm>
            <a:prstGeom prst="rect">
              <a:avLst/>
            </a:prstGeom>
          </p:spPr>
        </p:pic>
      </p:grpSp>
    </p:spTree>
    <p:extLst>
      <p:ext uri="{BB962C8B-B14F-4D97-AF65-F5344CB8AC3E}">
        <p14:creationId xmlns:p14="http://schemas.microsoft.com/office/powerpoint/2010/main" val="1736896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8E282C-B84B-7739-E084-75C026CDC920}"/>
              </a:ext>
            </a:extLst>
          </p:cNvPr>
          <p:cNvSpPr txBox="1">
            <a:spLocks noGrp="1"/>
          </p:cNvSpPr>
          <p:nvPr>
            <p:ph type="title" idx="4294967295"/>
          </p:nvPr>
        </p:nvSpPr>
        <p:spPr>
          <a:xfrm>
            <a:off x="531542" y="401615"/>
            <a:ext cx="8077200" cy="116339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3600" b="1" i="0" u="none" strike="noStrike" kern="1200" cap="none" spc="0" normalizeH="0" baseline="0" noProof="0" dirty="0" err="1">
                <a:ln>
                  <a:noFill/>
                </a:ln>
                <a:solidFill>
                  <a:srgbClr val="FF0000"/>
                </a:solidFill>
                <a:effectLst/>
                <a:uLnTx/>
                <a:uFillTx/>
                <a:latin typeface="Tahoma" pitchFamily="34" charset="0"/>
                <a:ea typeface="+mn-ea"/>
                <a:cs typeface="+mn-cs"/>
              </a:rPr>
              <a:t>PriorityQueue</a:t>
            </a:r>
            <a:endParaRPr kumimoji="0" lang="en-US" sz="3600" b="1" i="0" u="none" strike="noStrike" kern="1200" cap="none" spc="0" normalizeH="0" baseline="0" noProof="0" dirty="0">
              <a:ln>
                <a:noFill/>
              </a:ln>
              <a:solidFill>
                <a:srgbClr val="FF0000"/>
              </a:solidFill>
              <a:effectLst/>
              <a:uLnTx/>
              <a:uFillTx/>
              <a:latin typeface="Tahoma" pitchFamily="34" charset="0"/>
              <a:ea typeface="+mn-ea"/>
              <a:cs typeface="+mn-cs"/>
            </a:endParaRPr>
          </a:p>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2800" b="1" i="0" u="none" strike="noStrike" kern="1200" cap="none" spc="0" normalizeH="0" baseline="0" noProof="0" dirty="0">
                <a:ln>
                  <a:noFill/>
                </a:ln>
                <a:solidFill>
                  <a:srgbClr val="006600"/>
                </a:solidFill>
                <a:effectLst/>
                <a:uLnTx/>
                <a:uFillTx/>
                <a:latin typeface="Tahoma" pitchFamily="34" charset="0"/>
                <a:ea typeface="+mn-ea"/>
                <a:cs typeface="+mn-cs"/>
              </a:rPr>
              <a:t>frequently used methods</a:t>
            </a:r>
          </a:p>
        </p:txBody>
      </p:sp>
      <p:graphicFrame>
        <p:nvGraphicFramePr>
          <p:cNvPr id="88066" name="Group 2">
            <a:extLst>
              <a:ext uri="{FF2B5EF4-FFF2-40B4-BE49-F238E27FC236}">
                <a16:creationId xmlns:a16="http://schemas.microsoft.com/office/drawing/2014/main" id="{45042756-E9ED-4F22-B1D5-7833D6C21810}"/>
              </a:ext>
            </a:extLst>
          </p:cNvPr>
          <p:cNvGraphicFramePr>
            <a:graphicFrameLocks noGrp="1"/>
          </p:cNvGraphicFramePr>
          <p:nvPr>
            <p:extLst>
              <p:ext uri="{D42A27DB-BD31-4B8C-83A1-F6EECF244321}">
                <p14:modId xmlns:p14="http://schemas.microsoft.com/office/powerpoint/2010/main" val="2575027599"/>
              </p:ext>
            </p:extLst>
          </p:nvPr>
        </p:nvGraphicFramePr>
        <p:xfrm>
          <a:off x="531543" y="2395651"/>
          <a:ext cx="8077200" cy="2924176"/>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Name</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Use</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add(x)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adds item x to the pQueue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and returns min priority item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element()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min item with no remove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size()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 of items in the pQueue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38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isEmpty()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checks to see if the </a:t>
                      </a:r>
                      <a:r>
                        <a:rPr kumimoji="0" lang="en-US" sz="2000" b="1" i="0" u="none" strike="noStrike" cap="none" normalizeH="0" baseline="0" dirty="0" err="1">
                          <a:ln>
                            <a:noFill/>
                          </a:ln>
                          <a:solidFill>
                            <a:schemeClr val="accent2"/>
                          </a:solidFill>
                          <a:effectLst/>
                          <a:latin typeface="Tahoma" pitchFamily="34" charset="0"/>
                        </a:rPr>
                        <a:t>pQueue</a:t>
                      </a:r>
                      <a:r>
                        <a:rPr kumimoji="0" lang="en-US" sz="2000" b="1" i="0" u="none" strike="noStrike" cap="none" normalizeH="0" baseline="0" dirty="0">
                          <a:ln>
                            <a:noFill/>
                          </a:ln>
                          <a:solidFill>
                            <a:schemeClr val="accent2"/>
                          </a:solidFill>
                          <a:effectLst/>
                          <a:latin typeface="Tahoma" pitchFamily="34" charset="0"/>
                        </a:rPr>
                        <a:t> is empty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218" name="Footer Placeholder 3">
            <a:extLst>
              <a:ext uri="{FF2B5EF4-FFF2-40B4-BE49-F238E27FC236}">
                <a16:creationId xmlns:a16="http://schemas.microsoft.com/office/drawing/2014/main" id="{1739D96F-D321-4E1F-8C0C-562A6D27C1AB}"/>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91" name="Rectangle 1">
            <a:extLst>
              <a:ext uri="{FF2B5EF4-FFF2-40B4-BE49-F238E27FC236}">
                <a16:creationId xmlns:a16="http://schemas.microsoft.com/office/drawing/2014/main" id="{15369E1E-B046-48A7-B237-3FA0F88A4C4D}"/>
              </a:ext>
            </a:extLst>
          </p:cNvPr>
          <p:cNvSpPr>
            <a:spLocks noGrp="1" noChangeArrowheads="1"/>
          </p:cNvSpPr>
          <p:nvPr>
            <p:ph type="title" idx="4294967295"/>
          </p:nvPr>
        </p:nvSpPr>
        <p:spPr bwMode="auto">
          <a:xfrm>
            <a:off x="1981200" y="685800"/>
            <a:ext cx="5308600" cy="531813"/>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1440" tIns="53958" rIns="91440" bIns="45720" numCol="1" spcCol="0" rtlCol="0" fromWordArt="0" anchor="ctr" anchorCtr="0" forceAA="0" compatLnSpc="1">
            <a:prstTxWarp prst="textNoShape">
              <a:avLst/>
            </a:prstTxWarp>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tx1"/>
                </a:solidFill>
                <a:effectLst/>
                <a:uLnTx/>
                <a:uFillTx/>
                <a:latin typeface="Tahoma" panose="020B0604030504040204" pitchFamily="34" charset="0"/>
                <a:ea typeface="+mn-ea"/>
                <a:cs typeface="+mn-cs"/>
              </a:rPr>
              <a:t>Summary of Queue methods</a:t>
            </a:r>
          </a:p>
        </p:txBody>
      </p:sp>
      <p:graphicFrame>
        <p:nvGraphicFramePr>
          <p:cNvPr id="3" name="Table 2">
            <a:extLst>
              <a:ext uri="{FF2B5EF4-FFF2-40B4-BE49-F238E27FC236}">
                <a16:creationId xmlns:a16="http://schemas.microsoft.com/office/drawing/2014/main" id="{8CEDBB03-3C5E-4B3E-BB3F-83683E2D653D}"/>
              </a:ext>
            </a:extLst>
          </p:cNvPr>
          <p:cNvGraphicFramePr>
            <a:graphicFrameLocks noGrp="1"/>
          </p:cNvGraphicFramePr>
          <p:nvPr/>
        </p:nvGraphicFramePr>
        <p:xfrm>
          <a:off x="169334" y="1828800"/>
          <a:ext cx="8746066" cy="2454276"/>
        </p:xfrm>
        <a:graphic>
          <a:graphicData uri="http://schemas.openxmlformats.org/drawingml/2006/table">
            <a:tbl>
              <a:tblPr/>
              <a:tblGrid>
                <a:gridCol w="1972152">
                  <a:extLst>
                    <a:ext uri="{9D8B030D-6E8A-4147-A177-3AD203B41FA5}">
                      <a16:colId xmlns:a16="http://schemas.microsoft.com/office/drawing/2014/main" val="2998549995"/>
                    </a:ext>
                  </a:extLst>
                </a:gridCol>
                <a:gridCol w="3086847">
                  <a:extLst>
                    <a:ext uri="{9D8B030D-6E8A-4147-A177-3AD203B41FA5}">
                      <a16:colId xmlns:a16="http://schemas.microsoft.com/office/drawing/2014/main" val="3046120668"/>
                    </a:ext>
                  </a:extLst>
                </a:gridCol>
                <a:gridCol w="3687067">
                  <a:extLst>
                    <a:ext uri="{9D8B030D-6E8A-4147-A177-3AD203B41FA5}">
                      <a16:colId xmlns:a16="http://schemas.microsoft.com/office/drawing/2014/main" val="2063912837"/>
                    </a:ext>
                  </a:extLst>
                </a:gridCol>
              </a:tblGrid>
              <a:tr h="613569">
                <a:tc>
                  <a:txBody>
                    <a:bodyPr/>
                    <a:lstStyle/>
                    <a:p>
                      <a:pPr algn="ctr"/>
                      <a:r>
                        <a:rPr lang="en-US" sz="2800" b="1" dirty="0">
                          <a:latin typeface="Abadi" panose="020B0604020104020204" pitchFamily="34" charset="0"/>
                        </a:rPr>
                        <a:t>Operation</a:t>
                      </a:r>
                    </a:p>
                  </a:txBody>
                  <a:tcPr marT="45732" marB="45732"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u="none" strike="noStrike" kern="1200" dirty="0">
                          <a:solidFill>
                            <a:srgbClr val="4A6782"/>
                          </a:solidFill>
                          <a:effectLst/>
                          <a:latin typeface="Abadi" panose="020B0604020104020204" pitchFamily="34" charset="0"/>
                          <a:ea typeface="+mn-ea"/>
                          <a:cs typeface="+mn-cs"/>
                        </a:rPr>
                        <a:t>Throws exception</a:t>
                      </a: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i="0" dirty="0">
                          <a:solidFill>
                            <a:schemeClr val="accent1">
                              <a:lumMod val="50000"/>
                            </a:schemeClr>
                          </a:solidFill>
                          <a:latin typeface="Abadi" panose="020B0604020104020204" pitchFamily="34" charset="0"/>
                        </a:rPr>
                        <a:t>Returns special value</a:t>
                      </a:r>
                    </a:p>
                  </a:txBody>
                  <a:tcPr marT="45732" marB="45732"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9314042"/>
                  </a:ext>
                </a:extLst>
              </a:tr>
              <a:tr h="613569">
                <a:tc>
                  <a:txBody>
                    <a:bodyPr/>
                    <a:lstStyle/>
                    <a:p>
                      <a:pPr algn="ctr"/>
                      <a:r>
                        <a:rPr lang="en-US" sz="2800" b="1" dirty="0">
                          <a:latin typeface="Abadi" panose="020B0604020104020204" pitchFamily="34" charset="0"/>
                        </a:rPr>
                        <a:t>Insert</a:t>
                      </a:r>
                    </a:p>
                  </a:txBody>
                  <a:tcPr marT="45732" marB="4573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rgbClr val="4A6782"/>
                          </a:solidFill>
                          <a:effectLst/>
                          <a:latin typeface="Bahnschrift" panose="020B0502040204020203" pitchFamily="34" charset="0"/>
                        </a:rPr>
                        <a:t>add(e)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offer(e)</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495105524"/>
                  </a:ext>
                </a:extLst>
              </a:tr>
              <a:tr h="613569">
                <a:tc>
                  <a:txBody>
                    <a:bodyPr/>
                    <a:lstStyle/>
                    <a:p>
                      <a:pPr algn="ctr"/>
                      <a:r>
                        <a:rPr lang="en-US" sz="2800" b="1" dirty="0">
                          <a:latin typeface="Abadi" panose="020B0604020104020204" pitchFamily="34" charset="0"/>
                        </a:rPr>
                        <a:t>Remove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remove()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poll()</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935295378"/>
                  </a:ext>
                </a:extLst>
              </a:tr>
              <a:tr h="613569">
                <a:tc>
                  <a:txBody>
                    <a:bodyPr/>
                    <a:lstStyle/>
                    <a:p>
                      <a:pPr algn="ctr"/>
                      <a:r>
                        <a:rPr lang="en-US" sz="2800" b="1" dirty="0">
                          <a:latin typeface="Abadi" panose="020B0604020104020204" pitchFamily="34" charset="0"/>
                        </a:rPr>
                        <a:t>Examine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element()</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peek()</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8606029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WordArt 3">
            <a:extLst>
              <a:ext uri="{FF2B5EF4-FFF2-40B4-BE49-F238E27FC236}">
                <a16:creationId xmlns:a16="http://schemas.microsoft.com/office/drawing/2014/main" id="{1F58C506-4607-147B-FCA9-16CDD04B8749}"/>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add</a:t>
            </a:r>
          </a:p>
        </p:txBody>
      </p:sp>
      <p:sp>
        <p:nvSpPr>
          <p:cNvPr id="11" name="Text Box 2">
            <a:extLst>
              <a:ext uri="{FF2B5EF4-FFF2-40B4-BE49-F238E27FC236}">
                <a16:creationId xmlns:a16="http://schemas.microsoft.com/office/drawing/2014/main" id="{6391059C-2A3C-37CD-F212-4672FE9466EB}"/>
              </a:ext>
            </a:extLst>
          </p:cNvPr>
          <p:cNvSpPr txBox="1">
            <a:spLocks noChangeArrowheads="1"/>
          </p:cNvSpPr>
          <p:nvPr/>
        </p:nvSpPr>
        <p:spPr bwMode="auto">
          <a:xfrm>
            <a:off x="609600" y="1600200"/>
            <a:ext cx="8153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(7);</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3" name="Text Box 4">
            <a:extLst>
              <a:ext uri="{FF2B5EF4-FFF2-40B4-BE49-F238E27FC236}">
                <a16:creationId xmlns:a16="http://schemas.microsoft.com/office/drawing/2014/main" id="{2482B358-C269-52C8-A255-30A125B9FAAF}"/>
              </a:ext>
            </a:extLst>
          </p:cNvPr>
          <p:cNvSpPr txBox="1">
            <a:spLocks noChangeArrowheads="1"/>
          </p:cNvSpPr>
          <p:nvPr/>
        </p:nvSpPr>
        <p:spPr bwMode="auto">
          <a:xfrm>
            <a:off x="6553200" y="32004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[7, 11, 10]</a:t>
            </a:r>
          </a:p>
        </p:txBody>
      </p:sp>
      <p:grpSp>
        <p:nvGrpSpPr>
          <p:cNvPr id="14" name="Group 9" descr="The level order is shown after each new value is added at the end and then after it's swapped up to where it belongs:&#10;add(11): &#10;after add to end: 11&#10;after swap up: 11&#10;add(10): &#10;after add to end: 11, 10&#10;after swap up: 10, 11&#10;add(7): &#10;after add to end: 10, 11, 7&#10;after swap up: 7, 11, 10">
            <a:extLst>
              <a:ext uri="{FF2B5EF4-FFF2-40B4-BE49-F238E27FC236}">
                <a16:creationId xmlns:a16="http://schemas.microsoft.com/office/drawing/2014/main" id="{64418E86-6FE2-DEAC-E3AF-1A88DE5D3059}"/>
              </a:ext>
            </a:extLst>
          </p:cNvPr>
          <p:cNvGrpSpPr>
            <a:grpSpLocks/>
          </p:cNvGrpSpPr>
          <p:nvPr/>
        </p:nvGrpSpPr>
        <p:grpSpPr bwMode="auto">
          <a:xfrm>
            <a:off x="457200" y="5059363"/>
            <a:ext cx="8305800" cy="1570037"/>
            <a:chOff x="457200" y="4907340"/>
            <a:chExt cx="8305800" cy="1569660"/>
          </a:xfrm>
        </p:grpSpPr>
        <p:sp>
          <p:nvSpPr>
            <p:cNvPr id="15" name="Text Box 4">
              <a:extLst>
                <a:ext uri="{FF2B5EF4-FFF2-40B4-BE49-F238E27FC236}">
                  <a16:creationId xmlns:a16="http://schemas.microsoft.com/office/drawing/2014/main" id="{F4228443-AEA6-548D-279D-FC1AB539B4C2}"/>
                </a:ext>
              </a:extLst>
            </p:cNvPr>
            <p:cNvSpPr txBox="1">
              <a:spLocks noChangeArrowheads="1"/>
            </p:cNvSpPr>
            <p:nvPr/>
          </p:nvSpPr>
          <p:spPr bwMode="auto">
            <a:xfrm>
              <a:off x="457200" y="4907340"/>
              <a:ext cx="83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11</a:t>
              </a:r>
            </a:p>
          </p:txBody>
        </p:sp>
        <p:sp>
          <p:nvSpPr>
            <p:cNvPr id="16" name="Text Box 4">
              <a:extLst>
                <a:ext uri="{FF2B5EF4-FFF2-40B4-BE49-F238E27FC236}">
                  <a16:creationId xmlns:a16="http://schemas.microsoft.com/office/drawing/2014/main" id="{F93DFE7A-D800-6248-77FA-EE2E854FDF65}"/>
                </a:ext>
              </a:extLst>
            </p:cNvPr>
            <p:cNvSpPr txBox="1">
              <a:spLocks noChangeArrowheads="1"/>
            </p:cNvSpPr>
            <p:nvPr/>
          </p:nvSpPr>
          <p:spPr bwMode="auto">
            <a:xfrm>
              <a:off x="5083175" y="4907340"/>
              <a:ext cx="1676400" cy="1569660"/>
            </a:xfrm>
            <a:prstGeom prst="rect">
              <a:avLst/>
            </a:prstGeom>
            <a:noFill/>
            <a:ln w="12700">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ts val="0"/>
                </a:spcBef>
                <a:buFontTx/>
                <a:buNone/>
                <a:defRPr/>
              </a:pPr>
              <a:r>
                <a:rPr lang="en-US" altLang="en-US" dirty="0">
                  <a:solidFill>
                    <a:srgbClr val="7030A0"/>
                  </a:solidFill>
                  <a:latin typeface="Tahoma" panose="020B0604030504040204" pitchFamily="34" charset="0"/>
                </a:rPr>
                <a:t> </a:t>
              </a:r>
              <a:r>
                <a:rPr lang="en-US" altLang="en-US" sz="1050" dirty="0">
                  <a:solidFill>
                    <a:srgbClr val="7030A0"/>
                  </a:solidFill>
                  <a:latin typeface="Tahoma" panose="020B0604030504040204" pitchFamily="34" charset="0"/>
                </a:rPr>
                <a:t> </a:t>
              </a:r>
              <a:r>
                <a:rPr lang="en-US" altLang="en-US" sz="200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 </a:t>
              </a:r>
              <a:r>
                <a:rPr lang="en-US" altLang="en-US" sz="105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10</a:t>
              </a:r>
            </a:p>
            <a:p>
              <a:pPr>
                <a:spcBef>
                  <a:spcPts val="0"/>
                </a:spcBef>
                <a:buFontTx/>
                <a:buNone/>
                <a:defRPr/>
              </a:pPr>
              <a:r>
                <a:rPr lang="en-US" altLang="en-US" dirty="0">
                  <a:solidFill>
                    <a:srgbClr val="7030A0"/>
                  </a:solidFill>
                  <a:latin typeface="Tahoma" panose="020B0604030504040204" pitchFamily="34" charset="0"/>
                </a:rPr>
                <a:t>  </a:t>
              </a:r>
              <a:r>
                <a:rPr lang="en-US" altLang="en-US" dirty="0">
                  <a:solidFill>
                    <a:schemeClr val="bg2"/>
                  </a:solidFill>
                  <a:latin typeface="Tahoma" panose="020B0604030504040204" pitchFamily="34" charset="0"/>
                </a:rPr>
                <a:t>/   \</a:t>
              </a:r>
            </a:p>
            <a:p>
              <a:pPr>
                <a:spcBef>
                  <a:spcPts val="0"/>
                </a:spcBef>
                <a:buFontTx/>
                <a:buNone/>
                <a:defRPr/>
              </a:pPr>
              <a:r>
                <a:rPr lang="en-US" altLang="en-US" dirty="0">
                  <a:solidFill>
                    <a:srgbClr val="7030A0"/>
                  </a:solidFill>
                  <a:latin typeface="Tahoma" panose="020B0604030504040204" pitchFamily="34" charset="0"/>
                </a:rPr>
                <a:t>11    </a:t>
              </a:r>
              <a:r>
                <a:rPr lang="en-US" altLang="en-US" dirty="0">
                  <a:solidFill>
                    <a:srgbClr val="0070C0"/>
                  </a:solidFill>
                  <a:latin typeface="Tahoma" panose="020B0604030504040204" pitchFamily="34" charset="0"/>
                </a:rPr>
                <a:t>7</a:t>
              </a:r>
            </a:p>
          </p:txBody>
        </p:sp>
        <p:sp>
          <p:nvSpPr>
            <p:cNvPr id="17" name="Text Box 4">
              <a:extLst>
                <a:ext uri="{FF2B5EF4-FFF2-40B4-BE49-F238E27FC236}">
                  <a16:creationId xmlns:a16="http://schemas.microsoft.com/office/drawing/2014/main" id="{C3400EF7-F400-441E-E305-627EE407F7C8}"/>
                </a:ext>
              </a:extLst>
            </p:cNvPr>
            <p:cNvSpPr txBox="1">
              <a:spLocks noChangeArrowheads="1"/>
            </p:cNvSpPr>
            <p:nvPr/>
          </p:nvSpPr>
          <p:spPr bwMode="auto">
            <a:xfrm>
              <a:off x="3425147"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  </a:t>
              </a:r>
              <a:r>
                <a:rPr lang="en-US" altLang="en-US" sz="2000">
                  <a:solidFill>
                    <a:srgbClr val="7030A0"/>
                  </a:solidFill>
                  <a:latin typeface="Tahoma" panose="020B0604030504040204" pitchFamily="34" charset="0"/>
                </a:rPr>
                <a:t> </a:t>
              </a:r>
              <a:r>
                <a:rPr lang="en-US" altLang="en-US">
                  <a:solidFill>
                    <a:srgbClr val="7030A0"/>
                  </a:solidFill>
                  <a:latin typeface="Tahoma" panose="020B0604030504040204" pitchFamily="34" charset="0"/>
                </a:rPr>
                <a:t> 10</a:t>
              </a:r>
            </a:p>
            <a:p>
              <a:pPr>
                <a:spcBef>
                  <a:spcPct val="0"/>
                </a:spcBef>
                <a:buFontTx/>
                <a:buNone/>
              </a:pPr>
              <a:r>
                <a:rPr lang="en-US" altLang="en-US">
                  <a:solidFill>
                    <a:srgbClr val="7030A0"/>
                  </a:solidFill>
                  <a:latin typeface="Tahoma" panose="020B0604030504040204" pitchFamily="34" charset="0"/>
                </a:rPr>
                <a:t>  </a:t>
              </a:r>
              <a:r>
                <a:rPr lang="en-US" altLang="en-US">
                  <a:solidFill>
                    <a:schemeClr val="bg2"/>
                  </a:solidFill>
                  <a:latin typeface="Tahoma" panose="020B0604030504040204" pitchFamily="34" charset="0"/>
                </a:rPr>
                <a:t>/</a:t>
              </a:r>
              <a:r>
                <a:rPr lang="en-US" altLang="en-US">
                  <a:solidFill>
                    <a:srgbClr val="7030A0"/>
                  </a:solidFill>
                  <a:latin typeface="Tahoma" panose="020B0604030504040204" pitchFamily="34" charset="0"/>
                </a:rPr>
                <a:t>   </a:t>
              </a:r>
            </a:p>
            <a:p>
              <a:pPr>
                <a:spcBef>
                  <a:spcPct val="0"/>
                </a:spcBef>
                <a:buFontTx/>
                <a:buNone/>
              </a:pPr>
              <a:r>
                <a:rPr lang="en-US" altLang="en-US">
                  <a:solidFill>
                    <a:srgbClr val="7030A0"/>
                  </a:solidFill>
                  <a:latin typeface="Tahoma" panose="020B0604030504040204" pitchFamily="34" charset="0"/>
                </a:rPr>
                <a:t>11   </a:t>
              </a:r>
            </a:p>
          </p:txBody>
        </p:sp>
        <p:sp>
          <p:nvSpPr>
            <p:cNvPr id="18" name="Text Box 4">
              <a:extLst>
                <a:ext uri="{FF2B5EF4-FFF2-40B4-BE49-F238E27FC236}">
                  <a16:creationId xmlns:a16="http://schemas.microsoft.com/office/drawing/2014/main" id="{FFA2C979-0E98-DDC3-9638-613FC1D7C77D}"/>
                </a:ext>
              </a:extLst>
            </p:cNvPr>
            <p:cNvSpPr txBox="1">
              <a:spLocks noChangeArrowheads="1"/>
            </p:cNvSpPr>
            <p:nvPr/>
          </p:nvSpPr>
          <p:spPr bwMode="auto">
            <a:xfrm>
              <a:off x="1668694"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solidFill>
                    <a:srgbClr val="7030A0"/>
                  </a:solidFill>
                  <a:latin typeface="Tahoma" panose="020B0604030504040204" pitchFamily="34" charset="0"/>
                </a:rPr>
                <a:t>  </a:t>
              </a:r>
              <a:r>
                <a:rPr lang="en-US" altLang="en-US" sz="200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 11</a:t>
              </a:r>
            </a:p>
            <a:p>
              <a:pPr>
                <a:spcBef>
                  <a:spcPct val="0"/>
                </a:spcBef>
                <a:buFontTx/>
                <a:buNone/>
              </a:pPr>
              <a:r>
                <a:rPr lang="en-US" altLang="en-US" dirty="0">
                  <a:solidFill>
                    <a:srgbClr val="7030A0"/>
                  </a:solidFill>
                  <a:latin typeface="Tahoma" panose="020B0604030504040204" pitchFamily="34" charset="0"/>
                </a:rPr>
                <a:t>  </a:t>
              </a:r>
              <a:r>
                <a:rPr lang="en-US" altLang="en-US" dirty="0">
                  <a:solidFill>
                    <a:schemeClr val="bg2"/>
                  </a:solidFill>
                  <a:latin typeface="Tahoma" panose="020B0604030504040204" pitchFamily="34" charset="0"/>
                </a:rPr>
                <a:t>/</a:t>
              </a:r>
              <a:r>
                <a:rPr lang="en-US" altLang="en-US" dirty="0">
                  <a:solidFill>
                    <a:srgbClr val="7030A0"/>
                  </a:solidFill>
                  <a:latin typeface="Tahoma" panose="020B0604030504040204" pitchFamily="34" charset="0"/>
                </a:rPr>
                <a:t>   </a:t>
              </a:r>
            </a:p>
            <a:p>
              <a:pPr>
                <a:spcBef>
                  <a:spcPct val="0"/>
                </a:spcBef>
                <a:buFontTx/>
                <a:buNone/>
              </a:pPr>
              <a:r>
                <a:rPr lang="en-US" altLang="en-US" dirty="0">
                  <a:solidFill>
                    <a:srgbClr val="0070C0"/>
                  </a:solidFill>
                  <a:latin typeface="Tahoma" panose="020B0604030504040204" pitchFamily="34" charset="0"/>
                </a:rPr>
                <a:t>10</a:t>
              </a:r>
              <a:r>
                <a:rPr lang="en-US" altLang="en-US" dirty="0">
                  <a:solidFill>
                    <a:srgbClr val="7030A0"/>
                  </a:solidFill>
                  <a:latin typeface="Tahoma" panose="020B0604030504040204" pitchFamily="34" charset="0"/>
                </a:rPr>
                <a:t>   </a:t>
              </a:r>
            </a:p>
          </p:txBody>
        </p:sp>
        <p:sp>
          <p:nvSpPr>
            <p:cNvPr id="19" name="Text Box 4">
              <a:extLst>
                <a:ext uri="{FF2B5EF4-FFF2-40B4-BE49-F238E27FC236}">
                  <a16:creationId xmlns:a16="http://schemas.microsoft.com/office/drawing/2014/main" id="{84FD17E9-659A-AD8F-C5E2-8737E324B7BE}"/>
                </a:ext>
              </a:extLst>
            </p:cNvPr>
            <p:cNvSpPr txBox="1">
              <a:spLocks noChangeArrowheads="1"/>
            </p:cNvSpPr>
            <p:nvPr/>
          </p:nvSpPr>
          <p:spPr bwMode="auto">
            <a:xfrm>
              <a:off x="7086600"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  </a:t>
              </a:r>
              <a:r>
                <a:rPr lang="en-US" altLang="en-US" sz="2000">
                  <a:solidFill>
                    <a:srgbClr val="7030A0"/>
                  </a:solidFill>
                  <a:latin typeface="Tahoma" panose="020B0604030504040204" pitchFamily="34" charset="0"/>
                </a:rPr>
                <a:t> </a:t>
              </a:r>
              <a:r>
                <a:rPr lang="en-US" altLang="en-US">
                  <a:solidFill>
                    <a:srgbClr val="7030A0"/>
                  </a:solidFill>
                  <a:latin typeface="Tahoma" panose="020B0604030504040204" pitchFamily="34" charset="0"/>
                </a:rPr>
                <a:t>  7</a:t>
              </a:r>
            </a:p>
            <a:p>
              <a:pPr>
                <a:spcBef>
                  <a:spcPct val="0"/>
                </a:spcBef>
                <a:buFontTx/>
                <a:buNone/>
              </a:pPr>
              <a:r>
                <a:rPr lang="en-US" altLang="en-US">
                  <a:solidFill>
                    <a:srgbClr val="7030A0"/>
                  </a:solidFill>
                  <a:latin typeface="Tahoma" panose="020B0604030504040204" pitchFamily="34" charset="0"/>
                </a:rPr>
                <a:t>  </a:t>
              </a:r>
              <a:r>
                <a:rPr lang="en-US" altLang="en-US">
                  <a:solidFill>
                    <a:schemeClr val="bg2"/>
                  </a:solidFill>
                  <a:latin typeface="Tahoma" panose="020B0604030504040204" pitchFamily="34" charset="0"/>
                </a:rPr>
                <a:t>/   \</a:t>
              </a:r>
            </a:p>
            <a:p>
              <a:pPr>
                <a:spcBef>
                  <a:spcPct val="0"/>
                </a:spcBef>
                <a:buFontTx/>
                <a:buNone/>
              </a:pPr>
              <a:r>
                <a:rPr lang="en-US" altLang="en-US">
                  <a:solidFill>
                    <a:srgbClr val="7030A0"/>
                  </a:solidFill>
                  <a:latin typeface="Tahoma" panose="020B0604030504040204" pitchFamily="34" charset="0"/>
                </a:rPr>
                <a:t>11   10</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WordArt 5">
            <a:extLst>
              <a:ext uri="{FF2B5EF4-FFF2-40B4-BE49-F238E27FC236}">
                <a16:creationId xmlns:a16="http://schemas.microsoft.com/office/drawing/2014/main" id="{99B01F2A-E0F7-4130-A5D7-671AC9701FEC}"/>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remove</a:t>
            </a:r>
          </a:p>
        </p:txBody>
      </p:sp>
      <p:sp>
        <p:nvSpPr>
          <p:cNvPr id="12291" name="Text Box 2">
            <a:extLst>
              <a:ext uri="{FF2B5EF4-FFF2-40B4-BE49-F238E27FC236}">
                <a16:creationId xmlns:a16="http://schemas.microsoft.com/office/drawing/2014/main" id="{80BE8094-4A62-495E-8A6F-AF3FA9D87618}"/>
              </a:ext>
            </a:extLst>
          </p:cNvPr>
          <p:cNvSpPr txBox="1">
            <a:spLocks noChangeArrowheads="1"/>
          </p:cNvSpPr>
          <p:nvPr/>
        </p:nvSpPr>
        <p:spPr bwMode="auto">
          <a:xfrm>
            <a:off x="609600" y="1600200"/>
            <a:ext cx="80772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(7);</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pQueue.remove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2293" name="Text Box 6">
            <a:extLst>
              <a:ext uri="{FF2B5EF4-FFF2-40B4-BE49-F238E27FC236}">
                <a16:creationId xmlns:a16="http://schemas.microsoft.com/office/drawing/2014/main" id="{A6964BBE-A86A-4A45-A78A-42545B8747DE}"/>
              </a:ext>
            </a:extLst>
          </p:cNvPr>
          <p:cNvSpPr txBox="1">
            <a:spLocks noChangeArrowheads="1"/>
          </p:cNvSpPr>
          <p:nvPr/>
        </p:nvSpPr>
        <p:spPr bwMode="auto">
          <a:xfrm>
            <a:off x="6553200" y="3200400"/>
            <a:ext cx="23622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[7, 11, 10]</a:t>
            </a:r>
            <a:br>
              <a:rPr lang="en-US" altLang="en-US">
                <a:latin typeface="Tahoma" panose="020B0604030504040204" pitchFamily="34" charset="0"/>
              </a:rPr>
            </a:br>
            <a:r>
              <a:rPr lang="en-US" altLang="en-US">
                <a:latin typeface="Tahoma" panose="020B0604030504040204" pitchFamily="34" charset="0"/>
              </a:rPr>
              <a:t>7</a:t>
            </a:r>
            <a:br>
              <a:rPr lang="en-US" altLang="en-US">
                <a:latin typeface="Tahoma" panose="020B0604030504040204" pitchFamily="34" charset="0"/>
              </a:rPr>
            </a:br>
            <a:r>
              <a:rPr lang="en-US" altLang="en-US">
                <a:latin typeface="Tahoma" panose="020B0604030504040204" pitchFamily="34" charset="0"/>
              </a:rPr>
              <a:t>[10, 11]</a:t>
            </a:r>
          </a:p>
        </p:txBody>
      </p:sp>
      <p:sp>
        <p:nvSpPr>
          <p:cNvPr id="12290" name="Footer Placeholder 3">
            <a:extLst>
              <a:ext uri="{FF2B5EF4-FFF2-40B4-BE49-F238E27FC236}">
                <a16:creationId xmlns:a16="http://schemas.microsoft.com/office/drawing/2014/main" id="{A6790BE4-C6AC-4DAA-8F8D-BBB29C2A41EF}"/>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WordArt 5">
            <a:extLst>
              <a:ext uri="{FF2B5EF4-FFF2-40B4-BE49-F238E27FC236}">
                <a16:creationId xmlns:a16="http://schemas.microsoft.com/office/drawing/2014/main" id="{70732E29-29D5-4D97-ABB8-7E79DC101B28}"/>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err="1">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isEmpty</a:t>
            </a:r>
            <a:endPar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endParaRPr>
          </a:p>
        </p:txBody>
      </p:sp>
      <p:sp>
        <p:nvSpPr>
          <p:cNvPr id="14339" name="Text Box 2">
            <a:extLst>
              <a:ext uri="{FF2B5EF4-FFF2-40B4-BE49-F238E27FC236}">
                <a16:creationId xmlns:a16="http://schemas.microsoft.com/office/drawing/2014/main" id="{DB3E526C-EB62-487C-A3B4-9E939478163F}"/>
              </a:ext>
            </a:extLst>
          </p:cNvPr>
          <p:cNvSpPr txBox="1">
            <a:spLocks noChangeArrowheads="1"/>
          </p:cNvSpPr>
          <p:nvPr/>
        </p:nvSpPr>
        <p:spPr bwMode="auto">
          <a:xfrm>
            <a:off x="609600" y="1600200"/>
            <a:ext cx="80772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PriorityQueue&lt;Integer&gt; pQueue;</a:t>
            </a:r>
          </a:p>
          <a:p>
            <a:pPr>
              <a:spcBef>
                <a:spcPct val="0"/>
              </a:spcBef>
              <a:buFontTx/>
              <a:buNone/>
            </a:pPr>
            <a:r>
              <a:rPr lang="en-US" altLang="en-US" sz="2800">
                <a:latin typeface="Tahoma" panose="020B0604030504040204" pitchFamily="34" charset="0"/>
              </a:rPr>
              <a:t>pQueue = new PriorityQueue&lt;Integer&gt;();</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pQueue.add(11);</a:t>
            </a:r>
          </a:p>
          <a:p>
            <a:pPr>
              <a:spcBef>
                <a:spcPct val="0"/>
              </a:spcBef>
              <a:buFontTx/>
              <a:buNone/>
            </a:pPr>
            <a:r>
              <a:rPr lang="en-US" altLang="en-US" sz="2800">
                <a:latin typeface="Tahoma" panose="020B0604030504040204" pitchFamily="34" charset="0"/>
              </a:rPr>
              <a:t>pQueue.add(10);</a:t>
            </a:r>
          </a:p>
          <a:p>
            <a:pPr>
              <a:spcBef>
                <a:spcPct val="0"/>
              </a:spcBef>
              <a:buFontTx/>
              <a:buNone/>
            </a:pPr>
            <a:r>
              <a:rPr lang="en-US" altLang="en-US" sz="2800">
                <a:latin typeface="Tahoma" panose="020B0604030504040204" pitchFamily="34" charset="0"/>
              </a:rPr>
              <a:t>pQueue.add(7);</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while(!pQueue.isEmpty())</a:t>
            </a:r>
          </a:p>
          <a:p>
            <a:pPr>
              <a:spcBef>
                <a:spcPct val="0"/>
              </a:spcBef>
              <a:buFontTx/>
              <a:buNone/>
            </a:pPr>
            <a:r>
              <a:rPr lang="en-US" altLang="en-US" sz="2800">
                <a:latin typeface="Tahoma" panose="020B0604030504040204" pitchFamily="34" charset="0"/>
              </a:rPr>
              <a:t>{</a:t>
            </a:r>
          </a:p>
          <a:p>
            <a:pPr>
              <a:spcBef>
                <a:spcPct val="0"/>
              </a:spcBef>
              <a:buFontTx/>
              <a:buNone/>
            </a:pPr>
            <a:r>
              <a:rPr lang="en-US" altLang="en-US" sz="2800">
                <a:latin typeface="Tahoma" panose="020B0604030504040204" pitchFamily="34" charset="0"/>
              </a:rPr>
              <a:t>   out.println(pQueue.remove());</a:t>
            </a:r>
          </a:p>
          <a:p>
            <a:pPr>
              <a:spcBef>
                <a:spcPct val="0"/>
              </a:spcBef>
              <a:buFontTx/>
              <a:buNone/>
            </a:pPr>
            <a:r>
              <a:rPr lang="en-US" altLang="en-US" sz="2800">
                <a:latin typeface="Tahoma" panose="020B0604030504040204" pitchFamily="34" charset="0"/>
              </a:rPr>
              <a:t>}</a:t>
            </a:r>
          </a:p>
          <a:p>
            <a:pPr>
              <a:spcBef>
                <a:spcPct val="0"/>
              </a:spcBef>
              <a:buFontTx/>
              <a:buNone/>
            </a:pPr>
            <a:endParaRPr lang="en-US" altLang="en-US" sz="2800">
              <a:latin typeface="Tahoma" panose="020B0604030504040204" pitchFamily="34" charset="0"/>
            </a:endParaRPr>
          </a:p>
        </p:txBody>
      </p:sp>
      <p:sp>
        <p:nvSpPr>
          <p:cNvPr id="14341" name="Text Box 6">
            <a:extLst>
              <a:ext uri="{FF2B5EF4-FFF2-40B4-BE49-F238E27FC236}">
                <a16:creationId xmlns:a16="http://schemas.microsoft.com/office/drawing/2014/main" id="{C95140F0-B92B-4783-AFE6-41E5338FDC3F}"/>
              </a:ext>
            </a:extLst>
          </p:cNvPr>
          <p:cNvSpPr txBox="1">
            <a:spLocks noChangeArrowheads="1"/>
          </p:cNvSpPr>
          <p:nvPr/>
        </p:nvSpPr>
        <p:spPr bwMode="auto">
          <a:xfrm>
            <a:off x="6553200" y="3200400"/>
            <a:ext cx="23622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7</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11</a:t>
            </a:r>
          </a:p>
        </p:txBody>
      </p:sp>
      <p:sp>
        <p:nvSpPr>
          <p:cNvPr id="14338" name="Footer Placeholder 3">
            <a:extLst>
              <a:ext uri="{FF2B5EF4-FFF2-40B4-BE49-F238E27FC236}">
                <a16:creationId xmlns:a16="http://schemas.microsoft.com/office/drawing/2014/main" id="{C3038E39-08B3-4D18-BA94-BE7AE05021EC}"/>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CC9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ABBC61-0136-B9CD-BDDE-D35431562F46}"/>
              </a:ext>
            </a:extLst>
          </p:cNvPr>
          <p:cNvSpPr txBox="1">
            <a:spLocks noGrp="1" noChangeArrowheads="1"/>
          </p:cNvSpPr>
          <p:nvPr>
            <p:ph type="title" idx="4294967295"/>
          </p:nvPr>
        </p:nvSpPr>
        <p:spPr bwMode="auto">
          <a:xfrm>
            <a:off x="1290399" y="264868"/>
            <a:ext cx="6266459" cy="593094"/>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1440" tIns="53958" rIns="91440" bIns="45720" numCol="1" spcCol="0" rtlCol="0" fromWordArt="0" anchor="ctr" anchorCtr="0" forceAA="0" compatLnSpc="1">
            <a:prstTxWarp prst="textNoShape">
              <a:avLst/>
            </a:prstTxWarp>
            <a:spAutoFit/>
          </a:bodyPr>
          <a:lstStyle>
            <a:lvl1pPr algn="ctr" rtl="0" eaLnBrk="0" fontAlgn="base" hangingPunct="0">
              <a:spcBef>
                <a:spcPct val="20000"/>
              </a:spcBef>
              <a:spcAft>
                <a:spcPct val="0"/>
              </a:spcAft>
              <a:buChar char="•"/>
              <a:defRPr sz="3200">
                <a:solidFill>
                  <a:schemeClr val="tx1"/>
                </a:solidFill>
                <a:latin typeface="Times New Roman" panose="02020603050405020304" pitchFamily="18" charset="0"/>
                <a:ea typeface="+mj-ea"/>
                <a:cs typeface="+mj-cs"/>
              </a:defRPr>
            </a:lvl1pPr>
            <a:lvl2pPr marL="742950" indent="-285750" algn="ctr"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ctr"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chemeClr val="bg1"/>
                </a:solidFill>
                <a:effectLst/>
                <a:uLnTx/>
                <a:uFillTx/>
                <a:latin typeface="Tahoma" panose="020B0604030504040204" pitchFamily="34" charset="0"/>
                <a:ea typeface="+mn-ea"/>
                <a:cs typeface="+mn-cs"/>
              </a:rPr>
              <a:t>Two Types of Queue methods</a:t>
            </a:r>
          </a:p>
        </p:txBody>
      </p:sp>
      <p:graphicFrame>
        <p:nvGraphicFramePr>
          <p:cNvPr id="5" name="Table 4">
            <a:extLst>
              <a:ext uri="{FF2B5EF4-FFF2-40B4-BE49-F238E27FC236}">
                <a16:creationId xmlns:a16="http://schemas.microsoft.com/office/drawing/2014/main" id="{C1598943-9463-42A7-9F6C-6EFBD86751D4}"/>
              </a:ext>
            </a:extLst>
          </p:cNvPr>
          <p:cNvGraphicFramePr>
            <a:graphicFrameLocks noGrp="1"/>
          </p:cNvGraphicFramePr>
          <p:nvPr>
            <p:extLst>
              <p:ext uri="{D42A27DB-BD31-4B8C-83A1-F6EECF244321}">
                <p14:modId xmlns:p14="http://schemas.microsoft.com/office/powerpoint/2010/main" val="2411365040"/>
              </p:ext>
            </p:extLst>
          </p:nvPr>
        </p:nvGraphicFramePr>
        <p:xfrm>
          <a:off x="553845" y="1315836"/>
          <a:ext cx="8153400" cy="4543425"/>
        </p:xfrm>
        <a:graphic>
          <a:graphicData uri="http://schemas.openxmlformats.org/drawingml/2006/table">
            <a:tbl>
              <a:tblPr firstRow="1" bandRow="1">
                <a:tableStyleId>{5C22544A-7EE6-4342-B048-85BDC9FD1C3A}</a:tableStyleId>
              </a:tblPr>
              <a:tblGrid>
                <a:gridCol w="2717800">
                  <a:extLst>
                    <a:ext uri="{9D8B030D-6E8A-4147-A177-3AD203B41FA5}">
                      <a16:colId xmlns:a16="http://schemas.microsoft.com/office/drawing/2014/main" val="4115923361"/>
                    </a:ext>
                  </a:extLst>
                </a:gridCol>
                <a:gridCol w="2717800">
                  <a:extLst>
                    <a:ext uri="{9D8B030D-6E8A-4147-A177-3AD203B41FA5}">
                      <a16:colId xmlns:a16="http://schemas.microsoft.com/office/drawing/2014/main" val="2206193969"/>
                    </a:ext>
                  </a:extLst>
                </a:gridCol>
                <a:gridCol w="2717800">
                  <a:extLst>
                    <a:ext uri="{9D8B030D-6E8A-4147-A177-3AD203B41FA5}">
                      <a16:colId xmlns:a16="http://schemas.microsoft.com/office/drawing/2014/main" val="1011738939"/>
                    </a:ext>
                  </a:extLst>
                </a:gridCol>
              </a:tblGrid>
              <a:tr h="1447773">
                <a:tc>
                  <a:txBody>
                    <a:bodyPr/>
                    <a:lstStyle/>
                    <a:p>
                      <a:pPr algn="ctr"/>
                      <a:endParaRPr lang="en-US" sz="3200" dirty="0"/>
                    </a:p>
                  </a:txBody>
                  <a:tcPr marT="45719" marB="45719" anchor="ctr"/>
                </a:tc>
                <a:tc>
                  <a:txBody>
                    <a:bodyPr/>
                    <a:lstStyle/>
                    <a:p>
                      <a:pPr algn="ctr"/>
                      <a:r>
                        <a:rPr lang="en-US" sz="3200" i="0" dirty="0">
                          <a:latin typeface="Arial" panose="020B0604020202020204" pitchFamily="34" charset="0"/>
                          <a:cs typeface="Arial" panose="020B0604020202020204" pitchFamily="34" charset="0"/>
                        </a:rPr>
                        <a:t>Throws exception</a:t>
                      </a:r>
                    </a:p>
                  </a:txBody>
                  <a:tcPr marT="45719" marB="45719" anchor="ctr"/>
                </a:tc>
                <a:tc>
                  <a:txBody>
                    <a:bodyPr/>
                    <a:lstStyle/>
                    <a:p>
                      <a:pPr algn="ctr"/>
                      <a:r>
                        <a:rPr lang="en-US" sz="3200" i="0" dirty="0">
                          <a:latin typeface="Arial" panose="020B0604020202020204" pitchFamily="34" charset="0"/>
                          <a:cs typeface="Arial" panose="020B0604020202020204" pitchFamily="34" charset="0"/>
                        </a:rPr>
                        <a:t>Returns special value</a:t>
                      </a:r>
                    </a:p>
                  </a:txBody>
                  <a:tcPr marT="45719" marB="45719" anchor="ctr"/>
                </a:tc>
                <a:extLst>
                  <a:ext uri="{0D108BD9-81ED-4DB2-BD59-A6C34878D82A}">
                    <a16:rowId xmlns:a16="http://schemas.microsoft.com/office/drawing/2014/main" val="3402674419"/>
                  </a:ext>
                </a:extLst>
              </a:tr>
              <a:tr h="1031884">
                <a:tc>
                  <a:txBody>
                    <a:bodyPr/>
                    <a:lstStyle/>
                    <a:p>
                      <a:pPr algn="ctr"/>
                      <a:r>
                        <a:rPr lang="en-US" sz="3200" dirty="0">
                          <a:latin typeface="Arial" panose="020B0604020202020204" pitchFamily="34" charset="0"/>
                          <a:cs typeface="Arial" panose="020B0604020202020204" pitchFamily="34" charset="0"/>
                        </a:rPr>
                        <a:t>Insert</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add(e)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offer(e)</a:t>
                      </a:r>
                    </a:p>
                  </a:txBody>
                  <a:tcPr marT="45719" marB="45719" anchor="ctr"/>
                </a:tc>
                <a:extLst>
                  <a:ext uri="{0D108BD9-81ED-4DB2-BD59-A6C34878D82A}">
                    <a16:rowId xmlns:a16="http://schemas.microsoft.com/office/drawing/2014/main" val="363010141"/>
                  </a:ext>
                </a:extLst>
              </a:tr>
              <a:tr h="1031884">
                <a:tc>
                  <a:txBody>
                    <a:bodyPr/>
                    <a:lstStyle/>
                    <a:p>
                      <a:pPr algn="ctr"/>
                      <a:r>
                        <a:rPr lang="en-US" sz="3200" dirty="0">
                          <a:latin typeface="Arial" panose="020B0604020202020204" pitchFamily="34" charset="0"/>
                          <a:cs typeface="Arial" panose="020B0604020202020204" pitchFamily="34" charset="0"/>
                        </a:rPr>
                        <a:t>Remove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remove()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poll()</a:t>
                      </a:r>
                    </a:p>
                  </a:txBody>
                  <a:tcPr marT="45719" marB="45719" anchor="ctr"/>
                </a:tc>
                <a:extLst>
                  <a:ext uri="{0D108BD9-81ED-4DB2-BD59-A6C34878D82A}">
                    <a16:rowId xmlns:a16="http://schemas.microsoft.com/office/drawing/2014/main" val="2169694111"/>
                  </a:ext>
                </a:extLst>
              </a:tr>
              <a:tr h="1031884">
                <a:tc>
                  <a:txBody>
                    <a:bodyPr/>
                    <a:lstStyle/>
                    <a:p>
                      <a:pPr algn="ctr"/>
                      <a:r>
                        <a:rPr lang="en-US" sz="3200" dirty="0">
                          <a:latin typeface="Arial" panose="020B0604020202020204" pitchFamily="34" charset="0"/>
                          <a:cs typeface="Arial" panose="020B0604020202020204" pitchFamily="34" charset="0"/>
                        </a:rPr>
                        <a:t>Examine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element()</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peek()</a:t>
                      </a:r>
                    </a:p>
                  </a:txBody>
                  <a:tcPr marT="45719" marB="45719" anchor="ctr"/>
                </a:tc>
                <a:extLst>
                  <a:ext uri="{0D108BD9-81ED-4DB2-BD59-A6C34878D82A}">
                    <a16:rowId xmlns:a16="http://schemas.microsoft.com/office/drawing/2014/main" val="1039331712"/>
                  </a:ext>
                </a:extLst>
              </a:tr>
            </a:tbl>
          </a:graphicData>
        </a:graphic>
      </p:graphicFrame>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941</TotalTime>
  <Words>838</Words>
  <Application>Microsoft Office PowerPoint</Application>
  <PresentationFormat>On-screen Show (4:3)</PresentationFormat>
  <Paragraphs>180</Paragraphs>
  <Slides>17</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Abadi</vt:lpstr>
      <vt:lpstr>Arial</vt:lpstr>
      <vt:lpstr>Arial Black</vt:lpstr>
      <vt:lpstr>Bahnschrift</vt:lpstr>
      <vt:lpstr>Courier New</vt:lpstr>
      <vt:lpstr>Impact</vt:lpstr>
      <vt:lpstr>Tahoma</vt:lpstr>
      <vt:lpstr>Times New Roman</vt:lpstr>
      <vt:lpstr>Trebuchet MS</vt:lpstr>
      <vt:lpstr>Blank Presentation</vt:lpstr>
      <vt:lpstr>Priority Queues</vt:lpstr>
      <vt:lpstr>Priority Queue</vt:lpstr>
      <vt:lpstr>PowerPoint Presentation</vt:lpstr>
      <vt:lpstr>Priority Queue</vt:lpstr>
      <vt:lpstr>min heap</vt:lpstr>
      <vt:lpstr>Priority Queue</vt:lpstr>
      <vt:lpstr>Priority Queue</vt:lpstr>
      <vt:lpstr>Priority Queue</vt:lpstr>
      <vt:lpstr>Why use a heap?</vt:lpstr>
      <vt:lpstr>PQ Methods</vt:lpstr>
      <vt:lpstr>Java Collection Hierarchy</vt:lpstr>
      <vt:lpstr>PriorityQueue frequently used methods</vt:lpstr>
      <vt:lpstr>Summary of Queue methods</vt:lpstr>
      <vt:lpstr>add</vt:lpstr>
      <vt:lpstr>remove</vt:lpstr>
      <vt:lpstr>isEmpty</vt:lpstr>
      <vt:lpstr>Two Types of Queue methods</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queues</dc:title>
  <dc:subject>Queues</dc:subject>
  <dc:creator>A+ Computer Science</dc:creator>
  <cp:keywords>www.apluscompsci.com</cp:keywords>
  <dc:description>Queues_x000d_
©A+ Computer Science_x000d_
www.apluscompsci.com</dc:description>
  <cp:lastModifiedBy>Weldon Jasik</cp:lastModifiedBy>
  <cp:revision>146</cp:revision>
  <dcterms:created xsi:type="dcterms:W3CDTF">1997-12-05T16:05:17Z</dcterms:created>
  <dcterms:modified xsi:type="dcterms:W3CDTF">2025-02-27T21:51:57Z</dcterms:modified>
  <cp:category>www.apluscompsci.com</cp:category>
</cp:coreProperties>
</file>