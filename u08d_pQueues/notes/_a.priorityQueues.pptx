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0"/>
  </p:notesMasterIdLst>
  <p:handoutMasterIdLst>
    <p:handoutMasterId r:id="rId21"/>
  </p:handoutMasterIdLst>
  <p:sldIdLst>
    <p:sldId id="257" r:id="rId2"/>
    <p:sldId id="313" r:id="rId3"/>
    <p:sldId id="343" r:id="rId4"/>
    <p:sldId id="342" r:id="rId5"/>
    <p:sldId id="281" r:id="rId6"/>
    <p:sldId id="335" r:id="rId7"/>
    <p:sldId id="336" r:id="rId8"/>
    <p:sldId id="344" r:id="rId9"/>
    <p:sldId id="345" r:id="rId10"/>
    <p:sldId id="333" r:id="rId11"/>
    <p:sldId id="340" r:id="rId12"/>
    <p:sldId id="334" r:id="rId13"/>
    <p:sldId id="341" r:id="rId14"/>
    <p:sldId id="318" r:id="rId15"/>
    <p:sldId id="314" r:id="rId16"/>
    <p:sldId id="316" r:id="rId17"/>
    <p:sldId id="301" r:id="rId18"/>
    <p:sldId id="321" r:id="rId19"/>
  </p:sldIdLst>
  <p:sldSz cx="9144000" cy="6858000" type="screen4x3"/>
  <p:notesSz cx="6858000" cy="9144000"/>
  <p:defaultTextStyle>
    <a:defPPr>
      <a:defRPr lang="en-US"/>
    </a:defPPr>
    <a:lvl1pPr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800" b="1" kern="1200">
        <a:solidFill>
          <a:schemeClr val="tx1"/>
        </a:solidFill>
        <a:latin typeface="Tahoma" panose="020B0604030504040204" pitchFamily="34" charset="0"/>
        <a:ea typeface="+mn-ea"/>
        <a:cs typeface="+mn-cs"/>
      </a:defRPr>
    </a:lvl5pPr>
    <a:lvl6pPr marL="2286000" algn="l" defTabSz="914400" rtl="0" eaLnBrk="1" latinLnBrk="0" hangingPunct="1">
      <a:defRPr sz="2800" b="1" kern="1200">
        <a:solidFill>
          <a:schemeClr val="tx1"/>
        </a:solidFill>
        <a:latin typeface="Tahoma" panose="020B0604030504040204" pitchFamily="34" charset="0"/>
        <a:ea typeface="+mn-ea"/>
        <a:cs typeface="+mn-cs"/>
      </a:defRPr>
    </a:lvl6pPr>
    <a:lvl7pPr marL="2743200" algn="l" defTabSz="914400" rtl="0" eaLnBrk="1" latinLnBrk="0" hangingPunct="1">
      <a:defRPr sz="2800" b="1" kern="1200">
        <a:solidFill>
          <a:schemeClr val="tx1"/>
        </a:solidFill>
        <a:latin typeface="Tahoma" panose="020B0604030504040204" pitchFamily="34" charset="0"/>
        <a:ea typeface="+mn-ea"/>
        <a:cs typeface="+mn-cs"/>
      </a:defRPr>
    </a:lvl7pPr>
    <a:lvl8pPr marL="3200400" algn="l" defTabSz="914400" rtl="0" eaLnBrk="1" latinLnBrk="0" hangingPunct="1">
      <a:defRPr sz="2800" b="1" kern="1200">
        <a:solidFill>
          <a:schemeClr val="tx1"/>
        </a:solidFill>
        <a:latin typeface="Tahoma" panose="020B0604030504040204" pitchFamily="34" charset="0"/>
        <a:ea typeface="+mn-ea"/>
        <a:cs typeface="+mn-cs"/>
      </a:defRPr>
    </a:lvl8pPr>
    <a:lvl9pPr marL="3657600" algn="l" defTabSz="914400" rtl="0" eaLnBrk="1" latinLnBrk="0" hangingPunct="1">
      <a:defRPr sz="28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6CC"/>
    <a:srgbClr val="000099"/>
    <a:srgbClr val="008000"/>
    <a:srgbClr val="66FFFF"/>
    <a:srgbClr val="FFFFCC"/>
    <a:srgbClr val="0066FF"/>
    <a:srgbClr val="CC0000"/>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8761" autoAdjust="0"/>
    <p:restoredTop sz="90929"/>
  </p:normalViewPr>
  <p:slideViewPr>
    <p:cSldViewPr snapToGrid="0">
      <p:cViewPr varScale="1">
        <p:scale>
          <a:sx n="43" d="100"/>
          <a:sy n="43" d="100"/>
        </p:scale>
        <p:origin x="53" y="7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1026">
            <a:extLst>
              <a:ext uri="{FF2B5EF4-FFF2-40B4-BE49-F238E27FC236}">
                <a16:creationId xmlns:a16="http://schemas.microsoft.com/office/drawing/2014/main" id="{CCD1801F-DEAE-4FFE-A1D6-99445BF58556}"/>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2771" name="Rectangle 1027">
            <a:extLst>
              <a:ext uri="{FF2B5EF4-FFF2-40B4-BE49-F238E27FC236}">
                <a16:creationId xmlns:a16="http://schemas.microsoft.com/office/drawing/2014/main" id="{20A3624A-CF23-4A95-8479-263D28F2A353}"/>
              </a:ext>
            </a:extLst>
          </p:cNvPr>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32772" name="Rectangle 1028">
            <a:extLst>
              <a:ext uri="{FF2B5EF4-FFF2-40B4-BE49-F238E27FC236}">
                <a16:creationId xmlns:a16="http://schemas.microsoft.com/office/drawing/2014/main" id="{2560D3C0-6677-4626-B6F0-30E2D648F37D}"/>
              </a:ext>
            </a:extLst>
          </p:cNvPr>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2773" name="Rectangle 1029">
            <a:extLst>
              <a:ext uri="{FF2B5EF4-FFF2-40B4-BE49-F238E27FC236}">
                <a16:creationId xmlns:a16="http://schemas.microsoft.com/office/drawing/2014/main" id="{6F1E3573-114E-419D-9719-73C3C575F6A1}"/>
              </a:ext>
            </a:extLst>
          </p:cNvPr>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747BDB78-A737-4A3C-B041-2FA54A71B8CA}"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74E12EAB-7917-4460-91E6-60258A5BADCA}"/>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200"/>
            </a:lvl1pPr>
          </a:lstStyle>
          <a:p>
            <a:pPr>
              <a:defRPr/>
            </a:pPr>
            <a:endParaRPr lang="en-US"/>
          </a:p>
        </p:txBody>
      </p:sp>
      <p:sp>
        <p:nvSpPr>
          <p:cNvPr id="30723" name="Rectangle 3">
            <a:extLst>
              <a:ext uri="{FF2B5EF4-FFF2-40B4-BE49-F238E27FC236}">
                <a16:creationId xmlns:a16="http://schemas.microsoft.com/office/drawing/2014/main" id="{9E38BFE3-CD3A-4651-B930-229E1365E947}"/>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2052" name="Rectangle 4">
            <a:extLst>
              <a:ext uri="{FF2B5EF4-FFF2-40B4-BE49-F238E27FC236}">
                <a16:creationId xmlns:a16="http://schemas.microsoft.com/office/drawing/2014/main" id="{4DF629F9-E810-4F7E-AA84-0BBABC17B216}"/>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25" name="Rectangle 5">
            <a:extLst>
              <a:ext uri="{FF2B5EF4-FFF2-40B4-BE49-F238E27FC236}">
                <a16:creationId xmlns:a16="http://schemas.microsoft.com/office/drawing/2014/main" id="{B7629FD0-0195-446E-A6A4-B9D6D07AA286}"/>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26" name="Rectangle 6">
            <a:extLst>
              <a:ext uri="{FF2B5EF4-FFF2-40B4-BE49-F238E27FC236}">
                <a16:creationId xmlns:a16="http://schemas.microsoft.com/office/drawing/2014/main" id="{4B70D21B-C359-4683-9592-85097B14A439}"/>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l">
              <a:defRPr sz="1200"/>
            </a:lvl1pPr>
          </a:lstStyle>
          <a:p>
            <a:pPr>
              <a:defRPr/>
            </a:pPr>
            <a:endParaRPr lang="en-US"/>
          </a:p>
        </p:txBody>
      </p:sp>
      <p:sp>
        <p:nvSpPr>
          <p:cNvPr id="30727" name="Rectangle 7">
            <a:extLst>
              <a:ext uri="{FF2B5EF4-FFF2-40B4-BE49-F238E27FC236}">
                <a16:creationId xmlns:a16="http://schemas.microsoft.com/office/drawing/2014/main" id="{B2477419-A76C-46CA-99C4-32FA314E4BB0}"/>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7270AEE1-45CC-4E63-B918-7CC249E080EA}"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en-US" sz="1200" b="0" dirty="0">
                <a:latin typeface="Arial" panose="020B0604020202020204" pitchFamily="34" charset="0"/>
                <a:cs typeface="Arial" panose="020B0604020202020204" pitchFamily="34" charset="0"/>
              </a:rPr>
              <a:t>It just so happens that a heap is a very good data structure to implement a priority queue, because the operations which are made efficient by the heap data </a:t>
            </a:r>
            <a:r>
              <a:rPr lang="en-US" altLang="en-US" sz="1200" b="0" dirty="0" err="1">
                <a:latin typeface="Arial" panose="020B0604020202020204" pitchFamily="34" charset="0"/>
                <a:cs typeface="Arial" panose="020B0604020202020204" pitchFamily="34" charset="0"/>
              </a:rPr>
              <a:t>strucure</a:t>
            </a:r>
            <a:r>
              <a:rPr lang="en-US" altLang="en-US" sz="1200" b="0" dirty="0">
                <a:latin typeface="Arial" panose="020B0604020202020204" pitchFamily="34" charset="0"/>
                <a:cs typeface="Arial" panose="020B0604020202020204" pitchFamily="34" charset="0"/>
              </a:rPr>
              <a:t> are the operations that the priority queue interface needs.</a:t>
            </a:r>
          </a:p>
          <a:p>
            <a:endParaRPr lang="en-US" dirty="0"/>
          </a:p>
        </p:txBody>
      </p:sp>
      <p:sp>
        <p:nvSpPr>
          <p:cNvPr id="4" name="Slide Number Placeholder 3"/>
          <p:cNvSpPr>
            <a:spLocks noGrp="1"/>
          </p:cNvSpPr>
          <p:nvPr>
            <p:ph type="sldNum" sz="quarter" idx="5"/>
          </p:nvPr>
        </p:nvSpPr>
        <p:spPr/>
        <p:txBody>
          <a:bodyPr/>
          <a:lstStyle/>
          <a:p>
            <a:fld id="{7270AEE1-45CC-4E63-B918-7CC249E080EA}" type="slidenum">
              <a:rPr lang="en-US" altLang="en-US" smtClean="0"/>
              <a:pPr/>
              <a:t>6</a:t>
            </a:fld>
            <a:endParaRPr lang="en-US" altLang="en-US"/>
          </a:p>
        </p:txBody>
      </p:sp>
    </p:spTree>
    <p:extLst>
      <p:ext uri="{BB962C8B-B14F-4D97-AF65-F5344CB8AC3E}">
        <p14:creationId xmlns:p14="http://schemas.microsoft.com/office/powerpoint/2010/main" val="4211660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9B8BE71-C176-4517-A6ED-1CCE5899B086}" type="slidenum">
              <a:rPr lang="en-US" altLang="en-US" smtClean="0"/>
              <a:pPr/>
              <a:t>11</a:t>
            </a:fld>
            <a:endParaRPr lang="en-US" altLang="en-US"/>
          </a:p>
        </p:txBody>
      </p:sp>
    </p:spTree>
    <p:extLst>
      <p:ext uri="{BB962C8B-B14F-4D97-AF65-F5344CB8AC3E}">
        <p14:creationId xmlns:p14="http://schemas.microsoft.com/office/powerpoint/2010/main" val="18351914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E65841B9-C432-4A79-A955-EF26C5FE338A}"/>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A21BCA29-DB42-4486-96D7-C36113A70C34}"/>
              </a:ext>
            </a:extLst>
          </p:cNvPr>
          <p:cNvSpPr>
            <a:spLocks noGrp="1" noChangeArrowheads="1"/>
          </p:cNvSpPr>
          <p:nvPr>
            <p:ph type="body" idx="1"/>
          </p:nvPr>
        </p:nvSpPr>
        <p:spPr>
          <a:noFill/>
        </p:spPr>
        <p:txBody>
          <a:bodyPr/>
          <a:lstStyle/>
          <a:p>
            <a:endParaRPr lang="en-US" altLang="en-US"/>
          </a:p>
        </p:txBody>
      </p:sp>
      <p:sp>
        <p:nvSpPr>
          <p:cNvPr id="25604" name="Slide Number Placeholder 3">
            <a:extLst>
              <a:ext uri="{FF2B5EF4-FFF2-40B4-BE49-F238E27FC236}">
                <a16:creationId xmlns:a16="http://schemas.microsoft.com/office/drawing/2014/main" id="{0EE5D495-92A6-4ED7-B436-452735D77134}"/>
              </a:ext>
            </a:extLst>
          </p:cNvPr>
          <p:cNvSpPr>
            <a:spLocks noGrp="1"/>
          </p:cNvSpPr>
          <p:nvPr>
            <p:ph type="sldNum" sz="quarter" idx="5"/>
          </p:nvPr>
        </p:nvSpPr>
        <p:spPr>
          <a:noFill/>
        </p:spPr>
        <p:txBody>
          <a:bodyPr/>
          <a:lstStyle>
            <a:lvl1pPr>
              <a:defRPr sz="2800" b="1">
                <a:solidFill>
                  <a:schemeClr val="tx1"/>
                </a:solidFill>
                <a:latin typeface="Tahoma" panose="020B0604030504040204" pitchFamily="34" charset="0"/>
              </a:defRPr>
            </a:lvl1pPr>
            <a:lvl2pPr marL="742950" indent="-285750">
              <a:defRPr sz="2800" b="1">
                <a:solidFill>
                  <a:schemeClr val="tx1"/>
                </a:solidFill>
                <a:latin typeface="Tahoma" panose="020B0604030504040204" pitchFamily="34" charset="0"/>
              </a:defRPr>
            </a:lvl2pPr>
            <a:lvl3pPr marL="1143000" indent="-228600">
              <a:defRPr sz="2800" b="1">
                <a:solidFill>
                  <a:schemeClr val="tx1"/>
                </a:solidFill>
                <a:latin typeface="Tahoma" panose="020B0604030504040204" pitchFamily="34" charset="0"/>
              </a:defRPr>
            </a:lvl3pPr>
            <a:lvl4pPr marL="1600200" indent="-228600">
              <a:defRPr sz="2800" b="1">
                <a:solidFill>
                  <a:schemeClr val="tx1"/>
                </a:solidFill>
                <a:latin typeface="Tahoma" panose="020B0604030504040204" pitchFamily="34" charset="0"/>
              </a:defRPr>
            </a:lvl4pPr>
            <a:lvl5pPr marL="2057400" indent="-228600">
              <a:defRPr sz="2800" b="1">
                <a:solidFill>
                  <a:schemeClr val="tx1"/>
                </a:solidFill>
                <a:latin typeface="Tahoma" panose="020B0604030504040204" pitchFamily="34" charset="0"/>
              </a:defRPr>
            </a:lvl5pPr>
            <a:lvl6pPr marL="2514600" indent="-228600" eaLnBrk="0" fontAlgn="base" hangingPunct="0">
              <a:spcBef>
                <a:spcPct val="0"/>
              </a:spcBef>
              <a:spcAft>
                <a:spcPct val="0"/>
              </a:spcAft>
              <a:defRPr sz="2800" b="1">
                <a:solidFill>
                  <a:schemeClr val="tx1"/>
                </a:solidFill>
                <a:latin typeface="Tahoma" panose="020B0604030504040204" pitchFamily="34" charset="0"/>
              </a:defRPr>
            </a:lvl6pPr>
            <a:lvl7pPr marL="2971800" indent="-228600" eaLnBrk="0" fontAlgn="base" hangingPunct="0">
              <a:spcBef>
                <a:spcPct val="0"/>
              </a:spcBef>
              <a:spcAft>
                <a:spcPct val="0"/>
              </a:spcAft>
              <a:defRPr sz="2800" b="1">
                <a:solidFill>
                  <a:schemeClr val="tx1"/>
                </a:solidFill>
                <a:latin typeface="Tahoma" panose="020B0604030504040204" pitchFamily="34" charset="0"/>
              </a:defRPr>
            </a:lvl7pPr>
            <a:lvl8pPr marL="3429000" indent="-228600" eaLnBrk="0" fontAlgn="base" hangingPunct="0">
              <a:spcBef>
                <a:spcPct val="0"/>
              </a:spcBef>
              <a:spcAft>
                <a:spcPct val="0"/>
              </a:spcAft>
              <a:defRPr sz="2800" b="1">
                <a:solidFill>
                  <a:schemeClr val="tx1"/>
                </a:solidFill>
                <a:latin typeface="Tahoma" panose="020B0604030504040204" pitchFamily="34" charset="0"/>
              </a:defRPr>
            </a:lvl8pPr>
            <a:lvl9pPr marL="3886200" indent="-228600" eaLnBrk="0" fontAlgn="base" hangingPunct="0">
              <a:spcBef>
                <a:spcPct val="0"/>
              </a:spcBef>
              <a:spcAft>
                <a:spcPct val="0"/>
              </a:spcAft>
              <a:defRPr sz="2800" b="1">
                <a:solidFill>
                  <a:schemeClr val="tx1"/>
                </a:solidFill>
                <a:latin typeface="Tahoma" panose="020B0604030504040204" pitchFamily="34" charset="0"/>
              </a:defRPr>
            </a:lvl9pPr>
          </a:lstStyle>
          <a:p>
            <a:fld id="{DEEBA019-D4B6-4704-B5A4-73145C0F5A8E}" type="slidenum">
              <a:rPr lang="en-US" altLang="en-US" sz="1200"/>
              <a:pPr/>
              <a:t>13</a:t>
            </a:fld>
            <a:endParaRPr lang="en-US" alt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Image Placeholder 1">
            <a:extLst>
              <a:ext uri="{FF2B5EF4-FFF2-40B4-BE49-F238E27FC236}">
                <a16:creationId xmlns:a16="http://schemas.microsoft.com/office/drawing/2014/main" id="{B7CAF78F-A197-4A08-A2CF-30829353917E}"/>
              </a:ext>
            </a:extLst>
          </p:cNvPr>
          <p:cNvSpPr>
            <a:spLocks noGrp="1" noRot="1" noChangeAspect="1" noChangeArrowheads="1" noTextEdit="1"/>
          </p:cNvSpPr>
          <p:nvPr>
            <p:ph type="sldImg"/>
          </p:nvPr>
        </p:nvSpPr>
        <p:spPr>
          <a:ln/>
        </p:spPr>
      </p:sp>
      <p:sp>
        <p:nvSpPr>
          <p:cNvPr id="11267" name="Notes Placeholder 2">
            <a:extLst>
              <a:ext uri="{FF2B5EF4-FFF2-40B4-BE49-F238E27FC236}">
                <a16:creationId xmlns:a16="http://schemas.microsoft.com/office/drawing/2014/main" id="{7BE71AE9-7F78-4C3E-BD60-A32CF43713B3}"/>
              </a:ext>
            </a:extLst>
          </p:cNvPr>
          <p:cNvSpPr>
            <a:spLocks noGrp="1" noChangeArrowheads="1"/>
          </p:cNvSpPr>
          <p:nvPr>
            <p:ph type="body" idx="1"/>
          </p:nvPr>
        </p:nvSpPr>
        <p:spPr>
          <a:noFill/>
        </p:spPr>
        <p:txBody>
          <a:bodyPr/>
          <a:lstStyle/>
          <a:p>
            <a:r>
              <a:rPr lang="en-US" altLang="en-US"/>
              <a:t>The built-in iterator does not traverse the data structure in any particular order because the underlying data structure doesn't support it. A binary heap is only partially ordered, with the smallest element at the root. When you remove that, the heap is reordered so that the next smallest element is at the root. There is no efficient ordered traversal algorithm so none is provided in Java. </a:t>
            </a:r>
          </a:p>
          <a:p>
            <a:endParaRPr lang="en-US" altLang="en-US"/>
          </a:p>
        </p:txBody>
      </p:sp>
      <p:sp>
        <p:nvSpPr>
          <p:cNvPr id="11268" name="Slide Number Placeholder 3">
            <a:extLst>
              <a:ext uri="{FF2B5EF4-FFF2-40B4-BE49-F238E27FC236}">
                <a16:creationId xmlns:a16="http://schemas.microsoft.com/office/drawing/2014/main" id="{BCC27601-9E36-4D92-B7D2-6D0E7BF663A2}"/>
              </a:ext>
            </a:extLst>
          </p:cNvPr>
          <p:cNvSpPr>
            <a:spLocks noGrp="1"/>
          </p:cNvSpPr>
          <p:nvPr>
            <p:ph type="sldNum" sz="quarter" idx="5"/>
          </p:nvPr>
        </p:nvSpPr>
        <p:spPr>
          <a:noFill/>
        </p:spPr>
        <p:txBody>
          <a:bodyPr/>
          <a:lstStyle>
            <a:lvl1pPr algn="r">
              <a:defRPr sz="2800" b="1">
                <a:solidFill>
                  <a:schemeClr val="tx1"/>
                </a:solidFill>
                <a:latin typeface="Tahoma" panose="020B0604030504040204" pitchFamily="34" charset="0"/>
              </a:defRPr>
            </a:lvl1pPr>
            <a:lvl2pPr marL="742950" indent="-285750" algn="r">
              <a:defRPr sz="2800" b="1">
                <a:solidFill>
                  <a:schemeClr val="tx1"/>
                </a:solidFill>
                <a:latin typeface="Tahoma" panose="020B0604030504040204" pitchFamily="34" charset="0"/>
              </a:defRPr>
            </a:lvl2pPr>
            <a:lvl3pPr marL="1143000" indent="-228600" algn="r">
              <a:defRPr sz="2800" b="1">
                <a:solidFill>
                  <a:schemeClr val="tx1"/>
                </a:solidFill>
                <a:latin typeface="Tahoma" panose="020B0604030504040204" pitchFamily="34" charset="0"/>
              </a:defRPr>
            </a:lvl3pPr>
            <a:lvl4pPr marL="1600200" indent="-228600" algn="r">
              <a:defRPr sz="2800" b="1">
                <a:solidFill>
                  <a:schemeClr val="tx1"/>
                </a:solidFill>
                <a:latin typeface="Tahoma" panose="020B0604030504040204" pitchFamily="34" charset="0"/>
              </a:defRPr>
            </a:lvl4pPr>
            <a:lvl5pPr marL="2057400" indent="-228600" algn="r">
              <a:defRPr sz="2800" b="1">
                <a:solidFill>
                  <a:schemeClr val="tx1"/>
                </a:solidFill>
                <a:latin typeface="Tahoma" panose="020B0604030504040204" pitchFamily="34" charset="0"/>
              </a:defRPr>
            </a:lvl5pPr>
            <a:lvl6pPr marL="2514600" indent="-228600" algn="r" eaLnBrk="0" fontAlgn="base" hangingPunct="0">
              <a:spcBef>
                <a:spcPct val="0"/>
              </a:spcBef>
              <a:spcAft>
                <a:spcPct val="0"/>
              </a:spcAft>
              <a:defRPr sz="2800" b="1">
                <a:solidFill>
                  <a:schemeClr val="tx1"/>
                </a:solidFill>
                <a:latin typeface="Tahoma" panose="020B0604030504040204" pitchFamily="34" charset="0"/>
              </a:defRPr>
            </a:lvl6pPr>
            <a:lvl7pPr marL="2971800" indent="-228600" algn="r" eaLnBrk="0" fontAlgn="base" hangingPunct="0">
              <a:spcBef>
                <a:spcPct val="0"/>
              </a:spcBef>
              <a:spcAft>
                <a:spcPct val="0"/>
              </a:spcAft>
              <a:defRPr sz="2800" b="1">
                <a:solidFill>
                  <a:schemeClr val="tx1"/>
                </a:solidFill>
                <a:latin typeface="Tahoma" panose="020B0604030504040204" pitchFamily="34" charset="0"/>
              </a:defRPr>
            </a:lvl7pPr>
            <a:lvl8pPr marL="3429000" indent="-228600" algn="r" eaLnBrk="0" fontAlgn="base" hangingPunct="0">
              <a:spcBef>
                <a:spcPct val="0"/>
              </a:spcBef>
              <a:spcAft>
                <a:spcPct val="0"/>
              </a:spcAft>
              <a:defRPr sz="2800" b="1">
                <a:solidFill>
                  <a:schemeClr val="tx1"/>
                </a:solidFill>
                <a:latin typeface="Tahoma" panose="020B0604030504040204" pitchFamily="34" charset="0"/>
              </a:defRPr>
            </a:lvl8pPr>
            <a:lvl9pPr marL="3886200" indent="-228600" algn="r" eaLnBrk="0" fontAlgn="base" hangingPunct="0">
              <a:spcBef>
                <a:spcPct val="0"/>
              </a:spcBef>
              <a:spcAft>
                <a:spcPct val="0"/>
              </a:spcAft>
              <a:defRPr sz="2800" b="1">
                <a:solidFill>
                  <a:schemeClr val="tx1"/>
                </a:solidFill>
                <a:latin typeface="Tahoma" panose="020B0604030504040204" pitchFamily="34" charset="0"/>
              </a:defRPr>
            </a:lvl9pPr>
          </a:lstStyle>
          <a:p>
            <a:fld id="{60700D2D-1526-4527-B64E-134A55EA6A84}" type="slidenum">
              <a:rPr lang="en-US" altLang="en-US" sz="1200"/>
              <a:pPr/>
              <a:t>14</a:t>
            </a:fld>
            <a:endParaRPr lang="en-US" alt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8D0B9C4E-2EFC-47B3-AE66-9369C16532E0}"/>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3BBCE74B-EDCE-44E3-866D-135836D79010}"/>
              </a:ext>
            </a:extLst>
          </p:cNvPr>
          <p:cNvSpPr>
            <a:spLocks noGrp="1" noChangeArrowheads="1"/>
          </p:cNvSpPr>
          <p:nvPr>
            <p:ph type="sldNum" sz="quarter" idx="11"/>
          </p:nvPr>
        </p:nvSpPr>
        <p:spPr>
          <a:ln/>
        </p:spPr>
        <p:txBody>
          <a:bodyPr/>
          <a:lstStyle>
            <a:lvl1pPr>
              <a:defRPr/>
            </a:lvl1pPr>
          </a:lstStyle>
          <a:p>
            <a:fld id="{D7F80C42-B06F-4610-85AD-3E89F96CA7A8}" type="slidenum">
              <a:rPr lang="en-US" altLang="en-US"/>
              <a:pPr/>
              <a:t>‹#›</a:t>
            </a:fld>
            <a:endParaRPr lang="en-US" altLang="en-US"/>
          </a:p>
        </p:txBody>
      </p:sp>
      <p:sp>
        <p:nvSpPr>
          <p:cNvPr id="6" name="Rectangle 7">
            <a:extLst>
              <a:ext uri="{FF2B5EF4-FFF2-40B4-BE49-F238E27FC236}">
                <a16:creationId xmlns:a16="http://schemas.microsoft.com/office/drawing/2014/main" id="{C8B468C3-C092-407F-B14D-C8578E18428C}"/>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18001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C1417229-90DD-4750-8C02-6EBFBC436E6F}"/>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B4812AF4-AE2F-45F7-8CBC-9C28D33E356A}"/>
              </a:ext>
            </a:extLst>
          </p:cNvPr>
          <p:cNvSpPr>
            <a:spLocks noGrp="1" noChangeArrowheads="1"/>
          </p:cNvSpPr>
          <p:nvPr>
            <p:ph type="sldNum" sz="quarter" idx="11"/>
          </p:nvPr>
        </p:nvSpPr>
        <p:spPr>
          <a:ln/>
        </p:spPr>
        <p:txBody>
          <a:bodyPr/>
          <a:lstStyle>
            <a:lvl1pPr>
              <a:defRPr/>
            </a:lvl1pPr>
          </a:lstStyle>
          <a:p>
            <a:fld id="{E9AB64FB-E1C9-48D9-97FF-2125C42C0401}" type="slidenum">
              <a:rPr lang="en-US" altLang="en-US"/>
              <a:pPr/>
              <a:t>‹#›</a:t>
            </a:fld>
            <a:endParaRPr lang="en-US" altLang="en-US"/>
          </a:p>
        </p:txBody>
      </p:sp>
      <p:sp>
        <p:nvSpPr>
          <p:cNvPr id="6" name="Rectangle 7">
            <a:extLst>
              <a:ext uri="{FF2B5EF4-FFF2-40B4-BE49-F238E27FC236}">
                <a16:creationId xmlns:a16="http://schemas.microsoft.com/office/drawing/2014/main" id="{51EB0D4F-162D-48D8-96F5-3E427C0C18CE}"/>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22241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E85BD2B6-30EC-4A33-AC1B-2D19A5397526}"/>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FE7B08A6-42E1-4C06-822B-6C966E8707A2}"/>
              </a:ext>
            </a:extLst>
          </p:cNvPr>
          <p:cNvSpPr>
            <a:spLocks noGrp="1" noChangeArrowheads="1"/>
          </p:cNvSpPr>
          <p:nvPr>
            <p:ph type="sldNum" sz="quarter" idx="11"/>
          </p:nvPr>
        </p:nvSpPr>
        <p:spPr>
          <a:ln/>
        </p:spPr>
        <p:txBody>
          <a:bodyPr/>
          <a:lstStyle>
            <a:lvl1pPr>
              <a:defRPr/>
            </a:lvl1pPr>
          </a:lstStyle>
          <a:p>
            <a:fld id="{20ACA458-DAC5-4A5D-A38A-46920D357B0C}" type="slidenum">
              <a:rPr lang="en-US" altLang="en-US"/>
              <a:pPr/>
              <a:t>‹#›</a:t>
            </a:fld>
            <a:endParaRPr lang="en-US" altLang="en-US"/>
          </a:p>
        </p:txBody>
      </p:sp>
      <p:sp>
        <p:nvSpPr>
          <p:cNvPr id="6" name="Rectangle 7">
            <a:extLst>
              <a:ext uri="{FF2B5EF4-FFF2-40B4-BE49-F238E27FC236}">
                <a16:creationId xmlns:a16="http://schemas.microsoft.com/office/drawing/2014/main" id="{50F38A38-03A2-495E-99FD-94B0989A3791}"/>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2891092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45CB60C6-780F-41C8-9BBB-B5069E8DD70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A6A55A60-AFA8-44CD-9AED-805FADCA182F}"/>
              </a:ext>
            </a:extLst>
          </p:cNvPr>
          <p:cNvSpPr>
            <a:spLocks noGrp="1" noChangeArrowheads="1"/>
          </p:cNvSpPr>
          <p:nvPr>
            <p:ph type="sldNum" sz="quarter" idx="11"/>
          </p:nvPr>
        </p:nvSpPr>
        <p:spPr>
          <a:ln/>
        </p:spPr>
        <p:txBody>
          <a:bodyPr/>
          <a:lstStyle>
            <a:lvl1pPr>
              <a:defRPr/>
            </a:lvl1pPr>
          </a:lstStyle>
          <a:p>
            <a:fld id="{193E44FB-A2C1-478E-8687-C4822E94DE9F}" type="slidenum">
              <a:rPr lang="en-US" altLang="en-US"/>
              <a:pPr/>
              <a:t>‹#›</a:t>
            </a:fld>
            <a:endParaRPr lang="en-US" altLang="en-US"/>
          </a:p>
        </p:txBody>
      </p:sp>
      <p:sp>
        <p:nvSpPr>
          <p:cNvPr id="7" name="Rectangle 7">
            <a:extLst>
              <a:ext uri="{FF2B5EF4-FFF2-40B4-BE49-F238E27FC236}">
                <a16:creationId xmlns:a16="http://schemas.microsoft.com/office/drawing/2014/main" id="{14926C90-89D6-4327-9506-86204DF53863}"/>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277992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A77970F9-54F5-4078-B889-0B51B6DF08AB}"/>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7F0E855C-B76E-4DEE-8B96-95CA0844C629}"/>
              </a:ext>
            </a:extLst>
          </p:cNvPr>
          <p:cNvSpPr>
            <a:spLocks noGrp="1" noChangeArrowheads="1"/>
          </p:cNvSpPr>
          <p:nvPr>
            <p:ph type="sldNum" sz="quarter" idx="11"/>
          </p:nvPr>
        </p:nvSpPr>
        <p:spPr>
          <a:ln/>
        </p:spPr>
        <p:txBody>
          <a:bodyPr/>
          <a:lstStyle>
            <a:lvl1pPr>
              <a:defRPr/>
            </a:lvl1pPr>
          </a:lstStyle>
          <a:p>
            <a:fld id="{CCC4CA25-376B-4415-8578-428578C716E5}" type="slidenum">
              <a:rPr lang="en-US" altLang="en-US"/>
              <a:pPr/>
              <a:t>‹#›</a:t>
            </a:fld>
            <a:endParaRPr lang="en-US" altLang="en-US"/>
          </a:p>
        </p:txBody>
      </p:sp>
      <p:sp>
        <p:nvSpPr>
          <p:cNvPr id="9" name="Rectangle 7">
            <a:extLst>
              <a:ext uri="{FF2B5EF4-FFF2-40B4-BE49-F238E27FC236}">
                <a16:creationId xmlns:a16="http://schemas.microsoft.com/office/drawing/2014/main" id="{690D4FEE-308C-4C80-B7D0-F1622268A9AF}"/>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556758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037B41F8-91EA-4F44-9B23-A5DC86818070}"/>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EDBD7C4D-7879-4FD8-89DA-5DA4EC24FA46}"/>
              </a:ext>
            </a:extLst>
          </p:cNvPr>
          <p:cNvSpPr>
            <a:spLocks noGrp="1" noChangeArrowheads="1"/>
          </p:cNvSpPr>
          <p:nvPr>
            <p:ph type="sldNum" sz="quarter" idx="11"/>
          </p:nvPr>
        </p:nvSpPr>
        <p:spPr>
          <a:ln/>
        </p:spPr>
        <p:txBody>
          <a:bodyPr/>
          <a:lstStyle>
            <a:lvl1pPr>
              <a:defRPr/>
            </a:lvl1pPr>
          </a:lstStyle>
          <a:p>
            <a:fld id="{BE7348F4-BFB9-4D6A-95FF-06BDF6AB3651}" type="slidenum">
              <a:rPr lang="en-US" altLang="en-US"/>
              <a:pPr/>
              <a:t>‹#›</a:t>
            </a:fld>
            <a:endParaRPr lang="en-US" altLang="en-US"/>
          </a:p>
        </p:txBody>
      </p:sp>
      <p:sp>
        <p:nvSpPr>
          <p:cNvPr id="5" name="Rectangle 7">
            <a:extLst>
              <a:ext uri="{FF2B5EF4-FFF2-40B4-BE49-F238E27FC236}">
                <a16:creationId xmlns:a16="http://schemas.microsoft.com/office/drawing/2014/main" id="{47E97242-F758-4FC5-AAAD-BDBD698647C2}"/>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130379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BD8B08C1-DC6F-4837-AEA9-D898A9340B9A}"/>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BE95C27C-6DC4-4D7C-AFE4-8F93A0272BBD}"/>
              </a:ext>
            </a:extLst>
          </p:cNvPr>
          <p:cNvSpPr>
            <a:spLocks noGrp="1" noChangeArrowheads="1"/>
          </p:cNvSpPr>
          <p:nvPr>
            <p:ph type="sldNum" sz="quarter" idx="11"/>
          </p:nvPr>
        </p:nvSpPr>
        <p:spPr>
          <a:ln/>
        </p:spPr>
        <p:txBody>
          <a:bodyPr/>
          <a:lstStyle>
            <a:lvl1pPr>
              <a:defRPr/>
            </a:lvl1pPr>
          </a:lstStyle>
          <a:p>
            <a:fld id="{2787E605-F3F9-4A8D-9AEC-6A6E0AD73ABD}" type="slidenum">
              <a:rPr lang="en-US" altLang="en-US"/>
              <a:pPr/>
              <a:t>‹#›</a:t>
            </a:fld>
            <a:endParaRPr lang="en-US" altLang="en-US"/>
          </a:p>
        </p:txBody>
      </p:sp>
      <p:sp>
        <p:nvSpPr>
          <p:cNvPr id="4" name="Rectangle 7">
            <a:extLst>
              <a:ext uri="{FF2B5EF4-FFF2-40B4-BE49-F238E27FC236}">
                <a16:creationId xmlns:a16="http://schemas.microsoft.com/office/drawing/2014/main" id="{3BFA09C1-44C3-483A-8580-0A09D6F5CB01}"/>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885010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C4873C44-E5F6-47F4-8C8B-AF46CF66EF7B}"/>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BC60DC34-BE73-48A4-B94E-7235CB503298}"/>
              </a:ext>
            </a:extLst>
          </p:cNvPr>
          <p:cNvSpPr>
            <a:spLocks noGrp="1" noChangeArrowheads="1"/>
          </p:cNvSpPr>
          <p:nvPr>
            <p:ph type="sldNum" sz="quarter" idx="11"/>
          </p:nvPr>
        </p:nvSpPr>
        <p:spPr>
          <a:ln/>
        </p:spPr>
        <p:txBody>
          <a:bodyPr/>
          <a:lstStyle>
            <a:lvl1pPr>
              <a:defRPr/>
            </a:lvl1pPr>
          </a:lstStyle>
          <a:p>
            <a:fld id="{02FC8488-9F53-4C7F-84D0-FC858F259BF2}" type="slidenum">
              <a:rPr lang="en-US" altLang="en-US"/>
              <a:pPr/>
              <a:t>‹#›</a:t>
            </a:fld>
            <a:endParaRPr lang="en-US" altLang="en-US"/>
          </a:p>
        </p:txBody>
      </p:sp>
      <p:sp>
        <p:nvSpPr>
          <p:cNvPr id="7" name="Rectangle 7">
            <a:extLst>
              <a:ext uri="{FF2B5EF4-FFF2-40B4-BE49-F238E27FC236}">
                <a16:creationId xmlns:a16="http://schemas.microsoft.com/office/drawing/2014/main" id="{E576FB58-8BF9-4460-B1DD-CA7F4E0513EA}"/>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427011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586186A3-3B0A-442D-8267-E800F25DA79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8C28B45-E6C5-4B90-A529-61CA2BB5BA53}"/>
              </a:ext>
            </a:extLst>
          </p:cNvPr>
          <p:cNvSpPr>
            <a:spLocks noGrp="1" noChangeArrowheads="1"/>
          </p:cNvSpPr>
          <p:nvPr>
            <p:ph type="sldNum" sz="quarter" idx="11"/>
          </p:nvPr>
        </p:nvSpPr>
        <p:spPr>
          <a:ln/>
        </p:spPr>
        <p:txBody>
          <a:bodyPr/>
          <a:lstStyle>
            <a:lvl1pPr>
              <a:defRPr/>
            </a:lvl1pPr>
          </a:lstStyle>
          <a:p>
            <a:fld id="{807359C5-1FCE-4C4E-85AC-15C0645824A0}" type="slidenum">
              <a:rPr lang="en-US" altLang="en-US"/>
              <a:pPr/>
              <a:t>‹#›</a:t>
            </a:fld>
            <a:endParaRPr lang="en-US" altLang="en-US"/>
          </a:p>
        </p:txBody>
      </p:sp>
      <p:sp>
        <p:nvSpPr>
          <p:cNvPr id="7" name="Rectangle 7">
            <a:extLst>
              <a:ext uri="{FF2B5EF4-FFF2-40B4-BE49-F238E27FC236}">
                <a16:creationId xmlns:a16="http://schemas.microsoft.com/office/drawing/2014/main" id="{D1A8C45B-5053-48BD-914C-B02049784C71}"/>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429196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54AE7E9C-1133-4569-8AE9-2555591D04A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31C1424F-2913-47A5-A180-E8A4DC9A0744}"/>
              </a:ext>
            </a:extLst>
          </p:cNvPr>
          <p:cNvSpPr>
            <a:spLocks noGrp="1" noChangeArrowheads="1"/>
          </p:cNvSpPr>
          <p:nvPr>
            <p:ph type="sldNum" sz="quarter" idx="11"/>
          </p:nvPr>
        </p:nvSpPr>
        <p:spPr>
          <a:ln/>
        </p:spPr>
        <p:txBody>
          <a:bodyPr/>
          <a:lstStyle>
            <a:lvl1pPr>
              <a:defRPr/>
            </a:lvl1pPr>
          </a:lstStyle>
          <a:p>
            <a:fld id="{E51952F1-CA23-4D7A-9786-F95C8066FC49}" type="slidenum">
              <a:rPr lang="en-US" altLang="en-US"/>
              <a:pPr/>
              <a:t>‹#›</a:t>
            </a:fld>
            <a:endParaRPr lang="en-US" altLang="en-US"/>
          </a:p>
        </p:txBody>
      </p:sp>
      <p:sp>
        <p:nvSpPr>
          <p:cNvPr id="6" name="Rectangle 7">
            <a:extLst>
              <a:ext uri="{FF2B5EF4-FFF2-40B4-BE49-F238E27FC236}">
                <a16:creationId xmlns:a16="http://schemas.microsoft.com/office/drawing/2014/main" id="{7CC5699C-38CD-4012-89AB-7CBFC8D8C7D4}"/>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13296006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181A42B3-F170-4408-9253-D50123A9A864}"/>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4CEFB8E7-48F7-474E-A076-E84791CE8E22}"/>
              </a:ext>
            </a:extLst>
          </p:cNvPr>
          <p:cNvSpPr>
            <a:spLocks noGrp="1" noChangeArrowheads="1"/>
          </p:cNvSpPr>
          <p:nvPr>
            <p:ph type="sldNum" sz="quarter" idx="11"/>
          </p:nvPr>
        </p:nvSpPr>
        <p:spPr>
          <a:ln/>
        </p:spPr>
        <p:txBody>
          <a:bodyPr/>
          <a:lstStyle>
            <a:lvl1pPr>
              <a:defRPr/>
            </a:lvl1pPr>
          </a:lstStyle>
          <a:p>
            <a:fld id="{C745F6E7-9E8A-436B-AC99-2D81D476BCAF}" type="slidenum">
              <a:rPr lang="en-US" altLang="en-US"/>
              <a:pPr/>
              <a:t>‹#›</a:t>
            </a:fld>
            <a:endParaRPr lang="en-US" altLang="en-US"/>
          </a:p>
        </p:txBody>
      </p:sp>
      <p:sp>
        <p:nvSpPr>
          <p:cNvPr id="6" name="Rectangle 7">
            <a:extLst>
              <a:ext uri="{FF2B5EF4-FFF2-40B4-BE49-F238E27FC236}">
                <a16:creationId xmlns:a16="http://schemas.microsoft.com/office/drawing/2014/main" id="{25AA4097-5C1D-43E7-B5DB-80082FE9C0A7}"/>
              </a:ext>
            </a:extLst>
          </p:cNvPr>
          <p:cNvSpPr>
            <a:spLocks noGrp="1" noChangeArrowheads="1"/>
          </p:cNvSpPr>
          <p:nvPr>
            <p:ph type="ftr" sz="quarter" idx="12"/>
          </p:nvPr>
        </p:nvSpPr>
        <p:spPr>
          <a:ln/>
        </p:spPr>
        <p:txBody>
          <a:bodyPr/>
          <a:lstStyle>
            <a:lvl1pPr>
              <a:defRPr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extLst>
      <p:ext uri="{BB962C8B-B14F-4D97-AF65-F5344CB8AC3E}">
        <p14:creationId xmlns:p14="http://schemas.microsoft.com/office/powerpoint/2010/main" val="32861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EA06CBF2-E9E4-40D1-B019-5171DC0B73FD}"/>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EE4A1EA0-61B4-42ED-B44D-E29C03CDC22D}"/>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EF2AC58A-A5CD-4ED6-BE6F-306381193F7C}"/>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l">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4CC16017-18CD-4490-B90C-35448E4A4CC4}"/>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latin typeface="Times New Roman" panose="02020603050405020304" pitchFamily="18" charset="0"/>
              </a:defRPr>
            </a:lvl1pPr>
          </a:lstStyle>
          <a:p>
            <a:fld id="{FF9C88B0-69C2-4A5A-8A61-5E7C4B9CAE48}" type="slidenum">
              <a:rPr lang="en-US" altLang="en-US"/>
              <a:pPr/>
              <a:t>‹#›</a:t>
            </a:fld>
            <a:endParaRPr lang="en-US" altLang="en-US"/>
          </a:p>
        </p:txBody>
      </p:sp>
      <p:sp>
        <p:nvSpPr>
          <p:cNvPr id="1031" name="Rectangle 7">
            <a:extLst>
              <a:ext uri="{FF2B5EF4-FFF2-40B4-BE49-F238E27FC236}">
                <a16:creationId xmlns:a16="http://schemas.microsoft.com/office/drawing/2014/main" id="{E54E96FF-30E1-41C7-A694-B50B268E9B3A}"/>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eaLnBrk="1" hangingPunct="1">
              <a:defRPr sz="800"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0AC3102B-9101-4577-ABED-57E9341F577A}"/>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pic>
        <p:nvPicPr>
          <p:cNvPr id="2050" name="Picture 2" descr="COVID-19 continues to impact public hospital emergency departments – ANMJ">
            <a:extLst>
              <a:ext uri="{FF2B5EF4-FFF2-40B4-BE49-F238E27FC236}">
                <a16:creationId xmlns:a16="http://schemas.microsoft.com/office/drawing/2014/main" id="{CCBE4FE5-BD4A-E326-A093-4DB8D66878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56810" y="3086557"/>
            <a:ext cx="4230379" cy="282098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14C1116-9B66-6DC0-5923-E8A9FB18BBAC}"/>
              </a:ext>
            </a:extLst>
          </p:cNvPr>
          <p:cNvSpPr/>
          <p:nvPr/>
        </p:nvSpPr>
        <p:spPr>
          <a:xfrm>
            <a:off x="762000" y="914400"/>
            <a:ext cx="7783670" cy="1446550"/>
          </a:xfrm>
          <a:prstGeom prst="rect">
            <a:avLst/>
          </a:prstGeom>
          <a:noFill/>
        </p:spPr>
        <p:txBody>
          <a:bodyPr wrap="none" lIns="91440" tIns="45720" rIns="91440" bIns="45720">
            <a:spAutoFit/>
          </a:bodyPr>
          <a:lstStyle/>
          <a:p>
            <a:pPr algn="ctr"/>
            <a:r>
              <a:rPr lang="en-US" sz="8800" b="0" dirty="0">
                <a:ln w="0"/>
                <a:solidFill>
                  <a:srgbClr val="3366CC"/>
                </a:solidFill>
                <a:effectLst>
                  <a:glow rad="63500">
                    <a:schemeClr val="accent2">
                      <a:satMod val="175000"/>
                      <a:alpha val="40000"/>
                    </a:schemeClr>
                  </a:glow>
                  <a:outerShdw blurRad="38100" dist="25400" dir="5400000" algn="ctr" rotWithShape="0">
                    <a:srgbClr val="6E747A">
                      <a:alpha val="43000"/>
                    </a:srgbClr>
                  </a:outerShdw>
                </a:effectLst>
              </a:rPr>
              <a:t>Priority Queues</a:t>
            </a:r>
            <a:endParaRPr lang="en-US" sz="8800" b="0" cap="none" spc="0" dirty="0">
              <a:ln w="0"/>
              <a:solidFill>
                <a:srgbClr val="3366CC"/>
              </a:solidFill>
              <a:effectLst>
                <a:glow rad="63500">
                  <a:schemeClr val="accent2">
                    <a:satMod val="175000"/>
                    <a:alpha val="40000"/>
                  </a:schemeClr>
                </a:glow>
                <a:outerShdw blurRad="38100" dist="25400" dir="5400000" algn="ctr" rotWithShape="0">
                  <a:srgbClr val="6E747A">
                    <a:alpha val="43000"/>
                  </a:srgbClr>
                </a:outerShdw>
              </a:effectLs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31F52C4C-755D-4C52-8C36-CC9D200C70D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F11478F5-2296-47A5-9435-A18C692BE7E9}"/>
              </a:ext>
            </a:extLst>
          </p:cNvPr>
          <p:cNvSpPr txBox="1">
            <a:spLocks noChangeArrowheads="1"/>
          </p:cNvSpPr>
          <p:nvPr/>
        </p:nvSpPr>
        <p:spPr bwMode="auto">
          <a:xfrm>
            <a:off x="685800" y="2249031"/>
            <a:ext cx="8153400"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600" dirty="0">
                <a:latin typeface="Tahoma" panose="020B0604030504040204" pitchFamily="34" charset="0"/>
              </a:rPr>
              <a:t>A </a:t>
            </a:r>
            <a:r>
              <a:rPr lang="en-US" altLang="en-US" sz="3600" dirty="0" err="1">
                <a:latin typeface="Tahoma" panose="020B0604030504040204" pitchFamily="34" charset="0"/>
              </a:rPr>
              <a:t>PriorityQueue</a:t>
            </a:r>
            <a:r>
              <a:rPr lang="en-US" altLang="en-US" sz="3600" dirty="0">
                <a:latin typeface="Tahoma" panose="020B0604030504040204" pitchFamily="34" charset="0"/>
              </a:rPr>
              <a:t> is a queue structure that, when polled, removes the </a:t>
            </a:r>
            <a:r>
              <a:rPr lang="en-US" altLang="en-US" sz="3600" u="sng" dirty="0">
                <a:latin typeface="Tahoma" panose="020B0604030504040204" pitchFamily="34" charset="0"/>
              </a:rPr>
              <a:t>highest priority item</a:t>
            </a:r>
            <a:r>
              <a:rPr lang="en-US" altLang="en-US" sz="3600" dirty="0">
                <a:latin typeface="Tahoma" panose="020B0604030504040204" pitchFamily="34" charset="0"/>
              </a:rPr>
              <a:t>, not the first one added as with a normal queue.</a:t>
            </a:r>
          </a:p>
        </p:txBody>
      </p:sp>
      <p:sp>
        <p:nvSpPr>
          <p:cNvPr id="5124" name="WordArt 3">
            <a:extLst>
              <a:ext uri="{FF2B5EF4-FFF2-40B4-BE49-F238E27FC236}">
                <a16:creationId xmlns:a16="http://schemas.microsoft.com/office/drawing/2014/main" id="{48B4DB5A-7C4B-4BA5-BA1F-46C871B68105}"/>
              </a:ext>
            </a:extLst>
          </p:cNvPr>
          <p:cNvSpPr>
            <a:spLocks noChangeArrowheads="1" noChangeShapeType="1" noTextEdit="1"/>
          </p:cNvSpPr>
          <p:nvPr/>
        </p:nvSpPr>
        <p:spPr bwMode="auto">
          <a:xfrm>
            <a:off x="2590800" y="381000"/>
            <a:ext cx="3429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Priority Queue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3BD1ED7C-7B6A-07DE-3F34-EF0E245798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3028950"/>
            <a:ext cx="4572000" cy="3448050"/>
          </a:xfrm>
          <a:prstGeom prst="rect">
            <a:avLst/>
          </a:prstGeom>
          <a:noFill/>
          <a:extLst>
            <a:ext uri="{909E8E84-426E-40DD-AFC4-6F175D3DCCD1}">
              <a14:hiddenFill xmlns:a14="http://schemas.microsoft.com/office/drawing/2010/main">
                <a:solidFill>
                  <a:srgbClr val="FFFFFF"/>
                </a:solidFill>
              </a14:hiddenFill>
            </a:ext>
          </a:extLst>
        </p:spPr>
      </p:pic>
      <p:sp>
        <p:nvSpPr>
          <p:cNvPr id="3" name="Text Box 2">
            <a:extLst>
              <a:ext uri="{FF2B5EF4-FFF2-40B4-BE49-F238E27FC236}">
                <a16:creationId xmlns:a16="http://schemas.microsoft.com/office/drawing/2014/main" id="{C12F1C56-10AC-F394-5589-BDDE848F1A75}"/>
              </a:ext>
            </a:extLst>
          </p:cNvPr>
          <p:cNvSpPr txBox="1">
            <a:spLocks noChangeArrowheads="1"/>
          </p:cNvSpPr>
          <p:nvPr/>
        </p:nvSpPr>
        <p:spPr bwMode="auto">
          <a:xfrm>
            <a:off x="685800" y="207818"/>
            <a:ext cx="803910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dirty="0">
                <a:latin typeface="Tahoma" panose="020B0604030504040204" pitchFamily="34" charset="0"/>
              </a:rPr>
              <a:t>An Emergency Department operates as a priority queue. A triage nurse determines the severity of patients’ ailments, and those with the most severe issues are treated first.</a:t>
            </a:r>
          </a:p>
        </p:txBody>
      </p:sp>
    </p:spTree>
    <p:extLst>
      <p:ext uri="{BB962C8B-B14F-4D97-AF65-F5344CB8AC3E}">
        <p14:creationId xmlns:p14="http://schemas.microsoft.com/office/powerpoint/2010/main" val="3257397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a:extLst>
              <a:ext uri="{FF2B5EF4-FFF2-40B4-BE49-F238E27FC236}">
                <a16:creationId xmlns:a16="http://schemas.microsoft.com/office/drawing/2014/main" id="{31F52C4C-755D-4C52-8C36-CC9D200C70D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5123" name="Text Box 2">
            <a:extLst>
              <a:ext uri="{FF2B5EF4-FFF2-40B4-BE49-F238E27FC236}">
                <a16:creationId xmlns:a16="http://schemas.microsoft.com/office/drawing/2014/main" id="{F11478F5-2296-47A5-9435-A18C692BE7E9}"/>
              </a:ext>
            </a:extLst>
          </p:cNvPr>
          <p:cNvSpPr txBox="1">
            <a:spLocks noChangeArrowheads="1"/>
          </p:cNvSpPr>
          <p:nvPr/>
        </p:nvSpPr>
        <p:spPr bwMode="auto">
          <a:xfrm>
            <a:off x="685800" y="1676400"/>
            <a:ext cx="8153400"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Tahoma" panose="020B0604030504040204" pitchFamily="34" charset="0"/>
              </a:rPr>
              <a:t>The Java </a:t>
            </a:r>
            <a:r>
              <a:rPr lang="en-US" altLang="en-US" sz="2800" dirty="0" err="1">
                <a:latin typeface="Tahoma" panose="020B0604030504040204" pitchFamily="34" charset="0"/>
              </a:rPr>
              <a:t>PriorityQueue</a:t>
            </a:r>
            <a:r>
              <a:rPr lang="en-US" altLang="en-US" sz="2800" dirty="0">
                <a:latin typeface="Tahoma" panose="020B0604030504040204" pitchFamily="34" charset="0"/>
              </a:rPr>
              <a:t> is a min heap</a:t>
            </a:r>
          </a:p>
          <a:p>
            <a:pPr>
              <a:spcBef>
                <a:spcPct val="0"/>
              </a:spcBef>
              <a:buFontTx/>
              <a:buNone/>
            </a:pPr>
            <a:r>
              <a:rPr lang="en-US" altLang="en-US" sz="2800" dirty="0">
                <a:latin typeface="Tahoma" panose="020B0604030504040204" pitchFamily="34" charset="0"/>
              </a:rPr>
              <a:t>as it removes the </a:t>
            </a:r>
            <a:r>
              <a:rPr lang="en-US" altLang="en-US" sz="2800" u="sng" dirty="0">
                <a:latin typeface="Tahoma" panose="020B0604030504040204" pitchFamily="34" charset="0"/>
              </a:rPr>
              <a:t>smallest</a:t>
            </a:r>
            <a:r>
              <a:rPr lang="en-US" altLang="en-US" sz="2800" dirty="0">
                <a:latin typeface="Tahoma" panose="020B0604030504040204" pitchFamily="34" charset="0"/>
              </a:rPr>
              <a:t> items first.</a:t>
            </a:r>
          </a:p>
          <a:p>
            <a:pPr>
              <a:spcBef>
                <a:spcPct val="0"/>
              </a:spcBef>
              <a:buFontTx/>
              <a:buNone/>
            </a:pPr>
            <a:endParaRPr lang="en-US" altLang="en-US" sz="2800" dirty="0">
              <a:latin typeface="Tahoma" panose="020B0604030504040204" pitchFamily="34" charset="0"/>
            </a:endParaRPr>
          </a:p>
          <a:p>
            <a:pPr>
              <a:spcBef>
                <a:spcPct val="0"/>
              </a:spcBef>
              <a:buFontTx/>
              <a:buNone/>
            </a:pPr>
            <a:r>
              <a:rPr lang="en-US" altLang="en-US" sz="2800" dirty="0">
                <a:latin typeface="Tahoma" panose="020B0604030504040204" pitchFamily="34" charset="0"/>
              </a:rPr>
              <a:t>The Java </a:t>
            </a:r>
            <a:r>
              <a:rPr lang="en-US" altLang="en-US" sz="2800" dirty="0" err="1">
                <a:latin typeface="Tahoma" panose="020B0604030504040204" pitchFamily="34" charset="0"/>
              </a:rPr>
              <a:t>PriorityQueue</a:t>
            </a:r>
            <a:r>
              <a:rPr lang="en-US" altLang="en-US" sz="2800" dirty="0">
                <a:latin typeface="Tahoma" panose="020B0604030504040204" pitchFamily="34" charset="0"/>
              </a:rPr>
              <a:t> stores </a:t>
            </a:r>
            <a:r>
              <a:rPr lang="en-US" altLang="en-US" sz="2800" dirty="0" err="1">
                <a:solidFill>
                  <a:schemeClr val="accent6">
                    <a:lumMod val="75000"/>
                  </a:schemeClr>
                </a:solidFill>
                <a:latin typeface="Tahoma" panose="020B0604030504040204" pitchFamily="34" charset="0"/>
              </a:rPr>
              <a:t>Comparables</a:t>
            </a:r>
            <a:r>
              <a:rPr lang="en-US" altLang="en-US" sz="2800" dirty="0">
                <a:latin typeface="Tahoma" panose="020B0604030504040204" pitchFamily="34" charset="0"/>
              </a:rPr>
              <a:t>.</a:t>
            </a:r>
          </a:p>
          <a:p>
            <a:pPr>
              <a:spcBef>
                <a:spcPct val="0"/>
              </a:spcBef>
              <a:buFontTx/>
              <a:buNone/>
            </a:pPr>
            <a:endParaRPr lang="en-US" altLang="en-US" sz="2800" dirty="0">
              <a:latin typeface="Tahoma" panose="020B0604030504040204" pitchFamily="34" charset="0"/>
            </a:endParaRPr>
          </a:p>
          <a:p>
            <a:pPr>
              <a:spcBef>
                <a:spcPct val="0"/>
              </a:spcBef>
              <a:buFontTx/>
              <a:buNone/>
            </a:pPr>
            <a:endParaRPr lang="en-US" altLang="en-US" sz="2800" dirty="0">
              <a:latin typeface="Tahoma" panose="020B0604030504040204" pitchFamily="34" charset="0"/>
            </a:endParaRPr>
          </a:p>
        </p:txBody>
      </p:sp>
      <p:sp>
        <p:nvSpPr>
          <p:cNvPr id="5124" name="WordArt 3">
            <a:extLst>
              <a:ext uri="{FF2B5EF4-FFF2-40B4-BE49-F238E27FC236}">
                <a16:creationId xmlns:a16="http://schemas.microsoft.com/office/drawing/2014/main" id="{48B4DB5A-7C4B-4BA5-BA1F-46C871B68105}"/>
              </a:ext>
            </a:extLst>
          </p:cNvPr>
          <p:cNvSpPr>
            <a:spLocks noChangeArrowheads="1" noChangeShapeType="1" noTextEdit="1"/>
          </p:cNvSpPr>
          <p:nvPr/>
        </p:nvSpPr>
        <p:spPr bwMode="auto">
          <a:xfrm>
            <a:off x="2590800" y="381000"/>
            <a:ext cx="3429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Priority Queue</a:t>
            </a:r>
          </a:p>
        </p:txBody>
      </p:sp>
    </p:spTree>
    <p:extLst>
      <p:ext uri="{BB962C8B-B14F-4D97-AF65-F5344CB8AC3E}">
        <p14:creationId xmlns:p14="http://schemas.microsoft.com/office/powerpoint/2010/main" val="1030373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88B70949-74B1-4008-901C-D0BC11E78B5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9219" name="Text Box 2">
            <a:extLst>
              <a:ext uri="{FF2B5EF4-FFF2-40B4-BE49-F238E27FC236}">
                <a16:creationId xmlns:a16="http://schemas.microsoft.com/office/drawing/2014/main" id="{81FE6518-0EC9-4541-9157-9349A8C1FDFB}"/>
              </a:ext>
            </a:extLst>
          </p:cNvPr>
          <p:cNvSpPr txBox="1">
            <a:spLocks noChangeArrowheads="1"/>
          </p:cNvSpPr>
          <p:nvPr/>
        </p:nvSpPr>
        <p:spPr bwMode="auto">
          <a:xfrm>
            <a:off x="1812925" y="590550"/>
            <a:ext cx="1841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800">
              <a:latin typeface="Tahoma" panose="020B0604030504040204" pitchFamily="34" charset="0"/>
            </a:endParaRPr>
          </a:p>
        </p:txBody>
      </p:sp>
      <p:sp>
        <p:nvSpPr>
          <p:cNvPr id="9220" name="Text Box 16">
            <a:extLst>
              <a:ext uri="{FF2B5EF4-FFF2-40B4-BE49-F238E27FC236}">
                <a16:creationId xmlns:a16="http://schemas.microsoft.com/office/drawing/2014/main" id="{43C2963B-39CF-4059-AC9B-929E5588A065}"/>
              </a:ext>
            </a:extLst>
          </p:cNvPr>
          <p:cNvSpPr txBox="1">
            <a:spLocks noChangeArrowheads="1"/>
          </p:cNvSpPr>
          <p:nvPr/>
        </p:nvSpPr>
        <p:spPr bwMode="auto">
          <a:xfrm>
            <a:off x="1508125" y="4781550"/>
            <a:ext cx="1841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2800">
              <a:latin typeface="Tahoma" panose="020B0604030504040204" pitchFamily="34" charset="0"/>
            </a:endParaRPr>
          </a:p>
        </p:txBody>
      </p:sp>
      <p:sp>
        <p:nvSpPr>
          <p:cNvPr id="9221" name="Text Box 17">
            <a:extLst>
              <a:ext uri="{FF2B5EF4-FFF2-40B4-BE49-F238E27FC236}">
                <a16:creationId xmlns:a16="http://schemas.microsoft.com/office/drawing/2014/main" id="{C33BECF0-F50B-464B-9E35-0931A8D16B5A}"/>
              </a:ext>
            </a:extLst>
          </p:cNvPr>
          <p:cNvSpPr txBox="1">
            <a:spLocks noChangeArrowheads="1"/>
          </p:cNvSpPr>
          <p:nvPr/>
        </p:nvSpPr>
        <p:spPr bwMode="auto">
          <a:xfrm>
            <a:off x="1676400" y="4419600"/>
            <a:ext cx="6677891" cy="830997"/>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solidFill>
                  <a:schemeClr val="accent2"/>
                </a:solidFill>
                <a:latin typeface="Tahoma" panose="020B0604030504040204" pitchFamily="34" charset="0"/>
              </a:rPr>
              <a:t>A min heap is a complete binary tree that has a root smaller than all of its children.</a:t>
            </a:r>
          </a:p>
        </p:txBody>
      </p:sp>
      <p:sp>
        <p:nvSpPr>
          <p:cNvPr id="9222" name="Oval 20">
            <a:extLst>
              <a:ext uri="{FF2B5EF4-FFF2-40B4-BE49-F238E27FC236}">
                <a16:creationId xmlns:a16="http://schemas.microsoft.com/office/drawing/2014/main" id="{6DEF2BE8-E9B9-45C9-BBFD-ABE5402ED4A0}"/>
              </a:ext>
            </a:extLst>
          </p:cNvPr>
          <p:cNvSpPr>
            <a:spLocks noChangeArrowheads="1"/>
          </p:cNvSpPr>
          <p:nvPr/>
        </p:nvSpPr>
        <p:spPr bwMode="auto">
          <a:xfrm>
            <a:off x="20574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18</a:t>
            </a:r>
          </a:p>
        </p:txBody>
      </p:sp>
      <p:sp>
        <p:nvSpPr>
          <p:cNvPr id="9223" name="Oval 21">
            <a:extLst>
              <a:ext uri="{FF2B5EF4-FFF2-40B4-BE49-F238E27FC236}">
                <a16:creationId xmlns:a16="http://schemas.microsoft.com/office/drawing/2014/main" id="{1A2FDAB2-9EB1-4666-A6C3-B155705C2C4B}"/>
              </a:ext>
            </a:extLst>
          </p:cNvPr>
          <p:cNvSpPr>
            <a:spLocks noChangeArrowheads="1"/>
          </p:cNvSpPr>
          <p:nvPr/>
        </p:nvSpPr>
        <p:spPr bwMode="auto">
          <a:xfrm>
            <a:off x="1219200" y="32004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20</a:t>
            </a:r>
          </a:p>
        </p:txBody>
      </p:sp>
      <p:sp>
        <p:nvSpPr>
          <p:cNvPr id="9224" name="Oval 22">
            <a:extLst>
              <a:ext uri="{FF2B5EF4-FFF2-40B4-BE49-F238E27FC236}">
                <a16:creationId xmlns:a16="http://schemas.microsoft.com/office/drawing/2014/main" id="{6924B271-5790-4519-A45E-83B152C5B809}"/>
              </a:ext>
            </a:extLst>
          </p:cNvPr>
          <p:cNvSpPr>
            <a:spLocks noChangeArrowheads="1"/>
          </p:cNvSpPr>
          <p:nvPr/>
        </p:nvSpPr>
        <p:spPr bwMode="auto">
          <a:xfrm>
            <a:off x="2895600" y="32004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dirty="0">
                <a:latin typeface="Tahoma" panose="020B0604030504040204" pitchFamily="34" charset="0"/>
              </a:rPr>
              <a:t>27</a:t>
            </a:r>
          </a:p>
        </p:txBody>
      </p:sp>
      <p:sp>
        <p:nvSpPr>
          <p:cNvPr id="9225" name="Oval 23">
            <a:extLst>
              <a:ext uri="{FF2B5EF4-FFF2-40B4-BE49-F238E27FC236}">
                <a16:creationId xmlns:a16="http://schemas.microsoft.com/office/drawing/2014/main" id="{230A692C-1025-4260-ACA3-04BFA69AC71C}"/>
              </a:ext>
            </a:extLst>
          </p:cNvPr>
          <p:cNvSpPr>
            <a:spLocks noChangeArrowheads="1"/>
          </p:cNvSpPr>
          <p:nvPr/>
        </p:nvSpPr>
        <p:spPr bwMode="auto">
          <a:xfrm>
            <a:off x="62484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23</a:t>
            </a:r>
          </a:p>
        </p:txBody>
      </p:sp>
      <p:sp>
        <p:nvSpPr>
          <p:cNvPr id="9226" name="Oval 24">
            <a:extLst>
              <a:ext uri="{FF2B5EF4-FFF2-40B4-BE49-F238E27FC236}">
                <a16:creationId xmlns:a16="http://schemas.microsoft.com/office/drawing/2014/main" id="{165FD51E-8ECA-4B7D-8059-2A345445D8DF}"/>
              </a:ext>
            </a:extLst>
          </p:cNvPr>
          <p:cNvSpPr>
            <a:spLocks noChangeArrowheads="1"/>
          </p:cNvSpPr>
          <p:nvPr/>
        </p:nvSpPr>
        <p:spPr bwMode="auto">
          <a:xfrm>
            <a:off x="5410200" y="32004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25</a:t>
            </a:r>
          </a:p>
        </p:txBody>
      </p:sp>
      <p:sp>
        <p:nvSpPr>
          <p:cNvPr id="9227" name="Oval 28">
            <a:extLst>
              <a:ext uri="{FF2B5EF4-FFF2-40B4-BE49-F238E27FC236}">
                <a16:creationId xmlns:a16="http://schemas.microsoft.com/office/drawing/2014/main" id="{9D22314A-B560-466F-B452-DEB030A09F11}"/>
              </a:ext>
            </a:extLst>
          </p:cNvPr>
          <p:cNvSpPr>
            <a:spLocks noChangeArrowheads="1"/>
          </p:cNvSpPr>
          <p:nvPr/>
        </p:nvSpPr>
        <p:spPr bwMode="auto">
          <a:xfrm>
            <a:off x="41910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9</a:t>
            </a:r>
          </a:p>
        </p:txBody>
      </p:sp>
      <p:sp>
        <p:nvSpPr>
          <p:cNvPr id="9228" name="Line 29">
            <a:extLst>
              <a:ext uri="{FF2B5EF4-FFF2-40B4-BE49-F238E27FC236}">
                <a16:creationId xmlns:a16="http://schemas.microsoft.com/office/drawing/2014/main" id="{E16653E3-BFC8-4B50-BAA6-244ACECC843D}"/>
              </a:ext>
            </a:extLst>
          </p:cNvPr>
          <p:cNvSpPr>
            <a:spLocks noChangeShapeType="1"/>
          </p:cNvSpPr>
          <p:nvPr/>
        </p:nvSpPr>
        <p:spPr bwMode="auto">
          <a:xfrm flipH="1">
            <a:off x="2819400" y="24384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29" name="Line 30">
            <a:extLst>
              <a:ext uri="{FF2B5EF4-FFF2-40B4-BE49-F238E27FC236}">
                <a16:creationId xmlns:a16="http://schemas.microsoft.com/office/drawing/2014/main" id="{59DF05AB-DA0C-46E5-98D4-ADFCB35F5FE7}"/>
              </a:ext>
            </a:extLst>
          </p:cNvPr>
          <p:cNvSpPr>
            <a:spLocks noChangeShapeType="1"/>
          </p:cNvSpPr>
          <p:nvPr/>
        </p:nvSpPr>
        <p:spPr bwMode="auto">
          <a:xfrm>
            <a:off x="5029200" y="24384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30" name="Line 31">
            <a:extLst>
              <a:ext uri="{FF2B5EF4-FFF2-40B4-BE49-F238E27FC236}">
                <a16:creationId xmlns:a16="http://schemas.microsoft.com/office/drawing/2014/main" id="{CCAE417B-FB32-47AB-B831-94ACAFFACC8B}"/>
              </a:ext>
            </a:extLst>
          </p:cNvPr>
          <p:cNvSpPr>
            <a:spLocks noChangeShapeType="1"/>
          </p:cNvSpPr>
          <p:nvPr/>
        </p:nvSpPr>
        <p:spPr bwMode="auto">
          <a:xfrm flipH="1">
            <a:off x="1905000" y="30480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31" name="Line 32">
            <a:extLst>
              <a:ext uri="{FF2B5EF4-FFF2-40B4-BE49-F238E27FC236}">
                <a16:creationId xmlns:a16="http://schemas.microsoft.com/office/drawing/2014/main" id="{AB1666AD-BEA0-49EE-A175-3A287577B460}"/>
              </a:ext>
            </a:extLst>
          </p:cNvPr>
          <p:cNvSpPr>
            <a:spLocks noChangeShapeType="1"/>
          </p:cNvSpPr>
          <p:nvPr/>
        </p:nvSpPr>
        <p:spPr bwMode="auto">
          <a:xfrm flipH="1">
            <a:off x="6096000" y="30480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32" name="Line 33">
            <a:extLst>
              <a:ext uri="{FF2B5EF4-FFF2-40B4-BE49-F238E27FC236}">
                <a16:creationId xmlns:a16="http://schemas.microsoft.com/office/drawing/2014/main" id="{10CC1D37-CAC8-49C2-8293-8D0B7F29AC0D}"/>
              </a:ext>
            </a:extLst>
          </p:cNvPr>
          <p:cNvSpPr>
            <a:spLocks noChangeShapeType="1"/>
          </p:cNvSpPr>
          <p:nvPr/>
        </p:nvSpPr>
        <p:spPr bwMode="auto">
          <a:xfrm>
            <a:off x="2743200" y="30480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33" name="WordArt 35">
            <a:extLst>
              <a:ext uri="{FF2B5EF4-FFF2-40B4-BE49-F238E27FC236}">
                <a16:creationId xmlns:a16="http://schemas.microsoft.com/office/drawing/2014/main" id="{3CA16B09-B570-4F86-844F-D4ED187C87BB}"/>
              </a:ext>
            </a:extLst>
          </p:cNvPr>
          <p:cNvSpPr>
            <a:spLocks noChangeArrowheads="1" noChangeShapeType="1" noTextEdit="1"/>
          </p:cNvSpPr>
          <p:nvPr/>
        </p:nvSpPr>
        <p:spPr bwMode="auto">
          <a:xfrm>
            <a:off x="1371600" y="533400"/>
            <a:ext cx="6248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min heap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2FFF0"/>
        </a:solidFill>
        <a:effectLst/>
      </p:bgPr>
    </p:bg>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978541DF-7F59-440B-8585-F54722145516}"/>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l">
              <a:spcBef>
                <a:spcPct val="0"/>
              </a:spcBef>
              <a:buFontTx/>
              <a:buNone/>
            </a:pPr>
            <a:endParaRPr lang="en-US" altLang="en-US" sz="800" b="1"/>
          </a:p>
          <a:p>
            <a:pPr algn="l">
              <a:spcBef>
                <a:spcPct val="0"/>
              </a:spcBef>
              <a:buFontTx/>
              <a:buNone/>
            </a:pPr>
            <a:endParaRPr lang="en-US" altLang="en-US" sz="800">
              <a:latin typeface="Tahoma" panose="020B0604030504040204" pitchFamily="34" charset="0"/>
            </a:endParaRPr>
          </a:p>
          <a:p>
            <a:pPr algn="l">
              <a:spcBef>
                <a:spcPct val="0"/>
              </a:spcBef>
              <a:buFontTx/>
              <a:buNone/>
            </a:pPr>
            <a:endParaRPr lang="en-US" altLang="en-US" sz="800" b="1">
              <a:latin typeface="Tahoma" panose="020B0604030504040204" pitchFamily="34" charset="0"/>
            </a:endParaRPr>
          </a:p>
          <a:p>
            <a:pPr algn="l">
              <a:spcBef>
                <a:spcPct val="0"/>
              </a:spcBef>
              <a:buFontTx/>
              <a:buNone/>
            </a:pPr>
            <a:r>
              <a:rPr lang="en-US" altLang="en-US" sz="800" b="1">
                <a:latin typeface="Tahoma" panose="020B0604030504040204" pitchFamily="34" charset="0"/>
              </a:rPr>
              <a:t>© A+ Computer Science  -  www.apluscompsci.com</a:t>
            </a:r>
          </a:p>
        </p:txBody>
      </p:sp>
      <p:sp>
        <p:nvSpPr>
          <p:cNvPr id="6147" name="Text Box 2">
            <a:extLst>
              <a:ext uri="{FF2B5EF4-FFF2-40B4-BE49-F238E27FC236}">
                <a16:creationId xmlns:a16="http://schemas.microsoft.com/office/drawing/2014/main" id="{C39AD511-8C71-430E-8287-0E60F81B44DC}"/>
              </a:ext>
            </a:extLst>
          </p:cNvPr>
          <p:cNvSpPr txBox="1">
            <a:spLocks noChangeArrowheads="1"/>
          </p:cNvSpPr>
          <p:nvPr/>
        </p:nvSpPr>
        <p:spPr bwMode="auto">
          <a:xfrm>
            <a:off x="381000" y="1295400"/>
            <a:ext cx="8534400" cy="47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150000"/>
              </a:lnSpc>
              <a:spcBef>
                <a:spcPct val="0"/>
              </a:spcBef>
              <a:buFontTx/>
              <a:buNone/>
            </a:pPr>
            <a:r>
              <a:rPr lang="en-US" altLang="en-US" sz="3600" b="0">
                <a:latin typeface="Arial" panose="020B0604020202020204" pitchFamily="34" charset="0"/>
                <a:cs typeface="Arial" panose="020B0604020202020204" pitchFamily="34" charset="0"/>
              </a:rPr>
              <a:t>A priority queue is an </a:t>
            </a:r>
            <a:r>
              <a:rPr lang="en-US" altLang="en-US" sz="3600" b="0">
                <a:solidFill>
                  <a:srgbClr val="000099"/>
                </a:solidFill>
                <a:latin typeface="Arial" panose="020B0604020202020204" pitchFamily="34" charset="0"/>
                <a:cs typeface="Arial" panose="020B0604020202020204" pitchFamily="34" charset="0"/>
              </a:rPr>
              <a:t>abstract datatype</a:t>
            </a:r>
            <a:r>
              <a:rPr lang="en-US" altLang="en-US" sz="2800" b="0">
                <a:latin typeface="Arial" panose="020B0604020202020204" pitchFamily="34" charset="0"/>
                <a:cs typeface="Arial" panose="020B0604020202020204" pitchFamily="34" charset="0"/>
              </a:rPr>
              <a:t>. </a:t>
            </a:r>
          </a:p>
          <a:p>
            <a:pPr algn="ctr">
              <a:spcBef>
                <a:spcPct val="0"/>
              </a:spcBef>
              <a:buFontTx/>
              <a:buNone/>
            </a:pPr>
            <a:r>
              <a:rPr lang="en-US" altLang="en-US" sz="2800" b="0">
                <a:latin typeface="Arial" panose="020B0604020202020204" pitchFamily="34" charset="0"/>
                <a:cs typeface="Arial" panose="020B0604020202020204" pitchFamily="34" charset="0"/>
              </a:rPr>
              <a:t>It is a shorthand way of describing a particular interface and behavior, and says nothing about the underlying implementation.</a:t>
            </a:r>
          </a:p>
          <a:p>
            <a:pPr>
              <a:spcBef>
                <a:spcPct val="0"/>
              </a:spcBef>
              <a:buFontTx/>
              <a:buNone/>
            </a:pPr>
            <a:endParaRPr lang="en-US" altLang="en-US" sz="2800" b="0">
              <a:latin typeface="Arial" panose="020B0604020202020204" pitchFamily="34" charset="0"/>
              <a:cs typeface="Arial" panose="020B0604020202020204" pitchFamily="34" charset="0"/>
            </a:endParaRPr>
          </a:p>
          <a:p>
            <a:pPr algn="ctr">
              <a:lnSpc>
                <a:spcPct val="150000"/>
              </a:lnSpc>
              <a:spcBef>
                <a:spcPct val="0"/>
              </a:spcBef>
              <a:buFontTx/>
              <a:buNone/>
            </a:pPr>
            <a:r>
              <a:rPr lang="en-US" altLang="en-US" sz="3600" b="0">
                <a:latin typeface="Arial" panose="020B0604020202020204" pitchFamily="34" charset="0"/>
                <a:cs typeface="Arial" panose="020B0604020202020204" pitchFamily="34" charset="0"/>
              </a:rPr>
              <a:t>A heap is a </a:t>
            </a:r>
            <a:r>
              <a:rPr lang="en-US" altLang="en-US" sz="3600" b="0">
                <a:solidFill>
                  <a:srgbClr val="000099"/>
                </a:solidFill>
                <a:latin typeface="Arial" panose="020B0604020202020204" pitchFamily="34" charset="0"/>
                <a:cs typeface="Arial" panose="020B0604020202020204" pitchFamily="34" charset="0"/>
              </a:rPr>
              <a:t>data structure</a:t>
            </a:r>
            <a:r>
              <a:rPr lang="en-US" altLang="en-US" sz="2800" b="0">
                <a:latin typeface="Arial" panose="020B0604020202020204" pitchFamily="34" charset="0"/>
                <a:cs typeface="Arial" panose="020B0604020202020204" pitchFamily="34" charset="0"/>
              </a:rPr>
              <a:t>. </a:t>
            </a:r>
          </a:p>
          <a:p>
            <a:pPr algn="ctr">
              <a:spcBef>
                <a:spcPct val="0"/>
              </a:spcBef>
              <a:buFontTx/>
              <a:buNone/>
            </a:pPr>
            <a:r>
              <a:rPr lang="en-US" altLang="en-US" sz="2800" b="0">
                <a:latin typeface="Arial" panose="020B0604020202020204" pitchFamily="34" charset="0"/>
                <a:cs typeface="Arial" panose="020B0604020202020204" pitchFamily="34" charset="0"/>
              </a:rPr>
              <a:t>It is a name for a particular way of storing data that makes certain operations very efficient.</a:t>
            </a:r>
          </a:p>
          <a:p>
            <a:pPr>
              <a:spcBef>
                <a:spcPct val="0"/>
              </a:spcBef>
              <a:buFontTx/>
              <a:buNone/>
            </a:pPr>
            <a:endParaRPr lang="en-US" altLang="en-US" sz="2800">
              <a:latin typeface="Arial" panose="020B0604020202020204" pitchFamily="34" charset="0"/>
              <a:cs typeface="Arial" panose="020B0604020202020204" pitchFamily="34" charset="0"/>
            </a:endParaRPr>
          </a:p>
        </p:txBody>
      </p:sp>
      <p:sp>
        <p:nvSpPr>
          <p:cNvPr id="6148" name="WordArt 3">
            <a:extLst>
              <a:ext uri="{FF2B5EF4-FFF2-40B4-BE49-F238E27FC236}">
                <a16:creationId xmlns:a16="http://schemas.microsoft.com/office/drawing/2014/main" id="{E886A210-D567-403D-9083-ABF8794CCB06}"/>
              </a:ext>
            </a:extLst>
          </p:cNvPr>
          <p:cNvSpPr>
            <a:spLocks noChangeArrowheads="1" noChangeShapeType="1" noTextEdit="1"/>
          </p:cNvSpPr>
          <p:nvPr/>
        </p:nvSpPr>
        <p:spPr bwMode="auto">
          <a:xfrm>
            <a:off x="2743200" y="304800"/>
            <a:ext cx="2895600" cy="762000"/>
          </a:xfrm>
          <a:prstGeom prst="rect">
            <a:avLst/>
          </a:prstGeom>
        </p:spPr>
        <p:txBody>
          <a:bodyPr wrap="none" fromWordArt="1">
            <a:prstTxWarp prst="textPlain">
              <a:avLst>
                <a:gd name="adj" fmla="val 50000"/>
              </a:avLst>
            </a:prstTxWarp>
          </a:bodyPr>
          <a:lstStyle/>
          <a:p>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Priority Queue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2FFF0"/>
        </a:solidFill>
        <a:effectLst/>
      </p:bgPr>
    </p:bg>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997A4589-DFAD-47A9-837D-37AEDE540D0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l">
              <a:spcBef>
                <a:spcPct val="0"/>
              </a:spcBef>
              <a:buFontTx/>
              <a:buNone/>
            </a:pPr>
            <a:endParaRPr lang="en-US" altLang="en-US" sz="800" b="1"/>
          </a:p>
          <a:p>
            <a:pPr algn="l">
              <a:spcBef>
                <a:spcPct val="0"/>
              </a:spcBef>
              <a:buFontTx/>
              <a:buNone/>
            </a:pPr>
            <a:endParaRPr lang="en-US" altLang="en-US" sz="800">
              <a:latin typeface="Tahoma" panose="020B0604030504040204" pitchFamily="34" charset="0"/>
            </a:endParaRPr>
          </a:p>
          <a:p>
            <a:pPr algn="l">
              <a:spcBef>
                <a:spcPct val="0"/>
              </a:spcBef>
              <a:buFontTx/>
              <a:buNone/>
            </a:pPr>
            <a:endParaRPr lang="en-US" altLang="en-US" sz="800" b="1">
              <a:latin typeface="Tahoma" panose="020B0604030504040204" pitchFamily="34" charset="0"/>
            </a:endParaRPr>
          </a:p>
          <a:p>
            <a:pPr algn="l">
              <a:spcBef>
                <a:spcPct val="0"/>
              </a:spcBef>
              <a:buFontTx/>
              <a:buNone/>
            </a:pPr>
            <a:r>
              <a:rPr lang="en-US" altLang="en-US" sz="800" b="1">
                <a:latin typeface="Tahoma" panose="020B0604030504040204" pitchFamily="34" charset="0"/>
              </a:rPr>
              <a:t>© A+ Computer Science  -  www.apluscompsci.com</a:t>
            </a:r>
          </a:p>
        </p:txBody>
      </p:sp>
      <p:sp>
        <p:nvSpPr>
          <p:cNvPr id="7171" name="Text Box 2">
            <a:extLst>
              <a:ext uri="{FF2B5EF4-FFF2-40B4-BE49-F238E27FC236}">
                <a16:creationId xmlns:a16="http://schemas.microsoft.com/office/drawing/2014/main" id="{A21B2ED0-FB3D-412B-BBC3-F9329589B457}"/>
              </a:ext>
            </a:extLst>
          </p:cNvPr>
          <p:cNvSpPr txBox="1">
            <a:spLocks noChangeArrowheads="1"/>
          </p:cNvSpPr>
          <p:nvPr/>
        </p:nvSpPr>
        <p:spPr bwMode="auto">
          <a:xfrm>
            <a:off x="228600" y="1112838"/>
            <a:ext cx="8534400" cy="5816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3600" b="0" dirty="0">
                <a:latin typeface="Arial" panose="020B0604020202020204" pitchFamily="34" charset="0"/>
                <a:cs typeface="Arial" panose="020B0604020202020204" pitchFamily="34" charset="0"/>
              </a:rPr>
              <a:t>A </a:t>
            </a:r>
            <a:r>
              <a:rPr lang="en-US" altLang="en-US" sz="3600" dirty="0">
                <a:latin typeface="Arial" panose="020B0604020202020204" pitchFamily="34" charset="0"/>
                <a:cs typeface="Arial" panose="020B0604020202020204" pitchFamily="34" charset="0"/>
              </a:rPr>
              <a:t>priority queue </a:t>
            </a:r>
            <a:r>
              <a:rPr lang="en-US" altLang="en-US" sz="3600" b="0" dirty="0">
                <a:latin typeface="Arial" panose="020B0604020202020204" pitchFamily="34" charset="0"/>
                <a:cs typeface="Arial" panose="020B0604020202020204" pitchFamily="34" charset="0"/>
              </a:rPr>
              <a:t>is an </a:t>
            </a:r>
            <a:r>
              <a:rPr lang="en-US" altLang="en-US" sz="3600" b="0" dirty="0">
                <a:solidFill>
                  <a:srgbClr val="000099"/>
                </a:solidFill>
                <a:latin typeface="Arial" panose="020B0604020202020204" pitchFamily="34" charset="0"/>
                <a:cs typeface="Arial" panose="020B0604020202020204" pitchFamily="34" charset="0"/>
              </a:rPr>
              <a:t>abstract datatype</a:t>
            </a:r>
            <a:r>
              <a:rPr lang="en-US" altLang="en-US" sz="2800" b="0" dirty="0">
                <a:latin typeface="Arial" panose="020B0604020202020204" pitchFamily="34" charset="0"/>
                <a:cs typeface="Arial" panose="020B0604020202020204" pitchFamily="34" charset="0"/>
              </a:rPr>
              <a:t>. </a:t>
            </a:r>
          </a:p>
          <a:p>
            <a:pPr algn="ctr">
              <a:spcBef>
                <a:spcPct val="0"/>
              </a:spcBef>
              <a:buFontTx/>
              <a:buNone/>
            </a:pPr>
            <a:endParaRPr lang="en-US" altLang="en-US" sz="2800" b="0" dirty="0">
              <a:latin typeface="Arial" panose="020B0604020202020204" pitchFamily="34" charset="0"/>
              <a:cs typeface="Arial" panose="020B0604020202020204" pitchFamily="34" charset="0"/>
            </a:endParaRPr>
          </a:p>
          <a:p>
            <a:pPr algn="ctr">
              <a:spcBef>
                <a:spcPct val="0"/>
              </a:spcBef>
              <a:buFontTx/>
              <a:buNone/>
            </a:pPr>
            <a:r>
              <a:rPr lang="en-US" altLang="en-US" sz="3600" b="0" dirty="0">
                <a:latin typeface="Arial" panose="020B0604020202020204" pitchFamily="34" charset="0"/>
                <a:cs typeface="Arial" panose="020B0604020202020204" pitchFamily="34" charset="0"/>
              </a:rPr>
              <a:t>A </a:t>
            </a:r>
            <a:r>
              <a:rPr lang="en-US" altLang="en-US" sz="3600" dirty="0">
                <a:latin typeface="Arial" panose="020B0604020202020204" pitchFamily="34" charset="0"/>
                <a:cs typeface="Arial" panose="020B0604020202020204" pitchFamily="34" charset="0"/>
              </a:rPr>
              <a:t>heap</a:t>
            </a:r>
            <a:r>
              <a:rPr lang="en-US" altLang="en-US" sz="3600" b="0" dirty="0">
                <a:latin typeface="Arial" panose="020B0604020202020204" pitchFamily="34" charset="0"/>
                <a:cs typeface="Arial" panose="020B0604020202020204" pitchFamily="34" charset="0"/>
              </a:rPr>
              <a:t> is a </a:t>
            </a:r>
            <a:r>
              <a:rPr lang="en-US" altLang="en-US" sz="3600" b="0" dirty="0">
                <a:solidFill>
                  <a:srgbClr val="000099"/>
                </a:solidFill>
                <a:latin typeface="Arial" panose="020B0604020202020204" pitchFamily="34" charset="0"/>
                <a:cs typeface="Arial" panose="020B0604020202020204" pitchFamily="34" charset="0"/>
              </a:rPr>
              <a:t>data structure</a:t>
            </a:r>
            <a:r>
              <a:rPr lang="en-US" altLang="en-US" sz="2800" b="0" dirty="0">
                <a:latin typeface="Arial" panose="020B0604020202020204" pitchFamily="34" charset="0"/>
                <a:cs typeface="Arial" panose="020B0604020202020204" pitchFamily="34" charset="0"/>
              </a:rPr>
              <a:t>. </a:t>
            </a:r>
          </a:p>
          <a:p>
            <a:pPr>
              <a:spcBef>
                <a:spcPct val="0"/>
              </a:spcBef>
              <a:buFontTx/>
              <a:buNone/>
            </a:pPr>
            <a:endParaRPr lang="en-US" altLang="en-US" sz="2800" b="0" dirty="0">
              <a:latin typeface="Arial" panose="020B0604020202020204" pitchFamily="34" charset="0"/>
              <a:cs typeface="Arial" panose="020B0604020202020204" pitchFamily="34" charset="0"/>
            </a:endParaRPr>
          </a:p>
          <a:p>
            <a:pPr algn="ctr">
              <a:spcBef>
                <a:spcPct val="0"/>
              </a:spcBef>
              <a:buFontTx/>
              <a:buNone/>
            </a:pPr>
            <a:r>
              <a:rPr lang="en-US" altLang="en-US" sz="3600" b="0" dirty="0">
                <a:latin typeface="Arial" panose="020B0604020202020204" pitchFamily="34" charset="0"/>
                <a:cs typeface="Arial" panose="020B0604020202020204" pitchFamily="34" charset="0"/>
              </a:rPr>
              <a:t>It just so happens that a heap is a very good data structure to implement a priority queue, because the operations which are made efficient by the heap data </a:t>
            </a:r>
            <a:r>
              <a:rPr lang="en-US" altLang="en-US" sz="3600" b="0" dirty="0" err="1">
                <a:latin typeface="Arial" panose="020B0604020202020204" pitchFamily="34" charset="0"/>
                <a:cs typeface="Arial" panose="020B0604020202020204" pitchFamily="34" charset="0"/>
              </a:rPr>
              <a:t>strucure</a:t>
            </a:r>
            <a:r>
              <a:rPr lang="en-US" altLang="en-US" sz="3600" b="0" dirty="0">
                <a:latin typeface="Arial" panose="020B0604020202020204" pitchFamily="34" charset="0"/>
                <a:cs typeface="Arial" panose="020B0604020202020204" pitchFamily="34" charset="0"/>
              </a:rPr>
              <a:t> are the operations that the priority queue interface needs.</a:t>
            </a:r>
          </a:p>
          <a:p>
            <a:pPr>
              <a:spcBef>
                <a:spcPct val="0"/>
              </a:spcBef>
              <a:buFontTx/>
              <a:buNone/>
            </a:pPr>
            <a:endParaRPr lang="en-US" altLang="en-US" sz="2800" dirty="0">
              <a:latin typeface="Arial" panose="020B0604020202020204" pitchFamily="34" charset="0"/>
              <a:cs typeface="Arial" panose="020B0604020202020204" pitchFamily="34" charset="0"/>
            </a:endParaRPr>
          </a:p>
        </p:txBody>
      </p:sp>
      <p:sp>
        <p:nvSpPr>
          <p:cNvPr id="7172" name="WordArt 3">
            <a:extLst>
              <a:ext uri="{FF2B5EF4-FFF2-40B4-BE49-F238E27FC236}">
                <a16:creationId xmlns:a16="http://schemas.microsoft.com/office/drawing/2014/main" id="{6F4EF0B8-73D5-42E5-B26D-B6615CF69CB0}"/>
              </a:ext>
            </a:extLst>
          </p:cNvPr>
          <p:cNvSpPr>
            <a:spLocks noChangeArrowheads="1" noChangeShapeType="1" noTextEdit="1"/>
          </p:cNvSpPr>
          <p:nvPr/>
        </p:nvSpPr>
        <p:spPr bwMode="auto">
          <a:xfrm>
            <a:off x="3200400" y="176213"/>
            <a:ext cx="2514600" cy="661987"/>
          </a:xfrm>
          <a:prstGeom prst="rect">
            <a:avLst/>
          </a:prstGeom>
        </p:spPr>
        <p:txBody>
          <a:bodyPr wrap="none" fromWordArt="1">
            <a:prstTxWarp prst="textPlain">
              <a:avLst>
                <a:gd name="adj" fmla="val 50000"/>
              </a:avLst>
            </a:prstTxWarp>
          </a:bodyPr>
          <a:lstStyle/>
          <a:p>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Priority Queue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C2FFF0"/>
        </a:solidFill>
        <a:effectLst/>
      </p:bgPr>
    </p:bg>
    <p:spTree>
      <p:nvGrpSpPr>
        <p:cNvPr id="1" name=""/>
        <p:cNvGrpSpPr/>
        <p:nvPr/>
      </p:nvGrpSpPr>
      <p:grpSpPr>
        <a:xfrm>
          <a:off x="0" y="0"/>
          <a:ext cx="0" cy="0"/>
          <a:chOff x="0" y="0"/>
          <a:chExt cx="0" cy="0"/>
        </a:xfrm>
      </p:grpSpPr>
      <p:sp>
        <p:nvSpPr>
          <p:cNvPr id="7170" name="Footer Placeholder 3">
            <a:extLst>
              <a:ext uri="{FF2B5EF4-FFF2-40B4-BE49-F238E27FC236}">
                <a16:creationId xmlns:a16="http://schemas.microsoft.com/office/drawing/2014/main" id="{997A4589-DFAD-47A9-837D-37AEDE540D04}"/>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l">
              <a:spcBef>
                <a:spcPct val="0"/>
              </a:spcBef>
              <a:buFontTx/>
              <a:buNone/>
            </a:pPr>
            <a:endParaRPr lang="en-US" altLang="en-US" sz="800" b="1"/>
          </a:p>
          <a:p>
            <a:pPr algn="l">
              <a:spcBef>
                <a:spcPct val="0"/>
              </a:spcBef>
              <a:buFontTx/>
              <a:buNone/>
            </a:pPr>
            <a:endParaRPr lang="en-US" altLang="en-US" sz="800">
              <a:latin typeface="Tahoma" panose="020B0604030504040204" pitchFamily="34" charset="0"/>
            </a:endParaRPr>
          </a:p>
          <a:p>
            <a:pPr algn="l">
              <a:spcBef>
                <a:spcPct val="0"/>
              </a:spcBef>
              <a:buFontTx/>
              <a:buNone/>
            </a:pPr>
            <a:endParaRPr lang="en-US" altLang="en-US" sz="800" b="1">
              <a:latin typeface="Tahoma" panose="020B0604030504040204" pitchFamily="34" charset="0"/>
            </a:endParaRPr>
          </a:p>
          <a:p>
            <a:pPr algn="l">
              <a:spcBef>
                <a:spcPct val="0"/>
              </a:spcBef>
              <a:buFontTx/>
              <a:buNone/>
            </a:pPr>
            <a:r>
              <a:rPr lang="en-US" altLang="en-US" sz="800" b="1">
                <a:latin typeface="Tahoma" panose="020B0604030504040204" pitchFamily="34" charset="0"/>
              </a:rPr>
              <a:t>© A+ Computer Science  -  www.apluscompsci.com</a:t>
            </a:r>
          </a:p>
        </p:txBody>
      </p:sp>
      <p:sp>
        <p:nvSpPr>
          <p:cNvPr id="7171" name="Text Box 2">
            <a:extLst>
              <a:ext uri="{FF2B5EF4-FFF2-40B4-BE49-F238E27FC236}">
                <a16:creationId xmlns:a16="http://schemas.microsoft.com/office/drawing/2014/main" id="{A21B2ED0-FB3D-412B-BBC3-F9329589B457}"/>
              </a:ext>
            </a:extLst>
          </p:cNvPr>
          <p:cNvSpPr txBox="1">
            <a:spLocks noChangeArrowheads="1"/>
          </p:cNvSpPr>
          <p:nvPr/>
        </p:nvSpPr>
        <p:spPr bwMode="auto">
          <a:xfrm>
            <a:off x="304800" y="1399308"/>
            <a:ext cx="8534400"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4400" dirty="0">
                <a:latin typeface="Arial" panose="020B0604020202020204" pitchFamily="34" charset="0"/>
                <a:cs typeface="Arial" panose="020B0604020202020204" pitchFamily="34" charset="0"/>
              </a:rPr>
              <a:t>Could a sorted array be used to implement a PQ?</a:t>
            </a:r>
            <a:endParaRPr lang="en-US" altLang="en-US" sz="3600" dirty="0">
              <a:latin typeface="Arial" panose="020B0604020202020204" pitchFamily="34" charset="0"/>
              <a:cs typeface="Arial" panose="020B0604020202020204" pitchFamily="34" charset="0"/>
            </a:endParaRPr>
          </a:p>
        </p:txBody>
      </p:sp>
      <p:sp>
        <p:nvSpPr>
          <p:cNvPr id="7172" name="WordArt 3">
            <a:extLst>
              <a:ext uri="{FF2B5EF4-FFF2-40B4-BE49-F238E27FC236}">
                <a16:creationId xmlns:a16="http://schemas.microsoft.com/office/drawing/2014/main" id="{6F4EF0B8-73D5-42E5-B26D-B6615CF69CB0}"/>
              </a:ext>
            </a:extLst>
          </p:cNvPr>
          <p:cNvSpPr>
            <a:spLocks noChangeArrowheads="1" noChangeShapeType="1" noTextEdit="1"/>
          </p:cNvSpPr>
          <p:nvPr/>
        </p:nvSpPr>
        <p:spPr bwMode="auto">
          <a:xfrm>
            <a:off x="3200400" y="176213"/>
            <a:ext cx="2514600" cy="661987"/>
          </a:xfrm>
          <a:prstGeom prst="rect">
            <a:avLst/>
          </a:prstGeom>
        </p:spPr>
        <p:txBody>
          <a:bodyPr wrap="none" fromWordArt="1">
            <a:prstTxWarp prst="textPlain">
              <a:avLst>
                <a:gd name="adj" fmla="val 50000"/>
              </a:avLst>
            </a:prstTxWarp>
          </a:bodyPr>
          <a:lstStyle/>
          <a:p>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Priority Queue</a:t>
            </a:r>
          </a:p>
        </p:txBody>
      </p:sp>
      <p:sp>
        <p:nvSpPr>
          <p:cNvPr id="3" name="TextBox 2">
            <a:extLst>
              <a:ext uri="{FF2B5EF4-FFF2-40B4-BE49-F238E27FC236}">
                <a16:creationId xmlns:a16="http://schemas.microsoft.com/office/drawing/2014/main" id="{0DF4ECD4-DE1C-5D28-DDA2-B1DED487E7F1}"/>
              </a:ext>
            </a:extLst>
          </p:cNvPr>
          <p:cNvSpPr txBox="1"/>
          <p:nvPr/>
        </p:nvSpPr>
        <p:spPr>
          <a:xfrm>
            <a:off x="2171700" y="4142508"/>
            <a:ext cx="4572000" cy="769441"/>
          </a:xfrm>
          <a:prstGeom prst="rect">
            <a:avLst/>
          </a:prstGeom>
          <a:noFill/>
        </p:spPr>
        <p:txBody>
          <a:bodyPr wrap="square">
            <a:spAutoFit/>
          </a:bodyPr>
          <a:lstStyle/>
          <a:p>
            <a:pPr algn="ctr">
              <a:spcBef>
                <a:spcPct val="0"/>
              </a:spcBef>
              <a:buFontTx/>
              <a:buNone/>
            </a:pPr>
            <a:r>
              <a:rPr lang="en-US" altLang="en-US" sz="4400" dirty="0">
                <a:latin typeface="Arial" panose="020B0604020202020204" pitchFamily="34" charset="0"/>
                <a:cs typeface="Arial" panose="020B0604020202020204" pitchFamily="34" charset="0"/>
              </a:rPr>
              <a:t>Why not?</a:t>
            </a:r>
          </a:p>
        </p:txBody>
      </p:sp>
      <p:sp>
        <p:nvSpPr>
          <p:cNvPr id="4" name="Text Box 2">
            <a:extLst>
              <a:ext uri="{FF2B5EF4-FFF2-40B4-BE49-F238E27FC236}">
                <a16:creationId xmlns:a16="http://schemas.microsoft.com/office/drawing/2014/main" id="{FBC203E3-D32F-7585-202A-1DECB9CEE555}"/>
              </a:ext>
            </a:extLst>
          </p:cNvPr>
          <p:cNvSpPr txBox="1">
            <a:spLocks noChangeArrowheads="1"/>
          </p:cNvSpPr>
          <p:nvPr/>
        </p:nvSpPr>
        <p:spPr bwMode="auto">
          <a:xfrm>
            <a:off x="190500" y="3061913"/>
            <a:ext cx="8534400"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4400" dirty="0">
                <a:latin typeface="Arial" panose="020B0604020202020204" pitchFamily="34" charset="0"/>
                <a:cs typeface="Arial" panose="020B0604020202020204" pitchFamily="34" charset="0"/>
              </a:rPr>
              <a:t>Yes, but we don’t use that.</a:t>
            </a:r>
          </a:p>
        </p:txBody>
      </p:sp>
    </p:spTree>
    <p:extLst>
      <p:ext uri="{BB962C8B-B14F-4D97-AF65-F5344CB8AC3E}">
        <p14:creationId xmlns:p14="http://schemas.microsoft.com/office/powerpoint/2010/main" val="9011758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479DF87-AC9C-6E3C-A2D2-F07822E43AF4}"/>
              </a:ext>
            </a:extLst>
          </p:cNvPr>
          <p:cNvSpPr txBox="1"/>
          <p:nvPr/>
        </p:nvSpPr>
        <p:spPr>
          <a:xfrm>
            <a:off x="90054" y="838200"/>
            <a:ext cx="6283036" cy="2138855"/>
          </a:xfrm>
          <a:prstGeom prst="rect">
            <a:avLst/>
          </a:prstGeom>
          <a:noFill/>
        </p:spPr>
        <p:txBody>
          <a:bodyPr wrap="square">
            <a:spAutoFit/>
          </a:bodyPr>
          <a:lstStyle/>
          <a:p>
            <a:pPr algn="r">
              <a:lnSpc>
                <a:spcPct val="114000"/>
              </a:lnSpc>
              <a:spcBef>
                <a:spcPct val="0"/>
              </a:spcBef>
              <a:buFontTx/>
              <a:buNone/>
            </a:pPr>
            <a:r>
              <a:rPr lang="en-US" altLang="en-US" sz="4000" b="0" dirty="0">
                <a:latin typeface="Arial" panose="020B0604020202020204" pitchFamily="34" charset="0"/>
                <a:cs typeface="Arial" panose="020B0604020202020204" pitchFamily="34" charset="0"/>
              </a:rPr>
              <a:t>Adding to a heap is: </a:t>
            </a:r>
          </a:p>
          <a:p>
            <a:pPr algn="r">
              <a:lnSpc>
                <a:spcPct val="114000"/>
              </a:lnSpc>
              <a:spcBef>
                <a:spcPct val="0"/>
              </a:spcBef>
              <a:buFontTx/>
              <a:buNone/>
            </a:pPr>
            <a:r>
              <a:rPr lang="en-US" altLang="en-US" sz="4000" b="0" dirty="0">
                <a:latin typeface="Arial" panose="020B0604020202020204" pitchFamily="34" charset="0"/>
                <a:cs typeface="Arial" panose="020B0604020202020204" pitchFamily="34" charset="0"/>
              </a:rPr>
              <a:t>Adding to a sorted array is:</a:t>
            </a:r>
          </a:p>
          <a:p>
            <a:pPr algn="r">
              <a:lnSpc>
                <a:spcPct val="114000"/>
              </a:lnSpc>
              <a:spcBef>
                <a:spcPct val="0"/>
              </a:spcBef>
              <a:buFontTx/>
              <a:buNone/>
            </a:pPr>
            <a:r>
              <a:rPr lang="en-US" altLang="en-US" sz="4000" b="0" dirty="0">
                <a:latin typeface="Arial" panose="020B0604020202020204" pitchFamily="34" charset="0"/>
                <a:cs typeface="Arial" panose="020B0604020202020204" pitchFamily="34" charset="0"/>
              </a:rPr>
              <a:t>Sorting an array is at best:  </a:t>
            </a:r>
          </a:p>
        </p:txBody>
      </p:sp>
      <p:sp>
        <p:nvSpPr>
          <p:cNvPr id="7" name="TextBox 6">
            <a:extLst>
              <a:ext uri="{FF2B5EF4-FFF2-40B4-BE49-F238E27FC236}">
                <a16:creationId xmlns:a16="http://schemas.microsoft.com/office/drawing/2014/main" id="{0EDCE002-7CAC-5431-1E06-3E060C0ED8D0}"/>
              </a:ext>
            </a:extLst>
          </p:cNvPr>
          <p:cNvSpPr txBox="1"/>
          <p:nvPr/>
        </p:nvSpPr>
        <p:spPr>
          <a:xfrm>
            <a:off x="6482201" y="914400"/>
            <a:ext cx="2247900" cy="707886"/>
          </a:xfrm>
          <a:prstGeom prst="rect">
            <a:avLst/>
          </a:prstGeom>
          <a:noFill/>
        </p:spPr>
        <p:txBody>
          <a:bodyPr wrap="square">
            <a:spAutoFit/>
          </a:bodyPr>
          <a:lstStyle/>
          <a:p>
            <a:pPr algn="ctr">
              <a:spcBef>
                <a:spcPct val="0"/>
              </a:spcBef>
              <a:buFontTx/>
              <a:buNone/>
            </a:pPr>
            <a:r>
              <a:rPr lang="en-US" altLang="en-US" sz="4000" b="0" dirty="0">
                <a:latin typeface="Arial" panose="020B0604020202020204" pitchFamily="34" charset="0"/>
                <a:cs typeface="Arial" panose="020B0604020202020204" pitchFamily="34" charset="0"/>
              </a:rPr>
              <a:t>O(log n)</a:t>
            </a:r>
          </a:p>
        </p:txBody>
      </p:sp>
      <p:sp>
        <p:nvSpPr>
          <p:cNvPr id="8" name="TextBox 7">
            <a:extLst>
              <a:ext uri="{FF2B5EF4-FFF2-40B4-BE49-F238E27FC236}">
                <a16:creationId xmlns:a16="http://schemas.microsoft.com/office/drawing/2014/main" id="{989DFFDE-E45F-957E-48FF-190F8BA3B275}"/>
              </a:ext>
            </a:extLst>
          </p:cNvPr>
          <p:cNvSpPr txBox="1"/>
          <p:nvPr/>
        </p:nvSpPr>
        <p:spPr>
          <a:xfrm>
            <a:off x="6482201" y="1622562"/>
            <a:ext cx="2247900" cy="707886"/>
          </a:xfrm>
          <a:prstGeom prst="rect">
            <a:avLst/>
          </a:prstGeom>
          <a:noFill/>
        </p:spPr>
        <p:txBody>
          <a:bodyPr wrap="square">
            <a:spAutoFit/>
          </a:bodyPr>
          <a:lstStyle/>
          <a:p>
            <a:pPr algn="ctr">
              <a:spcBef>
                <a:spcPct val="0"/>
              </a:spcBef>
              <a:buFontTx/>
              <a:buNone/>
            </a:pPr>
            <a:r>
              <a:rPr lang="en-US" altLang="en-US" sz="4000" b="0" dirty="0">
                <a:latin typeface="Arial" panose="020B0604020202020204" pitchFamily="34" charset="0"/>
                <a:cs typeface="Arial" panose="020B0604020202020204" pitchFamily="34" charset="0"/>
              </a:rPr>
              <a:t>O(n)</a:t>
            </a:r>
          </a:p>
        </p:txBody>
      </p:sp>
      <p:sp>
        <p:nvSpPr>
          <p:cNvPr id="9" name="TextBox 8">
            <a:extLst>
              <a:ext uri="{FF2B5EF4-FFF2-40B4-BE49-F238E27FC236}">
                <a16:creationId xmlns:a16="http://schemas.microsoft.com/office/drawing/2014/main" id="{8AB5F147-F50A-58B7-E1FE-BAD03BE9126A}"/>
              </a:ext>
            </a:extLst>
          </p:cNvPr>
          <p:cNvSpPr txBox="1"/>
          <p:nvPr/>
        </p:nvSpPr>
        <p:spPr>
          <a:xfrm>
            <a:off x="6334997" y="2330724"/>
            <a:ext cx="2542309" cy="707886"/>
          </a:xfrm>
          <a:prstGeom prst="rect">
            <a:avLst/>
          </a:prstGeom>
          <a:noFill/>
        </p:spPr>
        <p:txBody>
          <a:bodyPr wrap="square">
            <a:spAutoFit/>
          </a:bodyPr>
          <a:lstStyle/>
          <a:p>
            <a:pPr algn="ctr">
              <a:spcBef>
                <a:spcPct val="0"/>
              </a:spcBef>
              <a:buFontTx/>
              <a:buNone/>
            </a:pPr>
            <a:r>
              <a:rPr lang="en-US" altLang="en-US" sz="4000" b="0" dirty="0">
                <a:latin typeface="Arial" panose="020B0604020202020204" pitchFamily="34" charset="0"/>
                <a:cs typeface="Arial" panose="020B0604020202020204" pitchFamily="34" charset="0"/>
              </a:rPr>
              <a:t>O(n log n)</a:t>
            </a:r>
          </a:p>
        </p:txBody>
      </p:sp>
      <p:sp>
        <p:nvSpPr>
          <p:cNvPr id="10" name="TextBox 9">
            <a:extLst>
              <a:ext uri="{FF2B5EF4-FFF2-40B4-BE49-F238E27FC236}">
                <a16:creationId xmlns:a16="http://schemas.microsoft.com/office/drawing/2014/main" id="{B87AB8D5-16E0-A77F-604B-4B5F3B5BD9B1}"/>
              </a:ext>
            </a:extLst>
          </p:cNvPr>
          <p:cNvSpPr txBox="1"/>
          <p:nvPr/>
        </p:nvSpPr>
        <p:spPr>
          <a:xfrm>
            <a:off x="0" y="5068"/>
            <a:ext cx="6934200" cy="799706"/>
          </a:xfrm>
          <a:prstGeom prst="rect">
            <a:avLst/>
          </a:prstGeom>
          <a:noFill/>
        </p:spPr>
        <p:txBody>
          <a:bodyPr wrap="square">
            <a:spAutoFit/>
          </a:bodyPr>
          <a:lstStyle/>
          <a:p>
            <a:pPr>
              <a:lnSpc>
                <a:spcPct val="114000"/>
              </a:lnSpc>
              <a:spcBef>
                <a:spcPct val="0"/>
              </a:spcBef>
              <a:buFontTx/>
              <a:buNone/>
            </a:pPr>
            <a:r>
              <a:rPr lang="en-US" altLang="en-US" sz="4400" dirty="0">
                <a:solidFill>
                  <a:schemeClr val="accent6">
                    <a:lumMod val="75000"/>
                  </a:schemeClr>
                </a:solidFill>
                <a:latin typeface="Arial" panose="020B0604020202020204" pitchFamily="34" charset="0"/>
                <a:cs typeface="Arial" panose="020B0604020202020204" pitchFamily="34" charset="0"/>
              </a:rPr>
              <a:t>Why use a heap?</a:t>
            </a:r>
          </a:p>
        </p:txBody>
      </p:sp>
      <p:grpSp>
        <p:nvGrpSpPr>
          <p:cNvPr id="12" name="Group 11">
            <a:extLst>
              <a:ext uri="{FF2B5EF4-FFF2-40B4-BE49-F238E27FC236}">
                <a16:creationId xmlns:a16="http://schemas.microsoft.com/office/drawing/2014/main" id="{DEF1A282-2DDA-B649-0FE6-A2087D80225F}"/>
              </a:ext>
            </a:extLst>
          </p:cNvPr>
          <p:cNvGrpSpPr/>
          <p:nvPr/>
        </p:nvGrpSpPr>
        <p:grpSpPr>
          <a:xfrm>
            <a:off x="1219200" y="3255819"/>
            <a:ext cx="6412923" cy="3599014"/>
            <a:chOff x="1219200" y="3255819"/>
            <a:chExt cx="6412923" cy="3599014"/>
          </a:xfrm>
        </p:grpSpPr>
        <p:pic>
          <p:nvPicPr>
            <p:cNvPr id="3078" name="Picture 6">
              <a:extLst>
                <a:ext uri="{FF2B5EF4-FFF2-40B4-BE49-F238E27FC236}">
                  <a16:creationId xmlns:a16="http://schemas.microsoft.com/office/drawing/2014/main" id="{755C83E7-CD47-3AA2-B935-98C17F99DC0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60" t="22835" r="4858" b="9717"/>
            <a:stretch/>
          </p:blipFill>
          <p:spPr bwMode="auto">
            <a:xfrm>
              <a:off x="1219200" y="3257862"/>
              <a:ext cx="6412923" cy="3596971"/>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DA07A70D-E33B-B8D5-7410-A2DD48B49EA9}"/>
                </a:ext>
              </a:extLst>
            </p:cNvPr>
            <p:cNvSpPr/>
            <p:nvPr/>
          </p:nvSpPr>
          <p:spPr bwMode="auto">
            <a:xfrm>
              <a:off x="6844146" y="3255819"/>
              <a:ext cx="228600" cy="228601"/>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grpSp>
    </p:spTree>
    <p:extLst>
      <p:ext uri="{BB962C8B-B14F-4D97-AF65-F5344CB8AC3E}">
        <p14:creationId xmlns:p14="http://schemas.microsoft.com/office/powerpoint/2010/main" val="1022910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a:extLst>
              <a:ext uri="{FF2B5EF4-FFF2-40B4-BE49-F238E27FC236}">
                <a16:creationId xmlns:a16="http://schemas.microsoft.com/office/drawing/2014/main" id="{93CEB6C0-C1B3-4CA8-AABE-0CD5BEAAA1B2}"/>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8195" name="WordArt 2">
            <a:extLst>
              <a:ext uri="{FF2B5EF4-FFF2-40B4-BE49-F238E27FC236}">
                <a16:creationId xmlns:a16="http://schemas.microsoft.com/office/drawing/2014/main" id="{3C91C352-DB68-4DDD-A298-A077FAA1E083}"/>
              </a:ext>
            </a:extLst>
          </p:cNvPr>
          <p:cNvSpPr>
            <a:spLocks noChangeArrowheads="1" noChangeShapeType="1" noTextEdit="1"/>
          </p:cNvSpPr>
          <p:nvPr/>
        </p:nvSpPr>
        <p:spPr bwMode="auto">
          <a:xfrm>
            <a:off x="990600" y="1066800"/>
            <a:ext cx="6553200" cy="3733800"/>
          </a:xfrm>
          <a:prstGeom prst="rect">
            <a:avLst/>
          </a:prstGeom>
        </p:spPr>
        <p:txBody>
          <a:bodyPr wrap="none" fromWordArt="1">
            <a:prstTxWarp prst="textPlain">
              <a:avLst>
                <a:gd name="adj" fmla="val 50000"/>
              </a:avLst>
            </a:prstTxWarp>
          </a:bodyPr>
          <a:lstStyle/>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PQ</a:t>
            </a:r>
          </a:p>
          <a:p>
            <a:pPr algn="ctr"/>
            <a:r>
              <a:rPr lang="en-US" sz="3600" kern="10">
                <a:ln w="9525">
                  <a:solidFill>
                    <a:srgbClr val="CCFFFF"/>
                  </a:solidFill>
                  <a:round/>
                  <a:headEnd/>
                  <a:tailEnd/>
                </a:ln>
                <a:solidFill>
                  <a:srgbClr val="0000FF"/>
                </a:solidFill>
                <a:effectLst>
                  <a:outerShdw dist="35921" dir="2700000" algn="ctr" rotWithShape="0">
                    <a:srgbClr val="C0C0C0"/>
                  </a:outerShdw>
                </a:effectLst>
                <a:latin typeface="Impact" panose="020B0806030902050204" pitchFamily="34" charset="0"/>
              </a:rPr>
              <a:t>Methods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DF8F3B1-CCA4-4E45-B97F-B151152940EB}"/>
              </a:ext>
            </a:extLst>
          </p:cNvPr>
          <p:cNvGrpSpPr/>
          <p:nvPr/>
        </p:nvGrpSpPr>
        <p:grpSpPr>
          <a:xfrm>
            <a:off x="609600" y="42205"/>
            <a:ext cx="7848600" cy="6739595"/>
            <a:chOff x="609600" y="42205"/>
            <a:chExt cx="7848600" cy="6739595"/>
          </a:xfrm>
        </p:grpSpPr>
        <p:pic>
          <p:nvPicPr>
            <p:cNvPr id="5" name="Picture 4" descr="Diagram, schematic&#10;&#10;Description automatically generated">
              <a:extLst>
                <a:ext uri="{FF2B5EF4-FFF2-40B4-BE49-F238E27FC236}">
                  <a16:creationId xmlns:a16="http://schemas.microsoft.com/office/drawing/2014/main" id="{1BA1C837-B04A-4B23-9BEE-F9F879320B54}"/>
                </a:ext>
              </a:extLst>
            </p:cNvPr>
            <p:cNvPicPr>
              <a:picLocks noChangeAspect="1"/>
            </p:cNvPicPr>
            <p:nvPr/>
          </p:nvPicPr>
          <p:blipFill rotWithShape="1">
            <a:blip r:embed="rId3">
              <a:extLst>
                <a:ext uri="{28A0092B-C50C-407E-A947-70E740481C1C}">
                  <a14:useLocalDpi xmlns:a14="http://schemas.microsoft.com/office/drawing/2010/main" val="0"/>
                </a:ext>
              </a:extLst>
            </a:blip>
            <a:srcRect b="28889"/>
            <a:stretch/>
          </p:blipFill>
          <p:spPr>
            <a:xfrm>
              <a:off x="609600" y="42205"/>
              <a:ext cx="7848600" cy="6739595"/>
            </a:xfrm>
            <a:prstGeom prst="rect">
              <a:avLst/>
            </a:prstGeom>
          </p:spPr>
        </p:pic>
        <p:sp>
          <p:nvSpPr>
            <p:cNvPr id="6" name="Freeform: Shape 5">
              <a:extLst>
                <a:ext uri="{FF2B5EF4-FFF2-40B4-BE49-F238E27FC236}">
                  <a16:creationId xmlns:a16="http://schemas.microsoft.com/office/drawing/2014/main" id="{9B2634DC-F4AA-4045-8AE1-B79B067D0FEB}"/>
                </a:ext>
              </a:extLst>
            </p:cNvPr>
            <p:cNvSpPr/>
            <p:nvPr/>
          </p:nvSpPr>
          <p:spPr bwMode="auto">
            <a:xfrm>
              <a:off x="4221479" y="1005840"/>
              <a:ext cx="400461" cy="359664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461" h="3596640">
                  <a:moveTo>
                    <a:pt x="0" y="3596640"/>
                  </a:moveTo>
                  <a:cubicBezTo>
                    <a:pt x="81280" y="3591560"/>
                    <a:pt x="162560" y="3586480"/>
                    <a:pt x="228600" y="3520440"/>
                  </a:cubicBezTo>
                  <a:cubicBezTo>
                    <a:pt x="294640" y="3454400"/>
                    <a:pt x="375990" y="3608920"/>
                    <a:pt x="396240" y="3200400"/>
                  </a:cubicBezTo>
                  <a:cubicBezTo>
                    <a:pt x="416490" y="2791880"/>
                    <a:pt x="357721" y="1602717"/>
                    <a:pt x="350101" y="1069317"/>
                  </a:cubicBezTo>
                  <a:cubicBezTo>
                    <a:pt x="342481" y="535917"/>
                    <a:pt x="369570" y="358140"/>
                    <a:pt x="350520"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sp>
          <p:nvSpPr>
            <p:cNvPr id="7" name="TextBox 6">
              <a:extLst>
                <a:ext uri="{FF2B5EF4-FFF2-40B4-BE49-F238E27FC236}">
                  <a16:creationId xmlns:a16="http://schemas.microsoft.com/office/drawing/2014/main" id="{0FAFD044-0A98-466F-A699-E8B6BE32CE3A}"/>
                </a:ext>
              </a:extLst>
            </p:cNvPr>
            <p:cNvSpPr txBox="1"/>
            <p:nvPr/>
          </p:nvSpPr>
          <p:spPr>
            <a:xfrm>
              <a:off x="914400" y="4582496"/>
              <a:ext cx="1143000" cy="369332"/>
            </a:xfrm>
            <a:prstGeom prst="rect">
              <a:avLst/>
            </a:prstGeom>
            <a:noFill/>
            <a:ln w="19050">
              <a:solidFill>
                <a:schemeClr val="tx1"/>
              </a:solidFill>
            </a:ln>
          </p:spPr>
          <p:txBody>
            <a:bodyPr wrap="square" rtlCol="0">
              <a:spAutoFit/>
            </a:bodyPr>
            <a:lstStyle/>
            <a:p>
              <a:pPr algn="ctr"/>
              <a:r>
                <a:rPr lang="en-US" sz="1800" b="0" dirty="0">
                  <a:latin typeface="Trebuchet MS" panose="020B0603020202020204" pitchFamily="34" charset="0"/>
                </a:rPr>
                <a:t>Vector</a:t>
              </a:r>
              <a:endParaRPr lang="en-US" sz="3200" b="0" dirty="0">
                <a:latin typeface="Trebuchet MS" panose="020B0603020202020204" pitchFamily="34" charset="0"/>
              </a:endParaRPr>
            </a:p>
          </p:txBody>
        </p:sp>
        <p:pic>
          <p:nvPicPr>
            <p:cNvPr id="8" name="Picture 7">
              <a:extLst>
                <a:ext uri="{FF2B5EF4-FFF2-40B4-BE49-F238E27FC236}">
                  <a16:creationId xmlns:a16="http://schemas.microsoft.com/office/drawing/2014/main" id="{B70494F4-14C4-493A-8B56-2D6819BB3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1231" y="4999828"/>
              <a:ext cx="190304" cy="515934"/>
            </a:xfrm>
            <a:prstGeom prst="rect">
              <a:avLst/>
            </a:prstGeom>
          </p:spPr>
        </p:pic>
        <p:pic>
          <p:nvPicPr>
            <p:cNvPr id="9" name="Picture 8">
              <a:extLst>
                <a:ext uri="{FF2B5EF4-FFF2-40B4-BE49-F238E27FC236}">
                  <a16:creationId xmlns:a16="http://schemas.microsoft.com/office/drawing/2014/main" id="{F937E365-45FA-4C9E-A5F2-29CE22FD5D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84944" y="1029039"/>
              <a:ext cx="190304" cy="515934"/>
            </a:xfrm>
            <a:prstGeom prst="rect">
              <a:avLst/>
            </a:prstGeom>
          </p:spPr>
        </p:pic>
        <p:sp>
          <p:nvSpPr>
            <p:cNvPr id="10" name="Freeform: Shape 9">
              <a:extLst>
                <a:ext uri="{FF2B5EF4-FFF2-40B4-BE49-F238E27FC236}">
                  <a16:creationId xmlns:a16="http://schemas.microsoft.com/office/drawing/2014/main" id="{846AA933-C469-42F7-A162-1025B85AD767}"/>
                </a:ext>
              </a:extLst>
            </p:cNvPr>
            <p:cNvSpPr/>
            <p:nvPr/>
          </p:nvSpPr>
          <p:spPr bwMode="auto">
            <a:xfrm>
              <a:off x="2066907" y="2517256"/>
              <a:ext cx="432503" cy="2271180"/>
            </a:xfrm>
            <a:custGeom>
              <a:avLst/>
              <a:gdLst>
                <a:gd name="connsiteX0" fmla="*/ 0 w 410530"/>
                <a:gd name="connsiteY0" fmla="*/ 3596640 h 3596640"/>
                <a:gd name="connsiteX1" fmla="*/ 228600 w 410530"/>
                <a:gd name="connsiteY1" fmla="*/ 3520440 h 3596640"/>
                <a:gd name="connsiteX2" fmla="*/ 396240 w 410530"/>
                <a:gd name="connsiteY2" fmla="*/ 3200400 h 3596640"/>
                <a:gd name="connsiteX3" fmla="*/ 396240 w 410530"/>
                <a:gd name="connsiteY3" fmla="*/ 1249680 h 3596640"/>
                <a:gd name="connsiteX4" fmla="*/ 350520 w 410530"/>
                <a:gd name="connsiteY4" fmla="*/ 0 h 3596640"/>
                <a:gd name="connsiteX0" fmla="*/ 0 w 400461"/>
                <a:gd name="connsiteY0" fmla="*/ 3596640 h 3596640"/>
                <a:gd name="connsiteX1" fmla="*/ 228600 w 400461"/>
                <a:gd name="connsiteY1" fmla="*/ 3520440 h 3596640"/>
                <a:gd name="connsiteX2" fmla="*/ 396240 w 400461"/>
                <a:gd name="connsiteY2" fmla="*/ 3200400 h 3596640"/>
                <a:gd name="connsiteX3" fmla="*/ 350101 w 400461"/>
                <a:gd name="connsiteY3" fmla="*/ 1069317 h 3596640"/>
                <a:gd name="connsiteX4" fmla="*/ 350520 w 400461"/>
                <a:gd name="connsiteY4" fmla="*/ 0 h 3596640"/>
                <a:gd name="connsiteX0" fmla="*/ 0 w 414354"/>
                <a:gd name="connsiteY0" fmla="*/ 3596640 h 3596640"/>
                <a:gd name="connsiteX1" fmla="*/ 228600 w 414354"/>
                <a:gd name="connsiteY1" fmla="*/ 3520440 h 3596640"/>
                <a:gd name="connsiteX2" fmla="*/ 396240 w 414354"/>
                <a:gd name="connsiteY2" fmla="*/ 3200400 h 3596640"/>
                <a:gd name="connsiteX3" fmla="*/ 404630 w 414354"/>
                <a:gd name="connsiteY3" fmla="*/ 1895632 h 3596640"/>
                <a:gd name="connsiteX4" fmla="*/ 350520 w 414354"/>
                <a:gd name="connsiteY4" fmla="*/ 0 h 3596640"/>
                <a:gd name="connsiteX0" fmla="*/ 0 w 414354"/>
                <a:gd name="connsiteY0" fmla="*/ 2271180 h 2271180"/>
                <a:gd name="connsiteX1" fmla="*/ 228600 w 414354"/>
                <a:gd name="connsiteY1" fmla="*/ 2194980 h 2271180"/>
                <a:gd name="connsiteX2" fmla="*/ 396240 w 414354"/>
                <a:gd name="connsiteY2" fmla="*/ 1874940 h 2271180"/>
                <a:gd name="connsiteX3" fmla="*/ 404630 w 414354"/>
                <a:gd name="connsiteY3" fmla="*/ 570172 h 2271180"/>
                <a:gd name="connsiteX4" fmla="*/ 400854 w 414354"/>
                <a:gd name="connsiteY4" fmla="*/ 0 h 2271180"/>
                <a:gd name="connsiteX0" fmla="*/ 0 w 426664"/>
                <a:gd name="connsiteY0" fmla="*/ 2271180 h 2271180"/>
                <a:gd name="connsiteX1" fmla="*/ 228600 w 426664"/>
                <a:gd name="connsiteY1" fmla="*/ 2194980 h 2271180"/>
                <a:gd name="connsiteX2" fmla="*/ 396240 w 426664"/>
                <a:gd name="connsiteY2" fmla="*/ 1874940 h 2271180"/>
                <a:gd name="connsiteX3" fmla="*/ 404630 w 426664"/>
                <a:gd name="connsiteY3" fmla="*/ 570172 h 2271180"/>
                <a:gd name="connsiteX4" fmla="*/ 421826 w 426664"/>
                <a:gd name="connsiteY4" fmla="*/ 0 h 2271180"/>
                <a:gd name="connsiteX0" fmla="*/ 0 w 432503"/>
                <a:gd name="connsiteY0" fmla="*/ 2271180 h 2271180"/>
                <a:gd name="connsiteX1" fmla="*/ 228600 w 432503"/>
                <a:gd name="connsiteY1" fmla="*/ 2194980 h 2271180"/>
                <a:gd name="connsiteX2" fmla="*/ 396240 w 432503"/>
                <a:gd name="connsiteY2" fmla="*/ 1874940 h 2271180"/>
                <a:gd name="connsiteX3" fmla="*/ 429797 w 432503"/>
                <a:gd name="connsiteY3" fmla="*/ 691813 h 2271180"/>
                <a:gd name="connsiteX4" fmla="*/ 421826 w 432503"/>
                <a:gd name="connsiteY4" fmla="*/ 0 h 2271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503" h="2271180">
                  <a:moveTo>
                    <a:pt x="0" y="2271180"/>
                  </a:moveTo>
                  <a:cubicBezTo>
                    <a:pt x="81280" y="2266100"/>
                    <a:pt x="162560" y="2261020"/>
                    <a:pt x="228600" y="2194980"/>
                  </a:cubicBezTo>
                  <a:cubicBezTo>
                    <a:pt x="294640" y="2128940"/>
                    <a:pt x="362707" y="2125468"/>
                    <a:pt x="396240" y="1874940"/>
                  </a:cubicBezTo>
                  <a:cubicBezTo>
                    <a:pt x="429773" y="1624412"/>
                    <a:pt x="437417" y="1225213"/>
                    <a:pt x="429797" y="691813"/>
                  </a:cubicBezTo>
                  <a:cubicBezTo>
                    <a:pt x="422177" y="158413"/>
                    <a:pt x="440876" y="358140"/>
                    <a:pt x="421826" y="0"/>
                  </a:cubicBezTo>
                </a:path>
              </a:pathLst>
            </a:custGeom>
            <a:noFill/>
            <a:ln w="19050" cap="flat" cmpd="sng" algn="ctr">
              <a:solidFill>
                <a:schemeClr val="tx1"/>
              </a:solidFill>
              <a:prstDash val="dash"/>
              <a:round/>
              <a:headEnd type="none" w="med" len="me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800" b="1" i="0" u="none" strike="noStrike" cap="none" normalizeH="0" baseline="0">
                <a:ln>
                  <a:noFill/>
                </a:ln>
                <a:solidFill>
                  <a:schemeClr val="tx1"/>
                </a:solidFill>
                <a:effectLst/>
                <a:latin typeface="Tahoma" pitchFamily="34" charset="0"/>
              </a:endParaRPr>
            </a:p>
          </p:txBody>
        </p:sp>
        <p:pic>
          <p:nvPicPr>
            <p:cNvPr id="11" name="Picture 10">
              <a:extLst>
                <a:ext uri="{FF2B5EF4-FFF2-40B4-BE49-F238E27FC236}">
                  <a16:creationId xmlns:a16="http://schemas.microsoft.com/office/drawing/2014/main" id="{9905A9FB-B2DE-47A9-8A38-905FB9525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05871" y="2506901"/>
              <a:ext cx="190304" cy="515934"/>
            </a:xfrm>
            <a:prstGeom prst="rect">
              <a:avLst/>
            </a:prstGeom>
          </p:spPr>
        </p:pic>
      </p:grpSp>
    </p:spTree>
    <p:extLst>
      <p:ext uri="{BB962C8B-B14F-4D97-AF65-F5344CB8AC3E}">
        <p14:creationId xmlns:p14="http://schemas.microsoft.com/office/powerpoint/2010/main" val="1736896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3">
            <a:extLst>
              <a:ext uri="{FF2B5EF4-FFF2-40B4-BE49-F238E27FC236}">
                <a16:creationId xmlns:a16="http://schemas.microsoft.com/office/drawing/2014/main" id="{1739D96F-D321-4E1F-8C0C-562A6D27C1AB}"/>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graphicFrame>
        <p:nvGraphicFramePr>
          <p:cNvPr id="88066" name="Group 2">
            <a:extLst>
              <a:ext uri="{FF2B5EF4-FFF2-40B4-BE49-F238E27FC236}">
                <a16:creationId xmlns:a16="http://schemas.microsoft.com/office/drawing/2014/main" id="{45042756-E9ED-4F22-B1D5-7833D6C21810}"/>
              </a:ext>
            </a:extLst>
          </p:cNvPr>
          <p:cNvGraphicFramePr>
            <a:graphicFrameLocks noGrp="1"/>
          </p:cNvGraphicFramePr>
          <p:nvPr>
            <p:extLst>
              <p:ext uri="{D42A27DB-BD31-4B8C-83A1-F6EECF244321}">
                <p14:modId xmlns:p14="http://schemas.microsoft.com/office/powerpoint/2010/main" val="3400683069"/>
              </p:ext>
            </p:extLst>
          </p:nvPr>
        </p:nvGraphicFramePr>
        <p:xfrm>
          <a:off x="609600" y="533400"/>
          <a:ext cx="8077200" cy="4400551"/>
        </p:xfrm>
        <a:graphic>
          <a:graphicData uri="http://schemas.openxmlformats.org/drawingml/2006/table">
            <a:tbl>
              <a:tblPr/>
              <a:tblGrid>
                <a:gridCol w="2720975">
                  <a:extLst>
                    <a:ext uri="{9D8B030D-6E8A-4147-A177-3AD203B41FA5}">
                      <a16:colId xmlns:a16="http://schemas.microsoft.com/office/drawing/2014/main" val="20000"/>
                    </a:ext>
                  </a:extLst>
                </a:gridCol>
                <a:gridCol w="5356225">
                  <a:extLst>
                    <a:ext uri="{9D8B030D-6E8A-4147-A177-3AD203B41FA5}">
                      <a16:colId xmlns:a16="http://schemas.microsoft.com/office/drawing/2014/main" val="20001"/>
                    </a:ext>
                  </a:extLst>
                </a:gridCol>
              </a:tblGrid>
              <a:tr h="1476375">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3600" b="1" i="0" u="none" strike="noStrike" cap="none" normalizeH="0" baseline="0">
                          <a:ln>
                            <a:noFill/>
                          </a:ln>
                          <a:solidFill>
                            <a:srgbClr val="FF0000"/>
                          </a:solidFill>
                          <a:effectLst/>
                          <a:latin typeface="Tahoma" pitchFamily="34" charset="0"/>
                        </a:rPr>
                        <a:t>PriorityQueue</a:t>
                      </a:r>
                    </a:p>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rgbClr val="006600"/>
                          </a:solidFill>
                          <a:effectLst/>
                          <a:latin typeface="Tahoma" pitchFamily="34" charset="0"/>
                        </a:rPr>
                        <a:t>frequently used methods</a:t>
                      </a: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68421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Name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Use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add(x)</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adds item x to the pQueue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removes and returns min priority item</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492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element()</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min item with no remove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8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size()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returns the # of items in the pQueue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81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isEmpty()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checks to see if the </a:t>
                      </a:r>
                      <a:r>
                        <a:rPr kumimoji="0" lang="en-US" sz="2000" b="1" i="0" u="none" strike="noStrike" cap="none" normalizeH="0" baseline="0" dirty="0" err="1">
                          <a:ln>
                            <a:noFill/>
                          </a:ln>
                          <a:solidFill>
                            <a:schemeClr val="accent2"/>
                          </a:solidFill>
                          <a:effectLst/>
                          <a:latin typeface="Tahoma" pitchFamily="34" charset="0"/>
                        </a:rPr>
                        <a:t>pQueue</a:t>
                      </a:r>
                      <a:r>
                        <a:rPr kumimoji="0" lang="en-US" sz="2000" b="1" i="0" u="none" strike="noStrike" cap="none" normalizeH="0" baseline="0" dirty="0">
                          <a:ln>
                            <a:noFill/>
                          </a:ln>
                          <a:solidFill>
                            <a:schemeClr val="accent2"/>
                          </a:solidFill>
                          <a:effectLst/>
                          <a:latin typeface="Tahoma" pitchFamily="34" charset="0"/>
                        </a:rPr>
                        <a:t> is empty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CEDBB03-3C5E-4B3E-BB3F-83683E2D653D}"/>
              </a:ext>
            </a:extLst>
          </p:cNvPr>
          <p:cNvGraphicFramePr>
            <a:graphicFrameLocks noGrp="1"/>
          </p:cNvGraphicFramePr>
          <p:nvPr/>
        </p:nvGraphicFramePr>
        <p:xfrm>
          <a:off x="169334" y="1828800"/>
          <a:ext cx="8746066" cy="2454276"/>
        </p:xfrm>
        <a:graphic>
          <a:graphicData uri="http://schemas.openxmlformats.org/drawingml/2006/table">
            <a:tbl>
              <a:tblPr/>
              <a:tblGrid>
                <a:gridCol w="1972152">
                  <a:extLst>
                    <a:ext uri="{9D8B030D-6E8A-4147-A177-3AD203B41FA5}">
                      <a16:colId xmlns:a16="http://schemas.microsoft.com/office/drawing/2014/main" val="2998549995"/>
                    </a:ext>
                  </a:extLst>
                </a:gridCol>
                <a:gridCol w="3086847">
                  <a:extLst>
                    <a:ext uri="{9D8B030D-6E8A-4147-A177-3AD203B41FA5}">
                      <a16:colId xmlns:a16="http://schemas.microsoft.com/office/drawing/2014/main" val="3046120668"/>
                    </a:ext>
                  </a:extLst>
                </a:gridCol>
                <a:gridCol w="3687067">
                  <a:extLst>
                    <a:ext uri="{9D8B030D-6E8A-4147-A177-3AD203B41FA5}">
                      <a16:colId xmlns:a16="http://schemas.microsoft.com/office/drawing/2014/main" val="2063912837"/>
                    </a:ext>
                  </a:extLst>
                </a:gridCol>
              </a:tblGrid>
              <a:tr h="613569">
                <a:tc>
                  <a:txBody>
                    <a:bodyPr/>
                    <a:lstStyle/>
                    <a:p>
                      <a:pPr algn="ctr"/>
                      <a:r>
                        <a:rPr lang="en-US" sz="2800" b="1" dirty="0">
                          <a:latin typeface="Abadi" panose="020B0604020104020204" pitchFamily="34" charset="0"/>
                        </a:rPr>
                        <a:t>Operation</a:t>
                      </a:r>
                    </a:p>
                  </a:txBody>
                  <a:tcPr marT="45732" marB="45732"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u="none" strike="noStrike" kern="1200" dirty="0">
                          <a:solidFill>
                            <a:srgbClr val="4A6782"/>
                          </a:solidFill>
                          <a:effectLst/>
                          <a:latin typeface="Abadi" panose="020B0604020104020204" pitchFamily="34" charset="0"/>
                          <a:ea typeface="+mn-ea"/>
                          <a:cs typeface="+mn-cs"/>
                        </a:rPr>
                        <a:t>Throws exception</a:t>
                      </a: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US" sz="2800" b="1" i="0" dirty="0">
                          <a:solidFill>
                            <a:schemeClr val="accent1">
                              <a:lumMod val="50000"/>
                            </a:schemeClr>
                          </a:solidFill>
                          <a:latin typeface="Abadi" panose="020B0604020104020204" pitchFamily="34" charset="0"/>
                        </a:rPr>
                        <a:t>Returns special value</a:t>
                      </a:r>
                    </a:p>
                  </a:txBody>
                  <a:tcPr marT="45732" marB="45732"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9314042"/>
                  </a:ext>
                </a:extLst>
              </a:tr>
              <a:tr h="613569">
                <a:tc>
                  <a:txBody>
                    <a:bodyPr/>
                    <a:lstStyle/>
                    <a:p>
                      <a:pPr algn="ctr"/>
                      <a:r>
                        <a:rPr lang="en-US" sz="2800" b="1" dirty="0">
                          <a:latin typeface="Abadi" panose="020B0604020104020204" pitchFamily="34" charset="0"/>
                        </a:rPr>
                        <a:t>Insert</a:t>
                      </a:r>
                    </a:p>
                  </a:txBody>
                  <a:tcPr marT="45732" marB="45732"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rgbClr val="4A6782"/>
                          </a:solidFill>
                          <a:effectLst/>
                          <a:latin typeface="Bahnschrift" panose="020B0502040204020203" pitchFamily="34" charset="0"/>
                        </a:rPr>
                        <a:t>add(e)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offer(e)</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95105524"/>
                  </a:ext>
                </a:extLst>
              </a:tr>
              <a:tr h="613569">
                <a:tc>
                  <a:txBody>
                    <a:bodyPr/>
                    <a:lstStyle/>
                    <a:p>
                      <a:pPr algn="ctr"/>
                      <a:r>
                        <a:rPr lang="en-US" sz="2800" b="1" dirty="0">
                          <a:latin typeface="Abadi" panose="020B0604020104020204" pitchFamily="34" charset="0"/>
                        </a:rPr>
                        <a:t>Remove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remove()</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poll()</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935295378"/>
                  </a:ext>
                </a:extLst>
              </a:tr>
              <a:tr h="613569">
                <a:tc>
                  <a:txBody>
                    <a:bodyPr/>
                    <a:lstStyle/>
                    <a:p>
                      <a:pPr algn="ctr"/>
                      <a:r>
                        <a:rPr lang="en-US" sz="2800" b="1" dirty="0">
                          <a:latin typeface="Abadi" panose="020B0604020104020204" pitchFamily="34" charset="0"/>
                        </a:rPr>
                        <a:t>Examine</a:t>
                      </a:r>
                    </a:p>
                  </a:txBody>
                  <a:tcPr marT="45732" marB="45732" anchor="ctr">
                    <a:lnL>
                      <a:noFill/>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rgbClr val="4A6782"/>
                          </a:solidFill>
                          <a:effectLst/>
                          <a:latin typeface="Bahnschrift" panose="020B0502040204020203" pitchFamily="34" charset="0"/>
                        </a:rPr>
                        <a:t>element()</a:t>
                      </a:r>
                      <a:endParaRPr lang="en-US" sz="2800" b="1" dirty="0">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a:r>
                        <a:rPr lang="en-US" sz="2800" b="1" u="none" strike="noStrike" dirty="0">
                          <a:solidFill>
                            <a:schemeClr val="accent1">
                              <a:lumMod val="50000"/>
                            </a:schemeClr>
                          </a:solidFill>
                          <a:effectLst/>
                          <a:latin typeface="Bahnschrift" panose="020B0502040204020203" pitchFamily="34" charset="0"/>
                        </a:rPr>
                        <a:t>peek()</a:t>
                      </a:r>
                      <a:endParaRPr lang="en-US" sz="2800" b="1" dirty="0">
                        <a:solidFill>
                          <a:schemeClr val="accent1">
                            <a:lumMod val="50000"/>
                          </a:schemeClr>
                        </a:solidFill>
                        <a:latin typeface="Bahnschrift" panose="020B0502040204020203" pitchFamily="34" charset="0"/>
                      </a:endParaRPr>
                    </a:p>
                  </a:txBody>
                  <a:tcPr marT="45732" marB="45732"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86060292"/>
                  </a:ext>
                </a:extLst>
              </a:tr>
            </a:tbl>
          </a:graphicData>
        </a:graphic>
      </p:graphicFrame>
      <p:sp>
        <p:nvSpPr>
          <p:cNvPr id="24591" name="Rectangle 1">
            <a:extLst>
              <a:ext uri="{FF2B5EF4-FFF2-40B4-BE49-F238E27FC236}">
                <a16:creationId xmlns:a16="http://schemas.microsoft.com/office/drawing/2014/main" id="{15369E1E-B046-48A7-B237-3FA0F88A4C4D}"/>
              </a:ext>
            </a:extLst>
          </p:cNvPr>
          <p:cNvSpPr>
            <a:spLocks noChangeArrowheads="1"/>
          </p:cNvSpPr>
          <p:nvPr/>
        </p:nvSpPr>
        <p:spPr bwMode="auto">
          <a:xfrm>
            <a:off x="1981200" y="685800"/>
            <a:ext cx="5308600"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53958" anchor="ct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latin typeface="Tahoma" panose="020B0604030504040204" pitchFamily="34" charset="0"/>
              </a:rPr>
              <a:t>Summary of Queue methods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Box 2">
            <a:extLst>
              <a:ext uri="{FF2B5EF4-FFF2-40B4-BE49-F238E27FC236}">
                <a16:creationId xmlns:a16="http://schemas.microsoft.com/office/drawing/2014/main" id="{6391059C-2A3C-37CD-F212-4672FE9466EB}"/>
              </a:ext>
            </a:extLst>
          </p:cNvPr>
          <p:cNvSpPr txBox="1">
            <a:spLocks noChangeArrowheads="1"/>
          </p:cNvSpPr>
          <p:nvPr/>
        </p:nvSpPr>
        <p:spPr bwMode="auto">
          <a:xfrm>
            <a:off x="609600" y="1600200"/>
            <a:ext cx="8153400"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err="1">
                <a:latin typeface="Tahoma" panose="020B0604030504040204" pitchFamily="34" charset="0"/>
              </a:rPr>
              <a:t>PriorityQueue</a:t>
            </a:r>
            <a:r>
              <a:rPr lang="en-US" altLang="en-US" sz="2800" dirty="0">
                <a:latin typeface="Tahoma" panose="020B0604030504040204" pitchFamily="34" charset="0"/>
              </a:rPr>
              <a:t>&lt;Integer&gt; </a:t>
            </a:r>
            <a:r>
              <a:rPr lang="en-US" altLang="en-US" sz="2800" dirty="0" err="1">
                <a:latin typeface="Tahoma" panose="020B0604030504040204" pitchFamily="34" charset="0"/>
              </a:rPr>
              <a:t>pQueue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pQueue</a:t>
            </a:r>
            <a:r>
              <a:rPr lang="en-US" altLang="en-US" sz="2800" dirty="0">
                <a:latin typeface="Tahoma" panose="020B0604030504040204" pitchFamily="34" charset="0"/>
              </a:rPr>
              <a:t> = new </a:t>
            </a:r>
            <a:r>
              <a:rPr lang="en-US" altLang="en-US" sz="2800" dirty="0" err="1">
                <a:latin typeface="Tahoma" panose="020B0604030504040204" pitchFamily="34" charset="0"/>
              </a:rPr>
              <a:t>PriorityQueue</a:t>
            </a:r>
            <a:r>
              <a:rPr lang="en-US" altLang="en-US" sz="2800" dirty="0">
                <a:latin typeface="Tahoma" panose="020B0604030504040204" pitchFamily="34" charset="0"/>
              </a:rPr>
              <a:t>&lt;Integer&gt;();</a:t>
            </a:r>
            <a:br>
              <a:rPr lang="en-US" altLang="en-US" sz="2800" dirty="0">
                <a:latin typeface="Tahoma" panose="020B0604030504040204" pitchFamily="34" charset="0"/>
              </a:rPr>
            </a:br>
            <a:endParaRPr lang="en-US" altLang="en-US" sz="2800" dirty="0">
              <a:latin typeface="Tahoma" panose="020B0604030504040204" pitchFamily="34" charset="0"/>
            </a:endParaRP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(11);</a:t>
            </a: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(10);</a:t>
            </a: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(7);</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pQueue</a:t>
            </a:r>
            <a:r>
              <a:rPr lang="en-US" altLang="en-US" sz="2800" dirty="0">
                <a:latin typeface="Tahoma" panose="020B0604030504040204" pitchFamily="34" charset="0"/>
              </a:rPr>
              <a:t>);</a:t>
            </a:r>
          </a:p>
          <a:p>
            <a:pPr>
              <a:spcBef>
                <a:spcPct val="0"/>
              </a:spcBef>
              <a:buFontTx/>
              <a:buNone/>
            </a:pPr>
            <a:endParaRPr lang="en-US" altLang="en-US" sz="2800" dirty="0">
              <a:latin typeface="Tahoma" panose="020B0604030504040204" pitchFamily="34" charset="0"/>
            </a:endParaRPr>
          </a:p>
          <a:p>
            <a:pPr>
              <a:spcBef>
                <a:spcPct val="0"/>
              </a:spcBef>
              <a:buFontTx/>
              <a:buNone/>
            </a:pPr>
            <a:endParaRPr lang="en-US" altLang="en-US" sz="2800" dirty="0">
              <a:latin typeface="Tahoma" panose="020B0604030504040204" pitchFamily="34" charset="0"/>
            </a:endParaRPr>
          </a:p>
        </p:txBody>
      </p:sp>
      <p:sp>
        <p:nvSpPr>
          <p:cNvPr id="12" name="WordArt 3">
            <a:extLst>
              <a:ext uri="{FF2B5EF4-FFF2-40B4-BE49-F238E27FC236}">
                <a16:creationId xmlns:a16="http://schemas.microsoft.com/office/drawing/2014/main" id="{1F58C506-4607-147B-FCA9-16CDD04B8749}"/>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add</a:t>
            </a:r>
          </a:p>
        </p:txBody>
      </p:sp>
      <p:sp>
        <p:nvSpPr>
          <p:cNvPr id="13" name="Text Box 4">
            <a:extLst>
              <a:ext uri="{FF2B5EF4-FFF2-40B4-BE49-F238E27FC236}">
                <a16:creationId xmlns:a16="http://schemas.microsoft.com/office/drawing/2014/main" id="{2482B358-C269-52C8-A255-30A125B9FAAF}"/>
              </a:ext>
            </a:extLst>
          </p:cNvPr>
          <p:cNvSpPr txBox="1">
            <a:spLocks noChangeArrowheads="1"/>
          </p:cNvSpPr>
          <p:nvPr/>
        </p:nvSpPr>
        <p:spPr bwMode="auto">
          <a:xfrm>
            <a:off x="6553200" y="3200400"/>
            <a:ext cx="23622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[7, 11, 10]</a:t>
            </a:r>
          </a:p>
        </p:txBody>
      </p:sp>
      <p:grpSp>
        <p:nvGrpSpPr>
          <p:cNvPr id="14" name="Group 9">
            <a:extLst>
              <a:ext uri="{FF2B5EF4-FFF2-40B4-BE49-F238E27FC236}">
                <a16:creationId xmlns:a16="http://schemas.microsoft.com/office/drawing/2014/main" id="{64418E86-6FE2-DEAC-E3AF-1A88DE5D3059}"/>
              </a:ext>
            </a:extLst>
          </p:cNvPr>
          <p:cNvGrpSpPr>
            <a:grpSpLocks/>
          </p:cNvGrpSpPr>
          <p:nvPr/>
        </p:nvGrpSpPr>
        <p:grpSpPr bwMode="auto">
          <a:xfrm>
            <a:off x="457200" y="5059363"/>
            <a:ext cx="8305800" cy="1570037"/>
            <a:chOff x="457200" y="4907340"/>
            <a:chExt cx="8305800" cy="1569660"/>
          </a:xfrm>
        </p:grpSpPr>
        <p:sp>
          <p:nvSpPr>
            <p:cNvPr id="15" name="Text Box 4">
              <a:extLst>
                <a:ext uri="{FF2B5EF4-FFF2-40B4-BE49-F238E27FC236}">
                  <a16:creationId xmlns:a16="http://schemas.microsoft.com/office/drawing/2014/main" id="{F4228443-AEA6-548D-279D-FC1AB539B4C2}"/>
                </a:ext>
              </a:extLst>
            </p:cNvPr>
            <p:cNvSpPr txBox="1">
              <a:spLocks noChangeArrowheads="1"/>
            </p:cNvSpPr>
            <p:nvPr/>
          </p:nvSpPr>
          <p:spPr bwMode="auto">
            <a:xfrm>
              <a:off x="457200" y="4907340"/>
              <a:ext cx="8382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a:solidFill>
                    <a:srgbClr val="7030A0"/>
                  </a:solidFill>
                  <a:latin typeface="Tahoma" panose="020B0604030504040204" pitchFamily="34" charset="0"/>
                </a:rPr>
                <a:t>11</a:t>
              </a:r>
            </a:p>
          </p:txBody>
        </p:sp>
        <p:sp>
          <p:nvSpPr>
            <p:cNvPr id="16" name="Text Box 4">
              <a:extLst>
                <a:ext uri="{FF2B5EF4-FFF2-40B4-BE49-F238E27FC236}">
                  <a16:creationId xmlns:a16="http://schemas.microsoft.com/office/drawing/2014/main" id="{F93DFE7A-D800-6248-77FA-EE2E854FDF65}"/>
                </a:ext>
              </a:extLst>
            </p:cNvPr>
            <p:cNvSpPr txBox="1">
              <a:spLocks noChangeArrowheads="1"/>
            </p:cNvSpPr>
            <p:nvPr/>
          </p:nvSpPr>
          <p:spPr bwMode="auto">
            <a:xfrm>
              <a:off x="5083175" y="4907340"/>
              <a:ext cx="1676400" cy="1569660"/>
            </a:xfrm>
            <a:prstGeom prst="rect">
              <a:avLst/>
            </a:prstGeom>
            <a:noFill/>
            <a:ln w="12700">
              <a:no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ts val="0"/>
                </a:spcBef>
                <a:buFontTx/>
                <a:buNone/>
                <a:defRPr/>
              </a:pPr>
              <a:r>
                <a:rPr lang="en-US" altLang="en-US" dirty="0">
                  <a:solidFill>
                    <a:srgbClr val="7030A0"/>
                  </a:solidFill>
                  <a:latin typeface="Tahoma" panose="020B0604030504040204" pitchFamily="34" charset="0"/>
                </a:rPr>
                <a:t> </a:t>
              </a:r>
              <a:r>
                <a:rPr lang="en-US" altLang="en-US" sz="1050" dirty="0">
                  <a:solidFill>
                    <a:srgbClr val="7030A0"/>
                  </a:solidFill>
                  <a:latin typeface="Tahoma" panose="020B0604030504040204" pitchFamily="34" charset="0"/>
                </a:rPr>
                <a:t> </a:t>
              </a:r>
              <a:r>
                <a:rPr lang="en-US" altLang="en-US" sz="2000" dirty="0">
                  <a:solidFill>
                    <a:srgbClr val="7030A0"/>
                  </a:solidFill>
                  <a:latin typeface="Tahoma" panose="020B0604030504040204" pitchFamily="34" charset="0"/>
                </a:rPr>
                <a:t> </a:t>
              </a:r>
              <a:r>
                <a:rPr lang="en-US" altLang="en-US" dirty="0">
                  <a:solidFill>
                    <a:srgbClr val="7030A0"/>
                  </a:solidFill>
                  <a:latin typeface="Tahoma" panose="020B0604030504040204" pitchFamily="34" charset="0"/>
                </a:rPr>
                <a:t> </a:t>
              </a:r>
              <a:r>
                <a:rPr lang="en-US" altLang="en-US" sz="1050" dirty="0">
                  <a:solidFill>
                    <a:srgbClr val="7030A0"/>
                  </a:solidFill>
                  <a:latin typeface="Tahoma" panose="020B0604030504040204" pitchFamily="34" charset="0"/>
                </a:rPr>
                <a:t> </a:t>
              </a:r>
              <a:r>
                <a:rPr lang="en-US" altLang="en-US" dirty="0">
                  <a:solidFill>
                    <a:srgbClr val="7030A0"/>
                  </a:solidFill>
                  <a:latin typeface="Tahoma" panose="020B0604030504040204" pitchFamily="34" charset="0"/>
                </a:rPr>
                <a:t>10</a:t>
              </a:r>
            </a:p>
            <a:p>
              <a:pPr>
                <a:spcBef>
                  <a:spcPts val="0"/>
                </a:spcBef>
                <a:buFontTx/>
                <a:buNone/>
                <a:defRPr/>
              </a:pPr>
              <a:r>
                <a:rPr lang="en-US" altLang="en-US" dirty="0">
                  <a:solidFill>
                    <a:srgbClr val="7030A0"/>
                  </a:solidFill>
                  <a:latin typeface="Tahoma" panose="020B0604030504040204" pitchFamily="34" charset="0"/>
                </a:rPr>
                <a:t>  </a:t>
              </a:r>
              <a:r>
                <a:rPr lang="en-US" altLang="en-US" dirty="0">
                  <a:solidFill>
                    <a:schemeClr val="bg2"/>
                  </a:solidFill>
                  <a:latin typeface="Tahoma" panose="020B0604030504040204" pitchFamily="34" charset="0"/>
                </a:rPr>
                <a:t>/   \</a:t>
              </a:r>
            </a:p>
            <a:p>
              <a:pPr>
                <a:spcBef>
                  <a:spcPts val="0"/>
                </a:spcBef>
                <a:buFontTx/>
                <a:buNone/>
                <a:defRPr/>
              </a:pPr>
              <a:r>
                <a:rPr lang="en-US" altLang="en-US" dirty="0">
                  <a:solidFill>
                    <a:srgbClr val="7030A0"/>
                  </a:solidFill>
                  <a:latin typeface="Tahoma" panose="020B0604030504040204" pitchFamily="34" charset="0"/>
                </a:rPr>
                <a:t>11    </a:t>
              </a:r>
              <a:r>
                <a:rPr lang="en-US" altLang="en-US" dirty="0">
                  <a:solidFill>
                    <a:srgbClr val="0070C0"/>
                  </a:solidFill>
                  <a:latin typeface="Tahoma" panose="020B0604030504040204" pitchFamily="34" charset="0"/>
                </a:rPr>
                <a:t>7</a:t>
              </a:r>
            </a:p>
          </p:txBody>
        </p:sp>
        <p:sp>
          <p:nvSpPr>
            <p:cNvPr id="17" name="Text Box 4">
              <a:extLst>
                <a:ext uri="{FF2B5EF4-FFF2-40B4-BE49-F238E27FC236}">
                  <a16:creationId xmlns:a16="http://schemas.microsoft.com/office/drawing/2014/main" id="{C3400EF7-F400-441E-E305-627EE407F7C8}"/>
                </a:ext>
              </a:extLst>
            </p:cNvPr>
            <p:cNvSpPr txBox="1">
              <a:spLocks noChangeArrowheads="1"/>
            </p:cNvSpPr>
            <p:nvPr/>
          </p:nvSpPr>
          <p:spPr bwMode="auto">
            <a:xfrm>
              <a:off x="3425147" y="4907340"/>
              <a:ext cx="16764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a:solidFill>
                    <a:srgbClr val="7030A0"/>
                  </a:solidFill>
                  <a:latin typeface="Tahoma" panose="020B0604030504040204" pitchFamily="34" charset="0"/>
                </a:rPr>
                <a:t>  </a:t>
              </a:r>
              <a:r>
                <a:rPr lang="en-US" altLang="en-US" sz="2000">
                  <a:solidFill>
                    <a:srgbClr val="7030A0"/>
                  </a:solidFill>
                  <a:latin typeface="Tahoma" panose="020B0604030504040204" pitchFamily="34" charset="0"/>
                </a:rPr>
                <a:t> </a:t>
              </a:r>
              <a:r>
                <a:rPr lang="en-US" altLang="en-US">
                  <a:solidFill>
                    <a:srgbClr val="7030A0"/>
                  </a:solidFill>
                  <a:latin typeface="Tahoma" panose="020B0604030504040204" pitchFamily="34" charset="0"/>
                </a:rPr>
                <a:t> 10</a:t>
              </a:r>
            </a:p>
            <a:p>
              <a:pPr>
                <a:spcBef>
                  <a:spcPct val="0"/>
                </a:spcBef>
                <a:buFontTx/>
                <a:buNone/>
              </a:pPr>
              <a:r>
                <a:rPr lang="en-US" altLang="en-US">
                  <a:solidFill>
                    <a:srgbClr val="7030A0"/>
                  </a:solidFill>
                  <a:latin typeface="Tahoma" panose="020B0604030504040204" pitchFamily="34" charset="0"/>
                </a:rPr>
                <a:t>  </a:t>
              </a:r>
              <a:r>
                <a:rPr lang="en-US" altLang="en-US">
                  <a:solidFill>
                    <a:schemeClr val="bg2"/>
                  </a:solidFill>
                  <a:latin typeface="Tahoma" panose="020B0604030504040204" pitchFamily="34" charset="0"/>
                </a:rPr>
                <a:t>/</a:t>
              </a:r>
              <a:r>
                <a:rPr lang="en-US" altLang="en-US">
                  <a:solidFill>
                    <a:srgbClr val="7030A0"/>
                  </a:solidFill>
                  <a:latin typeface="Tahoma" panose="020B0604030504040204" pitchFamily="34" charset="0"/>
                </a:rPr>
                <a:t>   </a:t>
              </a:r>
            </a:p>
            <a:p>
              <a:pPr>
                <a:spcBef>
                  <a:spcPct val="0"/>
                </a:spcBef>
                <a:buFontTx/>
                <a:buNone/>
              </a:pPr>
              <a:r>
                <a:rPr lang="en-US" altLang="en-US">
                  <a:solidFill>
                    <a:srgbClr val="7030A0"/>
                  </a:solidFill>
                  <a:latin typeface="Tahoma" panose="020B0604030504040204" pitchFamily="34" charset="0"/>
                </a:rPr>
                <a:t>11   </a:t>
              </a:r>
            </a:p>
          </p:txBody>
        </p:sp>
        <p:sp>
          <p:nvSpPr>
            <p:cNvPr id="18" name="Text Box 4">
              <a:extLst>
                <a:ext uri="{FF2B5EF4-FFF2-40B4-BE49-F238E27FC236}">
                  <a16:creationId xmlns:a16="http://schemas.microsoft.com/office/drawing/2014/main" id="{FFA2C979-0E98-DDC3-9638-613FC1D7C77D}"/>
                </a:ext>
              </a:extLst>
            </p:cNvPr>
            <p:cNvSpPr txBox="1">
              <a:spLocks noChangeArrowheads="1"/>
            </p:cNvSpPr>
            <p:nvPr/>
          </p:nvSpPr>
          <p:spPr bwMode="auto">
            <a:xfrm>
              <a:off x="1668694" y="4907340"/>
              <a:ext cx="16764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a:solidFill>
                    <a:srgbClr val="7030A0"/>
                  </a:solidFill>
                  <a:latin typeface="Tahoma" panose="020B0604030504040204" pitchFamily="34" charset="0"/>
                </a:rPr>
                <a:t>  </a:t>
              </a:r>
              <a:r>
                <a:rPr lang="en-US" altLang="en-US" sz="2000">
                  <a:solidFill>
                    <a:srgbClr val="7030A0"/>
                  </a:solidFill>
                  <a:latin typeface="Tahoma" panose="020B0604030504040204" pitchFamily="34" charset="0"/>
                </a:rPr>
                <a:t> </a:t>
              </a:r>
              <a:r>
                <a:rPr lang="en-US" altLang="en-US">
                  <a:solidFill>
                    <a:srgbClr val="7030A0"/>
                  </a:solidFill>
                  <a:latin typeface="Tahoma" panose="020B0604030504040204" pitchFamily="34" charset="0"/>
                </a:rPr>
                <a:t> 11</a:t>
              </a:r>
            </a:p>
            <a:p>
              <a:pPr>
                <a:spcBef>
                  <a:spcPct val="0"/>
                </a:spcBef>
                <a:buFontTx/>
                <a:buNone/>
              </a:pPr>
              <a:r>
                <a:rPr lang="en-US" altLang="en-US">
                  <a:solidFill>
                    <a:srgbClr val="7030A0"/>
                  </a:solidFill>
                  <a:latin typeface="Tahoma" panose="020B0604030504040204" pitchFamily="34" charset="0"/>
                </a:rPr>
                <a:t>  </a:t>
              </a:r>
              <a:r>
                <a:rPr lang="en-US" altLang="en-US">
                  <a:solidFill>
                    <a:schemeClr val="bg2"/>
                  </a:solidFill>
                  <a:latin typeface="Tahoma" panose="020B0604030504040204" pitchFamily="34" charset="0"/>
                </a:rPr>
                <a:t>/</a:t>
              </a:r>
              <a:r>
                <a:rPr lang="en-US" altLang="en-US">
                  <a:solidFill>
                    <a:srgbClr val="7030A0"/>
                  </a:solidFill>
                  <a:latin typeface="Tahoma" panose="020B0604030504040204" pitchFamily="34" charset="0"/>
                </a:rPr>
                <a:t>   </a:t>
              </a:r>
            </a:p>
            <a:p>
              <a:pPr>
                <a:spcBef>
                  <a:spcPct val="0"/>
                </a:spcBef>
                <a:buFontTx/>
                <a:buNone/>
              </a:pPr>
              <a:r>
                <a:rPr lang="en-US" altLang="en-US">
                  <a:solidFill>
                    <a:srgbClr val="0070C0"/>
                  </a:solidFill>
                  <a:latin typeface="Tahoma" panose="020B0604030504040204" pitchFamily="34" charset="0"/>
                </a:rPr>
                <a:t>10</a:t>
              </a:r>
              <a:r>
                <a:rPr lang="en-US" altLang="en-US">
                  <a:solidFill>
                    <a:srgbClr val="7030A0"/>
                  </a:solidFill>
                  <a:latin typeface="Tahoma" panose="020B0604030504040204" pitchFamily="34" charset="0"/>
                </a:rPr>
                <a:t>   </a:t>
              </a:r>
            </a:p>
          </p:txBody>
        </p:sp>
        <p:sp>
          <p:nvSpPr>
            <p:cNvPr id="19" name="Text Box 4">
              <a:extLst>
                <a:ext uri="{FF2B5EF4-FFF2-40B4-BE49-F238E27FC236}">
                  <a16:creationId xmlns:a16="http://schemas.microsoft.com/office/drawing/2014/main" id="{84FD17E9-659A-AD8F-C5E2-8737E324B7BE}"/>
                </a:ext>
              </a:extLst>
            </p:cNvPr>
            <p:cNvSpPr txBox="1">
              <a:spLocks noChangeArrowheads="1"/>
            </p:cNvSpPr>
            <p:nvPr/>
          </p:nvSpPr>
          <p:spPr bwMode="auto">
            <a:xfrm>
              <a:off x="7086600" y="4907340"/>
              <a:ext cx="1676400"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a:solidFill>
                    <a:srgbClr val="7030A0"/>
                  </a:solidFill>
                  <a:latin typeface="Tahoma" panose="020B0604030504040204" pitchFamily="34" charset="0"/>
                </a:rPr>
                <a:t>  </a:t>
              </a:r>
              <a:r>
                <a:rPr lang="en-US" altLang="en-US" sz="2000">
                  <a:solidFill>
                    <a:srgbClr val="7030A0"/>
                  </a:solidFill>
                  <a:latin typeface="Tahoma" panose="020B0604030504040204" pitchFamily="34" charset="0"/>
                </a:rPr>
                <a:t> </a:t>
              </a:r>
              <a:r>
                <a:rPr lang="en-US" altLang="en-US">
                  <a:solidFill>
                    <a:srgbClr val="7030A0"/>
                  </a:solidFill>
                  <a:latin typeface="Tahoma" panose="020B0604030504040204" pitchFamily="34" charset="0"/>
                </a:rPr>
                <a:t>  7</a:t>
              </a:r>
            </a:p>
            <a:p>
              <a:pPr>
                <a:spcBef>
                  <a:spcPct val="0"/>
                </a:spcBef>
                <a:buFontTx/>
                <a:buNone/>
              </a:pPr>
              <a:r>
                <a:rPr lang="en-US" altLang="en-US">
                  <a:solidFill>
                    <a:srgbClr val="7030A0"/>
                  </a:solidFill>
                  <a:latin typeface="Tahoma" panose="020B0604030504040204" pitchFamily="34" charset="0"/>
                </a:rPr>
                <a:t>  </a:t>
              </a:r>
              <a:r>
                <a:rPr lang="en-US" altLang="en-US">
                  <a:solidFill>
                    <a:schemeClr val="bg2"/>
                  </a:solidFill>
                  <a:latin typeface="Tahoma" panose="020B0604030504040204" pitchFamily="34" charset="0"/>
                </a:rPr>
                <a:t>/   \</a:t>
              </a:r>
            </a:p>
            <a:p>
              <a:pPr>
                <a:spcBef>
                  <a:spcPct val="0"/>
                </a:spcBef>
                <a:buFontTx/>
                <a:buNone/>
              </a:pPr>
              <a:r>
                <a:rPr lang="en-US" altLang="en-US">
                  <a:solidFill>
                    <a:srgbClr val="7030A0"/>
                  </a:solidFill>
                  <a:latin typeface="Tahoma" panose="020B0604030504040204" pitchFamily="34" charset="0"/>
                </a:rPr>
                <a:t>11   10</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A6790BE4-C6AC-4DAA-8F8D-BBB29C2A41EF}"/>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2291" name="Text Box 2">
            <a:extLst>
              <a:ext uri="{FF2B5EF4-FFF2-40B4-BE49-F238E27FC236}">
                <a16:creationId xmlns:a16="http://schemas.microsoft.com/office/drawing/2014/main" id="{80BE8094-4A62-495E-8A6F-AF3FA9D87618}"/>
              </a:ext>
            </a:extLst>
          </p:cNvPr>
          <p:cNvSpPr txBox="1">
            <a:spLocks noChangeArrowheads="1"/>
          </p:cNvSpPr>
          <p:nvPr/>
        </p:nvSpPr>
        <p:spPr bwMode="auto">
          <a:xfrm>
            <a:off x="609600" y="1600200"/>
            <a:ext cx="8077200" cy="4789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err="1">
                <a:latin typeface="Tahoma" panose="020B0604030504040204" pitchFamily="34" charset="0"/>
              </a:rPr>
              <a:t>PriorityQueue</a:t>
            </a:r>
            <a:r>
              <a:rPr lang="en-US" altLang="en-US" sz="2800" dirty="0">
                <a:latin typeface="Tahoma" panose="020B0604030504040204" pitchFamily="34" charset="0"/>
              </a:rPr>
              <a:t>&lt;Integer&gt; </a:t>
            </a:r>
            <a:r>
              <a:rPr lang="en-US" altLang="en-US" sz="2800" dirty="0" err="1">
                <a:latin typeface="Tahoma" panose="020B0604030504040204" pitchFamily="34" charset="0"/>
              </a:rPr>
              <a:t>pQueue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pQueue</a:t>
            </a:r>
            <a:r>
              <a:rPr lang="en-US" altLang="en-US" sz="2800" dirty="0">
                <a:latin typeface="Tahoma" panose="020B0604030504040204" pitchFamily="34" charset="0"/>
              </a:rPr>
              <a:t> = new </a:t>
            </a:r>
            <a:r>
              <a:rPr lang="en-US" altLang="en-US" sz="2800" dirty="0" err="1">
                <a:latin typeface="Tahoma" panose="020B0604030504040204" pitchFamily="34" charset="0"/>
              </a:rPr>
              <a:t>PriorityQueue</a:t>
            </a:r>
            <a:r>
              <a:rPr lang="en-US" altLang="en-US" sz="2800" dirty="0">
                <a:latin typeface="Tahoma" panose="020B0604030504040204" pitchFamily="34" charset="0"/>
              </a:rPr>
              <a:t>&lt;Integer&gt;();</a:t>
            </a:r>
            <a:br>
              <a:rPr lang="en-US" altLang="en-US" sz="2800" dirty="0">
                <a:latin typeface="Tahoma" panose="020B0604030504040204" pitchFamily="34" charset="0"/>
              </a:rPr>
            </a:br>
            <a:endParaRPr lang="en-US" altLang="en-US" sz="2800" dirty="0">
              <a:latin typeface="Tahoma" panose="020B0604030504040204" pitchFamily="34" charset="0"/>
            </a:endParaRP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(11);</a:t>
            </a: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(10);</a:t>
            </a:r>
          </a:p>
          <a:p>
            <a:pPr>
              <a:spcBef>
                <a:spcPct val="0"/>
              </a:spcBef>
              <a:buFontTx/>
              <a:buNone/>
            </a:pPr>
            <a:r>
              <a:rPr lang="en-US" altLang="en-US" sz="2800" dirty="0" err="1">
                <a:latin typeface="Tahoma" panose="020B0604030504040204" pitchFamily="34" charset="0"/>
              </a:rPr>
              <a:t>pQueue.add</a:t>
            </a:r>
            <a:r>
              <a:rPr lang="en-US" altLang="en-US" sz="2800" dirty="0">
                <a:latin typeface="Tahoma" panose="020B0604030504040204" pitchFamily="34" charset="0"/>
              </a:rPr>
              <a:t>(7);</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pQueue</a:t>
            </a:r>
            <a:r>
              <a:rPr lang="en-US" altLang="en-US" sz="2800" dirty="0">
                <a:latin typeface="Tahoma" panose="020B0604030504040204" pitchFamily="34" charset="0"/>
              </a:rPr>
              <a:t>); </a:t>
            </a: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pQueue.remove</a:t>
            </a:r>
            <a:r>
              <a:rPr lang="en-US" altLang="en-US" sz="2800" dirty="0">
                <a:latin typeface="Tahoma" panose="020B0604030504040204" pitchFamily="34" charset="0"/>
              </a:rPr>
              <a:t>());</a:t>
            </a:r>
          </a:p>
          <a:p>
            <a:pPr>
              <a:spcBef>
                <a:spcPct val="0"/>
              </a:spcBef>
              <a:buFontTx/>
              <a:buNone/>
            </a:pP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err="1">
                <a:latin typeface="Tahoma" panose="020B0604030504040204" pitchFamily="34" charset="0"/>
              </a:rPr>
              <a:t>pQueue</a:t>
            </a:r>
            <a:r>
              <a:rPr lang="en-US" altLang="en-US" sz="2800" dirty="0">
                <a:latin typeface="Tahoma" panose="020B0604030504040204" pitchFamily="34" charset="0"/>
              </a:rPr>
              <a:t>);</a:t>
            </a:r>
          </a:p>
          <a:p>
            <a:pPr>
              <a:spcBef>
                <a:spcPct val="0"/>
              </a:spcBef>
              <a:buFontTx/>
              <a:buNone/>
            </a:pPr>
            <a:endParaRPr lang="en-US" altLang="en-US" sz="2800" dirty="0">
              <a:latin typeface="Tahoma" panose="020B0604030504040204" pitchFamily="34" charset="0"/>
            </a:endParaRPr>
          </a:p>
          <a:p>
            <a:pPr>
              <a:spcBef>
                <a:spcPct val="0"/>
              </a:spcBef>
              <a:buFontTx/>
              <a:buNone/>
            </a:pPr>
            <a:endParaRPr lang="en-US" altLang="en-US" sz="2800" dirty="0">
              <a:latin typeface="Tahoma" panose="020B0604030504040204" pitchFamily="34" charset="0"/>
            </a:endParaRPr>
          </a:p>
        </p:txBody>
      </p:sp>
      <p:sp>
        <p:nvSpPr>
          <p:cNvPr id="12292" name="WordArt 5">
            <a:extLst>
              <a:ext uri="{FF2B5EF4-FFF2-40B4-BE49-F238E27FC236}">
                <a16:creationId xmlns:a16="http://schemas.microsoft.com/office/drawing/2014/main" id="{99B01F2A-E0F7-4130-A5D7-671AC9701FEC}"/>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remove</a:t>
            </a:r>
          </a:p>
        </p:txBody>
      </p:sp>
      <p:sp>
        <p:nvSpPr>
          <p:cNvPr id="12293" name="Text Box 6">
            <a:extLst>
              <a:ext uri="{FF2B5EF4-FFF2-40B4-BE49-F238E27FC236}">
                <a16:creationId xmlns:a16="http://schemas.microsoft.com/office/drawing/2014/main" id="{A6964BBE-A86A-4A45-A78A-42545B8747DE}"/>
              </a:ext>
            </a:extLst>
          </p:cNvPr>
          <p:cNvSpPr txBox="1">
            <a:spLocks noChangeArrowheads="1"/>
          </p:cNvSpPr>
          <p:nvPr/>
        </p:nvSpPr>
        <p:spPr bwMode="auto">
          <a:xfrm>
            <a:off x="6553200" y="3200400"/>
            <a:ext cx="2362200" cy="22987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spcBef>
                <a:spcPct val="50000"/>
              </a:spcBef>
              <a:buFontTx/>
              <a:buNone/>
            </a:pPr>
            <a:r>
              <a:rPr lang="en-US" altLang="en-US">
                <a:latin typeface="Tahoma" panose="020B0604030504040204" pitchFamily="34" charset="0"/>
              </a:rPr>
              <a:t>[7, 11, 10]</a:t>
            </a:r>
            <a:br>
              <a:rPr lang="en-US" altLang="en-US">
                <a:latin typeface="Tahoma" panose="020B0604030504040204" pitchFamily="34" charset="0"/>
              </a:rPr>
            </a:br>
            <a:r>
              <a:rPr lang="en-US" altLang="en-US">
                <a:latin typeface="Tahoma" panose="020B0604030504040204" pitchFamily="34" charset="0"/>
              </a:rPr>
              <a:t>7</a:t>
            </a:r>
            <a:br>
              <a:rPr lang="en-US" altLang="en-US">
                <a:latin typeface="Tahoma" panose="020B0604030504040204" pitchFamily="34" charset="0"/>
              </a:rPr>
            </a:br>
            <a:r>
              <a:rPr lang="en-US" altLang="en-US">
                <a:latin typeface="Tahoma" panose="020B0604030504040204" pitchFamily="34" charset="0"/>
              </a:rPr>
              <a:t>[10, 11]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C3038E39-08B3-4D18-BA94-BE7AE05021E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4339" name="Text Box 2">
            <a:extLst>
              <a:ext uri="{FF2B5EF4-FFF2-40B4-BE49-F238E27FC236}">
                <a16:creationId xmlns:a16="http://schemas.microsoft.com/office/drawing/2014/main" id="{DB3E526C-EB62-487C-A3B4-9E939478163F}"/>
              </a:ext>
            </a:extLst>
          </p:cNvPr>
          <p:cNvSpPr txBox="1">
            <a:spLocks noChangeArrowheads="1"/>
          </p:cNvSpPr>
          <p:nvPr/>
        </p:nvSpPr>
        <p:spPr bwMode="auto">
          <a:xfrm>
            <a:off x="609600" y="1600200"/>
            <a:ext cx="8077200" cy="521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latin typeface="Tahoma" panose="020B0604030504040204" pitchFamily="34" charset="0"/>
              </a:rPr>
              <a:t>PriorityQueue&lt;Integer&gt; pQueue;</a:t>
            </a:r>
          </a:p>
          <a:p>
            <a:pPr>
              <a:spcBef>
                <a:spcPct val="0"/>
              </a:spcBef>
              <a:buFontTx/>
              <a:buNone/>
            </a:pPr>
            <a:r>
              <a:rPr lang="en-US" altLang="en-US" sz="2800">
                <a:latin typeface="Tahoma" panose="020B0604030504040204" pitchFamily="34" charset="0"/>
              </a:rPr>
              <a:t>pQueue = new PriorityQueue&lt;Integer&gt;();</a:t>
            </a:r>
            <a:br>
              <a:rPr lang="en-US" altLang="en-US" sz="2800">
                <a:latin typeface="Tahoma" panose="020B0604030504040204" pitchFamily="34" charset="0"/>
              </a:rPr>
            </a:b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pQueue.add(11);</a:t>
            </a:r>
          </a:p>
          <a:p>
            <a:pPr>
              <a:spcBef>
                <a:spcPct val="0"/>
              </a:spcBef>
              <a:buFontTx/>
              <a:buNone/>
            </a:pPr>
            <a:r>
              <a:rPr lang="en-US" altLang="en-US" sz="2800">
                <a:latin typeface="Tahoma" panose="020B0604030504040204" pitchFamily="34" charset="0"/>
              </a:rPr>
              <a:t>pQueue.add(10);</a:t>
            </a:r>
          </a:p>
          <a:p>
            <a:pPr>
              <a:spcBef>
                <a:spcPct val="0"/>
              </a:spcBef>
              <a:buFontTx/>
              <a:buNone/>
            </a:pPr>
            <a:r>
              <a:rPr lang="en-US" altLang="en-US" sz="2800">
                <a:latin typeface="Tahoma" panose="020B0604030504040204" pitchFamily="34" charset="0"/>
              </a:rPr>
              <a:t>pQueue.add(7);</a:t>
            </a:r>
          </a:p>
          <a:p>
            <a:pPr>
              <a:spcBef>
                <a:spcPct val="0"/>
              </a:spcBef>
              <a:buFontTx/>
              <a:buNone/>
            </a:pPr>
            <a:endParaRPr lang="en-US" altLang="en-US" sz="2800">
              <a:latin typeface="Tahoma" panose="020B0604030504040204" pitchFamily="34" charset="0"/>
            </a:endParaRPr>
          </a:p>
          <a:p>
            <a:pPr>
              <a:spcBef>
                <a:spcPct val="0"/>
              </a:spcBef>
              <a:buFontTx/>
              <a:buNone/>
            </a:pPr>
            <a:r>
              <a:rPr lang="en-US" altLang="en-US" sz="2800">
                <a:latin typeface="Tahoma" panose="020B0604030504040204" pitchFamily="34" charset="0"/>
              </a:rPr>
              <a:t>while(!pQueue.isEmpty())</a:t>
            </a:r>
          </a:p>
          <a:p>
            <a:pPr>
              <a:spcBef>
                <a:spcPct val="0"/>
              </a:spcBef>
              <a:buFontTx/>
              <a:buNone/>
            </a:pPr>
            <a:r>
              <a:rPr lang="en-US" altLang="en-US" sz="2800">
                <a:latin typeface="Tahoma" panose="020B0604030504040204" pitchFamily="34" charset="0"/>
              </a:rPr>
              <a:t>{</a:t>
            </a:r>
          </a:p>
          <a:p>
            <a:pPr>
              <a:spcBef>
                <a:spcPct val="0"/>
              </a:spcBef>
              <a:buFontTx/>
              <a:buNone/>
            </a:pPr>
            <a:r>
              <a:rPr lang="en-US" altLang="en-US" sz="2800">
                <a:latin typeface="Tahoma" panose="020B0604030504040204" pitchFamily="34" charset="0"/>
              </a:rPr>
              <a:t>   out.println(pQueue.remove());</a:t>
            </a:r>
          </a:p>
          <a:p>
            <a:pPr>
              <a:spcBef>
                <a:spcPct val="0"/>
              </a:spcBef>
              <a:buFontTx/>
              <a:buNone/>
            </a:pPr>
            <a:r>
              <a:rPr lang="en-US" altLang="en-US" sz="2800">
                <a:latin typeface="Tahoma" panose="020B0604030504040204" pitchFamily="34" charset="0"/>
              </a:rPr>
              <a:t>}</a:t>
            </a:r>
          </a:p>
          <a:p>
            <a:pPr>
              <a:spcBef>
                <a:spcPct val="0"/>
              </a:spcBef>
              <a:buFontTx/>
              <a:buNone/>
            </a:pPr>
            <a:endParaRPr lang="en-US" altLang="en-US" sz="2800">
              <a:latin typeface="Tahoma" panose="020B0604030504040204" pitchFamily="34" charset="0"/>
            </a:endParaRPr>
          </a:p>
        </p:txBody>
      </p:sp>
      <p:sp>
        <p:nvSpPr>
          <p:cNvPr id="14340" name="WordArt 5">
            <a:extLst>
              <a:ext uri="{FF2B5EF4-FFF2-40B4-BE49-F238E27FC236}">
                <a16:creationId xmlns:a16="http://schemas.microsoft.com/office/drawing/2014/main" id="{70732E29-29D5-4D97-ABB8-7E79DC101B28}"/>
              </a:ext>
            </a:extLst>
          </p:cNvPr>
          <p:cNvSpPr>
            <a:spLocks noChangeArrowheads="1" noChangeShapeType="1" noTextEdit="1"/>
          </p:cNvSpPr>
          <p:nvPr/>
        </p:nvSpPr>
        <p:spPr bwMode="auto">
          <a:xfrm>
            <a:off x="1219200" y="381000"/>
            <a:ext cx="64770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isEmpty</a:t>
            </a:r>
          </a:p>
        </p:txBody>
      </p:sp>
      <p:sp>
        <p:nvSpPr>
          <p:cNvPr id="14341" name="Text Box 6">
            <a:extLst>
              <a:ext uri="{FF2B5EF4-FFF2-40B4-BE49-F238E27FC236}">
                <a16:creationId xmlns:a16="http://schemas.microsoft.com/office/drawing/2014/main" id="{C95140F0-B92B-4783-AFE6-41E5338FDC3F}"/>
              </a:ext>
            </a:extLst>
          </p:cNvPr>
          <p:cNvSpPr txBox="1">
            <a:spLocks noChangeArrowheads="1"/>
          </p:cNvSpPr>
          <p:nvPr/>
        </p:nvSpPr>
        <p:spPr bwMode="auto">
          <a:xfrm>
            <a:off x="6553200" y="3200400"/>
            <a:ext cx="2362200" cy="22987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p>
          <a:p>
            <a:pPr algn="ctr">
              <a:spcBef>
                <a:spcPct val="50000"/>
              </a:spcBef>
              <a:buFontTx/>
              <a:buNone/>
            </a:pPr>
            <a:r>
              <a:rPr lang="en-US" altLang="en-US">
                <a:latin typeface="Tahoma" panose="020B0604030504040204" pitchFamily="34" charset="0"/>
              </a:rPr>
              <a:t>7</a:t>
            </a:r>
            <a:br>
              <a:rPr lang="en-US" altLang="en-US">
                <a:latin typeface="Tahoma" panose="020B0604030504040204" pitchFamily="34" charset="0"/>
              </a:rPr>
            </a:br>
            <a:r>
              <a:rPr lang="en-US" altLang="en-US">
                <a:latin typeface="Tahoma" panose="020B0604030504040204" pitchFamily="34" charset="0"/>
              </a:rPr>
              <a:t>10</a:t>
            </a:r>
            <a:br>
              <a:rPr lang="en-US" altLang="en-US">
                <a:latin typeface="Tahoma" panose="020B0604030504040204" pitchFamily="34" charset="0"/>
              </a:rPr>
            </a:br>
            <a:r>
              <a:rPr lang="en-US" altLang="en-US">
                <a:latin typeface="Tahoma" panose="020B0604030504040204" pitchFamily="34" charset="0"/>
              </a:rPr>
              <a:t>11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C1598943-9463-42A7-9F6C-6EFBD86751D4}"/>
              </a:ext>
            </a:extLst>
          </p:cNvPr>
          <p:cNvGraphicFramePr>
            <a:graphicFrameLocks noGrp="1"/>
          </p:cNvGraphicFramePr>
          <p:nvPr/>
        </p:nvGraphicFramePr>
        <p:xfrm>
          <a:off x="609600" y="914400"/>
          <a:ext cx="8153400" cy="4543425"/>
        </p:xfrm>
        <a:graphic>
          <a:graphicData uri="http://schemas.openxmlformats.org/drawingml/2006/table">
            <a:tbl>
              <a:tblPr firstRow="1" bandRow="1">
                <a:tableStyleId>{5C22544A-7EE6-4342-B048-85BDC9FD1C3A}</a:tableStyleId>
              </a:tblPr>
              <a:tblGrid>
                <a:gridCol w="2717800">
                  <a:extLst>
                    <a:ext uri="{9D8B030D-6E8A-4147-A177-3AD203B41FA5}">
                      <a16:colId xmlns:a16="http://schemas.microsoft.com/office/drawing/2014/main" val="4115923361"/>
                    </a:ext>
                  </a:extLst>
                </a:gridCol>
                <a:gridCol w="2717800">
                  <a:extLst>
                    <a:ext uri="{9D8B030D-6E8A-4147-A177-3AD203B41FA5}">
                      <a16:colId xmlns:a16="http://schemas.microsoft.com/office/drawing/2014/main" val="2206193969"/>
                    </a:ext>
                  </a:extLst>
                </a:gridCol>
                <a:gridCol w="2717800">
                  <a:extLst>
                    <a:ext uri="{9D8B030D-6E8A-4147-A177-3AD203B41FA5}">
                      <a16:colId xmlns:a16="http://schemas.microsoft.com/office/drawing/2014/main" val="1011738939"/>
                    </a:ext>
                  </a:extLst>
                </a:gridCol>
              </a:tblGrid>
              <a:tr h="1447773">
                <a:tc>
                  <a:txBody>
                    <a:bodyPr/>
                    <a:lstStyle/>
                    <a:p>
                      <a:pPr algn="ctr"/>
                      <a:endParaRPr lang="en-US" sz="3200" dirty="0"/>
                    </a:p>
                  </a:txBody>
                  <a:tcPr marT="45719" marB="45719" anchor="ctr"/>
                </a:tc>
                <a:tc>
                  <a:txBody>
                    <a:bodyPr/>
                    <a:lstStyle/>
                    <a:p>
                      <a:pPr algn="ctr"/>
                      <a:r>
                        <a:rPr lang="en-US" sz="3200" i="0" dirty="0">
                          <a:latin typeface="Arial" panose="020B0604020202020204" pitchFamily="34" charset="0"/>
                          <a:cs typeface="Arial" panose="020B0604020202020204" pitchFamily="34" charset="0"/>
                        </a:rPr>
                        <a:t>Throws exception</a:t>
                      </a:r>
                    </a:p>
                  </a:txBody>
                  <a:tcPr marT="45719" marB="45719" anchor="ctr"/>
                </a:tc>
                <a:tc>
                  <a:txBody>
                    <a:bodyPr/>
                    <a:lstStyle/>
                    <a:p>
                      <a:pPr algn="ctr"/>
                      <a:r>
                        <a:rPr lang="en-US" sz="3200" i="0" dirty="0">
                          <a:latin typeface="Arial" panose="020B0604020202020204" pitchFamily="34" charset="0"/>
                          <a:cs typeface="Arial" panose="020B0604020202020204" pitchFamily="34" charset="0"/>
                        </a:rPr>
                        <a:t>Returns special value</a:t>
                      </a:r>
                    </a:p>
                  </a:txBody>
                  <a:tcPr marT="45719" marB="45719" anchor="ctr"/>
                </a:tc>
                <a:extLst>
                  <a:ext uri="{0D108BD9-81ED-4DB2-BD59-A6C34878D82A}">
                    <a16:rowId xmlns:a16="http://schemas.microsoft.com/office/drawing/2014/main" val="3402674419"/>
                  </a:ext>
                </a:extLst>
              </a:tr>
              <a:tr h="1031884">
                <a:tc>
                  <a:txBody>
                    <a:bodyPr/>
                    <a:lstStyle/>
                    <a:p>
                      <a:pPr algn="ctr"/>
                      <a:r>
                        <a:rPr lang="en-US" sz="3200" dirty="0">
                          <a:latin typeface="Arial" panose="020B0604020202020204" pitchFamily="34" charset="0"/>
                          <a:cs typeface="Arial" panose="020B0604020202020204" pitchFamily="34" charset="0"/>
                        </a:rPr>
                        <a:t>Insert</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add(e)</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offer(e)</a:t>
                      </a:r>
                    </a:p>
                  </a:txBody>
                  <a:tcPr marT="45719" marB="45719" anchor="ctr"/>
                </a:tc>
                <a:extLst>
                  <a:ext uri="{0D108BD9-81ED-4DB2-BD59-A6C34878D82A}">
                    <a16:rowId xmlns:a16="http://schemas.microsoft.com/office/drawing/2014/main" val="363010141"/>
                  </a:ext>
                </a:extLst>
              </a:tr>
              <a:tr h="1031884">
                <a:tc>
                  <a:txBody>
                    <a:bodyPr/>
                    <a:lstStyle/>
                    <a:p>
                      <a:pPr algn="ctr"/>
                      <a:r>
                        <a:rPr lang="en-US" sz="3200" dirty="0">
                          <a:latin typeface="Arial" panose="020B0604020202020204" pitchFamily="34" charset="0"/>
                          <a:cs typeface="Arial" panose="020B0604020202020204" pitchFamily="34" charset="0"/>
                        </a:rPr>
                        <a:t>Remove</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remove()</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poll()</a:t>
                      </a:r>
                    </a:p>
                  </a:txBody>
                  <a:tcPr marT="45719" marB="45719" anchor="ctr"/>
                </a:tc>
                <a:extLst>
                  <a:ext uri="{0D108BD9-81ED-4DB2-BD59-A6C34878D82A}">
                    <a16:rowId xmlns:a16="http://schemas.microsoft.com/office/drawing/2014/main" val="2169694111"/>
                  </a:ext>
                </a:extLst>
              </a:tr>
              <a:tr h="1031884">
                <a:tc>
                  <a:txBody>
                    <a:bodyPr/>
                    <a:lstStyle/>
                    <a:p>
                      <a:pPr algn="ctr"/>
                      <a:r>
                        <a:rPr lang="en-US" sz="3200" dirty="0">
                          <a:latin typeface="Arial" panose="020B0604020202020204" pitchFamily="34" charset="0"/>
                          <a:cs typeface="Arial" panose="020B0604020202020204" pitchFamily="34" charset="0"/>
                        </a:rPr>
                        <a:t>Examine</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element()</a:t>
                      </a:r>
                    </a:p>
                  </a:txBody>
                  <a:tcPr marT="45719" marB="45719" anchor="ctr"/>
                </a:tc>
                <a:tc>
                  <a:txBody>
                    <a:bodyPr/>
                    <a:lstStyle/>
                    <a:p>
                      <a:pPr algn="ctr"/>
                      <a:r>
                        <a:rPr lang="en-US" sz="3200" b="1" dirty="0">
                          <a:latin typeface="Courier New" panose="02070309020205020404" pitchFamily="49" charset="0"/>
                          <a:cs typeface="Courier New" panose="02070309020205020404" pitchFamily="49" charset="0"/>
                        </a:rPr>
                        <a:t>peek()</a:t>
                      </a:r>
                    </a:p>
                  </a:txBody>
                  <a:tcPr marT="45719" marB="45719" anchor="ctr"/>
                </a:tc>
                <a:extLst>
                  <a:ext uri="{0D108BD9-81ED-4DB2-BD59-A6C34878D82A}">
                    <a16:rowId xmlns:a16="http://schemas.microsoft.com/office/drawing/2014/main" val="1039331712"/>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070263EB-EF11-42AC-AA01-819C1C1EF83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b="1"/>
          </a:p>
          <a:p>
            <a:pPr>
              <a:spcBef>
                <a:spcPct val="0"/>
              </a:spcBef>
              <a:buFontTx/>
              <a:buNone/>
            </a:pPr>
            <a:endParaRPr lang="en-US" altLang="en-US" sz="800">
              <a:latin typeface="Tahoma" panose="020B0604030504040204" pitchFamily="34" charset="0"/>
            </a:endParaRPr>
          </a:p>
          <a:p>
            <a:pPr>
              <a:spcBef>
                <a:spcPct val="0"/>
              </a:spcBef>
              <a:buFontTx/>
              <a:buNone/>
            </a:pPr>
            <a:endParaRPr lang="en-US" altLang="en-US" sz="800" b="1">
              <a:latin typeface="Tahoma" panose="020B0604030504040204" pitchFamily="34" charset="0"/>
            </a:endParaRPr>
          </a:p>
          <a:p>
            <a:pPr>
              <a:spcBef>
                <a:spcPct val="0"/>
              </a:spcBef>
              <a:buFontTx/>
              <a:buNone/>
            </a:pPr>
            <a:r>
              <a:rPr lang="en-US" altLang="en-US" sz="800" b="1">
                <a:latin typeface="Tahoma" panose="020B0604030504040204" pitchFamily="34" charset="0"/>
              </a:rPr>
              <a:t>© A+ Computer Science  -  www.apluscompsci.com</a:t>
            </a:r>
          </a:p>
        </p:txBody>
      </p:sp>
      <p:sp>
        <p:nvSpPr>
          <p:cNvPr id="16387" name="WordArt 2">
            <a:extLst>
              <a:ext uri="{FF2B5EF4-FFF2-40B4-BE49-F238E27FC236}">
                <a16:creationId xmlns:a16="http://schemas.microsoft.com/office/drawing/2014/main" id="{BB496623-B324-4AE6-9DA8-65E2FF46CADE}"/>
              </a:ext>
            </a:extLst>
          </p:cNvPr>
          <p:cNvSpPr>
            <a:spLocks noChangeArrowheads="1" noChangeShapeType="1" noTextEdit="1"/>
          </p:cNvSpPr>
          <p:nvPr/>
        </p:nvSpPr>
        <p:spPr bwMode="auto">
          <a:xfrm>
            <a:off x="1143000" y="1295400"/>
            <a:ext cx="6934200" cy="3657600"/>
          </a:xfrm>
          <a:prstGeom prst="rect">
            <a:avLst/>
          </a:prstGeom>
        </p:spPr>
        <p:txBody>
          <a:bodyPr wrap="none" fromWordArt="1">
            <a:prstTxWarp prst="textPlain">
              <a:avLst>
                <a:gd name="adj" fmla="val 50000"/>
              </a:avLst>
            </a:prstTxWarp>
          </a:bodyPr>
          <a:lstStyle/>
          <a:p>
            <a:pPr algn="ctr"/>
            <a:r>
              <a:rPr lang="en-US" sz="3600" kern="10">
                <a:ln w="9525">
                  <a:solidFill>
                    <a:srgbClr val="333399"/>
                  </a:solidFill>
                  <a:round/>
                  <a:headEnd type="none" w="sm" len="sm"/>
                  <a:tailEnd type="none" w="sm" len="sm"/>
                </a:ln>
                <a:solidFill>
                  <a:srgbClr val="00FF00"/>
                </a:solidFill>
                <a:effectLst>
                  <a:outerShdw dist="35921" dir="2700000" algn="ctr" rotWithShape="0">
                    <a:srgbClr val="C0C0C0"/>
                  </a:outerShdw>
                </a:effectLst>
                <a:latin typeface="Impact" panose="020B0806030902050204" pitchFamily="34" charset="0"/>
              </a:rPr>
              <a:t>Continue work</a:t>
            </a:r>
          </a:p>
          <a:p>
            <a:pPr algn="ctr"/>
            <a:r>
              <a:rPr lang="en-US" sz="3600" kern="10">
                <a:ln w="9525">
                  <a:solidFill>
                    <a:srgbClr val="333399"/>
                  </a:solidFill>
                  <a:round/>
                  <a:headEnd type="none" w="sm" len="sm"/>
                  <a:tailEnd type="none" w="sm" len="sm"/>
                </a:ln>
                <a:solidFill>
                  <a:srgbClr val="00FF00"/>
                </a:solidFill>
                <a:effectLst>
                  <a:outerShdw dist="35921" dir="2700000" algn="ctr" rotWithShape="0">
                    <a:srgbClr val="C0C0C0"/>
                  </a:outerShdw>
                </a:effectLst>
                <a:latin typeface="Impact" panose="020B0806030902050204" pitchFamily="34" charset="0"/>
              </a:rPr>
              <a:t>on Lab 14</a:t>
            </a:r>
          </a:p>
        </p:txBody>
      </p:sp>
    </p:spTree>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en-US" sz="28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912</TotalTime>
  <Words>851</Words>
  <Application>Microsoft Office PowerPoint</Application>
  <PresentationFormat>On-screen Show (4:3)</PresentationFormat>
  <Paragraphs>182</Paragraphs>
  <Slides>18</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Abadi</vt:lpstr>
      <vt:lpstr>Arial</vt:lpstr>
      <vt:lpstr>Arial Black</vt:lpstr>
      <vt:lpstr>Bahnschrift</vt:lpstr>
      <vt:lpstr>Courier New</vt:lpstr>
      <vt:lpstr>Impact</vt:lpstr>
      <vt:lpstr>Tahoma</vt:lpstr>
      <vt:lpstr>Times New Roman</vt:lpstr>
      <vt:lpstr>Trebuchet MS</vt:lpstr>
      <vt:lpstr>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queues</dc:title>
  <dc:subject>Queues</dc:subject>
  <dc:creator>A+ Computer Science</dc:creator>
  <cp:keywords>www.apluscompsci.com</cp:keywords>
  <dc:description>Queues_x000d_
©A+ Computer Science_x000d_
www.apluscompsci.com</dc:description>
  <cp:lastModifiedBy>Weldon Jasik</cp:lastModifiedBy>
  <cp:revision>142</cp:revision>
  <dcterms:created xsi:type="dcterms:W3CDTF">1997-12-05T16:05:17Z</dcterms:created>
  <dcterms:modified xsi:type="dcterms:W3CDTF">2024-12-18T19:47:55Z</dcterms:modified>
  <cp:category>www.apluscompsci.com</cp:category>
</cp:coreProperties>
</file>