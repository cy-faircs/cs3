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6"/>
  </p:notesMasterIdLst>
  <p:handoutMasterIdLst>
    <p:handoutMasterId r:id="rId27"/>
  </p:handoutMasterIdLst>
  <p:sldIdLst>
    <p:sldId id="257" r:id="rId2"/>
    <p:sldId id="258" r:id="rId3"/>
    <p:sldId id="319" r:id="rId4"/>
    <p:sldId id="324" r:id="rId5"/>
    <p:sldId id="340" r:id="rId6"/>
    <p:sldId id="325" r:id="rId7"/>
    <p:sldId id="326" r:id="rId8"/>
    <p:sldId id="327" r:id="rId9"/>
    <p:sldId id="328" r:id="rId10"/>
    <p:sldId id="329" r:id="rId11"/>
    <p:sldId id="330" r:id="rId12"/>
    <p:sldId id="307" r:id="rId13"/>
    <p:sldId id="343" r:id="rId14"/>
    <p:sldId id="331" r:id="rId15"/>
    <p:sldId id="332" r:id="rId16"/>
    <p:sldId id="305" r:id="rId17"/>
    <p:sldId id="310" r:id="rId18"/>
    <p:sldId id="322" r:id="rId19"/>
    <p:sldId id="311" r:id="rId20"/>
    <p:sldId id="333" r:id="rId21"/>
    <p:sldId id="335" r:id="rId22"/>
    <p:sldId id="338" r:id="rId23"/>
    <p:sldId id="339" r:id="rId24"/>
    <p:sldId id="334" r:id="rId25"/>
  </p:sldIdLst>
  <p:sldSz cx="9144000" cy="6858000" type="screen4x3"/>
  <p:notesSz cx="6858000" cy="9144000"/>
  <p:defaultTextStyle>
    <a:defPPr>
      <a:defRPr lang="en-US"/>
    </a:defPPr>
    <a:lvl1pPr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5pPr>
    <a:lvl6pPr marL="2286000" algn="l" defTabSz="914400" rtl="0" eaLnBrk="1" latinLnBrk="0" hangingPunct="1">
      <a:defRPr sz="2800" b="1" kern="1200">
        <a:solidFill>
          <a:schemeClr val="tx1"/>
        </a:solidFill>
        <a:latin typeface="Tahoma" panose="020B0604030504040204" pitchFamily="34" charset="0"/>
        <a:ea typeface="+mn-ea"/>
        <a:cs typeface="+mn-cs"/>
      </a:defRPr>
    </a:lvl6pPr>
    <a:lvl7pPr marL="2743200" algn="l" defTabSz="914400" rtl="0" eaLnBrk="1" latinLnBrk="0" hangingPunct="1">
      <a:defRPr sz="2800" b="1" kern="1200">
        <a:solidFill>
          <a:schemeClr val="tx1"/>
        </a:solidFill>
        <a:latin typeface="Tahoma" panose="020B0604030504040204" pitchFamily="34" charset="0"/>
        <a:ea typeface="+mn-ea"/>
        <a:cs typeface="+mn-cs"/>
      </a:defRPr>
    </a:lvl7pPr>
    <a:lvl8pPr marL="3200400" algn="l" defTabSz="914400" rtl="0" eaLnBrk="1" latinLnBrk="0" hangingPunct="1">
      <a:defRPr sz="2800" b="1" kern="1200">
        <a:solidFill>
          <a:schemeClr val="tx1"/>
        </a:solidFill>
        <a:latin typeface="Tahoma" panose="020B0604030504040204" pitchFamily="34" charset="0"/>
        <a:ea typeface="+mn-ea"/>
        <a:cs typeface="+mn-cs"/>
      </a:defRPr>
    </a:lvl8pPr>
    <a:lvl9pPr marL="3657600" algn="l" defTabSz="914400" rtl="0" eaLnBrk="1" latinLnBrk="0" hangingPunct="1">
      <a:defRPr sz="2800" b="1"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D709B"/>
    <a:srgbClr val="008000"/>
    <a:srgbClr val="000099"/>
    <a:srgbClr val="66FFFF"/>
    <a:srgbClr val="FFFFCC"/>
    <a:srgbClr val="0066FF"/>
    <a:srgbClr val="3366CC"/>
    <a:srgbClr val="CC0000"/>
    <a:srgbClr val="66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48" autoAdjust="0"/>
    <p:restoredTop sz="74635" autoAdjust="0"/>
  </p:normalViewPr>
  <p:slideViewPr>
    <p:cSldViewPr>
      <p:cViewPr varScale="1">
        <p:scale>
          <a:sx n="60" d="100"/>
          <a:sy n="60" d="100"/>
        </p:scale>
        <p:origin x="1214"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1026">
            <a:extLst>
              <a:ext uri="{FF2B5EF4-FFF2-40B4-BE49-F238E27FC236}">
                <a16:creationId xmlns:a16="http://schemas.microsoft.com/office/drawing/2014/main" id="{BE21E2AA-4259-46B3-A895-8159A804943F}"/>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2771" name="Rectangle 1027">
            <a:extLst>
              <a:ext uri="{FF2B5EF4-FFF2-40B4-BE49-F238E27FC236}">
                <a16:creationId xmlns:a16="http://schemas.microsoft.com/office/drawing/2014/main" id="{A66946EE-8B20-4E2F-B14D-163B0F329788}"/>
              </a:ext>
            </a:extLst>
          </p:cNvPr>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32772" name="Rectangle 1028">
            <a:extLst>
              <a:ext uri="{FF2B5EF4-FFF2-40B4-BE49-F238E27FC236}">
                <a16:creationId xmlns:a16="http://schemas.microsoft.com/office/drawing/2014/main" id="{B6E35832-E3C3-47D9-9C77-F2225F6663EA}"/>
              </a:ext>
            </a:extLst>
          </p:cNvPr>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2773" name="Rectangle 1029">
            <a:extLst>
              <a:ext uri="{FF2B5EF4-FFF2-40B4-BE49-F238E27FC236}">
                <a16:creationId xmlns:a16="http://schemas.microsoft.com/office/drawing/2014/main" id="{0B99BD7F-8A5F-409B-B4FC-6EB232D65760}"/>
              </a:ext>
            </a:extLst>
          </p:cNvPr>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3D0E4060-D6C2-4E98-811C-BBAFAD4ACE31}"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998CA3B0-F8EE-49DF-B76D-19F654DDF6A1}"/>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0723" name="Rectangle 3">
            <a:extLst>
              <a:ext uri="{FF2B5EF4-FFF2-40B4-BE49-F238E27FC236}">
                <a16:creationId xmlns:a16="http://schemas.microsoft.com/office/drawing/2014/main" id="{26BED76D-D816-4256-A57C-404E55CE7DD1}"/>
              </a:ext>
            </a:extLst>
          </p:cNvPr>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2052" name="Rectangle 4">
            <a:extLst>
              <a:ext uri="{FF2B5EF4-FFF2-40B4-BE49-F238E27FC236}">
                <a16:creationId xmlns:a16="http://schemas.microsoft.com/office/drawing/2014/main" id="{5A9E09B5-99D2-4AC6-9FBA-7E29BBCA93E9}"/>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25" name="Rectangle 5">
            <a:extLst>
              <a:ext uri="{FF2B5EF4-FFF2-40B4-BE49-F238E27FC236}">
                <a16:creationId xmlns:a16="http://schemas.microsoft.com/office/drawing/2014/main" id="{8EB53050-7B99-4818-8791-67B0BD12919C}"/>
              </a:ext>
            </a:extLst>
          </p:cNvPr>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26" name="Rectangle 6">
            <a:extLst>
              <a:ext uri="{FF2B5EF4-FFF2-40B4-BE49-F238E27FC236}">
                <a16:creationId xmlns:a16="http://schemas.microsoft.com/office/drawing/2014/main" id="{6B69F99B-94AC-46E4-9BCB-B9AD76AA8B44}"/>
              </a:ext>
            </a:extLst>
          </p:cNvPr>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0727" name="Rectangle 7">
            <a:extLst>
              <a:ext uri="{FF2B5EF4-FFF2-40B4-BE49-F238E27FC236}">
                <a16:creationId xmlns:a16="http://schemas.microsoft.com/office/drawing/2014/main" id="{E4F756A6-4C30-48C3-B911-2E0F6052FE0B}"/>
              </a:ext>
            </a:extLst>
          </p:cNvPr>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39B8BE71-C176-4517-A6ED-1CCE5899B086}"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5</a:t>
            </a:fld>
            <a:endParaRPr lang="en-US" altLang="en-US"/>
          </a:p>
        </p:txBody>
      </p:sp>
    </p:spTree>
    <p:extLst>
      <p:ext uri="{BB962C8B-B14F-4D97-AF65-F5344CB8AC3E}">
        <p14:creationId xmlns:p14="http://schemas.microsoft.com/office/powerpoint/2010/main" val="18351914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13</a:t>
            </a:fld>
            <a:endParaRPr lang="en-US" altLang="en-US"/>
          </a:p>
        </p:txBody>
      </p:sp>
    </p:spTree>
    <p:extLst>
      <p:ext uri="{BB962C8B-B14F-4D97-AF65-F5344CB8AC3E}">
        <p14:creationId xmlns:p14="http://schemas.microsoft.com/office/powerpoint/2010/main" val="20165783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E65841B9-C432-4A79-A955-EF26C5FE338A}"/>
              </a:ext>
            </a:extLst>
          </p:cNvPr>
          <p:cNvSpPr>
            <a:spLocks noGrp="1" noRot="1" noChangeAspect="1" noChangeArrowheads="1" noTextEdit="1"/>
          </p:cNvSpPr>
          <p:nvPr>
            <p:ph type="sldImg"/>
          </p:nvPr>
        </p:nvSpPr>
        <p:spPr>
          <a:ln/>
        </p:spPr>
      </p:sp>
      <p:sp>
        <p:nvSpPr>
          <p:cNvPr id="25603" name="Notes Placeholder 2">
            <a:extLst>
              <a:ext uri="{FF2B5EF4-FFF2-40B4-BE49-F238E27FC236}">
                <a16:creationId xmlns:a16="http://schemas.microsoft.com/office/drawing/2014/main" id="{A21BCA29-DB42-4486-96D7-C36113A70C34}"/>
              </a:ext>
            </a:extLst>
          </p:cNvPr>
          <p:cNvSpPr>
            <a:spLocks noGrp="1" noChangeArrowheads="1"/>
          </p:cNvSpPr>
          <p:nvPr>
            <p:ph type="body" idx="1"/>
          </p:nvPr>
        </p:nvSpPr>
        <p:spPr>
          <a:noFill/>
        </p:spPr>
        <p:txBody>
          <a:bodyPr/>
          <a:lstStyle/>
          <a:p>
            <a:endParaRPr lang="en-US" altLang="en-US"/>
          </a:p>
        </p:txBody>
      </p:sp>
      <p:sp>
        <p:nvSpPr>
          <p:cNvPr id="25604" name="Slide Number Placeholder 3">
            <a:extLst>
              <a:ext uri="{FF2B5EF4-FFF2-40B4-BE49-F238E27FC236}">
                <a16:creationId xmlns:a16="http://schemas.microsoft.com/office/drawing/2014/main" id="{0EE5D495-92A6-4ED7-B436-452735D77134}"/>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DEEBA019-D4B6-4704-B5A4-73145C0F5A8E}" type="slidenum">
              <a:rPr lang="en-US" altLang="en-US" sz="1200"/>
              <a:pPr/>
              <a:t>20</a:t>
            </a:fld>
            <a:endParaRPr lang="en-US" alt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a:extLst>
              <a:ext uri="{FF2B5EF4-FFF2-40B4-BE49-F238E27FC236}">
                <a16:creationId xmlns:a16="http://schemas.microsoft.com/office/drawing/2014/main" id="{BAD2A62A-43BA-4EF5-9374-817405123A2B}"/>
              </a:ext>
            </a:extLst>
          </p:cNvPr>
          <p:cNvSpPr>
            <a:spLocks noGrp="1" noRot="1" noChangeAspect="1" noChangeArrowheads="1" noTextEdit="1"/>
          </p:cNvSpPr>
          <p:nvPr>
            <p:ph type="sldImg"/>
          </p:nvPr>
        </p:nvSpPr>
        <p:spPr>
          <a:ln/>
        </p:spPr>
      </p:sp>
      <p:sp>
        <p:nvSpPr>
          <p:cNvPr id="27651" name="Notes Placeholder 2">
            <a:extLst>
              <a:ext uri="{FF2B5EF4-FFF2-40B4-BE49-F238E27FC236}">
                <a16:creationId xmlns:a16="http://schemas.microsoft.com/office/drawing/2014/main" id="{FD36BDB6-FD86-401C-9340-6B0EC3A49CDB}"/>
              </a:ext>
            </a:extLst>
          </p:cNvPr>
          <p:cNvSpPr>
            <a:spLocks noGrp="1" noChangeArrowheads="1"/>
          </p:cNvSpPr>
          <p:nvPr>
            <p:ph type="body" idx="1"/>
          </p:nvPr>
        </p:nvSpPr>
        <p:spPr>
          <a:noFill/>
        </p:spPr>
        <p:txBody>
          <a:bodyPr/>
          <a:lstStyle/>
          <a:p>
            <a:endParaRPr lang="en-US" altLang="en-US"/>
          </a:p>
        </p:txBody>
      </p:sp>
      <p:sp>
        <p:nvSpPr>
          <p:cNvPr id="27652" name="Slide Number Placeholder 3">
            <a:extLst>
              <a:ext uri="{FF2B5EF4-FFF2-40B4-BE49-F238E27FC236}">
                <a16:creationId xmlns:a16="http://schemas.microsoft.com/office/drawing/2014/main" id="{06A5FE7B-8E68-47CF-AABE-0C95590BCC9E}"/>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FB5BA93-212D-4174-ADC2-9C4B856FCB0A}" type="slidenum">
              <a:rPr lang="en-US" altLang="en-US" sz="1200"/>
              <a:pPr/>
              <a:t>21</a:t>
            </a:fld>
            <a:endParaRPr lang="en-US" alt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a:extLst>
              <a:ext uri="{FF2B5EF4-FFF2-40B4-BE49-F238E27FC236}">
                <a16:creationId xmlns:a16="http://schemas.microsoft.com/office/drawing/2014/main" id="{87CC5C4D-476B-4A00-B56F-7DE22B3E6F1B}"/>
              </a:ext>
            </a:extLst>
          </p:cNvPr>
          <p:cNvSpPr>
            <a:spLocks noGrp="1" noRot="1" noChangeAspect="1" noChangeArrowheads="1" noTextEdit="1"/>
          </p:cNvSpPr>
          <p:nvPr>
            <p:ph type="sldImg"/>
          </p:nvPr>
        </p:nvSpPr>
        <p:spPr>
          <a:ln/>
        </p:spPr>
      </p:sp>
      <p:sp>
        <p:nvSpPr>
          <p:cNvPr id="29699" name="Notes Placeholder 2">
            <a:extLst>
              <a:ext uri="{FF2B5EF4-FFF2-40B4-BE49-F238E27FC236}">
                <a16:creationId xmlns:a16="http://schemas.microsoft.com/office/drawing/2014/main" id="{3677FF03-BFE4-4329-AC44-1546EC164EF2}"/>
              </a:ext>
            </a:extLst>
          </p:cNvPr>
          <p:cNvSpPr>
            <a:spLocks noGrp="1" noChangeArrowheads="1"/>
          </p:cNvSpPr>
          <p:nvPr>
            <p:ph type="body" idx="1"/>
          </p:nvPr>
        </p:nvSpPr>
        <p:spPr>
          <a:noFill/>
        </p:spPr>
        <p:txBody>
          <a:bodyPr/>
          <a:lstStyle/>
          <a:p>
            <a:endParaRPr lang="en-US" altLang="en-US"/>
          </a:p>
        </p:txBody>
      </p:sp>
      <p:sp>
        <p:nvSpPr>
          <p:cNvPr id="29700" name="Slide Number Placeholder 3">
            <a:extLst>
              <a:ext uri="{FF2B5EF4-FFF2-40B4-BE49-F238E27FC236}">
                <a16:creationId xmlns:a16="http://schemas.microsoft.com/office/drawing/2014/main" id="{22BABD19-89B8-4DB4-B57A-6C2FC1304393}"/>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FE2D8BAB-396E-43D1-AC82-88CBDDB107DA}" type="slidenum">
              <a:rPr lang="en-US" altLang="en-US" sz="1200"/>
              <a:pPr/>
              <a:t>22</a:t>
            </a:fld>
            <a:endParaRPr lang="en-US" alt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a:extLst>
              <a:ext uri="{FF2B5EF4-FFF2-40B4-BE49-F238E27FC236}">
                <a16:creationId xmlns:a16="http://schemas.microsoft.com/office/drawing/2014/main" id="{EADE4090-A856-4453-AD18-FACE7426E4A3}"/>
              </a:ext>
            </a:extLst>
          </p:cNvPr>
          <p:cNvSpPr>
            <a:spLocks noGrp="1" noRot="1" noChangeAspect="1" noChangeArrowheads="1" noTextEdit="1"/>
          </p:cNvSpPr>
          <p:nvPr>
            <p:ph type="sldImg"/>
          </p:nvPr>
        </p:nvSpPr>
        <p:spPr>
          <a:ln/>
        </p:spPr>
      </p:sp>
      <p:sp>
        <p:nvSpPr>
          <p:cNvPr id="31747" name="Notes Placeholder 2">
            <a:extLst>
              <a:ext uri="{FF2B5EF4-FFF2-40B4-BE49-F238E27FC236}">
                <a16:creationId xmlns:a16="http://schemas.microsoft.com/office/drawing/2014/main" id="{ABFE8279-3311-43B0-ADED-34F4A9901D73}"/>
              </a:ext>
            </a:extLst>
          </p:cNvPr>
          <p:cNvSpPr>
            <a:spLocks noGrp="1" noChangeArrowheads="1"/>
          </p:cNvSpPr>
          <p:nvPr>
            <p:ph type="body" idx="1"/>
          </p:nvPr>
        </p:nvSpPr>
        <p:spPr>
          <a:noFill/>
        </p:spPr>
        <p:txBody>
          <a:bodyPr/>
          <a:lstStyle/>
          <a:p>
            <a:endParaRPr lang="en-US" altLang="en-US"/>
          </a:p>
        </p:txBody>
      </p:sp>
      <p:sp>
        <p:nvSpPr>
          <p:cNvPr id="31748" name="Slide Number Placeholder 3">
            <a:extLst>
              <a:ext uri="{FF2B5EF4-FFF2-40B4-BE49-F238E27FC236}">
                <a16:creationId xmlns:a16="http://schemas.microsoft.com/office/drawing/2014/main" id="{F10BAC78-A9C7-4BCC-878E-30C73434ACFA}"/>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0F3ECFB-F660-4CFB-8872-337D668E0585}" type="slidenum">
              <a:rPr lang="en-US" altLang="en-US" sz="1200"/>
              <a:pPr/>
              <a:t>23</a:t>
            </a:fld>
            <a:endParaRPr lang="en-US" alt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a:extLst>
              <a:ext uri="{FF2B5EF4-FFF2-40B4-BE49-F238E27FC236}">
                <a16:creationId xmlns:a16="http://schemas.microsoft.com/office/drawing/2014/main" id="{532FC26C-DA55-465A-BCBB-232DF05442C9}"/>
              </a:ext>
            </a:extLst>
          </p:cNvPr>
          <p:cNvSpPr>
            <a:spLocks noGrp="1" noRot="1" noChangeAspect="1" noChangeArrowheads="1" noTextEdit="1"/>
          </p:cNvSpPr>
          <p:nvPr>
            <p:ph type="sldImg"/>
          </p:nvPr>
        </p:nvSpPr>
        <p:spPr>
          <a:ln/>
        </p:spPr>
      </p:sp>
      <p:sp>
        <p:nvSpPr>
          <p:cNvPr id="33795" name="Notes Placeholder 2">
            <a:extLst>
              <a:ext uri="{FF2B5EF4-FFF2-40B4-BE49-F238E27FC236}">
                <a16:creationId xmlns:a16="http://schemas.microsoft.com/office/drawing/2014/main" id="{FFA22221-566A-4539-8FD3-E29DEF2872E4}"/>
              </a:ext>
            </a:extLst>
          </p:cNvPr>
          <p:cNvSpPr>
            <a:spLocks noGrp="1" noChangeArrowheads="1"/>
          </p:cNvSpPr>
          <p:nvPr>
            <p:ph type="body" idx="1"/>
          </p:nvPr>
        </p:nvSpPr>
        <p:spPr>
          <a:noFill/>
        </p:spPr>
        <p:txBody>
          <a:bodyPr/>
          <a:lstStyle/>
          <a:p>
            <a:r>
              <a:rPr lang="en-US" altLang="en-US"/>
              <a:t>Throwing exceptions incurs a performance penalty, and if it's the case that you expect the queue to be empty from time to time you don't want to have to handle the queue-empty-logic as catching an exception -- it's both costly and difficult to read.</a:t>
            </a:r>
          </a:p>
          <a:p>
            <a:r>
              <a:rPr lang="en-US" altLang="en-US"/>
              <a:t>In the opposite case where you don't expect the queue to ever be empty it is a sign of a programming error, or some other exceptional circumstance that it is, and you don't want to write ugly error condition checking code (e.g. checking for null), because in this case that would be less readable than catching an exception (which you can do in another scope).</a:t>
            </a:r>
          </a:p>
          <a:p>
            <a:endParaRPr lang="en-US" altLang="en-US"/>
          </a:p>
        </p:txBody>
      </p:sp>
      <p:sp>
        <p:nvSpPr>
          <p:cNvPr id="33796" name="Slide Number Placeholder 3">
            <a:extLst>
              <a:ext uri="{FF2B5EF4-FFF2-40B4-BE49-F238E27FC236}">
                <a16:creationId xmlns:a16="http://schemas.microsoft.com/office/drawing/2014/main" id="{9C6F455F-D3AF-40C0-A625-E3C3391494EB}"/>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41050CD-F776-42D3-B596-6F83CEEBE841}" type="slidenum">
              <a:rPr lang="en-US" altLang="en-US" sz="1200"/>
              <a:pPr/>
              <a:t>24</a:t>
            </a:fld>
            <a:endParaRPr lang="en-US" alt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86712C47-E6EB-469C-8D9B-824C9BDC2498}"/>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946B59F1-C008-4136-AF8B-B419A3444521}"/>
              </a:ext>
            </a:extLst>
          </p:cNvPr>
          <p:cNvSpPr>
            <a:spLocks noGrp="1" noChangeArrowheads="1"/>
          </p:cNvSpPr>
          <p:nvPr>
            <p:ph type="sldNum" sz="quarter" idx="11"/>
          </p:nvPr>
        </p:nvSpPr>
        <p:spPr>
          <a:ln/>
        </p:spPr>
        <p:txBody>
          <a:bodyPr/>
          <a:lstStyle>
            <a:lvl1pPr>
              <a:defRPr/>
            </a:lvl1pPr>
          </a:lstStyle>
          <a:p>
            <a:fld id="{BE4A6BC4-1716-4B90-AA3F-8966A18ED148}" type="slidenum">
              <a:rPr lang="en-US" altLang="en-US"/>
              <a:pPr/>
              <a:t>‹#›</a:t>
            </a:fld>
            <a:endParaRPr lang="en-US" altLang="en-US"/>
          </a:p>
        </p:txBody>
      </p:sp>
      <p:sp>
        <p:nvSpPr>
          <p:cNvPr id="6" name="Rectangle 7">
            <a:extLst>
              <a:ext uri="{FF2B5EF4-FFF2-40B4-BE49-F238E27FC236}">
                <a16:creationId xmlns:a16="http://schemas.microsoft.com/office/drawing/2014/main" id="{5A3F976D-5AC7-470D-82FE-9A6AC597E11A}"/>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872204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B02595CE-1330-46A7-BB4A-4DF70FBF630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35658CAC-8F48-4190-B146-25F945C149D8}"/>
              </a:ext>
            </a:extLst>
          </p:cNvPr>
          <p:cNvSpPr>
            <a:spLocks noGrp="1" noChangeArrowheads="1"/>
          </p:cNvSpPr>
          <p:nvPr>
            <p:ph type="sldNum" sz="quarter" idx="11"/>
          </p:nvPr>
        </p:nvSpPr>
        <p:spPr>
          <a:ln/>
        </p:spPr>
        <p:txBody>
          <a:bodyPr/>
          <a:lstStyle>
            <a:lvl1pPr>
              <a:defRPr/>
            </a:lvl1pPr>
          </a:lstStyle>
          <a:p>
            <a:fld id="{DBB0BB60-4816-469C-B575-0A8E48C382EF}" type="slidenum">
              <a:rPr lang="en-US" altLang="en-US"/>
              <a:pPr/>
              <a:t>‹#›</a:t>
            </a:fld>
            <a:endParaRPr lang="en-US" altLang="en-US"/>
          </a:p>
        </p:txBody>
      </p:sp>
      <p:sp>
        <p:nvSpPr>
          <p:cNvPr id="6" name="Rectangle 7">
            <a:extLst>
              <a:ext uri="{FF2B5EF4-FFF2-40B4-BE49-F238E27FC236}">
                <a16:creationId xmlns:a16="http://schemas.microsoft.com/office/drawing/2014/main" id="{303B56E2-9E8F-41F3-9B2F-098DE8D44286}"/>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27168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429F3D44-48C3-422A-AB85-66B1118E2EA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870E2F4A-F8F1-4119-9176-094829F6509C}"/>
              </a:ext>
            </a:extLst>
          </p:cNvPr>
          <p:cNvSpPr>
            <a:spLocks noGrp="1" noChangeArrowheads="1"/>
          </p:cNvSpPr>
          <p:nvPr>
            <p:ph type="sldNum" sz="quarter" idx="11"/>
          </p:nvPr>
        </p:nvSpPr>
        <p:spPr>
          <a:ln/>
        </p:spPr>
        <p:txBody>
          <a:bodyPr/>
          <a:lstStyle>
            <a:lvl1pPr>
              <a:defRPr/>
            </a:lvl1pPr>
          </a:lstStyle>
          <a:p>
            <a:fld id="{B7EB9049-9A9E-4BB3-A10C-49F2FCD3D139}" type="slidenum">
              <a:rPr lang="en-US" altLang="en-US"/>
              <a:pPr/>
              <a:t>‹#›</a:t>
            </a:fld>
            <a:endParaRPr lang="en-US" altLang="en-US"/>
          </a:p>
        </p:txBody>
      </p:sp>
      <p:sp>
        <p:nvSpPr>
          <p:cNvPr id="6" name="Rectangle 7">
            <a:extLst>
              <a:ext uri="{FF2B5EF4-FFF2-40B4-BE49-F238E27FC236}">
                <a16:creationId xmlns:a16="http://schemas.microsoft.com/office/drawing/2014/main" id="{0393AC1A-0F61-42BB-8E00-DFFF4A0A6224}"/>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0683367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01EF48D0-A77A-4B6D-A2CE-F2198F56298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ABF3ED2-0600-41FE-8668-1102E04E4525}"/>
              </a:ext>
            </a:extLst>
          </p:cNvPr>
          <p:cNvSpPr>
            <a:spLocks noGrp="1" noChangeArrowheads="1"/>
          </p:cNvSpPr>
          <p:nvPr>
            <p:ph type="sldNum" sz="quarter" idx="11"/>
          </p:nvPr>
        </p:nvSpPr>
        <p:spPr>
          <a:ln/>
        </p:spPr>
        <p:txBody>
          <a:bodyPr/>
          <a:lstStyle>
            <a:lvl1pPr>
              <a:defRPr/>
            </a:lvl1pPr>
          </a:lstStyle>
          <a:p>
            <a:fld id="{2D16CC07-B111-4A45-B1FE-13946377713F}" type="slidenum">
              <a:rPr lang="en-US" altLang="en-US"/>
              <a:pPr/>
              <a:t>‹#›</a:t>
            </a:fld>
            <a:endParaRPr lang="en-US" altLang="en-US"/>
          </a:p>
        </p:txBody>
      </p:sp>
      <p:sp>
        <p:nvSpPr>
          <p:cNvPr id="7" name="Rectangle 7">
            <a:extLst>
              <a:ext uri="{FF2B5EF4-FFF2-40B4-BE49-F238E27FC236}">
                <a16:creationId xmlns:a16="http://schemas.microsoft.com/office/drawing/2014/main" id="{3B7DBE6D-1C80-4344-9CE8-666957430DE7}"/>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8561580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C9447A4D-D0A6-4E02-B841-CCDDFD152232}"/>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6">
            <a:extLst>
              <a:ext uri="{FF2B5EF4-FFF2-40B4-BE49-F238E27FC236}">
                <a16:creationId xmlns:a16="http://schemas.microsoft.com/office/drawing/2014/main" id="{022F68A2-E989-481C-A18E-EE4AC115E821}"/>
              </a:ext>
            </a:extLst>
          </p:cNvPr>
          <p:cNvSpPr>
            <a:spLocks noGrp="1" noChangeArrowheads="1"/>
          </p:cNvSpPr>
          <p:nvPr>
            <p:ph type="sldNum" sz="quarter" idx="11"/>
          </p:nvPr>
        </p:nvSpPr>
        <p:spPr>
          <a:ln/>
        </p:spPr>
        <p:txBody>
          <a:bodyPr/>
          <a:lstStyle>
            <a:lvl1pPr>
              <a:defRPr/>
            </a:lvl1pPr>
          </a:lstStyle>
          <a:p>
            <a:fld id="{DB0C5E76-4E8F-437E-9CA1-82177345EE37}" type="slidenum">
              <a:rPr lang="en-US" altLang="en-US"/>
              <a:pPr/>
              <a:t>‹#›</a:t>
            </a:fld>
            <a:endParaRPr lang="en-US" altLang="en-US"/>
          </a:p>
        </p:txBody>
      </p:sp>
      <p:sp>
        <p:nvSpPr>
          <p:cNvPr id="9" name="Rectangle 7">
            <a:extLst>
              <a:ext uri="{FF2B5EF4-FFF2-40B4-BE49-F238E27FC236}">
                <a16:creationId xmlns:a16="http://schemas.microsoft.com/office/drawing/2014/main" id="{921F8978-EA1A-4873-B2FF-BB4B3F81EA90}"/>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4138668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9B733832-9C6A-4958-9D04-1954BAA96BA0}"/>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03CF4D70-4984-43D4-A8E8-28F7605AAB3F}"/>
              </a:ext>
            </a:extLst>
          </p:cNvPr>
          <p:cNvSpPr>
            <a:spLocks noGrp="1" noChangeArrowheads="1"/>
          </p:cNvSpPr>
          <p:nvPr>
            <p:ph type="sldNum" sz="quarter" idx="11"/>
          </p:nvPr>
        </p:nvSpPr>
        <p:spPr>
          <a:ln/>
        </p:spPr>
        <p:txBody>
          <a:bodyPr/>
          <a:lstStyle>
            <a:lvl1pPr>
              <a:defRPr/>
            </a:lvl1pPr>
          </a:lstStyle>
          <a:p>
            <a:fld id="{F07EC92D-ABA4-4239-8C1F-22498E81571B}" type="slidenum">
              <a:rPr lang="en-US" altLang="en-US"/>
              <a:pPr/>
              <a:t>‹#›</a:t>
            </a:fld>
            <a:endParaRPr lang="en-US" altLang="en-US"/>
          </a:p>
        </p:txBody>
      </p:sp>
      <p:sp>
        <p:nvSpPr>
          <p:cNvPr id="5" name="Rectangle 7">
            <a:extLst>
              <a:ext uri="{FF2B5EF4-FFF2-40B4-BE49-F238E27FC236}">
                <a16:creationId xmlns:a16="http://schemas.microsoft.com/office/drawing/2014/main" id="{5BD23770-6883-4B40-97DD-6D800903276D}"/>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269695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929B77B-A92D-4E4F-BCBA-0432FE20476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6">
            <a:extLst>
              <a:ext uri="{FF2B5EF4-FFF2-40B4-BE49-F238E27FC236}">
                <a16:creationId xmlns:a16="http://schemas.microsoft.com/office/drawing/2014/main" id="{57D9B42C-4135-4DC5-9CAD-93E7839086C5}"/>
              </a:ext>
            </a:extLst>
          </p:cNvPr>
          <p:cNvSpPr>
            <a:spLocks noGrp="1" noChangeArrowheads="1"/>
          </p:cNvSpPr>
          <p:nvPr>
            <p:ph type="sldNum" sz="quarter" idx="11"/>
          </p:nvPr>
        </p:nvSpPr>
        <p:spPr>
          <a:ln/>
        </p:spPr>
        <p:txBody>
          <a:bodyPr/>
          <a:lstStyle>
            <a:lvl1pPr>
              <a:defRPr/>
            </a:lvl1pPr>
          </a:lstStyle>
          <a:p>
            <a:fld id="{F7CD95E3-801B-4EE8-9CCB-8DF519F339C2}" type="slidenum">
              <a:rPr lang="en-US" altLang="en-US"/>
              <a:pPr/>
              <a:t>‹#›</a:t>
            </a:fld>
            <a:endParaRPr lang="en-US" altLang="en-US"/>
          </a:p>
        </p:txBody>
      </p:sp>
      <p:sp>
        <p:nvSpPr>
          <p:cNvPr id="4" name="Rectangle 7">
            <a:extLst>
              <a:ext uri="{FF2B5EF4-FFF2-40B4-BE49-F238E27FC236}">
                <a16:creationId xmlns:a16="http://schemas.microsoft.com/office/drawing/2014/main" id="{C3F1ED64-D692-451F-A151-97B2350C16AD}"/>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7605102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8D60706-424D-4F60-8BC1-16445A063A48}"/>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CF7BF56-0C97-4D3F-96D2-1139CF029AB3}"/>
              </a:ext>
            </a:extLst>
          </p:cNvPr>
          <p:cNvSpPr>
            <a:spLocks noGrp="1" noChangeArrowheads="1"/>
          </p:cNvSpPr>
          <p:nvPr>
            <p:ph type="sldNum" sz="quarter" idx="11"/>
          </p:nvPr>
        </p:nvSpPr>
        <p:spPr>
          <a:ln/>
        </p:spPr>
        <p:txBody>
          <a:bodyPr/>
          <a:lstStyle>
            <a:lvl1pPr>
              <a:defRPr/>
            </a:lvl1pPr>
          </a:lstStyle>
          <a:p>
            <a:fld id="{669C505F-9280-457C-8B7C-6A5C0FF065F3}" type="slidenum">
              <a:rPr lang="en-US" altLang="en-US"/>
              <a:pPr/>
              <a:t>‹#›</a:t>
            </a:fld>
            <a:endParaRPr lang="en-US" altLang="en-US"/>
          </a:p>
        </p:txBody>
      </p:sp>
      <p:sp>
        <p:nvSpPr>
          <p:cNvPr id="7" name="Rectangle 7">
            <a:extLst>
              <a:ext uri="{FF2B5EF4-FFF2-40B4-BE49-F238E27FC236}">
                <a16:creationId xmlns:a16="http://schemas.microsoft.com/office/drawing/2014/main" id="{722E55DA-92A0-4B62-812C-65D9291B58C2}"/>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17983218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A4B1E3B-0CA2-44D6-A556-A7A6CB92601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599CB26-8019-4794-8407-24695596611D}"/>
              </a:ext>
            </a:extLst>
          </p:cNvPr>
          <p:cNvSpPr>
            <a:spLocks noGrp="1" noChangeArrowheads="1"/>
          </p:cNvSpPr>
          <p:nvPr>
            <p:ph type="sldNum" sz="quarter" idx="11"/>
          </p:nvPr>
        </p:nvSpPr>
        <p:spPr>
          <a:ln/>
        </p:spPr>
        <p:txBody>
          <a:bodyPr/>
          <a:lstStyle>
            <a:lvl1pPr>
              <a:defRPr/>
            </a:lvl1pPr>
          </a:lstStyle>
          <a:p>
            <a:fld id="{17F0E03D-3618-4D24-90C1-2808C8993A23}" type="slidenum">
              <a:rPr lang="en-US" altLang="en-US"/>
              <a:pPr/>
              <a:t>‹#›</a:t>
            </a:fld>
            <a:endParaRPr lang="en-US" altLang="en-US"/>
          </a:p>
        </p:txBody>
      </p:sp>
      <p:sp>
        <p:nvSpPr>
          <p:cNvPr id="7" name="Rectangle 7">
            <a:extLst>
              <a:ext uri="{FF2B5EF4-FFF2-40B4-BE49-F238E27FC236}">
                <a16:creationId xmlns:a16="http://schemas.microsoft.com/office/drawing/2014/main" id="{D90FDD36-00A8-43F9-933C-58F42203A49C}"/>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13856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CB8DEA08-3BE5-4E20-B1FF-0C9F9C279FDD}"/>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E63AF62E-D528-4F02-9336-8456ED301FDC}"/>
              </a:ext>
            </a:extLst>
          </p:cNvPr>
          <p:cNvSpPr>
            <a:spLocks noGrp="1" noChangeArrowheads="1"/>
          </p:cNvSpPr>
          <p:nvPr>
            <p:ph type="sldNum" sz="quarter" idx="11"/>
          </p:nvPr>
        </p:nvSpPr>
        <p:spPr>
          <a:ln/>
        </p:spPr>
        <p:txBody>
          <a:bodyPr/>
          <a:lstStyle>
            <a:lvl1pPr>
              <a:defRPr/>
            </a:lvl1pPr>
          </a:lstStyle>
          <a:p>
            <a:fld id="{CA93D138-9D99-4DE9-8A63-592821B87170}" type="slidenum">
              <a:rPr lang="en-US" altLang="en-US"/>
              <a:pPr/>
              <a:t>‹#›</a:t>
            </a:fld>
            <a:endParaRPr lang="en-US" altLang="en-US"/>
          </a:p>
        </p:txBody>
      </p:sp>
      <p:sp>
        <p:nvSpPr>
          <p:cNvPr id="6" name="Rectangle 7">
            <a:extLst>
              <a:ext uri="{FF2B5EF4-FFF2-40B4-BE49-F238E27FC236}">
                <a16:creationId xmlns:a16="http://schemas.microsoft.com/office/drawing/2014/main" id="{D31989B3-92D7-408D-ABF3-F7CB21C4C7DB}"/>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7916622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02D1ABD7-3558-40BF-9CA9-184B62831F42}"/>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9DC3A898-2FE7-473C-A136-C45CE0113131}"/>
              </a:ext>
            </a:extLst>
          </p:cNvPr>
          <p:cNvSpPr>
            <a:spLocks noGrp="1" noChangeArrowheads="1"/>
          </p:cNvSpPr>
          <p:nvPr>
            <p:ph type="sldNum" sz="quarter" idx="11"/>
          </p:nvPr>
        </p:nvSpPr>
        <p:spPr>
          <a:ln/>
        </p:spPr>
        <p:txBody>
          <a:bodyPr/>
          <a:lstStyle>
            <a:lvl1pPr>
              <a:defRPr/>
            </a:lvl1pPr>
          </a:lstStyle>
          <a:p>
            <a:fld id="{16FA3543-3484-4C28-B54F-ED496002A98B}" type="slidenum">
              <a:rPr lang="en-US" altLang="en-US"/>
              <a:pPr/>
              <a:t>‹#›</a:t>
            </a:fld>
            <a:endParaRPr lang="en-US" altLang="en-US"/>
          </a:p>
        </p:txBody>
      </p:sp>
      <p:sp>
        <p:nvSpPr>
          <p:cNvPr id="6" name="Rectangle 7">
            <a:extLst>
              <a:ext uri="{FF2B5EF4-FFF2-40B4-BE49-F238E27FC236}">
                <a16:creationId xmlns:a16="http://schemas.microsoft.com/office/drawing/2014/main" id="{EE186F32-CF9E-4C7E-915F-161B8B0258BF}"/>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954724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DF2BB1C6-1490-4638-A81D-7AAE6F33C872}"/>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22AA8C6C-0053-42CB-9FD3-F9874DB2DCAA}"/>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A6898933-5570-4508-8281-09C6DE65A03E}"/>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400" b="0">
                <a:latin typeface="+mn-lt"/>
              </a:defRPr>
            </a:lvl1pPr>
          </a:lstStyle>
          <a:p>
            <a:pPr>
              <a:defRPr/>
            </a:pPr>
            <a:endParaRPr lang="en-US"/>
          </a:p>
        </p:txBody>
      </p:sp>
      <p:sp>
        <p:nvSpPr>
          <p:cNvPr id="1030" name="Rectangle 6">
            <a:extLst>
              <a:ext uri="{FF2B5EF4-FFF2-40B4-BE49-F238E27FC236}">
                <a16:creationId xmlns:a16="http://schemas.microsoft.com/office/drawing/2014/main" id="{34AD2234-F132-4D36-AEEB-FBF9F11238E4}"/>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latin typeface="Times New Roman" panose="02020603050405020304" pitchFamily="18" charset="0"/>
              </a:defRPr>
            </a:lvl1pPr>
          </a:lstStyle>
          <a:p>
            <a:fld id="{1B4FCA52-DDBD-4222-8557-DC34F5B071D4}" type="slidenum">
              <a:rPr lang="en-US" altLang="en-US"/>
              <a:pPr/>
              <a:t>‹#›</a:t>
            </a:fld>
            <a:endParaRPr lang="en-US" altLang="en-US"/>
          </a:p>
        </p:txBody>
      </p:sp>
      <p:sp>
        <p:nvSpPr>
          <p:cNvPr id="1031" name="Rectangle 7">
            <a:extLst>
              <a:ext uri="{FF2B5EF4-FFF2-40B4-BE49-F238E27FC236}">
                <a16:creationId xmlns:a16="http://schemas.microsoft.com/office/drawing/2014/main" id="{A863BBD8-BFAE-44C2-8A5E-428E94CF13A2}"/>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eaLnBrk="1" hangingPunct="1">
              <a:defRPr sz="800"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a:extLst>
              <a:ext uri="{FF2B5EF4-FFF2-40B4-BE49-F238E27FC236}">
                <a16:creationId xmlns:a16="http://schemas.microsoft.com/office/drawing/2014/main" id="{B3DCB794-B022-47B6-85C9-D64227D851C2}"/>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4099" name="Picture 4">
            <a:extLst>
              <a:ext uri="{FF2B5EF4-FFF2-40B4-BE49-F238E27FC236}">
                <a16:creationId xmlns:a16="http://schemas.microsoft.com/office/drawing/2014/main" id="{9C34F9AB-3207-4DD2-8E05-D5319ADBA2CF}"/>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3200400"/>
            <a:ext cx="2284413" cy="3073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0" name="WordArt 5">
            <a:extLst>
              <a:ext uri="{FF2B5EF4-FFF2-40B4-BE49-F238E27FC236}">
                <a16:creationId xmlns:a16="http://schemas.microsoft.com/office/drawing/2014/main" id="{6584DCC9-742B-4FDC-8FB4-A3DA2C8EBA74}"/>
              </a:ext>
            </a:extLst>
          </p:cNvPr>
          <p:cNvSpPr>
            <a:spLocks noChangeArrowheads="1" noChangeShapeType="1" noTextEdit="1"/>
          </p:cNvSpPr>
          <p:nvPr/>
        </p:nvSpPr>
        <p:spPr bwMode="auto">
          <a:xfrm>
            <a:off x="1143000" y="609600"/>
            <a:ext cx="6705600" cy="1981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Queues and</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PQueues</a:t>
            </a:r>
          </a:p>
        </p:txBody>
      </p:sp>
      <p:sp>
        <p:nvSpPr>
          <p:cNvPr id="4101" name="WordArt 7">
            <a:extLst>
              <a:ext uri="{FF2B5EF4-FFF2-40B4-BE49-F238E27FC236}">
                <a16:creationId xmlns:a16="http://schemas.microsoft.com/office/drawing/2014/main" id="{BE72D50D-27D4-406D-B7AD-6601A6F80BE2}"/>
              </a:ext>
            </a:extLst>
          </p:cNvPr>
          <p:cNvSpPr>
            <a:spLocks noChangeArrowheads="1" noChangeShapeType="1" noTextEdit="1"/>
          </p:cNvSpPr>
          <p:nvPr/>
        </p:nvSpPr>
        <p:spPr bwMode="auto">
          <a:xfrm>
            <a:off x="6400800" y="6324600"/>
            <a:ext cx="2438400" cy="304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80"/>
                </a:solidFill>
                <a:effectLst>
                  <a:outerShdw dist="35921" dir="2700000" algn="ctr" rotWithShape="0">
                    <a:srgbClr val="C0C0C0"/>
                  </a:outerShdw>
                </a:effectLst>
                <a:latin typeface="Impact" panose="020B0806030902050204" pitchFamily="34" charset="0"/>
              </a:rPr>
              <a:t>Lab 14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a:extLst>
              <a:ext uri="{FF2B5EF4-FFF2-40B4-BE49-F238E27FC236}">
                <a16:creationId xmlns:a16="http://schemas.microsoft.com/office/drawing/2014/main" id="{6EF12102-2FCC-466F-B6DE-42873137D58C}"/>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7CFC722B-D5A2-45AA-B587-AAA83C9EA511}"/>
              </a:ext>
            </a:extLst>
          </p:cNvPr>
          <p:cNvSpPr txBox="1">
            <a:spLocks noChangeArrowheads="1"/>
          </p:cNvSpPr>
          <p:nvPr/>
        </p:nvSpPr>
        <p:spPr bwMode="auto">
          <a:xfrm>
            <a:off x="685800" y="2057400"/>
            <a:ext cx="8001000"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solidFill>
                  <a:srgbClr val="000099"/>
                </a:solidFill>
                <a:latin typeface="Tahoma" panose="020B0604030504040204" pitchFamily="34" charset="0"/>
              </a:rPr>
              <a:t>A queue is a group of items all of the same type where items are added to the back of the queue and removed from the front.</a:t>
            </a:r>
          </a:p>
          <a:p>
            <a:pPr>
              <a:spcBef>
                <a:spcPct val="0"/>
              </a:spcBef>
              <a:buFontTx/>
              <a:buNone/>
            </a:pPr>
            <a:endParaRPr lang="en-US" altLang="en-US" sz="2800">
              <a:solidFill>
                <a:srgbClr val="000099"/>
              </a:solidFill>
              <a:latin typeface="Tahoma" panose="020B0604030504040204" pitchFamily="34" charset="0"/>
            </a:endParaRPr>
          </a:p>
          <a:p>
            <a:pPr>
              <a:spcBef>
                <a:spcPct val="0"/>
              </a:spcBef>
              <a:buFontTx/>
              <a:buNone/>
            </a:pPr>
            <a:r>
              <a:rPr lang="en-US" altLang="en-US" sz="2800">
                <a:solidFill>
                  <a:srgbClr val="000099"/>
                </a:solidFill>
                <a:latin typeface="Tahoma" panose="020B0604030504040204" pitchFamily="34" charset="0"/>
              </a:rPr>
              <a:t>The first item added would be the first item removed.   Queues work in a FIFO manner.</a:t>
            </a:r>
            <a:endParaRPr lang="en-US" altLang="en-US" sz="2800" b="0"/>
          </a:p>
        </p:txBody>
      </p:sp>
      <p:sp>
        <p:nvSpPr>
          <p:cNvPr id="5124" name="WordArt 4">
            <a:extLst>
              <a:ext uri="{FF2B5EF4-FFF2-40B4-BE49-F238E27FC236}">
                <a16:creationId xmlns:a16="http://schemas.microsoft.com/office/drawing/2014/main" id="{736E3CAB-9891-4027-A4DE-0B9515BE31F0}"/>
              </a:ext>
            </a:extLst>
          </p:cNvPr>
          <p:cNvSpPr>
            <a:spLocks noChangeArrowheads="1" noChangeShapeType="1" noTextEdit="1"/>
          </p:cNvSpPr>
          <p:nvPr/>
        </p:nvSpPr>
        <p:spPr bwMode="auto">
          <a:xfrm>
            <a:off x="1143000" y="6096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a:extLst>
              <a:ext uri="{FF2B5EF4-FFF2-40B4-BE49-F238E27FC236}">
                <a16:creationId xmlns:a16="http://schemas.microsoft.com/office/drawing/2014/main" id="{79506188-3229-4733-BA24-9F24011FEFCF}"/>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6147" name="Text Box 2">
            <a:extLst>
              <a:ext uri="{FF2B5EF4-FFF2-40B4-BE49-F238E27FC236}">
                <a16:creationId xmlns:a16="http://schemas.microsoft.com/office/drawing/2014/main" id="{9A4E2FCB-4C0D-4405-8285-702DCAC18729}"/>
              </a:ext>
            </a:extLst>
          </p:cNvPr>
          <p:cNvSpPr txBox="1">
            <a:spLocks noChangeArrowheads="1"/>
          </p:cNvSpPr>
          <p:nvPr/>
        </p:nvSpPr>
        <p:spPr bwMode="auto">
          <a:xfrm>
            <a:off x="914400" y="1905000"/>
            <a:ext cx="7543800" cy="2165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400">
              <a:solidFill>
                <a:srgbClr val="000099"/>
              </a:solidFill>
              <a:latin typeface="Tahoma" panose="020B0604030504040204" pitchFamily="34" charset="0"/>
            </a:endParaRPr>
          </a:p>
          <a:p>
            <a:pPr>
              <a:spcBef>
                <a:spcPct val="0"/>
              </a:spcBef>
              <a:buFontTx/>
              <a:buNone/>
            </a:pPr>
            <a:r>
              <a:rPr lang="en-US" altLang="en-US" sz="2800">
                <a:solidFill>
                  <a:srgbClr val="000099"/>
                </a:solidFill>
                <a:latin typeface="Tahoma" panose="020B0604030504040204" pitchFamily="34" charset="0"/>
              </a:rPr>
              <a:t>In England, when you are to stand in a line, they tell you to go get in the queue.</a:t>
            </a:r>
          </a:p>
          <a:p>
            <a:pPr>
              <a:spcBef>
                <a:spcPct val="0"/>
              </a:spcBef>
              <a:buFontTx/>
              <a:buNone/>
            </a:pPr>
            <a:endParaRPr lang="en-US" altLang="en-US" sz="2800" b="0">
              <a:solidFill>
                <a:srgbClr val="000099"/>
              </a:solidFill>
              <a:latin typeface="Tahoma" panose="020B0604030504040204" pitchFamily="34" charset="0"/>
            </a:endParaRPr>
          </a:p>
          <a:p>
            <a:pPr>
              <a:spcBef>
                <a:spcPct val="0"/>
              </a:spcBef>
              <a:buFontTx/>
              <a:buNone/>
            </a:pPr>
            <a:endParaRPr lang="en-US" altLang="en-US" sz="2800" b="0"/>
          </a:p>
        </p:txBody>
      </p:sp>
      <p:sp>
        <p:nvSpPr>
          <p:cNvPr id="6148" name="WordArt 3">
            <a:extLst>
              <a:ext uri="{FF2B5EF4-FFF2-40B4-BE49-F238E27FC236}">
                <a16:creationId xmlns:a16="http://schemas.microsoft.com/office/drawing/2014/main" id="{46FCE23A-4F33-443C-8C9C-77A970623118}"/>
              </a:ext>
            </a:extLst>
          </p:cNvPr>
          <p:cNvSpPr>
            <a:spLocks noChangeArrowheads="1" noChangeShapeType="1" noTextEdit="1"/>
          </p:cNvSpPr>
          <p:nvPr/>
        </p:nvSpPr>
        <p:spPr bwMode="auto">
          <a:xfrm>
            <a:off x="1143000" y="6096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pic>
        <p:nvPicPr>
          <p:cNvPr id="6149" name="Picture 4">
            <a:extLst>
              <a:ext uri="{FF2B5EF4-FFF2-40B4-BE49-F238E27FC236}">
                <a16:creationId xmlns:a16="http://schemas.microsoft.com/office/drawing/2014/main" id="{15CF6FB9-9D16-498D-9D21-2B0F7DC752A6}"/>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0400" y="3581400"/>
            <a:ext cx="2743200" cy="1957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a:extLst>
              <a:ext uri="{FF2B5EF4-FFF2-40B4-BE49-F238E27FC236}">
                <a16:creationId xmlns:a16="http://schemas.microsoft.com/office/drawing/2014/main" id="{C6DE6F34-5B56-43CF-952A-108F9CC0EB2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643AEC09-DDF7-4E11-93D8-E7457A2699AC}"/>
              </a:ext>
            </a:extLst>
          </p:cNvPr>
          <p:cNvSpPr txBox="1">
            <a:spLocks noChangeArrowheads="1"/>
          </p:cNvSpPr>
          <p:nvPr/>
        </p:nvSpPr>
        <p:spPr bwMode="auto">
          <a:xfrm>
            <a:off x="914400" y="1828800"/>
            <a:ext cx="7559675"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algn="r" eaLnBrk="0" fontAlgn="base" hangingPunct="0">
              <a:spcBef>
                <a:spcPct val="0"/>
              </a:spcBef>
              <a:spcAft>
                <a:spcPct val="0"/>
              </a:spcAft>
              <a:defRPr sz="2800" b="1">
                <a:solidFill>
                  <a:schemeClr val="tx1"/>
                </a:solidFill>
                <a:latin typeface="Tahoma" panose="020B0604030504040204" pitchFamily="34" charset="0"/>
              </a:defRPr>
            </a:lvl6pPr>
            <a:lvl7pPr marL="2971800" indent="-228600" algn="r" eaLnBrk="0" fontAlgn="base" hangingPunct="0">
              <a:spcBef>
                <a:spcPct val="0"/>
              </a:spcBef>
              <a:spcAft>
                <a:spcPct val="0"/>
              </a:spcAft>
              <a:defRPr sz="2800" b="1">
                <a:solidFill>
                  <a:schemeClr val="tx1"/>
                </a:solidFill>
                <a:latin typeface="Tahoma" panose="020B0604030504040204" pitchFamily="34" charset="0"/>
              </a:defRPr>
            </a:lvl7pPr>
            <a:lvl8pPr marL="3429000" indent="-228600" algn="r" eaLnBrk="0" fontAlgn="base" hangingPunct="0">
              <a:spcBef>
                <a:spcPct val="0"/>
              </a:spcBef>
              <a:spcAft>
                <a:spcPct val="0"/>
              </a:spcAft>
              <a:defRPr sz="2800" b="1">
                <a:solidFill>
                  <a:schemeClr val="tx1"/>
                </a:solidFill>
                <a:latin typeface="Tahoma" panose="020B0604030504040204" pitchFamily="34" charset="0"/>
              </a:defRPr>
            </a:lvl8pPr>
            <a:lvl9pPr marL="3886200" indent="-228600" algn="r" eaLnBrk="0" fontAlgn="base" hangingPunct="0">
              <a:spcBef>
                <a:spcPct val="0"/>
              </a:spcBef>
              <a:spcAft>
                <a:spcPct val="0"/>
              </a:spcAft>
              <a:defRPr sz="2800" b="1">
                <a:solidFill>
                  <a:schemeClr val="tx1"/>
                </a:solidFill>
                <a:latin typeface="Tahoma" panose="020B0604030504040204" pitchFamily="34" charset="0"/>
              </a:defRPr>
            </a:lvl9pPr>
          </a:lstStyle>
          <a:p>
            <a:pPr>
              <a:defRPr/>
            </a:pPr>
            <a:r>
              <a:rPr lang="en-US" altLang="en-US" dirty="0"/>
              <a:t>An empty integer queue.</a:t>
            </a:r>
            <a:br>
              <a:rPr lang="en-US" altLang="en-US" dirty="0"/>
            </a:br>
            <a:endParaRPr lang="en-US" altLang="en-US" dirty="0"/>
          </a:p>
          <a:p>
            <a:pPr>
              <a:defRPr/>
            </a:pPr>
            <a:r>
              <a:rPr lang="en-US" altLang="en-US" dirty="0">
                <a:solidFill>
                  <a:schemeClr val="accent1">
                    <a:lumMod val="75000"/>
                  </a:schemeClr>
                </a:solidFill>
              </a:rPr>
              <a:t>Queue&lt;Integer&gt; </a:t>
            </a:r>
            <a:r>
              <a:rPr lang="en-US" altLang="en-US" dirty="0"/>
              <a:t>queue;</a:t>
            </a:r>
          </a:p>
          <a:p>
            <a:pPr>
              <a:defRPr/>
            </a:pPr>
            <a:r>
              <a:rPr lang="en-US" altLang="en-US" dirty="0"/>
              <a:t>queue = </a:t>
            </a:r>
            <a:r>
              <a:rPr lang="en-US" altLang="en-US" dirty="0">
                <a:solidFill>
                  <a:srgbClr val="008000"/>
                </a:solidFill>
              </a:rPr>
              <a:t>new LinkedList&lt;Integer&gt;()</a:t>
            </a:r>
            <a:r>
              <a:rPr lang="en-US" altLang="en-US" dirty="0"/>
              <a:t>;</a:t>
            </a:r>
          </a:p>
          <a:p>
            <a:pPr>
              <a:defRPr/>
            </a:pPr>
            <a:endParaRPr lang="en-US" altLang="en-US" dirty="0"/>
          </a:p>
          <a:p>
            <a:pPr>
              <a:defRPr/>
            </a:pPr>
            <a:endParaRPr lang="en-US" altLang="en-US" dirty="0"/>
          </a:p>
        </p:txBody>
      </p:sp>
      <p:sp>
        <p:nvSpPr>
          <p:cNvPr id="7172" name="WordArt 4">
            <a:extLst>
              <a:ext uri="{FF2B5EF4-FFF2-40B4-BE49-F238E27FC236}">
                <a16:creationId xmlns:a16="http://schemas.microsoft.com/office/drawing/2014/main" id="{47A47A67-282C-494C-B95E-962E275C268B}"/>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
        <p:nvSpPr>
          <p:cNvPr id="7173" name="Text Box 6">
            <a:extLst>
              <a:ext uri="{FF2B5EF4-FFF2-40B4-BE49-F238E27FC236}">
                <a16:creationId xmlns:a16="http://schemas.microsoft.com/office/drawing/2014/main" id="{E321E06C-983F-4ABE-A97D-CD91F4A4222B}"/>
              </a:ext>
            </a:extLst>
          </p:cNvPr>
          <p:cNvSpPr txBox="1">
            <a:spLocks noChangeArrowheads="1"/>
          </p:cNvSpPr>
          <p:nvPr/>
        </p:nvSpPr>
        <p:spPr bwMode="auto">
          <a:xfrm>
            <a:off x="1143000" y="4343400"/>
            <a:ext cx="6400800" cy="58420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i="1" dirty="0">
                <a:solidFill>
                  <a:schemeClr val="accent2"/>
                </a:solidFill>
                <a:latin typeface="Tahoma" panose="020B0604030504040204" pitchFamily="34" charset="0"/>
              </a:rPr>
              <a:t>queue</a:t>
            </a:r>
            <a:r>
              <a:rPr lang="en-US" altLang="en-US" dirty="0">
                <a:solidFill>
                  <a:schemeClr val="accent2"/>
                </a:solidFill>
                <a:latin typeface="Tahoma" panose="020B0604030504040204" pitchFamily="34" charset="0"/>
              </a:rPr>
              <a:t> </a:t>
            </a:r>
            <a:r>
              <a:rPr lang="en-US" altLang="en-US" sz="2400" dirty="0">
                <a:solidFill>
                  <a:schemeClr val="accent2"/>
                </a:solidFill>
                <a:latin typeface="Tahoma" panose="020B0604030504040204" pitchFamily="34" charset="0"/>
              </a:rPr>
              <a:t>will only store integer values.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descr="The Queue interface extends the Collection interface.&#10;The LinkedList class implements both the List and Queue interfaces, so it can be used as a normal linked list or specifically as a queue.&#10;The PriorityQueue class only implements the Queue interface, not the List interface.">
            <a:extLst>
              <a:ext uri="{FF2B5EF4-FFF2-40B4-BE49-F238E27FC236}">
                <a16:creationId xmlns:a16="http://schemas.microsoft.com/office/drawing/2014/main" id="{0DF8F3B1-CCA4-4E45-B97F-B151152940EB}"/>
              </a:ext>
            </a:extLst>
          </p:cNvPr>
          <p:cNvGrpSpPr/>
          <p:nvPr/>
        </p:nvGrpSpPr>
        <p:grpSpPr>
          <a:xfrm>
            <a:off x="609600" y="42205"/>
            <a:ext cx="7848600" cy="6739595"/>
            <a:chOff x="609600" y="42205"/>
            <a:chExt cx="7848600" cy="6739595"/>
          </a:xfrm>
        </p:grpSpPr>
        <p:pic>
          <p:nvPicPr>
            <p:cNvPr id="5" name="Picture 4" descr="Diagram, schematic&#10;&#10;Description automatically generated">
              <a:extLst>
                <a:ext uri="{FF2B5EF4-FFF2-40B4-BE49-F238E27FC236}">
                  <a16:creationId xmlns:a16="http://schemas.microsoft.com/office/drawing/2014/main" id="{1BA1C837-B04A-4B23-9BEE-F9F879320B54}"/>
                </a:ext>
              </a:extLst>
            </p:cNvPr>
            <p:cNvPicPr>
              <a:picLocks noChangeAspect="1"/>
            </p:cNvPicPr>
            <p:nvPr/>
          </p:nvPicPr>
          <p:blipFill rotWithShape="1">
            <a:blip r:embed="rId3">
              <a:extLst>
                <a:ext uri="{28A0092B-C50C-407E-A947-70E740481C1C}">
                  <a14:useLocalDpi xmlns:a14="http://schemas.microsoft.com/office/drawing/2010/main" val="0"/>
                </a:ext>
              </a:extLst>
            </a:blip>
            <a:srcRect b="28889"/>
            <a:stretch/>
          </p:blipFill>
          <p:spPr>
            <a:xfrm>
              <a:off x="609600" y="42205"/>
              <a:ext cx="7848600" cy="6739595"/>
            </a:xfrm>
            <a:prstGeom prst="rect">
              <a:avLst/>
            </a:prstGeom>
          </p:spPr>
        </p:pic>
        <p:sp>
          <p:nvSpPr>
            <p:cNvPr id="6" name="Freeform: Shape 5">
              <a:extLst>
                <a:ext uri="{FF2B5EF4-FFF2-40B4-BE49-F238E27FC236}">
                  <a16:creationId xmlns:a16="http://schemas.microsoft.com/office/drawing/2014/main" id="{9B2634DC-F4AA-4045-8AE1-B79B067D0FEB}"/>
                </a:ext>
              </a:extLst>
            </p:cNvPr>
            <p:cNvSpPr/>
            <p:nvPr/>
          </p:nvSpPr>
          <p:spPr bwMode="auto">
            <a:xfrm>
              <a:off x="4221479" y="1005840"/>
              <a:ext cx="400461" cy="359664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61" h="3596640">
                  <a:moveTo>
                    <a:pt x="0" y="3596640"/>
                  </a:moveTo>
                  <a:cubicBezTo>
                    <a:pt x="81280" y="3591560"/>
                    <a:pt x="162560" y="3586480"/>
                    <a:pt x="228600" y="3520440"/>
                  </a:cubicBezTo>
                  <a:cubicBezTo>
                    <a:pt x="294640" y="3454400"/>
                    <a:pt x="375990" y="3608920"/>
                    <a:pt x="396240" y="3200400"/>
                  </a:cubicBezTo>
                  <a:cubicBezTo>
                    <a:pt x="416490" y="2791880"/>
                    <a:pt x="357721" y="1602717"/>
                    <a:pt x="350101" y="1069317"/>
                  </a:cubicBezTo>
                  <a:cubicBezTo>
                    <a:pt x="342481" y="535917"/>
                    <a:pt x="369570" y="358140"/>
                    <a:pt x="350520"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sp>
          <p:nvSpPr>
            <p:cNvPr id="7" name="TextBox 6">
              <a:extLst>
                <a:ext uri="{FF2B5EF4-FFF2-40B4-BE49-F238E27FC236}">
                  <a16:creationId xmlns:a16="http://schemas.microsoft.com/office/drawing/2014/main" id="{0FAFD044-0A98-466F-A699-E8B6BE32CE3A}"/>
                </a:ext>
              </a:extLst>
            </p:cNvPr>
            <p:cNvSpPr txBox="1"/>
            <p:nvPr/>
          </p:nvSpPr>
          <p:spPr>
            <a:xfrm>
              <a:off x="914400" y="4582496"/>
              <a:ext cx="1143000" cy="369332"/>
            </a:xfrm>
            <a:prstGeom prst="rect">
              <a:avLst/>
            </a:prstGeom>
            <a:noFill/>
            <a:ln w="19050">
              <a:solidFill>
                <a:schemeClr val="tx1"/>
              </a:solidFill>
            </a:ln>
          </p:spPr>
          <p:txBody>
            <a:bodyPr wrap="square" rtlCol="0">
              <a:spAutoFit/>
            </a:bodyPr>
            <a:lstStyle/>
            <a:p>
              <a:pPr algn="ctr"/>
              <a:r>
                <a:rPr lang="en-US" sz="1800" b="0" dirty="0">
                  <a:latin typeface="Trebuchet MS" panose="020B0603020202020204" pitchFamily="34" charset="0"/>
                </a:rPr>
                <a:t>Vector</a:t>
              </a:r>
              <a:endParaRPr lang="en-US" sz="3200" b="0" dirty="0">
                <a:latin typeface="Trebuchet MS" panose="020B0603020202020204" pitchFamily="34" charset="0"/>
              </a:endParaRPr>
            </a:p>
          </p:txBody>
        </p:sp>
        <p:pic>
          <p:nvPicPr>
            <p:cNvPr id="8" name="Picture 7">
              <a:extLst>
                <a:ext uri="{FF2B5EF4-FFF2-40B4-BE49-F238E27FC236}">
                  <a16:creationId xmlns:a16="http://schemas.microsoft.com/office/drawing/2014/main" id="{B70494F4-14C4-493A-8B56-2D6819BB3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231" y="4999828"/>
              <a:ext cx="190304" cy="515934"/>
            </a:xfrm>
            <a:prstGeom prst="rect">
              <a:avLst/>
            </a:prstGeom>
          </p:spPr>
        </p:pic>
        <p:pic>
          <p:nvPicPr>
            <p:cNvPr id="9" name="Picture 8">
              <a:extLst>
                <a:ext uri="{FF2B5EF4-FFF2-40B4-BE49-F238E27FC236}">
                  <a16:creationId xmlns:a16="http://schemas.microsoft.com/office/drawing/2014/main" id="{F937E365-45FA-4C9E-A5F2-29CE22FD5D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84944" y="1029039"/>
              <a:ext cx="190304" cy="515934"/>
            </a:xfrm>
            <a:prstGeom prst="rect">
              <a:avLst/>
            </a:prstGeom>
          </p:spPr>
        </p:pic>
        <p:sp>
          <p:nvSpPr>
            <p:cNvPr id="10" name="Freeform: Shape 9">
              <a:extLst>
                <a:ext uri="{FF2B5EF4-FFF2-40B4-BE49-F238E27FC236}">
                  <a16:creationId xmlns:a16="http://schemas.microsoft.com/office/drawing/2014/main" id="{846AA933-C469-42F7-A162-1025B85AD767}"/>
                </a:ext>
              </a:extLst>
            </p:cNvPr>
            <p:cNvSpPr/>
            <p:nvPr/>
          </p:nvSpPr>
          <p:spPr bwMode="auto">
            <a:xfrm>
              <a:off x="2066907" y="2517256"/>
              <a:ext cx="432503" cy="227118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 name="connsiteX0" fmla="*/ 0 w 414354"/>
                <a:gd name="connsiteY0" fmla="*/ 3596640 h 3596640"/>
                <a:gd name="connsiteX1" fmla="*/ 228600 w 414354"/>
                <a:gd name="connsiteY1" fmla="*/ 3520440 h 3596640"/>
                <a:gd name="connsiteX2" fmla="*/ 396240 w 414354"/>
                <a:gd name="connsiteY2" fmla="*/ 3200400 h 3596640"/>
                <a:gd name="connsiteX3" fmla="*/ 404630 w 414354"/>
                <a:gd name="connsiteY3" fmla="*/ 1895632 h 3596640"/>
                <a:gd name="connsiteX4" fmla="*/ 350520 w 414354"/>
                <a:gd name="connsiteY4" fmla="*/ 0 h 3596640"/>
                <a:gd name="connsiteX0" fmla="*/ 0 w 414354"/>
                <a:gd name="connsiteY0" fmla="*/ 2271180 h 2271180"/>
                <a:gd name="connsiteX1" fmla="*/ 228600 w 414354"/>
                <a:gd name="connsiteY1" fmla="*/ 2194980 h 2271180"/>
                <a:gd name="connsiteX2" fmla="*/ 396240 w 414354"/>
                <a:gd name="connsiteY2" fmla="*/ 1874940 h 2271180"/>
                <a:gd name="connsiteX3" fmla="*/ 404630 w 414354"/>
                <a:gd name="connsiteY3" fmla="*/ 570172 h 2271180"/>
                <a:gd name="connsiteX4" fmla="*/ 400854 w 414354"/>
                <a:gd name="connsiteY4" fmla="*/ 0 h 2271180"/>
                <a:gd name="connsiteX0" fmla="*/ 0 w 426664"/>
                <a:gd name="connsiteY0" fmla="*/ 2271180 h 2271180"/>
                <a:gd name="connsiteX1" fmla="*/ 228600 w 426664"/>
                <a:gd name="connsiteY1" fmla="*/ 2194980 h 2271180"/>
                <a:gd name="connsiteX2" fmla="*/ 396240 w 426664"/>
                <a:gd name="connsiteY2" fmla="*/ 1874940 h 2271180"/>
                <a:gd name="connsiteX3" fmla="*/ 404630 w 426664"/>
                <a:gd name="connsiteY3" fmla="*/ 570172 h 2271180"/>
                <a:gd name="connsiteX4" fmla="*/ 421826 w 426664"/>
                <a:gd name="connsiteY4" fmla="*/ 0 h 2271180"/>
                <a:gd name="connsiteX0" fmla="*/ 0 w 432503"/>
                <a:gd name="connsiteY0" fmla="*/ 2271180 h 2271180"/>
                <a:gd name="connsiteX1" fmla="*/ 228600 w 432503"/>
                <a:gd name="connsiteY1" fmla="*/ 2194980 h 2271180"/>
                <a:gd name="connsiteX2" fmla="*/ 396240 w 432503"/>
                <a:gd name="connsiteY2" fmla="*/ 1874940 h 2271180"/>
                <a:gd name="connsiteX3" fmla="*/ 429797 w 432503"/>
                <a:gd name="connsiteY3" fmla="*/ 691813 h 2271180"/>
                <a:gd name="connsiteX4" fmla="*/ 421826 w 432503"/>
                <a:gd name="connsiteY4" fmla="*/ 0 h 2271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503" h="2271180">
                  <a:moveTo>
                    <a:pt x="0" y="2271180"/>
                  </a:moveTo>
                  <a:cubicBezTo>
                    <a:pt x="81280" y="2266100"/>
                    <a:pt x="162560" y="2261020"/>
                    <a:pt x="228600" y="2194980"/>
                  </a:cubicBezTo>
                  <a:cubicBezTo>
                    <a:pt x="294640" y="2128940"/>
                    <a:pt x="362707" y="2125468"/>
                    <a:pt x="396240" y="1874940"/>
                  </a:cubicBezTo>
                  <a:cubicBezTo>
                    <a:pt x="429773" y="1624412"/>
                    <a:pt x="437417" y="1225213"/>
                    <a:pt x="429797" y="691813"/>
                  </a:cubicBezTo>
                  <a:cubicBezTo>
                    <a:pt x="422177" y="158413"/>
                    <a:pt x="440876" y="358140"/>
                    <a:pt x="421826"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pic>
          <p:nvPicPr>
            <p:cNvPr id="11" name="Picture 10">
              <a:extLst>
                <a:ext uri="{FF2B5EF4-FFF2-40B4-BE49-F238E27FC236}">
                  <a16:creationId xmlns:a16="http://schemas.microsoft.com/office/drawing/2014/main" id="{9905A9FB-B2DE-47A9-8A38-905FB9525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05871" y="2506901"/>
              <a:ext cx="190304" cy="515934"/>
            </a:xfrm>
            <a:prstGeom prst="rect">
              <a:avLst/>
            </a:prstGeom>
          </p:spPr>
        </p:pic>
      </p:grpSp>
    </p:spTree>
    <p:extLst>
      <p:ext uri="{BB962C8B-B14F-4D97-AF65-F5344CB8AC3E}">
        <p14:creationId xmlns:p14="http://schemas.microsoft.com/office/powerpoint/2010/main" val="17368969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a:extLst>
              <a:ext uri="{FF2B5EF4-FFF2-40B4-BE49-F238E27FC236}">
                <a16:creationId xmlns:a16="http://schemas.microsoft.com/office/drawing/2014/main" id="{B3D04F52-69AA-4DC7-A150-4D685755893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8195" name="Text Box 2">
            <a:extLst>
              <a:ext uri="{FF2B5EF4-FFF2-40B4-BE49-F238E27FC236}">
                <a16:creationId xmlns:a16="http://schemas.microsoft.com/office/drawing/2014/main" id="{5CDC8F2B-4A77-4955-9945-AC01FD910AE9}"/>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queue.add(25);</a:t>
            </a:r>
          </a:p>
        </p:txBody>
      </p:sp>
      <p:sp>
        <p:nvSpPr>
          <p:cNvPr id="8196" name="Text Box 6">
            <a:extLst>
              <a:ext uri="{FF2B5EF4-FFF2-40B4-BE49-F238E27FC236}">
                <a16:creationId xmlns:a16="http://schemas.microsoft.com/office/drawing/2014/main" id="{2AC659B3-7EE3-4816-951A-FA86AE7F5205}"/>
              </a:ext>
            </a:extLst>
          </p:cNvPr>
          <p:cNvSpPr txBox="1">
            <a:spLocks noChangeArrowheads="1"/>
          </p:cNvSpPr>
          <p:nvPr/>
        </p:nvSpPr>
        <p:spPr bwMode="auto">
          <a:xfrm>
            <a:off x="5334000" y="2133600"/>
            <a:ext cx="3505200" cy="2840038"/>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a:p>
            <a:pPr>
              <a:spcBef>
                <a:spcPct val="50000"/>
              </a:spcBef>
              <a:buFontTx/>
              <a:buNone/>
            </a:pPr>
            <a:r>
              <a:rPr lang="en-US" altLang="en-US" sz="2400">
                <a:solidFill>
                  <a:schemeClr val="accent2"/>
                </a:solidFill>
                <a:latin typeface="Tahoma" panose="020B0604030504040204" pitchFamily="34" charset="0"/>
              </a:rPr>
              <a:t>enqueue is a very common name given to the operation of adding items to a queue.</a:t>
            </a:r>
          </a:p>
        </p:txBody>
      </p:sp>
      <p:graphicFrame>
        <p:nvGraphicFramePr>
          <p:cNvPr id="78865" name="Group 17">
            <a:extLst>
              <a:ext uri="{FF2B5EF4-FFF2-40B4-BE49-F238E27FC236}">
                <a16:creationId xmlns:a16="http://schemas.microsoft.com/office/drawing/2014/main" id="{F787CE83-FFAB-4908-93CB-133F56815AE1}"/>
              </a:ext>
            </a:extLst>
          </p:cNvPr>
          <p:cNvGraphicFramePr>
            <a:graphicFrameLocks noGrp="1"/>
          </p:cNvGraphicFramePr>
          <p:nvPr/>
        </p:nvGraphicFramePr>
        <p:xfrm>
          <a:off x="1676400" y="4191000"/>
          <a:ext cx="1574800" cy="889000"/>
        </p:xfrm>
        <a:graphic>
          <a:graphicData uri="http://schemas.openxmlformats.org/drawingml/2006/table">
            <a:tbl>
              <a:tblPr/>
              <a:tblGrid>
                <a:gridCol w="1574800">
                  <a:extLst>
                    <a:ext uri="{9D8B030D-6E8A-4147-A177-3AD203B41FA5}">
                      <a16:colId xmlns:a16="http://schemas.microsoft.com/office/drawing/2014/main" val="20000"/>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8203" name="WordArt 18">
            <a:extLst>
              <a:ext uri="{FF2B5EF4-FFF2-40B4-BE49-F238E27FC236}">
                <a16:creationId xmlns:a16="http://schemas.microsoft.com/office/drawing/2014/main" id="{2E93C205-FCDB-4003-9928-AAE037A72F2E}"/>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a:extLst>
              <a:ext uri="{FF2B5EF4-FFF2-40B4-BE49-F238E27FC236}">
                <a16:creationId xmlns:a16="http://schemas.microsoft.com/office/drawing/2014/main" id="{B2F38254-4948-427F-A604-4CF077E148F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9219" name="Picture 6" descr="pe01538_[1]">
            <a:extLst>
              <a:ext uri="{FF2B5EF4-FFF2-40B4-BE49-F238E27FC236}">
                <a16:creationId xmlns:a16="http://schemas.microsoft.com/office/drawing/2014/main" id="{07AAFA49-3443-47D2-8548-2F6167F192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0" name="Text Box 8">
            <a:extLst>
              <a:ext uri="{FF2B5EF4-FFF2-40B4-BE49-F238E27FC236}">
                <a16:creationId xmlns:a16="http://schemas.microsoft.com/office/drawing/2014/main" id="{526FBFB6-FFA1-462A-9A05-2DCBE112CB6E}"/>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queue.add(14);</a:t>
            </a:r>
          </a:p>
        </p:txBody>
      </p:sp>
      <p:sp>
        <p:nvSpPr>
          <p:cNvPr id="9221" name="Text Box 9">
            <a:extLst>
              <a:ext uri="{FF2B5EF4-FFF2-40B4-BE49-F238E27FC236}">
                <a16:creationId xmlns:a16="http://schemas.microsoft.com/office/drawing/2014/main" id="{3E139021-0C99-4C8D-ADDD-79B4EFF18A6D}"/>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graphicFrame>
        <p:nvGraphicFramePr>
          <p:cNvPr id="79892" name="Group 20">
            <a:extLst>
              <a:ext uri="{FF2B5EF4-FFF2-40B4-BE49-F238E27FC236}">
                <a16:creationId xmlns:a16="http://schemas.microsoft.com/office/drawing/2014/main" id="{CA4DD7B0-D370-48BD-822B-421A3170934E}"/>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9230" name="WordArt 21">
            <a:extLst>
              <a:ext uri="{FF2B5EF4-FFF2-40B4-BE49-F238E27FC236}">
                <a16:creationId xmlns:a16="http://schemas.microsoft.com/office/drawing/2014/main" id="{D0927876-317A-4F42-BFFF-75EA8A2AD826}"/>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Footer Placeholder 3">
            <a:extLst>
              <a:ext uri="{FF2B5EF4-FFF2-40B4-BE49-F238E27FC236}">
                <a16:creationId xmlns:a16="http://schemas.microsoft.com/office/drawing/2014/main" id="{C0460ED1-216B-45CE-9A07-01B1D305C6C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0243" name="Picture 7" descr="pe01538_[1]">
            <a:extLst>
              <a:ext uri="{FF2B5EF4-FFF2-40B4-BE49-F238E27FC236}">
                <a16:creationId xmlns:a16="http://schemas.microsoft.com/office/drawing/2014/main" id="{670A8ADA-8467-4723-805C-06323F93E9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4" name="Text Box 9">
            <a:extLst>
              <a:ext uri="{FF2B5EF4-FFF2-40B4-BE49-F238E27FC236}">
                <a16:creationId xmlns:a16="http://schemas.microsoft.com/office/drawing/2014/main" id="{86981713-7347-4FF2-809D-E63B71E4E403}"/>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queue.add(67);</a:t>
            </a:r>
          </a:p>
        </p:txBody>
      </p:sp>
      <p:sp>
        <p:nvSpPr>
          <p:cNvPr id="10245" name="Text Box 10">
            <a:extLst>
              <a:ext uri="{FF2B5EF4-FFF2-40B4-BE49-F238E27FC236}">
                <a16:creationId xmlns:a16="http://schemas.microsoft.com/office/drawing/2014/main" id="{36294907-8455-43AD-84CC-719D5875528F}"/>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graphicFrame>
        <p:nvGraphicFramePr>
          <p:cNvPr id="80918" name="Group 22">
            <a:extLst>
              <a:ext uri="{FF2B5EF4-FFF2-40B4-BE49-F238E27FC236}">
                <a16:creationId xmlns:a16="http://schemas.microsoft.com/office/drawing/2014/main" id="{A3574494-52BD-4FDA-BCEB-DEDEBA58667D}"/>
              </a:ext>
            </a:extLst>
          </p:cNvPr>
          <p:cNvGraphicFramePr>
            <a:graphicFrameLocks noGrp="1"/>
          </p:cNvGraphicFramePr>
          <p:nvPr/>
        </p:nvGraphicFramePr>
        <p:xfrm>
          <a:off x="1676400" y="4191000"/>
          <a:ext cx="47244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gridCol w="1574800">
                  <a:extLst>
                    <a:ext uri="{9D8B030D-6E8A-4147-A177-3AD203B41FA5}">
                      <a16:colId xmlns:a16="http://schemas.microsoft.com/office/drawing/2014/main" val="20002"/>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0256" name="WordArt 23">
            <a:extLst>
              <a:ext uri="{FF2B5EF4-FFF2-40B4-BE49-F238E27FC236}">
                <a16:creationId xmlns:a16="http://schemas.microsoft.com/office/drawing/2014/main" id="{F46B4ED7-BF46-4CF2-8080-E4235982107D}"/>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3">
            <a:extLst>
              <a:ext uri="{FF2B5EF4-FFF2-40B4-BE49-F238E27FC236}">
                <a16:creationId xmlns:a16="http://schemas.microsoft.com/office/drawing/2014/main" id="{2558F183-1329-4688-AA36-C610BED8BE6A}"/>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1267" name="Text Box 8">
            <a:extLst>
              <a:ext uri="{FF2B5EF4-FFF2-40B4-BE49-F238E27FC236}">
                <a16:creationId xmlns:a16="http://schemas.microsoft.com/office/drawing/2014/main" id="{987EC882-BC8D-4B6B-A987-C70632D037BC}"/>
              </a:ext>
            </a:extLst>
          </p:cNvPr>
          <p:cNvSpPr txBox="1">
            <a:spLocks noChangeArrowheads="1"/>
          </p:cNvSpPr>
          <p:nvPr/>
        </p:nvSpPr>
        <p:spPr bwMode="auto">
          <a:xfrm>
            <a:off x="1828800" y="2743200"/>
            <a:ext cx="318928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queue.remove();</a:t>
            </a:r>
          </a:p>
        </p:txBody>
      </p:sp>
      <p:sp>
        <p:nvSpPr>
          <p:cNvPr id="11268" name="Text Box 9">
            <a:extLst>
              <a:ext uri="{FF2B5EF4-FFF2-40B4-BE49-F238E27FC236}">
                <a16:creationId xmlns:a16="http://schemas.microsoft.com/office/drawing/2014/main" id="{728B31A0-A192-4A68-8DFD-55B3C956FAC6}"/>
              </a:ext>
            </a:extLst>
          </p:cNvPr>
          <p:cNvSpPr txBox="1">
            <a:spLocks noChangeArrowheads="1"/>
          </p:cNvSpPr>
          <p:nvPr/>
        </p:nvSpPr>
        <p:spPr bwMode="auto">
          <a:xfrm>
            <a:off x="5334000" y="2133600"/>
            <a:ext cx="3657600" cy="2840038"/>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remove removes an item from the queue.</a:t>
            </a:r>
          </a:p>
          <a:p>
            <a:pPr>
              <a:spcBef>
                <a:spcPct val="50000"/>
              </a:spcBef>
              <a:buFontTx/>
              <a:buNone/>
            </a:pPr>
            <a:r>
              <a:rPr lang="en-US" altLang="en-US" sz="2400">
                <a:solidFill>
                  <a:schemeClr val="accent2"/>
                </a:solidFill>
                <a:latin typeface="Tahoma" panose="020B0604030504040204" pitchFamily="34" charset="0"/>
              </a:rPr>
              <a:t>dequeue is a very common name given to the operation of removing items from a queue.</a:t>
            </a:r>
          </a:p>
        </p:txBody>
      </p:sp>
      <p:graphicFrame>
        <p:nvGraphicFramePr>
          <p:cNvPr id="81940" name="Group 20">
            <a:extLst>
              <a:ext uri="{FF2B5EF4-FFF2-40B4-BE49-F238E27FC236}">
                <a16:creationId xmlns:a16="http://schemas.microsoft.com/office/drawing/2014/main" id="{FCD2D4CE-2DD0-4FF2-8A11-1B81F62BB937}"/>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1277" name="WordArt 21">
            <a:extLst>
              <a:ext uri="{FF2B5EF4-FFF2-40B4-BE49-F238E27FC236}">
                <a16:creationId xmlns:a16="http://schemas.microsoft.com/office/drawing/2014/main" id="{F9EE03F4-4FA6-4FB1-8DCC-413BE82DEAED}"/>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a:extLst>
              <a:ext uri="{FF2B5EF4-FFF2-40B4-BE49-F238E27FC236}">
                <a16:creationId xmlns:a16="http://schemas.microsoft.com/office/drawing/2014/main" id="{3318747F-8356-4AA5-A336-AB80C90A5C50}"/>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2291" name="Picture 5" descr="pe01538_[1]">
            <a:extLst>
              <a:ext uri="{FF2B5EF4-FFF2-40B4-BE49-F238E27FC236}">
                <a16:creationId xmlns:a16="http://schemas.microsoft.com/office/drawing/2014/main" id="{E8CF9E52-1B0E-48B1-889E-556D06DBF5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2" name="Text Box 6">
            <a:extLst>
              <a:ext uri="{FF2B5EF4-FFF2-40B4-BE49-F238E27FC236}">
                <a16:creationId xmlns:a16="http://schemas.microsoft.com/office/drawing/2014/main" id="{7990C6E7-058D-44DB-902F-E5D0C8B38C98}"/>
              </a:ext>
            </a:extLst>
          </p:cNvPr>
          <p:cNvSpPr txBox="1">
            <a:spLocks noChangeArrowheads="1"/>
          </p:cNvSpPr>
          <p:nvPr/>
        </p:nvSpPr>
        <p:spPr bwMode="auto">
          <a:xfrm>
            <a:off x="1828800" y="2743200"/>
            <a:ext cx="318928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queue.remove();</a:t>
            </a:r>
          </a:p>
        </p:txBody>
      </p:sp>
      <p:sp>
        <p:nvSpPr>
          <p:cNvPr id="12293" name="Text Box 7">
            <a:extLst>
              <a:ext uri="{FF2B5EF4-FFF2-40B4-BE49-F238E27FC236}">
                <a16:creationId xmlns:a16="http://schemas.microsoft.com/office/drawing/2014/main" id="{F6D6A8F8-E87D-49D5-ADC9-66C7A3892519}"/>
              </a:ext>
            </a:extLst>
          </p:cNvPr>
          <p:cNvSpPr txBox="1">
            <a:spLocks noChangeArrowheads="1"/>
          </p:cNvSpPr>
          <p:nvPr/>
        </p:nvSpPr>
        <p:spPr bwMode="auto">
          <a:xfrm>
            <a:off x="5334000" y="2133600"/>
            <a:ext cx="36576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remove removes an item from the queue.</a:t>
            </a:r>
          </a:p>
        </p:txBody>
      </p:sp>
      <p:graphicFrame>
        <p:nvGraphicFramePr>
          <p:cNvPr id="82962" name="Group 18">
            <a:extLst>
              <a:ext uri="{FF2B5EF4-FFF2-40B4-BE49-F238E27FC236}">
                <a16:creationId xmlns:a16="http://schemas.microsoft.com/office/drawing/2014/main" id="{F501847E-333C-474B-8163-BDA1D2D57929}"/>
              </a:ext>
            </a:extLst>
          </p:cNvPr>
          <p:cNvGraphicFramePr>
            <a:graphicFrameLocks noGrp="1"/>
          </p:cNvGraphicFramePr>
          <p:nvPr/>
        </p:nvGraphicFramePr>
        <p:xfrm>
          <a:off x="1676400" y="4191000"/>
          <a:ext cx="1574800" cy="889000"/>
        </p:xfrm>
        <a:graphic>
          <a:graphicData uri="http://schemas.openxmlformats.org/drawingml/2006/table">
            <a:tbl>
              <a:tblPr/>
              <a:tblGrid>
                <a:gridCol w="1574800">
                  <a:extLst>
                    <a:ext uri="{9D8B030D-6E8A-4147-A177-3AD203B41FA5}">
                      <a16:colId xmlns:a16="http://schemas.microsoft.com/office/drawing/2014/main" val="20000"/>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2300" name="WordArt 19">
            <a:extLst>
              <a:ext uri="{FF2B5EF4-FFF2-40B4-BE49-F238E27FC236}">
                <a16:creationId xmlns:a16="http://schemas.microsoft.com/office/drawing/2014/main" id="{B61FA1CB-1FDB-4F99-8D5E-D5B7BBFFE30B}"/>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a:extLst>
              <a:ext uri="{FF2B5EF4-FFF2-40B4-BE49-F238E27FC236}">
                <a16:creationId xmlns:a16="http://schemas.microsoft.com/office/drawing/2014/main" id="{19261C8E-B505-41F7-A141-BB6F117BE4E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3315" name="Picture 6" descr="pe01538_[1]">
            <a:extLst>
              <a:ext uri="{FF2B5EF4-FFF2-40B4-BE49-F238E27FC236}">
                <a16:creationId xmlns:a16="http://schemas.microsoft.com/office/drawing/2014/main" id="{5BBA0605-FF86-4B67-8D9A-E6BAF53F1DC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16" name="Text Box 7">
            <a:extLst>
              <a:ext uri="{FF2B5EF4-FFF2-40B4-BE49-F238E27FC236}">
                <a16:creationId xmlns:a16="http://schemas.microsoft.com/office/drawing/2014/main" id="{CBA3C5F5-A829-4237-9266-880E19B5D68E}"/>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queue.add(99);</a:t>
            </a:r>
          </a:p>
        </p:txBody>
      </p:sp>
      <p:sp>
        <p:nvSpPr>
          <p:cNvPr id="13317" name="Text Box 8">
            <a:extLst>
              <a:ext uri="{FF2B5EF4-FFF2-40B4-BE49-F238E27FC236}">
                <a16:creationId xmlns:a16="http://schemas.microsoft.com/office/drawing/2014/main" id="{414F0D1C-857C-4EDB-B4CD-A6483DB4EC0A}"/>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sp>
        <p:nvSpPr>
          <p:cNvPr id="13318" name="WordArt 9">
            <a:extLst>
              <a:ext uri="{FF2B5EF4-FFF2-40B4-BE49-F238E27FC236}">
                <a16:creationId xmlns:a16="http://schemas.microsoft.com/office/drawing/2014/main" id="{830E1D71-F511-4507-A80D-70D38360773C}"/>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graphicFrame>
        <p:nvGraphicFramePr>
          <p:cNvPr id="83986" name="Group 18">
            <a:extLst>
              <a:ext uri="{FF2B5EF4-FFF2-40B4-BE49-F238E27FC236}">
                <a16:creationId xmlns:a16="http://schemas.microsoft.com/office/drawing/2014/main" id="{B3734076-E3EF-4AA2-A88A-86A62CEC5032}"/>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99</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a:extLst>
              <a:ext uri="{FF2B5EF4-FFF2-40B4-BE49-F238E27FC236}">
                <a16:creationId xmlns:a16="http://schemas.microsoft.com/office/drawing/2014/main" id="{4BA7263C-66B2-444D-9074-F72BE8BF927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4339" name="Text Box 2">
            <a:extLst>
              <a:ext uri="{FF2B5EF4-FFF2-40B4-BE49-F238E27FC236}">
                <a16:creationId xmlns:a16="http://schemas.microsoft.com/office/drawing/2014/main" id="{B1659E68-E53B-4BF2-85BD-26CC30568E62}"/>
              </a:ext>
            </a:extLst>
          </p:cNvPr>
          <p:cNvSpPr txBox="1">
            <a:spLocks noChangeArrowheads="1"/>
          </p:cNvSpPr>
          <p:nvPr/>
        </p:nvSpPr>
        <p:spPr bwMode="auto">
          <a:xfrm>
            <a:off x="1066800" y="1524000"/>
            <a:ext cx="6800850" cy="3743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The Queue interface was designed to allow</a:t>
            </a:r>
          </a:p>
          <a:p>
            <a:pPr>
              <a:spcBef>
                <a:spcPct val="0"/>
              </a:spcBef>
              <a:buFontTx/>
              <a:buNone/>
            </a:pPr>
            <a:r>
              <a:rPr lang="en-US" altLang="en-US" sz="2400">
                <a:latin typeface="Tahoma" panose="020B0604030504040204" pitchFamily="34" charset="0"/>
              </a:rPr>
              <a:t>the use of a queue in java.</a:t>
            </a:r>
          </a:p>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The LinkedList class implements the Queue</a:t>
            </a:r>
          </a:p>
          <a:p>
            <a:pPr>
              <a:spcBef>
                <a:spcPct val="0"/>
              </a:spcBef>
              <a:buFontTx/>
              <a:buNone/>
            </a:pPr>
            <a:r>
              <a:rPr lang="en-US" altLang="en-US" sz="2400">
                <a:latin typeface="Tahoma" panose="020B0604030504040204" pitchFamily="34" charset="0"/>
              </a:rPr>
              <a:t>interface.</a:t>
            </a:r>
          </a:p>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If you need a queue, just make a Queue</a:t>
            </a:r>
          </a:p>
          <a:p>
            <a:pPr>
              <a:spcBef>
                <a:spcPct val="0"/>
              </a:spcBef>
              <a:buFontTx/>
              <a:buNone/>
            </a:pPr>
            <a:r>
              <a:rPr lang="en-US" altLang="en-US" sz="2400">
                <a:latin typeface="Tahoma" panose="020B0604030504040204" pitchFamily="34" charset="0"/>
              </a:rPr>
              <a:t>reference to a LinkedList.</a:t>
            </a:r>
          </a:p>
          <a:p>
            <a:pPr>
              <a:spcBef>
                <a:spcPct val="0"/>
              </a:spcBef>
              <a:buFontTx/>
              <a:buNone/>
            </a:pPr>
            <a:r>
              <a:rPr lang="en-US" altLang="en-US" sz="2400">
                <a:latin typeface="Tahoma" panose="020B0604030504040204" pitchFamily="34" charset="0"/>
              </a:rPr>
              <a:t> </a:t>
            </a:r>
          </a:p>
        </p:txBody>
      </p:sp>
      <p:sp>
        <p:nvSpPr>
          <p:cNvPr id="14340" name="WordArt 3">
            <a:extLst>
              <a:ext uri="{FF2B5EF4-FFF2-40B4-BE49-F238E27FC236}">
                <a16:creationId xmlns:a16="http://schemas.microsoft.com/office/drawing/2014/main" id="{3CAF06BF-028C-488B-A374-0663CB411E37}"/>
              </a:ext>
            </a:extLst>
          </p:cNvPr>
          <p:cNvSpPr>
            <a:spLocks noChangeArrowheads="1" noChangeShapeType="1" noTextEdit="1"/>
          </p:cNvSpPr>
          <p:nvPr/>
        </p:nvSpPr>
        <p:spPr bwMode="auto">
          <a:xfrm>
            <a:off x="1066800" y="609600"/>
            <a:ext cx="64008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9999"/>
                    </a:srgbClr>
                  </a:outerShdw>
                </a:effectLst>
                <a:latin typeface="Impact" panose="020B0806030902050204" pitchFamily="34" charset="0"/>
              </a:rPr>
              <a:t>Java Queue Interface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descr="The Queue interface extends the Collection interface.&#10;The LinkedList class implements both the List and Queue interfaces, so it can be used as a normal linked list or specifically as a queue.&#10;The PriorityQueue class only implements the Queue interface, not the List interface.">
            <a:extLst>
              <a:ext uri="{FF2B5EF4-FFF2-40B4-BE49-F238E27FC236}">
                <a16:creationId xmlns:a16="http://schemas.microsoft.com/office/drawing/2014/main" id="{0DF8F3B1-CCA4-4E45-B97F-B151152940EB}"/>
              </a:ext>
            </a:extLst>
          </p:cNvPr>
          <p:cNvGrpSpPr/>
          <p:nvPr/>
        </p:nvGrpSpPr>
        <p:grpSpPr>
          <a:xfrm>
            <a:off x="609600" y="42205"/>
            <a:ext cx="7848600" cy="6739595"/>
            <a:chOff x="609600" y="42205"/>
            <a:chExt cx="7848600" cy="6739595"/>
          </a:xfrm>
        </p:grpSpPr>
        <p:pic>
          <p:nvPicPr>
            <p:cNvPr id="5" name="Picture 4" descr="Diagram, schematic&#10;&#10;Description automatically generated">
              <a:extLst>
                <a:ext uri="{FF2B5EF4-FFF2-40B4-BE49-F238E27FC236}">
                  <a16:creationId xmlns:a16="http://schemas.microsoft.com/office/drawing/2014/main" id="{1BA1C837-B04A-4B23-9BEE-F9F879320B54}"/>
                </a:ext>
              </a:extLst>
            </p:cNvPr>
            <p:cNvPicPr>
              <a:picLocks noChangeAspect="1"/>
            </p:cNvPicPr>
            <p:nvPr/>
          </p:nvPicPr>
          <p:blipFill rotWithShape="1">
            <a:blip r:embed="rId3">
              <a:extLst>
                <a:ext uri="{28A0092B-C50C-407E-A947-70E740481C1C}">
                  <a14:useLocalDpi xmlns:a14="http://schemas.microsoft.com/office/drawing/2010/main" val="0"/>
                </a:ext>
              </a:extLst>
            </a:blip>
            <a:srcRect b="28889"/>
            <a:stretch/>
          </p:blipFill>
          <p:spPr>
            <a:xfrm>
              <a:off x="609600" y="42205"/>
              <a:ext cx="7848600" cy="6739595"/>
            </a:xfrm>
            <a:prstGeom prst="rect">
              <a:avLst/>
            </a:prstGeom>
          </p:spPr>
        </p:pic>
        <p:sp>
          <p:nvSpPr>
            <p:cNvPr id="6" name="Freeform: Shape 5">
              <a:extLst>
                <a:ext uri="{FF2B5EF4-FFF2-40B4-BE49-F238E27FC236}">
                  <a16:creationId xmlns:a16="http://schemas.microsoft.com/office/drawing/2014/main" id="{9B2634DC-F4AA-4045-8AE1-B79B067D0FEB}"/>
                </a:ext>
              </a:extLst>
            </p:cNvPr>
            <p:cNvSpPr/>
            <p:nvPr/>
          </p:nvSpPr>
          <p:spPr bwMode="auto">
            <a:xfrm>
              <a:off x="4221479" y="1005840"/>
              <a:ext cx="400461" cy="359664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61" h="3596640">
                  <a:moveTo>
                    <a:pt x="0" y="3596640"/>
                  </a:moveTo>
                  <a:cubicBezTo>
                    <a:pt x="81280" y="3591560"/>
                    <a:pt x="162560" y="3586480"/>
                    <a:pt x="228600" y="3520440"/>
                  </a:cubicBezTo>
                  <a:cubicBezTo>
                    <a:pt x="294640" y="3454400"/>
                    <a:pt x="375990" y="3608920"/>
                    <a:pt x="396240" y="3200400"/>
                  </a:cubicBezTo>
                  <a:cubicBezTo>
                    <a:pt x="416490" y="2791880"/>
                    <a:pt x="357721" y="1602717"/>
                    <a:pt x="350101" y="1069317"/>
                  </a:cubicBezTo>
                  <a:cubicBezTo>
                    <a:pt x="342481" y="535917"/>
                    <a:pt x="369570" y="358140"/>
                    <a:pt x="350520"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sp>
          <p:nvSpPr>
            <p:cNvPr id="7" name="TextBox 6">
              <a:extLst>
                <a:ext uri="{FF2B5EF4-FFF2-40B4-BE49-F238E27FC236}">
                  <a16:creationId xmlns:a16="http://schemas.microsoft.com/office/drawing/2014/main" id="{0FAFD044-0A98-466F-A699-E8B6BE32CE3A}"/>
                </a:ext>
              </a:extLst>
            </p:cNvPr>
            <p:cNvSpPr txBox="1"/>
            <p:nvPr/>
          </p:nvSpPr>
          <p:spPr>
            <a:xfrm>
              <a:off x="914400" y="4582496"/>
              <a:ext cx="1143000" cy="369332"/>
            </a:xfrm>
            <a:prstGeom prst="rect">
              <a:avLst/>
            </a:prstGeom>
            <a:noFill/>
            <a:ln w="19050">
              <a:solidFill>
                <a:schemeClr val="tx1"/>
              </a:solidFill>
            </a:ln>
          </p:spPr>
          <p:txBody>
            <a:bodyPr wrap="square" rtlCol="0">
              <a:spAutoFit/>
            </a:bodyPr>
            <a:lstStyle/>
            <a:p>
              <a:pPr algn="ctr"/>
              <a:r>
                <a:rPr lang="en-US" sz="1800" b="0" dirty="0">
                  <a:latin typeface="Trebuchet MS" panose="020B0603020202020204" pitchFamily="34" charset="0"/>
                </a:rPr>
                <a:t>Vector</a:t>
              </a:r>
              <a:endParaRPr lang="en-US" sz="3200" b="0" dirty="0">
                <a:latin typeface="Trebuchet MS" panose="020B0603020202020204" pitchFamily="34" charset="0"/>
              </a:endParaRPr>
            </a:p>
          </p:txBody>
        </p:sp>
        <p:pic>
          <p:nvPicPr>
            <p:cNvPr id="8" name="Picture 7">
              <a:extLst>
                <a:ext uri="{FF2B5EF4-FFF2-40B4-BE49-F238E27FC236}">
                  <a16:creationId xmlns:a16="http://schemas.microsoft.com/office/drawing/2014/main" id="{B70494F4-14C4-493A-8B56-2D6819BB3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231" y="4999828"/>
              <a:ext cx="190304" cy="515934"/>
            </a:xfrm>
            <a:prstGeom prst="rect">
              <a:avLst/>
            </a:prstGeom>
          </p:spPr>
        </p:pic>
        <p:pic>
          <p:nvPicPr>
            <p:cNvPr id="9" name="Picture 8">
              <a:extLst>
                <a:ext uri="{FF2B5EF4-FFF2-40B4-BE49-F238E27FC236}">
                  <a16:creationId xmlns:a16="http://schemas.microsoft.com/office/drawing/2014/main" id="{F937E365-45FA-4C9E-A5F2-29CE22FD5D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84944" y="1029039"/>
              <a:ext cx="190304" cy="515934"/>
            </a:xfrm>
            <a:prstGeom prst="rect">
              <a:avLst/>
            </a:prstGeom>
          </p:spPr>
        </p:pic>
        <p:sp>
          <p:nvSpPr>
            <p:cNvPr id="10" name="Freeform: Shape 9">
              <a:extLst>
                <a:ext uri="{FF2B5EF4-FFF2-40B4-BE49-F238E27FC236}">
                  <a16:creationId xmlns:a16="http://schemas.microsoft.com/office/drawing/2014/main" id="{846AA933-C469-42F7-A162-1025B85AD767}"/>
                </a:ext>
              </a:extLst>
            </p:cNvPr>
            <p:cNvSpPr/>
            <p:nvPr/>
          </p:nvSpPr>
          <p:spPr bwMode="auto">
            <a:xfrm>
              <a:off x="2066907" y="2517256"/>
              <a:ext cx="432503" cy="227118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 name="connsiteX0" fmla="*/ 0 w 414354"/>
                <a:gd name="connsiteY0" fmla="*/ 3596640 h 3596640"/>
                <a:gd name="connsiteX1" fmla="*/ 228600 w 414354"/>
                <a:gd name="connsiteY1" fmla="*/ 3520440 h 3596640"/>
                <a:gd name="connsiteX2" fmla="*/ 396240 w 414354"/>
                <a:gd name="connsiteY2" fmla="*/ 3200400 h 3596640"/>
                <a:gd name="connsiteX3" fmla="*/ 404630 w 414354"/>
                <a:gd name="connsiteY3" fmla="*/ 1895632 h 3596640"/>
                <a:gd name="connsiteX4" fmla="*/ 350520 w 414354"/>
                <a:gd name="connsiteY4" fmla="*/ 0 h 3596640"/>
                <a:gd name="connsiteX0" fmla="*/ 0 w 414354"/>
                <a:gd name="connsiteY0" fmla="*/ 2271180 h 2271180"/>
                <a:gd name="connsiteX1" fmla="*/ 228600 w 414354"/>
                <a:gd name="connsiteY1" fmla="*/ 2194980 h 2271180"/>
                <a:gd name="connsiteX2" fmla="*/ 396240 w 414354"/>
                <a:gd name="connsiteY2" fmla="*/ 1874940 h 2271180"/>
                <a:gd name="connsiteX3" fmla="*/ 404630 w 414354"/>
                <a:gd name="connsiteY3" fmla="*/ 570172 h 2271180"/>
                <a:gd name="connsiteX4" fmla="*/ 400854 w 414354"/>
                <a:gd name="connsiteY4" fmla="*/ 0 h 2271180"/>
                <a:gd name="connsiteX0" fmla="*/ 0 w 426664"/>
                <a:gd name="connsiteY0" fmla="*/ 2271180 h 2271180"/>
                <a:gd name="connsiteX1" fmla="*/ 228600 w 426664"/>
                <a:gd name="connsiteY1" fmla="*/ 2194980 h 2271180"/>
                <a:gd name="connsiteX2" fmla="*/ 396240 w 426664"/>
                <a:gd name="connsiteY2" fmla="*/ 1874940 h 2271180"/>
                <a:gd name="connsiteX3" fmla="*/ 404630 w 426664"/>
                <a:gd name="connsiteY3" fmla="*/ 570172 h 2271180"/>
                <a:gd name="connsiteX4" fmla="*/ 421826 w 426664"/>
                <a:gd name="connsiteY4" fmla="*/ 0 h 2271180"/>
                <a:gd name="connsiteX0" fmla="*/ 0 w 432503"/>
                <a:gd name="connsiteY0" fmla="*/ 2271180 h 2271180"/>
                <a:gd name="connsiteX1" fmla="*/ 228600 w 432503"/>
                <a:gd name="connsiteY1" fmla="*/ 2194980 h 2271180"/>
                <a:gd name="connsiteX2" fmla="*/ 396240 w 432503"/>
                <a:gd name="connsiteY2" fmla="*/ 1874940 h 2271180"/>
                <a:gd name="connsiteX3" fmla="*/ 429797 w 432503"/>
                <a:gd name="connsiteY3" fmla="*/ 691813 h 2271180"/>
                <a:gd name="connsiteX4" fmla="*/ 421826 w 432503"/>
                <a:gd name="connsiteY4" fmla="*/ 0 h 2271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503" h="2271180">
                  <a:moveTo>
                    <a:pt x="0" y="2271180"/>
                  </a:moveTo>
                  <a:cubicBezTo>
                    <a:pt x="81280" y="2266100"/>
                    <a:pt x="162560" y="2261020"/>
                    <a:pt x="228600" y="2194980"/>
                  </a:cubicBezTo>
                  <a:cubicBezTo>
                    <a:pt x="294640" y="2128940"/>
                    <a:pt x="362707" y="2125468"/>
                    <a:pt x="396240" y="1874940"/>
                  </a:cubicBezTo>
                  <a:cubicBezTo>
                    <a:pt x="429773" y="1624412"/>
                    <a:pt x="437417" y="1225213"/>
                    <a:pt x="429797" y="691813"/>
                  </a:cubicBezTo>
                  <a:cubicBezTo>
                    <a:pt x="422177" y="158413"/>
                    <a:pt x="440876" y="358140"/>
                    <a:pt x="421826"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pic>
          <p:nvPicPr>
            <p:cNvPr id="11" name="Picture 10">
              <a:extLst>
                <a:ext uri="{FF2B5EF4-FFF2-40B4-BE49-F238E27FC236}">
                  <a16:creationId xmlns:a16="http://schemas.microsoft.com/office/drawing/2014/main" id="{9905A9FB-B2DE-47A9-8A38-905FB9525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05871" y="2506901"/>
              <a:ext cx="190304" cy="515934"/>
            </a:xfrm>
            <a:prstGeom prst="rect">
              <a:avLst/>
            </a:prstGeom>
          </p:spPr>
        </p:pic>
      </p:grpSp>
    </p:spTree>
    <p:extLst>
      <p:ext uri="{BB962C8B-B14F-4D97-AF65-F5344CB8AC3E}">
        <p14:creationId xmlns:p14="http://schemas.microsoft.com/office/powerpoint/2010/main" val="36643067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Footer Placeholder 3">
            <a:extLst>
              <a:ext uri="{FF2B5EF4-FFF2-40B4-BE49-F238E27FC236}">
                <a16:creationId xmlns:a16="http://schemas.microsoft.com/office/drawing/2014/main" id="{A3035A4D-9BFB-4DF9-BF63-75280CF04596}"/>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5363" name="WordArt 2">
            <a:extLst>
              <a:ext uri="{FF2B5EF4-FFF2-40B4-BE49-F238E27FC236}">
                <a16:creationId xmlns:a16="http://schemas.microsoft.com/office/drawing/2014/main" id="{32AEA0BC-43C9-49BF-9FDE-9978054DFEAF}"/>
              </a:ext>
            </a:extLst>
          </p:cNvPr>
          <p:cNvSpPr>
            <a:spLocks noChangeArrowheads="1" noChangeShapeType="1" noTextEdit="1"/>
          </p:cNvSpPr>
          <p:nvPr/>
        </p:nvSpPr>
        <p:spPr bwMode="auto">
          <a:xfrm>
            <a:off x="990600" y="1066800"/>
            <a:ext cx="6553200" cy="3733800"/>
          </a:xfrm>
          <a:prstGeom prst="rect">
            <a:avLst/>
          </a:prstGeom>
        </p:spPr>
        <p:txBody>
          <a:bodyPr wrap="none" fromWordArt="1">
            <a:prstTxWarp prst="textPlain">
              <a:avLst>
                <a:gd name="adj" fmla="val 50000"/>
              </a:avLst>
            </a:prstTxWarp>
          </a:bodyPr>
          <a:lstStyle/>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Queue</a:t>
            </a:r>
          </a:p>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Methods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a:extLst>
              <a:ext uri="{FF2B5EF4-FFF2-40B4-BE49-F238E27FC236}">
                <a16:creationId xmlns:a16="http://schemas.microsoft.com/office/drawing/2014/main" id="{8D15F50F-9504-43ED-A1DA-BCD00CC327D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graphicFrame>
        <p:nvGraphicFramePr>
          <p:cNvPr id="86046" name="Group 30">
            <a:extLst>
              <a:ext uri="{FF2B5EF4-FFF2-40B4-BE49-F238E27FC236}">
                <a16:creationId xmlns:a16="http://schemas.microsoft.com/office/drawing/2014/main" id="{441A80E6-3F40-4428-A10C-6E4C2BA80E02}"/>
              </a:ext>
            </a:extLst>
          </p:cNvPr>
          <p:cNvGraphicFramePr>
            <a:graphicFrameLocks noGrp="1"/>
          </p:cNvGraphicFramePr>
          <p:nvPr>
            <p:extLst>
              <p:ext uri="{D42A27DB-BD31-4B8C-83A1-F6EECF244321}">
                <p14:modId xmlns:p14="http://schemas.microsoft.com/office/powerpoint/2010/main" val="2706797243"/>
              </p:ext>
            </p:extLst>
          </p:nvPr>
        </p:nvGraphicFramePr>
        <p:xfrm>
          <a:off x="609600" y="533400"/>
          <a:ext cx="8077200" cy="4400551"/>
        </p:xfrm>
        <a:graphic>
          <a:graphicData uri="http://schemas.openxmlformats.org/drawingml/2006/table">
            <a:tbl>
              <a:tblPr/>
              <a:tblGrid>
                <a:gridCol w="2720975">
                  <a:extLst>
                    <a:ext uri="{9D8B030D-6E8A-4147-A177-3AD203B41FA5}">
                      <a16:colId xmlns:a16="http://schemas.microsoft.com/office/drawing/2014/main" val="20000"/>
                    </a:ext>
                  </a:extLst>
                </a:gridCol>
                <a:gridCol w="5356225">
                  <a:extLst>
                    <a:ext uri="{9D8B030D-6E8A-4147-A177-3AD203B41FA5}">
                      <a16:colId xmlns:a16="http://schemas.microsoft.com/office/drawing/2014/main" val="20001"/>
                    </a:ext>
                  </a:extLst>
                </a:gridCol>
              </a:tblGrid>
              <a:tr h="1476375">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3600" b="1" i="0" u="none" strike="noStrike" cap="none" normalizeH="0" baseline="0">
                          <a:ln>
                            <a:noFill/>
                          </a:ln>
                          <a:solidFill>
                            <a:srgbClr val="FF0000"/>
                          </a:solidFill>
                          <a:effectLst/>
                          <a:latin typeface="Tahoma" pitchFamily="34" charset="0"/>
                        </a:rPr>
                        <a:t>Linked List </a:t>
                      </a:r>
                      <a:r>
                        <a:rPr kumimoji="0" lang="en-US" sz="2000" b="1" i="0" u="none" strike="noStrike" cap="none" normalizeH="0" baseline="0">
                          <a:ln>
                            <a:noFill/>
                          </a:ln>
                          <a:solidFill>
                            <a:srgbClr val="FF0000"/>
                          </a:solidFill>
                          <a:effectLst/>
                          <a:latin typeface="Tahoma" pitchFamily="34" charset="0"/>
                        </a:rPr>
                        <a:t>as a Queue</a:t>
                      </a:r>
                    </a:p>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006600"/>
                          </a:solidFill>
                          <a:effectLst/>
                          <a:latin typeface="Tahoma" pitchFamily="34" charset="0"/>
                        </a:rPr>
                        <a:t>frequently used methods</a:t>
                      </a:r>
                    </a:p>
                  </a:txBody>
                  <a:tcPr horzOverflow="overflow">
                    <a:lnL w="28575"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FFFFCC"/>
                    </a:solidFill>
                  </a:tcPr>
                </a:tc>
                <a:tc hMerge="1">
                  <a:txBody>
                    <a:bodyPr/>
                    <a:lstStyle/>
                    <a:p>
                      <a:endParaRPr lang="en-US"/>
                    </a:p>
                  </a:txBody>
                  <a:tcPr/>
                </a:tc>
                <a:extLst>
                  <a:ext uri="{0D108BD9-81ED-4DB2-BD59-A6C34878D82A}">
                    <a16:rowId xmlns:a16="http://schemas.microsoft.com/office/drawing/2014/main" val="10000"/>
                  </a:ext>
                </a:extLst>
              </a:tr>
              <a:tr h="68421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Name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Use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extLst>
                  <a:ext uri="{0D108BD9-81ED-4DB2-BD59-A6C34878D82A}">
                    <a16:rowId xmlns:a16="http://schemas.microsoft.com/office/drawing/2014/main" val="10001"/>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add(x)</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adds item x to the 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removes and returns front item</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492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element()</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front item with no remove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size()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 of items in the 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4381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isEmpty()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checks to see if the queue is empty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412" name="Text Box 31">
            <a:extLst>
              <a:ext uri="{FF2B5EF4-FFF2-40B4-BE49-F238E27FC236}">
                <a16:creationId xmlns:a16="http://schemas.microsoft.com/office/drawing/2014/main" id="{8E5B30B3-39FC-432E-8E06-706225013D6E}"/>
              </a:ext>
            </a:extLst>
          </p:cNvPr>
          <p:cNvSpPr txBox="1">
            <a:spLocks noChangeArrowheads="1"/>
          </p:cNvSpPr>
          <p:nvPr/>
        </p:nvSpPr>
        <p:spPr bwMode="auto">
          <a:xfrm>
            <a:off x="2209800" y="5486400"/>
            <a:ext cx="4495800" cy="531813"/>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solidFill>
                  <a:schemeClr val="accent2"/>
                </a:solidFill>
                <a:latin typeface="Tahoma" panose="020B0604030504040204" pitchFamily="34" charset="0"/>
              </a:rPr>
              <a:t>import  java.util.Queue;</a:t>
            </a:r>
            <a:endParaRPr lang="en-US" altLang="en-US" sz="2800">
              <a:latin typeface="Tahoma" panose="020B060403050404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a:extLst>
              <a:ext uri="{FF2B5EF4-FFF2-40B4-BE49-F238E27FC236}">
                <a16:creationId xmlns:a16="http://schemas.microsoft.com/office/drawing/2014/main" id="{0225C37A-BAD5-42A6-BBA1-8032B32624C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7411" name="Text Box 2">
            <a:extLst>
              <a:ext uri="{FF2B5EF4-FFF2-40B4-BE49-F238E27FC236}">
                <a16:creationId xmlns:a16="http://schemas.microsoft.com/office/drawing/2014/main" id="{0C932C03-E4B8-4E17-9542-2CD545748B5D}"/>
              </a:ext>
            </a:extLst>
          </p:cNvPr>
          <p:cNvSpPr txBox="1">
            <a:spLocks noChangeArrowheads="1"/>
          </p:cNvSpPr>
          <p:nvPr/>
        </p:nvSpPr>
        <p:spPr bwMode="auto">
          <a:xfrm>
            <a:off x="609600" y="1600200"/>
            <a:ext cx="7010400" cy="3935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br>
              <a:rPr lang="en-US" altLang="en-US" sz="2800">
                <a:latin typeface="Tahoma" panose="020B0604030504040204" pitchFamily="34" charset="0"/>
              </a:rPr>
            </a:b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r>
              <a:rPr lang="en-US" altLang="en-US" sz="2800">
                <a:latin typeface="Tahoma" panose="020B0604030504040204" pitchFamily="34" charset="0"/>
              </a:rPr>
              <a:t>out.println(queue);</a:t>
            </a:r>
          </a:p>
          <a:p>
            <a:pPr>
              <a:spcBef>
                <a:spcPct val="0"/>
              </a:spcBef>
              <a:buFontTx/>
              <a:buNone/>
            </a:pPr>
            <a:endParaRPr lang="en-US" altLang="en-US" sz="2800">
              <a:latin typeface="Tahoma" panose="020B0604030504040204" pitchFamily="34" charset="0"/>
            </a:endParaRPr>
          </a:p>
          <a:p>
            <a:pPr>
              <a:spcBef>
                <a:spcPct val="0"/>
              </a:spcBef>
              <a:buFontTx/>
              <a:buNone/>
            </a:pPr>
            <a:endParaRPr lang="en-US" altLang="en-US" sz="2800">
              <a:latin typeface="Tahoma" panose="020B0604030504040204" pitchFamily="34" charset="0"/>
            </a:endParaRPr>
          </a:p>
        </p:txBody>
      </p:sp>
      <p:sp>
        <p:nvSpPr>
          <p:cNvPr id="17412" name="WordArt 3">
            <a:extLst>
              <a:ext uri="{FF2B5EF4-FFF2-40B4-BE49-F238E27FC236}">
                <a16:creationId xmlns:a16="http://schemas.microsoft.com/office/drawing/2014/main" id="{6A116E1D-4ADB-457D-994F-5327FDCC5AD1}"/>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add</a:t>
            </a:r>
          </a:p>
        </p:txBody>
      </p:sp>
      <p:sp>
        <p:nvSpPr>
          <p:cNvPr id="17413" name="Text Box 4">
            <a:extLst>
              <a:ext uri="{FF2B5EF4-FFF2-40B4-BE49-F238E27FC236}">
                <a16:creationId xmlns:a16="http://schemas.microsoft.com/office/drawing/2014/main" id="{3AAC7A23-844C-49B7-8CA3-8A9E41272F74}"/>
              </a:ext>
            </a:extLst>
          </p:cNvPr>
          <p:cNvSpPr txBox="1">
            <a:spLocks noChangeArrowheads="1"/>
          </p:cNvSpPr>
          <p:nvPr/>
        </p:nvSpPr>
        <p:spPr bwMode="auto">
          <a:xfrm>
            <a:off x="6477000" y="3200400"/>
            <a:ext cx="23622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[11, 10, 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Footer Placeholder 3">
            <a:extLst>
              <a:ext uri="{FF2B5EF4-FFF2-40B4-BE49-F238E27FC236}">
                <a16:creationId xmlns:a16="http://schemas.microsoft.com/office/drawing/2014/main" id="{24050E44-514D-4C17-B981-BD2056ACC13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8435" name="Text Box 8">
            <a:extLst>
              <a:ext uri="{FF2B5EF4-FFF2-40B4-BE49-F238E27FC236}">
                <a16:creationId xmlns:a16="http://schemas.microsoft.com/office/drawing/2014/main" id="{7D1EAB0E-F203-42C9-A7DE-AFF155D0155C}"/>
              </a:ext>
            </a:extLst>
          </p:cNvPr>
          <p:cNvSpPr txBox="1">
            <a:spLocks noChangeArrowheads="1"/>
          </p:cNvSpPr>
          <p:nvPr/>
        </p:nvSpPr>
        <p:spPr bwMode="auto">
          <a:xfrm>
            <a:off x="609600" y="1600200"/>
            <a:ext cx="7010400" cy="436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br>
              <a:rPr lang="en-US" altLang="en-US" sz="2800">
                <a:latin typeface="Tahoma" panose="020B0604030504040204" pitchFamily="34" charset="0"/>
              </a:rPr>
            </a:b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r>
              <a:rPr lang="en-US" altLang="en-US" sz="2800">
                <a:latin typeface="Tahoma" panose="020B0604030504040204" pitchFamily="34" charset="0"/>
              </a:rPr>
              <a:t>out.println(queue.remove());</a:t>
            </a:r>
          </a:p>
          <a:p>
            <a:pPr>
              <a:spcBef>
                <a:spcPct val="0"/>
              </a:spcBef>
              <a:buFontTx/>
              <a:buNone/>
            </a:pPr>
            <a:r>
              <a:rPr lang="en-US" altLang="en-US" sz="2800">
                <a:latin typeface="Tahoma" panose="020B0604030504040204" pitchFamily="34" charset="0"/>
              </a:rPr>
              <a:t>out.println(queue);</a:t>
            </a:r>
          </a:p>
          <a:p>
            <a:pPr>
              <a:spcBef>
                <a:spcPct val="0"/>
              </a:spcBef>
              <a:buFontTx/>
              <a:buNone/>
            </a:pPr>
            <a:endParaRPr lang="en-US" altLang="en-US" sz="2800">
              <a:latin typeface="Tahoma" panose="020B0604030504040204" pitchFamily="34" charset="0"/>
            </a:endParaRPr>
          </a:p>
          <a:p>
            <a:pPr>
              <a:spcBef>
                <a:spcPct val="0"/>
              </a:spcBef>
              <a:buFontTx/>
              <a:buNone/>
            </a:pPr>
            <a:endParaRPr lang="en-US" altLang="en-US" sz="2800">
              <a:latin typeface="Tahoma" panose="020B0604030504040204" pitchFamily="34" charset="0"/>
            </a:endParaRPr>
          </a:p>
        </p:txBody>
      </p:sp>
      <p:sp>
        <p:nvSpPr>
          <p:cNvPr id="18436" name="WordArt 9">
            <a:extLst>
              <a:ext uri="{FF2B5EF4-FFF2-40B4-BE49-F238E27FC236}">
                <a16:creationId xmlns:a16="http://schemas.microsoft.com/office/drawing/2014/main" id="{8F0B5F9B-08AD-4297-9511-719740FCEFE3}"/>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remove</a:t>
            </a:r>
          </a:p>
        </p:txBody>
      </p:sp>
      <p:sp>
        <p:nvSpPr>
          <p:cNvPr id="18437" name="Text Box 10">
            <a:extLst>
              <a:ext uri="{FF2B5EF4-FFF2-40B4-BE49-F238E27FC236}">
                <a16:creationId xmlns:a16="http://schemas.microsoft.com/office/drawing/2014/main" id="{BC907752-436D-4C8E-9EF7-5976C6352934}"/>
              </a:ext>
            </a:extLst>
          </p:cNvPr>
          <p:cNvSpPr txBox="1">
            <a:spLocks noChangeArrowheads="1"/>
          </p:cNvSpPr>
          <p:nvPr/>
        </p:nvSpPr>
        <p:spPr bwMode="auto">
          <a:xfrm>
            <a:off x="6934200" y="3200400"/>
            <a:ext cx="1905000" cy="181133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11</a:t>
            </a:r>
            <a:br>
              <a:rPr lang="en-US" altLang="en-US">
                <a:latin typeface="Tahoma" panose="020B0604030504040204" pitchFamily="34" charset="0"/>
              </a:rPr>
            </a:br>
            <a:r>
              <a:rPr lang="en-US" altLang="en-US">
                <a:latin typeface="Tahoma" panose="020B0604030504040204" pitchFamily="34" charset="0"/>
              </a:rPr>
              <a:t>[10, 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a:extLst>
              <a:ext uri="{FF2B5EF4-FFF2-40B4-BE49-F238E27FC236}">
                <a16:creationId xmlns:a16="http://schemas.microsoft.com/office/drawing/2014/main" id="{190EA73F-91E8-4AA5-A9E9-87D31767202B}"/>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0483" name="Text Box 2">
            <a:extLst>
              <a:ext uri="{FF2B5EF4-FFF2-40B4-BE49-F238E27FC236}">
                <a16:creationId xmlns:a16="http://schemas.microsoft.com/office/drawing/2014/main" id="{4798B9E7-9EED-415C-92F1-0A91537E0036}"/>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Tahoma" panose="020B0604030504040204" pitchFamily="34" charset="0"/>
              </a:rPr>
              <a:t>Queue&lt;Integer&gt; queue;</a:t>
            </a:r>
          </a:p>
          <a:p>
            <a:pPr>
              <a:spcBef>
                <a:spcPct val="0"/>
              </a:spcBef>
              <a:buFontTx/>
              <a:buNone/>
            </a:pPr>
            <a:r>
              <a:rPr lang="en-US" altLang="en-US" sz="2800" dirty="0">
                <a:latin typeface="Tahoma" panose="020B0604030504040204" pitchFamily="34" charset="0"/>
              </a:rPr>
              <a:t>queue = new LinkedList&lt;Integer&gt;();</a:t>
            </a:r>
          </a:p>
          <a:p>
            <a:pPr>
              <a:spcBef>
                <a:spcPct val="0"/>
              </a:spcBef>
              <a:buFontTx/>
              <a:buNone/>
            </a:pPr>
            <a:r>
              <a:rPr lang="en-US" altLang="en-US" sz="2800" dirty="0" err="1">
                <a:latin typeface="Tahoma" panose="020B0604030504040204" pitchFamily="34" charset="0"/>
              </a:rPr>
              <a:t>queue.add</a:t>
            </a:r>
            <a:r>
              <a:rPr lang="en-US" altLang="en-US" sz="2800" dirty="0">
                <a:latin typeface="Tahoma" panose="020B0604030504040204" pitchFamily="34" charset="0"/>
              </a:rPr>
              <a:t>(11);</a:t>
            </a:r>
          </a:p>
          <a:p>
            <a:pPr>
              <a:spcBef>
                <a:spcPct val="0"/>
              </a:spcBef>
              <a:buFontTx/>
              <a:buNone/>
            </a:pPr>
            <a:r>
              <a:rPr lang="en-US" altLang="en-US" sz="2800" dirty="0" err="1">
                <a:latin typeface="Tahoma" panose="020B0604030504040204" pitchFamily="34" charset="0"/>
              </a:rPr>
              <a:t>queue.add</a:t>
            </a:r>
            <a:r>
              <a:rPr lang="en-US" altLang="en-US" sz="2800" dirty="0">
                <a:latin typeface="Tahoma" panose="020B0604030504040204" pitchFamily="34" charset="0"/>
              </a:rPr>
              <a:t>(7);</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queue.element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queue.remove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queue.element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queue.remove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endParaRPr lang="en-US" altLang="en-US" sz="2800" dirty="0">
              <a:latin typeface="Tahoma" panose="020B0604030504040204" pitchFamily="34" charset="0"/>
            </a:endParaRPr>
          </a:p>
        </p:txBody>
      </p:sp>
      <p:sp>
        <p:nvSpPr>
          <p:cNvPr id="20484" name="WordArt 3">
            <a:extLst>
              <a:ext uri="{FF2B5EF4-FFF2-40B4-BE49-F238E27FC236}">
                <a16:creationId xmlns:a16="http://schemas.microsoft.com/office/drawing/2014/main" id="{EBEA0D4B-442B-436F-836A-B61C1CE1A072}"/>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peek</a:t>
            </a:r>
          </a:p>
        </p:txBody>
      </p:sp>
      <p:sp>
        <p:nvSpPr>
          <p:cNvPr id="20485" name="Text Box 4">
            <a:extLst>
              <a:ext uri="{FF2B5EF4-FFF2-40B4-BE49-F238E27FC236}">
                <a16:creationId xmlns:a16="http://schemas.microsoft.com/office/drawing/2014/main" id="{3AFAB5FD-4374-4D4F-972E-A0AA7FE62F3D}"/>
              </a:ext>
            </a:extLst>
          </p:cNvPr>
          <p:cNvSpPr txBox="1">
            <a:spLocks noChangeArrowheads="1"/>
          </p:cNvSpPr>
          <p:nvPr/>
        </p:nvSpPr>
        <p:spPr bwMode="auto">
          <a:xfrm>
            <a:off x="6934200" y="3200400"/>
            <a:ext cx="1905000" cy="230028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0"/>
              </a:spcBef>
              <a:buFontTx/>
              <a:buNone/>
            </a:pPr>
            <a:r>
              <a:rPr lang="en-US" altLang="en-US" sz="2800">
                <a:latin typeface="Tahoma" panose="020B0604030504040204" pitchFamily="34" charset="0"/>
              </a:rPr>
              <a:t>[11, 7]</a:t>
            </a:r>
          </a:p>
          <a:p>
            <a:pPr>
              <a:spcBef>
                <a:spcPct val="0"/>
              </a:spcBef>
              <a:buFontTx/>
              <a:buNone/>
            </a:pPr>
            <a:r>
              <a:rPr lang="en-US" altLang="en-US" sz="2800">
                <a:latin typeface="Tahoma" panose="020B0604030504040204" pitchFamily="34" charset="0"/>
              </a:rPr>
              <a:t>11</a:t>
            </a:r>
          </a:p>
          <a:p>
            <a:pPr>
              <a:spcBef>
                <a:spcPct val="0"/>
              </a:spcBef>
              <a:buFontTx/>
              <a:buNone/>
            </a:pPr>
            <a:r>
              <a:rPr lang="en-US" altLang="en-US" sz="2800">
                <a:latin typeface="Tahoma" panose="020B0604030504040204" pitchFamily="34" charset="0"/>
              </a:rPr>
              <a:t>7</a:t>
            </a:r>
          </a:p>
          <a:p>
            <a:pPr>
              <a:spcBef>
                <a:spcPct val="0"/>
              </a:spcBef>
              <a:buFontTx/>
              <a:buNone/>
            </a:pPr>
            <a:r>
              <a:rPr lang="en-US" altLang="en-US" sz="2800">
                <a:latin typeface="Tahoma" panose="020B0604030504040204" pitchFamily="34" charset="0"/>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FF2B5EF4-FFF2-40B4-BE49-F238E27FC236}">
                <a16:creationId xmlns:a16="http://schemas.microsoft.com/office/drawing/2014/main" id="{A0FF5959-35D1-42DE-B6BC-D6B39DC4478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2531" name="Text Box 2">
            <a:extLst>
              <a:ext uri="{FF2B5EF4-FFF2-40B4-BE49-F238E27FC236}">
                <a16:creationId xmlns:a16="http://schemas.microsoft.com/office/drawing/2014/main" id="{3B0D712E-5068-4E3A-B198-086AD647D6BD}"/>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while(!queue.isEmpty())</a:t>
            </a:r>
          </a:p>
          <a:p>
            <a:pPr>
              <a:spcBef>
                <a:spcPct val="0"/>
              </a:spcBef>
              <a:buFontTx/>
              <a:buNone/>
            </a:pPr>
            <a:r>
              <a:rPr lang="en-US" altLang="en-US" sz="2800">
                <a:latin typeface="Tahoma" panose="020B0604030504040204" pitchFamily="34" charset="0"/>
              </a:rPr>
              <a:t>{</a:t>
            </a:r>
          </a:p>
          <a:p>
            <a:pPr>
              <a:spcBef>
                <a:spcPct val="0"/>
              </a:spcBef>
              <a:buFontTx/>
              <a:buNone/>
            </a:pPr>
            <a:r>
              <a:rPr lang="en-US" altLang="en-US" sz="2800">
                <a:latin typeface="Tahoma" panose="020B0604030504040204" pitchFamily="34" charset="0"/>
              </a:rPr>
              <a:t>   out.println(queue.remove());</a:t>
            </a:r>
          </a:p>
          <a:p>
            <a:pPr>
              <a:spcBef>
                <a:spcPct val="0"/>
              </a:spcBef>
              <a:buFontTx/>
              <a:buNone/>
            </a:pPr>
            <a:r>
              <a:rPr lang="en-US" altLang="en-US" sz="2800">
                <a:latin typeface="Tahoma" panose="020B0604030504040204" pitchFamily="34" charset="0"/>
              </a:rPr>
              <a:t>}</a:t>
            </a:r>
          </a:p>
          <a:p>
            <a:pPr>
              <a:spcBef>
                <a:spcPct val="0"/>
              </a:spcBef>
              <a:buFontTx/>
              <a:buNone/>
            </a:pPr>
            <a:endParaRPr lang="en-US" altLang="en-US" sz="2800">
              <a:latin typeface="Tahoma" panose="020B0604030504040204" pitchFamily="34" charset="0"/>
            </a:endParaRPr>
          </a:p>
        </p:txBody>
      </p:sp>
      <p:sp>
        <p:nvSpPr>
          <p:cNvPr id="22532" name="WordArt 3">
            <a:extLst>
              <a:ext uri="{FF2B5EF4-FFF2-40B4-BE49-F238E27FC236}">
                <a16:creationId xmlns:a16="http://schemas.microsoft.com/office/drawing/2014/main" id="{1CFD63E9-0A9B-4A16-ACEB-548EB93E7CAA}"/>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Queue Code</a:t>
            </a:r>
          </a:p>
        </p:txBody>
      </p:sp>
      <p:sp>
        <p:nvSpPr>
          <p:cNvPr id="22533" name="Text Box 4">
            <a:extLst>
              <a:ext uri="{FF2B5EF4-FFF2-40B4-BE49-F238E27FC236}">
                <a16:creationId xmlns:a16="http://schemas.microsoft.com/office/drawing/2014/main" id="{EB64E244-51D6-4306-9FDD-2B9A5ED9A189}"/>
              </a:ext>
            </a:extLst>
          </p:cNvPr>
          <p:cNvSpPr txBox="1">
            <a:spLocks noChangeArrowheads="1"/>
          </p:cNvSpPr>
          <p:nvPr/>
        </p:nvSpPr>
        <p:spPr bwMode="auto">
          <a:xfrm>
            <a:off x="6934200" y="3200400"/>
            <a:ext cx="1905000" cy="22987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lgn="ctr">
              <a:spcBef>
                <a:spcPct val="50000"/>
              </a:spcBef>
              <a:buFontTx/>
              <a:buNone/>
            </a:pPr>
            <a:r>
              <a:rPr lang="en-US" altLang="en-US">
                <a:latin typeface="Tahoma" panose="020B0604030504040204" pitchFamily="34" charset="0"/>
              </a:rPr>
              <a:t>11</a:t>
            </a:r>
            <a:br>
              <a:rPr lang="en-US" altLang="en-US">
                <a:latin typeface="Tahoma" panose="020B0604030504040204" pitchFamily="34" charset="0"/>
              </a:rPr>
            </a:br>
            <a:r>
              <a:rPr lang="en-US" altLang="en-US">
                <a:latin typeface="Tahoma" panose="020B0604030504040204" pitchFamily="34" charset="0"/>
              </a:rPr>
              <a:t>10</a:t>
            </a:r>
            <a:br>
              <a:rPr lang="en-US" altLang="en-US">
                <a:latin typeface="Tahoma" panose="020B0604030504040204" pitchFamily="34" charset="0"/>
              </a:rPr>
            </a:br>
            <a:r>
              <a:rPr lang="en-US" altLang="en-US">
                <a:latin typeface="Tahoma" panose="020B0604030504040204" pitchFamily="34" charset="0"/>
              </a:rPr>
              <a:t>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CEDBB03-3C5E-4B3E-BB3F-83683E2D653D}"/>
              </a:ext>
            </a:extLst>
          </p:cNvPr>
          <p:cNvGraphicFramePr>
            <a:graphicFrameLocks noGrp="1"/>
          </p:cNvGraphicFramePr>
          <p:nvPr>
            <p:extLst>
              <p:ext uri="{D42A27DB-BD31-4B8C-83A1-F6EECF244321}">
                <p14:modId xmlns:p14="http://schemas.microsoft.com/office/powerpoint/2010/main" val="1474246084"/>
              </p:ext>
            </p:extLst>
          </p:nvPr>
        </p:nvGraphicFramePr>
        <p:xfrm>
          <a:off x="169334" y="1828800"/>
          <a:ext cx="8746066" cy="2454276"/>
        </p:xfrm>
        <a:graphic>
          <a:graphicData uri="http://schemas.openxmlformats.org/drawingml/2006/table">
            <a:tbl>
              <a:tblPr/>
              <a:tblGrid>
                <a:gridCol w="1972152">
                  <a:extLst>
                    <a:ext uri="{9D8B030D-6E8A-4147-A177-3AD203B41FA5}">
                      <a16:colId xmlns:a16="http://schemas.microsoft.com/office/drawing/2014/main" val="2998549995"/>
                    </a:ext>
                  </a:extLst>
                </a:gridCol>
                <a:gridCol w="3086847">
                  <a:extLst>
                    <a:ext uri="{9D8B030D-6E8A-4147-A177-3AD203B41FA5}">
                      <a16:colId xmlns:a16="http://schemas.microsoft.com/office/drawing/2014/main" val="3046120668"/>
                    </a:ext>
                  </a:extLst>
                </a:gridCol>
                <a:gridCol w="3687067">
                  <a:extLst>
                    <a:ext uri="{9D8B030D-6E8A-4147-A177-3AD203B41FA5}">
                      <a16:colId xmlns:a16="http://schemas.microsoft.com/office/drawing/2014/main" val="2063912837"/>
                    </a:ext>
                  </a:extLst>
                </a:gridCol>
              </a:tblGrid>
              <a:tr h="613569">
                <a:tc>
                  <a:txBody>
                    <a:bodyPr/>
                    <a:lstStyle/>
                    <a:p>
                      <a:pPr algn="ctr"/>
                      <a:r>
                        <a:rPr lang="en-US" sz="2800" b="1" dirty="0">
                          <a:latin typeface="Abadi" panose="020B0604020104020204" pitchFamily="34" charset="0"/>
                        </a:rPr>
                        <a:t>Operation</a:t>
                      </a:r>
                    </a:p>
                  </a:txBody>
                  <a:tcPr marT="45732" marB="45732"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u="none" strike="noStrike" kern="1200" dirty="0">
                          <a:solidFill>
                            <a:srgbClr val="4A6782"/>
                          </a:solidFill>
                          <a:effectLst/>
                          <a:latin typeface="Abadi" panose="020B0604020104020204" pitchFamily="34" charset="0"/>
                          <a:ea typeface="+mn-ea"/>
                          <a:cs typeface="+mn-cs"/>
                        </a:rPr>
                        <a:t>Throws exception</a:t>
                      </a: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i="0" dirty="0">
                          <a:solidFill>
                            <a:schemeClr val="accent1">
                              <a:lumMod val="50000"/>
                            </a:schemeClr>
                          </a:solidFill>
                          <a:latin typeface="Abadi" panose="020B0604020104020204" pitchFamily="34" charset="0"/>
                        </a:rPr>
                        <a:t>Returns special value</a:t>
                      </a:r>
                    </a:p>
                  </a:txBody>
                  <a:tcPr marT="45732" marB="45732"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9314042"/>
                  </a:ext>
                </a:extLst>
              </a:tr>
              <a:tr h="613569">
                <a:tc>
                  <a:txBody>
                    <a:bodyPr/>
                    <a:lstStyle/>
                    <a:p>
                      <a:pPr algn="ctr"/>
                      <a:r>
                        <a:rPr lang="en-US" sz="2800" b="1" dirty="0">
                          <a:latin typeface="Abadi" panose="020B0604020104020204" pitchFamily="34" charset="0"/>
                        </a:rPr>
                        <a:t>Insert</a:t>
                      </a:r>
                    </a:p>
                  </a:txBody>
                  <a:tcPr marT="45732" marB="45732"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rgbClr val="4A6782"/>
                          </a:solidFill>
                          <a:effectLst/>
                          <a:latin typeface="Bahnschrift" panose="020B0502040204020203" pitchFamily="34" charset="0"/>
                        </a:rPr>
                        <a:t>add(e)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offer(e)</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495105524"/>
                  </a:ext>
                </a:extLst>
              </a:tr>
              <a:tr h="613569">
                <a:tc>
                  <a:txBody>
                    <a:bodyPr/>
                    <a:lstStyle/>
                    <a:p>
                      <a:pPr algn="ctr"/>
                      <a:r>
                        <a:rPr lang="en-US" sz="2800" b="1" dirty="0">
                          <a:latin typeface="Abadi" panose="020B0604020104020204" pitchFamily="34" charset="0"/>
                        </a:rPr>
                        <a:t>Remove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remove()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poll()</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935295378"/>
                  </a:ext>
                </a:extLst>
              </a:tr>
              <a:tr h="613569">
                <a:tc>
                  <a:txBody>
                    <a:bodyPr/>
                    <a:lstStyle/>
                    <a:p>
                      <a:pPr algn="ctr"/>
                      <a:r>
                        <a:rPr lang="en-US" sz="2800" b="1" dirty="0">
                          <a:latin typeface="Abadi" panose="020B0604020104020204" pitchFamily="34" charset="0"/>
                        </a:rPr>
                        <a:t>Examine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element()</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peek()</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86060292"/>
                  </a:ext>
                </a:extLst>
              </a:tr>
            </a:tbl>
          </a:graphicData>
        </a:graphic>
      </p:graphicFrame>
      <p:sp>
        <p:nvSpPr>
          <p:cNvPr id="24591" name="Rectangle 1">
            <a:extLst>
              <a:ext uri="{FF2B5EF4-FFF2-40B4-BE49-F238E27FC236}">
                <a16:creationId xmlns:a16="http://schemas.microsoft.com/office/drawing/2014/main" id="{15369E1E-B046-48A7-B237-3FA0F88A4C4D}"/>
              </a:ext>
            </a:extLst>
          </p:cNvPr>
          <p:cNvSpPr>
            <a:spLocks noChangeArrowheads="1"/>
          </p:cNvSpPr>
          <p:nvPr/>
        </p:nvSpPr>
        <p:spPr bwMode="auto">
          <a:xfrm>
            <a:off x="1981200" y="685800"/>
            <a:ext cx="5308600"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Summary of Queue methods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1">
            <a:extLst>
              <a:ext uri="{FF2B5EF4-FFF2-40B4-BE49-F238E27FC236}">
                <a16:creationId xmlns:a16="http://schemas.microsoft.com/office/drawing/2014/main" id="{5B9F9A9F-56D0-4B46-B704-0994565AA6A1}"/>
              </a:ext>
            </a:extLst>
          </p:cNvPr>
          <p:cNvSpPr>
            <a:spLocks noChangeArrowheads="1"/>
          </p:cNvSpPr>
          <p:nvPr/>
        </p:nvSpPr>
        <p:spPr bwMode="auto">
          <a:xfrm>
            <a:off x="3313113" y="249238"/>
            <a:ext cx="2517775"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Add vs. Offer</a:t>
            </a:r>
          </a:p>
        </p:txBody>
      </p:sp>
      <p:grpSp>
        <p:nvGrpSpPr>
          <p:cNvPr id="26627" name="Group 12">
            <a:extLst>
              <a:ext uri="{FF2B5EF4-FFF2-40B4-BE49-F238E27FC236}">
                <a16:creationId xmlns:a16="http://schemas.microsoft.com/office/drawing/2014/main" id="{C34BEBC4-E539-4B71-9CD7-C957B15E29F8}"/>
              </a:ext>
            </a:extLst>
          </p:cNvPr>
          <p:cNvGrpSpPr>
            <a:grpSpLocks/>
          </p:cNvGrpSpPr>
          <p:nvPr/>
        </p:nvGrpSpPr>
        <p:grpSpPr bwMode="auto">
          <a:xfrm>
            <a:off x="933450" y="1143000"/>
            <a:ext cx="5588000" cy="2119313"/>
            <a:chOff x="933450" y="1143001"/>
            <a:chExt cx="6381750" cy="2420025"/>
          </a:xfrm>
        </p:grpSpPr>
        <p:pic>
          <p:nvPicPr>
            <p:cNvPr id="26632" name="Picture 9">
              <a:extLst>
                <a:ext uri="{FF2B5EF4-FFF2-40B4-BE49-F238E27FC236}">
                  <a16:creationId xmlns:a16="http://schemas.microsoft.com/office/drawing/2014/main" id="{711CBF87-F0CA-456E-89ED-2B05D44B02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3450" y="1143001"/>
              <a:ext cx="6381750" cy="119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3" name="Picture 10">
              <a:extLst>
                <a:ext uri="{FF2B5EF4-FFF2-40B4-BE49-F238E27FC236}">
                  <a16:creationId xmlns:a16="http://schemas.microsoft.com/office/drawing/2014/main" id="{99A02C4C-0FFF-412D-BAE9-148301ADEC8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868" y="2368536"/>
              <a:ext cx="5723932" cy="119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6628" name="Rectangle 2">
            <a:extLst>
              <a:ext uri="{FF2B5EF4-FFF2-40B4-BE49-F238E27FC236}">
                <a16:creationId xmlns:a16="http://schemas.microsoft.com/office/drawing/2014/main" id="{EF88AB11-B156-4274-881B-3F502CDEE81C}"/>
              </a:ext>
            </a:extLst>
          </p:cNvPr>
          <p:cNvSpPr>
            <a:spLocks noChangeArrowheads="1"/>
          </p:cNvSpPr>
          <p:nvPr/>
        </p:nvSpPr>
        <p:spPr bwMode="auto">
          <a:xfrm>
            <a:off x="1042988" y="3319463"/>
            <a:ext cx="6381750" cy="65563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b="0" dirty="0" err="1">
                <a:solidFill>
                  <a:srgbClr val="4D709B"/>
                </a:solidFill>
                <a:latin typeface="DejaVu Sans Mono"/>
              </a:rPr>
              <a:t>IllegalStateException</a:t>
            </a:r>
            <a:r>
              <a:rPr lang="en-US" altLang="en-US" sz="1800" b="0" dirty="0">
                <a:solidFill>
                  <a:srgbClr val="353833"/>
                </a:solidFill>
                <a:latin typeface="Tahoma" panose="020B0604030504040204" pitchFamily="34" charset="0"/>
              </a:rPr>
              <a:t> </a:t>
            </a:r>
            <a:r>
              <a:rPr lang="en-US" altLang="en-US" sz="1800" b="0" dirty="0">
                <a:solidFill>
                  <a:srgbClr val="353833"/>
                </a:solidFill>
                <a:latin typeface="DejaVu Sans Mono"/>
              </a:rPr>
              <a:t>- if the element cannot be added at this time due to capacity restrictions</a:t>
            </a:r>
            <a:r>
              <a:rPr lang="en-US" altLang="en-US" sz="1200" dirty="0">
                <a:latin typeface="Tahoma" panose="020B0604030504040204" pitchFamily="34" charset="0"/>
              </a:rPr>
              <a:t> </a:t>
            </a:r>
            <a:endParaRPr lang="en-US" altLang="en-US" sz="5400" dirty="0">
              <a:latin typeface="Tahoma" panose="020B0604030504040204" pitchFamily="34" charset="0"/>
            </a:endParaRPr>
          </a:p>
        </p:txBody>
      </p:sp>
      <p:grpSp>
        <p:nvGrpSpPr>
          <p:cNvPr id="26629" name="Group 15">
            <a:extLst>
              <a:ext uri="{FF2B5EF4-FFF2-40B4-BE49-F238E27FC236}">
                <a16:creationId xmlns:a16="http://schemas.microsoft.com/office/drawing/2014/main" id="{5F60DB55-3744-4B92-A6F6-2020E4A5F068}"/>
              </a:ext>
            </a:extLst>
          </p:cNvPr>
          <p:cNvGrpSpPr>
            <a:grpSpLocks/>
          </p:cNvGrpSpPr>
          <p:nvPr/>
        </p:nvGrpSpPr>
        <p:grpSpPr bwMode="auto">
          <a:xfrm>
            <a:off x="930275" y="4392613"/>
            <a:ext cx="7375525" cy="1941512"/>
            <a:chOff x="930628" y="4393249"/>
            <a:chExt cx="7375173" cy="1940693"/>
          </a:xfrm>
        </p:grpSpPr>
        <p:pic>
          <p:nvPicPr>
            <p:cNvPr id="26630" name="Picture 13">
              <a:extLst>
                <a:ext uri="{FF2B5EF4-FFF2-40B4-BE49-F238E27FC236}">
                  <a16:creationId xmlns:a16="http://schemas.microsoft.com/office/drawing/2014/main" id="{A74648BC-C621-4F46-84FC-976827C5A6F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0628" y="4393249"/>
              <a:ext cx="7015827" cy="1045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1" name="Picture 14">
              <a:extLst>
                <a:ext uri="{FF2B5EF4-FFF2-40B4-BE49-F238E27FC236}">
                  <a16:creationId xmlns:a16="http://schemas.microsoft.com/office/drawing/2014/main" id="{608E3D35-163A-4F50-B7F2-7FEC03B68BC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0629" y="5530087"/>
              <a:ext cx="7375172" cy="8038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4">
            <a:extLst>
              <a:ext uri="{FF2B5EF4-FFF2-40B4-BE49-F238E27FC236}">
                <a16:creationId xmlns:a16="http://schemas.microsoft.com/office/drawing/2014/main" id="{669D54CF-B25A-4376-B3C3-376161ABB5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066800"/>
            <a:ext cx="708660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5" name="Picture 5">
            <a:extLst>
              <a:ext uri="{FF2B5EF4-FFF2-40B4-BE49-F238E27FC236}">
                <a16:creationId xmlns:a16="http://schemas.microsoft.com/office/drawing/2014/main" id="{59D9E219-5291-45E9-8A7F-6B277D8ACB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5800" y="2171700"/>
            <a:ext cx="6886575"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76" name="Rectangle 1">
            <a:extLst>
              <a:ext uri="{FF2B5EF4-FFF2-40B4-BE49-F238E27FC236}">
                <a16:creationId xmlns:a16="http://schemas.microsoft.com/office/drawing/2014/main" id="{B9D37F58-182F-433F-966F-A6431BE30A94}"/>
              </a:ext>
            </a:extLst>
          </p:cNvPr>
          <p:cNvSpPr>
            <a:spLocks noChangeArrowheads="1"/>
          </p:cNvSpPr>
          <p:nvPr/>
        </p:nvSpPr>
        <p:spPr bwMode="auto">
          <a:xfrm>
            <a:off x="3054350" y="249238"/>
            <a:ext cx="3035300"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Remove vs. Poll</a:t>
            </a:r>
          </a:p>
        </p:txBody>
      </p:sp>
      <p:pic>
        <p:nvPicPr>
          <p:cNvPr id="28677" name="Picture 7">
            <a:extLst>
              <a:ext uri="{FF2B5EF4-FFF2-40B4-BE49-F238E27FC236}">
                <a16:creationId xmlns:a16="http://schemas.microsoft.com/office/drawing/2014/main" id="{C3C292D7-6951-41D2-BC7F-4B48CADC29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000" y="4038600"/>
            <a:ext cx="6810375" cy="1057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8" name="Picture 8">
            <a:extLst>
              <a:ext uri="{FF2B5EF4-FFF2-40B4-BE49-F238E27FC236}">
                <a16:creationId xmlns:a16="http://schemas.microsoft.com/office/drawing/2014/main" id="{084B7FA7-97A4-44AA-BDE6-65EF8479094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2150" y="5181600"/>
            <a:ext cx="7524750" cy="876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C4A83A2E-C922-22ED-9A60-1D8E2111C656}"/>
              </a:ext>
            </a:extLst>
          </p:cNvPr>
          <p:cNvSpPr txBox="1"/>
          <p:nvPr/>
        </p:nvSpPr>
        <p:spPr>
          <a:xfrm>
            <a:off x="905044" y="6243935"/>
            <a:ext cx="7172156" cy="461665"/>
          </a:xfrm>
          <a:prstGeom prst="rect">
            <a:avLst/>
          </a:prstGeom>
          <a:noFill/>
          <a:ln>
            <a:solidFill>
              <a:srgbClr val="C00000"/>
            </a:solidFill>
          </a:ln>
        </p:spPr>
        <p:txBody>
          <a:bodyPr wrap="none" rtlCol="0">
            <a:spAutoFit/>
          </a:bodyPr>
          <a:lstStyle/>
          <a:p>
            <a:r>
              <a:rPr lang="en-US" sz="2400" dirty="0">
                <a:solidFill>
                  <a:srgbClr val="FF0000"/>
                </a:solidFill>
              </a:rPr>
              <a:t>Note that there is no </a:t>
            </a:r>
            <a:r>
              <a:rPr lang="en-US" sz="2400" dirty="0" err="1">
                <a:solidFill>
                  <a:srgbClr val="FF0000"/>
                </a:solidFill>
              </a:rPr>
              <a:t>EmpytQueueException</a:t>
            </a:r>
            <a:r>
              <a:rPr lang="en-US" sz="2400" dirty="0">
                <a:solidFill>
                  <a:srgbClr val="FF0000"/>
                </a:solidFill>
              </a:rPr>
              <a:t>!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1">
            <a:extLst>
              <a:ext uri="{FF2B5EF4-FFF2-40B4-BE49-F238E27FC236}">
                <a16:creationId xmlns:a16="http://schemas.microsoft.com/office/drawing/2014/main" id="{DE6D4FBA-AA18-4BAD-92D1-9CF00134BD21}"/>
              </a:ext>
            </a:extLst>
          </p:cNvPr>
          <p:cNvSpPr>
            <a:spLocks noChangeArrowheads="1"/>
          </p:cNvSpPr>
          <p:nvPr/>
        </p:nvSpPr>
        <p:spPr bwMode="auto">
          <a:xfrm>
            <a:off x="2943225" y="249238"/>
            <a:ext cx="3257550"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Element vs. Peek</a:t>
            </a:r>
          </a:p>
        </p:txBody>
      </p:sp>
      <p:grpSp>
        <p:nvGrpSpPr>
          <p:cNvPr id="30723" name="Group 3">
            <a:extLst>
              <a:ext uri="{FF2B5EF4-FFF2-40B4-BE49-F238E27FC236}">
                <a16:creationId xmlns:a16="http://schemas.microsoft.com/office/drawing/2014/main" id="{F7C0BEE3-8873-4EA7-AE51-99CA06ECCB86}"/>
              </a:ext>
            </a:extLst>
          </p:cNvPr>
          <p:cNvGrpSpPr>
            <a:grpSpLocks/>
          </p:cNvGrpSpPr>
          <p:nvPr/>
        </p:nvGrpSpPr>
        <p:grpSpPr bwMode="auto">
          <a:xfrm>
            <a:off x="669925" y="914400"/>
            <a:ext cx="7300913" cy="2819400"/>
            <a:chOff x="277636" y="1295400"/>
            <a:chExt cx="8829675" cy="3409950"/>
          </a:xfrm>
        </p:grpSpPr>
        <p:pic>
          <p:nvPicPr>
            <p:cNvPr id="30726" name="Picture 1">
              <a:extLst>
                <a:ext uri="{FF2B5EF4-FFF2-40B4-BE49-F238E27FC236}">
                  <a16:creationId xmlns:a16="http://schemas.microsoft.com/office/drawing/2014/main" id="{57970E5D-200A-4993-9AE6-78F0A4AEFB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636" y="1295400"/>
              <a:ext cx="8829675"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7" name="Picture 2">
              <a:extLst>
                <a:ext uri="{FF2B5EF4-FFF2-40B4-BE49-F238E27FC236}">
                  <a16:creationId xmlns:a16="http://schemas.microsoft.com/office/drawing/2014/main" id="{7A992A1D-5E35-4762-AAE2-45EE2F27EC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2743200"/>
              <a:ext cx="8505825" cy="1962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30724" name="Picture 9">
            <a:extLst>
              <a:ext uri="{FF2B5EF4-FFF2-40B4-BE49-F238E27FC236}">
                <a16:creationId xmlns:a16="http://schemas.microsoft.com/office/drawing/2014/main" id="{7528BEEF-74B3-42CC-B92A-4BA8BA7945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9925" y="3906838"/>
            <a:ext cx="7278688" cy="1319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5" name="Picture 10">
            <a:extLst>
              <a:ext uri="{FF2B5EF4-FFF2-40B4-BE49-F238E27FC236}">
                <a16:creationId xmlns:a16="http://schemas.microsoft.com/office/drawing/2014/main" id="{BBBD604C-2BCC-469E-915B-17986E7920F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3900" y="5330825"/>
            <a:ext cx="7924800" cy="106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27671F9B-DA03-4409-A9D4-48E08E50F354}"/>
              </a:ext>
            </a:extLst>
          </p:cNvPr>
          <p:cNvSpPr>
            <a:spLocks noChangeArrowheads="1"/>
          </p:cNvSpPr>
          <p:nvPr/>
        </p:nvSpPr>
        <p:spPr bwMode="auto">
          <a:xfrm>
            <a:off x="533400" y="1228725"/>
            <a:ext cx="8305800" cy="3847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dirty="0">
                <a:latin typeface="Tahoma" panose="020B0604030504040204" pitchFamily="34" charset="0"/>
                <a:cs typeface="Tahoma" panose="020B0604030504040204" pitchFamily="34" charset="0"/>
              </a:rPr>
              <a:t>Why are there two versions of the Queue methods?</a:t>
            </a:r>
          </a:p>
          <a:p>
            <a:pPr algn="ctr">
              <a:spcBef>
                <a:spcPct val="0"/>
              </a:spcBef>
              <a:buFontTx/>
              <a:buNone/>
            </a:pPr>
            <a:endParaRPr lang="en-US" altLang="en-US" sz="2400" b="0" dirty="0">
              <a:latin typeface="Tahoma" panose="020B0604030504040204" pitchFamily="34" charset="0"/>
              <a:cs typeface="Tahoma" panose="020B0604030504040204" pitchFamily="34" charset="0"/>
            </a:endParaRPr>
          </a:p>
          <a:p>
            <a:pPr>
              <a:spcBef>
                <a:spcPct val="0"/>
              </a:spcBef>
              <a:buFontTx/>
              <a:buNone/>
            </a:pPr>
            <a:r>
              <a:rPr lang="en-US" altLang="en-US" sz="2800" b="0" dirty="0">
                <a:latin typeface="Tahoma" panose="020B0604030504040204" pitchFamily="34" charset="0"/>
                <a:cs typeface="Tahoma" panose="020B0604030504040204" pitchFamily="34" charset="0"/>
              </a:rPr>
              <a:t>In some situations, it's expected that a queue will be empty, and in those cases, it isn’t appropriate to throw an exception, so a special value is returned. </a:t>
            </a:r>
          </a:p>
          <a:p>
            <a:pPr algn="ctr">
              <a:spcBef>
                <a:spcPct val="0"/>
              </a:spcBef>
              <a:buFontTx/>
              <a:buNone/>
            </a:pPr>
            <a:endParaRPr lang="en-US" altLang="en-US" sz="2800" b="0" dirty="0">
              <a:latin typeface="Tahoma" panose="020B0604030504040204" pitchFamily="34" charset="0"/>
              <a:cs typeface="Tahoma" panose="020B0604030504040204" pitchFamily="34" charset="0"/>
            </a:endParaRPr>
          </a:p>
          <a:p>
            <a:pPr>
              <a:spcBef>
                <a:spcPct val="0"/>
              </a:spcBef>
              <a:buFontTx/>
              <a:buNone/>
            </a:pPr>
            <a:r>
              <a:rPr lang="en-US" altLang="en-US" sz="2800" b="0" dirty="0">
                <a:latin typeface="Tahoma" panose="020B0604030504040204" pitchFamily="34" charset="0"/>
                <a:cs typeface="Tahoma" panose="020B0604030504040204" pitchFamily="34" charset="0"/>
              </a:rPr>
              <a:t>In other situations, it's an exceptional circumstance that the queue is empty, and an exception is appropriate.</a:t>
            </a:r>
          </a:p>
        </p:txBody>
      </p:sp>
    </p:spTree>
  </p:cSld>
  <p:clrMapOvr>
    <a:masterClrMapping/>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lnDef>
  </a:objectDefaults>
  <a:extraClrSchemeLst>
    <a:extraClrScheme>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C:\Program Files\Microsoft Office\Templates\Blank Presentation.pot</Template>
  <TotalTime>1012</TotalTime>
  <Words>1051</Words>
  <Application>Microsoft Office PowerPoint</Application>
  <PresentationFormat>On-screen Show (4:3)</PresentationFormat>
  <Paragraphs>224</Paragraphs>
  <Slides>24</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24</vt:i4>
      </vt:variant>
    </vt:vector>
  </HeadingPairs>
  <TitlesOfParts>
    <vt:vector size="33" baseType="lpstr">
      <vt:lpstr>Abadi</vt:lpstr>
      <vt:lpstr>Arial Black</vt:lpstr>
      <vt:lpstr>Bahnschrift</vt:lpstr>
      <vt:lpstr>DejaVu Sans Mono</vt:lpstr>
      <vt:lpstr>Impact</vt:lpstr>
      <vt:lpstr>Tahoma</vt:lpstr>
      <vt:lpstr>Times New Roman</vt:lpstr>
      <vt:lpstr>Trebuchet MS</vt:lpstr>
      <vt:lpstr>Blank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queues</dc:title>
  <dc:subject>Queues</dc:subject>
  <dc:creator>A+ Computer Science</dc:creator>
  <cp:keywords>www.apluscompsci.com</cp:keywords>
  <dc:description>Queues_x000d_
©A+ Computer Science_x000d_
www.apluscompsci.com</dc:description>
  <cp:lastModifiedBy>Weldon Jasik</cp:lastModifiedBy>
  <cp:revision>159</cp:revision>
  <dcterms:created xsi:type="dcterms:W3CDTF">1997-12-05T16:05:17Z</dcterms:created>
  <dcterms:modified xsi:type="dcterms:W3CDTF">2024-11-21T17:28:00Z</dcterms:modified>
  <cp:category>www.apluscompsci.com</cp:category>
</cp:coreProperties>
</file>