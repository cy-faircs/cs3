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51" r:id="rId2"/>
    <p:sldId id="352" r:id="rId3"/>
    <p:sldId id="361" r:id="rId4"/>
    <p:sldId id="422" r:id="rId5"/>
    <p:sldId id="461" r:id="rId6"/>
    <p:sldId id="460" r:id="rId7"/>
    <p:sldId id="446" r:id="rId8"/>
    <p:sldId id="447" r:id="rId9"/>
    <p:sldId id="448" r:id="rId10"/>
    <p:sldId id="449" r:id="rId11"/>
    <p:sldId id="455" r:id="rId12"/>
    <p:sldId id="456" r:id="rId13"/>
    <p:sldId id="457" r:id="rId14"/>
    <p:sldId id="458" r:id="rId15"/>
    <p:sldId id="459" r:id="rId16"/>
    <p:sldId id="394" r:id="rId17"/>
    <p:sldId id="417" r:id="rId18"/>
    <p:sldId id="420" r:id="rId19"/>
    <p:sldId id="421" r:id="rId20"/>
    <p:sldId id="383" r:id="rId21"/>
    <p:sldId id="364" r:id="rId22"/>
    <p:sldId id="375" r:id="rId23"/>
    <p:sldId id="462" r:id="rId24"/>
    <p:sldId id="463" r:id="rId25"/>
    <p:sldId id="379" r:id="rId26"/>
  </p:sldIdLst>
  <p:sldSz cx="9144000" cy="6858000" type="screen4x3"/>
  <p:notesSz cx="6858000" cy="9144000"/>
  <p:custDataLst>
    <p:tags r:id="rId2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F8FF"/>
    <a:srgbClr val="E7E7F9"/>
    <a:srgbClr val="CCFFFF"/>
    <a:srgbClr val="FF3300"/>
    <a:srgbClr val="000099"/>
    <a:srgbClr val="FFFFCC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58" autoAdjust="0"/>
    <p:restoredTop sz="94576" autoAdjust="0"/>
  </p:normalViewPr>
  <p:slideViewPr>
    <p:cSldViewPr>
      <p:cViewPr varScale="1">
        <p:scale>
          <a:sx n="51" d="100"/>
          <a:sy n="51" d="100"/>
        </p:scale>
        <p:origin x="67" y="8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3552"/>
    </p:cViewPr>
  </p:sorterViewPr>
  <p:notesViewPr>
    <p:cSldViewPr>
      <p:cViewPr varScale="1">
        <p:scale>
          <a:sx n="60" d="100"/>
          <a:sy n="60" d="100"/>
        </p:scale>
        <p:origin x="-17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87D0491C-8BB1-4E63-B568-44702F1062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F629CB9-C090-458C-8819-E5FD9CAB419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D3AD159B-6E5C-4378-A152-BC97C06B86A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3B06E243-4BE6-441C-946D-1F0F438C945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C46270BD-B350-4767-A600-67A929E82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026">
            <a:extLst>
              <a:ext uri="{FF2B5EF4-FFF2-40B4-BE49-F238E27FC236}">
                <a16:creationId xmlns:a16="http://schemas.microsoft.com/office/drawing/2014/main" id="{B367F9A6-BFA3-4CFE-AFFA-6FABC3DEA9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1027">
            <a:extLst>
              <a:ext uri="{FF2B5EF4-FFF2-40B4-BE49-F238E27FC236}">
                <a16:creationId xmlns:a16="http://schemas.microsoft.com/office/drawing/2014/main" id="{5A669AF1-D3F1-428C-86BB-75A700D5EDB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1028">
            <a:extLst>
              <a:ext uri="{FF2B5EF4-FFF2-40B4-BE49-F238E27FC236}">
                <a16:creationId xmlns:a16="http://schemas.microsoft.com/office/drawing/2014/main" id="{82F5F214-A885-4EA5-9526-1ABDA07BC7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5957" name="Rectangle 1029">
            <a:extLst>
              <a:ext uri="{FF2B5EF4-FFF2-40B4-BE49-F238E27FC236}">
                <a16:creationId xmlns:a16="http://schemas.microsoft.com/office/drawing/2014/main" id="{95F99B06-9DE7-4439-BB2D-08D0AC40E9B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1032">
            <a:extLst>
              <a:ext uri="{FF2B5EF4-FFF2-40B4-BE49-F238E27FC236}">
                <a16:creationId xmlns:a16="http://schemas.microsoft.com/office/drawing/2014/main" id="{20D3D880-C682-4B03-85FB-7CDCA6050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8686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defRPr/>
            </a:pPr>
            <a:r>
              <a:rPr lang="en-US" altLang="en-US" sz="1200"/>
              <a:t>©A+ Computer Science     www.apluscompsci.com                 </a:t>
            </a:r>
            <a:fld id="{A7EA4683-A35C-434B-949F-8FDB67CBCE3D}" type="slidenum">
              <a:rPr lang="en-US" altLang="en-US" sz="1200" smtClean="0"/>
              <a:pPr algn="r"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05D3903-BDA6-4A5D-B156-09170A07A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FD4E7B7-7D64-4F06-9B04-A9CC9FD7F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fld id="{A32FAD46-1F7E-489C-B01C-909D585ECB4B}" type="slidenum">
              <a:rPr lang="en-US" sz="1200" smtClean="0"/>
              <a:pPr>
                <a:defRPr/>
              </a:pPr>
              <a:t>7</a:t>
            </a:fld>
            <a:endParaRPr 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419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fld id="{991639D1-C0F9-4A80-883C-B1C36419D1CA}" type="slidenum">
              <a:rPr lang="en-US" sz="1200" smtClean="0"/>
              <a:pPr>
                <a:defRPr/>
              </a:pPr>
              <a:t>8</a:t>
            </a:fld>
            <a:endParaRPr lang="en-US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539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fld id="{9763C691-B60C-4E73-8F55-DA34D02222CE}" type="slidenum">
              <a:rPr lang="en-US" sz="1200" smtClean="0"/>
              <a:pPr>
                <a:defRPr/>
              </a:pPr>
              <a:t>9</a:t>
            </a:fld>
            <a:endParaRPr 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519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fld id="{0E5DDB78-431E-49E2-B41B-2AF5E9D770EA}" type="slidenum">
              <a:rPr lang="en-US" sz="1200" smtClean="0"/>
              <a:pPr>
                <a:defRPr/>
              </a:pPr>
              <a:t>10</a:t>
            </a:fld>
            <a:endParaRPr lang="en-US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028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fld id="{9640548F-B33D-4F85-90A9-787571AE93A8}" type="slidenum">
              <a:rPr lang="en-US" sz="1200" smtClean="0"/>
              <a:pPr>
                <a:defRPr/>
              </a:pPr>
              <a:t>11</a:t>
            </a:fld>
            <a:endParaRPr 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>
                <a:latin typeface="Times" pitchFamily="18" charset="0"/>
              </a:rPr>
              <a:t>Separating the list into smaller parts (the recursive part);</a:t>
            </a:r>
          </a:p>
        </p:txBody>
      </p:sp>
    </p:spTree>
    <p:extLst>
      <p:ext uri="{BB962C8B-B14F-4D97-AF65-F5344CB8AC3E}">
        <p14:creationId xmlns:p14="http://schemas.microsoft.com/office/powerpoint/2010/main" val="3303210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fld id="{9640548F-B33D-4F85-90A9-787571AE93A8}" type="slidenum">
              <a:rPr lang="en-US" sz="1200" smtClean="0"/>
              <a:pPr>
                <a:defRPr/>
              </a:pPr>
              <a:t>12</a:t>
            </a:fld>
            <a:endParaRPr 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148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fld id="{9640548F-B33D-4F85-90A9-787571AE93A8}" type="slidenum">
              <a:rPr lang="en-US" sz="1200" smtClean="0"/>
              <a:pPr>
                <a:defRPr/>
              </a:pPr>
              <a:t>13</a:t>
            </a:fld>
            <a:endParaRPr 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>
                <a:latin typeface="Times" pitchFamily="18" charset="0"/>
              </a:rPr>
              <a:t>Separating the list into smaller parts (the recursive part);</a:t>
            </a:r>
          </a:p>
        </p:txBody>
      </p:sp>
    </p:spTree>
    <p:extLst>
      <p:ext uri="{BB962C8B-B14F-4D97-AF65-F5344CB8AC3E}">
        <p14:creationId xmlns:p14="http://schemas.microsoft.com/office/powerpoint/2010/main" val="1377263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fld id="{CCCC0411-6E4D-4FE1-B46A-D7577C74C66A}" type="slidenum">
              <a:rPr lang="en-US" sz="1200" smtClean="0"/>
              <a:pPr>
                <a:defRPr/>
              </a:pPr>
              <a:t>14</a:t>
            </a:fld>
            <a:endParaRPr lang="en-US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375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defRPr/>
            </a:pPr>
            <a:fld id="{CCCC0411-6E4D-4FE1-B46A-D7577C74C66A}" type="slidenum">
              <a:rPr lang="en-US" sz="1200" smtClean="0"/>
              <a:pPr>
                <a:defRPr/>
              </a:pPr>
              <a:t>15</a:t>
            </a:fld>
            <a:endParaRPr lang="en-US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21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A8CC52-3862-4ACE-89FD-09E4C142C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CD8874-FFCC-49E4-B7EA-6EC9752C34F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02A23-FE45-4C6C-8E42-301C178086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A98C0A5-73DC-47DD-BBBB-F091C65B7AE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106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6CD897-2F44-4EDB-8B3A-147EA0818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918995-F7B0-48F6-8D0F-668DEEAD2A1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C63B8-F0A3-482D-A443-74DD21E659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6B2211-4E97-4F7E-AEEF-B1BEEC2FC35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00999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D0E77B-F561-461A-877A-29D9D160CB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43F920D-B58E-4682-B3DF-8FADA5BC90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0B55F-2876-4EAD-A045-1ADB294FD9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E93DBF8-097E-4C6E-927C-C4B8F720148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8088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4DDAC-09E0-48BD-93F3-4ECBB9611E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DEA7B6-E3BB-4C58-B44A-C48FF7B194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E9FA1-B154-4B57-914F-37117C7CA9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4981C88-1941-45B9-8C18-B3658846AD2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71056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632345-608C-49B8-AEC8-9C676831D5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81D9200-CBFC-4828-A3BC-95E6716B5B5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6F7A5-19D7-4576-9925-540982FBE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F53EE7C-3E18-4F79-BA03-1B5BCA49646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357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46B13D3-5D6C-47C1-AE3F-EB6A0D0249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385C78F-1FD3-4167-9869-8A5D796AD7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DE889-B7C0-437C-AD40-A196D49EB3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0E7C065-7E2F-46EA-B2F1-7936A1A45D3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8558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B3A6CA5-6D1D-4051-88D7-19588B3C62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47E961D-E5EA-4AA1-8A2A-A9CCCAAD9B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37814E-87E0-4B02-AC1E-B53621157F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26DBD43-876C-42CE-8AE7-F0DCF7ACB19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2935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CDAA5-4869-4078-9BAB-93CB43A87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7259A2-F7C5-4548-B507-984EFF7BAD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62F48-9C5E-4D4D-8870-625A56567B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C4FBAB5-FA0D-4522-8132-5E048D45BE3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99895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EE6386-8858-4420-AA97-23108FA1C1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9F7280-4DBC-4800-A2EF-A02CC20104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2DF1D-8E01-4AA9-BE86-CE9723E463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7101040-6843-4605-9B5D-F53A35FD862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26837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8F5584-814E-4EF4-A6C9-0D60D6E267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8E5969-CB0E-4945-AADE-9AB590DD4E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7186D0-3B87-4164-A478-950520254A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FDE0B82-70CC-4C5F-B7D5-E80CE331FD0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83808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261843-7CA5-4C69-8BC9-F2CFA33C6F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A4F86C-067A-4A84-B940-BABB4A6C12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888E5-7BFD-4BBB-BF47-CFC32D9701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92B52A6-6E9A-4628-A0DA-7D66B67EA96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20977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5AD7865-43D2-4847-8D3C-C720F3744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3289320-2EB4-4DCD-8434-0F93A9E19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BFBD06-AEB8-48D0-B610-5F63890E57D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EDC340B-C886-4452-97C5-4DCE12B879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F010C95-9A13-4219-9D1E-353A0CD038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9D4346C-A7C0-43B2-B2A1-92C52E41CA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anose="020B0604030504040204" pitchFamily="34" charset="0"/>
            </a:endParaRPr>
          </a:p>
          <a:p>
            <a:pPr>
              <a:defRPr/>
            </a:pPr>
            <a:endParaRPr lang="en-US" b="1">
              <a:latin typeface="Tahoma" panose="020B0604030504040204" pitchFamily="34" charset="0"/>
            </a:endParaRPr>
          </a:p>
          <a:p>
            <a:pPr>
              <a:defRPr/>
            </a:pPr>
            <a:r>
              <a:rPr lang="en-US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>
            <a:extLst>
              <a:ext uri="{FF2B5EF4-FFF2-40B4-BE49-F238E27FC236}">
                <a16:creationId xmlns:a16="http://schemas.microsoft.com/office/drawing/2014/main" id="{50322FAF-157C-4E8D-9E42-12692BAF51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03" name="WordArt 2">
            <a:extLst>
              <a:ext uri="{FF2B5EF4-FFF2-40B4-BE49-F238E27FC236}">
                <a16:creationId xmlns:a16="http://schemas.microsoft.com/office/drawing/2014/main" id="{6047F23A-5055-4506-B9A3-9B5B0F9B213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1600200"/>
            <a:ext cx="6934200" cy="320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Divide and Conquer</a:t>
            </a:r>
          </a:p>
          <a:p>
            <a:pPr algn="ctr"/>
            <a:r>
              <a:rPr lang="pt-BR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Algorithms</a:t>
            </a:r>
          </a:p>
          <a:p>
            <a:pPr algn="ctr"/>
            <a:r>
              <a:rPr lang="pt-BR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0 ( N Log2N ) </a:t>
            </a:r>
            <a:endParaRPr lang="en-US" sz="3600" kern="1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54519BE7-73E0-4EAC-B474-7389F9F12D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7B8D0045-C90A-4580-AF0E-9BB1A90B4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752600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2" name="Text Box 3">
            <a:extLst>
              <a:ext uri="{FF2B5EF4-FFF2-40B4-BE49-F238E27FC236}">
                <a16:creationId xmlns:a16="http://schemas.microsoft.com/office/drawing/2014/main" id="{DC989CA5-8038-4A3E-9FA0-C262C56AD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752600"/>
            <a:ext cx="57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32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3" name="Text Box 4">
            <a:extLst>
              <a:ext uri="{FF2B5EF4-FFF2-40B4-BE49-F238E27FC236}">
                <a16:creationId xmlns:a16="http://schemas.microsoft.com/office/drawing/2014/main" id="{D715D3FD-B17B-445D-B5BD-3D50C82E9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419350"/>
            <a:ext cx="57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16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4" name="Text Box 5">
            <a:extLst>
              <a:ext uri="{FF2B5EF4-FFF2-40B4-BE49-F238E27FC236}">
                <a16:creationId xmlns:a16="http://schemas.microsoft.com/office/drawing/2014/main" id="{B400CEA2-D314-45E8-AFF5-E3CC6357E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514600"/>
            <a:ext cx="57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16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5" name="Text Box 6">
            <a:extLst>
              <a:ext uri="{FF2B5EF4-FFF2-40B4-BE49-F238E27FC236}">
                <a16:creationId xmlns:a16="http://schemas.microsoft.com/office/drawing/2014/main" id="{E2DDFB1E-DA77-4FD5-9909-33C14E26F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32575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6" name="Text Box 7">
            <a:extLst>
              <a:ext uri="{FF2B5EF4-FFF2-40B4-BE49-F238E27FC236}">
                <a16:creationId xmlns:a16="http://schemas.microsoft.com/office/drawing/2014/main" id="{93B65A96-B9CD-4C67-93ED-9157F8FDC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2766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7" name="Text Box 8">
            <a:extLst>
              <a:ext uri="{FF2B5EF4-FFF2-40B4-BE49-F238E27FC236}">
                <a16:creationId xmlns:a16="http://schemas.microsoft.com/office/drawing/2014/main" id="{941DC64A-ECC2-48F1-9104-D81002190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3181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8" name="Text Box 9">
            <a:extLst>
              <a:ext uri="{FF2B5EF4-FFF2-40B4-BE49-F238E27FC236}">
                <a16:creationId xmlns:a16="http://schemas.microsoft.com/office/drawing/2014/main" id="{35EA9C8A-C851-4071-A917-329242719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3181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9" name="Text Box 10">
            <a:extLst>
              <a:ext uri="{FF2B5EF4-FFF2-40B4-BE49-F238E27FC236}">
                <a16:creationId xmlns:a16="http://schemas.microsoft.com/office/drawing/2014/main" id="{DEE99320-F13D-4D42-8A66-425CDEB4B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3943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0" name="Text Box 11">
            <a:extLst>
              <a:ext uri="{FF2B5EF4-FFF2-40B4-BE49-F238E27FC236}">
                <a16:creationId xmlns:a16="http://schemas.microsoft.com/office/drawing/2014/main" id="{897CD64E-FC5B-433B-9F38-A1659440A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3943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1" name="Text Box 12">
            <a:extLst>
              <a:ext uri="{FF2B5EF4-FFF2-40B4-BE49-F238E27FC236}">
                <a16:creationId xmlns:a16="http://schemas.microsoft.com/office/drawing/2014/main" id="{AE7E6AF3-1B93-4796-B8BC-090E8A570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8862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2" name="Text Box 13">
            <a:extLst>
              <a:ext uri="{FF2B5EF4-FFF2-40B4-BE49-F238E27FC236}">
                <a16:creationId xmlns:a16="http://schemas.microsoft.com/office/drawing/2014/main" id="{D12695EB-080E-4938-BC8A-0CBE47C16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8862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3" name="Text Box 14">
            <a:extLst>
              <a:ext uri="{FF2B5EF4-FFF2-40B4-BE49-F238E27FC236}">
                <a16:creationId xmlns:a16="http://schemas.microsoft.com/office/drawing/2014/main" id="{584918C5-F0E3-4070-B037-BDB69F8F0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8100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4" name="Text Box 15">
            <a:extLst>
              <a:ext uri="{FF2B5EF4-FFF2-40B4-BE49-F238E27FC236}">
                <a16:creationId xmlns:a16="http://schemas.microsoft.com/office/drawing/2014/main" id="{DED59A16-7658-4D4D-B27A-9981CA7E8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8100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5" name="Text Box 16">
            <a:extLst>
              <a:ext uri="{FF2B5EF4-FFF2-40B4-BE49-F238E27FC236}">
                <a16:creationId xmlns:a16="http://schemas.microsoft.com/office/drawing/2014/main" id="{1A563325-0056-4510-8147-5EEF5EE35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8100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6" name="Text Box 17">
            <a:extLst>
              <a:ext uri="{FF2B5EF4-FFF2-40B4-BE49-F238E27FC236}">
                <a16:creationId xmlns:a16="http://schemas.microsoft.com/office/drawing/2014/main" id="{90AE85A0-EEF6-4E1D-9323-6D0F092C2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525" y="37909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pic>
        <p:nvPicPr>
          <p:cNvPr id="53267" name="Picture 18" descr="pcs_popular_134">
            <a:extLst>
              <a:ext uri="{FF2B5EF4-FFF2-40B4-BE49-F238E27FC236}">
                <a16:creationId xmlns:a16="http://schemas.microsoft.com/office/drawing/2014/main" id="{12302473-47A4-4CDF-8870-33D79102B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724400"/>
            <a:ext cx="33528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68" name="WordArt 19">
            <a:extLst>
              <a:ext uri="{FF2B5EF4-FFF2-40B4-BE49-F238E27FC236}">
                <a16:creationId xmlns:a16="http://schemas.microsoft.com/office/drawing/2014/main" id="{8A80E471-CAD6-4FEB-8852-6BB20B6165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609600"/>
            <a:ext cx="6553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Divide and Conquer</a:t>
            </a:r>
          </a:p>
        </p:txBody>
      </p:sp>
      <p:sp>
        <p:nvSpPr>
          <p:cNvPr id="53269" name="Line 20">
            <a:extLst>
              <a:ext uri="{FF2B5EF4-FFF2-40B4-BE49-F238E27FC236}">
                <a16:creationId xmlns:a16="http://schemas.microsoft.com/office/drawing/2014/main" id="{9E33DBEE-F7D5-4CCB-8CB4-F8B20FBBFC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2819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0" name="Line 21">
            <a:extLst>
              <a:ext uri="{FF2B5EF4-FFF2-40B4-BE49-F238E27FC236}">
                <a16:creationId xmlns:a16="http://schemas.microsoft.com/office/drawing/2014/main" id="{B16C5E63-3928-40C9-9AF6-F1542E4C3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7432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1" name="Line 22">
            <a:extLst>
              <a:ext uri="{FF2B5EF4-FFF2-40B4-BE49-F238E27FC236}">
                <a16:creationId xmlns:a16="http://schemas.microsoft.com/office/drawing/2014/main" id="{FD88AF38-8005-434D-8D27-6E0C1B4415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1981200"/>
            <a:ext cx="1524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2" name="Line 23">
            <a:extLst>
              <a:ext uri="{FF2B5EF4-FFF2-40B4-BE49-F238E27FC236}">
                <a16:creationId xmlns:a16="http://schemas.microsoft.com/office/drawing/2014/main" id="{63DCCBB6-E57B-43F5-A6D0-A22168DCE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9812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3" name="Line 24">
            <a:extLst>
              <a:ext uri="{FF2B5EF4-FFF2-40B4-BE49-F238E27FC236}">
                <a16:creationId xmlns:a16="http://schemas.microsoft.com/office/drawing/2014/main" id="{2CBD1211-FDFC-400C-8915-9147406473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36576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4" name="Line 25">
            <a:extLst>
              <a:ext uri="{FF2B5EF4-FFF2-40B4-BE49-F238E27FC236}">
                <a16:creationId xmlns:a16="http://schemas.microsoft.com/office/drawing/2014/main" id="{767ABA90-F516-49EE-BBD9-903B55F44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6576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5" name="Line 26">
            <a:extLst>
              <a:ext uri="{FF2B5EF4-FFF2-40B4-BE49-F238E27FC236}">
                <a16:creationId xmlns:a16="http://schemas.microsoft.com/office/drawing/2014/main" id="{6DD63B6D-AA26-4171-918D-E2AB4ABB1B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657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6" name="Line 27">
            <a:extLst>
              <a:ext uri="{FF2B5EF4-FFF2-40B4-BE49-F238E27FC236}">
                <a16:creationId xmlns:a16="http://schemas.microsoft.com/office/drawing/2014/main" id="{B9AAB633-2A60-4408-A14D-1A1813992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581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7" name="Line 28">
            <a:extLst>
              <a:ext uri="{FF2B5EF4-FFF2-40B4-BE49-F238E27FC236}">
                <a16:creationId xmlns:a16="http://schemas.microsoft.com/office/drawing/2014/main" id="{72499CEF-8315-4084-B39A-1B1D85B169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3581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8" name="Line 29">
            <a:extLst>
              <a:ext uri="{FF2B5EF4-FFF2-40B4-BE49-F238E27FC236}">
                <a16:creationId xmlns:a16="http://schemas.microsoft.com/office/drawing/2014/main" id="{21A2E79A-313E-4F19-80F3-04C63DB61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5814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9" name="Line 30">
            <a:extLst>
              <a:ext uri="{FF2B5EF4-FFF2-40B4-BE49-F238E27FC236}">
                <a16:creationId xmlns:a16="http://schemas.microsoft.com/office/drawing/2014/main" id="{126B757E-1944-49A8-A850-C319266C79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28956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0" name="Line 31">
            <a:extLst>
              <a:ext uri="{FF2B5EF4-FFF2-40B4-BE49-F238E27FC236}">
                <a16:creationId xmlns:a16="http://schemas.microsoft.com/office/drawing/2014/main" id="{5E0C2B1C-A73F-4D90-AA20-69079CAF5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819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1" name="Line 32">
            <a:extLst>
              <a:ext uri="{FF2B5EF4-FFF2-40B4-BE49-F238E27FC236}">
                <a16:creationId xmlns:a16="http://schemas.microsoft.com/office/drawing/2014/main" id="{CF1BF35D-5F5E-4BC9-88D3-6C64FBA3CF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35814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2" name="Line 33">
            <a:extLst>
              <a:ext uri="{FF2B5EF4-FFF2-40B4-BE49-F238E27FC236}">
                <a16:creationId xmlns:a16="http://schemas.microsoft.com/office/drawing/2014/main" id="{54C25F53-37D8-4B7A-8A66-B12C3E056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5814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>
            <a:extLst>
              <a:ext uri="{FF2B5EF4-FFF2-40B4-BE49-F238E27FC236}">
                <a16:creationId xmlns:a16="http://schemas.microsoft.com/office/drawing/2014/main" id="{DF8CA4EE-B52D-4723-9DA4-2C245A12B1C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aphicFrame>
        <p:nvGraphicFramePr>
          <p:cNvPr id="54275" name="Object 2">
            <a:extLst>
              <a:ext uri="{FF2B5EF4-FFF2-40B4-BE49-F238E27FC236}">
                <a16:creationId xmlns:a16="http://schemas.microsoft.com/office/drawing/2014/main" id="{6DDBA8EF-A83C-4406-B6C3-DDE48162B4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066800"/>
          <a:ext cx="7315200" cy="544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5357813" imgH="3992563" progId="MS_ClipArt_Gallery.2">
                  <p:embed/>
                </p:oleObj>
              </mc:Choice>
              <mc:Fallback>
                <p:oleObj name="Clip" r:id="rId2" imgW="5357813" imgH="3992563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066800"/>
                        <a:ext cx="7315200" cy="54498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6" name="WordArt 3">
            <a:extLst>
              <a:ext uri="{FF2B5EF4-FFF2-40B4-BE49-F238E27FC236}">
                <a16:creationId xmlns:a16="http://schemas.microsoft.com/office/drawing/2014/main" id="{53D53199-7DC6-47EB-9F5E-135C02BE6CE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71600" y="1600200"/>
            <a:ext cx="6019800" cy="2895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563972" dir="14049741" sx="125000" sy="125000" algn="tl" rotWithShape="0">
                    <a:srgbClr val="C7DFD3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Merge Sort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345BB5-C773-426F-AC8A-2864BF85A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57200"/>
            <a:ext cx="312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Merge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649FC2-D67E-466F-A702-E2CDF2032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7772400" cy="486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Monotype Sorts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SzPct val="60000"/>
              <a:buFont typeface="Wingdings" pitchFamily="2" charset="2"/>
              <a:buChar char="§"/>
              <a:tabLst/>
              <a:defRPr/>
            </a:pP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</a:t>
            </a: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merge sort </a:t>
            </a: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splits the list to be sorted into two </a:t>
            </a:r>
            <a:r>
              <a:rPr lang="en-US" sz="3600" b="0" kern="0" dirty="0">
                <a:solidFill>
                  <a:srgbClr val="000000"/>
                </a:solidFill>
                <a:latin typeface="Arial"/>
              </a:rPr>
              <a:t>~</a:t>
            </a: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equal halves.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CCFF"/>
              </a:buClr>
              <a:buSzPct val="60000"/>
              <a:buFont typeface="Wingdings" pitchFamily="2" charset="2"/>
              <a:buChar char="§"/>
              <a:tabLst/>
              <a:defRPr/>
            </a:pPr>
            <a:r>
              <a:rPr kumimoji="1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Each pair of arrays is then merged back together, putting the elements in order during the merge.</a:t>
            </a:r>
          </a:p>
        </p:txBody>
      </p:sp>
    </p:spTree>
    <p:extLst>
      <p:ext uri="{BB962C8B-B14F-4D97-AF65-F5344CB8AC3E}">
        <p14:creationId xmlns:p14="http://schemas.microsoft.com/office/powerpoint/2010/main" val="1093802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FACC21-D43D-4187-950E-D07946E50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978315"/>
              </p:ext>
            </p:extLst>
          </p:nvPr>
        </p:nvGraphicFramePr>
        <p:xfrm>
          <a:off x="152400" y="381000"/>
          <a:ext cx="8610600" cy="4419600"/>
        </p:xfrm>
        <a:graphic>
          <a:graphicData uri="http://schemas.openxmlformats.org/drawingml/2006/table">
            <a:tbl>
              <a:tblPr/>
              <a:tblGrid>
                <a:gridCol w="1435100">
                  <a:extLst>
                    <a:ext uri="{9D8B030D-6E8A-4147-A177-3AD203B41FA5}">
                      <a16:colId xmlns:a16="http://schemas.microsoft.com/office/drawing/2014/main" val="2875419273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255897905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75091514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112110734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895808993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794312089"/>
                    </a:ext>
                  </a:extLst>
                </a:gridCol>
              </a:tblGrid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555555"/>
                          </a:solidFill>
                          <a:effectLst/>
                        </a:rPr>
                        <a:t>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555555"/>
                          </a:solidFill>
                          <a:effectLst/>
                        </a:rPr>
                        <a:t>Bubble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555555"/>
                          </a:solidFill>
                          <a:effectLst/>
                        </a:rPr>
                        <a:t>Selection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555555"/>
                          </a:solidFill>
                          <a:effectLst/>
                        </a:rPr>
                        <a:t>Insertion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555555"/>
                          </a:solidFill>
                          <a:effectLst/>
                        </a:rPr>
                        <a:t>Merge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555555"/>
                          </a:solidFill>
                          <a:effectLst/>
                        </a:rPr>
                        <a:t>Quick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384704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268,337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172,188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112,927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1,354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1,251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661099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20,000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1,153,151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698,674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461,337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3,266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2,167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3086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30,000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2,608,569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1,500,900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1,003,081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5,153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3,622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964813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40,000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4,616,671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2,678,436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1,736,024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7,259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5,162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684920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50,000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7,256,359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4,331,037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2,885,653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8,673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6,439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17672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60,000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10,316,054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5,965,544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4,086,762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13,304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8,664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106426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70,000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14,760,440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8,406,086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5,481,356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13,352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9,916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075951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80,000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18,946,896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10,907,601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6,936,996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13,933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11,119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067534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90,000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24,215,815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13,973,373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9,193,457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16,549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12,253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872842"/>
                  </a:ext>
                </a:extLst>
              </a:tr>
              <a:tr h="39485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100,000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30,075,729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17,215,122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1,1014,322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18,453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12,940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20371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83F7BE9-16FD-46AC-A44C-8B7B2987C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019800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Merriweather Sans"/>
              </a:rPr>
              <a:t>N is the number of integers in </a:t>
            </a:r>
            <a:r>
              <a:rPr lang="en-US" altLang="en-US" sz="2400" b="0" dirty="0">
                <a:solidFill>
                  <a:srgbClr val="0A0A0A"/>
                </a:solidFill>
                <a:latin typeface="Merriweather Sans"/>
              </a:rPr>
              <a:t>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Merriweather Sans"/>
              </a:rPr>
              <a:t>array.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678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Ultimate Sorting Algorithms Comparison">
            <a:extLst>
              <a:ext uri="{FF2B5EF4-FFF2-40B4-BE49-F238E27FC236}">
                <a16:creationId xmlns:a16="http://schemas.microsoft.com/office/drawing/2014/main" id="{5E443635-4DD6-496E-AEE8-4D55F1A2B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2" y="609600"/>
            <a:ext cx="9144000" cy="404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D4444F-B42B-4D6F-8D80-B3270A108855}"/>
              </a:ext>
            </a:extLst>
          </p:cNvPr>
          <p:cNvSpPr/>
          <p:nvPr/>
        </p:nvSpPr>
        <p:spPr bwMode="auto">
          <a:xfrm>
            <a:off x="2743200" y="609600"/>
            <a:ext cx="8382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33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Merge Sort (cont’d)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8382000" cy="67056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99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Put each element into its own list of one element.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90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51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18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0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000" b="1">
                <a:solidFill>
                  <a:srgbClr val="000000"/>
                </a:solidFill>
                <a:cs typeface="Times New Roman" pitchFamily="18" charset="0"/>
              </a:rPr>
              <a:t>The divide and conquer approach of the merge sort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69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Merge Sort (cont’d)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8382000" cy="1341438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7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Put each element into its own list of one element.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90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51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18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7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Merge every two lists above into a single sorted list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72  83 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40  90 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30  51 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18  75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30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000" b="1">
                <a:solidFill>
                  <a:srgbClr val="000000"/>
                </a:solidFill>
                <a:cs typeface="Times New Roman" pitchFamily="18" charset="0"/>
              </a:rPr>
              <a:t>The divide and conquer approach of the merge sort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Merge Sort (cont’d)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8382000" cy="201168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45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Put each element into its own list of one element.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90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51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18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Merge every two lists above into a single sorted list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72  83 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40  90 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30  51 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18  75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45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Merge every two lists above into a single sorted list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40  72  83  90    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18  30  51  75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5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000" b="1">
                <a:solidFill>
                  <a:srgbClr val="000000"/>
                </a:solidFill>
                <a:cs typeface="Times New Roman" pitchFamily="18" charset="0"/>
              </a:rPr>
              <a:t>The divide and conquer approach of the merge sort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2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Merge Sort (cont’d)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76400"/>
          <a:ext cx="8382000" cy="2682876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7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Put each element into its own list of one element.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90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51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18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7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Merge every two lists above into a single sorted list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72  83 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40  90    </a:t>
                      </a: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30  51 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18  75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7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Merge every two lists above into a single sorted list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40  72  83  90       </a:t>
                      </a:r>
                      <a:r>
                        <a:rPr lang="en-US" sz="2200" b="1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18  30  51  75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7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Merge the two lists above into the final sorted list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66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18  30  40  51  72  75  83  90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284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000" b="1">
                <a:solidFill>
                  <a:srgbClr val="000000"/>
                </a:solidFill>
                <a:cs typeface="Times New Roman" pitchFamily="18" charset="0"/>
              </a:rPr>
              <a:t>The divide and conquer approach of the merge sort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40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39700"/>
            <a:ext cx="7924800" cy="685800"/>
          </a:xfrm>
        </p:spPr>
        <p:txBody>
          <a:bodyPr/>
          <a:lstStyle/>
          <a:p>
            <a:pPr eaLnBrk="1" hangingPunct="1"/>
            <a:r>
              <a:rPr lang="en-US"/>
              <a:t>Merge Sort (cont’d)</a:t>
            </a: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228600" y="1524000"/>
            <a:ext cx="7620000" cy="3352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t" anchorCtr="0"/>
          <a:lstStyle/>
          <a:p>
            <a:pPr>
              <a:tabLst>
                <a:tab pos="457200" algn="l"/>
                <a:tab pos="914400" algn="l"/>
              </a:tabLst>
            </a:pPr>
            <a:r>
              <a:rPr lang="en-US" sz="3200" b="1" dirty="0">
                <a:solidFill>
                  <a:srgbClr val="0000FF"/>
                </a:solidFill>
              </a:rPr>
              <a:t>void </a:t>
            </a:r>
            <a:r>
              <a:rPr lang="en-US" sz="3200" dirty="0"/>
              <a:t>s</a:t>
            </a:r>
            <a:r>
              <a:rPr lang="en-US" sz="3200" b="1" dirty="0"/>
              <a:t>ort(Object[] list) {</a:t>
            </a:r>
          </a:p>
          <a:p>
            <a:pPr>
              <a:tabLst>
                <a:tab pos="457200" algn="l"/>
                <a:tab pos="914400" algn="l"/>
              </a:tabLst>
            </a:pPr>
            <a:r>
              <a:rPr lang="en-US" sz="3200" b="1" dirty="0"/>
              <a:t>	sort(list, 0, </a:t>
            </a:r>
            <a:r>
              <a:rPr lang="en-US" sz="3200" b="1" dirty="0" err="1"/>
              <a:t>list.length</a:t>
            </a:r>
            <a:r>
              <a:rPr lang="en-US" sz="3200" b="1" dirty="0"/>
              <a:t> - 1);</a:t>
            </a:r>
          </a:p>
          <a:p>
            <a:pPr>
              <a:tabLst>
                <a:tab pos="457200" algn="l"/>
                <a:tab pos="914400" algn="l"/>
              </a:tabLst>
            </a:pPr>
            <a:r>
              <a:rPr lang="en-US" sz="3200" b="1" dirty="0"/>
              <a:t>}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2362200" y="3048000"/>
            <a:ext cx="6248400" cy="1828800"/>
          </a:xfrm>
          <a:prstGeom prst="rect">
            <a:avLst/>
          </a:prstGeom>
          <a:solidFill>
            <a:schemeClr val="accent5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This is a convenience method. If the array is full the user is not required to pass parameters for </a:t>
            </a:r>
            <a:r>
              <a:rPr lang="en-US" i="1" dirty="0" err="1"/>
              <a:t>fromIndex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 err="1"/>
              <a:t>toIndex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389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39700"/>
            <a:ext cx="7924800" cy="685800"/>
          </a:xfrm>
        </p:spPr>
        <p:txBody>
          <a:bodyPr/>
          <a:lstStyle/>
          <a:p>
            <a:pPr eaLnBrk="1" hangingPunct="1"/>
            <a:r>
              <a:rPr lang="en-US"/>
              <a:t>Merge Sort (cont’d)</a:t>
            </a: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0" y="1600200"/>
            <a:ext cx="9144000" cy="3352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t" anchorCtr="0"/>
          <a:lstStyle/>
          <a:p>
            <a:pPr>
              <a:tabLst>
                <a:tab pos="457200" algn="l"/>
                <a:tab pos="914400" algn="l"/>
              </a:tabLst>
            </a:pPr>
            <a:r>
              <a:rPr lang="en-US" b="1" dirty="0">
                <a:solidFill>
                  <a:srgbClr val="0000FF"/>
                </a:solidFill>
              </a:rPr>
              <a:t>void </a:t>
            </a:r>
            <a:r>
              <a:rPr lang="en-US" b="1" dirty="0"/>
              <a:t>sort(Object[] list, </a:t>
            </a:r>
            <a:r>
              <a:rPr lang="en-US" b="1" dirty="0">
                <a:solidFill>
                  <a:srgbClr val="0000FF"/>
                </a:solidFill>
              </a:rPr>
              <a:t>int</a:t>
            </a:r>
            <a:r>
              <a:rPr lang="en-US" b="1" dirty="0"/>
              <a:t> </a:t>
            </a:r>
            <a:r>
              <a:rPr lang="en-US" b="1" dirty="0" err="1"/>
              <a:t>fromIndex</a:t>
            </a:r>
            <a:r>
              <a:rPr lang="en-US" b="1" dirty="0"/>
              <a:t>, </a:t>
            </a:r>
            <a:r>
              <a:rPr lang="en-US" b="1" dirty="0">
                <a:solidFill>
                  <a:srgbClr val="0000FF"/>
                </a:solidFill>
              </a:rPr>
              <a:t>int</a:t>
            </a:r>
            <a:r>
              <a:rPr lang="en-US" b="1" dirty="0"/>
              <a:t> </a:t>
            </a:r>
            <a:r>
              <a:rPr lang="en-US" b="1" dirty="0" err="1"/>
              <a:t>toIndex</a:t>
            </a:r>
            <a:r>
              <a:rPr lang="en-US" b="1" dirty="0"/>
              <a:t>) </a:t>
            </a:r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{</a:t>
            </a:r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	</a:t>
            </a:r>
            <a:r>
              <a:rPr lang="en-US" b="1" dirty="0" err="1"/>
              <a:t>mergeSort</a:t>
            </a:r>
            <a:r>
              <a:rPr lang="en-US" b="1" dirty="0"/>
              <a:t>(list, </a:t>
            </a:r>
            <a:r>
              <a:rPr lang="en-US" b="1" dirty="0" err="1"/>
              <a:t>fromIndex</a:t>
            </a:r>
            <a:r>
              <a:rPr lang="en-US" b="1" dirty="0"/>
              <a:t>, </a:t>
            </a:r>
            <a:r>
              <a:rPr lang="en-US" b="1" dirty="0" err="1"/>
              <a:t>toIndex</a:t>
            </a:r>
            <a:r>
              <a:rPr lang="en-US" b="1" dirty="0"/>
              <a:t> - 1);</a:t>
            </a:r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}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57400" y="3646944"/>
            <a:ext cx="6477000" cy="2246769"/>
          </a:xfrm>
          <a:prstGeom prst="rect">
            <a:avLst/>
          </a:prstGeom>
          <a:solidFill>
            <a:schemeClr val="accent5"/>
          </a:solidFill>
          <a:effectLst>
            <a:outerShdw blurRad="50800" dist="1143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This method allows the user to pass the number of elements in the array as the ending parameter. </a:t>
            </a:r>
          </a:p>
          <a:p>
            <a:endParaRPr lang="en-US" dirty="0"/>
          </a:p>
          <a:p>
            <a:r>
              <a:rPr lang="en-US" dirty="0"/>
              <a:t>I.e.      </a:t>
            </a:r>
            <a:r>
              <a:rPr lang="en-US" b="1" dirty="0"/>
              <a:t>sort(list, key, 0, </a:t>
            </a:r>
            <a:r>
              <a:rPr lang="en-US" b="1" i="1" dirty="0"/>
              <a:t>count</a:t>
            </a:r>
            <a:r>
              <a:rPr lang="en-US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6102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39700"/>
            <a:ext cx="7924800" cy="685800"/>
          </a:xfrm>
        </p:spPr>
        <p:txBody>
          <a:bodyPr/>
          <a:lstStyle/>
          <a:p>
            <a:pPr eaLnBrk="1" hangingPunct="1"/>
            <a:r>
              <a:rPr lang="en-US"/>
              <a:t>Merge Sort (cont’d)</a:t>
            </a: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304800" y="1600200"/>
            <a:ext cx="8839200" cy="3352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tabLst>
                <a:tab pos="457200" algn="l"/>
                <a:tab pos="914400" algn="l"/>
              </a:tabLst>
            </a:pPr>
            <a:r>
              <a:rPr lang="en-US" b="1" dirty="0">
                <a:solidFill>
                  <a:srgbClr val="0000FF"/>
                </a:solidFill>
              </a:rPr>
              <a:t>void </a:t>
            </a:r>
            <a:r>
              <a:rPr lang="en-US" b="1" dirty="0" err="1"/>
              <a:t>mergeSort</a:t>
            </a:r>
            <a:r>
              <a:rPr lang="en-US" b="1" dirty="0"/>
              <a:t>(Object[] list, </a:t>
            </a:r>
            <a:r>
              <a:rPr lang="en-US" b="1" dirty="0">
                <a:solidFill>
                  <a:srgbClr val="0000FF"/>
                </a:solidFill>
              </a:rPr>
              <a:t>int</a:t>
            </a:r>
            <a:r>
              <a:rPr lang="en-US" b="1" dirty="0"/>
              <a:t> low, </a:t>
            </a:r>
            <a:r>
              <a:rPr lang="en-US" b="1" dirty="0">
                <a:solidFill>
                  <a:srgbClr val="0000FF"/>
                </a:solidFill>
              </a:rPr>
              <a:t>int</a:t>
            </a:r>
            <a:r>
              <a:rPr lang="en-US" b="1" dirty="0"/>
              <a:t> high) {</a:t>
            </a:r>
            <a:endParaRPr lang="en-US" dirty="0"/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	</a:t>
            </a:r>
            <a:r>
              <a:rPr lang="en-US" b="1" dirty="0">
                <a:solidFill>
                  <a:srgbClr val="0000FF"/>
                </a:solidFill>
              </a:rPr>
              <a:t>if</a:t>
            </a:r>
            <a:r>
              <a:rPr lang="en-US" b="1" dirty="0"/>
              <a:t> (low &lt; high)</a:t>
            </a:r>
            <a:endParaRPr lang="en-US" dirty="0"/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	{</a:t>
            </a:r>
            <a:endParaRPr lang="en-US" dirty="0"/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    		</a:t>
            </a:r>
            <a:r>
              <a:rPr lang="en-US" b="1" dirty="0" err="1">
                <a:solidFill>
                  <a:srgbClr val="0000FF"/>
                </a:solidFill>
              </a:rPr>
              <a:t>int</a:t>
            </a:r>
            <a:r>
              <a:rPr lang="en-US" b="1" dirty="0"/>
              <a:t> mid = (</a:t>
            </a:r>
            <a:r>
              <a:rPr lang="en-US" b="1" dirty="0" err="1"/>
              <a:t>low+high</a:t>
            </a:r>
            <a:r>
              <a:rPr lang="en-US" b="1" dirty="0"/>
              <a:t>) / 2;</a:t>
            </a:r>
            <a:endParaRPr lang="en-US" dirty="0"/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	    	</a:t>
            </a:r>
            <a:r>
              <a:rPr lang="en-US" b="1" dirty="0" err="1"/>
              <a:t>mergeSort</a:t>
            </a:r>
            <a:r>
              <a:rPr lang="en-US" b="1" dirty="0"/>
              <a:t>(list, low, mid);</a:t>
            </a:r>
            <a:endParaRPr lang="en-US" dirty="0"/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    		</a:t>
            </a:r>
            <a:r>
              <a:rPr lang="en-US" b="1" dirty="0" err="1"/>
              <a:t>mergeSort</a:t>
            </a:r>
            <a:r>
              <a:rPr lang="en-US" b="1" dirty="0"/>
              <a:t>(list, mid+1, high);</a:t>
            </a:r>
            <a:endParaRPr lang="en-US" dirty="0"/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    		merge(list, low, mid, high);</a:t>
            </a:r>
            <a:endParaRPr lang="en-US" dirty="0"/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    	}</a:t>
            </a:r>
            <a:endParaRPr lang="en-US" dirty="0"/>
          </a:p>
          <a:p>
            <a:pPr>
              <a:tabLst>
                <a:tab pos="457200" algn="l"/>
                <a:tab pos="914400" algn="l"/>
              </a:tabLst>
            </a:pPr>
            <a:r>
              <a:rPr lang="en-US" b="1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02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39700"/>
            <a:ext cx="7924800" cy="685800"/>
          </a:xfrm>
        </p:spPr>
        <p:txBody>
          <a:bodyPr/>
          <a:lstStyle/>
          <a:p>
            <a:pPr eaLnBrk="1" hangingPunct="1"/>
            <a:r>
              <a:rPr lang="en-US"/>
              <a:t>Merge Sort (cont’d)</a:t>
            </a:r>
          </a:p>
        </p:txBody>
      </p:sp>
      <p:sp>
        <p:nvSpPr>
          <p:cNvPr id="13315" name="Rectangle 47"/>
          <p:cNvSpPr>
            <a:spLocks noChangeArrowheads="1"/>
          </p:cNvSpPr>
          <p:nvPr/>
        </p:nvSpPr>
        <p:spPr bwMode="auto">
          <a:xfrm>
            <a:off x="152400" y="1295400"/>
            <a:ext cx="8991600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eaLnBrk="0" hangingPunct="0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600" b="1" dirty="0">
                <a:cs typeface="Times New Roman" pitchFamily="18" charset="0"/>
              </a:rPr>
              <a:t>@</a:t>
            </a:r>
            <a:r>
              <a:rPr lang="en-US" sz="2600" b="1" dirty="0" err="1">
                <a:cs typeface="Times New Roman" pitchFamily="18" charset="0"/>
              </a:rPr>
              <a:t>SuppressWarnings</a:t>
            </a:r>
            <a:r>
              <a:rPr lang="en-US" sz="2600" b="1" dirty="0">
                <a:cs typeface="Times New Roman" pitchFamily="18" charset="0"/>
              </a:rPr>
              <a:t>({"unchecked", "</a:t>
            </a:r>
            <a:r>
              <a:rPr lang="en-US" sz="2600" b="1" dirty="0" err="1">
                <a:cs typeface="Times New Roman" pitchFamily="18" charset="0"/>
              </a:rPr>
              <a:t>rawtypes</a:t>
            </a:r>
            <a:r>
              <a:rPr lang="en-US" sz="2600" b="1" dirty="0">
                <a:cs typeface="Times New Roman" pitchFamily="18" charset="0"/>
              </a:rPr>
              <a:t>"})</a:t>
            </a:r>
          </a:p>
          <a:p>
            <a:pPr eaLnBrk="0" hangingPunct="0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US" sz="900" b="1" dirty="0">
              <a:solidFill>
                <a:srgbClr val="3366FF"/>
              </a:solidFill>
              <a:cs typeface="Times New Roman" pitchFamily="18" charset="0"/>
            </a:endParaRPr>
          </a:p>
          <a:p>
            <a:pPr eaLnBrk="0" hangingPunct="0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600" b="1" dirty="0">
                <a:solidFill>
                  <a:srgbClr val="3366FF"/>
                </a:solidFill>
                <a:cs typeface="Times New Roman" pitchFamily="18" charset="0"/>
              </a:rPr>
              <a:t>void</a:t>
            </a:r>
            <a:r>
              <a:rPr lang="en-US" sz="2600" b="1" dirty="0">
                <a:cs typeface="Times New Roman" pitchFamily="18" charset="0"/>
              </a:rPr>
              <a:t> merge(Object[] list, </a:t>
            </a:r>
            <a:r>
              <a:rPr lang="en-US" sz="2600" b="1" dirty="0">
                <a:solidFill>
                  <a:srgbClr val="3366FF"/>
                </a:solidFill>
                <a:cs typeface="Times New Roman" pitchFamily="18" charset="0"/>
              </a:rPr>
              <a:t>int</a:t>
            </a:r>
            <a:r>
              <a:rPr lang="en-US" sz="2600" b="1" dirty="0">
                <a:cs typeface="Times New Roman" pitchFamily="18" charset="0"/>
              </a:rPr>
              <a:t> low, </a:t>
            </a:r>
            <a:r>
              <a:rPr lang="en-US" sz="2600" b="1" dirty="0">
                <a:solidFill>
                  <a:srgbClr val="3366FF"/>
                </a:solidFill>
                <a:cs typeface="Times New Roman" pitchFamily="18" charset="0"/>
              </a:rPr>
              <a:t>int</a:t>
            </a:r>
            <a:r>
              <a:rPr lang="en-US" sz="2600" b="1" dirty="0">
                <a:cs typeface="Times New Roman" pitchFamily="18" charset="0"/>
              </a:rPr>
              <a:t> mid, </a:t>
            </a:r>
            <a:r>
              <a:rPr lang="en-US" sz="2600" b="1" dirty="0">
                <a:solidFill>
                  <a:srgbClr val="3366FF"/>
                </a:solidFill>
                <a:cs typeface="Times New Roman" pitchFamily="18" charset="0"/>
              </a:rPr>
              <a:t>int</a:t>
            </a:r>
            <a:r>
              <a:rPr lang="en-US" sz="2600" b="1" dirty="0">
                <a:cs typeface="Times New Roman" pitchFamily="18" charset="0"/>
              </a:rPr>
              <a:t> high)</a:t>
            </a:r>
          </a:p>
          <a:p>
            <a:pPr eaLnBrk="0" hangingPunct="0"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600" b="1" dirty="0">
                <a:cs typeface="Times New Roman" pitchFamily="18" charset="0"/>
              </a:rPr>
              <a:t>{</a:t>
            </a:r>
            <a:endParaRPr lang="en-US" sz="2600" dirty="0"/>
          </a:p>
          <a:p>
            <a:pPr eaLnBrk="0" hangingPunct="0">
              <a:tabLst>
                <a:tab pos="342900" algn="l"/>
                <a:tab pos="685800" algn="l"/>
                <a:tab pos="1028700" algn="l"/>
              </a:tabLst>
            </a:pPr>
            <a:r>
              <a:rPr lang="en-US" sz="2600" b="1" dirty="0">
                <a:cs typeface="Times New Roman" pitchFamily="18" charset="0"/>
              </a:rPr>
              <a:t>	</a:t>
            </a:r>
            <a:r>
              <a:rPr lang="en-US" sz="2600" b="1" dirty="0" err="1">
                <a:solidFill>
                  <a:srgbClr val="3366FF"/>
                </a:solidFill>
                <a:cs typeface="Times New Roman" pitchFamily="18" charset="0"/>
              </a:rPr>
              <a:t>int</a:t>
            </a:r>
            <a:r>
              <a:rPr lang="en-US" sz="2600" b="1" dirty="0">
                <a:cs typeface="Times New Roman" pitchFamily="18" charset="0"/>
              </a:rPr>
              <a:t> length = high - low + 1;</a:t>
            </a:r>
            <a:endParaRPr lang="en-US" sz="2600" dirty="0"/>
          </a:p>
          <a:p>
            <a:pPr eaLnBrk="0" hangingPunct="0">
              <a:tabLst>
                <a:tab pos="342900" algn="l"/>
                <a:tab pos="685800" algn="l"/>
                <a:tab pos="1028700" algn="l"/>
              </a:tabLst>
            </a:pPr>
            <a:r>
              <a:rPr lang="en-US" sz="2600" b="1" dirty="0">
                <a:cs typeface="Times New Roman" pitchFamily="18" charset="0"/>
              </a:rPr>
              <a:t>	</a:t>
            </a:r>
            <a:r>
              <a:rPr lang="en-US" sz="2600" b="1" dirty="0" err="1">
                <a:solidFill>
                  <a:srgbClr val="3366FF"/>
                </a:solidFill>
                <a:cs typeface="Times New Roman" pitchFamily="18" charset="0"/>
              </a:rPr>
              <a:t>int</a:t>
            </a:r>
            <a:r>
              <a:rPr lang="en-US" sz="2600" b="1" dirty="0">
                <a:cs typeface="Times New Roman" pitchFamily="18" charset="0"/>
              </a:rPr>
              <a:t> temp[] = new </a:t>
            </a:r>
            <a:r>
              <a:rPr lang="en-US" sz="2600" b="1" dirty="0" err="1">
                <a:cs typeface="Times New Roman" pitchFamily="18" charset="0"/>
              </a:rPr>
              <a:t>int</a:t>
            </a:r>
            <a:r>
              <a:rPr lang="en-US" sz="2600" b="1" dirty="0">
                <a:cs typeface="Times New Roman" pitchFamily="18" charset="0"/>
              </a:rPr>
              <a:t>[length];</a:t>
            </a:r>
            <a:endParaRPr lang="en-US" sz="2600" dirty="0"/>
          </a:p>
          <a:p>
            <a:pPr eaLnBrk="0" hangingPunct="0">
              <a:tabLst>
                <a:tab pos="342900" algn="l"/>
                <a:tab pos="685800" algn="l"/>
                <a:tab pos="1028700" algn="l"/>
              </a:tabLst>
            </a:pPr>
            <a:r>
              <a:rPr lang="en-US" sz="2600" b="1" dirty="0">
                <a:cs typeface="Times New Roman" pitchFamily="18" charset="0"/>
              </a:rPr>
              <a:t>	</a:t>
            </a:r>
            <a:r>
              <a:rPr lang="en-US" sz="2600" b="1" dirty="0">
                <a:solidFill>
                  <a:srgbClr val="3366FF"/>
                </a:solidFill>
                <a:cs typeface="Times New Roman" pitchFamily="18" charset="0"/>
              </a:rPr>
              <a:t>for</a:t>
            </a:r>
            <a:r>
              <a:rPr lang="en-US" sz="2600" b="1" dirty="0">
                <a:cs typeface="Times New Roman" pitchFamily="18" charset="0"/>
              </a:rPr>
              <a:t>(</a:t>
            </a:r>
            <a:r>
              <a:rPr lang="en-US" sz="2600" b="1" dirty="0" err="1">
                <a:cs typeface="Times New Roman" pitchFamily="18" charset="0"/>
              </a:rPr>
              <a:t>int</a:t>
            </a:r>
            <a:r>
              <a:rPr lang="en-US" sz="2600" b="1" dirty="0">
                <a:cs typeface="Times New Roman" pitchFamily="18" charset="0"/>
              </a:rPr>
              <a:t> </a:t>
            </a:r>
            <a:r>
              <a:rPr lang="en-US" sz="2600" b="1" dirty="0" err="1">
                <a:cs typeface="Times New Roman" pitchFamily="18" charset="0"/>
              </a:rPr>
              <a:t>i</a:t>
            </a:r>
            <a:r>
              <a:rPr lang="en-US" sz="2600" b="1" dirty="0">
                <a:cs typeface="Times New Roman" pitchFamily="18" charset="0"/>
              </a:rPr>
              <a:t> = 0; </a:t>
            </a:r>
            <a:r>
              <a:rPr lang="en-US" sz="2600" b="1" dirty="0" err="1">
                <a:cs typeface="Times New Roman" pitchFamily="18" charset="0"/>
              </a:rPr>
              <a:t>i</a:t>
            </a:r>
            <a:r>
              <a:rPr lang="en-US" sz="2600" b="1" dirty="0">
                <a:cs typeface="Times New Roman" pitchFamily="18" charset="0"/>
              </a:rPr>
              <a:t> &lt; length; </a:t>
            </a:r>
            <a:r>
              <a:rPr lang="en-US" sz="2600" b="1" dirty="0" err="1">
                <a:cs typeface="Times New Roman" pitchFamily="18" charset="0"/>
              </a:rPr>
              <a:t>i</a:t>
            </a:r>
            <a:r>
              <a:rPr lang="en-US" sz="2600" b="1" dirty="0">
                <a:cs typeface="Times New Roman" pitchFamily="18" charset="0"/>
              </a:rPr>
              <a:t>++)</a:t>
            </a:r>
            <a:endParaRPr lang="en-US" sz="2600" dirty="0"/>
          </a:p>
          <a:p>
            <a:pPr eaLnBrk="0" hangingPunct="0">
              <a:tabLst>
                <a:tab pos="342900" algn="l"/>
                <a:tab pos="685800" algn="l"/>
                <a:tab pos="1028700" algn="l"/>
              </a:tabLst>
            </a:pPr>
            <a:r>
              <a:rPr lang="en-US" sz="2600" b="1" dirty="0">
                <a:cs typeface="Times New Roman" pitchFamily="18" charset="0"/>
              </a:rPr>
              <a:t>     		temp[</a:t>
            </a:r>
            <a:r>
              <a:rPr lang="en-US" sz="2600" b="1" dirty="0" err="1">
                <a:cs typeface="Times New Roman" pitchFamily="18" charset="0"/>
              </a:rPr>
              <a:t>i</a:t>
            </a:r>
            <a:r>
              <a:rPr lang="en-US" sz="2600" b="1" dirty="0">
                <a:cs typeface="Times New Roman" pitchFamily="18" charset="0"/>
              </a:rPr>
              <a:t>] = list[</a:t>
            </a:r>
            <a:r>
              <a:rPr lang="en-US" sz="2600" b="1" dirty="0" err="1">
                <a:cs typeface="Times New Roman" pitchFamily="18" charset="0"/>
              </a:rPr>
              <a:t>low+i</a:t>
            </a:r>
            <a:r>
              <a:rPr lang="en-US" sz="2600" b="1" dirty="0">
                <a:cs typeface="Times New Roman" pitchFamily="18" charset="0"/>
              </a:rPr>
              <a:t>];</a:t>
            </a:r>
            <a:endParaRPr lang="en-US" sz="2600" dirty="0"/>
          </a:p>
          <a:p>
            <a:pPr eaLnBrk="0" hangingPunct="0">
              <a:tabLst>
                <a:tab pos="342900" algn="l"/>
                <a:tab pos="685800" algn="l"/>
                <a:tab pos="1028700" algn="l"/>
              </a:tabLst>
            </a:pPr>
            <a:r>
              <a:rPr lang="en-US" sz="2600" b="1" dirty="0">
                <a:cs typeface="Times New Roman" pitchFamily="18" charset="0"/>
              </a:rPr>
              <a:t>	</a:t>
            </a:r>
            <a:r>
              <a:rPr lang="en-US" sz="2600" b="1" dirty="0" err="1">
                <a:solidFill>
                  <a:srgbClr val="3366FF"/>
                </a:solidFill>
                <a:cs typeface="Times New Roman" pitchFamily="18" charset="0"/>
              </a:rPr>
              <a:t>int</a:t>
            </a:r>
            <a:r>
              <a:rPr lang="en-US" sz="2600" b="1" dirty="0">
                <a:cs typeface="Times New Roman" pitchFamily="18" charset="0"/>
              </a:rPr>
              <a:t> m1 = 0;</a:t>
            </a:r>
            <a:endParaRPr lang="en-US" sz="2600" dirty="0"/>
          </a:p>
          <a:p>
            <a:pPr eaLnBrk="0" hangingPunct="0">
              <a:tabLst>
                <a:tab pos="342900" algn="l"/>
                <a:tab pos="685800" algn="l"/>
                <a:tab pos="1028700" algn="l"/>
              </a:tabLst>
            </a:pPr>
            <a:r>
              <a:rPr lang="en-US" sz="2600" b="1" dirty="0">
                <a:cs typeface="Times New Roman" pitchFamily="18" charset="0"/>
              </a:rPr>
              <a:t>	</a:t>
            </a:r>
            <a:r>
              <a:rPr lang="en-US" sz="2600" b="1" dirty="0" err="1">
                <a:solidFill>
                  <a:srgbClr val="3366FF"/>
                </a:solidFill>
                <a:cs typeface="Times New Roman" pitchFamily="18" charset="0"/>
              </a:rPr>
              <a:t>int</a:t>
            </a:r>
            <a:r>
              <a:rPr lang="en-US" sz="2600" b="1" dirty="0">
                <a:cs typeface="Times New Roman" pitchFamily="18" charset="0"/>
              </a:rPr>
              <a:t> m2 = mid – low + 1;</a:t>
            </a:r>
          </a:p>
          <a:p>
            <a:pPr eaLnBrk="0" hangingPunct="0">
              <a:tabLst>
                <a:tab pos="342900" algn="l"/>
                <a:tab pos="685800" algn="l"/>
                <a:tab pos="1028700" algn="l"/>
              </a:tabLst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77164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39700"/>
            <a:ext cx="7924800" cy="685800"/>
          </a:xfrm>
        </p:spPr>
        <p:txBody>
          <a:bodyPr/>
          <a:lstStyle/>
          <a:p>
            <a:pPr eaLnBrk="1" hangingPunct="1"/>
            <a:r>
              <a:rPr lang="en-US"/>
              <a:t>Merge Sort (cont’d)</a:t>
            </a:r>
          </a:p>
        </p:txBody>
      </p:sp>
      <p:sp>
        <p:nvSpPr>
          <p:cNvPr id="13315" name="Rectangle 47"/>
          <p:cNvSpPr>
            <a:spLocks noChangeArrowheads="1"/>
          </p:cNvSpPr>
          <p:nvPr/>
        </p:nvSpPr>
        <p:spPr bwMode="auto">
          <a:xfrm>
            <a:off x="0" y="1129962"/>
            <a:ext cx="91440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dirty="0">
                <a:solidFill>
                  <a:srgbClr val="3366FF"/>
                </a:solidFill>
                <a:cs typeface="Times New Roman" pitchFamily="18" charset="0"/>
              </a:rPr>
              <a:t>int</a:t>
            </a:r>
            <a:r>
              <a:rPr lang="en-US" sz="2100" dirty="0">
                <a:cs typeface="Times New Roman" pitchFamily="18" charset="0"/>
              </a:rPr>
              <a:t> m2 = mid - low + 1;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b="1" dirty="0">
                <a:solidFill>
                  <a:srgbClr val="3366FF"/>
                </a:solidFill>
                <a:cs typeface="Times New Roman" pitchFamily="18" charset="0"/>
              </a:rPr>
              <a:t>for</a:t>
            </a:r>
            <a:r>
              <a:rPr lang="en-US" sz="2100" b="1" dirty="0">
                <a:cs typeface="Times New Roman" pitchFamily="18" charset="0"/>
              </a:rPr>
              <a:t>(int </a:t>
            </a:r>
            <a:r>
              <a:rPr lang="en-US" sz="2100" b="1" dirty="0" err="1">
                <a:cs typeface="Times New Roman" pitchFamily="18" charset="0"/>
              </a:rPr>
              <a:t>i</a:t>
            </a:r>
            <a:r>
              <a:rPr lang="en-US" sz="2100" b="1" dirty="0">
                <a:cs typeface="Times New Roman" pitchFamily="18" charset="0"/>
              </a:rPr>
              <a:t> = 0; </a:t>
            </a:r>
            <a:r>
              <a:rPr lang="en-US" sz="2100" b="1" dirty="0" err="1">
                <a:cs typeface="Times New Roman" pitchFamily="18" charset="0"/>
              </a:rPr>
              <a:t>i</a:t>
            </a:r>
            <a:r>
              <a:rPr lang="en-US" sz="2100" b="1" dirty="0">
                <a:cs typeface="Times New Roman" pitchFamily="18" charset="0"/>
              </a:rPr>
              <a:t> &lt; length; </a:t>
            </a:r>
            <a:r>
              <a:rPr lang="en-US" sz="2100" b="1" dirty="0" err="1">
                <a:cs typeface="Times New Roman" pitchFamily="18" charset="0"/>
              </a:rPr>
              <a:t>i</a:t>
            </a:r>
            <a:r>
              <a:rPr lang="en-US" sz="2100" b="1" dirty="0">
                <a:cs typeface="Times New Roman" pitchFamily="18" charset="0"/>
              </a:rPr>
              <a:t>++)  {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dirty="0">
                <a:solidFill>
                  <a:srgbClr val="3366FF"/>
                </a:solidFill>
                <a:cs typeface="Times New Roman" pitchFamily="18" charset="0"/>
              </a:rPr>
              <a:t>	</a:t>
            </a:r>
            <a:r>
              <a:rPr lang="en-US" sz="2100" b="1" dirty="0">
                <a:solidFill>
                  <a:srgbClr val="3366FF"/>
                </a:solidFill>
                <a:cs typeface="Times New Roman" pitchFamily="18" charset="0"/>
              </a:rPr>
              <a:t>if</a:t>
            </a:r>
            <a:r>
              <a:rPr lang="en-US" sz="2100" b="1" dirty="0">
                <a:cs typeface="Times New Roman" pitchFamily="18" charset="0"/>
              </a:rPr>
              <a:t>(m2 &lt;= high-low)   {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b="1" dirty="0">
                <a:cs typeface="Times New Roman" pitchFamily="18" charset="0"/>
              </a:rPr>
              <a:t>	</a:t>
            </a:r>
            <a:r>
              <a:rPr lang="en-US" sz="2100" dirty="0">
                <a:cs typeface="Times New Roman" pitchFamily="18" charset="0"/>
              </a:rPr>
              <a:t>	</a:t>
            </a:r>
            <a:r>
              <a:rPr lang="en-US" sz="2100" b="1" dirty="0">
                <a:solidFill>
                  <a:srgbClr val="3366FF"/>
                </a:solidFill>
                <a:cs typeface="Times New Roman" pitchFamily="18" charset="0"/>
              </a:rPr>
              <a:t>if</a:t>
            </a:r>
            <a:r>
              <a:rPr lang="en-US" sz="2100" b="1" dirty="0">
                <a:cs typeface="Times New Roman" pitchFamily="18" charset="0"/>
              </a:rPr>
              <a:t>(m1 &lt;= mid-low)</a:t>
            </a:r>
            <a:r>
              <a:rPr lang="en-US" sz="2100" dirty="0"/>
              <a:t>  </a:t>
            </a:r>
            <a:r>
              <a:rPr lang="en-US" sz="2100" b="1" dirty="0">
                <a:cs typeface="Times New Roman" pitchFamily="18" charset="0"/>
              </a:rPr>
              <a:t>{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b="1" dirty="0">
                <a:cs typeface="Times New Roman" pitchFamily="18" charset="0"/>
              </a:rPr>
              <a:t>			</a:t>
            </a:r>
            <a:r>
              <a:rPr lang="en-US" sz="2100" b="1" dirty="0">
                <a:solidFill>
                  <a:srgbClr val="3366FF"/>
                </a:solidFill>
                <a:cs typeface="Times New Roman" pitchFamily="18" charset="0"/>
              </a:rPr>
              <a:t>if</a:t>
            </a:r>
            <a:r>
              <a:rPr lang="en-US" sz="2100" b="1" dirty="0">
                <a:cs typeface="Times New Roman" pitchFamily="18" charset="0"/>
              </a:rPr>
              <a:t>(((Comparable) temp[m1]).</a:t>
            </a:r>
            <a:r>
              <a:rPr lang="en-US" sz="2100" b="1" dirty="0" err="1">
                <a:cs typeface="Times New Roman" pitchFamily="18" charset="0"/>
              </a:rPr>
              <a:t>compareTo</a:t>
            </a:r>
            <a:r>
              <a:rPr lang="en-US" sz="2100" b="1" dirty="0">
                <a:cs typeface="Times New Roman" pitchFamily="18" charset="0"/>
              </a:rPr>
              <a:t>(temp[m2])&gt;0)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b="1" dirty="0">
                <a:cs typeface="Times New Roman" pitchFamily="18" charset="0"/>
              </a:rPr>
              <a:t>    				list[</a:t>
            </a:r>
            <a:r>
              <a:rPr lang="en-US" sz="2100" b="1" dirty="0" err="1">
                <a:cs typeface="Times New Roman" pitchFamily="18" charset="0"/>
              </a:rPr>
              <a:t>i+low</a:t>
            </a:r>
            <a:r>
              <a:rPr lang="en-US" sz="2100" b="1" dirty="0">
                <a:cs typeface="Times New Roman" pitchFamily="18" charset="0"/>
              </a:rPr>
              <a:t>] = temp[m2++];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b="1" dirty="0">
                <a:cs typeface="Times New Roman" pitchFamily="18" charset="0"/>
              </a:rPr>
              <a:t>  			</a:t>
            </a:r>
            <a:r>
              <a:rPr lang="da-DK" sz="2100" b="1" dirty="0">
                <a:solidFill>
                  <a:srgbClr val="3366FF"/>
                </a:solidFill>
                <a:cs typeface="Times New Roman" pitchFamily="18" charset="0"/>
              </a:rPr>
              <a:t>else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da-DK" sz="2100" b="1" dirty="0">
                <a:cs typeface="Times New Roman" pitchFamily="18" charset="0"/>
              </a:rPr>
              <a:t>    				list[i+low] = temp[m1++];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da-DK" sz="2100" b="1" dirty="0">
                <a:cs typeface="Times New Roman" pitchFamily="18" charset="0"/>
              </a:rPr>
              <a:t>		}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da-DK" sz="2100" b="1" dirty="0">
                <a:cs typeface="Times New Roman" pitchFamily="18" charset="0"/>
              </a:rPr>
              <a:t>		</a:t>
            </a:r>
            <a:r>
              <a:rPr lang="da-DK" sz="2100" b="1" dirty="0">
                <a:solidFill>
                  <a:srgbClr val="3366FF"/>
                </a:solidFill>
                <a:cs typeface="Times New Roman" pitchFamily="18" charset="0"/>
              </a:rPr>
              <a:t>else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da-DK" sz="2100" b="1" dirty="0">
                <a:cs typeface="Times New Roman" pitchFamily="18" charset="0"/>
              </a:rPr>
              <a:t>			</a:t>
            </a:r>
            <a:r>
              <a:rPr lang="en-US" sz="2100" b="1" dirty="0">
                <a:cs typeface="Times New Roman" pitchFamily="18" charset="0"/>
              </a:rPr>
              <a:t>list[</a:t>
            </a:r>
            <a:r>
              <a:rPr lang="en-US" sz="2100" b="1" dirty="0" err="1">
                <a:cs typeface="Times New Roman" pitchFamily="18" charset="0"/>
              </a:rPr>
              <a:t>i+low</a:t>
            </a:r>
            <a:r>
              <a:rPr lang="en-US" sz="2100" b="1" dirty="0">
                <a:cs typeface="Times New Roman" pitchFamily="18" charset="0"/>
              </a:rPr>
              <a:t>] = temp[m2++];</a:t>
            </a:r>
            <a:endParaRPr lang="en-US" sz="2100" dirty="0"/>
          </a:p>
          <a:p>
            <a:pPr lvl="1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b="1" dirty="0">
                <a:cs typeface="Times New Roman" pitchFamily="18" charset="0"/>
              </a:rPr>
              <a:t>	}</a:t>
            </a:r>
            <a:endParaRPr lang="en-US" sz="2100" dirty="0"/>
          </a:p>
          <a:p>
            <a:pPr eaLnBrk="0" hangingPunct="0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b="1" dirty="0">
                <a:cs typeface="Times New Roman" pitchFamily="18" charset="0"/>
              </a:rPr>
              <a:t>     	</a:t>
            </a:r>
            <a:r>
              <a:rPr lang="en-US" sz="2100" b="1" dirty="0">
                <a:solidFill>
                  <a:srgbClr val="3366FF"/>
                </a:solidFill>
                <a:cs typeface="Times New Roman" pitchFamily="18" charset="0"/>
              </a:rPr>
              <a:t>else</a:t>
            </a:r>
            <a:endParaRPr lang="en-US" sz="2100" dirty="0"/>
          </a:p>
          <a:p>
            <a:pPr eaLnBrk="0" hangingPunct="0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b="1" dirty="0">
                <a:cs typeface="Times New Roman" pitchFamily="18" charset="0"/>
              </a:rPr>
              <a:t>     		list[</a:t>
            </a:r>
            <a:r>
              <a:rPr lang="en-US" sz="2100" b="1" dirty="0" err="1">
                <a:cs typeface="Times New Roman" pitchFamily="18" charset="0"/>
              </a:rPr>
              <a:t>i+low</a:t>
            </a:r>
            <a:r>
              <a:rPr lang="en-US" sz="2100" b="1" dirty="0">
                <a:cs typeface="Times New Roman" pitchFamily="18" charset="0"/>
              </a:rPr>
              <a:t>] = temp[m1++];</a:t>
            </a:r>
            <a:endParaRPr lang="en-US" sz="2100" dirty="0"/>
          </a:p>
          <a:p>
            <a:pPr eaLnBrk="0" hangingPunct="0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b="1" dirty="0">
                <a:cs typeface="Times New Roman" pitchFamily="18" charset="0"/>
              </a:rPr>
              <a:t>     }</a:t>
            </a:r>
            <a:endParaRPr lang="en-US" sz="2100" dirty="0"/>
          </a:p>
          <a:p>
            <a:pPr eaLnBrk="0" hangingPunct="0">
              <a:tabLst>
                <a:tab pos="342900" algn="l"/>
                <a:tab pos="685800" algn="l"/>
                <a:tab pos="1028700" algn="l"/>
                <a:tab pos="1371600" algn="l"/>
                <a:tab pos="1714500" algn="l"/>
              </a:tabLst>
            </a:pPr>
            <a:r>
              <a:rPr lang="en-US" sz="2100" b="1" dirty="0">
                <a:cs typeface="Times New Roman" pitchFamily="18" charset="0"/>
              </a:rPr>
              <a:t>}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361509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>
            <a:extLst>
              <a:ext uri="{FF2B5EF4-FFF2-40B4-BE49-F238E27FC236}">
                <a16:creationId xmlns:a16="http://schemas.microsoft.com/office/drawing/2014/main" id="{3AFDC44D-E8B2-4E11-BFD6-E5B1FC224D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6323" name="WordArt 2">
            <a:extLst>
              <a:ext uri="{FF2B5EF4-FFF2-40B4-BE49-F238E27FC236}">
                <a16:creationId xmlns:a16="http://schemas.microsoft.com/office/drawing/2014/main" id="{85B41D0D-51FB-4226-93B6-33052B9257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228600"/>
            <a:ext cx="7162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Merge Sort</a:t>
            </a:r>
          </a:p>
        </p:txBody>
      </p:sp>
      <p:sp>
        <p:nvSpPr>
          <p:cNvPr id="56324" name="Text Box 3">
            <a:extLst>
              <a:ext uri="{FF2B5EF4-FFF2-40B4-BE49-F238E27FC236}">
                <a16:creationId xmlns:a16="http://schemas.microsoft.com/office/drawing/2014/main" id="{3A4B8E41-15DD-4D49-9197-CC27B6973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42875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6325" name="Rectangle 4">
            <a:extLst>
              <a:ext uri="{FF2B5EF4-FFF2-40B4-BE49-F238E27FC236}">
                <a16:creationId xmlns:a16="http://schemas.microsoft.com/office/drawing/2014/main" id="{3C497E7F-CFCB-4393-8A35-C6EAD4CDA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295400"/>
            <a:ext cx="1676400" cy="990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1 . . 32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6326" name="Rectangle 5">
            <a:extLst>
              <a:ext uri="{FF2B5EF4-FFF2-40B4-BE49-F238E27FC236}">
                <a16:creationId xmlns:a16="http://schemas.microsoft.com/office/drawing/2014/main" id="{F3F2DF5B-5DB0-4D15-86AB-4BFDD5B9F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438400"/>
            <a:ext cx="13716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1 . . 16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6327" name="Rectangle 6">
            <a:extLst>
              <a:ext uri="{FF2B5EF4-FFF2-40B4-BE49-F238E27FC236}">
                <a16:creationId xmlns:a16="http://schemas.microsoft.com/office/drawing/2014/main" id="{26BC9ED7-475A-401C-995A-539022804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438400"/>
            <a:ext cx="15240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17 . . 32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6328" name="Rectangle 7">
            <a:extLst>
              <a:ext uri="{FF2B5EF4-FFF2-40B4-BE49-F238E27FC236}">
                <a16:creationId xmlns:a16="http://schemas.microsoft.com/office/drawing/2014/main" id="{AA8F505C-6142-446C-A24C-3F53FB1DC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733800"/>
            <a:ext cx="14478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17 . .25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6329" name="Rectangle 8">
            <a:extLst>
              <a:ext uri="{FF2B5EF4-FFF2-40B4-BE49-F238E27FC236}">
                <a16:creationId xmlns:a16="http://schemas.microsoft.com/office/drawing/2014/main" id="{0FC47D7B-D530-4F52-B592-D8022CA66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733800"/>
            <a:ext cx="15240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26 . . 32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6330" name="Rectangle 9">
            <a:extLst>
              <a:ext uri="{FF2B5EF4-FFF2-40B4-BE49-F238E27FC236}">
                <a16:creationId xmlns:a16="http://schemas.microsoft.com/office/drawing/2014/main" id="{9829427A-C775-4878-877F-3031CE65E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733800"/>
            <a:ext cx="13716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1 . . 8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6331" name="Rectangle 10">
            <a:extLst>
              <a:ext uri="{FF2B5EF4-FFF2-40B4-BE49-F238E27FC236}">
                <a16:creationId xmlns:a16="http://schemas.microsoft.com/office/drawing/2014/main" id="{2A860A52-1913-4884-9101-45B2453B2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33800"/>
            <a:ext cx="14478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9. . 16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56332" name="Rectangle 11">
            <a:extLst>
              <a:ext uri="{FF2B5EF4-FFF2-40B4-BE49-F238E27FC236}">
                <a16:creationId xmlns:a16="http://schemas.microsoft.com/office/drawing/2014/main" id="{AF3545F8-6A94-462C-BCEE-AC9E07E36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257800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Merge sort chops in half repeatedly to avoid processing the whole list at once.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" name="Group 3">
            <a:extLst>
              <a:ext uri="{FF2B5EF4-FFF2-40B4-BE49-F238E27FC236}">
                <a16:creationId xmlns:a16="http://schemas.microsoft.com/office/drawing/2014/main" id="{B9C55413-895C-42D7-9682-1902D1C4DFF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28600"/>
            <a:ext cx="7391400" cy="6037263"/>
            <a:chOff x="914400" y="300335"/>
            <a:chExt cx="6499642" cy="5307985"/>
          </a:xfrm>
        </p:grpSpPr>
        <p:pic>
          <p:nvPicPr>
            <p:cNvPr id="57347" name="Picture 2">
              <a:extLst>
                <a:ext uri="{FF2B5EF4-FFF2-40B4-BE49-F238E27FC236}">
                  <a16:creationId xmlns:a16="http://schemas.microsoft.com/office/drawing/2014/main" id="{897AEFE6-48D7-46F7-85ED-5CA6ACBFF6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609600"/>
              <a:ext cx="6248400" cy="4998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7348" name="TextBox 2">
              <a:extLst>
                <a:ext uri="{FF2B5EF4-FFF2-40B4-BE49-F238E27FC236}">
                  <a16:creationId xmlns:a16="http://schemas.microsoft.com/office/drawing/2014/main" id="{5CEA1752-DBD0-41E4-AD3A-89A695870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300335"/>
              <a:ext cx="44422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latin typeface="Courier New" panose="02070309020205020404" pitchFamily="49" charset="0"/>
                  <a:cs typeface="Courier New" panose="02070309020205020404" pitchFamily="49" charset="0"/>
                </a:rPr>
                <a:t>a[0] </a:t>
              </a:r>
              <a:r>
                <a:rPr lang="en-US" altLang="en-US" sz="2400" b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en-US" sz="1600" b="0">
                  <a:latin typeface="Courier New" panose="02070309020205020404" pitchFamily="49" charset="0"/>
                  <a:cs typeface="Courier New" panose="02070309020205020404" pitchFamily="49" charset="0"/>
                </a:rPr>
                <a:t>a[1]  a[2]</a:t>
              </a:r>
              <a:r>
                <a:rPr lang="en-US" altLang="en-US" sz="1200" b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en-US" sz="1600" b="0">
                  <a:latin typeface="Courier New" panose="02070309020205020404" pitchFamily="49" charset="0"/>
                  <a:cs typeface="Courier New" panose="02070309020205020404" pitchFamily="49" charset="0"/>
                </a:rPr>
                <a:t> a[3]</a:t>
              </a:r>
              <a:r>
                <a:rPr lang="en-US" altLang="en-US" sz="900" b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en-US" sz="1600" b="0">
                  <a:latin typeface="Courier New" panose="02070309020205020404" pitchFamily="49" charset="0"/>
                  <a:cs typeface="Courier New" panose="02070309020205020404" pitchFamily="49" charset="0"/>
                </a:rPr>
                <a:t> a[4] </a:t>
              </a:r>
              <a:r>
                <a:rPr lang="en-US" altLang="en-US" sz="1100" b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altLang="en-US" sz="1600" b="0">
                  <a:latin typeface="Courier New" panose="02070309020205020404" pitchFamily="49" charset="0"/>
                  <a:cs typeface="Courier New" panose="02070309020205020404" pitchFamily="49" charset="0"/>
                </a:rPr>
                <a:t>a[5]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 descr="../_images/mergesortA.png">
            <a:extLst>
              <a:ext uri="{FF2B5EF4-FFF2-40B4-BE49-F238E27FC236}">
                <a16:creationId xmlns:a16="http://schemas.microsoft.com/office/drawing/2014/main" id="{625A7222-9B71-4FA0-B085-5913DCC8D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14463"/>
            <a:ext cx="8305800" cy="544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WordArt 4">
            <a:extLst>
              <a:ext uri="{FF2B5EF4-FFF2-40B4-BE49-F238E27FC236}">
                <a16:creationId xmlns:a16="http://schemas.microsoft.com/office/drawing/2014/main" id="{C91E0BEB-9DED-449B-A608-E20165317D5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000" y="304800"/>
            <a:ext cx="84582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4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mergeSort, but with a right-hand split</a:t>
            </a:r>
          </a:p>
        </p:txBody>
      </p:sp>
      <p:sp>
        <p:nvSpPr>
          <p:cNvPr id="58372" name="WordArt 4">
            <a:extLst>
              <a:ext uri="{FF2B5EF4-FFF2-40B4-BE49-F238E27FC236}">
                <a16:creationId xmlns:a16="http://schemas.microsoft.com/office/drawing/2014/main" id="{0BEDAACA-C534-4C56-BDD3-2E07B39C4E7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95500" y="6019800"/>
            <a:ext cx="2438400" cy="2635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endParaRPr lang="en-US" sz="1400" kern="1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58373" name="TextBox 2">
            <a:extLst>
              <a:ext uri="{FF2B5EF4-FFF2-40B4-BE49-F238E27FC236}">
                <a16:creationId xmlns:a16="http://schemas.microsoft.com/office/drawing/2014/main" id="{7A879E6B-831A-45B7-AFC2-2274369DB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889625"/>
            <a:ext cx="23145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rgbClr val="7030A0"/>
                </a:solidFill>
              </a:rPr>
              <a:t>splitting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../_images/mergesortB.png">
            <a:extLst>
              <a:ext uri="{FF2B5EF4-FFF2-40B4-BE49-F238E27FC236}">
                <a16:creationId xmlns:a16="http://schemas.microsoft.com/office/drawing/2014/main" id="{A16E8779-9C78-40FD-8E83-42E9B3434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1763"/>
            <a:ext cx="8229600" cy="725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Box 4">
            <a:extLst>
              <a:ext uri="{FF2B5EF4-FFF2-40B4-BE49-F238E27FC236}">
                <a16:creationId xmlns:a16="http://schemas.microsoft.com/office/drawing/2014/main" id="{37B893BB-DF4E-414C-AFFC-BEFBB12C1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267200"/>
            <a:ext cx="23288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4000">
                <a:solidFill>
                  <a:srgbClr val="7030A0"/>
                </a:solidFill>
              </a:rPr>
              <a:t>merging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3">
            <a:extLst>
              <a:ext uri="{FF2B5EF4-FFF2-40B4-BE49-F238E27FC236}">
                <a16:creationId xmlns:a16="http://schemas.microsoft.com/office/drawing/2014/main" id="{BB2D8870-2C48-41F8-B49C-948514F92E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2467" name="WordArt 2">
            <a:extLst>
              <a:ext uri="{FF2B5EF4-FFF2-40B4-BE49-F238E27FC236}">
                <a16:creationId xmlns:a16="http://schemas.microsoft.com/office/drawing/2014/main" id="{79A89DF1-5349-4892-8F24-1C2BA677F81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609600"/>
            <a:ext cx="7162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99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Merge Sort in Action</a:t>
            </a:r>
          </a:p>
        </p:txBody>
      </p:sp>
      <p:sp>
        <p:nvSpPr>
          <p:cNvPr id="62468" name="Text Box 3">
            <a:extLst>
              <a:ext uri="{FF2B5EF4-FFF2-40B4-BE49-F238E27FC236}">
                <a16:creationId xmlns:a16="http://schemas.microsoft.com/office/drawing/2014/main" id="{58AD5EBF-3C7D-4C7C-98EE-D53F91156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7315200" cy="393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CC0000"/>
                </a:solidFill>
                <a:latin typeface="Tahoma" panose="020B0604030504040204" pitchFamily="34" charset="0"/>
              </a:rPr>
              <a:t>Original List </a:t>
            </a:r>
            <a:br>
              <a:rPr lang="en-US" altLang="en-US" sz="2800" dirty="0">
                <a:solidFill>
                  <a:srgbClr val="CC0000"/>
                </a:solidFill>
                <a:latin typeface="Tahoma" panose="020B0604030504040204" pitchFamily="34" charset="0"/>
              </a:rPr>
            </a:br>
            <a:r>
              <a:rPr lang="en-US" altLang="en-US" sz="2800" dirty="0">
                <a:latin typeface="Tahoma" panose="020B0604030504040204" pitchFamily="34" charset="0"/>
              </a:rPr>
              <a:t>Integer[] stuff = {90,40,20,30,67,10};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2800" dirty="0">
                <a:latin typeface="Tahoma" panose="020B0604030504040204" pitchFamily="34" charset="0"/>
              </a:rPr>
            </a:b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pass 1  -  </a:t>
            </a: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40</a:t>
            </a:r>
            <a:r>
              <a:rPr lang="en-US" altLang="en-US" sz="2800" dirty="0">
                <a:latin typeface="Tahoma" panose="020B0604030504040204" pitchFamily="34" charset="0"/>
              </a:rPr>
              <a:t>  </a:t>
            </a: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90</a:t>
            </a:r>
            <a:r>
              <a:rPr lang="en-US" altLang="en-US" sz="2800" dirty="0">
                <a:latin typeface="Tahoma" panose="020B0604030504040204" pitchFamily="34" charset="0"/>
              </a:rPr>
              <a:t>  20 </a:t>
            </a: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 </a:t>
            </a:r>
            <a:r>
              <a:rPr lang="en-US" altLang="en-US" sz="2800" dirty="0">
                <a:latin typeface="Tahoma" panose="020B0604030504040204" pitchFamily="34" charset="0"/>
              </a:rPr>
              <a:t>30  67  10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pass 2  -  </a:t>
            </a: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20  40  90</a:t>
            </a:r>
            <a:r>
              <a:rPr lang="en-US" altLang="en-US" sz="2800" dirty="0">
                <a:latin typeface="Tahoma" panose="020B0604030504040204" pitchFamily="34" charset="0"/>
              </a:rPr>
              <a:t>  30  67  10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pass 3  -  20  40  90  </a:t>
            </a: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30  67  </a:t>
            </a:r>
            <a:r>
              <a:rPr lang="en-US" altLang="en-US" sz="2800" dirty="0">
                <a:latin typeface="Tahoma" panose="020B0604030504040204" pitchFamily="34" charset="0"/>
              </a:rPr>
              <a:t>10</a:t>
            </a:r>
            <a:endParaRPr lang="en-US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pass 4  -  20  40  90  </a:t>
            </a: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10  30  67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pass 5  -  </a:t>
            </a: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10  20  30  40  67  90</a:t>
            </a:r>
            <a:r>
              <a:rPr lang="en-US" altLang="en-US" sz="2800" dirty="0">
                <a:latin typeface="Tahoma" panose="020B060403050404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3">
            <a:extLst>
              <a:ext uri="{FF2B5EF4-FFF2-40B4-BE49-F238E27FC236}">
                <a16:creationId xmlns:a16="http://schemas.microsoft.com/office/drawing/2014/main" id="{2ABBB4C4-BBFE-4DE5-BAD3-158304F20E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2467" name="Text Box 2">
            <a:extLst>
              <a:ext uri="{FF2B5EF4-FFF2-40B4-BE49-F238E27FC236}">
                <a16:creationId xmlns:a16="http://schemas.microsoft.com/office/drawing/2014/main" id="{313FF464-43BB-4D34-9667-C9281ED8E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0"/>
            <a:ext cx="8755063" cy="30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void </a:t>
            </a:r>
            <a:r>
              <a:rPr lang="pt-BR" altLang="en-US" sz="2400" dirty="0">
                <a:solidFill>
                  <a:schemeClr val="accent5">
                    <a:lumMod val="50000"/>
                  </a:schemeClr>
                </a:solidFill>
                <a:latin typeface="Tahoma" pitchFamily="34" charset="0"/>
              </a:rPr>
              <a:t>mergeSort</a:t>
            </a:r>
            <a:r>
              <a:rPr lang="pt-BR" altLang="en-US" sz="2400" dirty="0">
                <a:latin typeface="Tahoma" pitchFamily="34" charset="0"/>
              </a:rPr>
              <a:t>(Comparable[] stuff, int front, int back)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{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int mid = (front+back)/2;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if(mid==front) return;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</a:t>
            </a:r>
            <a:r>
              <a:rPr lang="pt-BR" altLang="en-US" sz="2400" dirty="0">
                <a:solidFill>
                  <a:schemeClr val="accent5">
                    <a:lumMod val="50000"/>
                  </a:schemeClr>
                </a:solidFill>
                <a:latin typeface="Tahoma" pitchFamily="34" charset="0"/>
              </a:rPr>
              <a:t>mergeSort</a:t>
            </a:r>
            <a:r>
              <a:rPr lang="pt-BR" altLang="en-US" sz="2400" dirty="0">
                <a:latin typeface="Tahoma" pitchFamily="34" charset="0"/>
              </a:rPr>
              <a:t>(stuff, front, mid);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</a:t>
            </a:r>
            <a:r>
              <a:rPr lang="pt-BR" altLang="en-US" sz="2400" dirty="0">
                <a:solidFill>
                  <a:schemeClr val="accent5">
                    <a:lumMod val="50000"/>
                  </a:schemeClr>
                </a:solidFill>
                <a:latin typeface="Tahoma" pitchFamily="34" charset="0"/>
              </a:rPr>
              <a:t>mergeSort</a:t>
            </a:r>
            <a:r>
              <a:rPr lang="pt-BR" altLang="en-US" sz="2400" dirty="0">
                <a:latin typeface="Tahoma" pitchFamily="34" charset="0"/>
              </a:rPr>
              <a:t>(stuff, mid, back);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</a:t>
            </a:r>
            <a:r>
              <a:rPr lang="pt-BR" altLang="en-US" sz="2400" dirty="0">
                <a:solidFill>
                  <a:srgbClr val="7030A0"/>
                </a:solidFill>
                <a:latin typeface="Tahoma" pitchFamily="34" charset="0"/>
              </a:rPr>
              <a:t>merge</a:t>
            </a:r>
            <a:r>
              <a:rPr lang="pt-BR" altLang="en-US" sz="2400" dirty="0">
                <a:latin typeface="Tahoma" pitchFamily="34" charset="0"/>
              </a:rPr>
              <a:t>(stuff, front, back);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}</a:t>
            </a:r>
            <a:endParaRPr lang="en-US" altLang="en-US" sz="2800" dirty="0">
              <a:solidFill>
                <a:srgbClr val="FF3300"/>
              </a:solidFill>
              <a:latin typeface="Tahoma" pitchFamily="34" charset="0"/>
            </a:endParaRPr>
          </a:p>
        </p:txBody>
      </p:sp>
      <p:sp>
        <p:nvSpPr>
          <p:cNvPr id="60420" name="WordArt 4">
            <a:extLst>
              <a:ext uri="{FF2B5EF4-FFF2-40B4-BE49-F238E27FC236}">
                <a16:creationId xmlns:a16="http://schemas.microsoft.com/office/drawing/2014/main" id="{050114E8-4BFC-48AF-A9B7-42C83A0996D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81200" y="228600"/>
            <a:ext cx="472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mergeSort  Algorithm</a:t>
            </a:r>
          </a:p>
        </p:txBody>
      </p:sp>
      <p:sp>
        <p:nvSpPr>
          <p:cNvPr id="60421" name="Text Box 5">
            <a:extLst>
              <a:ext uri="{FF2B5EF4-FFF2-40B4-BE49-F238E27FC236}">
                <a16:creationId xmlns:a16="http://schemas.microsoft.com/office/drawing/2014/main" id="{93AB4EB1-F53B-407F-BC6F-BBB11DB33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2578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60422" name="Text Box 6">
            <a:extLst>
              <a:ext uri="{FF2B5EF4-FFF2-40B4-BE49-F238E27FC236}">
                <a16:creationId xmlns:a16="http://schemas.microsoft.com/office/drawing/2014/main" id="{E74BB8C4-21F0-4BAC-B3E1-1FCDB4405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876800"/>
            <a:ext cx="80772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FF3300"/>
                </a:solidFill>
                <a:latin typeface="Tahoma" panose="020B0604030504040204" pitchFamily="34" charset="0"/>
              </a:rPr>
              <a:t>Collections.sort( ) uses the mergeSort.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FF3300"/>
                </a:solidFill>
                <a:latin typeface="Tahoma" panose="020B0604030504040204" pitchFamily="34" charset="0"/>
              </a:rPr>
              <a:t>Arrays.sort( )  uses mergeSort for objects.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>
            <a:extLst>
              <a:ext uri="{FF2B5EF4-FFF2-40B4-BE49-F238E27FC236}">
                <a16:creationId xmlns:a16="http://schemas.microsoft.com/office/drawing/2014/main" id="{6D78F437-E504-4782-A124-B5E207B3F6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1443" name="Text Box 4">
            <a:extLst>
              <a:ext uri="{FF2B5EF4-FFF2-40B4-BE49-F238E27FC236}">
                <a16:creationId xmlns:a16="http://schemas.microsoft.com/office/drawing/2014/main" id="{449F5266-07E8-4A7E-B259-9941C3054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85800" y="184150"/>
            <a:ext cx="9445625" cy="674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>
                <a:latin typeface="Tahoma" panose="020B0604030504040204" pitchFamily="34" charset="0"/>
              </a:rPr>
              <a:t>	</a:t>
            </a:r>
            <a:r>
              <a:rPr lang="en-US" altLang="en-US" sz="2400">
                <a:latin typeface="Tahoma" panose="020B0604030504040204" pitchFamily="34" charset="0"/>
              </a:rPr>
              <a:t>void </a:t>
            </a:r>
            <a:r>
              <a:rPr lang="en-US" altLang="en-US" sz="2400">
                <a:solidFill>
                  <a:srgbClr val="7030A0"/>
                </a:solidFill>
                <a:latin typeface="Tahoma" panose="020B0604030504040204" pitchFamily="34" charset="0"/>
              </a:rPr>
              <a:t>merge</a:t>
            </a:r>
            <a:r>
              <a:rPr lang="en-US" altLang="en-US" sz="2400">
                <a:latin typeface="Tahoma" panose="020B0604030504040204" pitchFamily="34" charset="0"/>
              </a:rPr>
              <a:t>(Comparable[] stuff, int front, int back)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        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Comparable[] temp = new Comparable[back-front];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int i = front, j = (front+back)/2, k =0, mid =j;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while( i&lt;mid &amp;&amp; j&lt;back)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   if(stuff[i].</a:t>
            </a:r>
            <a:r>
              <a:rPr lang="en-US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compareTo</a:t>
            </a:r>
            <a:r>
              <a:rPr lang="en-US" altLang="en-US" sz="2400">
                <a:latin typeface="Tahoma" panose="020B0604030504040204" pitchFamily="34" charset="0"/>
              </a:rPr>
              <a:t>(stuff[j])&lt;0)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      temp[k++]= stuff[i++];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 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      temp[k++]= stuff[j++];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while(i&lt;mid)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   temp[k++]= stuff[i++];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while(j&lt;back)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   temp[k++]= stuff[j++];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for(i = 0; i&lt;back-front; ++i)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      stuff[front+i]=temp[i];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	}</a:t>
            </a:r>
          </a:p>
        </p:txBody>
      </p:sp>
      <p:sp>
        <p:nvSpPr>
          <p:cNvPr id="61444" name="WordArt 5">
            <a:extLst>
              <a:ext uri="{FF2B5EF4-FFF2-40B4-BE49-F238E27FC236}">
                <a16:creationId xmlns:a16="http://schemas.microsoft.com/office/drawing/2014/main" id="{2FA4C71D-8E93-46E9-A69D-4157339E40A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562600" y="3200400"/>
            <a:ext cx="3124200" cy="2057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Merge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W/Objects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Text Box 4">
            <a:extLst>
              <a:ext uri="{FF2B5EF4-FFF2-40B4-BE49-F238E27FC236}">
                <a16:creationId xmlns:a16="http://schemas.microsoft.com/office/drawing/2014/main" id="{0D944D19-AFDA-41D5-BDA2-2E1D70226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"/>
            <a:ext cx="8001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 err="1">
                <a:latin typeface="Tahoma" panose="020B0604030504040204" pitchFamily="34" charset="0"/>
              </a:rPr>
              <a:t>MergeSort</a:t>
            </a:r>
            <a:r>
              <a:rPr lang="en-US" altLang="en-US" sz="3600" dirty="0">
                <a:latin typeface="Tahoma" panose="020B0604030504040204" pitchFamily="34" charset="0"/>
              </a:rPr>
              <a:t> has a </a:t>
            </a:r>
            <a:r>
              <a:rPr lang="en-US" altLang="en-US" sz="3600" dirty="0">
                <a:solidFill>
                  <a:srgbClr val="0066FF"/>
                </a:solidFill>
                <a:latin typeface="Tahoma" panose="020B0604030504040204" pitchFamily="34" charset="0"/>
              </a:rPr>
              <a:t>N*Log</a:t>
            </a:r>
            <a:r>
              <a:rPr lang="en-US" altLang="en-US" sz="3600" baseline="-25000" dirty="0">
                <a:solidFill>
                  <a:srgbClr val="0066FF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3600" dirty="0">
                <a:solidFill>
                  <a:srgbClr val="0066FF"/>
                </a:solidFill>
                <a:latin typeface="Tahoma" panose="020B0604030504040204" pitchFamily="34" charset="0"/>
              </a:rPr>
              <a:t>N </a:t>
            </a:r>
            <a:r>
              <a:rPr lang="en-US" altLang="en-US" sz="3600" dirty="0" err="1">
                <a:latin typeface="Tahoma" panose="020B0604030504040204" pitchFamily="34" charset="0"/>
              </a:rPr>
              <a:t>BigO</a:t>
            </a:r>
            <a:r>
              <a:rPr lang="en-US" altLang="en-US" sz="3600" dirty="0">
                <a:latin typeface="Tahoma" panose="020B0604030504040204" pitchFamily="34" charset="0"/>
              </a:rPr>
              <a:t>.  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FD49AAC-6AC9-4FFF-99C8-983E0B832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232" y="1961550"/>
            <a:ext cx="571196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void </a:t>
            </a:r>
            <a:r>
              <a:rPr lang="pt-BR" altLang="en-US" sz="2400" dirty="0">
                <a:solidFill>
                  <a:schemeClr val="accent5">
                    <a:lumMod val="50000"/>
                  </a:schemeClr>
                </a:solidFill>
                <a:latin typeface="Tahoma" pitchFamily="34" charset="0"/>
              </a:rPr>
              <a:t>mergeSort</a:t>
            </a:r>
            <a:r>
              <a:rPr lang="pt-BR" altLang="en-US" sz="2400" dirty="0">
                <a:latin typeface="Tahoma" pitchFamily="34" charset="0"/>
              </a:rPr>
              <a:t>(Comparable[] . . .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{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int mid = (front+back)/2;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if(mid==front) return;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</a:t>
            </a:r>
            <a:r>
              <a:rPr lang="pt-BR" altLang="en-US" sz="2400" dirty="0">
                <a:solidFill>
                  <a:schemeClr val="accent5">
                    <a:lumMod val="50000"/>
                  </a:schemeClr>
                </a:solidFill>
                <a:latin typeface="Tahoma" pitchFamily="34" charset="0"/>
              </a:rPr>
              <a:t>mergeSort</a:t>
            </a:r>
            <a:r>
              <a:rPr lang="pt-BR" altLang="en-US" sz="2400" dirty="0">
                <a:latin typeface="Tahoma" pitchFamily="34" charset="0"/>
              </a:rPr>
              <a:t>(stuff, front, mid);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</a:t>
            </a:r>
            <a:r>
              <a:rPr lang="pt-BR" altLang="en-US" sz="2400" dirty="0">
                <a:solidFill>
                  <a:schemeClr val="accent5">
                    <a:lumMod val="50000"/>
                  </a:schemeClr>
                </a:solidFill>
                <a:latin typeface="Tahoma" pitchFamily="34" charset="0"/>
              </a:rPr>
              <a:t>mergeSort</a:t>
            </a:r>
            <a:r>
              <a:rPr lang="pt-BR" altLang="en-US" sz="2400" dirty="0">
                <a:latin typeface="Tahoma" pitchFamily="34" charset="0"/>
              </a:rPr>
              <a:t>(stuff, mid, back);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}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AF02D50F-5AC5-4B42-B853-A75DDD22F3D8}"/>
              </a:ext>
            </a:extLst>
          </p:cNvPr>
          <p:cNvSpPr/>
          <p:nvPr/>
        </p:nvSpPr>
        <p:spPr bwMode="auto">
          <a:xfrm>
            <a:off x="1951933" y="1926645"/>
            <a:ext cx="304800" cy="2797755"/>
          </a:xfrm>
          <a:prstGeom prst="leftBrac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E99B598C-1ECB-46DC-AE02-2DB46A412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218" y="3069545"/>
            <a:ext cx="14654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en-US" sz="2400" dirty="0">
                <a:solidFill>
                  <a:srgbClr val="C00000"/>
                </a:solidFill>
                <a:latin typeface="Tahoma" pitchFamily="34" charset="0"/>
              </a:rPr>
              <a:t>O(log n)</a:t>
            </a:r>
            <a:endParaRPr lang="en-US" altLang="en-US" sz="2800" dirty="0">
              <a:solidFill>
                <a:srgbClr val="C00000"/>
              </a:solidFill>
              <a:latin typeface="Tahoma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F9E665-1A2E-4B3A-8C8C-DFC15D454329}"/>
              </a:ext>
            </a:extLst>
          </p:cNvPr>
          <p:cNvSpPr txBox="1"/>
          <p:nvPr/>
        </p:nvSpPr>
        <p:spPr>
          <a:xfrm>
            <a:off x="2085160" y="5257800"/>
            <a:ext cx="563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altLang="en-US" sz="2800" dirty="0">
                <a:solidFill>
                  <a:srgbClr val="FF3300"/>
                </a:solidFill>
                <a:latin typeface="Tahoma" pitchFamily="34" charset="0"/>
              </a:rPr>
              <a:t>Notice this version doesn’t call the merge method.</a:t>
            </a:r>
            <a:endParaRPr lang="en-US" altLang="en-US" sz="3200" dirty="0">
              <a:solidFill>
                <a:srgbClr val="FF33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65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Text Box 4">
            <a:extLst>
              <a:ext uri="{FF2B5EF4-FFF2-40B4-BE49-F238E27FC236}">
                <a16:creationId xmlns:a16="http://schemas.microsoft.com/office/drawing/2014/main" id="{0D944D19-AFDA-41D5-BDA2-2E1D70226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"/>
            <a:ext cx="8001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 err="1">
                <a:latin typeface="Tahoma" panose="020B0604030504040204" pitchFamily="34" charset="0"/>
              </a:rPr>
              <a:t>MergeSort</a:t>
            </a:r>
            <a:r>
              <a:rPr lang="en-US" altLang="en-US" sz="3600" dirty="0">
                <a:latin typeface="Tahoma" panose="020B0604030504040204" pitchFamily="34" charset="0"/>
              </a:rPr>
              <a:t> has a </a:t>
            </a:r>
            <a:r>
              <a:rPr lang="en-US" altLang="en-US" sz="3600" dirty="0">
                <a:solidFill>
                  <a:srgbClr val="0066FF"/>
                </a:solidFill>
                <a:latin typeface="Tahoma" panose="020B0604030504040204" pitchFamily="34" charset="0"/>
              </a:rPr>
              <a:t>N*Log</a:t>
            </a:r>
            <a:r>
              <a:rPr lang="en-US" altLang="en-US" sz="3600" baseline="-25000" dirty="0">
                <a:solidFill>
                  <a:srgbClr val="0066FF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3600" dirty="0">
                <a:solidFill>
                  <a:srgbClr val="0066FF"/>
                </a:solidFill>
                <a:latin typeface="Tahoma" panose="020B0604030504040204" pitchFamily="34" charset="0"/>
              </a:rPr>
              <a:t>N </a:t>
            </a:r>
            <a:r>
              <a:rPr lang="en-US" altLang="en-US" sz="3600" dirty="0" err="1">
                <a:latin typeface="Tahoma" panose="020B0604030504040204" pitchFamily="34" charset="0"/>
              </a:rPr>
              <a:t>BigO</a:t>
            </a:r>
            <a:r>
              <a:rPr lang="en-US" altLang="en-US" sz="3600" dirty="0">
                <a:latin typeface="Tahoma" panose="020B0604030504040204" pitchFamily="34" charset="0"/>
              </a:rPr>
              <a:t>.  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9FD49AAC-6AC9-4FFF-99C8-983E0B832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905506"/>
            <a:ext cx="539442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void </a:t>
            </a:r>
            <a:r>
              <a:rPr lang="pt-BR" altLang="en-US" sz="2400" dirty="0">
                <a:solidFill>
                  <a:schemeClr val="accent5">
                    <a:lumMod val="50000"/>
                  </a:schemeClr>
                </a:solidFill>
                <a:latin typeface="Tahoma" pitchFamily="34" charset="0"/>
              </a:rPr>
              <a:t>mergeSort</a:t>
            </a:r>
            <a:r>
              <a:rPr lang="pt-BR" altLang="en-US" sz="2400" dirty="0">
                <a:latin typeface="Tahoma" pitchFamily="34" charset="0"/>
              </a:rPr>
              <a:t>(Comparable[] . . .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{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int mid = (front+back)/2;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if(mid==front) return;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</a:t>
            </a:r>
            <a:r>
              <a:rPr lang="pt-BR" altLang="en-US" sz="2400" dirty="0">
                <a:solidFill>
                  <a:schemeClr val="accent5">
                    <a:lumMod val="50000"/>
                  </a:schemeClr>
                </a:solidFill>
                <a:latin typeface="Tahoma" pitchFamily="34" charset="0"/>
              </a:rPr>
              <a:t>mergeSort</a:t>
            </a:r>
            <a:r>
              <a:rPr lang="pt-BR" altLang="en-US" sz="2400" dirty="0">
                <a:latin typeface="Tahoma" pitchFamily="34" charset="0"/>
              </a:rPr>
              <a:t>(stuff, front, mid);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</a:t>
            </a:r>
            <a:r>
              <a:rPr lang="pt-BR" altLang="en-US" sz="2400" dirty="0">
                <a:solidFill>
                  <a:schemeClr val="accent5">
                    <a:lumMod val="50000"/>
                  </a:schemeClr>
                </a:solidFill>
                <a:latin typeface="Tahoma" pitchFamily="34" charset="0"/>
              </a:rPr>
              <a:t>mergeSort</a:t>
            </a:r>
            <a:r>
              <a:rPr lang="pt-BR" altLang="en-US" sz="2400" dirty="0">
                <a:latin typeface="Tahoma" pitchFamily="34" charset="0"/>
              </a:rPr>
              <a:t>(stuff, mid, back);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   </a:t>
            </a:r>
            <a:r>
              <a:rPr lang="pt-BR" altLang="en-US" sz="2400" dirty="0">
                <a:solidFill>
                  <a:srgbClr val="7030A0"/>
                </a:solidFill>
                <a:latin typeface="Tahoma" pitchFamily="34" charset="0"/>
              </a:rPr>
              <a:t>merge</a:t>
            </a:r>
            <a:r>
              <a:rPr lang="pt-BR" altLang="en-US" sz="2400" dirty="0">
                <a:latin typeface="Tahoma" pitchFamily="34" charset="0"/>
              </a:rPr>
              <a:t>(stuff, front, back);</a:t>
            </a:r>
          </a:p>
          <a:p>
            <a:pPr>
              <a:defRPr/>
            </a:pPr>
            <a:r>
              <a:rPr lang="pt-BR" altLang="en-US" sz="2400" dirty="0">
                <a:latin typeface="Tahoma" pitchFamily="34" charset="0"/>
              </a:rPr>
              <a:t>}</a:t>
            </a:r>
            <a:endParaRPr lang="en-US" altLang="en-US" sz="2800" dirty="0">
              <a:solidFill>
                <a:srgbClr val="FF3300"/>
              </a:solidFill>
              <a:latin typeface="Tahoma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24BB38-6B23-4407-A7C9-1EF272CBA53A}"/>
              </a:ext>
            </a:extLst>
          </p:cNvPr>
          <p:cNvCxnSpPr/>
          <p:nvPr/>
        </p:nvCxnSpPr>
        <p:spPr bwMode="auto">
          <a:xfrm flipH="1">
            <a:off x="6934200" y="4419600"/>
            <a:ext cx="762000" cy="0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Text Box 2">
            <a:extLst>
              <a:ext uri="{FF2B5EF4-FFF2-40B4-BE49-F238E27FC236}">
                <a16:creationId xmlns:a16="http://schemas.microsoft.com/office/drawing/2014/main" id="{C977DE87-779B-4394-80B2-76072A639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188767"/>
            <a:ext cx="8980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en-US" sz="2400" dirty="0">
                <a:solidFill>
                  <a:srgbClr val="C00000"/>
                </a:solidFill>
                <a:latin typeface="Tahoma" pitchFamily="34" charset="0"/>
              </a:rPr>
              <a:t>O(n)</a:t>
            </a:r>
            <a:endParaRPr lang="en-US" altLang="en-US" sz="2800" dirty="0">
              <a:solidFill>
                <a:srgbClr val="C00000"/>
              </a:solidFill>
              <a:latin typeface="Tahoma" pitchFamily="34" charset="0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AF02D50F-5AC5-4B42-B853-A75DDD22F3D8}"/>
              </a:ext>
            </a:extLst>
          </p:cNvPr>
          <p:cNvSpPr/>
          <p:nvPr/>
        </p:nvSpPr>
        <p:spPr bwMode="auto">
          <a:xfrm>
            <a:off x="2211391" y="1933036"/>
            <a:ext cx="304800" cy="3046988"/>
          </a:xfrm>
          <a:prstGeom prst="leftBrac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E99B598C-1ECB-46DC-AE02-2DB46A412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68" y="3219306"/>
            <a:ext cx="17588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pt-BR" altLang="en-US" sz="2400" dirty="0">
                <a:solidFill>
                  <a:srgbClr val="C00000"/>
                </a:solidFill>
                <a:latin typeface="Tahoma" pitchFamily="34" charset="0"/>
              </a:rPr>
              <a:t>O(n</a:t>
            </a:r>
            <a:r>
              <a:rPr lang="pt-BR" altLang="en-US" sz="2400" dirty="0">
                <a:solidFill>
                  <a:srgbClr val="C00000"/>
                </a:solidFill>
                <a:latin typeface="Tahoma" pitchFamily="34" charset="0"/>
                <a:sym typeface="Wingdings" panose="05000000000000000000" pitchFamily="2" charset="2"/>
              </a:rPr>
              <a:t></a:t>
            </a:r>
            <a:r>
              <a:rPr lang="pt-BR" altLang="en-US" sz="2400" dirty="0">
                <a:solidFill>
                  <a:srgbClr val="C00000"/>
                </a:solidFill>
                <a:latin typeface="Tahoma" pitchFamily="34" charset="0"/>
              </a:rPr>
              <a:t>log n)</a:t>
            </a:r>
            <a:endParaRPr lang="en-US" altLang="en-US" sz="2800" dirty="0">
              <a:solidFill>
                <a:srgbClr val="C0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926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Text Box 4">
            <a:extLst>
              <a:ext uri="{FF2B5EF4-FFF2-40B4-BE49-F238E27FC236}">
                <a16:creationId xmlns:a16="http://schemas.microsoft.com/office/drawing/2014/main" id="{0D944D19-AFDA-41D5-BDA2-2E1D70226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57200"/>
            <a:ext cx="80010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600" dirty="0" err="1">
                <a:latin typeface="Tahoma" panose="020B0604030504040204" pitchFamily="34" charset="0"/>
              </a:rPr>
              <a:t>MergeSort</a:t>
            </a:r>
            <a:r>
              <a:rPr lang="en-US" altLang="en-US" sz="3600" dirty="0">
                <a:latin typeface="Tahoma" panose="020B0604030504040204" pitchFamily="34" charset="0"/>
              </a:rPr>
              <a:t> has a </a:t>
            </a:r>
            <a:r>
              <a:rPr lang="en-US" altLang="en-US" sz="3600" dirty="0">
                <a:solidFill>
                  <a:srgbClr val="0066FF"/>
                </a:solidFill>
                <a:latin typeface="Tahoma" panose="020B0604030504040204" pitchFamily="34" charset="0"/>
              </a:rPr>
              <a:t>N*Log</a:t>
            </a:r>
            <a:r>
              <a:rPr lang="en-US" altLang="en-US" sz="3600" baseline="-25000" dirty="0">
                <a:solidFill>
                  <a:srgbClr val="0066FF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3600" dirty="0">
                <a:solidFill>
                  <a:srgbClr val="0066FF"/>
                </a:solidFill>
                <a:latin typeface="Tahoma" panose="020B0604030504040204" pitchFamily="34" charset="0"/>
              </a:rPr>
              <a:t>N </a:t>
            </a:r>
            <a:r>
              <a:rPr lang="en-US" altLang="en-US" sz="3600" dirty="0" err="1">
                <a:latin typeface="Tahoma" panose="020B0604030504040204" pitchFamily="34" charset="0"/>
              </a:rPr>
              <a:t>BigO</a:t>
            </a:r>
            <a:r>
              <a:rPr lang="en-US" altLang="en-US" sz="3600" dirty="0">
                <a:latin typeface="Tahoma" panose="020B0604030504040204" pitchFamily="34" charset="0"/>
              </a:rPr>
              <a:t>.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The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mergeSort</a:t>
            </a:r>
            <a:r>
              <a:rPr lang="en-US" altLang="en-US" sz="2800" dirty="0">
                <a:latin typeface="Tahoma" panose="020B0604030504040204" pitchFamily="34" charset="0"/>
              </a:rPr>
              <a:t> method alone has a Log</a:t>
            </a:r>
            <a:r>
              <a:rPr lang="en-US" altLang="en-US" sz="2800" baseline="-25000" dirty="0">
                <a:latin typeface="Tahoma" panose="020B0604030504040204" pitchFamily="34" charset="0"/>
              </a:rPr>
              <a:t>2</a:t>
            </a:r>
            <a:r>
              <a:rPr lang="en-US" altLang="en-US" sz="2800" dirty="0">
                <a:latin typeface="Tahoma" panose="020B0604030504040204" pitchFamily="34" charset="0"/>
              </a:rPr>
              <a:t>N run time because it repeatedly cuts the partitions in half.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en-US" altLang="en-US" sz="2800" dirty="0">
                <a:latin typeface="Tahoma" panose="020B0604030504040204" pitchFamily="34" charset="0"/>
              </a:rPr>
              <a:t> method alone has an N run time because it must loop each entire partition.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The </a:t>
            </a:r>
            <a:r>
              <a:rPr lang="en-US" altLang="en-US" sz="2800" dirty="0" err="1">
                <a:latin typeface="Tahoma" panose="020B0604030504040204" pitchFamily="34" charset="0"/>
              </a:rPr>
              <a:t>BigO</a:t>
            </a:r>
            <a:r>
              <a:rPr lang="en-US" altLang="en-US" sz="2800" dirty="0">
                <a:latin typeface="Tahoma" panose="020B0604030504040204" pitchFamily="34" charset="0"/>
              </a:rPr>
              <a:t> is n*log(n) because the </a:t>
            </a:r>
            <a:r>
              <a:rPr lang="en-US" altLang="en-US" sz="2800" dirty="0" err="1">
                <a:latin typeface="Tahoma" panose="020B0604030504040204" pitchFamily="34" charset="0"/>
              </a:rPr>
              <a:t>mergeSort</a:t>
            </a:r>
            <a:r>
              <a:rPr lang="en-US" altLang="en-US" sz="2800" dirty="0">
                <a:latin typeface="Tahoma" panose="020B0604030504040204" pitchFamily="34" charset="0"/>
              </a:rPr>
              <a:t> method calls the merge method.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9.0&quot;&gt;&lt;object type=&quot;1&quot; unique_id=&quot;10001&quot;&gt;&lt;object type=&quot;2&quot; unique_id=&quot;10531&quot;&gt;&lt;object type=&quot;3&quot; unique_id=&quot;10532&quot;&gt;&lt;property id=&quot;20148&quot; value=&quot;5&quot;/&gt;&lt;property id=&quot;20300&quot; value=&quot;Slide 1&quot;/&gt;&lt;property id=&quot;20307&quot; value=&quot;256&quot;/&gt;&lt;/object&gt;&lt;object type=&quot;3&quot; unique_id=&quot;10533&quot;&gt;&lt;property id=&quot;20148&quot; value=&quot;5&quot;/&gt;&lt;property id=&quot;20300&quot; value=&quot;Slide 2&quot;/&gt;&lt;property id=&quot;20307&quot; value=&quot;412&quot;/&gt;&lt;/object&gt;&lt;object type=&quot;3&quot; unique_id=&quot;10534&quot;&gt;&lt;property id=&quot;20148&quot; value=&quot;5&quot;/&gt;&lt;property id=&quot;20300&quot; value=&quot;Slide 3&quot;/&gt;&lt;property id=&quot;20307&quot; value=&quot;348&quot;/&gt;&lt;/object&gt;&lt;object type=&quot;3&quot; unique_id=&quot;10535&quot;&gt;&lt;property id=&quot;20148&quot; value=&quot;5&quot;/&gt;&lt;property id=&quot;20300&quot; value=&quot;Slide 4&quot;/&gt;&lt;property id=&quot;20307&quot; value=&quot;267&quot;/&gt;&lt;/object&gt;&lt;object type=&quot;3&quot; unique_id=&quot;10536&quot;&gt;&lt;property id=&quot;20148&quot; value=&quot;5&quot;/&gt;&lt;property id=&quot;20300&quot; value=&quot;Slide 5&quot;/&gt;&lt;property id=&quot;20307&quot; value=&quot;257&quot;/&gt;&lt;/object&gt;&lt;object type=&quot;3&quot; unique_id=&quot;10537&quot;&gt;&lt;property id=&quot;20148&quot; value=&quot;5&quot;/&gt;&lt;property id=&quot;20300&quot; value=&quot;Slide 6&quot;/&gt;&lt;property id=&quot;20307&quot; value=&quot;373&quot;/&gt;&lt;/object&gt;&lt;object type=&quot;3&quot; unique_id=&quot;10538&quot;&gt;&lt;property id=&quot;20148&quot; value=&quot;5&quot;/&gt;&lt;property id=&quot;20300&quot; value=&quot;Slide 7&quot;/&gt;&lt;property id=&quot;20307&quot; value=&quot;269&quot;/&gt;&lt;/object&gt;&lt;object type=&quot;3&quot; unique_id=&quot;10539&quot;&gt;&lt;property id=&quot;20148&quot; value=&quot;5&quot;/&gt;&lt;property id=&quot;20300&quot; value=&quot;Slide 8&quot;/&gt;&lt;property id=&quot;20307&quot; value=&quot;261&quot;/&gt;&lt;/object&gt;&lt;object type=&quot;3&quot; unique_id=&quot;10540&quot;&gt;&lt;property id=&quot;20148&quot; value=&quot;5&quot;/&gt;&lt;property id=&quot;20300&quot; value=&quot;Slide 9&quot;/&gt;&lt;property id=&quot;20307&quot; value=&quot;406&quot;/&gt;&lt;/object&gt;&lt;object type=&quot;3&quot; unique_id=&quot;10541&quot;&gt;&lt;property id=&quot;20148&quot; value=&quot;5&quot;/&gt;&lt;property id=&quot;20300&quot; value=&quot;Slide 10&quot;/&gt;&lt;property id=&quot;20307&quot; value=&quot;407&quot;/&gt;&lt;/object&gt;&lt;object type=&quot;3&quot; unique_id=&quot;10542&quot;&gt;&lt;property id=&quot;20148&quot; value=&quot;5&quot;/&gt;&lt;property id=&quot;20300&quot; value=&quot;Slide 11&quot;/&gt;&lt;property id=&quot;20307&quot; value=&quot;396&quot;/&gt;&lt;/object&gt;&lt;object type=&quot;3&quot; unique_id=&quot;10543&quot;&gt;&lt;property id=&quot;20148&quot; value=&quot;5&quot;/&gt;&lt;property id=&quot;20300&quot; value=&quot;Slide 12&quot;/&gt;&lt;property id=&quot;20307&quot; value=&quot;401&quot;/&gt;&lt;/object&gt;&lt;object type=&quot;3&quot; unique_id=&quot;10544&quot;&gt;&lt;property id=&quot;20148&quot; value=&quot;5&quot;/&gt;&lt;property id=&quot;20300&quot; value=&quot;Slide 13&quot;/&gt;&lt;property id=&quot;20307&quot; value=&quot;403&quot;/&gt;&lt;/object&gt;&lt;object type=&quot;3&quot; unique_id=&quot;10545&quot;&gt;&lt;property id=&quot;20148&quot; value=&quot;5&quot;/&gt;&lt;property id=&quot;20300&quot; value=&quot;Slide 15&quot;/&gt;&lt;property id=&quot;20307&quot; value=&quot;270&quot;/&gt;&lt;/object&gt;&lt;object type=&quot;3&quot; unique_id=&quot;10546&quot;&gt;&lt;property id=&quot;20148&quot; value=&quot;5&quot;/&gt;&lt;property id=&quot;20300&quot; value=&quot;Slide 16&quot;/&gt;&lt;property id=&quot;20307&quot; value=&quot;263&quot;/&gt;&lt;/object&gt;&lt;object type=&quot;3&quot; unique_id=&quot;10547&quot;&gt;&lt;property id=&quot;20148&quot; value=&quot;5&quot;/&gt;&lt;property id=&quot;20300&quot; value=&quot;Slide 17&quot;/&gt;&lt;property id=&quot;20307&quot; value=&quot;400&quot;/&gt;&lt;/object&gt;&lt;object type=&quot;3&quot; unique_id=&quot;10548&quot;&gt;&lt;property id=&quot;20148&quot; value=&quot;5&quot;/&gt;&lt;property id=&quot;20300&quot; value=&quot;Slide 20&quot;/&gt;&lt;property id=&quot;20307&quot; value=&quot;398&quot;/&gt;&lt;/object&gt;&lt;object type=&quot;3&quot; unique_id=&quot;10549&quot;&gt;&lt;property id=&quot;20148&quot; value=&quot;5&quot;/&gt;&lt;property id=&quot;20300&quot; value=&quot;Slide 19&quot;/&gt;&lt;property id=&quot;20307&quot; value=&quot;411&quot;/&gt;&lt;/object&gt;&lt;object type=&quot;3&quot; unique_id=&quot;10550&quot;&gt;&lt;property id=&quot;20148&quot; value=&quot;5&quot;/&gt;&lt;property id=&quot;20300&quot; value=&quot;Slide 22&quot;/&gt;&lt;property id=&quot;20307&quot; value=&quot;404&quot;/&gt;&lt;/object&gt;&lt;object type=&quot;3&quot; unique_id=&quot;10551&quot;&gt;&lt;property id=&quot;20148&quot; value=&quot;5&quot;/&gt;&lt;property id=&quot;20300&quot; value=&quot;Slide 23&quot;/&gt;&lt;property id=&quot;20307&quot; value=&quot;351&quot;/&gt;&lt;/object&gt;&lt;object type=&quot;3&quot; unique_id=&quot;10552&quot;&gt;&lt;property id=&quot;20148&quot; value=&quot;5&quot;/&gt;&lt;property id=&quot;20300&quot; value=&quot;Slide 24&quot;/&gt;&lt;property id=&quot;20307&quot; value=&quot;352&quot;/&gt;&lt;/object&gt;&lt;object type=&quot;3&quot; unique_id=&quot;10553&quot;&gt;&lt;property id=&quot;20148&quot; value=&quot;5&quot;/&gt;&lt;property id=&quot;20300&quot; value=&quot;Slide 25&quot;/&gt;&lt;property id=&quot;20307&quot; value=&quot;353&quot;/&gt;&lt;/object&gt;&lt;object type=&quot;3&quot; unique_id=&quot;10554&quot;&gt;&lt;property id=&quot;20148&quot; value=&quot;5&quot;/&gt;&lt;property id=&quot;20300&quot; value=&quot;Slide 26&quot;/&gt;&lt;property id=&quot;20307&quot; value=&quot;354&quot;/&gt;&lt;/object&gt;&lt;object type=&quot;3&quot; unique_id=&quot;10555&quot;&gt;&lt;property id=&quot;20148&quot; value=&quot;5&quot;/&gt;&lt;property id=&quot;20300&quot; value=&quot;Slide 27&quot;/&gt;&lt;property id=&quot;20307&quot; value=&quot;356&quot;/&gt;&lt;/object&gt;&lt;object type=&quot;3&quot; unique_id=&quot;10556&quot;&gt;&lt;property id=&quot;20148&quot; value=&quot;5&quot;/&gt;&lt;property id=&quot;20300&quot; value=&quot;Slide 28&quot;/&gt;&lt;property id=&quot;20307&quot; value=&quot;357&quot;/&gt;&lt;/object&gt;&lt;object type=&quot;3&quot; unique_id=&quot;10557&quot;&gt;&lt;property id=&quot;20148&quot; value=&quot;5&quot;/&gt;&lt;property id=&quot;20300&quot; value=&quot;Slide 30&quot;/&gt;&lt;property id=&quot;20307&quot; value=&quot;358&quot;/&gt;&lt;/object&gt;&lt;object type=&quot;3&quot; unique_id=&quot;10558&quot;&gt;&lt;property id=&quot;20148&quot; value=&quot;5&quot;/&gt;&lt;property id=&quot;20300&quot; value=&quot;Slide 31&quot;/&gt;&lt;property id=&quot;20307&quot; value=&quot;392&quot;/&gt;&lt;/object&gt;&lt;object type=&quot;3&quot; unique_id=&quot;10559&quot;&gt;&lt;property id=&quot;20148&quot; value=&quot;5&quot;/&gt;&lt;property id=&quot;20300&quot; value=&quot;Slide 32&quot;/&gt;&lt;property id=&quot;20307&quot; value=&quot;378&quot;/&gt;&lt;/object&gt;&lt;object type=&quot;3&quot; unique_id=&quot;10560&quot;&gt;&lt;property id=&quot;20148&quot; value=&quot;5&quot;/&gt;&lt;property id=&quot;20300&quot; value=&quot;Slide 33&quot;/&gt;&lt;property id=&quot;20307&quot; value=&quot;361&quot;/&gt;&lt;/object&gt;&lt;object type=&quot;3&quot; unique_id=&quot;10561&quot;&gt;&lt;property id=&quot;20148&quot; value=&quot;5&quot;/&gt;&lt;property id=&quot;20300&quot; value=&quot;Slide 34&quot;/&gt;&lt;property id=&quot;20307&quot; value=&quot;362&quot;/&gt;&lt;/object&gt;&lt;object type=&quot;3&quot; unique_id=&quot;10562&quot;&gt;&lt;property id=&quot;20148&quot; value=&quot;5&quot;/&gt;&lt;property id=&quot;20300&quot; value=&quot;Slide 35&quot;/&gt;&lt;property id=&quot;20307&quot; value=&quot;394&quot;/&gt;&lt;/object&gt;&lt;object type=&quot;3&quot; unique_id=&quot;10563&quot;&gt;&lt;property id=&quot;20148&quot; value=&quot;5&quot;/&gt;&lt;property id=&quot;20300&quot; value=&quot;Slide 37&quot;/&gt;&lt;property id=&quot;20307&quot; value=&quot;364&quot;/&gt;&lt;/object&gt;&lt;object type=&quot;3&quot; unique_id=&quot;10564&quot;&gt;&lt;property id=&quot;20148&quot; value=&quot;5&quot;/&gt;&lt;property id=&quot;20300&quot; value=&quot;Slide 38&quot;/&gt;&lt;property id=&quot;20307&quot; value=&quot;375&quot;/&gt;&lt;/object&gt;&lt;object type=&quot;3&quot; unique_id=&quot;10565&quot;&gt;&lt;property id=&quot;20148&quot; value=&quot;5&quot;/&gt;&lt;property id=&quot;20300&quot; value=&quot;Slide 39&quot;/&gt;&lt;property id=&quot;20307&quot; value=&quot;383&quot;/&gt;&lt;/object&gt;&lt;object type=&quot;3&quot; unique_id=&quot;10566&quot;&gt;&lt;property id=&quot;20148&quot; value=&quot;5&quot;/&gt;&lt;property id=&quot;20300&quot; value=&quot;Slide 40&quot;/&gt;&lt;property id=&quot;20307&quot; value=&quot;379&quot;/&gt;&lt;/object&gt;&lt;object type=&quot;3&quot; unique_id=&quot;10567&quot;&gt;&lt;property id=&quot;20148&quot; value=&quot;5&quot;/&gt;&lt;property id=&quot;20300&quot; value=&quot;Slide 41&quot;/&gt;&lt;property id=&quot;20307&quot; value=&quot;408&quot;/&gt;&lt;/object&gt;&lt;object type=&quot;3&quot; unique_id=&quot;10568&quot;&gt;&lt;property id=&quot;20148&quot; value=&quot;5&quot;/&gt;&lt;property id=&quot;20300&quot; value=&quot;Slide 42&quot;/&gt;&lt;property id=&quot;20307&quot; value=&quot;409&quot;/&gt;&lt;/object&gt;&lt;object type=&quot;3&quot; unique_id=&quot;10569&quot;&gt;&lt;property id=&quot;20148&quot; value=&quot;5&quot;/&gt;&lt;property id=&quot;20300&quot; value=&quot;Slide 43&quot;/&gt;&lt;property id=&quot;20307&quot; value=&quot;410&quot;/&gt;&lt;/object&gt;&lt;object type=&quot;3&quot; unique_id=&quot;10570&quot;&gt;&lt;property id=&quot;20148&quot; value=&quot;5&quot;/&gt;&lt;property id=&quot;20300&quot; value=&quot;Slide 44&quot;/&gt;&lt;property id=&quot;20307&quot; value=&quot;387&quot;/&gt;&lt;/object&gt;&lt;object type=&quot;3&quot; unique_id=&quot;10571&quot;&gt;&lt;property id=&quot;20148&quot; value=&quot;5&quot;/&gt;&lt;property id=&quot;20300&quot; value=&quot;Slide 45&quot;/&gt;&lt;property id=&quot;20307&quot; value=&quot;388&quot;/&gt;&lt;/object&gt;&lt;object type=&quot;3&quot; unique_id=&quot;10572&quot;&gt;&lt;property id=&quot;20148&quot; value=&quot;5&quot;/&gt;&lt;property id=&quot;20300&quot; value=&quot;Slide 46&quot;/&gt;&lt;property id=&quot;20307&quot; value=&quot;390&quot;/&gt;&lt;/object&gt;&lt;object type=&quot;3&quot; unique_id=&quot;10745&quot;&gt;&lt;property id=&quot;20148&quot; value=&quot;5&quot;/&gt;&lt;property id=&quot;20300&quot; value=&quot;Slide 14&quot;/&gt;&lt;property id=&quot;20307&quot; value=&quot;413&quot;/&gt;&lt;/object&gt;&lt;object type=&quot;3&quot; unique_id=&quot;10746&quot;&gt;&lt;property id=&quot;20148&quot; value=&quot;5&quot;/&gt;&lt;property id=&quot;20300&quot; value=&quot;Slide 21&quot;/&gt;&lt;property id=&quot;20307&quot; value=&quot;414&quot;/&gt;&lt;/object&gt;&lt;object type=&quot;3&quot; unique_id=&quot;10748&quot;&gt;&lt;property id=&quot;20148&quot; value=&quot;5&quot;/&gt;&lt;property id=&quot;20300&quot; value=&quot;Slide 18&quot;/&gt;&lt;property id=&quot;20307&quot; value=&quot;415&quot;/&gt;&lt;/object&gt;&lt;object type=&quot;3&quot; unique_id=&quot;10933&quot;&gt;&lt;property id=&quot;20148&quot; value=&quot;5&quot;/&gt;&lt;property id=&quot;20300&quot; value=&quot;Slide 29&quot;/&gt;&lt;property id=&quot;20307&quot; value=&quot;416&quot;/&gt;&lt;/object&gt;&lt;object type=&quot;3&quot; unique_id=&quot;10934&quot;&gt;&lt;property id=&quot;20148&quot; value=&quot;5&quot;/&gt;&lt;property id=&quot;20300&quot; value=&quot;Slide 36&quot;/&gt;&lt;property id=&quot;20307&quot; value=&quot;417&quot;/&gt;&lt;/object&gt;&lt;/object&gt;&lt;object type=&quot;8&quot; unique_id=&quot;10615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1532</Words>
  <Application>Microsoft Office PowerPoint</Application>
  <PresentationFormat>On-screen Show (4:3)</PresentationFormat>
  <Paragraphs>288</Paragraphs>
  <Slides>25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Courier New</vt:lpstr>
      <vt:lpstr>Impact</vt:lpstr>
      <vt:lpstr>Merriweather Sans</vt:lpstr>
      <vt:lpstr>Tahoma</vt:lpstr>
      <vt:lpstr>Times</vt:lpstr>
      <vt:lpstr>Times New Roman</vt:lpstr>
      <vt:lpstr>Wingdings</vt:lpstr>
      <vt:lpstr>Default Design</vt:lpstr>
      <vt:lpstr>Clip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Merge Sort (cont’d)</vt:lpstr>
      <vt:lpstr>Merge Sort (cont’d)</vt:lpstr>
      <vt:lpstr>Merge Sort (cont’d)</vt:lpstr>
      <vt:lpstr>Merge Sort (cont’d)</vt:lpstr>
      <vt:lpstr>Merge Sort (cont’d)</vt:lpstr>
      <vt:lpstr>Merge Sort (cont’d)</vt:lpstr>
      <vt:lpstr>Merge Sort (cont’d)</vt:lpstr>
      <vt:lpstr>Merge Sort (cont’d)</vt:lpstr>
      <vt:lpstr>Merge Sort (cont’d)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sortsearch</dc:title>
  <dc:subject>Sorting and Searching</dc:subject>
  <dc:creator>A+ Computer Science</dc:creator>
  <cp:keywords>www.apluscompsci.com</cp:keywords>
  <dc:description>Sorting and Searching_x000d_
©A+ Computer Science_x000d_
www.apluscompsci.com</dc:description>
  <cp:lastModifiedBy>Weldon Jasik</cp:lastModifiedBy>
  <cp:revision>440</cp:revision>
  <cp:lastPrinted>2000-04-26T16:54:12Z</cp:lastPrinted>
  <dcterms:created xsi:type="dcterms:W3CDTF">1998-04-06T14:13:40Z</dcterms:created>
  <dcterms:modified xsi:type="dcterms:W3CDTF">2024-05-06T19:54:51Z</dcterms:modified>
  <cp:category>www.apluscompsci.com</cp:category>
</cp:coreProperties>
</file>