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8"/>
  </p:notesMasterIdLst>
  <p:handoutMasterIdLst>
    <p:handoutMasterId r:id="rId39"/>
  </p:handoutMasterIdLst>
  <p:sldIdLst>
    <p:sldId id="256" r:id="rId2"/>
    <p:sldId id="412" r:id="rId3"/>
    <p:sldId id="420" r:id="rId4"/>
    <p:sldId id="421" r:id="rId5"/>
    <p:sldId id="348" r:id="rId6"/>
    <p:sldId id="267" r:id="rId7"/>
    <p:sldId id="257" r:id="rId8"/>
    <p:sldId id="429" r:id="rId9"/>
    <p:sldId id="373" r:id="rId10"/>
    <p:sldId id="419" r:id="rId11"/>
    <p:sldId id="269" r:id="rId12"/>
    <p:sldId id="261" r:id="rId13"/>
    <p:sldId id="423" r:id="rId14"/>
    <p:sldId id="407" r:id="rId15"/>
    <p:sldId id="406" r:id="rId16"/>
    <p:sldId id="396" r:id="rId17"/>
    <p:sldId id="433" r:id="rId18"/>
    <p:sldId id="401" r:id="rId19"/>
    <p:sldId id="422" r:id="rId20"/>
    <p:sldId id="413" r:id="rId21"/>
    <p:sldId id="270" r:id="rId22"/>
    <p:sldId id="263" r:id="rId23"/>
    <p:sldId id="424" r:id="rId24"/>
    <p:sldId id="411" r:id="rId25"/>
    <p:sldId id="400" r:id="rId26"/>
    <p:sldId id="415" r:id="rId27"/>
    <p:sldId id="432" r:id="rId28"/>
    <p:sldId id="398" r:id="rId29"/>
    <p:sldId id="430" r:id="rId30"/>
    <p:sldId id="347" r:id="rId31"/>
    <p:sldId id="354" r:id="rId32"/>
    <p:sldId id="357" r:id="rId33"/>
    <p:sldId id="427" r:id="rId34"/>
    <p:sldId id="414" r:id="rId35"/>
    <p:sldId id="428" r:id="rId36"/>
    <p:sldId id="418" r:id="rId37"/>
  </p:sldIdLst>
  <p:sldSz cx="9144000" cy="6858000" type="screen4x3"/>
  <p:notesSz cx="6858000" cy="9144000"/>
  <p:custDataLst>
    <p:tags r:id="rId40"/>
  </p:custDataLst>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EDEDED"/>
    <a:srgbClr val="FFF8FF"/>
    <a:srgbClr val="E7E7F9"/>
    <a:srgbClr val="CCFFFF"/>
    <a:srgbClr val="FF3300"/>
    <a:srgbClr val="000099"/>
    <a:srgbClr val="FFFFCC"/>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69" autoAdjust="0"/>
    <p:restoredTop sz="94581" autoAdjust="0"/>
  </p:normalViewPr>
  <p:slideViewPr>
    <p:cSldViewPr>
      <p:cViewPr varScale="1">
        <p:scale>
          <a:sx n="75" d="100"/>
          <a:sy n="75" d="100"/>
        </p:scale>
        <p:origin x="533" y="67"/>
      </p:cViewPr>
      <p:guideLst>
        <p:guide orient="horz" pos="2160"/>
        <p:guide pos="2880"/>
      </p:guideLst>
    </p:cSldViewPr>
  </p:slideViewPr>
  <p:outlineViewPr>
    <p:cViewPr>
      <p:scale>
        <a:sx n="33" d="100"/>
        <a:sy n="33" d="100"/>
      </p:scale>
      <p:origin x="0" y="-1435"/>
    </p:cViewPr>
  </p:outlineViewPr>
  <p:notesTextViewPr>
    <p:cViewPr>
      <p:scale>
        <a:sx n="100" d="100"/>
        <a:sy n="100" d="100"/>
      </p:scale>
      <p:origin x="0" y="0"/>
    </p:cViewPr>
  </p:notesTextViewPr>
  <p:sorterViewPr>
    <p:cViewPr>
      <p:scale>
        <a:sx n="75" d="100"/>
        <a:sy n="75" d="100"/>
      </p:scale>
      <p:origin x="0" y="-3552"/>
    </p:cViewPr>
  </p:sorterViewPr>
  <p:notesViewPr>
    <p:cSldViewPr>
      <p:cViewPr varScale="1">
        <p:scale>
          <a:sx n="60" d="100"/>
          <a:sy n="60" d="100"/>
        </p:scale>
        <p:origin x="-17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7D0491C-8BB1-4E63-B568-44702F10628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p>
        </p:txBody>
      </p:sp>
      <p:sp>
        <p:nvSpPr>
          <p:cNvPr id="77827" name="Rectangle 3">
            <a:extLst>
              <a:ext uri="{FF2B5EF4-FFF2-40B4-BE49-F238E27FC236}">
                <a16:creationId xmlns:a16="http://schemas.microsoft.com/office/drawing/2014/main" id="{0F629CB9-C090-458C-8819-E5FD9CAB4197}"/>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p>
        </p:txBody>
      </p:sp>
      <p:sp>
        <p:nvSpPr>
          <p:cNvPr id="77828" name="Rectangle 4">
            <a:extLst>
              <a:ext uri="{FF2B5EF4-FFF2-40B4-BE49-F238E27FC236}">
                <a16:creationId xmlns:a16="http://schemas.microsoft.com/office/drawing/2014/main" id="{D3AD159B-6E5C-4378-A152-BC97C06B86A9}"/>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0"/>
            </a:lvl1pPr>
          </a:lstStyle>
          <a:p>
            <a:pPr>
              <a:defRPr/>
            </a:pPr>
            <a:endParaRPr lang="en-US"/>
          </a:p>
        </p:txBody>
      </p:sp>
      <p:sp>
        <p:nvSpPr>
          <p:cNvPr id="77829" name="Rectangle 5">
            <a:extLst>
              <a:ext uri="{FF2B5EF4-FFF2-40B4-BE49-F238E27FC236}">
                <a16:creationId xmlns:a16="http://schemas.microsoft.com/office/drawing/2014/main" id="{3B06E243-4BE6-441C-946D-1F0F438C945A}"/>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pPr>
              <a:defRPr/>
            </a:pPr>
            <a:fld id="{C46270BD-B350-4767-A600-67A929E8246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1026">
            <a:extLst>
              <a:ext uri="{FF2B5EF4-FFF2-40B4-BE49-F238E27FC236}">
                <a16:creationId xmlns:a16="http://schemas.microsoft.com/office/drawing/2014/main" id="{B367F9A6-BFA3-4CFE-AFFA-6FABC3DEA99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p>
        </p:txBody>
      </p:sp>
      <p:sp>
        <p:nvSpPr>
          <p:cNvPr id="125955" name="Rectangle 1027">
            <a:extLst>
              <a:ext uri="{FF2B5EF4-FFF2-40B4-BE49-F238E27FC236}">
                <a16:creationId xmlns:a16="http://schemas.microsoft.com/office/drawing/2014/main" id="{5A669AF1-D3F1-428C-86BB-75A700D5EDBA}"/>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p>
        </p:txBody>
      </p:sp>
      <p:sp>
        <p:nvSpPr>
          <p:cNvPr id="2052" name="Rectangle 1028">
            <a:extLst>
              <a:ext uri="{FF2B5EF4-FFF2-40B4-BE49-F238E27FC236}">
                <a16:creationId xmlns:a16="http://schemas.microsoft.com/office/drawing/2014/main" id="{82F5F214-A885-4EA5-9526-1ABDA07BC7B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5957" name="Rectangle 1029">
            <a:extLst>
              <a:ext uri="{FF2B5EF4-FFF2-40B4-BE49-F238E27FC236}">
                <a16:creationId xmlns:a16="http://schemas.microsoft.com/office/drawing/2014/main" id="{95F99B06-9DE7-4439-BB2D-08D0AC40E9B8}"/>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1032">
            <a:extLst>
              <a:ext uri="{FF2B5EF4-FFF2-40B4-BE49-F238E27FC236}">
                <a16:creationId xmlns:a16="http://schemas.microsoft.com/office/drawing/2014/main" id="{20D3D880-C682-4B03-85FB-7CDCA60504C5}"/>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pPr algn="r">
              <a:defRPr/>
            </a:pPr>
            <a:r>
              <a:rPr lang="en-US" altLang="en-US" sz="1200"/>
              <a:t>©A+ Computer Science     www.apluscompsci.com                 </a:t>
            </a:r>
            <a:fld id="{A7EA4683-A35C-434B-949F-8FDB67CBCE3D}" type="slidenum">
              <a:rPr lang="en-US" altLang="en-US" sz="1200" smtClean="0"/>
              <a:pPr algn="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92DB0A2-DFB3-4935-B253-1A84A050ABF1}"/>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7634E5A9-77DE-4E9C-A1FD-848A34C1EA1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p:txBody>
          <a:bodyPr/>
          <a:lstStyle/>
          <a:p>
            <a:pPr>
              <a:defRPr/>
            </a:pPr>
            <a:fld id="{DBFE5311-7363-4DB6-9F08-B8F9CF9027E9}" type="slidenum">
              <a:rPr lang="en-US" smtClean="0"/>
              <a:pPr>
                <a:defRPr/>
              </a:pPr>
              <a:t>3</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r>
              <a:rPr lang="en-US"/>
              <a:t>At this point, a list is represented as an array.  In general the term “sorting” can apply to any list (e.g., a linked list).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p:txBody>
          <a:bodyPr/>
          <a:lstStyle/>
          <a:p>
            <a:pPr>
              <a:defRPr/>
            </a:pPr>
            <a:fld id="{F34169D8-4B33-4BD2-A421-3A90E3CB11D5}" type="slidenum">
              <a:rPr lang="en-US" smtClean="0"/>
              <a:pPr>
                <a:defRPr/>
              </a:pPr>
              <a:t>4</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a:t>When </a:t>
            </a:r>
            <a:r>
              <a:rPr lang="en-US" i="1"/>
              <a:t>n </a:t>
            </a:r>
            <a:r>
              <a:rPr lang="en-US"/>
              <a:t>is large enough, </a:t>
            </a:r>
            <a:r>
              <a:rPr lang="en-US" i="1"/>
              <a:t>An</a:t>
            </a:r>
            <a:r>
              <a:rPr lang="en-US" baseline="30000"/>
              <a:t>2</a:t>
            </a:r>
            <a:r>
              <a:rPr lang="en-US"/>
              <a:t> eventually overtakes </a:t>
            </a:r>
            <a:r>
              <a:rPr lang="en-US" i="1"/>
              <a:t>Bn</a:t>
            </a:r>
            <a:r>
              <a:rPr lang="en-US" i="1">
                <a:sym typeface="Symbol" pitchFamily="18" charset="2"/>
              </a:rPr>
              <a:t></a:t>
            </a:r>
            <a:r>
              <a:rPr lang="en-US"/>
              <a:t>log </a:t>
            </a:r>
            <a:r>
              <a:rPr lang="en-US" i="1"/>
              <a:t>n</a:t>
            </a:r>
            <a:r>
              <a:rPr lang="en-US"/>
              <a:t> no matter how small </a:t>
            </a:r>
            <a:r>
              <a:rPr lang="en-US" i="1"/>
              <a:t>A</a:t>
            </a:r>
            <a:r>
              <a:rPr lang="en-US"/>
              <a:t> is and how large </a:t>
            </a:r>
            <a:r>
              <a:rPr lang="en-US" i="1"/>
              <a:t>B</a:t>
            </a:r>
            <a:r>
              <a:rPr lang="en-US"/>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3739F80-7884-4467-9457-C1ACA34F6BD0}"/>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6031E657-4B17-4403-BEA0-35DBA136DD5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9A6D6D8-1A8A-475E-A656-956C656D8C4B}"/>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C3C9AA55-B899-439D-82F1-4001DE38806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B4EB756-0875-495A-99CA-9019CA8D824A}"/>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21B71D1A-E898-4554-8824-AB48D85295C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1C15BE5-A74A-4DD5-9ECB-CD6A723F09EB}"/>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7826C637-24E6-4DED-86CE-BAD133DB057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58FB04F-679B-4268-9D28-BFBB84F00969}"/>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54AC477A-1DD4-49D8-9D14-156122D07F8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EE93822-995F-47EB-B562-6E421E1B0951}"/>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507B0201-577F-45B1-B64A-D7E60D2514F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02C5C36-A060-4ADB-B3DC-F0593905D21B}"/>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AB61108D-51EE-4314-A599-2FB9ACBB4F6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FE9F9E8-70B6-447E-AB41-BAE4CB64F82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F530F92A-F277-43F9-B9FB-7860B70C1797}"/>
              </a:ext>
            </a:extLst>
          </p:cNvPr>
          <p:cNvSpPr>
            <a:spLocks noGrp="1" noChangeArrowheads="1"/>
          </p:cNvSpPr>
          <p:nvPr>
            <p:ph type="body" idx="1"/>
          </p:nvPr>
        </p:nvSpPr>
        <p:spPr>
          <a:noFill/>
        </p:spPr>
        <p:txBody>
          <a:bodyPr/>
          <a:lstStyle/>
          <a:p>
            <a:r>
              <a:rPr lang="en-US" altLang="en-US" sz="1600"/>
              <a:t>Selection sort is pretty effective for small lists, but pretty horrible is used on large lists.</a:t>
            </a:r>
          </a:p>
          <a:p>
            <a:r>
              <a:rPr lang="en-US" altLang="en-US" sz="1600"/>
              <a:t>Selection sort consists of two loops.   </a:t>
            </a:r>
          </a:p>
          <a:p>
            <a:r>
              <a:rPr lang="en-US" altLang="en-US" sz="1600"/>
              <a:t>The outer loops run based on the number of items in the list.  </a:t>
            </a:r>
          </a:p>
          <a:p>
            <a:r>
              <a:rPr lang="en-US" altLang="en-US" sz="1600"/>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D2BB69C-23C3-4540-970A-B10D6DE1664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EECC9EE-3EE1-4D29-AD5F-86BF1A7404DF}"/>
              </a:ext>
            </a:extLst>
          </p:cNvPr>
          <p:cNvSpPr>
            <a:spLocks noGrp="1" noChangeArrowheads="1"/>
          </p:cNvSpPr>
          <p:nvPr>
            <p:ph type="body" idx="1"/>
          </p:nvPr>
        </p:nvSpPr>
        <p:spPr>
          <a:noFill/>
        </p:spPr>
        <p:txBody>
          <a:bodyPr/>
          <a:lstStyle/>
          <a:p>
            <a:r>
              <a:rPr lang="en-US" altLang="en-US" sz="1600"/>
              <a:t>Selection sort is pretty effective for small lists, but pretty horrible is used on large lists.</a:t>
            </a:r>
          </a:p>
          <a:p>
            <a:r>
              <a:rPr lang="en-US" altLang="en-US" sz="1600"/>
              <a:t>Selection sort consists of two loops.   </a:t>
            </a:r>
          </a:p>
          <a:p>
            <a:r>
              <a:rPr lang="en-US" altLang="en-US" sz="1600"/>
              <a:t>The outer loops run based on the number of items in the list.  </a:t>
            </a:r>
          </a:p>
          <a:p>
            <a:r>
              <a:rPr lang="en-US" altLang="en-US" sz="1600"/>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00CB09F-DA44-47A4-A2AB-B0F8766C221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18F2B50-4815-4C8D-8CC9-25E878989B5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00CB09F-DA44-47A4-A2AB-B0F8766C221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18F2B50-4815-4C8D-8CC9-25E878989B5A}"/>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70765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A0160BC-DD9B-47F8-8E26-8CABBBEBD48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CF0D987-BCA3-4CF7-A5AE-0EF6FE662DB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p:txBody>
          <a:bodyPr/>
          <a:lstStyle/>
          <a:p>
            <a:pPr>
              <a:defRPr/>
            </a:pPr>
            <a:fld id="{4ADB135E-A626-4605-AD4E-99B1A88CB7E4}" type="slidenum">
              <a:rPr lang="en-US" smtClean="0"/>
              <a:pPr>
                <a:defRPr/>
              </a:pPr>
              <a:t>19</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5E12E9E-2CC8-4956-8C7D-D4F6E6ED3478}"/>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689DEC4A-C0EF-4884-9B87-09A0AA931A2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EC5F165-610D-4E67-8C46-C18486FAE4A6}"/>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7819C9C0-1F11-41F5-A163-2624300588C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8EE2DD9-18FB-4A79-A2EE-3762FA11FDA7}"/>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C2B376C2-43CF-46D4-B856-359116779D9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8CA9016-B97F-49B4-8706-01A7245601C2}"/>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0CF41C7D-BB55-4FA5-B959-BB2B160C459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CA89958-2367-4614-BC28-2D7A4C9E205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B1BCB44F-1979-4892-A9BE-83B20D184C1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F70EAD5-C8BF-40C5-82D8-0B04B0055F35}"/>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8F52825D-3660-4582-8108-11EDD7CCFA6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F70EAD5-C8BF-40C5-82D8-0B04B0055F35}"/>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8F52825D-3660-4582-8108-11EDD7CCFA6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31741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CB7E560-3407-4499-8C22-334BBED17EE5}"/>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A999CC00-7437-48F4-8C8A-80097D6A1A8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816ceff6d5_38_4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g816ceff6d5_38_4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816ceff6d5_38_45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g816ceff6d5_38_4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816ceff6d5_38_47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g816ceff6d5_38_4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FBCF519-DF72-494A-A197-C8F88898B6A3}"/>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57E12E22-9E60-4AD2-8306-EC66040F97D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B0A8CC52-3862-4ACE-89FD-09E4C142C8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2CD8874-FFCC-49E4-B7EA-6EC9752C34F2}"/>
              </a:ext>
            </a:extLst>
          </p:cNvPr>
          <p:cNvSpPr>
            <a:spLocks noGrp="1" noChangeArrowheads="1"/>
          </p:cNvSpPr>
          <p:nvPr>
            <p:ph type="sldNum" sz="quarter" idx="11"/>
          </p:nvPr>
        </p:nvSpPr>
        <p:spPr>
          <a:ln/>
        </p:spPr>
        <p:txBody>
          <a:bodyPr/>
          <a:lstStyle>
            <a:lvl1pPr>
              <a:defRPr/>
            </a:lvl1pPr>
          </a:lstStyle>
          <a:p>
            <a:pPr>
              <a:defRPr/>
            </a:pPr>
            <a:fld id="{F3302A23-FE45-4C6C-8E42-301C178086F9}" type="slidenum">
              <a:rPr lang="en-US" altLang="en-US"/>
              <a:pPr>
                <a:defRPr/>
              </a:pPr>
              <a:t>‹#›</a:t>
            </a:fld>
            <a:endParaRPr lang="en-US" altLang="en-US"/>
          </a:p>
        </p:txBody>
      </p:sp>
      <p:sp>
        <p:nvSpPr>
          <p:cNvPr id="6" name="Rectangle 7">
            <a:extLst>
              <a:ext uri="{FF2B5EF4-FFF2-40B4-BE49-F238E27FC236}">
                <a16:creationId xmlns:a16="http://schemas.microsoft.com/office/drawing/2014/main" id="{BA98C0A5-73DC-47DD-BBBB-F091C65B7AE3}"/>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11067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06CD897-2F44-4EDB-8B3A-147EA081819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A918995-F7B0-48F6-8D0F-668DEEAD2A17}"/>
              </a:ext>
            </a:extLst>
          </p:cNvPr>
          <p:cNvSpPr>
            <a:spLocks noGrp="1" noChangeArrowheads="1"/>
          </p:cNvSpPr>
          <p:nvPr>
            <p:ph type="sldNum" sz="quarter" idx="11"/>
          </p:nvPr>
        </p:nvSpPr>
        <p:spPr>
          <a:ln/>
        </p:spPr>
        <p:txBody>
          <a:bodyPr/>
          <a:lstStyle>
            <a:lvl1pPr>
              <a:defRPr/>
            </a:lvl1pPr>
          </a:lstStyle>
          <a:p>
            <a:pPr>
              <a:defRPr/>
            </a:pPr>
            <a:fld id="{295C63B8-F0A3-482D-A443-74DD21E6590B}" type="slidenum">
              <a:rPr lang="en-US" altLang="en-US"/>
              <a:pPr>
                <a:defRPr/>
              </a:pPr>
              <a:t>‹#›</a:t>
            </a:fld>
            <a:endParaRPr lang="en-US" altLang="en-US"/>
          </a:p>
        </p:txBody>
      </p:sp>
      <p:sp>
        <p:nvSpPr>
          <p:cNvPr id="6" name="Rectangle 7">
            <a:extLst>
              <a:ext uri="{FF2B5EF4-FFF2-40B4-BE49-F238E27FC236}">
                <a16:creationId xmlns:a16="http://schemas.microsoft.com/office/drawing/2014/main" id="{3A6B2211-4E97-4F7E-AEEF-B1BEEC2FC350}"/>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009995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7D0E77B-F561-461A-877A-29D9D160CB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43F920D-B58E-4682-B3DF-8FADA5BC901D}"/>
              </a:ext>
            </a:extLst>
          </p:cNvPr>
          <p:cNvSpPr>
            <a:spLocks noGrp="1" noChangeArrowheads="1"/>
          </p:cNvSpPr>
          <p:nvPr>
            <p:ph type="sldNum" sz="quarter" idx="11"/>
          </p:nvPr>
        </p:nvSpPr>
        <p:spPr>
          <a:ln/>
        </p:spPr>
        <p:txBody>
          <a:bodyPr/>
          <a:lstStyle>
            <a:lvl1pPr>
              <a:defRPr/>
            </a:lvl1pPr>
          </a:lstStyle>
          <a:p>
            <a:pPr>
              <a:defRPr/>
            </a:pPr>
            <a:fld id="{0BE0B55F-2876-4EAD-A045-1ADB294FD912}" type="slidenum">
              <a:rPr lang="en-US" altLang="en-US"/>
              <a:pPr>
                <a:defRPr/>
              </a:pPr>
              <a:t>‹#›</a:t>
            </a:fld>
            <a:endParaRPr lang="en-US" altLang="en-US"/>
          </a:p>
        </p:txBody>
      </p:sp>
      <p:sp>
        <p:nvSpPr>
          <p:cNvPr id="6" name="Rectangle 7">
            <a:extLst>
              <a:ext uri="{FF2B5EF4-FFF2-40B4-BE49-F238E27FC236}">
                <a16:creationId xmlns:a16="http://schemas.microsoft.com/office/drawing/2014/main" id="{BE93DBF8-097E-4C6E-927C-C4B8F720148A}"/>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48088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C4DDAC-09E0-48BD-93F3-4ECBB9611E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EDEA7B6-E3BB-4C58-B44A-C48FF7B19481}"/>
              </a:ext>
            </a:extLst>
          </p:cNvPr>
          <p:cNvSpPr>
            <a:spLocks noGrp="1" noChangeArrowheads="1"/>
          </p:cNvSpPr>
          <p:nvPr>
            <p:ph type="sldNum" sz="quarter" idx="11"/>
          </p:nvPr>
        </p:nvSpPr>
        <p:spPr>
          <a:ln/>
        </p:spPr>
        <p:txBody>
          <a:bodyPr/>
          <a:lstStyle>
            <a:lvl1pPr>
              <a:defRPr/>
            </a:lvl1pPr>
          </a:lstStyle>
          <a:p>
            <a:pPr>
              <a:defRPr/>
            </a:pPr>
            <a:fld id="{E84E9FA1-B154-4B57-914F-37117C7CA9B2}" type="slidenum">
              <a:rPr lang="en-US" altLang="en-US"/>
              <a:pPr>
                <a:defRPr/>
              </a:pPr>
              <a:t>‹#›</a:t>
            </a:fld>
            <a:endParaRPr lang="en-US" altLang="en-US"/>
          </a:p>
        </p:txBody>
      </p:sp>
      <p:sp>
        <p:nvSpPr>
          <p:cNvPr id="7" name="Rectangle 7">
            <a:extLst>
              <a:ext uri="{FF2B5EF4-FFF2-40B4-BE49-F238E27FC236}">
                <a16:creationId xmlns:a16="http://schemas.microsoft.com/office/drawing/2014/main" id="{A4981C88-1941-45B9-8C18-B3658846AD29}"/>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1056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A632345-608C-49B8-AEC8-9C676831D5F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81D9200-CBFC-4828-A3BC-95E6716B5B51}"/>
              </a:ext>
            </a:extLst>
          </p:cNvPr>
          <p:cNvSpPr>
            <a:spLocks noGrp="1" noChangeArrowheads="1"/>
          </p:cNvSpPr>
          <p:nvPr>
            <p:ph type="sldNum" sz="quarter" idx="11"/>
          </p:nvPr>
        </p:nvSpPr>
        <p:spPr>
          <a:ln/>
        </p:spPr>
        <p:txBody>
          <a:bodyPr/>
          <a:lstStyle>
            <a:lvl1pPr>
              <a:defRPr/>
            </a:lvl1pPr>
          </a:lstStyle>
          <a:p>
            <a:pPr>
              <a:defRPr/>
            </a:pPr>
            <a:fld id="{C936F7A5-19D7-4576-9925-540982FBEC46}" type="slidenum">
              <a:rPr lang="en-US" altLang="en-US"/>
              <a:pPr>
                <a:defRPr/>
              </a:pPr>
              <a:t>‹#›</a:t>
            </a:fld>
            <a:endParaRPr lang="en-US" altLang="en-US"/>
          </a:p>
        </p:txBody>
      </p:sp>
      <p:sp>
        <p:nvSpPr>
          <p:cNvPr id="9" name="Rectangle 7">
            <a:extLst>
              <a:ext uri="{FF2B5EF4-FFF2-40B4-BE49-F238E27FC236}">
                <a16:creationId xmlns:a16="http://schemas.microsoft.com/office/drawing/2014/main" id="{EF53EE7C-3E18-4F79-BA03-1B5BCA49646F}"/>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203571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46B13D3-5D6C-47C1-AE3F-EB6A0D02498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385C78F-1FD3-4167-9869-8A5D796AD707}"/>
              </a:ext>
            </a:extLst>
          </p:cNvPr>
          <p:cNvSpPr>
            <a:spLocks noGrp="1" noChangeArrowheads="1"/>
          </p:cNvSpPr>
          <p:nvPr>
            <p:ph type="sldNum" sz="quarter" idx="11"/>
          </p:nvPr>
        </p:nvSpPr>
        <p:spPr>
          <a:ln/>
        </p:spPr>
        <p:txBody>
          <a:bodyPr/>
          <a:lstStyle>
            <a:lvl1pPr>
              <a:defRPr/>
            </a:lvl1pPr>
          </a:lstStyle>
          <a:p>
            <a:pPr>
              <a:defRPr/>
            </a:pPr>
            <a:fld id="{4B7DE889-B7C0-437C-AD40-A196D49EB338}" type="slidenum">
              <a:rPr lang="en-US" altLang="en-US"/>
              <a:pPr>
                <a:defRPr/>
              </a:pPr>
              <a:t>‹#›</a:t>
            </a:fld>
            <a:endParaRPr lang="en-US" altLang="en-US"/>
          </a:p>
        </p:txBody>
      </p:sp>
      <p:sp>
        <p:nvSpPr>
          <p:cNvPr id="5" name="Rectangle 7">
            <a:extLst>
              <a:ext uri="{FF2B5EF4-FFF2-40B4-BE49-F238E27FC236}">
                <a16:creationId xmlns:a16="http://schemas.microsoft.com/office/drawing/2014/main" id="{D0E7C065-7E2F-46EA-B2F1-7936A1A45D3D}"/>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785580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B3A6CA5-6D1D-4051-88D7-19588B3C627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047E961D-E5EA-4AA1-8A2A-A9CCCAAD9B8A}"/>
              </a:ext>
            </a:extLst>
          </p:cNvPr>
          <p:cNvSpPr>
            <a:spLocks noGrp="1" noChangeArrowheads="1"/>
          </p:cNvSpPr>
          <p:nvPr>
            <p:ph type="sldNum" sz="quarter" idx="11"/>
          </p:nvPr>
        </p:nvSpPr>
        <p:spPr>
          <a:ln/>
        </p:spPr>
        <p:txBody>
          <a:bodyPr/>
          <a:lstStyle>
            <a:lvl1pPr>
              <a:defRPr/>
            </a:lvl1pPr>
          </a:lstStyle>
          <a:p>
            <a:pPr>
              <a:defRPr/>
            </a:pPr>
            <a:fld id="{8937814E-87E0-4B02-AC1E-B53621157F3D}" type="slidenum">
              <a:rPr lang="en-US" altLang="en-US"/>
              <a:pPr>
                <a:defRPr/>
              </a:pPr>
              <a:t>‹#›</a:t>
            </a:fld>
            <a:endParaRPr lang="en-US" altLang="en-US"/>
          </a:p>
        </p:txBody>
      </p:sp>
      <p:sp>
        <p:nvSpPr>
          <p:cNvPr id="4" name="Rectangle 7">
            <a:extLst>
              <a:ext uri="{FF2B5EF4-FFF2-40B4-BE49-F238E27FC236}">
                <a16:creationId xmlns:a16="http://schemas.microsoft.com/office/drawing/2014/main" id="{D26DBD43-876C-42CE-8AE7-F0DCF7ACB199}"/>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82935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DCCDAA5-4869-4078-9BAB-93CB43A878D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17259A2-F7C5-4548-B507-984EFF7BADAA}"/>
              </a:ext>
            </a:extLst>
          </p:cNvPr>
          <p:cNvSpPr>
            <a:spLocks noGrp="1" noChangeArrowheads="1"/>
          </p:cNvSpPr>
          <p:nvPr>
            <p:ph type="sldNum" sz="quarter" idx="11"/>
          </p:nvPr>
        </p:nvSpPr>
        <p:spPr>
          <a:ln/>
        </p:spPr>
        <p:txBody>
          <a:bodyPr/>
          <a:lstStyle>
            <a:lvl1pPr>
              <a:defRPr/>
            </a:lvl1pPr>
          </a:lstStyle>
          <a:p>
            <a:pPr>
              <a:defRPr/>
            </a:pPr>
            <a:fld id="{2DD62F48-9C5E-4D4D-8870-625A56567BEC}" type="slidenum">
              <a:rPr lang="en-US" altLang="en-US"/>
              <a:pPr>
                <a:defRPr/>
              </a:pPr>
              <a:t>‹#›</a:t>
            </a:fld>
            <a:endParaRPr lang="en-US" altLang="en-US"/>
          </a:p>
        </p:txBody>
      </p:sp>
      <p:sp>
        <p:nvSpPr>
          <p:cNvPr id="7" name="Rectangle 7">
            <a:extLst>
              <a:ext uri="{FF2B5EF4-FFF2-40B4-BE49-F238E27FC236}">
                <a16:creationId xmlns:a16="http://schemas.microsoft.com/office/drawing/2014/main" id="{4C4FBAB5-FA0D-4522-8132-5E048D45BE35}"/>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99895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6EE6386-8858-4420-AA97-23108FA1C12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E9F7280-4DBC-4800-A2EF-A02CC2010427}"/>
              </a:ext>
            </a:extLst>
          </p:cNvPr>
          <p:cNvSpPr>
            <a:spLocks noGrp="1" noChangeArrowheads="1"/>
          </p:cNvSpPr>
          <p:nvPr>
            <p:ph type="sldNum" sz="quarter" idx="11"/>
          </p:nvPr>
        </p:nvSpPr>
        <p:spPr>
          <a:ln/>
        </p:spPr>
        <p:txBody>
          <a:bodyPr/>
          <a:lstStyle>
            <a:lvl1pPr>
              <a:defRPr/>
            </a:lvl1pPr>
          </a:lstStyle>
          <a:p>
            <a:pPr>
              <a:defRPr/>
            </a:pPr>
            <a:fld id="{1842DF1D-8E01-4AA9-BE86-CE9723E4639E}" type="slidenum">
              <a:rPr lang="en-US" altLang="en-US"/>
              <a:pPr>
                <a:defRPr/>
              </a:pPr>
              <a:t>‹#›</a:t>
            </a:fld>
            <a:endParaRPr lang="en-US" altLang="en-US"/>
          </a:p>
        </p:txBody>
      </p:sp>
      <p:sp>
        <p:nvSpPr>
          <p:cNvPr id="7" name="Rectangle 7">
            <a:extLst>
              <a:ext uri="{FF2B5EF4-FFF2-40B4-BE49-F238E27FC236}">
                <a16:creationId xmlns:a16="http://schemas.microsoft.com/office/drawing/2014/main" id="{77101040-6843-4605-9B5D-F53A35FD8626}"/>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26837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F8F5584-814E-4EF4-A6C9-0D60D6E267F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E8E5969-CB0E-4945-AADE-9AB590DD4EF9}"/>
              </a:ext>
            </a:extLst>
          </p:cNvPr>
          <p:cNvSpPr>
            <a:spLocks noGrp="1" noChangeArrowheads="1"/>
          </p:cNvSpPr>
          <p:nvPr>
            <p:ph type="sldNum" sz="quarter" idx="11"/>
          </p:nvPr>
        </p:nvSpPr>
        <p:spPr>
          <a:ln/>
        </p:spPr>
        <p:txBody>
          <a:bodyPr/>
          <a:lstStyle>
            <a:lvl1pPr>
              <a:defRPr/>
            </a:lvl1pPr>
          </a:lstStyle>
          <a:p>
            <a:pPr>
              <a:defRPr/>
            </a:pPr>
            <a:fld id="{E87186D0-3B87-4164-A478-950520254A2B}" type="slidenum">
              <a:rPr lang="en-US" altLang="en-US"/>
              <a:pPr>
                <a:defRPr/>
              </a:pPr>
              <a:t>‹#›</a:t>
            </a:fld>
            <a:endParaRPr lang="en-US" altLang="en-US"/>
          </a:p>
        </p:txBody>
      </p:sp>
      <p:sp>
        <p:nvSpPr>
          <p:cNvPr id="6" name="Rectangle 7">
            <a:extLst>
              <a:ext uri="{FF2B5EF4-FFF2-40B4-BE49-F238E27FC236}">
                <a16:creationId xmlns:a16="http://schemas.microsoft.com/office/drawing/2014/main" id="{2FDE0B82-70CC-4C5F-B7D5-E80CE331FD0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983808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F261843-7CA5-4C69-8BC9-F2CFA33C6F2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DA4F86C-067A-4A84-B940-BABB4A6C1262}"/>
              </a:ext>
            </a:extLst>
          </p:cNvPr>
          <p:cNvSpPr>
            <a:spLocks noGrp="1" noChangeArrowheads="1"/>
          </p:cNvSpPr>
          <p:nvPr>
            <p:ph type="sldNum" sz="quarter" idx="11"/>
          </p:nvPr>
        </p:nvSpPr>
        <p:spPr>
          <a:ln/>
        </p:spPr>
        <p:txBody>
          <a:bodyPr/>
          <a:lstStyle>
            <a:lvl1pPr>
              <a:defRPr/>
            </a:lvl1pPr>
          </a:lstStyle>
          <a:p>
            <a:pPr>
              <a:defRPr/>
            </a:pPr>
            <a:fld id="{9B6888E5-7BFD-4BBB-BF47-CFC32D97018B}" type="slidenum">
              <a:rPr lang="en-US" altLang="en-US"/>
              <a:pPr>
                <a:defRPr/>
              </a:pPr>
              <a:t>‹#›</a:t>
            </a:fld>
            <a:endParaRPr lang="en-US" altLang="en-US"/>
          </a:p>
        </p:txBody>
      </p:sp>
      <p:sp>
        <p:nvSpPr>
          <p:cNvPr id="6" name="Rectangle 7">
            <a:extLst>
              <a:ext uri="{FF2B5EF4-FFF2-40B4-BE49-F238E27FC236}">
                <a16:creationId xmlns:a16="http://schemas.microsoft.com/office/drawing/2014/main" id="{A92B52A6-6E9A-4628-A0DA-7D66B67EA96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209772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5AD7865-43D2-4847-8D3C-C720F37443C4}"/>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3289320-2EB4-4DCD-8434-0F93A9E19CA2}"/>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EBFBD06-AEB8-48D0-B610-5F63890E57D3}"/>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AEDC340B-C886-4452-97C5-4DCE12B87975}"/>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pPr>
              <a:defRPr/>
            </a:pPr>
            <a:fld id="{AF010C95-9A13-4219-9D1E-353A0CD03878}" type="slidenum">
              <a:rPr lang="en-US" altLang="en-US"/>
              <a:pPr>
                <a:defRPr/>
              </a:pPr>
              <a:t>‹#›</a:t>
            </a:fld>
            <a:endParaRPr lang="en-US" altLang="en-US"/>
          </a:p>
        </p:txBody>
      </p:sp>
      <p:sp>
        <p:nvSpPr>
          <p:cNvPr id="1031" name="Rectangle 7">
            <a:extLst>
              <a:ext uri="{FF2B5EF4-FFF2-40B4-BE49-F238E27FC236}">
                <a16:creationId xmlns:a16="http://schemas.microsoft.com/office/drawing/2014/main" id="{29D4346C-A7C0-43B2-B2A1-92C52E41CAE0}"/>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b="1"/>
          </a:p>
          <a:p>
            <a:pPr>
              <a:defRPr/>
            </a:pPr>
            <a:endParaRPr lang="en-US">
              <a:latin typeface="Tahoma" panose="020B0604030504040204" pitchFamily="34" charset="0"/>
            </a:endParaRPr>
          </a:p>
          <a:p>
            <a:pPr>
              <a:defRPr/>
            </a:pPr>
            <a:endParaRPr lang="en-US" b="1">
              <a:latin typeface="Tahoma" panose="020B0604030504040204" pitchFamily="34" charset="0"/>
            </a:endParaRPr>
          </a:p>
          <a:p>
            <a:pPr>
              <a:defRPr/>
            </a:pPr>
            <a:r>
              <a:rPr lang="en-US" b="1">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visualgo.net/bn/sorting" TargetMode="External"/><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7.xml"/><Relationship Id="rId4" Type="http://schemas.openxmlformats.org/officeDocument/2006/relationships/hyperlink" Target="https://visualgo.net/bn/sortin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visualgo.net/bn/sortin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visualgo.net/bn/sorting"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visualgo.net/bn/sortin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CCF3E1A1-D476-4A51-A446-34895E057E7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WordArt 2">
            <a:extLst>
              <a:ext uri="{FF2B5EF4-FFF2-40B4-BE49-F238E27FC236}">
                <a16:creationId xmlns:a16="http://schemas.microsoft.com/office/drawing/2014/main" id="{DDBAA0B0-FA06-4FC4-915E-8736BF1A3EB8}"/>
              </a:ext>
            </a:extLst>
          </p:cNvPr>
          <p:cNvSpPr>
            <a:spLocks noGrp="1" noChangeArrowheads="1" noChangeShapeType="1" noTextEdit="1"/>
          </p:cNvSpPr>
          <p:nvPr>
            <p:ph type="title" idx="4294967295"/>
          </p:nvPr>
        </p:nvSpPr>
        <p:spPr bwMode="auto">
          <a:xfrm>
            <a:off x="609600" y="1143000"/>
            <a:ext cx="8001000" cy="3962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9050">
                  <a:solidFill>
                    <a:srgbClr val="99CCFF"/>
                  </a:solidFill>
                  <a:round/>
                  <a:headEnd/>
                  <a:tailEnd/>
                </a:ln>
                <a:solidFill>
                  <a:srgbClr val="0066CC"/>
                </a:solidFill>
                <a:effectLst>
                  <a:outerShdw dist="35921" dir="2700000" algn="ctr" rotWithShape="0">
                    <a:srgbClr val="990000"/>
                  </a:outerShdw>
                </a:effectLst>
                <a:uLnTx/>
                <a:uFillTx/>
                <a:latin typeface="Impact" panose="020B0806030902050204" pitchFamily="34" charset="0"/>
                <a:ea typeface="+mn-ea"/>
                <a:cs typeface="+mn-cs"/>
              </a:rPr>
              <a:t>SORTING AND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9050">
                  <a:solidFill>
                    <a:srgbClr val="99CCFF"/>
                  </a:solidFill>
                  <a:round/>
                  <a:headEnd/>
                  <a:tailEnd/>
                </a:ln>
                <a:solidFill>
                  <a:srgbClr val="0066CC"/>
                </a:solidFill>
                <a:effectLst>
                  <a:outerShdw dist="35921" dir="2700000" algn="ctr" rotWithShape="0">
                    <a:srgbClr val="990000"/>
                  </a:outerShdw>
                </a:effectLst>
                <a:uLnTx/>
                <a:uFillTx/>
                <a:latin typeface="Impact" panose="020B0806030902050204" pitchFamily="34" charset="0"/>
                <a:ea typeface="+mn-ea"/>
                <a:cs typeface="+mn-cs"/>
              </a:rPr>
              <a:t>SEARCHING</a:t>
            </a:r>
          </a:p>
        </p:txBody>
      </p:sp>
      <p:sp>
        <p:nvSpPr>
          <p:cNvPr id="4100" name="WordArt 5">
            <a:extLst>
              <a:ext uri="{FF2B5EF4-FFF2-40B4-BE49-F238E27FC236}">
                <a16:creationId xmlns:a16="http://schemas.microsoft.com/office/drawing/2014/main" id="{CD1E4D27-4EDC-4330-AA79-54489AB69A81}"/>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771000-F765-5189-748D-950B58A77D6E}"/>
              </a:ext>
            </a:extLst>
          </p:cNvPr>
          <p:cNvSpPr>
            <a:spLocks noGrp="1"/>
          </p:cNvSpPr>
          <p:nvPr>
            <p:ph type="title" idx="4294967295"/>
          </p:nvPr>
        </p:nvSpPr>
        <p:spPr>
          <a:xfrm>
            <a:off x="381000" y="0"/>
            <a:ext cx="8458200" cy="1143000"/>
          </a:xfrm>
        </p:spPr>
        <p:txBody>
          <a:bodyPr/>
          <a:lstStyle/>
          <a:p>
            <a:r>
              <a:rPr lang="en-US" sz="6000" dirty="0">
                <a:latin typeface="Gill Sans MT Condensed" panose="020B0506020104020203" pitchFamily="34" charset="0"/>
              </a:rPr>
              <a:t>Software Development Anecdote</a:t>
            </a:r>
          </a:p>
        </p:txBody>
      </p:sp>
      <p:sp>
        <p:nvSpPr>
          <p:cNvPr id="6147" name="Rectangle 2">
            <a:extLst>
              <a:ext uri="{FF2B5EF4-FFF2-40B4-BE49-F238E27FC236}">
                <a16:creationId xmlns:a16="http://schemas.microsoft.com/office/drawing/2014/main" id="{02912484-5DC0-482E-91CA-6403F09997E9}"/>
              </a:ext>
            </a:extLst>
          </p:cNvPr>
          <p:cNvSpPr>
            <a:spLocks noChangeArrowheads="1"/>
          </p:cNvSpPr>
          <p:nvPr/>
        </p:nvSpPr>
        <p:spPr bwMode="auto">
          <a:xfrm>
            <a:off x="609600" y="1150937"/>
            <a:ext cx="8077200" cy="540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500" dirty="0">
                <a:latin typeface="Gill Sans MT" panose="020B0502020104020203" pitchFamily="34" charset="0"/>
              </a:rPr>
              <a:t>In the very early days of Facebook, when it had fewer than 15 employees, a guy named Steve Chen decided after working there for only a few weeks that it just wasn't for him.  He wanted to leave to found his own company, and his plan was to do a video startup.</a:t>
            </a:r>
            <a:br>
              <a:rPr lang="en-US" altLang="en-US" sz="2500" dirty="0">
                <a:latin typeface="Gill Sans MT" panose="020B0502020104020203" pitchFamily="34" charset="0"/>
              </a:rPr>
            </a:br>
            <a:endParaRPr lang="en-US" altLang="en-US" sz="1000" dirty="0">
              <a:latin typeface="Gill Sans MT" panose="020B0502020104020203" pitchFamily="34" charset="0"/>
            </a:endParaRPr>
          </a:p>
          <a:p>
            <a:pPr>
              <a:spcBef>
                <a:spcPct val="0"/>
              </a:spcBef>
              <a:buFontTx/>
              <a:buNone/>
            </a:pPr>
            <a:r>
              <a:rPr lang="en-US" altLang="en-US" sz="2500" dirty="0">
                <a:latin typeface="Gill Sans MT" panose="020B0502020104020203" pitchFamily="34" charset="0"/>
              </a:rPr>
              <a:t>Matt </a:t>
            </a:r>
            <a:r>
              <a:rPr lang="en-US" altLang="en-US" sz="2500" dirty="0" err="1">
                <a:latin typeface="Gill Sans MT" panose="020B0502020104020203" pitchFamily="34" charset="0"/>
              </a:rPr>
              <a:t>Cohler</a:t>
            </a:r>
            <a:r>
              <a:rPr lang="en-US" altLang="en-US" sz="2500" dirty="0">
                <a:latin typeface="Gill Sans MT" panose="020B0502020104020203" pitchFamily="34" charset="0"/>
              </a:rPr>
              <a:t>, the guy who had hired him in the first place, tried to convince him otherwise.  "You're making a terrible mistake.  Facebook is going to be huge!  And there's already a ton of video sites.  If you do this you're going to regret it for the rest of your life!“</a:t>
            </a:r>
            <a:br>
              <a:rPr lang="en-US" altLang="en-US" sz="2500" dirty="0">
                <a:latin typeface="Gill Sans MT" panose="020B0502020104020203" pitchFamily="34" charset="0"/>
              </a:rPr>
            </a:br>
            <a:endParaRPr lang="en-US" altLang="en-US" sz="1000" dirty="0">
              <a:latin typeface="Gill Sans MT" panose="020B0502020104020203" pitchFamily="34" charset="0"/>
            </a:endParaRPr>
          </a:p>
          <a:p>
            <a:pPr>
              <a:spcBef>
                <a:spcPct val="0"/>
              </a:spcBef>
              <a:buFontTx/>
              <a:buNone/>
            </a:pPr>
            <a:r>
              <a:rPr lang="en-US" altLang="en-US" sz="2500" dirty="0">
                <a:latin typeface="Gill Sans MT" panose="020B0502020104020203" pitchFamily="34" charset="0"/>
              </a:rPr>
              <a:t>Chen wasn't convinced, so he decided to do it anyway and left to start a company called YouTube.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152400" y="609600"/>
            <a:ext cx="8686800" cy="1143000"/>
          </a:xfrm>
        </p:spPr>
        <p:txBody>
          <a:bodyPr/>
          <a:lstStyle/>
          <a:p>
            <a:r>
              <a:rPr lang="en-US" dirty="0">
                <a:latin typeface="Arial" panose="020B0604020202020204" pitchFamily="34" charset="0"/>
                <a:cs typeface="Arial" panose="020B0604020202020204" pitchFamily="34" charset="0"/>
              </a:rPr>
              <a:t>Examples of sorting applications:</a:t>
            </a:r>
          </a:p>
        </p:txBody>
      </p:sp>
      <p:sp>
        <p:nvSpPr>
          <p:cNvPr id="7172" name="Rectangle 3"/>
          <p:cNvSpPr>
            <a:spLocks noGrp="1" noChangeArrowheads="1"/>
          </p:cNvSpPr>
          <p:nvPr>
            <p:ph type="body" sz="half" idx="1"/>
          </p:nvPr>
        </p:nvSpPr>
        <p:spPr>
          <a:xfrm>
            <a:off x="0" y="1885950"/>
            <a:ext cx="8991600" cy="4514850"/>
          </a:xfrm>
        </p:spPr>
        <p:txBody>
          <a:bodyPr/>
          <a:lstStyle/>
          <a:p>
            <a:pPr lvl="1"/>
            <a:r>
              <a:rPr lang="en-US" sz="3200" dirty="0">
                <a:latin typeface="Arial" panose="020B0604020202020204" pitchFamily="34" charset="0"/>
                <a:cs typeface="Arial" panose="020B0604020202020204" pitchFamily="34" charset="0"/>
              </a:rPr>
              <a:t>a directory of files sorted by name or date</a:t>
            </a:r>
          </a:p>
          <a:p>
            <a:pPr lvl="1"/>
            <a:r>
              <a:rPr lang="en-US" sz="3200" dirty="0">
                <a:latin typeface="Arial" panose="020B0604020202020204" pitchFamily="34" charset="0"/>
                <a:cs typeface="Arial" panose="020B0604020202020204" pitchFamily="34" charset="0"/>
              </a:rPr>
              <a:t>bank checks sorted by account #</a:t>
            </a:r>
          </a:p>
          <a:p>
            <a:pPr lvl="1"/>
            <a:r>
              <a:rPr lang="en-US" sz="3200" dirty="0">
                <a:latin typeface="Arial" panose="020B0604020202020204" pitchFamily="34" charset="0"/>
                <a:cs typeface="Arial" panose="020B0604020202020204" pitchFamily="34" charset="0"/>
              </a:rPr>
              <a:t>addresses in a mailing list sorted by zip code</a:t>
            </a:r>
          </a:p>
          <a:p>
            <a:pPr lvl="1"/>
            <a:r>
              <a:rPr lang="en-US" sz="3200" dirty="0">
                <a:latin typeface="Arial" panose="020B0604020202020204" pitchFamily="34" charset="0"/>
                <a:cs typeface="Arial" panose="020B0604020202020204" pitchFamily="34" charset="0"/>
              </a:rPr>
              <a:t>hits found by a search engine sorted by relevance</a:t>
            </a:r>
          </a:p>
          <a:p>
            <a:pPr lvl="1"/>
            <a:r>
              <a:rPr lang="en-US" sz="3200" dirty="0">
                <a:latin typeface="Arial" panose="020B0604020202020204" pitchFamily="34" charset="0"/>
                <a:cs typeface="Arial" panose="020B0604020202020204" pitchFamily="34" charset="0"/>
              </a:rPr>
              <a:t>credit card transactions sorted by date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685800" y="152400"/>
            <a:ext cx="7772400" cy="1143000"/>
          </a:xfrm>
        </p:spPr>
        <p:txBody>
          <a:bodyPr/>
          <a:lstStyle/>
          <a:p>
            <a:r>
              <a:rPr lang="en-US" dirty="0"/>
              <a:t>Sorting (cont’d)</a:t>
            </a:r>
          </a:p>
        </p:txBody>
      </p:sp>
      <p:grpSp>
        <p:nvGrpSpPr>
          <p:cNvPr id="2" name="Group 1" descr="A graph showing the O(n^2) sorts take longer than O(n * log n) sorts.">
            <a:extLst>
              <a:ext uri="{FF2B5EF4-FFF2-40B4-BE49-F238E27FC236}">
                <a16:creationId xmlns:a16="http://schemas.microsoft.com/office/drawing/2014/main" id="{E5404416-F83D-50F2-CEC6-AFA10645770D}"/>
              </a:ext>
            </a:extLst>
          </p:cNvPr>
          <p:cNvGrpSpPr/>
          <p:nvPr/>
        </p:nvGrpSpPr>
        <p:grpSpPr>
          <a:xfrm>
            <a:off x="1447800" y="1447800"/>
            <a:ext cx="6430962" cy="2971800"/>
            <a:chOff x="1447800" y="1905000"/>
            <a:chExt cx="6430962" cy="2971800"/>
          </a:xfrm>
        </p:grpSpPr>
        <p:graphicFrame>
          <p:nvGraphicFramePr>
            <p:cNvPr id="1026" name="Object 8"/>
            <p:cNvGraphicFramePr>
              <a:graphicFrameLocks noChangeAspect="1"/>
            </p:cNvGraphicFramePr>
            <p:nvPr>
              <p:extLst>
                <p:ext uri="{D42A27DB-BD31-4B8C-83A1-F6EECF244321}">
                  <p14:modId xmlns:p14="http://schemas.microsoft.com/office/powerpoint/2010/main" val="2222979327"/>
                </p:ext>
              </p:extLst>
            </p:nvPr>
          </p:nvGraphicFramePr>
          <p:xfrm>
            <a:off x="2209800" y="2057400"/>
            <a:ext cx="4754563" cy="2524125"/>
          </p:xfrm>
          <a:graphic>
            <a:graphicData uri="http://schemas.openxmlformats.org/presentationml/2006/ole">
              <mc:AlternateContent xmlns:mc="http://schemas.openxmlformats.org/markup-compatibility/2006">
                <mc:Choice xmlns:v="urn:schemas-microsoft-com:vml" Requires="v">
                  <p:oleObj name="Worksheet" r:id="rId3" imgW="4106160" imgH="2180520" progId="Excel.Sheet.8">
                    <p:embed/>
                  </p:oleObj>
                </mc:Choice>
                <mc:Fallback>
                  <p:oleObj name="Worksheet" r:id="rId3" imgW="4106160" imgH="2180520" progId="Excel.Sheet.8">
                    <p:embed/>
                    <p:pic>
                      <p:nvPicPr>
                        <p:cNvPr id="102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057400"/>
                          <a:ext cx="4754563"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Line 9"/>
            <p:cNvSpPr>
              <a:spLocks noChangeShapeType="1"/>
            </p:cNvSpPr>
            <p:nvPr/>
          </p:nvSpPr>
          <p:spPr bwMode="auto">
            <a:xfrm flipV="1">
              <a:off x="2362200" y="1905000"/>
              <a:ext cx="0" cy="2590800"/>
            </a:xfrm>
            <a:prstGeom prst="line">
              <a:avLst/>
            </a:prstGeom>
            <a:noFill/>
            <a:ln w="9525">
              <a:solidFill>
                <a:schemeClr val="tx1"/>
              </a:solidFill>
              <a:round/>
              <a:headEnd/>
              <a:tailEnd type="triangle" w="med" len="med"/>
            </a:ln>
          </p:spPr>
          <p:txBody>
            <a:bodyPr wrap="none" anchor="ctr"/>
            <a:lstStyle/>
            <a:p>
              <a:endParaRPr lang="en-US"/>
            </a:p>
          </p:txBody>
        </p:sp>
        <p:sp>
          <p:nvSpPr>
            <p:cNvPr id="1030" name="Line 10"/>
            <p:cNvSpPr>
              <a:spLocks noChangeShapeType="1"/>
            </p:cNvSpPr>
            <p:nvPr/>
          </p:nvSpPr>
          <p:spPr bwMode="auto">
            <a:xfrm>
              <a:off x="2362200" y="4495800"/>
              <a:ext cx="4343400" cy="0"/>
            </a:xfrm>
            <a:prstGeom prst="line">
              <a:avLst/>
            </a:prstGeom>
            <a:noFill/>
            <a:ln w="9525">
              <a:solidFill>
                <a:schemeClr val="tx1"/>
              </a:solidFill>
              <a:round/>
              <a:headEnd/>
              <a:tailEnd type="triangle" w="med" len="med"/>
            </a:ln>
          </p:spPr>
          <p:txBody>
            <a:bodyPr wrap="none" anchor="ctr"/>
            <a:lstStyle/>
            <a:p>
              <a:endParaRPr lang="en-US"/>
            </a:p>
          </p:txBody>
        </p:sp>
        <p:sp>
          <p:nvSpPr>
            <p:cNvPr id="1031" name="Text Box 11"/>
            <p:cNvSpPr txBox="1">
              <a:spLocks noChangeArrowheads="1"/>
            </p:cNvSpPr>
            <p:nvPr/>
          </p:nvSpPr>
          <p:spPr bwMode="auto">
            <a:xfrm>
              <a:off x="6019800" y="4419600"/>
              <a:ext cx="914400" cy="457200"/>
            </a:xfrm>
            <a:prstGeom prst="rect">
              <a:avLst/>
            </a:prstGeom>
            <a:noFill/>
            <a:ln w="9525">
              <a:noFill/>
              <a:miter lim="800000"/>
              <a:headEnd/>
              <a:tailEnd/>
            </a:ln>
          </p:spPr>
          <p:txBody>
            <a:bodyPr>
              <a:spAutoFit/>
            </a:bodyPr>
            <a:lstStyle/>
            <a:p>
              <a:pPr algn="ctr" eaLnBrk="0" hangingPunct="0">
                <a:spcBef>
                  <a:spcPct val="50000"/>
                </a:spcBef>
              </a:pPr>
              <a:r>
                <a:rPr lang="en-US" i="1">
                  <a:latin typeface="Arial" pitchFamily="34" charset="0"/>
                </a:rPr>
                <a:t>n</a:t>
              </a:r>
            </a:p>
          </p:txBody>
        </p:sp>
        <p:sp>
          <p:nvSpPr>
            <p:cNvPr id="1032" name="Text Box 12"/>
            <p:cNvSpPr txBox="1">
              <a:spLocks noChangeArrowheads="1"/>
            </p:cNvSpPr>
            <p:nvPr/>
          </p:nvSpPr>
          <p:spPr bwMode="auto">
            <a:xfrm>
              <a:off x="1447800" y="1905000"/>
              <a:ext cx="990600" cy="396875"/>
            </a:xfrm>
            <a:prstGeom prst="rect">
              <a:avLst/>
            </a:prstGeom>
            <a:noFill/>
            <a:ln w="9525">
              <a:noFill/>
              <a:miter lim="800000"/>
              <a:headEnd/>
              <a:tailEnd/>
            </a:ln>
          </p:spPr>
          <p:txBody>
            <a:bodyPr>
              <a:spAutoFit/>
            </a:bodyPr>
            <a:lstStyle/>
            <a:p>
              <a:pPr algn="ctr" eaLnBrk="0" hangingPunct="0"/>
              <a:r>
                <a:rPr lang="en-US" sz="2000" i="1" dirty="0">
                  <a:latin typeface="Arial" pitchFamily="34" charset="0"/>
                </a:rPr>
                <a:t>Time</a:t>
              </a:r>
              <a:endParaRPr lang="en-US" sz="2000" dirty="0"/>
            </a:p>
          </p:txBody>
        </p:sp>
        <p:sp>
          <p:nvSpPr>
            <p:cNvPr id="1033" name="Text Box 13"/>
            <p:cNvSpPr txBox="1">
              <a:spLocks noChangeArrowheads="1"/>
            </p:cNvSpPr>
            <p:nvPr/>
          </p:nvSpPr>
          <p:spPr bwMode="auto">
            <a:xfrm>
              <a:off x="5638800" y="2133600"/>
              <a:ext cx="914400" cy="457200"/>
            </a:xfrm>
            <a:prstGeom prst="rect">
              <a:avLst/>
            </a:prstGeom>
            <a:noFill/>
            <a:ln w="9525">
              <a:noFill/>
              <a:miter lim="800000"/>
              <a:headEnd/>
              <a:tailEnd/>
            </a:ln>
          </p:spPr>
          <p:txBody>
            <a:bodyPr>
              <a:spAutoFit/>
            </a:bodyPr>
            <a:lstStyle/>
            <a:p>
              <a:pPr algn="ctr" eaLnBrk="0" hangingPunct="0">
                <a:spcBef>
                  <a:spcPct val="50000"/>
                </a:spcBef>
              </a:pPr>
              <a:r>
                <a:rPr lang="en-US" i="1">
                  <a:latin typeface="Arial" pitchFamily="34" charset="0"/>
                </a:rPr>
                <a:t>n</a:t>
              </a:r>
              <a:r>
                <a:rPr lang="en-US" baseline="30000">
                  <a:latin typeface="Arial" pitchFamily="34" charset="0"/>
                </a:rPr>
                <a:t>2</a:t>
              </a:r>
              <a:endParaRPr lang="en-US" i="1">
                <a:latin typeface="Arial" pitchFamily="34" charset="0"/>
              </a:endParaRPr>
            </a:p>
          </p:txBody>
        </p:sp>
        <p:sp>
          <p:nvSpPr>
            <p:cNvPr id="1034" name="Text Box 14"/>
            <p:cNvSpPr txBox="1">
              <a:spLocks noChangeArrowheads="1"/>
            </p:cNvSpPr>
            <p:nvPr/>
          </p:nvSpPr>
          <p:spPr bwMode="auto">
            <a:xfrm>
              <a:off x="6248399" y="3124200"/>
              <a:ext cx="1630363" cy="523220"/>
            </a:xfrm>
            <a:prstGeom prst="rect">
              <a:avLst/>
            </a:prstGeom>
            <a:noFill/>
            <a:ln w="9525">
              <a:noFill/>
              <a:miter lim="800000"/>
              <a:headEnd/>
              <a:tailEnd/>
            </a:ln>
          </p:spPr>
          <p:txBody>
            <a:bodyPr wrap="square">
              <a:spAutoFit/>
            </a:bodyPr>
            <a:lstStyle/>
            <a:p>
              <a:pPr algn="ctr" eaLnBrk="0" hangingPunct="0">
                <a:spcBef>
                  <a:spcPct val="50000"/>
                </a:spcBef>
              </a:pPr>
              <a:r>
                <a:rPr lang="en-US" i="1" dirty="0">
                  <a:latin typeface="Arial" pitchFamily="34" charset="0"/>
                </a:rPr>
                <a:t>n</a:t>
              </a:r>
              <a:r>
                <a:rPr lang="en-US" dirty="0">
                  <a:latin typeface="Arial" pitchFamily="34" charset="0"/>
                </a:rPr>
                <a:t> log </a:t>
              </a:r>
              <a:r>
                <a:rPr lang="en-US" i="1" dirty="0">
                  <a:latin typeface="Arial" pitchFamily="34" charset="0"/>
                </a:rPr>
                <a:t>n</a:t>
              </a:r>
            </a:p>
          </p:txBody>
        </p:sp>
      </p:grpSp>
      <p:graphicFrame>
        <p:nvGraphicFramePr>
          <p:cNvPr id="3" name="Table 2">
            <a:extLst>
              <a:ext uri="{FF2B5EF4-FFF2-40B4-BE49-F238E27FC236}">
                <a16:creationId xmlns:a16="http://schemas.microsoft.com/office/drawing/2014/main" id="{959C3444-48F4-BA13-7132-CF24587CB81D}"/>
              </a:ext>
            </a:extLst>
          </p:cNvPr>
          <p:cNvGraphicFramePr>
            <a:graphicFrameLocks noGrp="1"/>
          </p:cNvGraphicFramePr>
          <p:nvPr>
            <p:extLst>
              <p:ext uri="{D42A27DB-BD31-4B8C-83A1-F6EECF244321}">
                <p14:modId xmlns:p14="http://schemas.microsoft.com/office/powerpoint/2010/main" val="2341722397"/>
              </p:ext>
            </p:extLst>
          </p:nvPr>
        </p:nvGraphicFramePr>
        <p:xfrm>
          <a:off x="1028700" y="5029200"/>
          <a:ext cx="6972300" cy="1554480"/>
        </p:xfrm>
        <a:graphic>
          <a:graphicData uri="http://schemas.openxmlformats.org/drawingml/2006/table">
            <a:tbl>
              <a:tblPr firstRow="1" bandRow="1">
                <a:tableStyleId>{0E3FDE45-AF77-4B5C-9715-49D594BDF05E}</a:tableStyleId>
              </a:tblPr>
              <a:tblGrid>
                <a:gridCol w="1743075">
                  <a:extLst>
                    <a:ext uri="{9D8B030D-6E8A-4147-A177-3AD203B41FA5}">
                      <a16:colId xmlns:a16="http://schemas.microsoft.com/office/drawing/2014/main" val="4224021735"/>
                    </a:ext>
                  </a:extLst>
                </a:gridCol>
                <a:gridCol w="1743075">
                  <a:extLst>
                    <a:ext uri="{9D8B030D-6E8A-4147-A177-3AD203B41FA5}">
                      <a16:colId xmlns:a16="http://schemas.microsoft.com/office/drawing/2014/main" val="965247784"/>
                    </a:ext>
                  </a:extLst>
                </a:gridCol>
                <a:gridCol w="1743075">
                  <a:extLst>
                    <a:ext uri="{9D8B030D-6E8A-4147-A177-3AD203B41FA5}">
                      <a16:colId xmlns:a16="http://schemas.microsoft.com/office/drawing/2014/main" val="660088000"/>
                    </a:ext>
                  </a:extLst>
                </a:gridCol>
                <a:gridCol w="1743075">
                  <a:extLst>
                    <a:ext uri="{9D8B030D-6E8A-4147-A177-3AD203B41FA5}">
                      <a16:colId xmlns:a16="http://schemas.microsoft.com/office/drawing/2014/main" val="153556488"/>
                    </a:ext>
                  </a:extLst>
                </a:gridCol>
              </a:tblGrid>
              <a:tr h="370840">
                <a:tc>
                  <a:txBody>
                    <a:bodyPr/>
                    <a:lstStyle/>
                    <a:p>
                      <a:pPr algn="ctr"/>
                      <a:r>
                        <a:rPr lang="en-US" sz="2800" dirty="0"/>
                        <a:t>N</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100</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1000</a:t>
                      </a:r>
                      <a:endParaRPr lang="en-US" sz="2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17628258"/>
                  </a:ext>
                </a:extLst>
              </a:tr>
              <a:tr h="370840">
                <a:tc>
                  <a:txBody>
                    <a:bodyPr/>
                    <a:lstStyle/>
                    <a:p>
                      <a:pPr algn="ctr"/>
                      <a:r>
                        <a:rPr lang="en-US" sz="2800" dirty="0"/>
                        <a:t>N</a:t>
                      </a:r>
                      <a:r>
                        <a:rPr lang="en-US" sz="2800" baseline="30000" dirty="0"/>
                        <a:t>2</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10,000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1,000,000</a:t>
                      </a:r>
                      <a:endParaRPr lang="en-US" sz="2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64482836"/>
                  </a:ext>
                </a:extLst>
              </a:tr>
              <a:tr h="370840">
                <a:tc>
                  <a:txBody>
                    <a:bodyPr/>
                    <a:lstStyle/>
                    <a:p>
                      <a:pPr algn="ctr"/>
                      <a:r>
                        <a:rPr lang="en-US" sz="2800" dirty="0"/>
                        <a:t>N log N</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200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3000</a:t>
                      </a:r>
                      <a:endParaRPr lang="en-US" sz="2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688025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WordArt 2">
            <a:extLst>
              <a:ext uri="{FF2B5EF4-FFF2-40B4-BE49-F238E27FC236}">
                <a16:creationId xmlns:a16="http://schemas.microsoft.com/office/drawing/2014/main" id="{7E90C945-4857-4484-848B-4A1A99EFA797}"/>
              </a:ext>
            </a:extLst>
          </p:cNvPr>
          <p:cNvSpPr>
            <a:spLocks noGrp="1" noChangeArrowheads="1" noChangeShapeType="1" noTextEdit="1"/>
          </p:cNvSpPr>
          <p:nvPr>
            <p:ph type="title" idx="4294967295"/>
          </p:nvPr>
        </p:nvSpPr>
        <p:spPr bwMode="auto">
          <a:xfrm>
            <a:off x="1143000" y="2133600"/>
            <a:ext cx="6781800" cy="2590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Sorts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Quadratic ( N</a:t>
            </a:r>
            <a:r>
              <a:rPr kumimoji="0" lang="en-US" sz="3600" b="1" i="0" u="none" strike="noStrike" kern="10" cap="none" spc="0" normalizeH="0" baseline="3000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2</a:t>
            </a: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a:t>
            </a:r>
          </a:p>
        </p:txBody>
      </p:sp>
      <p:sp>
        <p:nvSpPr>
          <p:cNvPr id="7170" name="Footer Placeholder 3">
            <a:extLst>
              <a:ext uri="{FF2B5EF4-FFF2-40B4-BE49-F238E27FC236}">
                <a16:creationId xmlns:a16="http://schemas.microsoft.com/office/drawing/2014/main" id="{9D41A443-07B9-44F6-9361-996B209C995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4279C90C-98A6-4907-BD37-22321BC0399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3314" name="WordArt 2">
            <a:extLst>
              <a:ext uri="{FF2B5EF4-FFF2-40B4-BE49-F238E27FC236}">
                <a16:creationId xmlns:a16="http://schemas.microsoft.com/office/drawing/2014/main" id="{475114E2-21E4-4BDB-B3FC-D3E25F83B441}"/>
              </a:ext>
            </a:extLst>
          </p:cNvPr>
          <p:cNvSpPr>
            <a:spLocks noGrp="1" noChangeArrowheads="1" noChangeShapeType="1" noTextEdit="1"/>
          </p:cNvSpPr>
          <p:nvPr>
            <p:ph type="title" idx="4294967295"/>
          </p:nvPr>
        </p:nvSpPr>
        <p:spPr bwMode="auto">
          <a:xfrm>
            <a:off x="914400" y="2438400"/>
            <a:ext cx="6553200" cy="25146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0000"/>
                  </a:solidFill>
                  <a:round/>
                  <a:headEnd/>
                  <a:tailEnd/>
                </a:ln>
                <a:solidFill>
                  <a:srgbClr val="0000FF"/>
                </a:solidFill>
                <a:effectLst>
                  <a:outerShdw dist="563972" dir="14049741" sx="125000" sy="125000" algn="tl" rotWithShape="0">
                    <a:srgbClr val="C7DFD3"/>
                  </a:outerShdw>
                </a:effectLst>
                <a:uLnTx/>
                <a:uFillTx/>
                <a:latin typeface="Times New Roman" panose="02020603050405020304" pitchFamily="18" charset="0"/>
                <a:ea typeface="+mn-ea"/>
                <a:cs typeface="Times New Roman" panose="02020603050405020304" pitchFamily="18" charset="0"/>
              </a:rPr>
              <a:t>The Bubble 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WordArt 4">
            <a:extLst>
              <a:ext uri="{FF2B5EF4-FFF2-40B4-BE49-F238E27FC236}">
                <a16:creationId xmlns:a16="http://schemas.microsoft.com/office/drawing/2014/main" id="{0895E978-96FD-4307-B6A8-330C3E668023}"/>
              </a:ext>
            </a:extLst>
          </p:cNvPr>
          <p:cNvSpPr>
            <a:spLocks noGrp="1" noChangeArrowheads="1" noChangeShapeType="1" noTextEdit="1"/>
          </p:cNvSpPr>
          <p:nvPr>
            <p:ph type="title" idx="4294967295"/>
          </p:nvPr>
        </p:nvSpPr>
        <p:spPr bwMode="auto">
          <a:xfrm>
            <a:off x="1544565" y="1120930"/>
            <a:ext cx="5867400" cy="685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9900"/>
                  </a:solidFill>
                  <a:round/>
                  <a:headEnd/>
                  <a:tailEnd/>
                </a:ln>
                <a:solidFill>
                  <a:srgbClr val="FFFF99"/>
                </a:solidFill>
                <a:effectLst>
                  <a:outerShdw dist="35921" dir="2700000" algn="ctr" rotWithShape="0">
                    <a:srgbClr val="C0C0C0"/>
                  </a:outerShdw>
                </a:effectLst>
                <a:uLnTx/>
                <a:uFillTx/>
                <a:latin typeface="Impact" panose="020B0806030902050204" pitchFamily="34" charset="0"/>
                <a:ea typeface="+mn-ea"/>
                <a:cs typeface="+mn-cs"/>
              </a:rPr>
              <a:t>Bubble Sort</a:t>
            </a:r>
          </a:p>
        </p:txBody>
      </p:sp>
      <p:sp>
        <p:nvSpPr>
          <p:cNvPr id="11267" name="Text Box 2">
            <a:extLst>
              <a:ext uri="{FF2B5EF4-FFF2-40B4-BE49-F238E27FC236}">
                <a16:creationId xmlns:a16="http://schemas.microsoft.com/office/drawing/2014/main" id="{AD917DA0-7656-4251-A880-56875EBBE493}"/>
              </a:ext>
            </a:extLst>
          </p:cNvPr>
          <p:cNvSpPr txBox="1">
            <a:spLocks noChangeArrowheads="1"/>
          </p:cNvSpPr>
          <p:nvPr/>
        </p:nvSpPr>
        <p:spPr bwMode="auto">
          <a:xfrm>
            <a:off x="1219200" y="2473911"/>
            <a:ext cx="651813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dirty="0">
                <a:latin typeface="Arial" panose="020B0604020202020204" pitchFamily="34" charset="0"/>
              </a:rPr>
              <a:t>Bubble sort compares items that  are</a:t>
            </a:r>
            <a:br>
              <a:rPr lang="en-US" altLang="en-US" sz="2800" dirty="0">
                <a:latin typeface="Arial" panose="020B0604020202020204" pitchFamily="34" charset="0"/>
              </a:rPr>
            </a:br>
            <a:r>
              <a:rPr lang="en-US" altLang="en-US" sz="2800" dirty="0">
                <a:latin typeface="Arial" panose="020B0604020202020204" pitchFamily="34" charset="0"/>
              </a:rPr>
              <a:t>adjacent and has the potential to </a:t>
            </a:r>
            <a:br>
              <a:rPr lang="en-US" altLang="en-US" sz="2800" dirty="0">
                <a:latin typeface="Arial" panose="020B0604020202020204" pitchFamily="34" charset="0"/>
              </a:rPr>
            </a:br>
            <a:r>
              <a:rPr lang="en-US" altLang="en-US" sz="2800" dirty="0">
                <a:latin typeface="Arial" panose="020B0604020202020204" pitchFamily="34" charset="0"/>
              </a:rPr>
              <a:t>swap a whole lot.</a:t>
            </a:r>
            <a:r>
              <a:rPr lang="en-US" altLang="en-US" sz="2800" dirty="0">
                <a:solidFill>
                  <a:srgbClr val="FFFF00"/>
                </a:solidFill>
                <a:latin typeface="Arial" panose="020B0604020202020204" pitchFamily="34" charset="0"/>
              </a:rPr>
              <a:t>   </a:t>
            </a:r>
            <a:endParaRPr lang="en-US" altLang="en-US" sz="2400" b="0" dirty="0">
              <a:solidFill>
                <a:srgbClr val="FFFF00"/>
              </a:solidFill>
              <a:latin typeface="Arial" panose="020B0604020202020204" pitchFamily="34" charset="0"/>
            </a:endParaRPr>
          </a:p>
          <a:p>
            <a:pPr algn="ctr">
              <a:spcBef>
                <a:spcPct val="0"/>
              </a:spcBef>
              <a:buFontTx/>
              <a:buNone/>
            </a:pPr>
            <a:endParaRPr lang="en-US" altLang="en-US" sz="2400" b="0" dirty="0">
              <a:latin typeface="Arial" panose="020B0604020202020204" pitchFamily="34" charset="0"/>
            </a:endParaRPr>
          </a:p>
        </p:txBody>
      </p:sp>
      <p:sp>
        <p:nvSpPr>
          <p:cNvPr id="11269" name="Text Box 5">
            <a:extLst>
              <a:ext uri="{FF2B5EF4-FFF2-40B4-BE49-F238E27FC236}">
                <a16:creationId xmlns:a16="http://schemas.microsoft.com/office/drawing/2014/main" id="{ECB86185-BE86-4E38-876E-CFA6485306E8}"/>
              </a:ext>
            </a:extLst>
          </p:cNvPr>
          <p:cNvSpPr txBox="1">
            <a:spLocks noChangeArrowheads="1"/>
          </p:cNvSpPr>
          <p:nvPr/>
        </p:nvSpPr>
        <p:spPr bwMode="auto">
          <a:xfrm>
            <a:off x="6477000" y="4038600"/>
            <a:ext cx="1905000" cy="2292350"/>
          </a:xfrm>
          <a:prstGeom prst="rect">
            <a:avLst/>
          </a:prstGeom>
          <a:noFill/>
          <a:ln w="952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a:solidFill>
                  <a:srgbClr val="CC0000"/>
                </a:solidFill>
                <a:latin typeface="Tahoma" panose="020B0604030504040204" pitchFamily="34" charset="0"/>
              </a:rPr>
              <a:t>Bubble Sort is left in for historical purposes only!</a:t>
            </a:r>
          </a:p>
        </p:txBody>
      </p:sp>
      <p:sp>
        <p:nvSpPr>
          <p:cNvPr id="11266" name="Footer Placeholder 3">
            <a:extLst>
              <a:ext uri="{FF2B5EF4-FFF2-40B4-BE49-F238E27FC236}">
                <a16:creationId xmlns:a16="http://schemas.microsoft.com/office/drawing/2014/main" id="{88D84964-1FB4-4B52-BB93-75AE5147D406}"/>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3" name="Google Shape;325;p42">
            <a:extLst>
              <a:ext uri="{FF2B5EF4-FFF2-40B4-BE49-F238E27FC236}">
                <a16:creationId xmlns:a16="http://schemas.microsoft.com/office/drawing/2014/main" id="{5F043322-5043-2088-5324-73718645C025}"/>
              </a:ext>
              <a:ext uri="{C183D7F6-B498-43B3-948B-1728B52AA6E4}">
                <adec:decorative xmlns:adec="http://schemas.microsoft.com/office/drawing/2017/decorative" val="1"/>
              </a:ext>
            </a:extLst>
          </p:cNvPr>
          <p:cNvSpPr txBox="1"/>
          <p:nvPr/>
        </p:nvSpPr>
        <p:spPr>
          <a:xfrm>
            <a:off x="70104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lt1"/>
              </a:buClr>
              <a:buSzPts val="1400"/>
              <a:buFont typeface="Times New Roman"/>
              <a:buNone/>
            </a:pPr>
            <a:fld id="{00000000-1234-1234-1234-123412341234}" type="slidenum">
              <a:rPr lang="en-US" sz="1400" b="0" i="0" u="none">
                <a:solidFill>
                  <a:schemeClr val="lt1"/>
                </a:solidFill>
                <a:latin typeface="Times New Roman"/>
                <a:ea typeface="Times New Roman"/>
                <a:cs typeface="Times New Roman"/>
                <a:sym typeface="Times New Roman"/>
              </a:rPr>
              <a:t>8</a:t>
            </a:fld>
            <a:endParaRPr/>
          </a:p>
        </p:txBody>
      </p:sp>
      <p:sp>
        <p:nvSpPr>
          <p:cNvPr id="4" name="Google Shape;326;p42">
            <a:extLst>
              <a:ext uri="{FF2B5EF4-FFF2-40B4-BE49-F238E27FC236}">
                <a16:creationId xmlns:a16="http://schemas.microsoft.com/office/drawing/2014/main" id="{F14E4E8E-BC7E-E530-6FD9-C433475BAE17}"/>
              </a:ext>
            </a:extLst>
          </p:cNvPr>
          <p:cNvSpPr txBox="1">
            <a:spLocks noGrp="1"/>
          </p:cNvSpPr>
          <p:nvPr>
            <p:ph type="title" idx="4294967295"/>
          </p:nvPr>
        </p:nvSpPr>
        <p:spPr>
          <a:xfrm>
            <a:off x="685800" y="253268"/>
            <a:ext cx="7772400" cy="857400"/>
          </a:xfrm>
          <a:prstGeom prst="rect">
            <a:avLst/>
          </a:prstGeom>
          <a:noFill/>
          <a:ln>
            <a:noFill/>
            <a:prstDash/>
          </a:ln>
          <a:effectLst/>
        </p:spPr>
        <p:txBody>
          <a:bodyPr rot="0" spcFirstLastPara="1" vertOverflow="overflow" horzOverflow="overflow" vert="horz" wrap="square" lIns="92075" tIns="46025" rIns="92075" bIns="46025" numCol="1" spcCol="0" rtlCol="0" fromWordArt="0" anchor="ctr" anchorCtr="0" forceAA="0" compatLnSpc="1">
            <a:prstTxWarp prst="textNoShape">
              <a:avLst/>
            </a:prstTxWarp>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0" marR="0" lvl="0" indent="0" algn="ctr" defTabSz="914400" rtl="0" eaLnBrk="0" fontAlgn="base" latinLnBrk="0" hangingPunct="0">
              <a:lnSpc>
                <a:spcPct val="100000"/>
              </a:lnSpc>
              <a:spcBef>
                <a:spcPts val="0"/>
              </a:spcBef>
              <a:spcAft>
                <a:spcPts val="0"/>
              </a:spcAft>
              <a:buClr>
                <a:schemeClr val="lt2"/>
              </a:buClr>
              <a:buSzPts val="4400"/>
              <a:buFont typeface="Times New Roman"/>
              <a:buNone/>
              <a:tabLst/>
              <a:defRPr/>
            </a:pPr>
            <a:r>
              <a:rPr kumimoji="0" lang="en-US" sz="4400" b="0" i="0" u="none" strike="noStrike" kern="0" cap="none" spc="0" normalizeH="0" baseline="0" noProof="0" dirty="0">
                <a:ln>
                  <a:noFill/>
                </a:ln>
                <a:solidFill>
                  <a:schemeClr val="lt2"/>
                </a:solidFill>
                <a:effectLst/>
                <a:uLnTx/>
                <a:uFillTx/>
                <a:latin typeface="Times New Roman"/>
                <a:ea typeface="Times New Roman"/>
                <a:cs typeface="Times New Roman"/>
                <a:sym typeface="Times New Roman"/>
              </a:rPr>
              <a:t>Bubble Sort Animation</a:t>
            </a:r>
            <a:endParaRPr kumimoji="0" lang="en-US" sz="4400" b="0" i="0" u="none" strike="noStrike" kern="0" cap="none" spc="0" normalizeH="0" baseline="0" noProof="0" dirty="0">
              <a:ln>
                <a:noFill/>
              </a:ln>
              <a:solidFill>
                <a:schemeClr val="tx2"/>
              </a:solidFill>
              <a:effectLst/>
              <a:uLnTx/>
              <a:uFillTx/>
              <a:latin typeface="+mj-lt"/>
              <a:ea typeface="+mj-ea"/>
              <a:cs typeface="+mj-cs"/>
            </a:endParaRPr>
          </a:p>
        </p:txBody>
      </p:sp>
      <p:pic>
        <p:nvPicPr>
          <p:cNvPr id="5" name="Google Shape;327;p42">
            <a:extLst>
              <a:ext uri="{FF2B5EF4-FFF2-40B4-BE49-F238E27FC236}">
                <a16:creationId xmlns:a16="http://schemas.microsoft.com/office/drawing/2014/main" id="{B43BFB56-91E4-4272-A36C-C1F7397A6B43}"/>
              </a:ext>
              <a:ext uri="{C183D7F6-B498-43B3-948B-1728B52AA6E4}">
                <adec:decorative xmlns:adec="http://schemas.microsoft.com/office/drawing/2017/decorative" val="1"/>
              </a:ext>
            </a:extLst>
          </p:cNvPr>
          <p:cNvPicPr preferRelativeResize="0"/>
          <p:nvPr/>
        </p:nvPicPr>
        <p:blipFill>
          <a:blip r:embed="rId2">
            <a:alphaModFix/>
          </a:blip>
          <a:stretch>
            <a:fillRect/>
          </a:stretch>
        </p:blipFill>
        <p:spPr>
          <a:xfrm>
            <a:off x="228599" y="1506036"/>
            <a:ext cx="8709485" cy="2684963"/>
          </a:xfrm>
          <a:prstGeom prst="rect">
            <a:avLst/>
          </a:prstGeom>
          <a:noFill/>
          <a:ln>
            <a:noFill/>
          </a:ln>
        </p:spPr>
      </p:pic>
      <p:sp>
        <p:nvSpPr>
          <p:cNvPr id="6" name="Google Shape;328;p42">
            <a:extLst>
              <a:ext uri="{FF2B5EF4-FFF2-40B4-BE49-F238E27FC236}">
                <a16:creationId xmlns:a16="http://schemas.microsoft.com/office/drawing/2014/main" id="{732FC588-396D-FECC-1AF8-FF0363BDD6A0}"/>
              </a:ext>
            </a:extLst>
          </p:cNvPr>
          <p:cNvSpPr txBox="1"/>
          <p:nvPr/>
        </p:nvSpPr>
        <p:spPr>
          <a:xfrm>
            <a:off x="762000" y="4877737"/>
            <a:ext cx="6858000" cy="137066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Times New Roman"/>
                <a:ea typeface="Times New Roman"/>
                <a:cs typeface="Times New Roman"/>
                <a:sym typeface="Times New Roman"/>
              </a:rPr>
              <a:t>This is an “improved” bubble sort that stops early if no swap is performed for an entire pass.</a:t>
            </a:r>
            <a:endParaRPr sz="2400" dirty="0">
              <a:latin typeface="Times New Roman"/>
              <a:ea typeface="Times New Roman"/>
              <a:cs typeface="Times New Roman"/>
              <a:sym typeface="Times New Roman"/>
            </a:endParaRPr>
          </a:p>
          <a:p>
            <a:pPr marL="0" lvl="0" indent="0" algn="l" rtl="0">
              <a:spcBef>
                <a:spcPts val="0"/>
              </a:spcBef>
              <a:spcAft>
                <a:spcPts val="0"/>
              </a:spcAft>
              <a:buNone/>
            </a:pPr>
            <a:r>
              <a:rPr lang="en-US" sz="2400" u="sng" dirty="0">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visualgo.net/bn/sorting</a:t>
            </a:r>
            <a:endParaRPr sz="24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510213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WordArt 5">
            <a:extLst>
              <a:ext uri="{FF2B5EF4-FFF2-40B4-BE49-F238E27FC236}">
                <a16:creationId xmlns:a16="http://schemas.microsoft.com/office/drawing/2014/main" id="{6F9E5509-33AA-4665-A507-FA8A438EB5A5}"/>
              </a:ext>
            </a:extLst>
          </p:cNvPr>
          <p:cNvSpPr>
            <a:spLocks noGrp="1" noChangeArrowheads="1" noChangeShapeType="1" noTextEdit="1"/>
          </p:cNvSpPr>
          <p:nvPr>
            <p:ph type="title" idx="4294967295"/>
          </p:nvPr>
        </p:nvSpPr>
        <p:spPr bwMode="auto">
          <a:xfrm>
            <a:off x="609600" y="533400"/>
            <a:ext cx="7467600" cy="533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Bubble Sort W/Objects</a:t>
            </a:r>
          </a:p>
        </p:txBody>
      </p:sp>
      <p:sp>
        <p:nvSpPr>
          <p:cNvPr id="13315" name="Text Box 4">
            <a:extLst>
              <a:ext uri="{FF2B5EF4-FFF2-40B4-BE49-F238E27FC236}">
                <a16:creationId xmlns:a16="http://schemas.microsoft.com/office/drawing/2014/main" id="{2C0F8B4E-0192-4E3C-BED8-2B6C222B5D71}"/>
              </a:ext>
            </a:extLst>
          </p:cNvPr>
          <p:cNvSpPr txBox="1">
            <a:spLocks noChangeArrowheads="1"/>
          </p:cNvSpPr>
          <p:nvPr/>
        </p:nvSpPr>
        <p:spPr bwMode="auto">
          <a:xfrm>
            <a:off x="838200" y="1447800"/>
            <a:ext cx="7237413"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0">
                <a:latin typeface="Tahoma" panose="020B0604030504040204" pitchFamily="34" charset="0"/>
              </a:rPr>
              <a:t>void bubbleSort( </a:t>
            </a:r>
            <a:r>
              <a:rPr lang="en-US" altLang="en-US" sz="2800" b="0">
                <a:solidFill>
                  <a:srgbClr val="0033CC"/>
                </a:solidFill>
                <a:latin typeface="Tahoma" panose="020B0604030504040204" pitchFamily="34" charset="0"/>
              </a:rPr>
              <a:t>Comparable</a:t>
            </a:r>
            <a:r>
              <a:rPr lang="en-US" altLang="en-US" sz="2800" b="0">
                <a:latin typeface="Tahoma" panose="020B0604030504040204" pitchFamily="34" charset="0"/>
              </a:rPr>
              <a:t>[] stuff ){</a:t>
            </a:r>
          </a:p>
          <a:p>
            <a:pPr>
              <a:spcBef>
                <a:spcPct val="0"/>
              </a:spcBef>
              <a:buFontTx/>
              <a:buNone/>
            </a:pPr>
            <a:r>
              <a:rPr lang="en-US" altLang="en-US" sz="2800" b="0">
                <a:latin typeface="Tahoma" panose="020B0604030504040204" pitchFamily="34" charset="0"/>
              </a:rPr>
              <a:t>  for(int i=0; i&lt;stuff.length-1; i++){</a:t>
            </a:r>
          </a:p>
          <a:p>
            <a:pPr>
              <a:spcBef>
                <a:spcPct val="0"/>
              </a:spcBef>
              <a:buFontTx/>
              <a:buNone/>
            </a:pPr>
            <a:r>
              <a:rPr lang="en-US" altLang="en-US" sz="2800" b="0">
                <a:latin typeface="Tahoma" panose="020B0604030504040204" pitchFamily="34" charset="0"/>
              </a:rPr>
              <a:t>    for(int j=0; j&lt;stuff.length-1; j++){</a:t>
            </a:r>
          </a:p>
          <a:p>
            <a:pPr>
              <a:spcBef>
                <a:spcPct val="0"/>
              </a:spcBef>
              <a:buFontTx/>
              <a:buNone/>
            </a:pPr>
            <a:r>
              <a:rPr lang="en-US" altLang="en-US" sz="2800" b="0">
                <a:latin typeface="Tahoma" panose="020B0604030504040204" pitchFamily="34" charset="0"/>
              </a:rPr>
              <a:t>      if(stuff[ j].</a:t>
            </a:r>
            <a:r>
              <a:rPr lang="en-US" altLang="en-US" sz="2800" b="0">
                <a:solidFill>
                  <a:srgbClr val="FF3300"/>
                </a:solidFill>
                <a:latin typeface="Tahoma" panose="020B0604030504040204" pitchFamily="34" charset="0"/>
              </a:rPr>
              <a:t>compareTo</a:t>
            </a:r>
            <a:r>
              <a:rPr lang="en-US" altLang="en-US" sz="2800" b="0">
                <a:latin typeface="Tahoma" panose="020B0604030504040204" pitchFamily="34" charset="0"/>
              </a:rPr>
              <a:t>(stuff[ j+1]) &gt; 0 ){</a:t>
            </a:r>
          </a:p>
          <a:p>
            <a:pPr>
              <a:spcBef>
                <a:spcPct val="0"/>
              </a:spcBef>
              <a:buFontTx/>
              <a:buNone/>
            </a:pPr>
            <a:r>
              <a:rPr lang="en-US" altLang="en-US" sz="2800" b="0">
                <a:latin typeface="Tahoma" panose="020B0604030504040204" pitchFamily="34" charset="0"/>
              </a:rPr>
              <a:t>	</a:t>
            </a:r>
            <a:r>
              <a:rPr lang="en-US" altLang="en-US" sz="2800" b="0">
                <a:solidFill>
                  <a:schemeClr val="accent2"/>
                </a:solidFill>
                <a:latin typeface="Tahoma" panose="020B0604030504040204" pitchFamily="34" charset="0"/>
              </a:rPr>
              <a:t>Comparable temp = stuff[ j];</a:t>
            </a:r>
          </a:p>
          <a:p>
            <a:pPr>
              <a:spcBef>
                <a:spcPct val="0"/>
              </a:spcBef>
              <a:buFontTx/>
              <a:buNone/>
            </a:pPr>
            <a:r>
              <a:rPr lang="en-US" altLang="en-US" sz="2800" b="0">
                <a:solidFill>
                  <a:schemeClr val="accent2"/>
                </a:solidFill>
                <a:latin typeface="Tahoma" panose="020B0604030504040204" pitchFamily="34" charset="0"/>
              </a:rPr>
              <a:t>	stuff[ j] = stuff</a:t>
            </a:r>
            <a:r>
              <a:rPr lang="en-US" altLang="en-US" sz="2800">
                <a:solidFill>
                  <a:schemeClr val="accent2"/>
                </a:solidFill>
                <a:latin typeface="Tahoma" panose="020B0604030504040204" pitchFamily="34" charset="0"/>
              </a:rPr>
              <a:t> </a:t>
            </a:r>
            <a:r>
              <a:rPr lang="en-US" altLang="en-US" sz="2800" b="0">
                <a:solidFill>
                  <a:schemeClr val="accent2"/>
                </a:solidFill>
                <a:latin typeface="Tahoma" panose="020B0604030504040204" pitchFamily="34" charset="0"/>
              </a:rPr>
              <a:t>[ j+1];</a:t>
            </a:r>
          </a:p>
          <a:p>
            <a:pPr>
              <a:spcBef>
                <a:spcPct val="0"/>
              </a:spcBef>
              <a:buFontTx/>
              <a:buNone/>
            </a:pPr>
            <a:r>
              <a:rPr lang="en-US" altLang="en-US" sz="2800" b="0">
                <a:solidFill>
                  <a:schemeClr val="accent2"/>
                </a:solidFill>
                <a:latin typeface="Tahoma" panose="020B0604030504040204" pitchFamily="34" charset="0"/>
              </a:rPr>
              <a:t>	stuff</a:t>
            </a:r>
            <a:r>
              <a:rPr lang="en-US" altLang="en-US" sz="2800">
                <a:solidFill>
                  <a:schemeClr val="accent2"/>
                </a:solidFill>
                <a:latin typeface="Tahoma" panose="020B0604030504040204" pitchFamily="34" charset="0"/>
              </a:rPr>
              <a:t> </a:t>
            </a:r>
            <a:r>
              <a:rPr lang="en-US" altLang="en-US" sz="2800" b="0">
                <a:solidFill>
                  <a:schemeClr val="accent2"/>
                </a:solidFill>
                <a:latin typeface="Tahoma" panose="020B0604030504040204" pitchFamily="34" charset="0"/>
              </a:rPr>
              <a:t>[ j+1] = temp;</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a:t>
            </a:r>
          </a:p>
        </p:txBody>
      </p:sp>
      <p:sp>
        <p:nvSpPr>
          <p:cNvPr id="13318" name="Line 9">
            <a:extLst>
              <a:ext uri="{FF2B5EF4-FFF2-40B4-BE49-F238E27FC236}">
                <a16:creationId xmlns:a16="http://schemas.microsoft.com/office/drawing/2014/main" id="{83FA7B1B-B567-4949-B3ED-C2B368F58B8B}"/>
              </a:ext>
              <a:ext uri="{C183D7F6-B498-43B3-948B-1728B52AA6E4}">
                <adec:decorative xmlns:adec="http://schemas.microsoft.com/office/drawing/2017/decorative" val="1"/>
              </a:ext>
            </a:extLst>
          </p:cNvPr>
          <p:cNvSpPr>
            <a:spLocks noChangeShapeType="1"/>
          </p:cNvSpPr>
          <p:nvPr/>
        </p:nvSpPr>
        <p:spPr bwMode="auto">
          <a:xfrm flipH="1" flipV="1">
            <a:off x="5257800" y="4419600"/>
            <a:ext cx="609600" cy="990600"/>
          </a:xfrm>
          <a:prstGeom prst="line">
            <a:avLst/>
          </a:prstGeom>
          <a:noFill/>
          <a:ln w="635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7" name="Text Box 8">
            <a:extLst>
              <a:ext uri="{FF2B5EF4-FFF2-40B4-BE49-F238E27FC236}">
                <a16:creationId xmlns:a16="http://schemas.microsoft.com/office/drawing/2014/main" id="{DF1F01DD-B898-4E0B-A380-5383EFED6137}"/>
              </a:ext>
              <a:ext uri="{C183D7F6-B498-43B3-948B-1728B52AA6E4}">
                <adec:decorative xmlns:adec="http://schemas.microsoft.com/office/drawing/2017/decorative" val="1"/>
              </a:ext>
            </a:extLst>
          </p:cNvPr>
          <p:cNvSpPr txBox="1">
            <a:spLocks noChangeArrowheads="1"/>
          </p:cNvSpPr>
          <p:nvPr/>
        </p:nvSpPr>
        <p:spPr bwMode="auto">
          <a:xfrm>
            <a:off x="5867400" y="5181600"/>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solidFill>
                  <a:schemeClr val="accent2"/>
                </a:solidFill>
                <a:latin typeface="Tahoma" panose="020B0604030504040204" pitchFamily="34" charset="0"/>
              </a:rPr>
              <a:t>Lots O Swaps!</a:t>
            </a:r>
          </a:p>
        </p:txBody>
      </p:sp>
      <p:sp>
        <p:nvSpPr>
          <p:cNvPr id="13314" name="Footer Placeholder 3">
            <a:extLst>
              <a:ext uri="{FF2B5EF4-FFF2-40B4-BE49-F238E27FC236}">
                <a16:creationId xmlns:a16="http://schemas.microsoft.com/office/drawing/2014/main" id="{4A9B7A9D-EAB7-4FD3-B3B9-4D4E54E12600}"/>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WordArt 5">
            <a:extLst>
              <a:ext uri="{FF2B5EF4-FFF2-40B4-BE49-F238E27FC236}">
                <a16:creationId xmlns:a16="http://schemas.microsoft.com/office/drawing/2014/main" id="{05EEF8EE-C47C-46AF-BD73-46ADC99DE538}"/>
              </a:ext>
            </a:extLst>
          </p:cNvPr>
          <p:cNvSpPr>
            <a:spLocks noGrp="1" noChangeArrowheads="1" noChangeShapeType="1" noTextEdit="1"/>
          </p:cNvSpPr>
          <p:nvPr>
            <p:ph type="title" idx="4294967295"/>
          </p:nvPr>
        </p:nvSpPr>
        <p:spPr bwMode="auto">
          <a:xfrm>
            <a:off x="609600" y="76200"/>
            <a:ext cx="7467600" cy="533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Bubble Sort W/Objects</a:t>
            </a:r>
          </a:p>
        </p:txBody>
      </p:sp>
      <p:sp>
        <p:nvSpPr>
          <p:cNvPr id="13315" name="Text Box 4">
            <a:extLst>
              <a:ext uri="{FF2B5EF4-FFF2-40B4-BE49-F238E27FC236}">
                <a16:creationId xmlns:a16="http://schemas.microsoft.com/office/drawing/2014/main" id="{B2B558F5-C983-4925-B2F2-302468BF56B2}"/>
              </a:ext>
            </a:extLst>
          </p:cNvPr>
          <p:cNvSpPr txBox="1">
            <a:spLocks noChangeArrowheads="1"/>
          </p:cNvSpPr>
          <p:nvPr/>
        </p:nvSpPr>
        <p:spPr bwMode="auto">
          <a:xfrm>
            <a:off x="838200" y="838200"/>
            <a:ext cx="8153400" cy="571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void </a:t>
            </a:r>
            <a:r>
              <a:rPr lang="en-US" sz="2200" err="1">
                <a:latin typeface="Tahoma" panose="020B0604030504040204" pitchFamily="34" charset="0"/>
                <a:ea typeface="Tahoma" panose="020B0604030504040204" pitchFamily="34" charset="0"/>
                <a:cs typeface="Tahoma" panose="020B0604030504040204" pitchFamily="34" charset="0"/>
              </a:rPr>
              <a:t>bubbleSort</a:t>
            </a:r>
            <a:r>
              <a:rPr lang="en-US" sz="2200">
                <a:latin typeface="Tahoma" panose="020B0604030504040204" pitchFamily="34" charset="0"/>
                <a:ea typeface="Tahoma" panose="020B0604030504040204" pitchFamily="34" charset="0"/>
                <a:cs typeface="Tahoma" panose="020B0604030504040204" pitchFamily="34" charset="0"/>
              </a:rPr>
              <a:t>(Comparable[] stuff)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r>
              <a:rPr lang="en-US" sz="2200" err="1">
                <a:latin typeface="Tahoma" panose="020B0604030504040204" pitchFamily="34" charset="0"/>
                <a:ea typeface="Tahoma" panose="020B0604030504040204" pitchFamily="34" charset="0"/>
                <a:cs typeface="Tahoma" panose="020B0604030504040204" pitchFamily="34" charset="0"/>
              </a:rPr>
              <a:t>boolean</a:t>
            </a:r>
            <a:r>
              <a:rPr lang="en-US" sz="2200">
                <a:latin typeface="Tahoma" panose="020B0604030504040204" pitchFamily="34" charset="0"/>
                <a:ea typeface="Tahoma" panose="020B0604030504040204" pitchFamily="34" charset="0"/>
                <a:cs typeface="Tahoma" panose="020B0604030504040204" pitchFamily="34" charset="0"/>
              </a:rPr>
              <a:t> changed = false;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do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changed = false;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for (</a:t>
            </a:r>
            <a:r>
              <a:rPr lang="en-US" sz="2200" err="1">
                <a:latin typeface="Tahoma" panose="020B0604030504040204" pitchFamily="34" charset="0"/>
                <a:ea typeface="Tahoma" panose="020B0604030504040204" pitchFamily="34" charset="0"/>
                <a:cs typeface="Tahoma" panose="020B0604030504040204" pitchFamily="34" charset="0"/>
              </a:rPr>
              <a:t>int</a:t>
            </a:r>
            <a:r>
              <a:rPr lang="en-US" sz="2200">
                <a:latin typeface="Tahoma" panose="020B0604030504040204" pitchFamily="34" charset="0"/>
                <a:ea typeface="Tahoma" panose="020B0604030504040204" pitchFamily="34" charset="0"/>
                <a:cs typeface="Tahoma" panose="020B0604030504040204" pitchFamily="34" charset="0"/>
              </a:rPr>
              <a:t> a = 0; a &lt; </a:t>
            </a:r>
            <a:r>
              <a:rPr lang="en-US" sz="2200" err="1">
                <a:latin typeface="Tahoma" panose="020B0604030504040204" pitchFamily="34" charset="0"/>
                <a:ea typeface="Tahoma" panose="020B0604030504040204" pitchFamily="34" charset="0"/>
                <a:cs typeface="Tahoma" panose="020B0604030504040204" pitchFamily="34" charset="0"/>
              </a:rPr>
              <a:t>stuff.length</a:t>
            </a:r>
            <a:r>
              <a:rPr lang="en-US" sz="2200">
                <a:latin typeface="Tahoma" panose="020B0604030504040204" pitchFamily="34" charset="0"/>
                <a:ea typeface="Tahoma" panose="020B0604030504040204" pitchFamily="34" charset="0"/>
                <a:cs typeface="Tahoma" panose="020B0604030504040204" pitchFamily="34" charset="0"/>
              </a:rPr>
              <a:t> - 1; a++)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if (stuff[a].</a:t>
            </a:r>
            <a:r>
              <a:rPr lang="en-US" sz="2200" err="1">
                <a:latin typeface="Tahoma" panose="020B0604030504040204" pitchFamily="34" charset="0"/>
                <a:ea typeface="Tahoma" panose="020B0604030504040204" pitchFamily="34" charset="0"/>
                <a:cs typeface="Tahoma" panose="020B0604030504040204" pitchFamily="34" charset="0"/>
              </a:rPr>
              <a:t>compareTo</a:t>
            </a:r>
            <a:r>
              <a:rPr lang="en-US" sz="2200">
                <a:latin typeface="Tahoma" panose="020B0604030504040204" pitchFamily="34" charset="0"/>
                <a:ea typeface="Tahoma" panose="020B0604030504040204" pitchFamily="34" charset="0"/>
                <a:cs typeface="Tahoma" panose="020B0604030504040204" pitchFamily="34" charset="0"/>
              </a:rPr>
              <a:t>(stuff[a + 1]) &gt; 0) {</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Comparable </a:t>
            </a:r>
            <a:r>
              <a:rPr lang="en-US" sz="2200" err="1">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tmp</a:t>
            </a: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 stuff[a];</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stuff[a] = stuff[a + 1];</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stuff[a + 1] = </a:t>
            </a:r>
            <a:r>
              <a:rPr lang="en-US" sz="2200" err="1">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tmp</a:t>
            </a: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a:t>
            </a:r>
          </a:p>
          <a:p>
            <a:pPr>
              <a:buFontTx/>
              <a:buNone/>
              <a:tabLst>
                <a:tab pos="1371600" algn="l"/>
              </a:tabLst>
              <a:defRPr/>
            </a:pPr>
            <a:r>
              <a:rPr lang="en-US" sz="2200">
                <a:latin typeface="Tahoma" panose="020B0604030504040204" pitchFamily="34" charset="0"/>
                <a:ea typeface="Tahoma" panose="020B0604030504040204" pitchFamily="34" charset="0"/>
                <a:cs typeface="Tahoma" panose="020B0604030504040204" pitchFamily="34" charset="0"/>
              </a:rPr>
              <a:t>	changed = true;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 while(changed);</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ordArt 2" descr="White marble">
            <a:extLst>
              <a:ext uri="{FF2B5EF4-FFF2-40B4-BE49-F238E27FC236}">
                <a16:creationId xmlns:a16="http://schemas.microsoft.com/office/drawing/2014/main" id="{E73F3D46-0651-4661-82E7-9ACAE61D3A0A}"/>
              </a:ext>
            </a:extLst>
          </p:cNvPr>
          <p:cNvSpPr>
            <a:spLocks noGrp="1" noChangeArrowheads="1" noChangeShapeType="1" noTextEdit="1"/>
          </p:cNvSpPr>
          <p:nvPr>
            <p:ph type="title" idx="4294967295"/>
          </p:nvPr>
        </p:nvSpPr>
        <p:spPr bwMode="auto">
          <a:xfrm>
            <a:off x="762000" y="1981200"/>
            <a:ext cx="7620000" cy="184785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scene3d>
              <a:camera prst="legacyObliqueRight"/>
              <a:lightRig rig="legacyHarsh3" dir="t"/>
            </a:scene3d>
            <a:sp3d extrusionH="100000" prstMaterial="legacyMatte">
              <a:extrusionClr>
                <a:srgbClr val="663300"/>
              </a:extrusionClr>
              <a:contourClr>
                <a:srgbClr val="FFFFFF"/>
              </a:contourClr>
            </a:sp3d>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round/>
                  <a:headEnd/>
                  <a:tailEnd/>
                </a:ln>
                <a:blipFill dpi="0" rotWithShape="0">
                  <a:blip r:embed="rId3"/>
                  <a:srcRect/>
                  <a:tile tx="0" ty="0" sx="100000" sy="100000" flip="none" algn="tl"/>
                </a:blipFill>
                <a:effectLst/>
                <a:uLnTx/>
                <a:uFillTx/>
                <a:latin typeface="Arial Black" panose="020B0A04020102020204" pitchFamily="34" charset="0"/>
                <a:ea typeface="+mn-ea"/>
                <a:cs typeface="+mn-cs"/>
              </a:rPr>
              <a:t>The Selection Sort</a:t>
            </a:r>
          </a:p>
        </p:txBody>
      </p:sp>
      <p:sp>
        <p:nvSpPr>
          <p:cNvPr id="17410" name="Footer Placeholder 3">
            <a:extLst>
              <a:ext uri="{FF2B5EF4-FFF2-40B4-BE49-F238E27FC236}">
                <a16:creationId xmlns:a16="http://schemas.microsoft.com/office/drawing/2014/main" id="{7D649665-5358-4F65-ABF6-F20DBF3C29B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1" presetClass="entr" presetSubtype="0" fill="hold" nodeType="clickEffect">
                                  <p:stCondLst>
                                    <p:cond delay="0"/>
                                  </p:stCondLst>
                                  <p:childTnLst>
                                    <p:set>
                                      <p:cBhvr>
                                        <p:cTn id="6" dur="500">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WordArt 3">
            <a:extLst>
              <a:ext uri="{FF2B5EF4-FFF2-40B4-BE49-F238E27FC236}">
                <a16:creationId xmlns:a16="http://schemas.microsoft.com/office/drawing/2014/main" id="{0974E8BF-68D6-4254-9721-83EABF6C1ABE}"/>
              </a:ext>
            </a:extLst>
          </p:cNvPr>
          <p:cNvSpPr>
            <a:spLocks noGrp="1" noChangeArrowheads="1" noChangeShapeType="1" noTextEdit="1"/>
          </p:cNvSpPr>
          <p:nvPr>
            <p:ph type="title" idx="4294967295"/>
          </p:nvPr>
        </p:nvSpPr>
        <p:spPr bwMode="auto">
          <a:xfrm>
            <a:off x="1524000" y="1066800"/>
            <a:ext cx="5867400" cy="685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9900"/>
                  </a:solidFill>
                  <a:round/>
                  <a:headEnd/>
                  <a:tailEnd/>
                </a:ln>
                <a:solidFill>
                  <a:srgbClr val="FFFF99"/>
                </a:solidFill>
                <a:effectLst>
                  <a:outerShdw dist="35921" dir="2700000" algn="ctr" rotWithShape="0">
                    <a:srgbClr val="C0C0C0"/>
                  </a:outerShdw>
                </a:effectLst>
                <a:uLnTx/>
                <a:uFillTx/>
                <a:latin typeface="Impact" panose="020B0806030902050204" pitchFamily="34" charset="0"/>
                <a:ea typeface="+mn-ea"/>
                <a:cs typeface="+mn-cs"/>
              </a:rPr>
              <a:t>Selection Sort</a:t>
            </a:r>
          </a:p>
        </p:txBody>
      </p:sp>
      <p:sp>
        <p:nvSpPr>
          <p:cNvPr id="19459" name="Text Box 2">
            <a:extLst>
              <a:ext uri="{FF2B5EF4-FFF2-40B4-BE49-F238E27FC236}">
                <a16:creationId xmlns:a16="http://schemas.microsoft.com/office/drawing/2014/main" id="{6F6638DA-8EED-4A71-887C-7AF3F1604E60}"/>
              </a:ext>
            </a:extLst>
          </p:cNvPr>
          <p:cNvSpPr txBox="1">
            <a:spLocks noChangeArrowheads="1"/>
          </p:cNvSpPr>
          <p:nvPr/>
        </p:nvSpPr>
        <p:spPr bwMode="auto">
          <a:xfrm>
            <a:off x="328835" y="2325231"/>
            <a:ext cx="829265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dirty="0">
                <a:latin typeface="Arial" panose="020B0604020202020204" pitchFamily="34" charset="0"/>
              </a:rPr>
              <a:t>The selection sort does not swap each time</a:t>
            </a:r>
          </a:p>
          <a:p>
            <a:pPr algn="ctr">
              <a:spcBef>
                <a:spcPct val="0"/>
              </a:spcBef>
              <a:buFontTx/>
              <a:buNone/>
            </a:pPr>
            <a:r>
              <a:rPr lang="en-US" altLang="en-US" sz="2800" dirty="0">
                <a:latin typeface="Arial" panose="020B0604020202020204" pitchFamily="34" charset="0"/>
              </a:rPr>
              <a:t>it finds elements out of position.  Selection sort</a:t>
            </a:r>
          </a:p>
          <a:p>
            <a:pPr algn="ctr">
              <a:spcBef>
                <a:spcPct val="0"/>
              </a:spcBef>
              <a:buFontTx/>
              <a:buNone/>
            </a:pPr>
            <a:r>
              <a:rPr lang="en-US" altLang="en-US" sz="2800" dirty="0">
                <a:latin typeface="Arial" panose="020B0604020202020204" pitchFamily="34" charset="0"/>
              </a:rPr>
              <a:t>makes a complete pass while searching for the</a:t>
            </a:r>
          </a:p>
          <a:p>
            <a:pPr algn="ctr">
              <a:spcBef>
                <a:spcPct val="0"/>
              </a:spcBef>
              <a:buFontTx/>
              <a:buNone/>
            </a:pPr>
            <a:r>
              <a:rPr lang="en-US" altLang="en-US" sz="2800" dirty="0">
                <a:latin typeface="Arial" panose="020B0604020202020204" pitchFamily="34" charset="0"/>
              </a:rPr>
              <a:t>next item to swap.  At the end of a pass once </a:t>
            </a:r>
          </a:p>
          <a:p>
            <a:pPr algn="ctr">
              <a:spcBef>
                <a:spcPct val="0"/>
              </a:spcBef>
              <a:buFontTx/>
              <a:buNone/>
            </a:pPr>
            <a:r>
              <a:rPr lang="en-US" altLang="en-US" sz="2800" dirty="0">
                <a:latin typeface="Arial" panose="020B0604020202020204" pitchFamily="34" charset="0"/>
              </a:rPr>
              <a:t>the item is located, one swap is made.</a:t>
            </a:r>
          </a:p>
        </p:txBody>
      </p:sp>
      <p:sp>
        <p:nvSpPr>
          <p:cNvPr id="19458" name="Footer Placeholder 3">
            <a:extLst>
              <a:ext uri="{FF2B5EF4-FFF2-40B4-BE49-F238E27FC236}">
                <a16:creationId xmlns:a16="http://schemas.microsoft.com/office/drawing/2014/main" id="{88D482CE-0935-4DAA-9F7A-DB20FE108675}"/>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2">
            <a:extLst>
              <a:ext uri="{FF2B5EF4-FFF2-40B4-BE49-F238E27FC236}">
                <a16:creationId xmlns:a16="http://schemas.microsoft.com/office/drawing/2014/main" id="{C13FA293-8E8A-4459-B124-1AAE81A171B2}"/>
              </a:ext>
            </a:extLst>
          </p:cNvPr>
          <p:cNvSpPr txBox="1">
            <a:spLocks noGrp="1" noChangeArrowheads="1"/>
          </p:cNvSpPr>
          <p:nvPr>
            <p:ph type="title" idx="4294967295"/>
          </p:nvPr>
        </p:nvSpPr>
        <p:spPr bwMode="auto">
          <a:xfrm>
            <a:off x="1173163" y="304800"/>
            <a:ext cx="7772400" cy="1143000"/>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dirty="0">
                <a:ln>
                  <a:noFill/>
                </a:ln>
                <a:solidFill>
                  <a:srgbClr val="003366"/>
                </a:solidFill>
                <a:effectLst/>
                <a:uLnTx/>
                <a:uFillTx/>
                <a:latin typeface="Arial"/>
                <a:ea typeface="+mj-ea"/>
                <a:cs typeface="+mj-cs"/>
              </a:rPr>
              <a:t>Selection Sort Explained</a:t>
            </a:r>
          </a:p>
        </p:txBody>
      </p:sp>
      <p:sp>
        <p:nvSpPr>
          <p:cNvPr id="149" name="Rectangle 3">
            <a:extLst>
              <a:ext uri="{FF2B5EF4-FFF2-40B4-BE49-F238E27FC236}">
                <a16:creationId xmlns:a16="http://schemas.microsoft.com/office/drawing/2014/main" id="{002E66C0-5A1D-4764-A670-DFFD57964336}"/>
              </a:ext>
              <a:ext uri="{C183D7F6-B498-43B3-948B-1728B52AA6E4}">
                <adec:decorative xmlns:adec="http://schemas.microsoft.com/office/drawing/2017/decorative" val="1"/>
              </a:ext>
            </a:extLst>
          </p:cNvPr>
          <p:cNvSpPr txBox="1">
            <a:spLocks noChangeArrowheads="1"/>
          </p:cNvSpPr>
          <p:nvPr/>
        </p:nvSpPr>
        <p:spPr bwMode="auto">
          <a:xfrm>
            <a:off x="654050" y="1787525"/>
            <a:ext cx="8458200" cy="3905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914400" marR="0" lvl="1" indent="-457200" algn="l" defTabSz="914400" rtl="0" eaLnBrk="0" fontAlgn="base" latinLnBrk="0" hangingPunct="0">
              <a:lnSpc>
                <a:spcPct val="80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Find the min among the first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 elements:</a:t>
            </a:r>
          </a:p>
          <a:p>
            <a:pPr marL="914400" marR="0" lvl="1" indent="-457200" algn="l" defTabSz="914400" rtl="0" eaLnBrk="0" fontAlgn="base" latinLnBrk="0" hangingPunct="0">
              <a:lnSpc>
                <a:spcPct val="80000"/>
              </a:lnSpc>
              <a:spcBef>
                <a:spcPct val="5000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5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6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Swap it with the “first” element (i.e., </a:t>
            </a:r>
            <a:r>
              <a:rPr kumimoji="0" lang="en-US" sz="2400" b="0" i="0" u="none" strike="noStrike" kern="0" cap="none" spc="0" normalizeH="0" baseline="0" noProof="0" dirty="0">
                <a:ln>
                  <a:noFill/>
                </a:ln>
                <a:solidFill>
                  <a:srgbClr val="0099CC"/>
                </a:solidFill>
                <a:effectLst/>
                <a:uLnTx/>
                <a:uFillTx/>
                <a:latin typeface="Arial"/>
              </a:rPr>
              <a:t>list[0]</a:t>
            </a:r>
            <a:r>
              <a:rPr kumimoji="0" lang="en-US" sz="2400" b="0" i="0" u="none" strike="noStrike" kern="0" cap="none" spc="0" normalizeH="0" baseline="0" noProof="0" dirty="0">
                <a:ln>
                  <a:noFill/>
                </a:ln>
                <a:solidFill>
                  <a:srgbClr val="000000"/>
                </a:solidFill>
                <a:effectLst/>
                <a:uLnTx/>
                <a:uFillTx/>
                <a:latin typeface="Arial"/>
              </a:rPr>
              <a:t>) :</a:t>
            </a: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40000"/>
              </a:spcBef>
              <a:spcAft>
                <a:spcPct val="0"/>
              </a:spcAft>
              <a:buClrTx/>
              <a:buSzTx/>
              <a:buFontTx/>
              <a:buAutoNum type="arabicPeriod" startAt="3"/>
              <a:tabLst/>
              <a:defRPr/>
            </a:pPr>
            <a:r>
              <a:rPr kumimoji="0" lang="en-US" sz="2400" b="0" i="0" u="none" strike="noStrike" kern="0" cap="none" spc="0" normalizeH="0" baseline="0" noProof="0" dirty="0">
                <a:ln>
                  <a:noFill/>
                </a:ln>
                <a:solidFill>
                  <a:srgbClr val="000000"/>
                </a:solidFill>
                <a:effectLst/>
                <a:uLnTx/>
                <a:uFillTx/>
                <a:latin typeface="Arial"/>
              </a:rPr>
              <a:t>Increment </a:t>
            </a:r>
            <a:r>
              <a:rPr kumimoji="0" lang="en-US" sz="2400" b="0" i="1" u="none" strike="noStrike" kern="0" cap="none" spc="0" normalizeH="0" baseline="0" noProof="0" dirty="0">
                <a:ln>
                  <a:noFill/>
                </a:ln>
                <a:solidFill>
                  <a:srgbClr val="000000"/>
                </a:solidFill>
                <a:effectLst/>
                <a:uLnTx/>
                <a:uFillTx/>
                <a:latin typeface="Arial"/>
              </a:rPr>
              <a:t>first</a:t>
            </a:r>
            <a:r>
              <a:rPr kumimoji="0" lang="en-US" sz="2400" b="0" i="0" u="none" strike="noStrike" kern="0" cap="none" spc="0" normalizeH="0" baseline="0" noProof="0" dirty="0">
                <a:ln>
                  <a:noFill/>
                </a:ln>
                <a:solidFill>
                  <a:srgbClr val="000000"/>
                </a:solidFill>
                <a:effectLst/>
                <a:uLnTx/>
                <a:uFillTx/>
                <a:latin typeface="Arial"/>
              </a:rPr>
              <a:t> by 1 and repeat from Step 1</a:t>
            </a:r>
          </a:p>
          <a:p>
            <a:pPr marL="914400" marR="0" lvl="1" indent="-457200" algn="l" defTabSz="914400" rtl="0" eaLnBrk="0" fontAlgn="base" latinLnBrk="0" hangingPunct="0">
              <a:lnSpc>
                <a:spcPct val="80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 while </a:t>
            </a:r>
            <a:r>
              <a:rPr kumimoji="0" lang="en-US" sz="2400" b="0" i="1" u="none" strike="noStrike" kern="0" cap="none" spc="0" normalizeH="0" baseline="0" noProof="0" dirty="0">
                <a:ln>
                  <a:noFill/>
                </a:ln>
                <a:solidFill>
                  <a:srgbClr val="000000"/>
                </a:solidFill>
                <a:effectLst/>
                <a:uLnTx/>
                <a:uFillTx/>
                <a:latin typeface="Arial"/>
              </a:rPr>
              <a:t>first &lt; n -</a:t>
            </a:r>
            <a:r>
              <a:rPr kumimoji="0" lang="en-US" sz="2400" b="0" i="0" u="none" strike="noStrike" kern="0" cap="none" spc="0" normalizeH="0" baseline="0" noProof="0" dirty="0">
                <a:ln>
                  <a:noFill/>
                </a:ln>
                <a:solidFill>
                  <a:srgbClr val="000000"/>
                </a:solidFill>
                <a:effectLst/>
                <a:uLnTx/>
                <a:uFillTx/>
                <a:latin typeface="Arial"/>
              </a:rPr>
              <a:t> 1)</a:t>
            </a:r>
          </a:p>
        </p:txBody>
      </p:sp>
      <p:sp>
        <p:nvSpPr>
          <p:cNvPr id="150" name="Line 162">
            <a:extLst>
              <a:ext uri="{FF2B5EF4-FFF2-40B4-BE49-F238E27FC236}">
                <a16:creationId xmlns:a16="http://schemas.microsoft.com/office/drawing/2014/main" id="{0DB9BD51-2D39-4292-8ABD-266A97B9B1B1}"/>
              </a:ext>
              <a:ext uri="{C183D7F6-B498-43B3-948B-1728B52AA6E4}">
                <adec:decorative xmlns:adec="http://schemas.microsoft.com/office/drawing/2017/decorative" val="1"/>
              </a:ext>
            </a:extLst>
          </p:cNvPr>
          <p:cNvSpPr>
            <a:spLocks noChangeShapeType="1"/>
          </p:cNvSpPr>
          <p:nvPr/>
        </p:nvSpPr>
        <p:spPr bwMode="auto">
          <a:xfrm>
            <a:off x="23622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1" name="Line 163">
            <a:extLst>
              <a:ext uri="{FF2B5EF4-FFF2-40B4-BE49-F238E27FC236}">
                <a16:creationId xmlns:a16="http://schemas.microsoft.com/office/drawing/2014/main" id="{096E2B4D-7748-4CF9-A81F-61FE90844FDD}"/>
              </a:ext>
              <a:ext uri="{C183D7F6-B498-43B3-948B-1728B52AA6E4}">
                <adec:decorative xmlns:adec="http://schemas.microsoft.com/office/drawing/2017/decorative" val="1"/>
              </a:ext>
            </a:extLst>
          </p:cNvPr>
          <p:cNvSpPr>
            <a:spLocks noChangeShapeType="1"/>
          </p:cNvSpPr>
          <p:nvPr/>
        </p:nvSpPr>
        <p:spPr bwMode="auto">
          <a:xfrm>
            <a:off x="2362200" y="257175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2" name="Line 164">
            <a:extLst>
              <a:ext uri="{FF2B5EF4-FFF2-40B4-BE49-F238E27FC236}">
                <a16:creationId xmlns:a16="http://schemas.microsoft.com/office/drawing/2014/main" id="{52C28AF1-B17C-4AC1-AF3D-DBE67AABC046}"/>
              </a:ext>
              <a:ext uri="{C183D7F6-B498-43B3-948B-1728B52AA6E4}">
                <adec:decorative xmlns:adec="http://schemas.microsoft.com/office/drawing/2017/decorative" val="1"/>
              </a:ext>
            </a:extLst>
          </p:cNvPr>
          <p:cNvSpPr>
            <a:spLocks noChangeShapeType="1"/>
          </p:cNvSpPr>
          <p:nvPr/>
        </p:nvSpPr>
        <p:spPr bwMode="auto">
          <a:xfrm>
            <a:off x="28194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53" name="Group 165">
            <a:extLst>
              <a:ext uri="{FF2B5EF4-FFF2-40B4-BE49-F238E27FC236}">
                <a16:creationId xmlns:a16="http://schemas.microsoft.com/office/drawing/2014/main" id="{62EEF892-74A3-465C-B37B-34A55297C83E}"/>
              </a:ext>
              <a:ext uri="{C183D7F6-B498-43B3-948B-1728B52AA6E4}">
                <adec:decorative xmlns:adec="http://schemas.microsoft.com/office/drawing/2017/decorative" val="1"/>
              </a:ext>
            </a:extLst>
          </p:cNvPr>
          <p:cNvGrpSpPr>
            <a:grpSpLocks/>
          </p:cNvGrpSpPr>
          <p:nvPr/>
        </p:nvGrpSpPr>
        <p:grpSpPr bwMode="auto">
          <a:xfrm>
            <a:off x="2362200" y="2419350"/>
            <a:ext cx="457200" cy="152400"/>
            <a:chOff x="720" y="2352"/>
            <a:chExt cx="288" cy="96"/>
          </a:xfrm>
        </p:grpSpPr>
        <p:sp>
          <p:nvSpPr>
            <p:cNvPr id="154" name="Line 166">
              <a:extLst>
                <a:ext uri="{FF2B5EF4-FFF2-40B4-BE49-F238E27FC236}">
                  <a16:creationId xmlns:a16="http://schemas.microsoft.com/office/drawing/2014/main" id="{B0899155-2E65-4FD9-B49C-49CFC0376DE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5" name="Line 167">
              <a:extLst>
                <a:ext uri="{FF2B5EF4-FFF2-40B4-BE49-F238E27FC236}">
                  <a16:creationId xmlns:a16="http://schemas.microsoft.com/office/drawing/2014/main" id="{63776268-0CDB-486C-BC04-E53D8695C12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6" name="Line 168">
              <a:extLst>
                <a:ext uri="{FF2B5EF4-FFF2-40B4-BE49-F238E27FC236}">
                  <a16:creationId xmlns:a16="http://schemas.microsoft.com/office/drawing/2014/main" id="{3212ED76-63C6-4E6F-93F1-C76259FFC3C3}"/>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57" name="Group 169">
            <a:extLst>
              <a:ext uri="{FF2B5EF4-FFF2-40B4-BE49-F238E27FC236}">
                <a16:creationId xmlns:a16="http://schemas.microsoft.com/office/drawing/2014/main" id="{0A5A7E39-127D-419E-8C0C-8217CD09EAD0}"/>
              </a:ext>
              <a:ext uri="{C183D7F6-B498-43B3-948B-1728B52AA6E4}">
                <adec:decorative xmlns:adec="http://schemas.microsoft.com/office/drawing/2017/decorative" val="1"/>
              </a:ext>
            </a:extLst>
          </p:cNvPr>
          <p:cNvGrpSpPr>
            <a:grpSpLocks/>
          </p:cNvGrpSpPr>
          <p:nvPr/>
        </p:nvGrpSpPr>
        <p:grpSpPr bwMode="auto">
          <a:xfrm>
            <a:off x="2895600" y="2419350"/>
            <a:ext cx="457200" cy="152400"/>
            <a:chOff x="720" y="2352"/>
            <a:chExt cx="288" cy="96"/>
          </a:xfrm>
        </p:grpSpPr>
        <p:sp>
          <p:nvSpPr>
            <p:cNvPr id="158" name="Line 170">
              <a:extLst>
                <a:ext uri="{FF2B5EF4-FFF2-40B4-BE49-F238E27FC236}">
                  <a16:creationId xmlns:a16="http://schemas.microsoft.com/office/drawing/2014/main" id="{BFC31CBD-5E98-41ED-BBA2-FB0F6F569EA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9" name="Line 171">
              <a:extLst>
                <a:ext uri="{FF2B5EF4-FFF2-40B4-BE49-F238E27FC236}">
                  <a16:creationId xmlns:a16="http://schemas.microsoft.com/office/drawing/2014/main" id="{CF40A731-8FC0-4871-BB72-0C87F4F34927}"/>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0" name="Line 172">
              <a:extLst>
                <a:ext uri="{FF2B5EF4-FFF2-40B4-BE49-F238E27FC236}">
                  <a16:creationId xmlns:a16="http://schemas.microsoft.com/office/drawing/2014/main" id="{0C431F23-A390-4FFC-A05B-DA5C52B919CB}"/>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61" name="Group 173">
            <a:extLst>
              <a:ext uri="{FF2B5EF4-FFF2-40B4-BE49-F238E27FC236}">
                <a16:creationId xmlns:a16="http://schemas.microsoft.com/office/drawing/2014/main" id="{C402CDCE-DBAD-47A9-984E-D84BF8CB24D9}"/>
              </a:ext>
              <a:ext uri="{C183D7F6-B498-43B3-948B-1728B52AA6E4}">
                <adec:decorative xmlns:adec="http://schemas.microsoft.com/office/drawing/2017/decorative" val="1"/>
              </a:ext>
            </a:extLst>
          </p:cNvPr>
          <p:cNvGrpSpPr>
            <a:grpSpLocks/>
          </p:cNvGrpSpPr>
          <p:nvPr/>
        </p:nvGrpSpPr>
        <p:grpSpPr bwMode="auto">
          <a:xfrm>
            <a:off x="3429000" y="2419350"/>
            <a:ext cx="457200" cy="152400"/>
            <a:chOff x="720" y="2352"/>
            <a:chExt cx="288" cy="96"/>
          </a:xfrm>
        </p:grpSpPr>
        <p:sp>
          <p:nvSpPr>
            <p:cNvPr id="162" name="Line 174">
              <a:extLst>
                <a:ext uri="{FF2B5EF4-FFF2-40B4-BE49-F238E27FC236}">
                  <a16:creationId xmlns:a16="http://schemas.microsoft.com/office/drawing/2014/main" id="{0118DDDD-2075-470A-AFFB-3FE61BB47AAB}"/>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3" name="Line 175">
              <a:extLst>
                <a:ext uri="{FF2B5EF4-FFF2-40B4-BE49-F238E27FC236}">
                  <a16:creationId xmlns:a16="http://schemas.microsoft.com/office/drawing/2014/main" id="{2AA36292-0F08-43FE-B9C2-11F153271D73}"/>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4" name="Line 176">
              <a:extLst>
                <a:ext uri="{FF2B5EF4-FFF2-40B4-BE49-F238E27FC236}">
                  <a16:creationId xmlns:a16="http://schemas.microsoft.com/office/drawing/2014/main" id="{38135288-B3EF-4F48-B71C-6690DD5F72B7}"/>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65" name="Line 177">
            <a:extLst>
              <a:ext uri="{FF2B5EF4-FFF2-40B4-BE49-F238E27FC236}">
                <a16:creationId xmlns:a16="http://schemas.microsoft.com/office/drawing/2014/main" id="{CDA8C38D-F77C-4118-9E4D-D5B0884926B5}"/>
              </a:ext>
              <a:ext uri="{C183D7F6-B498-43B3-948B-1728B52AA6E4}">
                <adec:decorative xmlns:adec="http://schemas.microsoft.com/office/drawing/2017/decorative" val="1"/>
              </a:ext>
            </a:extLst>
          </p:cNvPr>
          <p:cNvSpPr>
            <a:spLocks noChangeShapeType="1"/>
          </p:cNvSpPr>
          <p:nvPr/>
        </p:nvSpPr>
        <p:spPr bwMode="auto">
          <a:xfrm>
            <a:off x="39624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6" name="Line 178">
            <a:extLst>
              <a:ext uri="{FF2B5EF4-FFF2-40B4-BE49-F238E27FC236}">
                <a16:creationId xmlns:a16="http://schemas.microsoft.com/office/drawing/2014/main" id="{12CE7355-3F4C-4341-AE8A-A5A8280FC743}"/>
              </a:ext>
              <a:ext uri="{C183D7F6-B498-43B3-948B-1728B52AA6E4}">
                <adec:decorative xmlns:adec="http://schemas.microsoft.com/office/drawing/2017/decorative" val="1"/>
              </a:ext>
            </a:extLst>
          </p:cNvPr>
          <p:cNvSpPr>
            <a:spLocks noChangeShapeType="1"/>
          </p:cNvSpPr>
          <p:nvPr/>
        </p:nvSpPr>
        <p:spPr bwMode="auto">
          <a:xfrm>
            <a:off x="3962400" y="257175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7" name="Line 179">
            <a:extLst>
              <a:ext uri="{FF2B5EF4-FFF2-40B4-BE49-F238E27FC236}">
                <a16:creationId xmlns:a16="http://schemas.microsoft.com/office/drawing/2014/main" id="{E6AF24E7-8880-4325-83E2-6973543A562B}"/>
              </a:ext>
              <a:ext uri="{C183D7F6-B498-43B3-948B-1728B52AA6E4}">
                <adec:decorative xmlns:adec="http://schemas.microsoft.com/office/drawing/2017/decorative" val="1"/>
              </a:ext>
            </a:extLst>
          </p:cNvPr>
          <p:cNvSpPr>
            <a:spLocks noChangeShapeType="1"/>
          </p:cNvSpPr>
          <p:nvPr/>
        </p:nvSpPr>
        <p:spPr bwMode="auto">
          <a:xfrm>
            <a:off x="44196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68" name="Group 180">
            <a:extLst>
              <a:ext uri="{FF2B5EF4-FFF2-40B4-BE49-F238E27FC236}">
                <a16:creationId xmlns:a16="http://schemas.microsoft.com/office/drawing/2014/main" id="{0B4D6FAC-3365-4695-B3E3-CE901E676608}"/>
              </a:ext>
              <a:ext uri="{C183D7F6-B498-43B3-948B-1728B52AA6E4}">
                <adec:decorative xmlns:adec="http://schemas.microsoft.com/office/drawing/2017/decorative" val="1"/>
              </a:ext>
            </a:extLst>
          </p:cNvPr>
          <p:cNvGrpSpPr>
            <a:grpSpLocks/>
          </p:cNvGrpSpPr>
          <p:nvPr/>
        </p:nvGrpSpPr>
        <p:grpSpPr bwMode="auto">
          <a:xfrm>
            <a:off x="3962400" y="2419350"/>
            <a:ext cx="457200" cy="152400"/>
            <a:chOff x="720" y="2352"/>
            <a:chExt cx="288" cy="96"/>
          </a:xfrm>
        </p:grpSpPr>
        <p:sp>
          <p:nvSpPr>
            <p:cNvPr id="169" name="Line 181">
              <a:extLst>
                <a:ext uri="{FF2B5EF4-FFF2-40B4-BE49-F238E27FC236}">
                  <a16:creationId xmlns:a16="http://schemas.microsoft.com/office/drawing/2014/main" id="{E5A9653E-5C27-49F4-9804-86BCE3EC91C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0" name="Line 182">
              <a:extLst>
                <a:ext uri="{FF2B5EF4-FFF2-40B4-BE49-F238E27FC236}">
                  <a16:creationId xmlns:a16="http://schemas.microsoft.com/office/drawing/2014/main" id="{F6A4134A-F15A-4726-BF97-5900979ED63F}"/>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1" name="Line 183">
              <a:extLst>
                <a:ext uri="{FF2B5EF4-FFF2-40B4-BE49-F238E27FC236}">
                  <a16:creationId xmlns:a16="http://schemas.microsoft.com/office/drawing/2014/main" id="{303C338D-EE44-4FBC-B8C0-6CB396497C02}"/>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72" name="Group 184">
            <a:extLst>
              <a:ext uri="{FF2B5EF4-FFF2-40B4-BE49-F238E27FC236}">
                <a16:creationId xmlns:a16="http://schemas.microsoft.com/office/drawing/2014/main" id="{4DE6357F-9FF9-4A2E-842C-5BC39C99A439}"/>
              </a:ext>
              <a:ext uri="{C183D7F6-B498-43B3-948B-1728B52AA6E4}">
                <adec:decorative xmlns:adec="http://schemas.microsoft.com/office/drawing/2017/decorative" val="1"/>
              </a:ext>
            </a:extLst>
          </p:cNvPr>
          <p:cNvGrpSpPr>
            <a:grpSpLocks/>
          </p:cNvGrpSpPr>
          <p:nvPr/>
        </p:nvGrpSpPr>
        <p:grpSpPr bwMode="auto">
          <a:xfrm>
            <a:off x="4495800" y="2419350"/>
            <a:ext cx="457200" cy="152400"/>
            <a:chOff x="720" y="2352"/>
            <a:chExt cx="288" cy="96"/>
          </a:xfrm>
        </p:grpSpPr>
        <p:sp>
          <p:nvSpPr>
            <p:cNvPr id="173" name="Line 185">
              <a:extLst>
                <a:ext uri="{FF2B5EF4-FFF2-40B4-BE49-F238E27FC236}">
                  <a16:creationId xmlns:a16="http://schemas.microsoft.com/office/drawing/2014/main" id="{8CCFB244-E0C8-487F-842E-52F6AE5BABF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4" name="Line 186">
              <a:extLst>
                <a:ext uri="{FF2B5EF4-FFF2-40B4-BE49-F238E27FC236}">
                  <a16:creationId xmlns:a16="http://schemas.microsoft.com/office/drawing/2014/main" id="{2BCF5B43-8EFC-4EA7-AB32-C928330EF1F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5" name="Line 187">
              <a:extLst>
                <a:ext uri="{FF2B5EF4-FFF2-40B4-BE49-F238E27FC236}">
                  <a16:creationId xmlns:a16="http://schemas.microsoft.com/office/drawing/2014/main" id="{ED7DEFBE-7D7C-4F45-82A4-9D159607369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76" name="Group 188">
            <a:extLst>
              <a:ext uri="{FF2B5EF4-FFF2-40B4-BE49-F238E27FC236}">
                <a16:creationId xmlns:a16="http://schemas.microsoft.com/office/drawing/2014/main" id="{9ACFA735-587F-4377-A3FD-670949FE8E66}"/>
              </a:ext>
              <a:ext uri="{C183D7F6-B498-43B3-948B-1728B52AA6E4}">
                <adec:decorative xmlns:adec="http://schemas.microsoft.com/office/drawing/2017/decorative" val="1"/>
              </a:ext>
            </a:extLst>
          </p:cNvPr>
          <p:cNvGrpSpPr>
            <a:grpSpLocks/>
          </p:cNvGrpSpPr>
          <p:nvPr/>
        </p:nvGrpSpPr>
        <p:grpSpPr bwMode="auto">
          <a:xfrm>
            <a:off x="5029200" y="2419350"/>
            <a:ext cx="457200" cy="152400"/>
            <a:chOff x="720" y="2352"/>
            <a:chExt cx="288" cy="96"/>
          </a:xfrm>
        </p:grpSpPr>
        <p:sp>
          <p:nvSpPr>
            <p:cNvPr id="177" name="Line 189">
              <a:extLst>
                <a:ext uri="{FF2B5EF4-FFF2-40B4-BE49-F238E27FC236}">
                  <a16:creationId xmlns:a16="http://schemas.microsoft.com/office/drawing/2014/main" id="{00D69090-72B7-4AE1-B680-0D9140D60EF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8" name="Line 190">
              <a:extLst>
                <a:ext uri="{FF2B5EF4-FFF2-40B4-BE49-F238E27FC236}">
                  <a16:creationId xmlns:a16="http://schemas.microsoft.com/office/drawing/2014/main" id="{7E91220E-7E80-4A3A-80AE-64EFFF28B87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9" name="Line 191">
              <a:extLst>
                <a:ext uri="{FF2B5EF4-FFF2-40B4-BE49-F238E27FC236}">
                  <a16:creationId xmlns:a16="http://schemas.microsoft.com/office/drawing/2014/main" id="{A47DEB3D-82B5-40F3-8D3D-8740C5CA3C4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80" name="Text Box 192">
            <a:extLst>
              <a:ext uri="{FF2B5EF4-FFF2-40B4-BE49-F238E27FC236}">
                <a16:creationId xmlns:a16="http://schemas.microsoft.com/office/drawing/2014/main" id="{9EC17585-8911-475C-B4D9-7D78E31ADE42}"/>
              </a:ext>
              <a:ext uri="{C183D7F6-B498-43B3-948B-1728B52AA6E4}">
                <adec:decorative xmlns:adec="http://schemas.microsoft.com/office/drawing/2017/decorative" val="1"/>
              </a:ext>
            </a:extLst>
          </p:cNvPr>
          <p:cNvSpPr txBox="1">
            <a:spLocks noChangeArrowheads="1"/>
          </p:cNvSpPr>
          <p:nvPr/>
        </p:nvSpPr>
        <p:spPr bwMode="auto">
          <a:xfrm>
            <a:off x="2362200" y="2190750"/>
            <a:ext cx="457200" cy="457200"/>
          </a:xfrm>
          <a:prstGeom prst="rect">
            <a:avLst/>
          </a:prstGeom>
          <a:noFill/>
          <a:ln w="9525">
            <a:noFill/>
            <a:miter lim="800000"/>
            <a:headEnd/>
            <a:tailEnd/>
          </a:ln>
        </p:spPr>
        <p:txBody>
          <a:bodyPr>
            <a:spAutoFit/>
          </a:bodyPr>
          <a:lstStyle/>
          <a:p>
            <a:pPr algn="ctr">
              <a:spcBef>
                <a:spcPct val="50000"/>
              </a:spcBef>
            </a:pPr>
            <a:r>
              <a:rPr lang="en-US" sz="2400" b="0" dirty="0">
                <a:solidFill>
                  <a:srgbClr val="000000"/>
                </a:solidFill>
                <a:latin typeface="Arial" pitchFamily="34" charset="0"/>
                <a:cs typeface="Arial" pitchFamily="34" charset="0"/>
              </a:rPr>
              <a:t>6</a:t>
            </a:r>
          </a:p>
        </p:txBody>
      </p:sp>
      <p:sp>
        <p:nvSpPr>
          <p:cNvPr id="181" name="Text Box 193">
            <a:extLst>
              <a:ext uri="{FF2B5EF4-FFF2-40B4-BE49-F238E27FC236}">
                <a16:creationId xmlns:a16="http://schemas.microsoft.com/office/drawing/2014/main" id="{251C0731-96A2-4ED6-B477-C02A66654BCF}"/>
              </a:ext>
              <a:ext uri="{C183D7F6-B498-43B3-948B-1728B52AA6E4}">
                <adec:decorative xmlns:adec="http://schemas.microsoft.com/office/drawing/2017/decorative" val="1"/>
              </a:ext>
            </a:extLst>
          </p:cNvPr>
          <p:cNvSpPr txBox="1">
            <a:spLocks noChangeArrowheads="1"/>
          </p:cNvSpPr>
          <p:nvPr/>
        </p:nvSpPr>
        <p:spPr bwMode="auto">
          <a:xfrm>
            <a:off x="2743200" y="2190750"/>
            <a:ext cx="685800" cy="457200"/>
          </a:xfrm>
          <a:prstGeom prst="rect">
            <a:avLst/>
          </a:prstGeom>
          <a:noFill/>
          <a:ln w="9525">
            <a:noFill/>
            <a:miter lim="800000"/>
            <a:headEnd/>
            <a:tailEnd/>
          </a:ln>
        </p:spPr>
        <p:txBody>
          <a:bodyPr>
            <a:spAutoFit/>
          </a:bodyPr>
          <a:lstStyle/>
          <a:p>
            <a:pPr algn="ctr">
              <a:spcBef>
                <a:spcPct val="50000"/>
              </a:spcBef>
            </a:pPr>
            <a:r>
              <a:rPr lang="en-US" sz="2400" b="0" dirty="0">
                <a:solidFill>
                  <a:srgbClr val="000000"/>
                </a:solidFill>
                <a:latin typeface="Arial" pitchFamily="34" charset="0"/>
                <a:cs typeface="Arial" pitchFamily="34" charset="0"/>
              </a:rPr>
              <a:t>13</a:t>
            </a:r>
          </a:p>
        </p:txBody>
      </p:sp>
      <p:sp>
        <p:nvSpPr>
          <p:cNvPr id="182" name="Text Box 194">
            <a:extLst>
              <a:ext uri="{FF2B5EF4-FFF2-40B4-BE49-F238E27FC236}">
                <a16:creationId xmlns:a16="http://schemas.microsoft.com/office/drawing/2014/main" id="{F66D763D-E057-41E3-B9CC-BC4623FE6EF9}"/>
              </a:ext>
              <a:ext uri="{C183D7F6-B498-43B3-948B-1728B52AA6E4}">
                <adec:decorative xmlns:adec="http://schemas.microsoft.com/office/drawing/2017/decorative" val="1"/>
              </a:ext>
            </a:extLst>
          </p:cNvPr>
          <p:cNvSpPr txBox="1">
            <a:spLocks noChangeArrowheads="1"/>
          </p:cNvSpPr>
          <p:nvPr/>
        </p:nvSpPr>
        <p:spPr bwMode="auto">
          <a:xfrm>
            <a:off x="3429000" y="2190750"/>
            <a:ext cx="457200" cy="457200"/>
          </a:xfrm>
          <a:prstGeom prst="rect">
            <a:avLst/>
          </a:prstGeom>
          <a:noFill/>
          <a:ln w="9525">
            <a:noFill/>
            <a:miter lim="800000"/>
            <a:headEnd/>
            <a:tailEnd/>
          </a:ln>
        </p:spPr>
        <p:txBody>
          <a:bodyPr>
            <a:spAutoFit/>
          </a:bodyPr>
          <a:lstStyle/>
          <a:p>
            <a:pPr algn="ctr">
              <a:spcBef>
                <a:spcPct val="50000"/>
              </a:spcBef>
            </a:pPr>
            <a:r>
              <a:rPr lang="en-US" sz="2400" b="0" dirty="0">
                <a:solidFill>
                  <a:srgbClr val="000000"/>
                </a:solidFill>
                <a:latin typeface="Arial" pitchFamily="34" charset="0"/>
                <a:cs typeface="Arial" pitchFamily="34" charset="0"/>
              </a:rPr>
              <a:t>8</a:t>
            </a:r>
          </a:p>
        </p:txBody>
      </p:sp>
      <p:sp>
        <p:nvSpPr>
          <p:cNvPr id="183" name="Text Box 195">
            <a:extLst>
              <a:ext uri="{FF2B5EF4-FFF2-40B4-BE49-F238E27FC236}">
                <a16:creationId xmlns:a16="http://schemas.microsoft.com/office/drawing/2014/main" id="{03A39C99-0CC7-4E63-A1DA-0BB07F4D7DE3}"/>
              </a:ext>
              <a:ext uri="{C183D7F6-B498-43B3-948B-1728B52AA6E4}">
                <adec:decorative xmlns:adec="http://schemas.microsoft.com/office/drawing/2017/decorative" val="1"/>
              </a:ext>
            </a:extLst>
          </p:cNvPr>
          <p:cNvSpPr txBox="1">
            <a:spLocks noChangeArrowheads="1"/>
          </p:cNvSpPr>
          <p:nvPr/>
        </p:nvSpPr>
        <p:spPr bwMode="auto">
          <a:xfrm>
            <a:off x="39624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184" name="Text Box 196">
            <a:extLst>
              <a:ext uri="{FF2B5EF4-FFF2-40B4-BE49-F238E27FC236}">
                <a16:creationId xmlns:a16="http://schemas.microsoft.com/office/drawing/2014/main" id="{E2F2F7C0-36C1-4756-946A-D7BB0E338575}"/>
              </a:ext>
              <a:ext uri="{C183D7F6-B498-43B3-948B-1728B52AA6E4}">
                <adec:decorative xmlns:adec="http://schemas.microsoft.com/office/drawing/2017/decorative" val="1"/>
              </a:ext>
            </a:extLst>
          </p:cNvPr>
          <p:cNvSpPr txBox="1">
            <a:spLocks noChangeArrowheads="1"/>
          </p:cNvSpPr>
          <p:nvPr/>
        </p:nvSpPr>
        <p:spPr bwMode="auto">
          <a:xfrm>
            <a:off x="44958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185" name="Text Box 197">
            <a:extLst>
              <a:ext uri="{FF2B5EF4-FFF2-40B4-BE49-F238E27FC236}">
                <a16:creationId xmlns:a16="http://schemas.microsoft.com/office/drawing/2014/main" id="{F97CD7FB-2FEA-4C66-A861-5D9DFFE4E747}"/>
              </a:ext>
              <a:ext uri="{C183D7F6-B498-43B3-948B-1728B52AA6E4}">
                <adec:decorative xmlns:adec="http://schemas.microsoft.com/office/drawing/2017/decorative" val="1"/>
              </a:ext>
            </a:extLst>
          </p:cNvPr>
          <p:cNvSpPr txBox="1">
            <a:spLocks noChangeArrowheads="1"/>
          </p:cNvSpPr>
          <p:nvPr/>
        </p:nvSpPr>
        <p:spPr bwMode="auto">
          <a:xfrm>
            <a:off x="4876800" y="219075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p>
        </p:txBody>
      </p:sp>
      <p:sp>
        <p:nvSpPr>
          <p:cNvPr id="186" name="Line 198">
            <a:extLst>
              <a:ext uri="{FF2B5EF4-FFF2-40B4-BE49-F238E27FC236}">
                <a16:creationId xmlns:a16="http://schemas.microsoft.com/office/drawing/2014/main" id="{6E234937-1E72-4BD7-8418-6EDEA6DCE80D}"/>
              </a:ext>
              <a:ext uri="{C183D7F6-B498-43B3-948B-1728B52AA6E4}">
                <adec:decorative xmlns:adec="http://schemas.microsoft.com/office/drawing/2017/decorative" val="1"/>
              </a:ext>
            </a:extLst>
          </p:cNvPr>
          <p:cNvSpPr>
            <a:spLocks noChangeShapeType="1"/>
          </p:cNvSpPr>
          <p:nvPr/>
        </p:nvSpPr>
        <p:spPr bwMode="auto">
          <a:xfrm flipV="1">
            <a:off x="6127750" y="2636838"/>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187" name="Group 199">
            <a:extLst>
              <a:ext uri="{FF2B5EF4-FFF2-40B4-BE49-F238E27FC236}">
                <a16:creationId xmlns:a16="http://schemas.microsoft.com/office/drawing/2014/main" id="{848DC9EA-369A-4CF1-8DDD-4C398F9B2531}"/>
              </a:ext>
              <a:ext uri="{C183D7F6-B498-43B3-948B-1728B52AA6E4}">
                <adec:decorative xmlns:adec="http://schemas.microsoft.com/office/drawing/2017/decorative" val="1"/>
              </a:ext>
            </a:extLst>
          </p:cNvPr>
          <p:cNvGrpSpPr>
            <a:grpSpLocks/>
          </p:cNvGrpSpPr>
          <p:nvPr/>
        </p:nvGrpSpPr>
        <p:grpSpPr bwMode="auto">
          <a:xfrm>
            <a:off x="5562600" y="2419350"/>
            <a:ext cx="457200" cy="152400"/>
            <a:chOff x="720" y="2352"/>
            <a:chExt cx="288" cy="96"/>
          </a:xfrm>
        </p:grpSpPr>
        <p:sp>
          <p:nvSpPr>
            <p:cNvPr id="188" name="Line 200">
              <a:extLst>
                <a:ext uri="{FF2B5EF4-FFF2-40B4-BE49-F238E27FC236}">
                  <a16:creationId xmlns:a16="http://schemas.microsoft.com/office/drawing/2014/main" id="{9E54BE0D-F0E6-4194-88AD-B4AE9B215BF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89" name="Line 201">
              <a:extLst>
                <a:ext uri="{FF2B5EF4-FFF2-40B4-BE49-F238E27FC236}">
                  <a16:creationId xmlns:a16="http://schemas.microsoft.com/office/drawing/2014/main" id="{89C7220E-8ED9-49AA-9621-A781097EEA9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0" name="Line 202">
              <a:extLst>
                <a:ext uri="{FF2B5EF4-FFF2-40B4-BE49-F238E27FC236}">
                  <a16:creationId xmlns:a16="http://schemas.microsoft.com/office/drawing/2014/main" id="{85994D69-55C9-481E-B626-3EA925C3790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91" name="Text Box 203">
            <a:extLst>
              <a:ext uri="{FF2B5EF4-FFF2-40B4-BE49-F238E27FC236}">
                <a16:creationId xmlns:a16="http://schemas.microsoft.com/office/drawing/2014/main" id="{1B5AD0F5-2C93-4F71-ACDD-2C403BAF1B5E}"/>
              </a:ext>
              <a:ext uri="{C183D7F6-B498-43B3-948B-1728B52AA6E4}">
                <adec:decorative xmlns:adec="http://schemas.microsoft.com/office/drawing/2017/decorative" val="1"/>
              </a:ext>
            </a:extLst>
          </p:cNvPr>
          <p:cNvSpPr txBox="1">
            <a:spLocks noChangeArrowheads="1"/>
          </p:cNvSpPr>
          <p:nvPr/>
        </p:nvSpPr>
        <p:spPr bwMode="auto">
          <a:xfrm>
            <a:off x="5486400" y="219075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192" name="Text Box 204">
            <a:extLst>
              <a:ext uri="{FF2B5EF4-FFF2-40B4-BE49-F238E27FC236}">
                <a16:creationId xmlns:a16="http://schemas.microsoft.com/office/drawing/2014/main" id="{86473E7F-77B1-4F7D-8CCE-7907DF696A9A}"/>
              </a:ext>
              <a:ext uri="{C183D7F6-B498-43B3-948B-1728B52AA6E4}">
                <adec:decorative xmlns:adec="http://schemas.microsoft.com/office/drawing/2017/decorative" val="1"/>
              </a:ext>
            </a:extLst>
          </p:cNvPr>
          <p:cNvSpPr txBox="1">
            <a:spLocks noChangeArrowheads="1"/>
          </p:cNvSpPr>
          <p:nvPr/>
        </p:nvSpPr>
        <p:spPr bwMode="auto">
          <a:xfrm>
            <a:off x="5943600" y="2636838"/>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193" name="Line 206">
            <a:extLst>
              <a:ext uri="{FF2B5EF4-FFF2-40B4-BE49-F238E27FC236}">
                <a16:creationId xmlns:a16="http://schemas.microsoft.com/office/drawing/2014/main" id="{98D5C7CD-0506-44C2-95D5-04F7E7AEB473}"/>
              </a:ext>
              <a:ext uri="{C183D7F6-B498-43B3-948B-1728B52AA6E4}">
                <adec:decorative xmlns:adec="http://schemas.microsoft.com/office/drawing/2017/decorative" val="1"/>
              </a:ext>
            </a:extLst>
          </p:cNvPr>
          <p:cNvSpPr>
            <a:spLocks noChangeShapeType="1"/>
          </p:cNvSpPr>
          <p:nvPr/>
        </p:nvSpPr>
        <p:spPr bwMode="auto">
          <a:xfrm>
            <a:off x="23812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4" name="Line 207">
            <a:extLst>
              <a:ext uri="{FF2B5EF4-FFF2-40B4-BE49-F238E27FC236}">
                <a16:creationId xmlns:a16="http://schemas.microsoft.com/office/drawing/2014/main" id="{2FD0C5EF-7C50-4972-921A-D7E98312E956}"/>
              </a:ext>
              <a:ext uri="{C183D7F6-B498-43B3-948B-1728B52AA6E4}">
                <adec:decorative xmlns:adec="http://schemas.microsoft.com/office/drawing/2017/decorative" val="1"/>
              </a:ext>
            </a:extLst>
          </p:cNvPr>
          <p:cNvSpPr>
            <a:spLocks noChangeShapeType="1"/>
          </p:cNvSpPr>
          <p:nvPr/>
        </p:nvSpPr>
        <p:spPr bwMode="auto">
          <a:xfrm>
            <a:off x="2381250" y="6105525"/>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5" name="Line 208">
            <a:extLst>
              <a:ext uri="{FF2B5EF4-FFF2-40B4-BE49-F238E27FC236}">
                <a16:creationId xmlns:a16="http://schemas.microsoft.com/office/drawing/2014/main" id="{C6297EA4-B422-473F-ABC8-6A0C8DF076BB}"/>
              </a:ext>
              <a:ext uri="{C183D7F6-B498-43B3-948B-1728B52AA6E4}">
                <adec:decorative xmlns:adec="http://schemas.microsoft.com/office/drawing/2017/decorative" val="1"/>
              </a:ext>
            </a:extLst>
          </p:cNvPr>
          <p:cNvSpPr>
            <a:spLocks noChangeShapeType="1"/>
          </p:cNvSpPr>
          <p:nvPr/>
        </p:nvSpPr>
        <p:spPr bwMode="auto">
          <a:xfrm>
            <a:off x="28384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96" name="Group 209">
            <a:extLst>
              <a:ext uri="{FF2B5EF4-FFF2-40B4-BE49-F238E27FC236}">
                <a16:creationId xmlns:a16="http://schemas.microsoft.com/office/drawing/2014/main" id="{106CE79D-9E56-4255-8D36-D1E7AC88DBBD}"/>
              </a:ext>
              <a:ext uri="{C183D7F6-B498-43B3-948B-1728B52AA6E4}">
                <adec:decorative xmlns:adec="http://schemas.microsoft.com/office/drawing/2017/decorative" val="1"/>
              </a:ext>
            </a:extLst>
          </p:cNvPr>
          <p:cNvGrpSpPr>
            <a:grpSpLocks/>
          </p:cNvGrpSpPr>
          <p:nvPr/>
        </p:nvGrpSpPr>
        <p:grpSpPr bwMode="auto">
          <a:xfrm>
            <a:off x="2381250" y="5953125"/>
            <a:ext cx="457200" cy="152400"/>
            <a:chOff x="720" y="2352"/>
            <a:chExt cx="288" cy="96"/>
          </a:xfrm>
        </p:grpSpPr>
        <p:sp>
          <p:nvSpPr>
            <p:cNvPr id="197" name="Line 210">
              <a:extLst>
                <a:ext uri="{FF2B5EF4-FFF2-40B4-BE49-F238E27FC236}">
                  <a16:creationId xmlns:a16="http://schemas.microsoft.com/office/drawing/2014/main" id="{41030145-B0BA-4D0C-B68B-A56422E236B8}"/>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8" name="Line 211">
              <a:extLst>
                <a:ext uri="{FF2B5EF4-FFF2-40B4-BE49-F238E27FC236}">
                  <a16:creationId xmlns:a16="http://schemas.microsoft.com/office/drawing/2014/main" id="{BAA7FD08-50ED-42C1-A620-F1D370E20C0C}"/>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9" name="Line 212">
              <a:extLst>
                <a:ext uri="{FF2B5EF4-FFF2-40B4-BE49-F238E27FC236}">
                  <a16:creationId xmlns:a16="http://schemas.microsoft.com/office/drawing/2014/main" id="{0B2765B6-4D48-43E1-967F-28C79C24D13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0" name="Group 213">
            <a:extLst>
              <a:ext uri="{FF2B5EF4-FFF2-40B4-BE49-F238E27FC236}">
                <a16:creationId xmlns:a16="http://schemas.microsoft.com/office/drawing/2014/main" id="{4F070670-EF9F-4B83-AA6C-C778A5B254BD}"/>
              </a:ext>
              <a:ext uri="{C183D7F6-B498-43B3-948B-1728B52AA6E4}">
                <adec:decorative xmlns:adec="http://schemas.microsoft.com/office/drawing/2017/decorative" val="1"/>
              </a:ext>
            </a:extLst>
          </p:cNvPr>
          <p:cNvGrpSpPr>
            <a:grpSpLocks/>
          </p:cNvGrpSpPr>
          <p:nvPr/>
        </p:nvGrpSpPr>
        <p:grpSpPr bwMode="auto">
          <a:xfrm>
            <a:off x="2914650" y="5953125"/>
            <a:ext cx="457200" cy="152400"/>
            <a:chOff x="720" y="2352"/>
            <a:chExt cx="288" cy="96"/>
          </a:xfrm>
        </p:grpSpPr>
        <p:sp>
          <p:nvSpPr>
            <p:cNvPr id="201" name="Line 214">
              <a:extLst>
                <a:ext uri="{FF2B5EF4-FFF2-40B4-BE49-F238E27FC236}">
                  <a16:creationId xmlns:a16="http://schemas.microsoft.com/office/drawing/2014/main" id="{DDF79387-A651-422F-9B1B-93D507F791D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2" name="Line 215">
              <a:extLst>
                <a:ext uri="{FF2B5EF4-FFF2-40B4-BE49-F238E27FC236}">
                  <a16:creationId xmlns:a16="http://schemas.microsoft.com/office/drawing/2014/main" id="{391EDA8E-00FB-45C3-8D5F-86281C81B31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3" name="Line 216">
              <a:extLst>
                <a:ext uri="{FF2B5EF4-FFF2-40B4-BE49-F238E27FC236}">
                  <a16:creationId xmlns:a16="http://schemas.microsoft.com/office/drawing/2014/main" id="{EB2EAE57-141D-42D0-85D5-4A77D035733A}"/>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4" name="Group 217">
            <a:extLst>
              <a:ext uri="{FF2B5EF4-FFF2-40B4-BE49-F238E27FC236}">
                <a16:creationId xmlns:a16="http://schemas.microsoft.com/office/drawing/2014/main" id="{EA5C9C9D-5738-4FBC-BDED-5125C3D81728}"/>
              </a:ext>
              <a:ext uri="{C183D7F6-B498-43B3-948B-1728B52AA6E4}">
                <adec:decorative xmlns:adec="http://schemas.microsoft.com/office/drawing/2017/decorative" val="1"/>
              </a:ext>
            </a:extLst>
          </p:cNvPr>
          <p:cNvGrpSpPr>
            <a:grpSpLocks/>
          </p:cNvGrpSpPr>
          <p:nvPr/>
        </p:nvGrpSpPr>
        <p:grpSpPr bwMode="auto">
          <a:xfrm>
            <a:off x="3448050" y="5953125"/>
            <a:ext cx="457200" cy="152400"/>
            <a:chOff x="720" y="2352"/>
            <a:chExt cx="288" cy="96"/>
          </a:xfrm>
        </p:grpSpPr>
        <p:sp>
          <p:nvSpPr>
            <p:cNvPr id="205" name="Line 218">
              <a:extLst>
                <a:ext uri="{FF2B5EF4-FFF2-40B4-BE49-F238E27FC236}">
                  <a16:creationId xmlns:a16="http://schemas.microsoft.com/office/drawing/2014/main" id="{1FF1A742-8312-46D5-8F50-E8CFF1D5978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6" name="Line 219">
              <a:extLst>
                <a:ext uri="{FF2B5EF4-FFF2-40B4-BE49-F238E27FC236}">
                  <a16:creationId xmlns:a16="http://schemas.microsoft.com/office/drawing/2014/main" id="{E8AC8101-7675-4381-8A20-A935D8E5DDB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7" name="Line 220">
              <a:extLst>
                <a:ext uri="{FF2B5EF4-FFF2-40B4-BE49-F238E27FC236}">
                  <a16:creationId xmlns:a16="http://schemas.microsoft.com/office/drawing/2014/main" id="{74DC7C9C-E1DF-4E35-8C21-FD6602FD15E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08" name="Line 221">
            <a:extLst>
              <a:ext uri="{FF2B5EF4-FFF2-40B4-BE49-F238E27FC236}">
                <a16:creationId xmlns:a16="http://schemas.microsoft.com/office/drawing/2014/main" id="{B36527F6-C662-4CBA-A33C-9249303C00D6}"/>
              </a:ext>
              <a:ext uri="{C183D7F6-B498-43B3-948B-1728B52AA6E4}">
                <adec:decorative xmlns:adec="http://schemas.microsoft.com/office/drawing/2017/decorative" val="1"/>
              </a:ext>
            </a:extLst>
          </p:cNvPr>
          <p:cNvSpPr>
            <a:spLocks noChangeShapeType="1"/>
          </p:cNvSpPr>
          <p:nvPr/>
        </p:nvSpPr>
        <p:spPr bwMode="auto">
          <a:xfrm>
            <a:off x="39814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9" name="Line 222">
            <a:extLst>
              <a:ext uri="{FF2B5EF4-FFF2-40B4-BE49-F238E27FC236}">
                <a16:creationId xmlns:a16="http://schemas.microsoft.com/office/drawing/2014/main" id="{837526B7-AC44-43DC-B8B3-3C9D4A0DA318}"/>
              </a:ext>
              <a:ext uri="{C183D7F6-B498-43B3-948B-1728B52AA6E4}">
                <adec:decorative xmlns:adec="http://schemas.microsoft.com/office/drawing/2017/decorative" val="1"/>
              </a:ext>
            </a:extLst>
          </p:cNvPr>
          <p:cNvSpPr>
            <a:spLocks noChangeShapeType="1"/>
          </p:cNvSpPr>
          <p:nvPr/>
        </p:nvSpPr>
        <p:spPr bwMode="auto">
          <a:xfrm>
            <a:off x="3981450" y="6105525"/>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0" name="Line 223">
            <a:extLst>
              <a:ext uri="{FF2B5EF4-FFF2-40B4-BE49-F238E27FC236}">
                <a16:creationId xmlns:a16="http://schemas.microsoft.com/office/drawing/2014/main" id="{9F5BBF3B-CAFA-414D-9360-AC101786CE65}"/>
              </a:ext>
              <a:ext uri="{C183D7F6-B498-43B3-948B-1728B52AA6E4}">
                <adec:decorative xmlns:adec="http://schemas.microsoft.com/office/drawing/2017/decorative" val="1"/>
              </a:ext>
            </a:extLst>
          </p:cNvPr>
          <p:cNvSpPr>
            <a:spLocks noChangeShapeType="1"/>
          </p:cNvSpPr>
          <p:nvPr/>
        </p:nvSpPr>
        <p:spPr bwMode="auto">
          <a:xfrm>
            <a:off x="44386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11" name="Group 224">
            <a:extLst>
              <a:ext uri="{FF2B5EF4-FFF2-40B4-BE49-F238E27FC236}">
                <a16:creationId xmlns:a16="http://schemas.microsoft.com/office/drawing/2014/main" id="{7D2CC65F-FD76-4F93-A5E8-D032B9F355A4}"/>
              </a:ext>
              <a:ext uri="{C183D7F6-B498-43B3-948B-1728B52AA6E4}">
                <adec:decorative xmlns:adec="http://schemas.microsoft.com/office/drawing/2017/decorative" val="1"/>
              </a:ext>
            </a:extLst>
          </p:cNvPr>
          <p:cNvGrpSpPr>
            <a:grpSpLocks/>
          </p:cNvGrpSpPr>
          <p:nvPr/>
        </p:nvGrpSpPr>
        <p:grpSpPr bwMode="auto">
          <a:xfrm>
            <a:off x="3981450" y="5953125"/>
            <a:ext cx="457200" cy="152400"/>
            <a:chOff x="720" y="2352"/>
            <a:chExt cx="288" cy="96"/>
          </a:xfrm>
        </p:grpSpPr>
        <p:sp>
          <p:nvSpPr>
            <p:cNvPr id="212" name="Line 225">
              <a:extLst>
                <a:ext uri="{FF2B5EF4-FFF2-40B4-BE49-F238E27FC236}">
                  <a16:creationId xmlns:a16="http://schemas.microsoft.com/office/drawing/2014/main" id="{3C7E9FA0-536F-4E69-BE70-7B3295E3565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3" name="Line 226">
              <a:extLst>
                <a:ext uri="{FF2B5EF4-FFF2-40B4-BE49-F238E27FC236}">
                  <a16:creationId xmlns:a16="http://schemas.microsoft.com/office/drawing/2014/main" id="{A6638F5A-26C7-497E-9E49-20F034DEA33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4" name="Line 227">
              <a:extLst>
                <a:ext uri="{FF2B5EF4-FFF2-40B4-BE49-F238E27FC236}">
                  <a16:creationId xmlns:a16="http://schemas.microsoft.com/office/drawing/2014/main" id="{F1DEA28E-29DB-459B-88D6-AF9AC656385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15" name="Group 228">
            <a:extLst>
              <a:ext uri="{FF2B5EF4-FFF2-40B4-BE49-F238E27FC236}">
                <a16:creationId xmlns:a16="http://schemas.microsoft.com/office/drawing/2014/main" id="{097DD1E0-2FA4-45B0-A7D4-1ACBE5A673DC}"/>
              </a:ext>
              <a:ext uri="{C183D7F6-B498-43B3-948B-1728B52AA6E4}">
                <adec:decorative xmlns:adec="http://schemas.microsoft.com/office/drawing/2017/decorative" val="1"/>
              </a:ext>
            </a:extLst>
          </p:cNvPr>
          <p:cNvGrpSpPr>
            <a:grpSpLocks/>
          </p:cNvGrpSpPr>
          <p:nvPr/>
        </p:nvGrpSpPr>
        <p:grpSpPr bwMode="auto">
          <a:xfrm>
            <a:off x="4514850" y="5953125"/>
            <a:ext cx="457200" cy="152400"/>
            <a:chOff x="720" y="2352"/>
            <a:chExt cx="288" cy="96"/>
          </a:xfrm>
        </p:grpSpPr>
        <p:sp>
          <p:nvSpPr>
            <p:cNvPr id="216" name="Line 229">
              <a:extLst>
                <a:ext uri="{FF2B5EF4-FFF2-40B4-BE49-F238E27FC236}">
                  <a16:creationId xmlns:a16="http://schemas.microsoft.com/office/drawing/2014/main" id="{79970CC8-0A82-4267-935C-FF82267F6B4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7" name="Line 230">
              <a:extLst>
                <a:ext uri="{FF2B5EF4-FFF2-40B4-BE49-F238E27FC236}">
                  <a16:creationId xmlns:a16="http://schemas.microsoft.com/office/drawing/2014/main" id="{55420132-3DCD-452E-873F-7372781E4A2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8" name="Line 231">
              <a:extLst>
                <a:ext uri="{FF2B5EF4-FFF2-40B4-BE49-F238E27FC236}">
                  <a16:creationId xmlns:a16="http://schemas.microsoft.com/office/drawing/2014/main" id="{08BDFA1E-3DC5-429C-91AC-8BBC2B6C76B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19" name="Group 232">
            <a:extLst>
              <a:ext uri="{FF2B5EF4-FFF2-40B4-BE49-F238E27FC236}">
                <a16:creationId xmlns:a16="http://schemas.microsoft.com/office/drawing/2014/main" id="{83E76318-B64D-4851-9FCC-99E6D452823C}"/>
              </a:ext>
              <a:ext uri="{C183D7F6-B498-43B3-948B-1728B52AA6E4}">
                <adec:decorative xmlns:adec="http://schemas.microsoft.com/office/drawing/2017/decorative" val="1"/>
              </a:ext>
            </a:extLst>
          </p:cNvPr>
          <p:cNvGrpSpPr>
            <a:grpSpLocks/>
          </p:cNvGrpSpPr>
          <p:nvPr/>
        </p:nvGrpSpPr>
        <p:grpSpPr bwMode="auto">
          <a:xfrm>
            <a:off x="5048250" y="5953125"/>
            <a:ext cx="457200" cy="152400"/>
            <a:chOff x="720" y="2352"/>
            <a:chExt cx="288" cy="96"/>
          </a:xfrm>
        </p:grpSpPr>
        <p:sp>
          <p:nvSpPr>
            <p:cNvPr id="220" name="Line 233">
              <a:extLst>
                <a:ext uri="{FF2B5EF4-FFF2-40B4-BE49-F238E27FC236}">
                  <a16:creationId xmlns:a16="http://schemas.microsoft.com/office/drawing/2014/main" id="{103F67A8-8458-4D76-A832-04096034E02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1" name="Line 234">
              <a:extLst>
                <a:ext uri="{FF2B5EF4-FFF2-40B4-BE49-F238E27FC236}">
                  <a16:creationId xmlns:a16="http://schemas.microsoft.com/office/drawing/2014/main" id="{DE7E237A-5823-4242-AC74-15171AC58E52}"/>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2" name="Line 235">
              <a:extLst>
                <a:ext uri="{FF2B5EF4-FFF2-40B4-BE49-F238E27FC236}">
                  <a16:creationId xmlns:a16="http://schemas.microsoft.com/office/drawing/2014/main" id="{8691BF7E-5253-497B-8CAE-509E21296C9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23" name="Text Box 236">
            <a:extLst>
              <a:ext uri="{FF2B5EF4-FFF2-40B4-BE49-F238E27FC236}">
                <a16:creationId xmlns:a16="http://schemas.microsoft.com/office/drawing/2014/main" id="{EC7986D0-FADD-4AEA-999A-6B3C5FA688E7}"/>
              </a:ext>
              <a:ext uri="{C183D7F6-B498-43B3-948B-1728B52AA6E4}">
                <adec:decorative xmlns:adec="http://schemas.microsoft.com/office/drawing/2017/decorative" val="1"/>
              </a:ext>
            </a:extLst>
          </p:cNvPr>
          <p:cNvSpPr txBox="1">
            <a:spLocks noChangeArrowheads="1"/>
          </p:cNvSpPr>
          <p:nvPr/>
        </p:nvSpPr>
        <p:spPr bwMode="auto">
          <a:xfrm>
            <a:off x="23812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sp>
        <p:nvSpPr>
          <p:cNvPr id="224" name="Text Box 237">
            <a:extLst>
              <a:ext uri="{FF2B5EF4-FFF2-40B4-BE49-F238E27FC236}">
                <a16:creationId xmlns:a16="http://schemas.microsoft.com/office/drawing/2014/main" id="{F2DA8F6E-C3A5-4F29-90FD-6096D3B9D2E4}"/>
              </a:ext>
              <a:ext uri="{C183D7F6-B498-43B3-948B-1728B52AA6E4}">
                <adec:decorative xmlns:adec="http://schemas.microsoft.com/office/drawing/2017/decorative" val="1"/>
              </a:ext>
            </a:extLst>
          </p:cNvPr>
          <p:cNvSpPr txBox="1">
            <a:spLocks noChangeArrowheads="1"/>
          </p:cNvSpPr>
          <p:nvPr/>
        </p:nvSpPr>
        <p:spPr bwMode="auto">
          <a:xfrm>
            <a:off x="5429250" y="5724525"/>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225" name="Text Box 238">
            <a:extLst>
              <a:ext uri="{FF2B5EF4-FFF2-40B4-BE49-F238E27FC236}">
                <a16:creationId xmlns:a16="http://schemas.microsoft.com/office/drawing/2014/main" id="{DC7DFFF0-3623-4B0A-BFBB-084AB0A47648}"/>
              </a:ext>
              <a:ext uri="{C183D7F6-B498-43B3-948B-1728B52AA6E4}">
                <adec:decorative xmlns:adec="http://schemas.microsoft.com/office/drawing/2017/decorative" val="1"/>
              </a:ext>
            </a:extLst>
          </p:cNvPr>
          <p:cNvSpPr txBox="1">
            <a:spLocks noChangeArrowheads="1"/>
          </p:cNvSpPr>
          <p:nvPr/>
        </p:nvSpPr>
        <p:spPr bwMode="auto">
          <a:xfrm>
            <a:off x="34480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226" name="Text Box 239">
            <a:extLst>
              <a:ext uri="{FF2B5EF4-FFF2-40B4-BE49-F238E27FC236}">
                <a16:creationId xmlns:a16="http://schemas.microsoft.com/office/drawing/2014/main" id="{4B704CFF-01F8-4093-AAE5-A2A893AE44C5}"/>
              </a:ext>
              <a:ext uri="{C183D7F6-B498-43B3-948B-1728B52AA6E4}">
                <adec:decorative xmlns:adec="http://schemas.microsoft.com/office/drawing/2017/decorative" val="1"/>
              </a:ext>
            </a:extLst>
          </p:cNvPr>
          <p:cNvSpPr txBox="1">
            <a:spLocks noChangeArrowheads="1"/>
          </p:cNvSpPr>
          <p:nvPr/>
        </p:nvSpPr>
        <p:spPr bwMode="auto">
          <a:xfrm>
            <a:off x="39814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227" name="Text Box 240">
            <a:extLst>
              <a:ext uri="{FF2B5EF4-FFF2-40B4-BE49-F238E27FC236}">
                <a16:creationId xmlns:a16="http://schemas.microsoft.com/office/drawing/2014/main" id="{F28C555D-1521-4F90-9BE8-3C5F6E662008}"/>
              </a:ext>
              <a:ext uri="{C183D7F6-B498-43B3-948B-1728B52AA6E4}">
                <adec:decorative xmlns:adec="http://schemas.microsoft.com/office/drawing/2017/decorative" val="1"/>
              </a:ext>
            </a:extLst>
          </p:cNvPr>
          <p:cNvSpPr txBox="1">
            <a:spLocks noChangeArrowheads="1"/>
          </p:cNvSpPr>
          <p:nvPr/>
        </p:nvSpPr>
        <p:spPr bwMode="auto">
          <a:xfrm>
            <a:off x="45148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228" name="Text Box 241">
            <a:extLst>
              <a:ext uri="{FF2B5EF4-FFF2-40B4-BE49-F238E27FC236}">
                <a16:creationId xmlns:a16="http://schemas.microsoft.com/office/drawing/2014/main" id="{825C7840-761C-492D-9DD4-56EAC70EF28F}"/>
              </a:ext>
              <a:ext uri="{C183D7F6-B498-43B3-948B-1728B52AA6E4}">
                <adec:decorative xmlns:adec="http://schemas.microsoft.com/office/drawing/2017/decorative" val="1"/>
              </a:ext>
            </a:extLst>
          </p:cNvPr>
          <p:cNvSpPr txBox="1">
            <a:spLocks noChangeArrowheads="1"/>
          </p:cNvSpPr>
          <p:nvPr/>
        </p:nvSpPr>
        <p:spPr bwMode="auto">
          <a:xfrm>
            <a:off x="4895850" y="5724525"/>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6</a:t>
            </a:r>
          </a:p>
        </p:txBody>
      </p:sp>
      <p:sp>
        <p:nvSpPr>
          <p:cNvPr id="229" name="Line 242">
            <a:extLst>
              <a:ext uri="{FF2B5EF4-FFF2-40B4-BE49-F238E27FC236}">
                <a16:creationId xmlns:a16="http://schemas.microsoft.com/office/drawing/2014/main" id="{603A87A6-70FF-4C1A-923C-9A2F45413D70}"/>
              </a:ext>
              <a:ext uri="{C183D7F6-B498-43B3-948B-1728B52AA6E4}">
                <adec:decorative xmlns:adec="http://schemas.microsoft.com/office/drawing/2017/decorative" val="1"/>
              </a:ext>
            </a:extLst>
          </p:cNvPr>
          <p:cNvSpPr>
            <a:spLocks noChangeShapeType="1"/>
          </p:cNvSpPr>
          <p:nvPr/>
        </p:nvSpPr>
        <p:spPr bwMode="auto">
          <a:xfrm flipV="1">
            <a:off x="6096000" y="6181725"/>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230" name="Group 243">
            <a:extLst>
              <a:ext uri="{FF2B5EF4-FFF2-40B4-BE49-F238E27FC236}">
                <a16:creationId xmlns:a16="http://schemas.microsoft.com/office/drawing/2014/main" id="{F0F46DAA-A4DE-4C42-8BA4-C6D78159D2FF}"/>
              </a:ext>
              <a:ext uri="{C183D7F6-B498-43B3-948B-1728B52AA6E4}">
                <adec:decorative xmlns:adec="http://schemas.microsoft.com/office/drawing/2017/decorative" val="1"/>
              </a:ext>
            </a:extLst>
          </p:cNvPr>
          <p:cNvGrpSpPr>
            <a:grpSpLocks/>
          </p:cNvGrpSpPr>
          <p:nvPr/>
        </p:nvGrpSpPr>
        <p:grpSpPr bwMode="auto">
          <a:xfrm>
            <a:off x="5581650" y="5953125"/>
            <a:ext cx="457200" cy="152400"/>
            <a:chOff x="720" y="2352"/>
            <a:chExt cx="288" cy="96"/>
          </a:xfrm>
        </p:grpSpPr>
        <p:sp>
          <p:nvSpPr>
            <p:cNvPr id="231" name="Line 244">
              <a:extLst>
                <a:ext uri="{FF2B5EF4-FFF2-40B4-BE49-F238E27FC236}">
                  <a16:creationId xmlns:a16="http://schemas.microsoft.com/office/drawing/2014/main" id="{214980D8-B5BD-4694-B9E7-EA4B24AE5B9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2" name="Line 245">
              <a:extLst>
                <a:ext uri="{FF2B5EF4-FFF2-40B4-BE49-F238E27FC236}">
                  <a16:creationId xmlns:a16="http://schemas.microsoft.com/office/drawing/2014/main" id="{D7317DAE-D920-4581-9648-9667F07E209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3" name="Line 246">
              <a:extLst>
                <a:ext uri="{FF2B5EF4-FFF2-40B4-BE49-F238E27FC236}">
                  <a16:creationId xmlns:a16="http://schemas.microsoft.com/office/drawing/2014/main" id="{BAC2DABA-8B55-4265-BFE9-C3DD26AFA4B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34" name="Text Box 247">
            <a:extLst>
              <a:ext uri="{FF2B5EF4-FFF2-40B4-BE49-F238E27FC236}">
                <a16:creationId xmlns:a16="http://schemas.microsoft.com/office/drawing/2014/main" id="{ABF04B3E-70CE-4BAE-A360-1BFB044D01CC}"/>
              </a:ext>
              <a:ext uri="{C183D7F6-B498-43B3-948B-1728B52AA6E4}">
                <adec:decorative xmlns:adec="http://schemas.microsoft.com/office/drawing/2017/decorative" val="1"/>
              </a:ext>
            </a:extLst>
          </p:cNvPr>
          <p:cNvSpPr txBox="1">
            <a:spLocks noChangeArrowheads="1"/>
          </p:cNvSpPr>
          <p:nvPr/>
        </p:nvSpPr>
        <p:spPr bwMode="auto">
          <a:xfrm>
            <a:off x="2838450" y="5724525"/>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235" name="Text Box 248">
            <a:extLst>
              <a:ext uri="{FF2B5EF4-FFF2-40B4-BE49-F238E27FC236}">
                <a16:creationId xmlns:a16="http://schemas.microsoft.com/office/drawing/2014/main" id="{3CF07B41-480A-4B83-9389-C41B872A3895}"/>
              </a:ext>
              <a:ext uri="{C183D7F6-B498-43B3-948B-1728B52AA6E4}">
                <adec:decorative xmlns:adec="http://schemas.microsoft.com/office/drawing/2017/decorative" val="1"/>
              </a:ext>
            </a:extLst>
          </p:cNvPr>
          <p:cNvSpPr txBox="1">
            <a:spLocks noChangeArrowheads="1"/>
          </p:cNvSpPr>
          <p:nvPr/>
        </p:nvSpPr>
        <p:spPr bwMode="auto">
          <a:xfrm>
            <a:off x="5911850" y="616585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236" name="Line 251">
            <a:extLst>
              <a:ext uri="{FF2B5EF4-FFF2-40B4-BE49-F238E27FC236}">
                <a16:creationId xmlns:a16="http://schemas.microsoft.com/office/drawing/2014/main" id="{104AE732-A808-48DF-A413-FC131C029D26}"/>
              </a:ext>
              <a:ext uri="{C183D7F6-B498-43B3-948B-1728B52AA6E4}">
                <adec:decorative xmlns:adec="http://schemas.microsoft.com/office/drawing/2017/decorative" val="1"/>
              </a:ext>
            </a:extLst>
          </p:cNvPr>
          <p:cNvSpPr>
            <a:spLocks noChangeShapeType="1"/>
          </p:cNvSpPr>
          <p:nvPr/>
        </p:nvSpPr>
        <p:spPr bwMode="auto">
          <a:xfrm>
            <a:off x="4191000" y="6388100"/>
            <a:ext cx="0" cy="2286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7" name="Line 252">
            <a:extLst>
              <a:ext uri="{FF2B5EF4-FFF2-40B4-BE49-F238E27FC236}">
                <a16:creationId xmlns:a16="http://schemas.microsoft.com/office/drawing/2014/main" id="{51849CE0-83C8-4A51-904D-9D77855D4536}"/>
              </a:ext>
              <a:ext uri="{C183D7F6-B498-43B3-948B-1728B52AA6E4}">
                <adec:decorative xmlns:adec="http://schemas.microsoft.com/office/drawing/2017/decorative" val="1"/>
              </a:ext>
            </a:extLst>
          </p:cNvPr>
          <p:cNvSpPr>
            <a:spLocks noChangeShapeType="1"/>
          </p:cNvSpPr>
          <p:nvPr/>
        </p:nvSpPr>
        <p:spPr bwMode="auto">
          <a:xfrm flipH="1">
            <a:off x="914400" y="6632575"/>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8" name="Line 253">
            <a:extLst>
              <a:ext uri="{FF2B5EF4-FFF2-40B4-BE49-F238E27FC236}">
                <a16:creationId xmlns:a16="http://schemas.microsoft.com/office/drawing/2014/main" id="{0F7DC2E4-CAE6-43D1-A92C-4ED860B22E69}"/>
              </a:ext>
              <a:ext uri="{C183D7F6-B498-43B3-948B-1728B52AA6E4}">
                <adec:decorative xmlns:adec="http://schemas.microsoft.com/office/drawing/2017/decorative" val="1"/>
              </a:ext>
            </a:extLst>
          </p:cNvPr>
          <p:cNvSpPr>
            <a:spLocks noChangeShapeType="1"/>
          </p:cNvSpPr>
          <p:nvPr/>
        </p:nvSpPr>
        <p:spPr bwMode="auto">
          <a:xfrm flipV="1">
            <a:off x="914400" y="1371600"/>
            <a:ext cx="0" cy="52578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9" name="Line 259">
            <a:extLst>
              <a:ext uri="{FF2B5EF4-FFF2-40B4-BE49-F238E27FC236}">
                <a16:creationId xmlns:a16="http://schemas.microsoft.com/office/drawing/2014/main" id="{AC1840F9-5AFC-4566-A6B0-68ED893FB8ED}"/>
              </a:ext>
              <a:ext uri="{C183D7F6-B498-43B3-948B-1728B52AA6E4}">
                <adec:decorative xmlns:adec="http://schemas.microsoft.com/office/drawing/2017/decorative" val="1"/>
              </a:ext>
            </a:extLst>
          </p:cNvPr>
          <p:cNvSpPr>
            <a:spLocks noChangeShapeType="1"/>
          </p:cNvSpPr>
          <p:nvPr/>
        </p:nvSpPr>
        <p:spPr bwMode="auto">
          <a:xfrm>
            <a:off x="23622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0" name="Line 260">
            <a:extLst>
              <a:ext uri="{FF2B5EF4-FFF2-40B4-BE49-F238E27FC236}">
                <a16:creationId xmlns:a16="http://schemas.microsoft.com/office/drawing/2014/main" id="{1FB2AB1F-5810-4E4C-9865-2507EF29F1B1}"/>
              </a:ext>
              <a:ext uri="{C183D7F6-B498-43B3-948B-1728B52AA6E4}">
                <adec:decorative xmlns:adec="http://schemas.microsoft.com/office/drawing/2017/decorative" val="1"/>
              </a:ext>
            </a:extLst>
          </p:cNvPr>
          <p:cNvSpPr>
            <a:spLocks noChangeShapeType="1"/>
          </p:cNvSpPr>
          <p:nvPr/>
        </p:nvSpPr>
        <p:spPr bwMode="auto">
          <a:xfrm>
            <a:off x="2362200" y="4411663"/>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1" name="Line 261">
            <a:extLst>
              <a:ext uri="{FF2B5EF4-FFF2-40B4-BE49-F238E27FC236}">
                <a16:creationId xmlns:a16="http://schemas.microsoft.com/office/drawing/2014/main" id="{8BB5A064-F22D-4544-A210-570ABAC56D97}"/>
              </a:ext>
              <a:ext uri="{C183D7F6-B498-43B3-948B-1728B52AA6E4}">
                <adec:decorative xmlns:adec="http://schemas.microsoft.com/office/drawing/2017/decorative" val="1"/>
              </a:ext>
            </a:extLst>
          </p:cNvPr>
          <p:cNvSpPr>
            <a:spLocks noChangeShapeType="1"/>
          </p:cNvSpPr>
          <p:nvPr/>
        </p:nvSpPr>
        <p:spPr bwMode="auto">
          <a:xfrm>
            <a:off x="28194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42" name="Group 262">
            <a:extLst>
              <a:ext uri="{FF2B5EF4-FFF2-40B4-BE49-F238E27FC236}">
                <a16:creationId xmlns:a16="http://schemas.microsoft.com/office/drawing/2014/main" id="{6CBC4542-3E0F-40AC-8E89-3A52380D2E92}"/>
              </a:ext>
              <a:ext uri="{C183D7F6-B498-43B3-948B-1728B52AA6E4}">
                <adec:decorative xmlns:adec="http://schemas.microsoft.com/office/drawing/2017/decorative" val="1"/>
              </a:ext>
            </a:extLst>
          </p:cNvPr>
          <p:cNvGrpSpPr>
            <a:grpSpLocks/>
          </p:cNvGrpSpPr>
          <p:nvPr/>
        </p:nvGrpSpPr>
        <p:grpSpPr bwMode="auto">
          <a:xfrm>
            <a:off x="2362200" y="4259263"/>
            <a:ext cx="457200" cy="152400"/>
            <a:chOff x="720" y="2352"/>
            <a:chExt cx="288" cy="96"/>
          </a:xfrm>
        </p:grpSpPr>
        <p:sp>
          <p:nvSpPr>
            <p:cNvPr id="243" name="Line 263">
              <a:extLst>
                <a:ext uri="{FF2B5EF4-FFF2-40B4-BE49-F238E27FC236}">
                  <a16:creationId xmlns:a16="http://schemas.microsoft.com/office/drawing/2014/main" id="{543A2C3F-F960-44E2-8D62-E058127C3F6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4" name="Line 264">
              <a:extLst>
                <a:ext uri="{FF2B5EF4-FFF2-40B4-BE49-F238E27FC236}">
                  <a16:creationId xmlns:a16="http://schemas.microsoft.com/office/drawing/2014/main" id="{22C3A2A9-82B7-46C5-974F-E90D06043D43}"/>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5" name="Line 265">
              <a:extLst>
                <a:ext uri="{FF2B5EF4-FFF2-40B4-BE49-F238E27FC236}">
                  <a16:creationId xmlns:a16="http://schemas.microsoft.com/office/drawing/2014/main" id="{2020B766-1EC3-4EC7-B348-03F143528646}"/>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46" name="Group 266">
            <a:extLst>
              <a:ext uri="{FF2B5EF4-FFF2-40B4-BE49-F238E27FC236}">
                <a16:creationId xmlns:a16="http://schemas.microsoft.com/office/drawing/2014/main" id="{28AB9FBF-1DE2-498C-B440-A3874C9A1F34}"/>
              </a:ext>
              <a:ext uri="{C183D7F6-B498-43B3-948B-1728B52AA6E4}">
                <adec:decorative xmlns:adec="http://schemas.microsoft.com/office/drawing/2017/decorative" val="1"/>
              </a:ext>
            </a:extLst>
          </p:cNvPr>
          <p:cNvGrpSpPr>
            <a:grpSpLocks/>
          </p:cNvGrpSpPr>
          <p:nvPr/>
        </p:nvGrpSpPr>
        <p:grpSpPr bwMode="auto">
          <a:xfrm>
            <a:off x="2895600" y="4259263"/>
            <a:ext cx="457200" cy="152400"/>
            <a:chOff x="720" y="2352"/>
            <a:chExt cx="288" cy="96"/>
          </a:xfrm>
        </p:grpSpPr>
        <p:sp>
          <p:nvSpPr>
            <p:cNvPr id="247" name="Line 267">
              <a:extLst>
                <a:ext uri="{FF2B5EF4-FFF2-40B4-BE49-F238E27FC236}">
                  <a16:creationId xmlns:a16="http://schemas.microsoft.com/office/drawing/2014/main" id="{38C7A2A3-A838-40F8-B7A3-00DC5BE568A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8" name="Line 268">
              <a:extLst>
                <a:ext uri="{FF2B5EF4-FFF2-40B4-BE49-F238E27FC236}">
                  <a16:creationId xmlns:a16="http://schemas.microsoft.com/office/drawing/2014/main" id="{CAAF2819-BD4C-4AD9-B949-6523CF50594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9" name="Line 269">
              <a:extLst>
                <a:ext uri="{FF2B5EF4-FFF2-40B4-BE49-F238E27FC236}">
                  <a16:creationId xmlns:a16="http://schemas.microsoft.com/office/drawing/2014/main" id="{CFE62E63-CD75-4668-BBF6-D6769A299344}"/>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50" name="Group 270">
            <a:extLst>
              <a:ext uri="{FF2B5EF4-FFF2-40B4-BE49-F238E27FC236}">
                <a16:creationId xmlns:a16="http://schemas.microsoft.com/office/drawing/2014/main" id="{E767F501-1A52-4E7E-9B3C-B6D44AA9CFB6}"/>
              </a:ext>
              <a:ext uri="{C183D7F6-B498-43B3-948B-1728B52AA6E4}">
                <adec:decorative xmlns:adec="http://schemas.microsoft.com/office/drawing/2017/decorative" val="1"/>
              </a:ext>
            </a:extLst>
          </p:cNvPr>
          <p:cNvGrpSpPr>
            <a:grpSpLocks/>
          </p:cNvGrpSpPr>
          <p:nvPr/>
        </p:nvGrpSpPr>
        <p:grpSpPr bwMode="auto">
          <a:xfrm>
            <a:off x="3429000" y="4259263"/>
            <a:ext cx="457200" cy="152400"/>
            <a:chOff x="720" y="2352"/>
            <a:chExt cx="288" cy="96"/>
          </a:xfrm>
        </p:grpSpPr>
        <p:sp>
          <p:nvSpPr>
            <p:cNvPr id="251" name="Line 271">
              <a:extLst>
                <a:ext uri="{FF2B5EF4-FFF2-40B4-BE49-F238E27FC236}">
                  <a16:creationId xmlns:a16="http://schemas.microsoft.com/office/drawing/2014/main" id="{9C75D9E0-120E-4645-862D-416E50A4ED2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2" name="Line 272">
              <a:extLst>
                <a:ext uri="{FF2B5EF4-FFF2-40B4-BE49-F238E27FC236}">
                  <a16:creationId xmlns:a16="http://schemas.microsoft.com/office/drawing/2014/main" id="{E9568DE9-A907-465B-8E51-0C7F4719935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3" name="Line 273">
              <a:extLst>
                <a:ext uri="{FF2B5EF4-FFF2-40B4-BE49-F238E27FC236}">
                  <a16:creationId xmlns:a16="http://schemas.microsoft.com/office/drawing/2014/main" id="{DD72CB02-4AAB-4C29-8A1A-0B624DB0FFE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54" name="Line 274">
            <a:extLst>
              <a:ext uri="{FF2B5EF4-FFF2-40B4-BE49-F238E27FC236}">
                <a16:creationId xmlns:a16="http://schemas.microsoft.com/office/drawing/2014/main" id="{AF47B7E8-1221-4716-8532-EA9BBFA19818}"/>
              </a:ext>
              <a:ext uri="{C183D7F6-B498-43B3-948B-1728B52AA6E4}">
                <adec:decorative xmlns:adec="http://schemas.microsoft.com/office/drawing/2017/decorative" val="1"/>
              </a:ext>
            </a:extLst>
          </p:cNvPr>
          <p:cNvSpPr>
            <a:spLocks noChangeShapeType="1"/>
          </p:cNvSpPr>
          <p:nvPr/>
        </p:nvSpPr>
        <p:spPr bwMode="auto">
          <a:xfrm>
            <a:off x="39624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5" name="Line 275">
            <a:extLst>
              <a:ext uri="{FF2B5EF4-FFF2-40B4-BE49-F238E27FC236}">
                <a16:creationId xmlns:a16="http://schemas.microsoft.com/office/drawing/2014/main" id="{813E2510-7BE9-4FF8-8C48-E691CA1421D3}"/>
              </a:ext>
              <a:ext uri="{C183D7F6-B498-43B3-948B-1728B52AA6E4}">
                <adec:decorative xmlns:adec="http://schemas.microsoft.com/office/drawing/2017/decorative" val="1"/>
              </a:ext>
            </a:extLst>
          </p:cNvPr>
          <p:cNvSpPr>
            <a:spLocks noChangeShapeType="1"/>
          </p:cNvSpPr>
          <p:nvPr/>
        </p:nvSpPr>
        <p:spPr bwMode="auto">
          <a:xfrm>
            <a:off x="3962400" y="4411663"/>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6" name="Line 276">
            <a:extLst>
              <a:ext uri="{FF2B5EF4-FFF2-40B4-BE49-F238E27FC236}">
                <a16:creationId xmlns:a16="http://schemas.microsoft.com/office/drawing/2014/main" id="{734CB9B0-504C-4D9B-915A-14D634F9FAE5}"/>
              </a:ext>
              <a:ext uri="{C183D7F6-B498-43B3-948B-1728B52AA6E4}">
                <adec:decorative xmlns:adec="http://schemas.microsoft.com/office/drawing/2017/decorative" val="1"/>
              </a:ext>
            </a:extLst>
          </p:cNvPr>
          <p:cNvSpPr>
            <a:spLocks noChangeShapeType="1"/>
          </p:cNvSpPr>
          <p:nvPr/>
        </p:nvSpPr>
        <p:spPr bwMode="auto">
          <a:xfrm>
            <a:off x="44196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57" name="Group 277">
            <a:extLst>
              <a:ext uri="{FF2B5EF4-FFF2-40B4-BE49-F238E27FC236}">
                <a16:creationId xmlns:a16="http://schemas.microsoft.com/office/drawing/2014/main" id="{2F3EEC88-910E-4F39-AD93-E8FC57A96A87}"/>
              </a:ext>
              <a:ext uri="{C183D7F6-B498-43B3-948B-1728B52AA6E4}">
                <adec:decorative xmlns:adec="http://schemas.microsoft.com/office/drawing/2017/decorative" val="1"/>
              </a:ext>
            </a:extLst>
          </p:cNvPr>
          <p:cNvGrpSpPr>
            <a:grpSpLocks/>
          </p:cNvGrpSpPr>
          <p:nvPr/>
        </p:nvGrpSpPr>
        <p:grpSpPr bwMode="auto">
          <a:xfrm>
            <a:off x="3962400" y="4259263"/>
            <a:ext cx="457200" cy="152400"/>
            <a:chOff x="720" y="2352"/>
            <a:chExt cx="288" cy="96"/>
          </a:xfrm>
        </p:grpSpPr>
        <p:sp>
          <p:nvSpPr>
            <p:cNvPr id="258" name="Line 278">
              <a:extLst>
                <a:ext uri="{FF2B5EF4-FFF2-40B4-BE49-F238E27FC236}">
                  <a16:creationId xmlns:a16="http://schemas.microsoft.com/office/drawing/2014/main" id="{A438960E-3C9A-447C-A087-8FFE33237978}"/>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9" name="Line 279">
              <a:extLst>
                <a:ext uri="{FF2B5EF4-FFF2-40B4-BE49-F238E27FC236}">
                  <a16:creationId xmlns:a16="http://schemas.microsoft.com/office/drawing/2014/main" id="{4037F05A-FA47-48CA-9D6A-F0D7879B364C}"/>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0" name="Line 280">
              <a:extLst>
                <a:ext uri="{FF2B5EF4-FFF2-40B4-BE49-F238E27FC236}">
                  <a16:creationId xmlns:a16="http://schemas.microsoft.com/office/drawing/2014/main" id="{96DBCF12-2B0B-4635-823C-27108E0446A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61" name="Group 281">
            <a:extLst>
              <a:ext uri="{FF2B5EF4-FFF2-40B4-BE49-F238E27FC236}">
                <a16:creationId xmlns:a16="http://schemas.microsoft.com/office/drawing/2014/main" id="{7655B74D-7D54-44DE-B432-7FFCDC06A64B}"/>
              </a:ext>
              <a:ext uri="{C183D7F6-B498-43B3-948B-1728B52AA6E4}">
                <adec:decorative xmlns:adec="http://schemas.microsoft.com/office/drawing/2017/decorative" val="1"/>
              </a:ext>
            </a:extLst>
          </p:cNvPr>
          <p:cNvGrpSpPr>
            <a:grpSpLocks/>
          </p:cNvGrpSpPr>
          <p:nvPr/>
        </p:nvGrpSpPr>
        <p:grpSpPr bwMode="auto">
          <a:xfrm>
            <a:off x="4495800" y="4259263"/>
            <a:ext cx="457200" cy="152400"/>
            <a:chOff x="720" y="2352"/>
            <a:chExt cx="288" cy="96"/>
          </a:xfrm>
        </p:grpSpPr>
        <p:sp>
          <p:nvSpPr>
            <p:cNvPr id="262" name="Line 282">
              <a:extLst>
                <a:ext uri="{FF2B5EF4-FFF2-40B4-BE49-F238E27FC236}">
                  <a16:creationId xmlns:a16="http://schemas.microsoft.com/office/drawing/2014/main" id="{C65CB6DE-4D94-4655-A951-2139CF20B93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3" name="Line 283">
              <a:extLst>
                <a:ext uri="{FF2B5EF4-FFF2-40B4-BE49-F238E27FC236}">
                  <a16:creationId xmlns:a16="http://schemas.microsoft.com/office/drawing/2014/main" id="{E5ED4522-F675-45FA-A6F1-6BF3C197540A}"/>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4" name="Line 284">
              <a:extLst>
                <a:ext uri="{FF2B5EF4-FFF2-40B4-BE49-F238E27FC236}">
                  <a16:creationId xmlns:a16="http://schemas.microsoft.com/office/drawing/2014/main" id="{EF07F08C-77B3-492E-9140-FC247DC506C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65" name="Group 285">
            <a:extLst>
              <a:ext uri="{FF2B5EF4-FFF2-40B4-BE49-F238E27FC236}">
                <a16:creationId xmlns:a16="http://schemas.microsoft.com/office/drawing/2014/main" id="{D05B84E2-9F50-401B-A7B2-E412B3B5E45D}"/>
              </a:ext>
              <a:ext uri="{C183D7F6-B498-43B3-948B-1728B52AA6E4}">
                <adec:decorative xmlns:adec="http://schemas.microsoft.com/office/drawing/2017/decorative" val="1"/>
              </a:ext>
            </a:extLst>
          </p:cNvPr>
          <p:cNvGrpSpPr>
            <a:grpSpLocks/>
          </p:cNvGrpSpPr>
          <p:nvPr/>
        </p:nvGrpSpPr>
        <p:grpSpPr bwMode="auto">
          <a:xfrm>
            <a:off x="5029200" y="4259263"/>
            <a:ext cx="457200" cy="152400"/>
            <a:chOff x="720" y="2352"/>
            <a:chExt cx="288" cy="96"/>
          </a:xfrm>
        </p:grpSpPr>
        <p:sp>
          <p:nvSpPr>
            <p:cNvPr id="266" name="Line 286">
              <a:extLst>
                <a:ext uri="{FF2B5EF4-FFF2-40B4-BE49-F238E27FC236}">
                  <a16:creationId xmlns:a16="http://schemas.microsoft.com/office/drawing/2014/main" id="{3D03C613-F5F3-432A-9A14-2012A10C2E7B}"/>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7" name="Line 287">
              <a:extLst>
                <a:ext uri="{FF2B5EF4-FFF2-40B4-BE49-F238E27FC236}">
                  <a16:creationId xmlns:a16="http://schemas.microsoft.com/office/drawing/2014/main" id="{045247F2-A3B5-4ADE-9FAC-B76E17E8CDF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8" name="Line 288">
              <a:extLst>
                <a:ext uri="{FF2B5EF4-FFF2-40B4-BE49-F238E27FC236}">
                  <a16:creationId xmlns:a16="http://schemas.microsoft.com/office/drawing/2014/main" id="{65EE7D2C-E484-4A72-B8C0-D9A78DF2D51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69" name="Text Box 289">
            <a:extLst>
              <a:ext uri="{FF2B5EF4-FFF2-40B4-BE49-F238E27FC236}">
                <a16:creationId xmlns:a16="http://schemas.microsoft.com/office/drawing/2014/main" id="{EF913D0B-9D07-474A-AFF1-1482DD9945C9}"/>
              </a:ext>
              <a:ext uri="{C183D7F6-B498-43B3-948B-1728B52AA6E4}">
                <adec:decorative xmlns:adec="http://schemas.microsoft.com/office/drawing/2017/decorative" val="1"/>
              </a:ext>
            </a:extLst>
          </p:cNvPr>
          <p:cNvSpPr txBox="1">
            <a:spLocks noChangeArrowheads="1"/>
          </p:cNvSpPr>
          <p:nvPr/>
        </p:nvSpPr>
        <p:spPr bwMode="auto">
          <a:xfrm>
            <a:off x="23622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p>
        </p:txBody>
      </p:sp>
      <p:sp>
        <p:nvSpPr>
          <p:cNvPr id="270" name="Text Box 290">
            <a:extLst>
              <a:ext uri="{FF2B5EF4-FFF2-40B4-BE49-F238E27FC236}">
                <a16:creationId xmlns:a16="http://schemas.microsoft.com/office/drawing/2014/main" id="{D020F544-24DC-4AD5-AFD5-6404C9B8495E}"/>
              </a:ext>
              <a:ext uri="{C183D7F6-B498-43B3-948B-1728B52AA6E4}">
                <adec:decorative xmlns:adec="http://schemas.microsoft.com/office/drawing/2017/decorative" val="1"/>
              </a:ext>
            </a:extLst>
          </p:cNvPr>
          <p:cNvSpPr txBox="1">
            <a:spLocks noChangeArrowheads="1"/>
          </p:cNvSpPr>
          <p:nvPr/>
        </p:nvSpPr>
        <p:spPr bwMode="auto">
          <a:xfrm>
            <a:off x="5410200" y="4030663"/>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271" name="Text Box 291">
            <a:extLst>
              <a:ext uri="{FF2B5EF4-FFF2-40B4-BE49-F238E27FC236}">
                <a16:creationId xmlns:a16="http://schemas.microsoft.com/office/drawing/2014/main" id="{5CB14069-33EA-475E-AFDB-4562E381615D}"/>
              </a:ext>
              <a:ext uri="{C183D7F6-B498-43B3-948B-1728B52AA6E4}">
                <adec:decorative xmlns:adec="http://schemas.microsoft.com/office/drawing/2017/decorative" val="1"/>
              </a:ext>
            </a:extLst>
          </p:cNvPr>
          <p:cNvSpPr txBox="1">
            <a:spLocks noChangeArrowheads="1"/>
          </p:cNvSpPr>
          <p:nvPr/>
        </p:nvSpPr>
        <p:spPr bwMode="auto">
          <a:xfrm>
            <a:off x="34290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272" name="Text Box 292">
            <a:extLst>
              <a:ext uri="{FF2B5EF4-FFF2-40B4-BE49-F238E27FC236}">
                <a16:creationId xmlns:a16="http://schemas.microsoft.com/office/drawing/2014/main" id="{DD902B25-B079-4CE8-AE43-CD323EEDD0B5}"/>
              </a:ext>
              <a:ext uri="{C183D7F6-B498-43B3-948B-1728B52AA6E4}">
                <adec:decorative xmlns:adec="http://schemas.microsoft.com/office/drawing/2017/decorative" val="1"/>
              </a:ext>
            </a:extLst>
          </p:cNvPr>
          <p:cNvSpPr txBox="1">
            <a:spLocks noChangeArrowheads="1"/>
          </p:cNvSpPr>
          <p:nvPr/>
        </p:nvSpPr>
        <p:spPr bwMode="auto">
          <a:xfrm>
            <a:off x="39624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273" name="Text Box 293">
            <a:extLst>
              <a:ext uri="{FF2B5EF4-FFF2-40B4-BE49-F238E27FC236}">
                <a16:creationId xmlns:a16="http://schemas.microsoft.com/office/drawing/2014/main" id="{64A1F855-145D-47C1-A354-D44E3BD9DC12}"/>
              </a:ext>
              <a:ext uri="{C183D7F6-B498-43B3-948B-1728B52AA6E4}">
                <adec:decorative xmlns:adec="http://schemas.microsoft.com/office/drawing/2017/decorative" val="1"/>
              </a:ext>
            </a:extLst>
          </p:cNvPr>
          <p:cNvSpPr txBox="1">
            <a:spLocks noChangeArrowheads="1"/>
          </p:cNvSpPr>
          <p:nvPr/>
        </p:nvSpPr>
        <p:spPr bwMode="auto">
          <a:xfrm>
            <a:off x="44958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274" name="Text Box 294">
            <a:extLst>
              <a:ext uri="{FF2B5EF4-FFF2-40B4-BE49-F238E27FC236}">
                <a16:creationId xmlns:a16="http://schemas.microsoft.com/office/drawing/2014/main" id="{191028FB-B51F-4849-B80A-B2D7685E6FDA}"/>
              </a:ext>
              <a:ext uri="{C183D7F6-B498-43B3-948B-1728B52AA6E4}">
                <adec:decorative xmlns:adec="http://schemas.microsoft.com/office/drawing/2017/decorative" val="1"/>
              </a:ext>
            </a:extLst>
          </p:cNvPr>
          <p:cNvSpPr txBox="1">
            <a:spLocks noChangeArrowheads="1"/>
          </p:cNvSpPr>
          <p:nvPr/>
        </p:nvSpPr>
        <p:spPr bwMode="auto">
          <a:xfrm>
            <a:off x="4876800" y="4030663"/>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6</a:t>
            </a:r>
          </a:p>
        </p:txBody>
      </p:sp>
      <p:sp>
        <p:nvSpPr>
          <p:cNvPr id="275" name="Line 295">
            <a:extLst>
              <a:ext uri="{FF2B5EF4-FFF2-40B4-BE49-F238E27FC236}">
                <a16:creationId xmlns:a16="http://schemas.microsoft.com/office/drawing/2014/main" id="{B7E34CA0-65FA-408F-9201-8DDD20901BD2}"/>
              </a:ext>
              <a:ext uri="{C183D7F6-B498-43B3-948B-1728B52AA6E4}">
                <adec:decorative xmlns:adec="http://schemas.microsoft.com/office/drawing/2017/decorative" val="1"/>
              </a:ext>
            </a:extLst>
          </p:cNvPr>
          <p:cNvSpPr>
            <a:spLocks noChangeShapeType="1"/>
          </p:cNvSpPr>
          <p:nvPr/>
        </p:nvSpPr>
        <p:spPr bwMode="auto">
          <a:xfrm flipV="1">
            <a:off x="6127750" y="447675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276" name="Group 296">
            <a:extLst>
              <a:ext uri="{FF2B5EF4-FFF2-40B4-BE49-F238E27FC236}">
                <a16:creationId xmlns:a16="http://schemas.microsoft.com/office/drawing/2014/main" id="{CE5841D1-8D5A-43AC-BB42-FA3AD62862A7}"/>
              </a:ext>
              <a:ext uri="{C183D7F6-B498-43B3-948B-1728B52AA6E4}">
                <adec:decorative xmlns:adec="http://schemas.microsoft.com/office/drawing/2017/decorative" val="1"/>
              </a:ext>
            </a:extLst>
          </p:cNvPr>
          <p:cNvGrpSpPr>
            <a:grpSpLocks/>
          </p:cNvGrpSpPr>
          <p:nvPr/>
        </p:nvGrpSpPr>
        <p:grpSpPr bwMode="auto">
          <a:xfrm>
            <a:off x="5562600" y="4259263"/>
            <a:ext cx="457200" cy="152400"/>
            <a:chOff x="720" y="2352"/>
            <a:chExt cx="288" cy="96"/>
          </a:xfrm>
        </p:grpSpPr>
        <p:sp>
          <p:nvSpPr>
            <p:cNvPr id="277" name="Line 297">
              <a:extLst>
                <a:ext uri="{FF2B5EF4-FFF2-40B4-BE49-F238E27FC236}">
                  <a16:creationId xmlns:a16="http://schemas.microsoft.com/office/drawing/2014/main" id="{88659BB3-1645-4EAC-AD14-5C239004D259}"/>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78" name="Line 298">
              <a:extLst>
                <a:ext uri="{FF2B5EF4-FFF2-40B4-BE49-F238E27FC236}">
                  <a16:creationId xmlns:a16="http://schemas.microsoft.com/office/drawing/2014/main" id="{AFD0595B-E088-4F83-9D80-8DF3DC01597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79" name="Line 299">
              <a:extLst>
                <a:ext uri="{FF2B5EF4-FFF2-40B4-BE49-F238E27FC236}">
                  <a16:creationId xmlns:a16="http://schemas.microsoft.com/office/drawing/2014/main" id="{0A48DF10-F507-440F-945A-3FA83ECFFFA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80" name="Text Box 300">
            <a:extLst>
              <a:ext uri="{FF2B5EF4-FFF2-40B4-BE49-F238E27FC236}">
                <a16:creationId xmlns:a16="http://schemas.microsoft.com/office/drawing/2014/main" id="{A8984470-CBC6-4799-9C1B-5954D4C80879}"/>
              </a:ext>
              <a:ext uri="{C183D7F6-B498-43B3-948B-1728B52AA6E4}">
                <adec:decorative xmlns:adec="http://schemas.microsoft.com/office/drawing/2017/decorative" val="1"/>
              </a:ext>
            </a:extLst>
          </p:cNvPr>
          <p:cNvSpPr txBox="1">
            <a:spLocks noChangeArrowheads="1"/>
          </p:cNvSpPr>
          <p:nvPr/>
        </p:nvSpPr>
        <p:spPr bwMode="auto">
          <a:xfrm>
            <a:off x="2819400" y="4030663"/>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281" name="Text Box 301">
            <a:extLst>
              <a:ext uri="{FF2B5EF4-FFF2-40B4-BE49-F238E27FC236}">
                <a16:creationId xmlns:a16="http://schemas.microsoft.com/office/drawing/2014/main" id="{E054F25C-7414-4EFF-8BB0-F350709F14BF}"/>
              </a:ext>
              <a:ext uri="{C183D7F6-B498-43B3-948B-1728B52AA6E4}">
                <adec:decorative xmlns:adec="http://schemas.microsoft.com/office/drawing/2017/decorative" val="1"/>
              </a:ext>
            </a:extLst>
          </p:cNvPr>
          <p:cNvSpPr txBox="1">
            <a:spLocks noChangeArrowheads="1"/>
          </p:cNvSpPr>
          <p:nvPr/>
        </p:nvSpPr>
        <p:spPr bwMode="auto">
          <a:xfrm>
            <a:off x="5943600" y="447675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282" name="Line 302">
            <a:extLst>
              <a:ext uri="{FF2B5EF4-FFF2-40B4-BE49-F238E27FC236}">
                <a16:creationId xmlns:a16="http://schemas.microsoft.com/office/drawing/2014/main" id="{E5510A8D-4B22-41B7-9CEA-95FCE5FA1462}"/>
              </a:ext>
              <a:ext uri="{C183D7F6-B498-43B3-948B-1728B52AA6E4}">
                <adec:decorative xmlns:adec="http://schemas.microsoft.com/office/drawing/2017/decorative" val="1"/>
              </a:ext>
            </a:extLst>
          </p:cNvPr>
          <p:cNvSpPr>
            <a:spLocks noChangeShapeType="1"/>
          </p:cNvSpPr>
          <p:nvPr/>
        </p:nvSpPr>
        <p:spPr bwMode="auto">
          <a:xfrm>
            <a:off x="2590800" y="3886200"/>
            <a:ext cx="0" cy="1524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3" name="Line 303">
            <a:extLst>
              <a:ext uri="{FF2B5EF4-FFF2-40B4-BE49-F238E27FC236}">
                <a16:creationId xmlns:a16="http://schemas.microsoft.com/office/drawing/2014/main" id="{0B35B629-86D5-4C08-8D0B-BA9074F135B3}"/>
              </a:ext>
              <a:ext uri="{C183D7F6-B498-43B3-948B-1728B52AA6E4}">
                <adec:decorative xmlns:adec="http://schemas.microsoft.com/office/drawing/2017/decorative" val="1"/>
              </a:ext>
            </a:extLst>
          </p:cNvPr>
          <p:cNvSpPr>
            <a:spLocks noChangeShapeType="1"/>
          </p:cNvSpPr>
          <p:nvPr/>
        </p:nvSpPr>
        <p:spPr bwMode="auto">
          <a:xfrm>
            <a:off x="5257800" y="3886200"/>
            <a:ext cx="0" cy="1524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4" name="Line 304">
            <a:extLst>
              <a:ext uri="{FF2B5EF4-FFF2-40B4-BE49-F238E27FC236}">
                <a16:creationId xmlns:a16="http://schemas.microsoft.com/office/drawing/2014/main" id="{21670558-47BD-4CEA-8BBD-C23A0DE68DBC}"/>
              </a:ext>
              <a:ext uri="{C183D7F6-B498-43B3-948B-1728B52AA6E4}">
                <adec:decorative xmlns:adec="http://schemas.microsoft.com/office/drawing/2017/decorative" val="1"/>
              </a:ext>
            </a:extLst>
          </p:cNvPr>
          <p:cNvSpPr>
            <a:spLocks noChangeShapeType="1"/>
          </p:cNvSpPr>
          <p:nvPr/>
        </p:nvSpPr>
        <p:spPr bwMode="auto">
          <a:xfrm>
            <a:off x="2590800" y="3886200"/>
            <a:ext cx="26670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5" name="Line 305">
            <a:extLst>
              <a:ext uri="{FF2B5EF4-FFF2-40B4-BE49-F238E27FC236}">
                <a16:creationId xmlns:a16="http://schemas.microsoft.com/office/drawing/2014/main" id="{300FC88A-E223-48D7-90FE-87047E6B430C}"/>
              </a:ext>
              <a:ext uri="{C183D7F6-B498-43B3-948B-1728B52AA6E4}">
                <adec:decorative xmlns:adec="http://schemas.microsoft.com/office/drawing/2017/decorative" val="1"/>
              </a:ext>
            </a:extLst>
          </p:cNvPr>
          <p:cNvSpPr>
            <a:spLocks noChangeShapeType="1"/>
          </p:cNvSpPr>
          <p:nvPr/>
        </p:nvSpPr>
        <p:spPr bwMode="auto">
          <a:xfrm>
            <a:off x="4191000" y="13716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6" name="Line 306">
            <a:extLst>
              <a:ext uri="{FF2B5EF4-FFF2-40B4-BE49-F238E27FC236}">
                <a16:creationId xmlns:a16="http://schemas.microsoft.com/office/drawing/2014/main" id="{FCB1CC62-CCB7-45F7-80DC-FB1D40291698}"/>
              </a:ext>
              <a:ext uri="{C183D7F6-B498-43B3-948B-1728B52AA6E4}">
                <adec:decorative xmlns:adec="http://schemas.microsoft.com/office/drawing/2017/decorative" val="1"/>
              </a:ext>
            </a:extLst>
          </p:cNvPr>
          <p:cNvSpPr>
            <a:spLocks noChangeShapeType="1"/>
          </p:cNvSpPr>
          <p:nvPr/>
        </p:nvSpPr>
        <p:spPr bwMode="auto">
          <a:xfrm flipH="1">
            <a:off x="914400" y="13716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7" name="Text Box 307">
            <a:extLst>
              <a:ext uri="{FF2B5EF4-FFF2-40B4-BE49-F238E27FC236}">
                <a16:creationId xmlns:a16="http://schemas.microsoft.com/office/drawing/2014/main" id="{FEF02419-25F9-4B63-8B37-5CDBF75D6C34}"/>
              </a:ext>
              <a:ext uri="{C183D7F6-B498-43B3-948B-1728B52AA6E4}">
                <adec:decorative xmlns:adec="http://schemas.microsoft.com/office/drawing/2017/decorative" val="1"/>
              </a:ext>
            </a:extLst>
          </p:cNvPr>
          <p:cNvSpPr txBox="1">
            <a:spLocks noChangeArrowheads="1"/>
          </p:cNvSpPr>
          <p:nvPr/>
        </p:nvSpPr>
        <p:spPr bwMode="auto">
          <a:xfrm>
            <a:off x="1816100" y="2695575"/>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first</a:t>
            </a:r>
            <a:endParaRPr lang="en-US" sz="2400" b="0">
              <a:solidFill>
                <a:srgbClr val="000000"/>
              </a:solidFill>
              <a:latin typeface="Arial" pitchFamily="34" charset="0"/>
              <a:cs typeface="Arial" pitchFamily="34" charset="0"/>
            </a:endParaRPr>
          </a:p>
        </p:txBody>
      </p:sp>
      <p:sp>
        <p:nvSpPr>
          <p:cNvPr id="288" name="Line 308">
            <a:extLst>
              <a:ext uri="{FF2B5EF4-FFF2-40B4-BE49-F238E27FC236}">
                <a16:creationId xmlns:a16="http://schemas.microsoft.com/office/drawing/2014/main" id="{4255051C-DEBB-4561-9A35-AFBCE5E19AF3}"/>
              </a:ext>
              <a:ext uri="{C183D7F6-B498-43B3-948B-1728B52AA6E4}">
                <adec:decorative xmlns:adec="http://schemas.microsoft.com/office/drawing/2017/decorative" val="1"/>
              </a:ext>
            </a:extLst>
          </p:cNvPr>
          <p:cNvSpPr>
            <a:spLocks noChangeShapeType="1"/>
          </p:cNvSpPr>
          <p:nvPr/>
        </p:nvSpPr>
        <p:spPr bwMode="auto">
          <a:xfrm flipV="1">
            <a:off x="2514600" y="26670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9" name="Text Box 309">
            <a:extLst>
              <a:ext uri="{FF2B5EF4-FFF2-40B4-BE49-F238E27FC236}">
                <a16:creationId xmlns:a16="http://schemas.microsoft.com/office/drawing/2014/main" id="{E6E33539-E2E7-41C6-946A-9DA347E8EBEB}"/>
              </a:ext>
              <a:ext uri="{C183D7F6-B498-43B3-948B-1728B52AA6E4}">
                <adec:decorative xmlns:adec="http://schemas.microsoft.com/office/drawing/2017/decorative" val="1"/>
              </a:ext>
            </a:extLst>
          </p:cNvPr>
          <p:cNvSpPr txBox="1">
            <a:spLocks noChangeArrowheads="1"/>
          </p:cNvSpPr>
          <p:nvPr/>
        </p:nvSpPr>
        <p:spPr bwMode="auto">
          <a:xfrm>
            <a:off x="2444750" y="6149975"/>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first</a:t>
            </a:r>
            <a:endParaRPr lang="en-US" sz="2400" b="0">
              <a:solidFill>
                <a:srgbClr val="000000"/>
              </a:solidFill>
              <a:latin typeface="Arial" pitchFamily="34" charset="0"/>
              <a:cs typeface="Arial" pitchFamily="34" charset="0"/>
            </a:endParaRPr>
          </a:p>
        </p:txBody>
      </p:sp>
      <p:sp>
        <p:nvSpPr>
          <p:cNvPr id="290" name="Line 310">
            <a:extLst>
              <a:ext uri="{FF2B5EF4-FFF2-40B4-BE49-F238E27FC236}">
                <a16:creationId xmlns:a16="http://schemas.microsoft.com/office/drawing/2014/main" id="{1C249A10-0B81-4FEE-BC33-E257E08F9DA5}"/>
              </a:ext>
              <a:ext uri="{C183D7F6-B498-43B3-948B-1728B52AA6E4}">
                <adec:decorative xmlns:adec="http://schemas.microsoft.com/office/drawing/2017/decorative" val="1"/>
              </a:ext>
            </a:extLst>
          </p:cNvPr>
          <p:cNvSpPr>
            <a:spLocks noChangeShapeType="1"/>
          </p:cNvSpPr>
          <p:nvPr/>
        </p:nvSpPr>
        <p:spPr bwMode="auto">
          <a:xfrm flipV="1">
            <a:off x="3143250" y="615315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 name="Rectangle 3">
            <a:extLst>
              <a:ext uri="{FF2B5EF4-FFF2-40B4-BE49-F238E27FC236}">
                <a16:creationId xmlns:a16="http://schemas.microsoft.com/office/drawing/2014/main" id="{F4FD3EE4-80FD-E4F6-9DD6-29221B1FE7BF}"/>
              </a:ext>
            </a:extLst>
          </p:cNvPr>
          <p:cNvSpPr txBox="1">
            <a:spLocks noChangeArrowheads="1"/>
          </p:cNvSpPr>
          <p:nvPr/>
        </p:nvSpPr>
        <p:spPr bwMode="auto">
          <a:xfrm>
            <a:off x="8839200" y="1939925"/>
            <a:ext cx="8458200" cy="3905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914400" marR="0" lvl="1" indent="-457200" algn="l" defTabSz="914400" rtl="0" eaLnBrk="0" fontAlgn="base" latinLnBrk="0" hangingPunct="0">
              <a:lnSpc>
                <a:spcPct val="114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Find the min among the first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 elements:</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Given array [6,13,8,5,2,1,3], the minimum </a:t>
            </a:r>
            <a:r>
              <a:rPr kumimoji="0" lang="en-US" sz="2400" b="0" kern="0" dirty="0">
                <a:solidFill>
                  <a:srgbClr val="000000"/>
                </a:solidFill>
                <a:latin typeface="Arial"/>
              </a:rPr>
              <a:t>value is 1.</a:t>
            </a: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114000"/>
              </a:lnSpc>
              <a:spcBef>
                <a:spcPct val="6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Swap it with the “first” element (i.e., </a:t>
            </a:r>
            <a:r>
              <a:rPr kumimoji="0" lang="en-US" sz="2400" b="0" i="0" u="none" strike="noStrike" kern="0" cap="none" spc="0" normalizeH="0" baseline="0" noProof="0" dirty="0">
                <a:ln>
                  <a:noFill/>
                </a:ln>
                <a:solidFill>
                  <a:srgbClr val="0099CC"/>
                </a:solidFill>
                <a:effectLst/>
                <a:uLnTx/>
                <a:uFillTx/>
                <a:latin typeface="Arial"/>
              </a:rPr>
              <a:t>list[0]</a:t>
            </a:r>
            <a:r>
              <a:rPr kumimoji="0" lang="en-US" sz="2400" b="0" i="0" u="none" strike="noStrike" kern="0" cap="none" spc="0" normalizeH="0" baseline="0" noProof="0" dirty="0">
                <a:ln>
                  <a:noFill/>
                </a:ln>
                <a:solidFill>
                  <a:srgbClr val="000000"/>
                </a:solidFill>
                <a:effectLst/>
                <a:uLnTx/>
                <a:uFillTx/>
                <a:latin typeface="Arial"/>
              </a:rPr>
              <a:t>) :</a:t>
            </a:r>
            <a:br>
              <a:rPr kumimoji="0" lang="en-US" sz="2400" b="0" i="0" u="none" strike="noStrike" kern="0" cap="none" spc="0" normalizeH="0" baseline="0" noProof="0" dirty="0">
                <a:ln>
                  <a:noFill/>
                </a:ln>
                <a:solidFill>
                  <a:srgbClr val="000000"/>
                </a:solidFill>
                <a:effectLst/>
                <a:uLnTx/>
                <a:uFillTx/>
                <a:latin typeface="Arial"/>
              </a:rPr>
            </a:br>
            <a:r>
              <a:rPr kumimoji="0" lang="en-US" sz="2400" b="0" kern="0" dirty="0">
                <a:solidFill>
                  <a:srgbClr val="000000"/>
                </a:solidFill>
                <a:latin typeface="Arial"/>
              </a:rPr>
              <a:t>Swap the 1 with the 6. No other elements move!</a:t>
            </a: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114000"/>
              </a:lnSpc>
              <a:spcBef>
                <a:spcPct val="40000"/>
              </a:spcBef>
              <a:spcAft>
                <a:spcPct val="0"/>
              </a:spcAft>
              <a:buClrTx/>
              <a:buSzTx/>
              <a:buFontTx/>
              <a:buAutoNum type="arabicPeriod" startAt="3"/>
              <a:tabLst/>
              <a:defRPr/>
            </a:pPr>
            <a:r>
              <a:rPr kumimoji="0" lang="en-US" sz="2400" b="0" i="0" u="none" strike="noStrike" kern="0" cap="none" spc="0" normalizeH="0" baseline="0" noProof="0" dirty="0">
                <a:ln>
                  <a:noFill/>
                </a:ln>
                <a:solidFill>
                  <a:srgbClr val="000000"/>
                </a:solidFill>
                <a:effectLst/>
                <a:uLnTx/>
                <a:uFillTx/>
                <a:latin typeface="Arial"/>
              </a:rPr>
              <a:t>Increment </a:t>
            </a:r>
            <a:r>
              <a:rPr kumimoji="0" lang="en-US" sz="2400" b="0" i="1" u="none" strike="noStrike" kern="0" cap="none" spc="0" normalizeH="0" baseline="0" noProof="0" dirty="0">
                <a:ln>
                  <a:noFill/>
                </a:ln>
                <a:solidFill>
                  <a:srgbClr val="000000"/>
                </a:solidFill>
                <a:effectLst/>
                <a:uLnTx/>
                <a:uFillTx/>
                <a:latin typeface="Arial"/>
              </a:rPr>
              <a:t>first</a:t>
            </a:r>
            <a:r>
              <a:rPr kumimoji="0" lang="en-US" sz="2400" b="0" i="0" u="none" strike="noStrike" kern="0" cap="none" spc="0" normalizeH="0" baseline="0" noProof="0" dirty="0">
                <a:ln>
                  <a:noFill/>
                </a:ln>
                <a:solidFill>
                  <a:srgbClr val="000000"/>
                </a:solidFill>
                <a:effectLst/>
                <a:uLnTx/>
                <a:uFillTx/>
                <a:latin typeface="Arial"/>
              </a:rPr>
              <a:t> by 1 and repeat from Step 1</a:t>
            </a:r>
          </a:p>
          <a:p>
            <a:pPr marL="914400" marR="0" lvl="1" indent="-457200" algn="l" defTabSz="914400" rtl="0" eaLnBrk="0" fontAlgn="base" latinLnBrk="0" hangingPunct="0">
              <a:lnSpc>
                <a:spcPct val="114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 while </a:t>
            </a:r>
            <a:r>
              <a:rPr kumimoji="0" lang="en-US" sz="2400" b="0" i="1" u="none" strike="noStrike" kern="0" cap="none" spc="0" normalizeH="0" baseline="0" noProof="0" dirty="0">
                <a:ln>
                  <a:noFill/>
                </a:ln>
                <a:solidFill>
                  <a:srgbClr val="000000"/>
                </a:solidFill>
                <a:effectLst/>
                <a:uLnTx/>
                <a:uFillTx/>
                <a:latin typeface="Arial"/>
              </a:rPr>
              <a:t>first &lt; n -</a:t>
            </a:r>
            <a:r>
              <a:rPr kumimoji="0" lang="en-US" sz="2400" b="0" i="0" u="none" strike="noStrike" kern="0" cap="none" spc="0" normalizeH="0" baseline="0" noProof="0" dirty="0">
                <a:ln>
                  <a:noFill/>
                </a:ln>
                <a:solidFill>
                  <a:srgbClr val="000000"/>
                </a:solidFill>
                <a:effectLst/>
                <a:uLnTx/>
                <a:uFillTx/>
                <a:latin typeface="Arial"/>
              </a:rPr>
              <a:t> 1)</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In the next iteration, we’ll be finding the smallest of the elements AFTER the 1, which will be the 2.</a:t>
            </a:r>
          </a:p>
        </p:txBody>
      </p:sp>
    </p:spTree>
    <p:extLst>
      <p:ext uri="{BB962C8B-B14F-4D97-AF65-F5344CB8AC3E}">
        <p14:creationId xmlns:p14="http://schemas.microsoft.com/office/powerpoint/2010/main" val="717138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442BC-0F70-4454-5DB5-52BAF2BD9898}"/>
              </a:ext>
            </a:extLst>
          </p:cNvPr>
          <p:cNvSpPr txBox="1">
            <a:spLocks noGrp="1"/>
          </p:cNvSpPr>
          <p:nvPr>
            <p:ph type="title" idx="4294967295"/>
          </p:nvPr>
        </p:nvSpPr>
        <p:spPr bwMode="auto">
          <a:xfrm>
            <a:off x="152400" y="228600"/>
            <a:ext cx="8839200" cy="609600"/>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0" cap="none" spc="0" normalizeH="0" baseline="0" noProof="0" dirty="0">
                <a:ln w="9525">
                  <a:solidFill>
                    <a:srgbClr val="0066FF"/>
                  </a:solidFill>
                  <a:prstDash val="solid"/>
                </a:ln>
                <a:solidFill>
                  <a:schemeClr val="accent6">
                    <a:lumMod val="75000"/>
                  </a:schemeClr>
                </a:solidFill>
                <a:effectLst>
                  <a:outerShdw blurRad="12700" dist="38100" dir="2700000" algn="tl" rotWithShape="0">
                    <a:schemeClr val="bg1">
                      <a:lumMod val="50000"/>
                    </a:schemeClr>
                  </a:outerShdw>
                </a:effectLst>
                <a:uLnTx/>
                <a:uFillTx/>
                <a:latin typeface="+mj-lt"/>
                <a:ea typeface="+mj-ea"/>
                <a:cs typeface="+mj-cs"/>
              </a:rPr>
              <a:t>Selection Sort Trace</a:t>
            </a:r>
          </a:p>
        </p:txBody>
      </p:sp>
      <p:sp>
        <p:nvSpPr>
          <p:cNvPr id="23571" name="Text Box 18">
            <a:extLst>
              <a:ext uri="{FF2B5EF4-FFF2-40B4-BE49-F238E27FC236}">
                <a16:creationId xmlns:a16="http://schemas.microsoft.com/office/drawing/2014/main" id="{6EDD6D90-C741-481C-BE54-28A0203DFE3A}"/>
              </a:ext>
            </a:extLst>
          </p:cNvPr>
          <p:cNvSpPr txBox="1">
            <a:spLocks noChangeArrowheads="1"/>
          </p:cNvSpPr>
          <p:nvPr/>
        </p:nvSpPr>
        <p:spPr bwMode="auto">
          <a:xfrm>
            <a:off x="3124200" y="10668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0    1     2    3    4 </a:t>
            </a:r>
          </a:p>
        </p:txBody>
      </p:sp>
      <p:sp>
        <p:nvSpPr>
          <p:cNvPr id="23556" name="Text Box 3">
            <a:extLst>
              <a:ext uri="{FF2B5EF4-FFF2-40B4-BE49-F238E27FC236}">
                <a16:creationId xmlns:a16="http://schemas.microsoft.com/office/drawing/2014/main" id="{3CF788D1-4ADA-4A35-B14F-9C7C1B0A080B}"/>
              </a:ext>
            </a:extLst>
          </p:cNvPr>
          <p:cNvSpPr txBox="1">
            <a:spLocks noChangeArrowheads="1"/>
          </p:cNvSpPr>
          <p:nvPr/>
        </p:nvSpPr>
        <p:spPr bwMode="auto">
          <a:xfrm>
            <a:off x="1600200" y="1752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0</a:t>
            </a:r>
          </a:p>
        </p:txBody>
      </p:sp>
      <p:graphicFrame>
        <p:nvGraphicFramePr>
          <p:cNvPr id="208900" name="Group 4">
            <a:extLst>
              <a:ext uri="{FF2B5EF4-FFF2-40B4-BE49-F238E27FC236}">
                <a16:creationId xmlns:a16="http://schemas.microsoft.com/office/drawing/2014/main" id="{04DD44D0-C369-4A64-B5F9-A1CE4C33D3CB}"/>
              </a:ext>
            </a:extLst>
          </p:cNvPr>
          <p:cNvGraphicFramePr>
            <a:graphicFrameLocks noGrp="1"/>
          </p:cNvGraphicFramePr>
          <p:nvPr>
            <p:extLst>
              <p:ext uri="{D42A27DB-BD31-4B8C-83A1-F6EECF244321}">
                <p14:modId xmlns:p14="http://schemas.microsoft.com/office/powerpoint/2010/main" val="2658595296"/>
              </p:ext>
            </p:extLst>
          </p:nvPr>
        </p:nvGraphicFramePr>
        <p:xfrm>
          <a:off x="2987675" y="1752600"/>
          <a:ext cx="3390900" cy="584200"/>
        </p:xfrm>
        <a:graphic>
          <a:graphicData uri="http://schemas.openxmlformats.org/drawingml/2006/table">
            <a:tbl>
              <a:tblPr firstRow="1"/>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accent2"/>
                          </a:solidFill>
                          <a:effectLst/>
                          <a:latin typeface="Tahoma" pitchFamily="34" charset="0"/>
                        </a:rPr>
                        <a:t>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accent2"/>
                          </a:solidFill>
                          <a:effectLst/>
                          <a:latin typeface="Tahoma" pitchFamily="34" charset="0"/>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15" name="Text Box 19">
            <a:extLst>
              <a:ext uri="{FF2B5EF4-FFF2-40B4-BE49-F238E27FC236}">
                <a16:creationId xmlns:a16="http://schemas.microsoft.com/office/drawing/2014/main" id="{21C6B7E6-C0A3-4327-A917-803665639C23}"/>
              </a:ext>
            </a:extLst>
          </p:cNvPr>
          <p:cNvSpPr txBox="1">
            <a:spLocks noChangeArrowheads="1"/>
          </p:cNvSpPr>
          <p:nvPr/>
        </p:nvSpPr>
        <p:spPr bwMode="auto">
          <a:xfrm>
            <a:off x="1584325" y="2514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1</a:t>
            </a:r>
          </a:p>
        </p:txBody>
      </p:sp>
      <p:graphicFrame>
        <p:nvGraphicFramePr>
          <p:cNvPr id="208916" name="Group 20">
            <a:extLst>
              <a:ext uri="{FF2B5EF4-FFF2-40B4-BE49-F238E27FC236}">
                <a16:creationId xmlns:a16="http://schemas.microsoft.com/office/drawing/2014/main" id="{98F486B3-EA4C-4EAB-BF5A-E07BA90A308A}"/>
              </a:ext>
            </a:extLst>
          </p:cNvPr>
          <p:cNvGraphicFramePr>
            <a:graphicFrameLocks noGrp="1"/>
          </p:cNvGraphicFramePr>
          <p:nvPr/>
        </p:nvGraphicFramePr>
        <p:xfrm>
          <a:off x="2971800" y="2514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FF3300"/>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30" name="Text Box 34">
            <a:extLst>
              <a:ext uri="{FF2B5EF4-FFF2-40B4-BE49-F238E27FC236}">
                <a16:creationId xmlns:a16="http://schemas.microsoft.com/office/drawing/2014/main" id="{4FDE9DAA-4042-416F-A37A-1FA40973D73D}"/>
              </a:ext>
            </a:extLst>
          </p:cNvPr>
          <p:cNvSpPr txBox="1">
            <a:spLocks noChangeArrowheads="1"/>
          </p:cNvSpPr>
          <p:nvPr/>
        </p:nvSpPr>
        <p:spPr bwMode="auto">
          <a:xfrm>
            <a:off x="1584325" y="3276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2</a:t>
            </a:r>
          </a:p>
        </p:txBody>
      </p:sp>
      <p:graphicFrame>
        <p:nvGraphicFramePr>
          <p:cNvPr id="208931" name="Group 35">
            <a:extLst>
              <a:ext uri="{FF2B5EF4-FFF2-40B4-BE49-F238E27FC236}">
                <a16:creationId xmlns:a16="http://schemas.microsoft.com/office/drawing/2014/main" id="{019A2A7F-B329-4DE9-8483-A1E682EB109A}"/>
              </a:ext>
            </a:extLst>
          </p:cNvPr>
          <p:cNvGraphicFramePr>
            <a:graphicFrameLocks noGrp="1"/>
          </p:cNvGraphicFramePr>
          <p:nvPr/>
        </p:nvGraphicFramePr>
        <p:xfrm>
          <a:off x="2971800" y="3276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45" name="Text Box 49">
            <a:extLst>
              <a:ext uri="{FF2B5EF4-FFF2-40B4-BE49-F238E27FC236}">
                <a16:creationId xmlns:a16="http://schemas.microsoft.com/office/drawing/2014/main" id="{15440A57-6C2A-4F37-9036-0B093D8B96D6}"/>
              </a:ext>
            </a:extLst>
          </p:cNvPr>
          <p:cNvSpPr txBox="1">
            <a:spLocks noChangeArrowheads="1"/>
          </p:cNvSpPr>
          <p:nvPr/>
        </p:nvSpPr>
        <p:spPr bwMode="auto">
          <a:xfrm>
            <a:off x="1584325" y="4038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3</a:t>
            </a:r>
          </a:p>
        </p:txBody>
      </p:sp>
      <p:graphicFrame>
        <p:nvGraphicFramePr>
          <p:cNvPr id="208946" name="Group 50">
            <a:extLst>
              <a:ext uri="{FF2B5EF4-FFF2-40B4-BE49-F238E27FC236}">
                <a16:creationId xmlns:a16="http://schemas.microsoft.com/office/drawing/2014/main" id="{806A7CCA-6B95-466C-8386-F63177F0AE2F}"/>
              </a:ext>
            </a:extLst>
          </p:cNvPr>
          <p:cNvGraphicFramePr>
            <a:graphicFrameLocks noGrp="1"/>
          </p:cNvGraphicFramePr>
          <p:nvPr/>
        </p:nvGraphicFramePr>
        <p:xfrm>
          <a:off x="2971800" y="4038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60" name="Text Box 64">
            <a:extLst>
              <a:ext uri="{FF2B5EF4-FFF2-40B4-BE49-F238E27FC236}">
                <a16:creationId xmlns:a16="http://schemas.microsoft.com/office/drawing/2014/main" id="{BFBA3E0C-CFCE-4A6D-A340-CE2BA2D8607A}"/>
              </a:ext>
            </a:extLst>
          </p:cNvPr>
          <p:cNvSpPr txBox="1">
            <a:spLocks noChangeArrowheads="1"/>
          </p:cNvSpPr>
          <p:nvPr/>
        </p:nvSpPr>
        <p:spPr bwMode="auto">
          <a:xfrm>
            <a:off x="1584325" y="4800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4</a:t>
            </a:r>
          </a:p>
        </p:txBody>
      </p:sp>
      <p:graphicFrame>
        <p:nvGraphicFramePr>
          <p:cNvPr id="208961" name="Group 65">
            <a:extLst>
              <a:ext uri="{FF2B5EF4-FFF2-40B4-BE49-F238E27FC236}">
                <a16:creationId xmlns:a16="http://schemas.microsoft.com/office/drawing/2014/main" id="{DA29E63B-0D24-4FC5-B452-E1C44E4EF94C}"/>
              </a:ext>
            </a:extLst>
          </p:cNvPr>
          <p:cNvGraphicFramePr>
            <a:graphicFrameLocks noGrp="1"/>
          </p:cNvGraphicFramePr>
          <p:nvPr/>
        </p:nvGraphicFramePr>
        <p:xfrm>
          <a:off x="2971800" y="4800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3554" name="Footer Placeholder 3">
            <a:extLst>
              <a:ext uri="{FF2B5EF4-FFF2-40B4-BE49-F238E27FC236}">
                <a16:creationId xmlns:a16="http://schemas.microsoft.com/office/drawing/2014/main" id="{756CA70D-9B57-4F7F-AE8A-A8E38D31AEAE}"/>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8915"/>
                                        </p:tgtEl>
                                        <p:attrNameLst>
                                          <p:attrName>style.visibility</p:attrName>
                                        </p:attrNameLst>
                                      </p:cBhvr>
                                      <p:to>
                                        <p:strVal val="visible"/>
                                      </p:to>
                                    </p:set>
                                    <p:animEffect transition="in" filter="checkerboard(across)">
                                      <p:cBhvr>
                                        <p:cTn id="7" dur="500"/>
                                        <p:tgtEl>
                                          <p:spTgt spid="208915"/>
                                        </p:tgtEl>
                                      </p:cBhvr>
                                    </p:animEffect>
                                  </p:childTnLst>
                                </p:cTn>
                              </p:par>
                              <p:par>
                                <p:cTn id="8" presetID="5" presetClass="entr" presetSubtype="10" fill="hold" nodeType="withEffect">
                                  <p:stCondLst>
                                    <p:cond delay="0"/>
                                  </p:stCondLst>
                                  <p:childTnLst>
                                    <p:set>
                                      <p:cBhvr>
                                        <p:cTn id="9" dur="1" fill="hold">
                                          <p:stCondLst>
                                            <p:cond delay="0"/>
                                          </p:stCondLst>
                                        </p:cTn>
                                        <p:tgtEl>
                                          <p:spTgt spid="208916"/>
                                        </p:tgtEl>
                                        <p:attrNameLst>
                                          <p:attrName>style.visibility</p:attrName>
                                        </p:attrNameLst>
                                      </p:cBhvr>
                                      <p:to>
                                        <p:strVal val="visible"/>
                                      </p:to>
                                    </p:set>
                                    <p:animEffect transition="in" filter="checkerboard(across)">
                                      <p:cBhvr>
                                        <p:cTn id="10" dur="500"/>
                                        <p:tgtEl>
                                          <p:spTgt spid="2089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08930"/>
                                        </p:tgtEl>
                                        <p:attrNameLst>
                                          <p:attrName>style.visibility</p:attrName>
                                        </p:attrNameLst>
                                      </p:cBhvr>
                                      <p:to>
                                        <p:strVal val="visible"/>
                                      </p:to>
                                    </p:set>
                                    <p:animEffect transition="in" filter="checkerboard(across)">
                                      <p:cBhvr>
                                        <p:cTn id="15" dur="500"/>
                                        <p:tgtEl>
                                          <p:spTgt spid="208930"/>
                                        </p:tgtEl>
                                      </p:cBhvr>
                                    </p:animEffect>
                                  </p:childTnLst>
                                </p:cTn>
                              </p:par>
                              <p:par>
                                <p:cTn id="16" presetID="5" presetClass="entr" presetSubtype="10" fill="hold" nodeType="withEffect">
                                  <p:stCondLst>
                                    <p:cond delay="0"/>
                                  </p:stCondLst>
                                  <p:childTnLst>
                                    <p:set>
                                      <p:cBhvr>
                                        <p:cTn id="17" dur="1" fill="hold">
                                          <p:stCondLst>
                                            <p:cond delay="0"/>
                                          </p:stCondLst>
                                        </p:cTn>
                                        <p:tgtEl>
                                          <p:spTgt spid="208931"/>
                                        </p:tgtEl>
                                        <p:attrNameLst>
                                          <p:attrName>style.visibility</p:attrName>
                                        </p:attrNameLst>
                                      </p:cBhvr>
                                      <p:to>
                                        <p:strVal val="visible"/>
                                      </p:to>
                                    </p:set>
                                    <p:animEffect transition="in" filter="checkerboard(across)">
                                      <p:cBhvr>
                                        <p:cTn id="18" dur="500"/>
                                        <p:tgtEl>
                                          <p:spTgt spid="20893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08945"/>
                                        </p:tgtEl>
                                        <p:attrNameLst>
                                          <p:attrName>style.visibility</p:attrName>
                                        </p:attrNameLst>
                                      </p:cBhvr>
                                      <p:to>
                                        <p:strVal val="visible"/>
                                      </p:to>
                                    </p:set>
                                    <p:animEffect transition="in" filter="checkerboard(across)">
                                      <p:cBhvr>
                                        <p:cTn id="23" dur="500"/>
                                        <p:tgtEl>
                                          <p:spTgt spid="208945"/>
                                        </p:tgtEl>
                                      </p:cBhvr>
                                    </p:animEffect>
                                  </p:childTnLst>
                                </p:cTn>
                              </p:par>
                              <p:par>
                                <p:cTn id="24" presetID="5" presetClass="entr" presetSubtype="10" fill="hold" nodeType="withEffect">
                                  <p:stCondLst>
                                    <p:cond delay="0"/>
                                  </p:stCondLst>
                                  <p:childTnLst>
                                    <p:set>
                                      <p:cBhvr>
                                        <p:cTn id="25" dur="1" fill="hold">
                                          <p:stCondLst>
                                            <p:cond delay="0"/>
                                          </p:stCondLst>
                                        </p:cTn>
                                        <p:tgtEl>
                                          <p:spTgt spid="208946"/>
                                        </p:tgtEl>
                                        <p:attrNameLst>
                                          <p:attrName>style.visibility</p:attrName>
                                        </p:attrNameLst>
                                      </p:cBhvr>
                                      <p:to>
                                        <p:strVal val="visible"/>
                                      </p:to>
                                    </p:set>
                                    <p:animEffect transition="in" filter="checkerboard(across)">
                                      <p:cBhvr>
                                        <p:cTn id="26" dur="500"/>
                                        <p:tgtEl>
                                          <p:spTgt spid="2089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08960"/>
                                        </p:tgtEl>
                                        <p:attrNameLst>
                                          <p:attrName>style.visibility</p:attrName>
                                        </p:attrNameLst>
                                      </p:cBhvr>
                                      <p:to>
                                        <p:strVal val="visible"/>
                                      </p:to>
                                    </p:set>
                                    <p:animEffect transition="in" filter="checkerboard(across)">
                                      <p:cBhvr>
                                        <p:cTn id="31" dur="500"/>
                                        <p:tgtEl>
                                          <p:spTgt spid="208960"/>
                                        </p:tgtEl>
                                      </p:cBhvr>
                                    </p:animEffect>
                                  </p:childTnLst>
                                </p:cTn>
                              </p:par>
                              <p:par>
                                <p:cTn id="32" presetID="5" presetClass="entr" presetSubtype="10" fill="hold" nodeType="withEffect">
                                  <p:stCondLst>
                                    <p:cond delay="0"/>
                                  </p:stCondLst>
                                  <p:childTnLst>
                                    <p:set>
                                      <p:cBhvr>
                                        <p:cTn id="33" dur="1" fill="hold">
                                          <p:stCondLst>
                                            <p:cond delay="0"/>
                                          </p:stCondLst>
                                        </p:cTn>
                                        <p:tgtEl>
                                          <p:spTgt spid="208961"/>
                                        </p:tgtEl>
                                        <p:attrNameLst>
                                          <p:attrName>style.visibility</p:attrName>
                                        </p:attrNameLst>
                                      </p:cBhvr>
                                      <p:to>
                                        <p:strVal val="visible"/>
                                      </p:to>
                                    </p:set>
                                    <p:animEffect transition="in" filter="checkerboard(across)">
                                      <p:cBhvr>
                                        <p:cTn id="34" dur="500"/>
                                        <p:tgtEl>
                                          <p:spTgt spid="208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15" grpId="0"/>
      <p:bldP spid="208930" grpId="0"/>
      <p:bldP spid="208945" grpId="0"/>
      <p:bldP spid="2089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964D-ABE1-8FC9-9EFD-EAD79B52FA71}"/>
              </a:ext>
            </a:extLst>
          </p:cNvPr>
          <p:cNvSpPr>
            <a:spLocks noGrp="1"/>
          </p:cNvSpPr>
          <p:nvPr>
            <p:ph type="title" idx="4294967295"/>
          </p:nvPr>
        </p:nvSpPr>
        <p:spPr>
          <a:xfrm>
            <a:off x="152400" y="228600"/>
            <a:ext cx="8839200" cy="609600"/>
          </a:xfrm>
        </p:spPr>
        <p:txBody>
          <a:bodyPr/>
          <a:lstStyle/>
          <a:p>
            <a:r>
              <a:rPr lang="en-US" sz="3600" b="1" dirty="0">
                <a:ln w="9525">
                  <a:solidFill>
                    <a:srgbClr val="0066FF"/>
                  </a:solidFill>
                  <a:prstDash val="solid"/>
                </a:ln>
                <a:solidFill>
                  <a:schemeClr val="accent6">
                    <a:lumMod val="75000"/>
                  </a:schemeClr>
                </a:solidFill>
                <a:effectLst>
                  <a:outerShdw blurRad="12700" dist="38100" dir="2700000" algn="tl" rotWithShape="0">
                    <a:schemeClr val="bg1">
                      <a:lumMod val="50000"/>
                    </a:schemeClr>
                  </a:outerShdw>
                </a:effectLst>
              </a:rPr>
              <a:t>Selection Sort Code for Array of Primitives</a:t>
            </a:r>
          </a:p>
        </p:txBody>
      </p:sp>
      <p:sp>
        <p:nvSpPr>
          <p:cNvPr id="21506" name="Rectangle 2">
            <a:extLst>
              <a:ext uri="{FF2B5EF4-FFF2-40B4-BE49-F238E27FC236}">
                <a16:creationId xmlns:a16="http://schemas.microsoft.com/office/drawing/2014/main" id="{94D6D042-BCA1-48FA-8487-D88800DCAA40}"/>
              </a:ext>
            </a:extLst>
          </p:cNvPr>
          <p:cNvSpPr>
            <a:spLocks noChangeArrowheads="1"/>
          </p:cNvSpPr>
          <p:nvPr/>
        </p:nvSpPr>
        <p:spPr bwMode="auto">
          <a:xfrm>
            <a:off x="914400" y="1076325"/>
            <a:ext cx="7700963" cy="570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300" dirty="0">
                <a:latin typeface="Tahoma" panose="020B0604030504040204" pitchFamily="34" charset="0"/>
              </a:rPr>
              <a:t>void </a:t>
            </a:r>
            <a:r>
              <a:rPr lang="en-US" altLang="en-US" sz="2300" dirty="0" err="1">
                <a:latin typeface="Tahoma" panose="020B0604030504040204" pitchFamily="34" charset="0"/>
              </a:rPr>
              <a:t>selectionSort</a:t>
            </a:r>
            <a:r>
              <a:rPr lang="en-US" altLang="en-US" sz="2300" dirty="0">
                <a:latin typeface="Tahoma" panose="020B0604030504040204" pitchFamily="34" charset="0"/>
              </a:rPr>
              <a:t>( int[] ray  )</a:t>
            </a:r>
            <a:br>
              <a:rPr lang="en-US" altLang="en-US" sz="2300" dirty="0">
                <a:latin typeface="Tahoma" panose="020B0604030504040204" pitchFamily="34" charset="0"/>
              </a:rPr>
            </a:b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for(int </a:t>
            </a:r>
            <a:r>
              <a:rPr lang="en-US" altLang="en-US" sz="2300" dirty="0" err="1">
                <a:latin typeface="Tahoma" panose="020B0604030504040204" pitchFamily="34" charset="0"/>
              </a:rPr>
              <a:t>i</a:t>
            </a:r>
            <a:r>
              <a:rPr lang="en-US" altLang="en-US" sz="2300" dirty="0">
                <a:latin typeface="Tahoma" panose="020B0604030504040204" pitchFamily="34" charset="0"/>
              </a:rPr>
              <a:t>=0; </a:t>
            </a:r>
            <a:r>
              <a:rPr lang="en-US" altLang="en-US" sz="2300" dirty="0" err="1">
                <a:latin typeface="Tahoma" panose="020B0604030504040204" pitchFamily="34" charset="0"/>
              </a:rPr>
              <a:t>i</a:t>
            </a:r>
            <a:r>
              <a:rPr lang="en-US" altLang="en-US" sz="2300" dirty="0">
                <a:latin typeface="Tahoma" panose="020B0604030504040204" pitchFamily="34" charset="0"/>
              </a:rPr>
              <a:t>&lt; ray.length-1; </a:t>
            </a:r>
            <a:r>
              <a:rPr lang="en-US" altLang="en-US" sz="2300" dirty="0" err="1">
                <a:latin typeface="Tahoma" panose="020B0604030504040204" pitchFamily="34" charset="0"/>
              </a:rPr>
              <a:t>i</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int min = </a:t>
            </a:r>
            <a:r>
              <a:rPr lang="en-US" altLang="en-US" sz="2300" dirty="0" err="1">
                <a:latin typeface="Tahoma" panose="020B0604030504040204" pitchFamily="34" charset="0"/>
              </a:rPr>
              <a:t>i</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for(int j = i+1; j&lt; </a:t>
            </a:r>
            <a:r>
              <a:rPr lang="en-US" altLang="en-US" sz="2300" dirty="0" err="1">
                <a:latin typeface="Tahoma" panose="020B0604030504040204" pitchFamily="34" charset="0"/>
              </a:rPr>
              <a:t>ray.length</a:t>
            </a:r>
            <a:r>
              <a:rPr lang="en-US" altLang="en-US" sz="2300" dirty="0">
                <a:latin typeface="Tahoma" panose="020B0604030504040204" pitchFamily="34" charset="0"/>
              </a:rPr>
              <a:t>; </a:t>
            </a:r>
            <a:r>
              <a:rPr lang="en-US" altLang="en-US" sz="2300" dirty="0" err="1">
                <a:latin typeface="Tahoma" panose="020B0604030504040204" pitchFamily="34" charset="0"/>
              </a:rPr>
              <a:t>j++</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if(ray[j] &lt; ray[min])</a:t>
            </a:r>
          </a:p>
          <a:p>
            <a:pPr>
              <a:spcBef>
                <a:spcPct val="0"/>
              </a:spcBef>
              <a:buFontTx/>
              <a:buNone/>
            </a:pPr>
            <a:r>
              <a:rPr lang="en-US" altLang="en-US" sz="2300" dirty="0">
                <a:latin typeface="Tahoma" panose="020B0604030504040204" pitchFamily="34" charset="0"/>
              </a:rPr>
              <a:t>	    min = j;    	</a:t>
            </a:r>
            <a:r>
              <a:rPr lang="en-US" altLang="en-US" sz="2300" dirty="0">
                <a:solidFill>
                  <a:srgbClr val="009900"/>
                </a:solidFill>
                <a:latin typeface="Tahoma" panose="020B0604030504040204" pitchFamily="34" charset="0"/>
              </a:rPr>
              <a:t>//find location of smallest</a:t>
            </a: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if( min != </a:t>
            </a:r>
            <a:r>
              <a:rPr lang="en-US" altLang="en-US" sz="2300" dirty="0" err="1">
                <a:latin typeface="Tahoma" panose="020B0604030504040204" pitchFamily="34" charset="0"/>
              </a:rPr>
              <a:t>i</a:t>
            </a: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int temp = ray[min];</a:t>
            </a:r>
          </a:p>
          <a:p>
            <a:pPr>
              <a:spcBef>
                <a:spcPct val="0"/>
              </a:spcBef>
              <a:buFontTx/>
              <a:buNone/>
            </a:pPr>
            <a:r>
              <a:rPr lang="en-US" altLang="en-US" sz="2300" dirty="0">
                <a:latin typeface="Tahoma" panose="020B0604030504040204" pitchFamily="34" charset="0"/>
              </a:rPr>
              <a:t>	 ray[min] = ray[</a:t>
            </a:r>
            <a:r>
              <a:rPr lang="en-US" altLang="en-US" sz="2300" dirty="0" err="1">
                <a:latin typeface="Tahoma" panose="020B0604030504040204" pitchFamily="34" charset="0"/>
              </a:rPr>
              <a:t>i</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ray[</a:t>
            </a:r>
            <a:r>
              <a:rPr lang="en-US" altLang="en-US" sz="2300" dirty="0" err="1">
                <a:latin typeface="Tahoma" panose="020B0604030504040204" pitchFamily="34" charset="0"/>
              </a:rPr>
              <a:t>i</a:t>
            </a:r>
            <a:r>
              <a:rPr lang="en-US" altLang="en-US" sz="2300" dirty="0">
                <a:latin typeface="Tahoma" panose="020B0604030504040204" pitchFamily="34" charset="0"/>
              </a:rPr>
              <a:t>] = temp;   </a:t>
            </a:r>
            <a:r>
              <a:rPr lang="en-US" altLang="en-US" sz="2300" dirty="0">
                <a:solidFill>
                  <a:srgbClr val="009900"/>
                </a:solidFill>
                <a:latin typeface="Tahoma" panose="020B0604030504040204" pitchFamily="34" charset="0"/>
              </a:rPr>
              <a:t>	//put smallest in pos </a:t>
            </a:r>
            <a:r>
              <a:rPr lang="en-US" altLang="en-US" sz="2300" dirty="0" err="1">
                <a:solidFill>
                  <a:srgbClr val="009900"/>
                </a:solidFill>
                <a:latin typeface="Tahoma" panose="020B0604030504040204" pitchFamily="34" charset="0"/>
              </a:rPr>
              <a:t>i</a:t>
            </a:r>
            <a:endParaRPr lang="en-US" altLang="en-US" sz="2300" dirty="0">
              <a:solidFill>
                <a:srgbClr val="009900"/>
              </a:solidFill>
              <a:latin typeface="Tahoma" panose="020B0604030504040204" pitchFamily="34" charset="0"/>
            </a:endParaRP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a:t>
            </a:r>
            <a:endParaRPr lang="en-US" altLang="en-US" sz="2400" dirty="0">
              <a:solidFill>
                <a:srgbClr val="FFFF00"/>
              </a:solidFill>
              <a:latin typeface="Tahoma" panose="020B060403050404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a:extLst>
              <a:ext uri="{FF2B5EF4-FFF2-40B4-BE49-F238E27FC236}">
                <a16:creationId xmlns:a16="http://schemas.microsoft.com/office/drawing/2014/main" id="{6A3A87CB-F1F0-468B-8C9C-4590BC0716E2}"/>
              </a:ext>
            </a:extLst>
          </p:cNvPr>
          <p:cNvSpPr txBox="1">
            <a:spLocks noChangeArrowheads="1"/>
          </p:cNvSpPr>
          <p:nvPr/>
        </p:nvSpPr>
        <p:spPr bwMode="auto">
          <a:xfrm>
            <a:off x="304800" y="457200"/>
            <a:ext cx="8001000" cy="607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public void </a:t>
            </a:r>
            <a:r>
              <a:rPr lang="en-US" altLang="en-US" sz="2800" dirty="0" err="1">
                <a:latin typeface="Tahoma" panose="020B0604030504040204" pitchFamily="34" charset="0"/>
              </a:rPr>
              <a:t>selSort</a:t>
            </a:r>
            <a:r>
              <a:rPr lang="en-US" altLang="en-US" sz="2800" dirty="0">
                <a:latin typeface="Tahoma" panose="020B0604030504040204" pitchFamily="34" charset="0"/>
              </a:rPr>
              <a:t>(</a:t>
            </a:r>
            <a:r>
              <a:rPr lang="en-US" altLang="en-US" sz="2800" dirty="0">
                <a:solidFill>
                  <a:srgbClr val="C00000"/>
                </a:solidFill>
                <a:latin typeface="Tahoma" panose="020B0604030504040204" pitchFamily="34" charset="0"/>
              </a:rPr>
              <a:t>Comparable[] </a:t>
            </a:r>
            <a:r>
              <a:rPr lang="en-US" altLang="en-US" sz="2800" dirty="0">
                <a:latin typeface="Tahoma" panose="020B0604030504040204" pitchFamily="34" charset="0"/>
              </a:rPr>
              <a:t>ray){</a:t>
            </a:r>
          </a:p>
          <a:p>
            <a:pPr>
              <a:spcBef>
                <a:spcPct val="0"/>
              </a:spcBef>
              <a:buFontTx/>
              <a:buNone/>
            </a:pPr>
            <a:r>
              <a:rPr lang="en-US" altLang="en-US" sz="2800" dirty="0">
                <a:latin typeface="Tahoma" panose="020B0604030504040204" pitchFamily="34" charset="0"/>
              </a:rPr>
              <a:t>  for(int </a:t>
            </a:r>
            <a:r>
              <a:rPr lang="en-US" altLang="en-US" sz="2800" dirty="0" err="1">
                <a:latin typeface="Tahoma" panose="020B0604030504040204" pitchFamily="34" charset="0"/>
              </a:rPr>
              <a:t>i</a:t>
            </a:r>
            <a:r>
              <a:rPr lang="en-US" altLang="en-US" sz="2800" dirty="0">
                <a:latin typeface="Tahoma" panose="020B0604030504040204" pitchFamily="34" charset="0"/>
              </a:rPr>
              <a:t>=0; </a:t>
            </a:r>
            <a:r>
              <a:rPr lang="en-US" altLang="en-US" sz="2800" dirty="0" err="1">
                <a:latin typeface="Tahoma" panose="020B0604030504040204" pitchFamily="34" charset="0"/>
              </a:rPr>
              <a:t>i</a:t>
            </a:r>
            <a:r>
              <a:rPr lang="en-US" altLang="en-US" sz="2800" dirty="0">
                <a:latin typeface="Tahoma" panose="020B0604030504040204" pitchFamily="34" charset="0"/>
              </a:rPr>
              <a:t>&lt;ray.length-1;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int min=</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for(int j=</a:t>
            </a:r>
            <a:r>
              <a:rPr lang="en-US" altLang="en-US" sz="2800" dirty="0" err="1">
                <a:latin typeface="Tahoma" panose="020B0604030504040204" pitchFamily="34" charset="0"/>
              </a:rPr>
              <a:t>i</a:t>
            </a:r>
            <a:r>
              <a:rPr lang="en-US" altLang="en-US" sz="2800" dirty="0">
                <a:latin typeface="Tahoma" panose="020B0604030504040204" pitchFamily="34" charset="0"/>
              </a:rPr>
              <a:t>; j&lt;</a:t>
            </a:r>
            <a:r>
              <a:rPr lang="en-US" altLang="en-US" sz="2800" dirty="0" err="1">
                <a:latin typeface="Tahoma" panose="020B0604030504040204" pitchFamily="34" charset="0"/>
              </a:rPr>
              <a:t>ray.length</a:t>
            </a:r>
            <a:r>
              <a:rPr lang="en-US" altLang="en-US" sz="2800" dirty="0">
                <a:latin typeface="Tahoma" panose="020B0604030504040204" pitchFamily="34" charset="0"/>
              </a:rPr>
              <a:t>; </a:t>
            </a:r>
            <a:r>
              <a:rPr lang="en-US" altLang="en-US" sz="2800" dirty="0" err="1">
                <a:latin typeface="Tahoma" panose="020B0604030504040204" pitchFamily="34" charset="0"/>
              </a:rPr>
              <a:t>j++</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if(</a:t>
            </a:r>
            <a:r>
              <a:rPr lang="en-US" altLang="en-US" sz="2800" dirty="0">
                <a:solidFill>
                  <a:srgbClr val="C00000"/>
                </a:solidFill>
                <a:latin typeface="Tahoma" panose="020B0604030504040204" pitchFamily="34" charset="0"/>
              </a:rPr>
              <a:t>ray[j].</a:t>
            </a:r>
            <a:r>
              <a:rPr lang="en-US" altLang="en-US" sz="2800" dirty="0" err="1">
                <a:solidFill>
                  <a:srgbClr val="C00000"/>
                </a:solidFill>
                <a:latin typeface="Tahoma" panose="020B0604030504040204" pitchFamily="34" charset="0"/>
              </a:rPr>
              <a:t>compareTo</a:t>
            </a:r>
            <a:r>
              <a:rPr lang="en-US" altLang="en-US" sz="2800" dirty="0">
                <a:solidFill>
                  <a:srgbClr val="C00000"/>
                </a:solidFill>
                <a:latin typeface="Tahoma" panose="020B0604030504040204" pitchFamily="34" charset="0"/>
              </a:rPr>
              <a:t>(ray[spot])&lt;0</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min=j;</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if(min==</a:t>
            </a:r>
            <a:r>
              <a:rPr lang="en-US" altLang="en-US" sz="2800" dirty="0" err="1">
                <a:latin typeface="Tahoma" panose="020B0604030504040204" pitchFamily="34" charset="0"/>
              </a:rPr>
              <a:t>i</a:t>
            </a:r>
            <a:r>
              <a:rPr lang="en-US" altLang="en-US" sz="2800" dirty="0">
                <a:latin typeface="Tahoma" panose="020B0604030504040204" pitchFamily="34" charset="0"/>
              </a:rPr>
              <a:t>) continue;</a:t>
            </a:r>
          </a:p>
          <a:p>
            <a:pPr>
              <a:spcBef>
                <a:spcPct val="0"/>
              </a:spcBef>
              <a:buFontTx/>
              <a:buNone/>
            </a:pPr>
            <a:r>
              <a:rPr lang="en-US" altLang="en-US" sz="2800" dirty="0">
                <a:latin typeface="Tahoma" panose="020B0604030504040204" pitchFamily="34" charset="0"/>
              </a:rPr>
              <a:t>    Comparable save = ray[</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a:solidFill>
                  <a:srgbClr val="000000"/>
                </a:solidFill>
                <a:latin typeface="Tahoma" panose="020B0604030504040204" pitchFamily="34" charset="0"/>
              </a:rPr>
              <a:t>ray</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 ray[min];</a:t>
            </a:r>
          </a:p>
          <a:p>
            <a:pPr>
              <a:spcBef>
                <a:spcPct val="0"/>
              </a:spcBef>
              <a:buFontTx/>
              <a:buNone/>
            </a:pPr>
            <a:r>
              <a:rPr lang="en-US" altLang="en-US" sz="2800" dirty="0">
                <a:latin typeface="Tahoma" panose="020B0604030504040204" pitchFamily="34" charset="0"/>
              </a:rPr>
              <a:t>    ray[min]=save;</a:t>
            </a:r>
          </a:p>
          <a:p>
            <a:pPr>
              <a:spcBef>
                <a:spcPct val="0"/>
              </a:spcBef>
              <a:buFontTx/>
              <a:buNone/>
            </a:pPr>
            <a:r>
              <a:rPr lang="en-US" altLang="en-US" sz="2800" dirty="0">
                <a:latin typeface="Tahoma" panose="020B0604030504040204" pitchFamily="34" charset="0"/>
              </a:rPr>
              <a:t>  }  </a:t>
            </a:r>
          </a:p>
          <a:p>
            <a:pPr>
              <a:spcBef>
                <a:spcPct val="0"/>
              </a:spcBef>
              <a:buFontTx/>
              <a:buNone/>
            </a:pPr>
            <a:r>
              <a:rPr lang="en-US" altLang="en-US" sz="2800" dirty="0">
                <a:latin typeface="Tahoma" panose="020B0604030504040204" pitchFamily="34" charset="0"/>
              </a:rPr>
              <a:t>}</a:t>
            </a:r>
          </a:p>
        </p:txBody>
      </p:sp>
      <p:sp>
        <p:nvSpPr>
          <p:cNvPr id="25605" name="WordArt 4">
            <a:extLst>
              <a:ext uri="{FF2B5EF4-FFF2-40B4-BE49-F238E27FC236}">
                <a16:creationId xmlns:a16="http://schemas.microsoft.com/office/drawing/2014/main" id="{C7DDB217-671B-4CE9-A287-0A57B61E2430}"/>
              </a:ext>
            </a:extLst>
          </p:cNvPr>
          <p:cNvSpPr>
            <a:spLocks noChangeArrowheads="1" noChangeShapeType="1" noTextEdit="1"/>
          </p:cNvSpPr>
          <p:nvPr/>
        </p:nvSpPr>
        <p:spPr bwMode="auto">
          <a:xfrm>
            <a:off x="5486400" y="3429000"/>
            <a:ext cx="3352800" cy="6096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How many swaps</a:t>
            </a:r>
          </a:p>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per pass?</a:t>
            </a:r>
          </a:p>
        </p:txBody>
      </p:sp>
      <p:sp>
        <p:nvSpPr>
          <p:cNvPr id="25602" name="Footer Placeholder 3">
            <a:extLst>
              <a:ext uri="{FF2B5EF4-FFF2-40B4-BE49-F238E27FC236}">
                <a16:creationId xmlns:a16="http://schemas.microsoft.com/office/drawing/2014/main" id="{CD000048-0993-430A-AB81-C28B34111919}"/>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6E531F59-6D59-A982-C127-0CC2D5F781C7}"/>
              </a:ext>
            </a:extLst>
          </p:cNvPr>
          <p:cNvSpPr txBox="1"/>
          <p:nvPr/>
        </p:nvSpPr>
        <p:spPr>
          <a:xfrm>
            <a:off x="4724400" y="5048071"/>
            <a:ext cx="4172938" cy="1200329"/>
          </a:xfrm>
          <a:prstGeom prst="rect">
            <a:avLst/>
          </a:prstGeom>
          <a:noFill/>
        </p:spPr>
        <p:txBody>
          <a:bodyPr wrap="none" rtlCol="0">
            <a:spAutoFit/>
          </a:bodyPr>
          <a:lstStyle/>
          <a:p>
            <a:pPr algn="ctr"/>
            <a:r>
              <a:rPr lang="en-US" sz="3600" dirty="0">
                <a:solidFill>
                  <a:schemeClr val="accent2">
                    <a:lumMod val="75000"/>
                  </a:schemeClr>
                </a:solidFill>
              </a:rPr>
              <a:t>Selection Sort of</a:t>
            </a:r>
            <a:br>
              <a:rPr lang="en-US" sz="3600" dirty="0">
                <a:solidFill>
                  <a:schemeClr val="accent2">
                    <a:lumMod val="75000"/>
                  </a:schemeClr>
                </a:solidFill>
              </a:rPr>
            </a:br>
            <a:r>
              <a:rPr lang="en-US" sz="3600" dirty="0">
                <a:solidFill>
                  <a:schemeClr val="accent2">
                    <a:lumMod val="75000"/>
                  </a:schemeClr>
                </a:solidFill>
              </a:rPr>
              <a:t>Arrays of Objects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a:extLst>
              <a:ext uri="{FF2B5EF4-FFF2-40B4-BE49-F238E27FC236}">
                <a16:creationId xmlns:a16="http://schemas.microsoft.com/office/drawing/2014/main" id="{6A3A87CB-F1F0-468B-8C9C-4590BC0716E2}"/>
              </a:ext>
            </a:extLst>
          </p:cNvPr>
          <p:cNvSpPr txBox="1">
            <a:spLocks noChangeArrowheads="1"/>
          </p:cNvSpPr>
          <p:nvPr/>
        </p:nvSpPr>
        <p:spPr bwMode="auto">
          <a:xfrm>
            <a:off x="304800" y="457200"/>
            <a:ext cx="87630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public void </a:t>
            </a:r>
            <a:r>
              <a:rPr lang="en-US" altLang="en-US" sz="2800" dirty="0" err="1">
                <a:latin typeface="Tahoma" panose="020B0604030504040204" pitchFamily="34" charset="0"/>
              </a:rPr>
              <a:t>selSort</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List&lt;Comparable&gt; list</a:t>
            </a: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for(int </a:t>
            </a:r>
            <a:r>
              <a:rPr lang="en-US" altLang="en-US" sz="2800" dirty="0" err="1">
                <a:latin typeface="Tahoma" panose="020B0604030504040204" pitchFamily="34" charset="0"/>
              </a:rPr>
              <a:t>i</a:t>
            </a:r>
            <a:r>
              <a:rPr lang="en-US" altLang="en-US" sz="2800" dirty="0">
                <a:latin typeface="Tahoma" panose="020B0604030504040204" pitchFamily="34" charset="0"/>
              </a:rPr>
              <a:t>=0; </a:t>
            </a:r>
            <a:r>
              <a:rPr lang="en-US" altLang="en-US" sz="2800" dirty="0" err="1">
                <a:latin typeface="Tahoma" panose="020B0604030504040204" pitchFamily="34" charset="0"/>
              </a:rPr>
              <a:t>i</a:t>
            </a:r>
            <a:r>
              <a:rPr lang="en-US" altLang="en-US" sz="2800" dirty="0">
                <a:latin typeface="Tahoma" panose="020B0604030504040204" pitchFamily="34" charset="0"/>
              </a:rPr>
              <a:t>&lt;</a:t>
            </a:r>
            <a:r>
              <a:rPr lang="en-US" altLang="en-US" sz="2800" dirty="0" err="1">
                <a:solidFill>
                  <a:srgbClr val="7030A0"/>
                </a:solidFill>
                <a:latin typeface="Tahoma" panose="020B0604030504040204" pitchFamily="34" charset="0"/>
              </a:rPr>
              <a:t>list.size</a:t>
            </a:r>
            <a:r>
              <a:rPr lang="en-US" altLang="en-US" sz="2800" dirty="0">
                <a:solidFill>
                  <a:srgbClr val="7030A0"/>
                </a:solidFill>
                <a:latin typeface="Tahoma" panose="020B0604030504040204" pitchFamily="34" charset="0"/>
              </a:rPr>
              <a:t>()-1</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int min = </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for(int j=</a:t>
            </a:r>
            <a:r>
              <a:rPr lang="en-US" altLang="en-US" sz="2800" dirty="0" err="1">
                <a:latin typeface="Tahoma" panose="020B0604030504040204" pitchFamily="34" charset="0"/>
              </a:rPr>
              <a:t>i</a:t>
            </a:r>
            <a:r>
              <a:rPr lang="en-US" altLang="en-US" sz="2800" dirty="0">
                <a:latin typeface="Tahoma" panose="020B0604030504040204" pitchFamily="34" charset="0"/>
              </a:rPr>
              <a:t>; j&lt;</a:t>
            </a:r>
            <a:r>
              <a:rPr lang="en-US" altLang="en-US" sz="2800" dirty="0" err="1">
                <a:solidFill>
                  <a:srgbClr val="7030A0"/>
                </a:solidFill>
                <a:latin typeface="Tahoma" panose="020B0604030504040204" pitchFamily="34" charset="0"/>
              </a:rPr>
              <a:t>list.size</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 </a:t>
            </a:r>
            <a:r>
              <a:rPr lang="en-US" altLang="en-US" sz="2800" dirty="0" err="1">
                <a:latin typeface="Tahoma" panose="020B0604030504040204" pitchFamily="34" charset="0"/>
              </a:rPr>
              <a:t>j++</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if(</a:t>
            </a:r>
            <a:r>
              <a:rPr lang="en-US" altLang="en-US" sz="2800" dirty="0" err="1">
                <a:solidFill>
                  <a:srgbClr val="C00000"/>
                </a:solidFill>
                <a:latin typeface="Tahoma" panose="020B0604030504040204" pitchFamily="34" charset="0"/>
              </a:rPr>
              <a:t>list.get</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i</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compareTo</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list.get</a:t>
            </a:r>
            <a:r>
              <a:rPr lang="en-US" altLang="en-US" sz="2800" dirty="0">
                <a:solidFill>
                  <a:srgbClr val="C00000"/>
                </a:solidFill>
                <a:latin typeface="Tahoma" panose="020B0604030504040204" pitchFamily="34" charset="0"/>
              </a:rPr>
              <a:t>(j))&lt;0</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min = j;</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if(min == </a:t>
            </a:r>
            <a:r>
              <a:rPr lang="en-US" altLang="en-US" sz="2800" dirty="0" err="1">
                <a:latin typeface="Tahoma" panose="020B0604030504040204" pitchFamily="34" charset="0"/>
              </a:rPr>
              <a:t>i</a:t>
            </a:r>
            <a:r>
              <a:rPr lang="en-US" altLang="en-US" sz="2800" dirty="0">
                <a:latin typeface="Tahoma" panose="020B0604030504040204" pitchFamily="34" charset="0"/>
              </a:rPr>
              <a:t>) continue;</a:t>
            </a:r>
          </a:p>
          <a:p>
            <a:pPr>
              <a:spcBef>
                <a:spcPct val="0"/>
              </a:spcBef>
              <a:buFontTx/>
              <a:buNone/>
            </a:pPr>
            <a:r>
              <a:rPr lang="en-US" altLang="en-US" sz="2800" dirty="0">
                <a:latin typeface="Tahoma" panose="020B0604030504040204" pitchFamily="34" charset="0"/>
              </a:rPr>
              <a:t>    </a:t>
            </a:r>
            <a:r>
              <a:rPr lang="en-US" altLang="en-US" sz="2800" dirty="0">
                <a:solidFill>
                  <a:srgbClr val="7030A0"/>
                </a:solidFill>
                <a:latin typeface="Tahoma" panose="020B0604030504040204" pitchFamily="34" charset="0"/>
              </a:rPr>
              <a:t>Comparable save = </a:t>
            </a:r>
            <a:r>
              <a:rPr lang="en-US" altLang="en-US" sz="2800" dirty="0" err="1">
                <a:solidFill>
                  <a:srgbClr val="7030A0"/>
                </a:solidFill>
                <a:latin typeface="Tahoma" panose="020B0604030504040204" pitchFamily="34" charset="0"/>
              </a:rPr>
              <a:t>list.get</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i</a:t>
            </a: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list.set</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i</a:t>
            </a: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list.get</a:t>
            </a:r>
            <a:r>
              <a:rPr lang="en-US" altLang="en-US" sz="2800" dirty="0">
                <a:solidFill>
                  <a:srgbClr val="7030A0"/>
                </a:solidFill>
                <a:latin typeface="Tahoma" panose="020B0604030504040204" pitchFamily="34" charset="0"/>
              </a:rPr>
              <a:t>(min));</a:t>
            </a:r>
          </a:p>
          <a:p>
            <a:pPr>
              <a:spcBef>
                <a:spcPct val="0"/>
              </a:spcBef>
              <a:buFontTx/>
              <a:buNone/>
            </a:pP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list.set</a:t>
            </a:r>
            <a:r>
              <a:rPr lang="en-US" altLang="en-US" sz="2800" dirty="0">
                <a:solidFill>
                  <a:srgbClr val="7030A0"/>
                </a:solidFill>
                <a:latin typeface="Tahoma" panose="020B0604030504040204" pitchFamily="34" charset="0"/>
              </a:rPr>
              <a:t>(min, save);</a:t>
            </a:r>
          </a:p>
          <a:p>
            <a:pPr>
              <a:spcBef>
                <a:spcPct val="0"/>
              </a:spcBef>
              <a:buFontTx/>
              <a:buNone/>
            </a:pPr>
            <a:r>
              <a:rPr lang="en-US" altLang="en-US" sz="2800" dirty="0">
                <a:latin typeface="Tahoma" panose="020B0604030504040204" pitchFamily="34" charset="0"/>
              </a:rPr>
              <a:t>  }  </a:t>
            </a:r>
          </a:p>
          <a:p>
            <a:pPr>
              <a:spcBef>
                <a:spcPct val="0"/>
              </a:spcBef>
              <a:buFontTx/>
              <a:buNone/>
            </a:pPr>
            <a:r>
              <a:rPr lang="en-US" altLang="en-US" sz="2800" dirty="0">
                <a:latin typeface="Tahoma" panose="020B0604030504040204" pitchFamily="34" charset="0"/>
              </a:rPr>
              <a:t>}</a:t>
            </a:r>
          </a:p>
        </p:txBody>
      </p:sp>
      <p:sp>
        <p:nvSpPr>
          <p:cNvPr id="25605" name="WordArt 4">
            <a:extLst>
              <a:ext uri="{FF2B5EF4-FFF2-40B4-BE49-F238E27FC236}">
                <a16:creationId xmlns:a16="http://schemas.microsoft.com/office/drawing/2014/main" id="{C7DDB217-671B-4CE9-A287-0A57B61E2430}"/>
              </a:ext>
            </a:extLst>
          </p:cNvPr>
          <p:cNvSpPr>
            <a:spLocks noChangeArrowheads="1" noChangeShapeType="1" noTextEdit="1"/>
          </p:cNvSpPr>
          <p:nvPr/>
        </p:nvSpPr>
        <p:spPr bwMode="auto">
          <a:xfrm>
            <a:off x="5486400" y="3429000"/>
            <a:ext cx="3352800" cy="6096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How many swaps</a:t>
            </a:r>
          </a:p>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per pass?</a:t>
            </a:r>
          </a:p>
        </p:txBody>
      </p:sp>
      <p:sp>
        <p:nvSpPr>
          <p:cNvPr id="25602" name="Footer Placeholder 3">
            <a:extLst>
              <a:ext uri="{FF2B5EF4-FFF2-40B4-BE49-F238E27FC236}">
                <a16:creationId xmlns:a16="http://schemas.microsoft.com/office/drawing/2014/main" id="{CD000048-0993-430A-AB81-C28B34111919}"/>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6E531F59-6D59-A982-C127-0CC2D5F781C7}"/>
              </a:ext>
            </a:extLst>
          </p:cNvPr>
          <p:cNvSpPr txBox="1"/>
          <p:nvPr/>
        </p:nvSpPr>
        <p:spPr>
          <a:xfrm>
            <a:off x="4899942" y="5246191"/>
            <a:ext cx="4172938" cy="1200329"/>
          </a:xfrm>
          <a:prstGeom prst="rect">
            <a:avLst/>
          </a:prstGeom>
          <a:noFill/>
        </p:spPr>
        <p:txBody>
          <a:bodyPr wrap="none" rtlCol="0">
            <a:spAutoFit/>
          </a:bodyPr>
          <a:lstStyle/>
          <a:p>
            <a:pPr algn="ctr"/>
            <a:r>
              <a:rPr lang="en-US" sz="3600" dirty="0">
                <a:solidFill>
                  <a:srgbClr val="7030A0"/>
                </a:solidFill>
              </a:rPr>
              <a:t>Selection Sort of</a:t>
            </a:r>
            <a:br>
              <a:rPr lang="en-US" sz="3600" dirty="0">
                <a:solidFill>
                  <a:srgbClr val="7030A0"/>
                </a:solidFill>
              </a:rPr>
            </a:br>
            <a:r>
              <a:rPr lang="en-US" sz="3600" dirty="0">
                <a:solidFill>
                  <a:srgbClr val="7030A0"/>
                </a:solidFill>
              </a:rPr>
              <a:t>Lists of Objects</a:t>
            </a:r>
          </a:p>
        </p:txBody>
      </p:sp>
    </p:spTree>
    <p:extLst>
      <p:ext uri="{BB962C8B-B14F-4D97-AF65-F5344CB8AC3E}">
        <p14:creationId xmlns:p14="http://schemas.microsoft.com/office/powerpoint/2010/main" val="944180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WordArt 2">
            <a:extLst>
              <a:ext uri="{FF2B5EF4-FFF2-40B4-BE49-F238E27FC236}">
                <a16:creationId xmlns:a16="http://schemas.microsoft.com/office/drawing/2014/main" id="{E2AB4003-6BA4-4C70-A478-0E31AE0E5E44}"/>
              </a:ext>
            </a:extLst>
          </p:cNvPr>
          <p:cNvSpPr>
            <a:spLocks noGrp="1" noChangeArrowheads="1" noChangeShapeType="1" noTextEdit="1"/>
          </p:cNvSpPr>
          <p:nvPr>
            <p:ph type="title" idx="4294967295"/>
          </p:nvPr>
        </p:nvSpPr>
        <p:spPr bwMode="auto">
          <a:xfrm>
            <a:off x="838200" y="609600"/>
            <a:ext cx="71628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99"/>
                  </a:solidFill>
                  <a:round/>
                  <a:headEnd/>
                  <a:tailEnd/>
                </a:ln>
                <a:solidFill>
                  <a:srgbClr val="008000"/>
                </a:solidFill>
                <a:effectLst>
                  <a:outerShdw dist="35921" dir="2700000" algn="ctr" rotWithShape="0">
                    <a:srgbClr val="C0C0C0"/>
                  </a:outerShdw>
                </a:effectLst>
                <a:uLnTx/>
                <a:uFillTx/>
                <a:latin typeface="Impact" panose="020B0806030902050204" pitchFamily="34" charset="0"/>
                <a:ea typeface="+mn-ea"/>
                <a:cs typeface="+mn-cs"/>
              </a:rPr>
              <a:t>Selection Sort in Action</a:t>
            </a:r>
          </a:p>
        </p:txBody>
      </p:sp>
      <p:sp>
        <p:nvSpPr>
          <p:cNvPr id="27652" name="Text Box 3">
            <a:extLst>
              <a:ext uri="{FF2B5EF4-FFF2-40B4-BE49-F238E27FC236}">
                <a16:creationId xmlns:a16="http://schemas.microsoft.com/office/drawing/2014/main" id="{78F72543-8836-48AB-9FB7-E204C3A38D77}"/>
              </a:ext>
            </a:extLst>
          </p:cNvPr>
          <p:cNvSpPr txBox="1">
            <a:spLocks noChangeArrowheads="1"/>
          </p:cNvSpPr>
          <p:nvPr/>
        </p:nvSpPr>
        <p:spPr bwMode="auto">
          <a:xfrm>
            <a:off x="1066800" y="1905000"/>
            <a:ext cx="69342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CC0000"/>
                </a:solidFill>
                <a:latin typeface="Tahoma" panose="020B0604030504040204" pitchFamily="34" charset="0"/>
              </a:rPr>
              <a:t>Original List </a:t>
            </a:r>
          </a:p>
          <a:p>
            <a:pPr>
              <a:spcBef>
                <a:spcPct val="0"/>
              </a:spcBef>
              <a:buFontTx/>
              <a:buNone/>
            </a:pPr>
            <a:r>
              <a:rPr lang="en-US" altLang="en-US" sz="2800">
                <a:latin typeface="Tahoma" panose="020B0604030504040204" pitchFamily="34" charset="0"/>
              </a:rPr>
              <a:t>Integer[] ray = {90,40,20,30,10,67};</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1  -  </a:t>
            </a:r>
            <a:r>
              <a:rPr lang="en-US" altLang="en-US" sz="2800">
                <a:solidFill>
                  <a:schemeClr val="accent2"/>
                </a:solidFill>
                <a:latin typeface="Tahoma" panose="020B0604030504040204" pitchFamily="34" charset="0"/>
              </a:rPr>
              <a:t>90</a:t>
            </a:r>
            <a:r>
              <a:rPr lang="en-US" altLang="en-US" sz="2800">
                <a:latin typeface="Tahoma" panose="020B0604030504040204" pitchFamily="34" charset="0"/>
              </a:rPr>
              <a:t>  40  20  30  10  </a:t>
            </a:r>
            <a:r>
              <a:rPr lang="en-US" altLang="en-US" sz="2800">
                <a:solidFill>
                  <a:schemeClr val="accent2"/>
                </a:solidFill>
                <a:latin typeface="Tahoma" panose="020B0604030504040204" pitchFamily="34" charset="0"/>
              </a:rPr>
              <a:t>67</a:t>
            </a:r>
          </a:p>
          <a:p>
            <a:pPr>
              <a:spcBef>
                <a:spcPct val="0"/>
              </a:spcBef>
              <a:buFontTx/>
              <a:buNone/>
            </a:pPr>
            <a:r>
              <a:rPr lang="en-US" altLang="en-US" sz="2800">
                <a:latin typeface="Tahoma" panose="020B0604030504040204" pitchFamily="34" charset="0"/>
              </a:rPr>
              <a:t>pass 2  -  90  </a:t>
            </a:r>
            <a:r>
              <a:rPr lang="en-US" altLang="en-US" sz="2800">
                <a:solidFill>
                  <a:schemeClr val="accent2"/>
                </a:solidFill>
                <a:latin typeface="Tahoma" panose="020B0604030504040204" pitchFamily="34" charset="0"/>
              </a:rPr>
              <a:t>67</a:t>
            </a:r>
            <a:r>
              <a:rPr lang="en-US" altLang="en-US" sz="2800">
                <a:latin typeface="Tahoma" panose="020B0604030504040204" pitchFamily="34" charset="0"/>
              </a:rPr>
              <a:t>  20  30  10  </a:t>
            </a:r>
            <a:r>
              <a:rPr lang="en-US" altLang="en-US" sz="2800">
                <a:solidFill>
                  <a:schemeClr val="accent2"/>
                </a:solidFill>
                <a:latin typeface="Tahoma" panose="020B0604030504040204" pitchFamily="34" charset="0"/>
              </a:rPr>
              <a:t>40</a:t>
            </a: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3  -  90  67  </a:t>
            </a:r>
            <a:r>
              <a:rPr lang="en-US" altLang="en-US" sz="2800">
                <a:solidFill>
                  <a:schemeClr val="accent2"/>
                </a:solidFill>
                <a:latin typeface="Tahoma" panose="020B0604030504040204" pitchFamily="34" charset="0"/>
              </a:rPr>
              <a:t>40 </a:t>
            </a:r>
            <a:r>
              <a:rPr lang="en-US" altLang="en-US" sz="2800">
                <a:latin typeface="Tahoma" panose="020B0604030504040204" pitchFamily="34" charset="0"/>
              </a:rPr>
              <a:t> 30  10  </a:t>
            </a:r>
            <a:r>
              <a:rPr lang="en-US" altLang="en-US" sz="2800">
                <a:solidFill>
                  <a:schemeClr val="accent2"/>
                </a:solidFill>
                <a:latin typeface="Tahoma" panose="020B0604030504040204" pitchFamily="34" charset="0"/>
              </a:rPr>
              <a:t>20</a:t>
            </a: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4  -  90  67  40</a:t>
            </a:r>
            <a:r>
              <a:rPr lang="en-US" altLang="en-US" sz="2800">
                <a:solidFill>
                  <a:schemeClr val="accent2"/>
                </a:solidFill>
                <a:latin typeface="Tahoma" panose="020B0604030504040204" pitchFamily="34" charset="0"/>
              </a:rPr>
              <a:t>  30  </a:t>
            </a:r>
            <a:r>
              <a:rPr lang="en-US" altLang="en-US" sz="2800">
                <a:latin typeface="Tahoma" panose="020B0604030504040204" pitchFamily="34" charset="0"/>
              </a:rPr>
              <a:t>10  20</a:t>
            </a:r>
          </a:p>
          <a:p>
            <a:pPr>
              <a:spcBef>
                <a:spcPct val="0"/>
              </a:spcBef>
              <a:buFontTx/>
              <a:buNone/>
            </a:pPr>
            <a:r>
              <a:rPr lang="en-US" altLang="en-US" sz="2800">
                <a:latin typeface="Tahoma" panose="020B0604030504040204" pitchFamily="34" charset="0"/>
              </a:rPr>
              <a:t>pass 5  -  90  67  40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30</a:t>
            </a:r>
            <a:r>
              <a:rPr lang="en-US" altLang="en-US" sz="2800">
                <a:solidFill>
                  <a:schemeClr val="accent2"/>
                </a:solidFill>
                <a:latin typeface="Tahoma" panose="020B0604030504040204" pitchFamily="34" charset="0"/>
              </a:rPr>
              <a:t>  20</a:t>
            </a:r>
            <a:r>
              <a:rPr lang="en-US" altLang="en-US" sz="2800">
                <a:latin typeface="Tahoma" panose="020B0604030504040204" pitchFamily="34" charset="0"/>
              </a:rPr>
              <a:t>  </a:t>
            </a:r>
            <a:r>
              <a:rPr lang="en-US" altLang="en-US" sz="2800">
                <a:solidFill>
                  <a:schemeClr val="accent2"/>
                </a:solidFill>
                <a:latin typeface="Tahoma" panose="020B0604030504040204" pitchFamily="34" charset="0"/>
              </a:rPr>
              <a:t>10</a:t>
            </a:r>
          </a:p>
          <a:p>
            <a:pPr>
              <a:spcBef>
                <a:spcPct val="0"/>
              </a:spcBef>
              <a:buFontTx/>
              <a:buNone/>
            </a:pPr>
            <a:r>
              <a:rPr lang="en-US" altLang="en-US" sz="2800">
                <a:latin typeface="Tahoma" panose="020B0604030504040204" pitchFamily="34" charset="0"/>
              </a:rPr>
              <a:t>pass 6  -  90  67  40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30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20  </a:t>
            </a:r>
            <a:r>
              <a:rPr lang="en-US" altLang="en-US" sz="2800">
                <a:solidFill>
                  <a:schemeClr val="accent2"/>
                </a:solidFill>
                <a:latin typeface="Tahoma" panose="020B0604030504040204" pitchFamily="34" charset="0"/>
              </a:rPr>
              <a:t>10</a:t>
            </a:r>
          </a:p>
        </p:txBody>
      </p:sp>
      <p:sp>
        <p:nvSpPr>
          <p:cNvPr id="27650" name="Footer Placeholder 3">
            <a:extLst>
              <a:ext uri="{FF2B5EF4-FFF2-40B4-BE49-F238E27FC236}">
                <a16:creationId xmlns:a16="http://schemas.microsoft.com/office/drawing/2014/main" id="{4751C0D0-F60E-49EC-8658-9C41EF0F103E}"/>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dirty="0"/>
              <a:t>Selection Sort (cont’d)</a:t>
            </a:r>
          </a:p>
        </p:txBody>
      </p:sp>
      <p:sp>
        <p:nvSpPr>
          <p:cNvPr id="15364" name="Rectangle 141"/>
          <p:cNvSpPr>
            <a:spLocks noGrp="1" noChangeArrowheads="1"/>
          </p:cNvSpPr>
          <p:nvPr>
            <p:ph type="body" idx="1"/>
          </p:nvPr>
        </p:nvSpPr>
        <p:spPr/>
        <p:txBody>
          <a:bodyPr/>
          <a:lstStyle/>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Finding the min takes </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1 comparisons.</a:t>
            </a:r>
          </a:p>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The total number of comparisons is always</a:t>
            </a:r>
          </a:p>
          <a:p>
            <a:pPr algn="ctr">
              <a:spcBef>
                <a:spcPct val="50000"/>
              </a:spcBef>
              <a:buFont typeface="Monotype Sorts"/>
              <a:buNone/>
              <a:defRPr/>
            </a:pP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1) + (</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2) + ... + 1 = </a:t>
            </a:r>
            <a:r>
              <a:rPr lang="en-US" i="1" dirty="0">
                <a:solidFill>
                  <a:srgbClr val="FF3300"/>
                </a:solidFill>
                <a:latin typeface="Arial" panose="020B0604020202020204" pitchFamily="34" charset="0"/>
                <a:cs typeface="Arial" panose="020B0604020202020204" pitchFamily="34" charset="0"/>
              </a:rPr>
              <a:t>n </a:t>
            </a:r>
            <a:r>
              <a:rPr lang="en-US" dirty="0">
                <a:solidFill>
                  <a:srgbClr val="FF3300"/>
                </a:solidFill>
                <a:latin typeface="Arial" panose="020B0604020202020204" pitchFamily="34" charset="0"/>
                <a:cs typeface="Arial" panose="020B0604020202020204" pitchFamily="34" charset="0"/>
              </a:rPr>
              <a:t>(</a:t>
            </a:r>
            <a:r>
              <a:rPr lang="en-US" i="1" dirty="0">
                <a:solidFill>
                  <a:srgbClr val="FF3300"/>
                </a:solidFill>
                <a:latin typeface="Arial" panose="020B0604020202020204" pitchFamily="34" charset="0"/>
                <a:cs typeface="Arial" panose="020B0604020202020204" pitchFamily="34" charset="0"/>
              </a:rPr>
              <a:t>n</a:t>
            </a:r>
            <a:r>
              <a:rPr lang="en-US" b="1" dirty="0">
                <a:solidFill>
                  <a:srgbClr val="FF3300"/>
                </a:solidFill>
                <a:latin typeface="Arial" panose="020B0604020202020204" pitchFamily="34" charset="0"/>
                <a:cs typeface="Arial" panose="020B0604020202020204" pitchFamily="34" charset="0"/>
              </a:rPr>
              <a:t>-</a:t>
            </a:r>
            <a:r>
              <a:rPr lang="en-US" dirty="0">
                <a:solidFill>
                  <a:srgbClr val="FF3300"/>
                </a:solidFill>
                <a:latin typeface="Arial" panose="020B0604020202020204" pitchFamily="34" charset="0"/>
                <a:cs typeface="Arial" panose="020B0604020202020204" pitchFamily="34" charset="0"/>
              </a:rPr>
              <a:t>1) / 2</a:t>
            </a:r>
            <a:endParaRPr lang="en-US" dirty="0">
              <a:latin typeface="Arial" panose="020B0604020202020204" pitchFamily="34" charset="0"/>
              <a:cs typeface="Arial" panose="020B0604020202020204" pitchFamily="34" charset="0"/>
            </a:endParaRPr>
          </a:p>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No average, best, or worst case —</a:t>
            </a:r>
          </a:p>
          <a:p>
            <a:pPr>
              <a:spcBef>
                <a:spcPct val="50000"/>
              </a:spcBef>
              <a:buFont typeface="Monotype Sorts"/>
              <a:buNone/>
              <a:defRPr/>
            </a:pPr>
            <a:r>
              <a:rPr lang="en-US" dirty="0">
                <a:latin typeface="Arial" panose="020B0604020202020204" pitchFamily="34" charset="0"/>
                <a:cs typeface="Arial" panose="020B0604020202020204" pitchFamily="34" charset="0"/>
              </a:rPr>
              <a:t> 	always the same.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WordArt 2">
            <a:extLst>
              <a:ext uri="{FF2B5EF4-FFF2-40B4-BE49-F238E27FC236}">
                <a16:creationId xmlns:a16="http://schemas.microsoft.com/office/drawing/2014/main" id="{1B0DEAF8-ED77-4705-8E4C-0FEE4CA63783}"/>
              </a:ext>
            </a:extLst>
          </p:cNvPr>
          <p:cNvSpPr>
            <a:spLocks noGrp="1" noChangeArrowheads="1" noChangeShapeType="1" noTextEdit="1"/>
          </p:cNvSpPr>
          <p:nvPr>
            <p:ph type="title" idx="4294967295"/>
          </p:nvPr>
        </p:nvSpPr>
        <p:spPr bwMode="auto">
          <a:xfrm>
            <a:off x="1143000" y="1295400"/>
            <a:ext cx="6934200" cy="36576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People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Sort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Demo</a:t>
            </a:r>
          </a:p>
        </p:txBody>
      </p:sp>
      <p:sp>
        <p:nvSpPr>
          <p:cNvPr id="31748" name="Text Box 3">
            <a:extLst>
              <a:ext uri="{FF2B5EF4-FFF2-40B4-BE49-F238E27FC236}">
                <a16:creationId xmlns:a16="http://schemas.microsoft.com/office/drawing/2014/main" id="{2A890D4C-13AE-4441-A779-0A1EE35B874D}"/>
              </a:ext>
            </a:extLst>
          </p:cNvPr>
          <p:cNvSpPr txBox="1">
            <a:spLocks noChangeArrowheads="1"/>
          </p:cNvSpPr>
          <p:nvPr/>
        </p:nvSpPr>
        <p:spPr bwMode="auto">
          <a:xfrm>
            <a:off x="914400" y="5562600"/>
            <a:ext cx="7115175" cy="4984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00" dirty="0">
                <a:solidFill>
                  <a:srgbClr val="FF6600"/>
                </a:solidFill>
                <a:latin typeface="Tahoma" panose="020B0604030504040204" pitchFamily="34" charset="0"/>
              </a:rPr>
              <a:t>Line up some students and selection sort them.</a:t>
            </a:r>
          </a:p>
        </p:txBody>
      </p:sp>
      <p:sp>
        <p:nvSpPr>
          <p:cNvPr id="31746" name="Footer Placeholder 3">
            <a:extLst>
              <a:ext uri="{FF2B5EF4-FFF2-40B4-BE49-F238E27FC236}">
                <a16:creationId xmlns:a16="http://schemas.microsoft.com/office/drawing/2014/main" id="{93A0D0BE-F03F-4513-9FC2-20B751438B25}"/>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ordArt 2">
            <a:extLst>
              <a:ext uri="{FF2B5EF4-FFF2-40B4-BE49-F238E27FC236}">
                <a16:creationId xmlns:a16="http://schemas.microsoft.com/office/drawing/2014/main" id="{8D954240-A81F-4292-8EE4-E64AA63F6E7D}"/>
              </a:ext>
            </a:extLst>
          </p:cNvPr>
          <p:cNvSpPr>
            <a:spLocks noGrp="1" noChangeArrowheads="1" noChangeShapeType="1" noTextEdit="1"/>
          </p:cNvSpPr>
          <p:nvPr>
            <p:ph type="title" idx="4294967295"/>
          </p:nvPr>
        </p:nvSpPr>
        <p:spPr bwMode="auto">
          <a:xfrm>
            <a:off x="685800" y="1828800"/>
            <a:ext cx="7848600" cy="22860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scene3d>
              <a:camera prst="legacyPerspectiveBottomRight">
                <a:rot lat="0" lon="21239990" rev="0"/>
              </a:camera>
              <a:lightRig rig="legacyHarsh3" dir="l"/>
            </a:scene3d>
            <a:sp3d extrusionH="430200" prstMaterial="legacyMatte">
              <a:extrusionClr>
                <a:srgbClr val="C0C0C0"/>
              </a:extrusionClr>
              <a:contourClr>
                <a:srgbClr val="DCEBF5"/>
              </a:contourClr>
            </a:sp3d>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effectLst/>
                <a:uLnTx/>
                <a:uFillTx/>
                <a:latin typeface="Arial Black" panose="020B0A04020102020204" pitchFamily="34" charset="0"/>
                <a:ea typeface="+mn-ea"/>
                <a:cs typeface="+mn-cs"/>
              </a:rPr>
              <a:t>The Insertion Sort</a:t>
            </a:r>
          </a:p>
        </p:txBody>
      </p:sp>
      <p:sp>
        <p:nvSpPr>
          <p:cNvPr id="33794" name="Footer Placeholder 3">
            <a:extLst>
              <a:ext uri="{FF2B5EF4-FFF2-40B4-BE49-F238E27FC236}">
                <a16:creationId xmlns:a16="http://schemas.microsoft.com/office/drawing/2014/main" id="{32108F0E-C185-4E8D-B978-2AC36D912FA8}"/>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ppt_w</p:attrName>
                                        </p:attrNameLst>
                                      </p:cBhvr>
                                      <p:tavLst>
                                        <p:tav tm="0" fmla="#ppt_w*sin(2.5*pi*$)">
                                          <p:val>
                                            <p:fltVal val="0"/>
                                          </p:val>
                                        </p:tav>
                                        <p:tav tm="100000">
                                          <p:val>
                                            <p:fltVal val="1"/>
                                          </p:val>
                                        </p:tav>
                                      </p:tavLst>
                                    </p:anim>
                                    <p:anim calcmode="lin" valueType="num">
                                      <p:cBhvr>
                                        <p:cTn id="8" dur="5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WordArt 3">
            <a:extLst>
              <a:ext uri="{FF2B5EF4-FFF2-40B4-BE49-F238E27FC236}">
                <a16:creationId xmlns:a16="http://schemas.microsoft.com/office/drawing/2014/main" id="{3DE22CB8-9C83-457F-844C-89D24071AC1D}"/>
              </a:ext>
            </a:extLst>
          </p:cNvPr>
          <p:cNvSpPr>
            <a:spLocks noGrp="1" noChangeArrowheads="1" noChangeShapeType="1" noTextEdit="1"/>
          </p:cNvSpPr>
          <p:nvPr>
            <p:ph type="title" idx="4294967295"/>
          </p:nvPr>
        </p:nvSpPr>
        <p:spPr bwMode="auto">
          <a:xfrm>
            <a:off x="1447800" y="1066800"/>
            <a:ext cx="5867400" cy="685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9900"/>
                  </a:solidFill>
                  <a:round/>
                  <a:headEnd/>
                  <a:tailEnd/>
                </a:ln>
                <a:solidFill>
                  <a:srgbClr val="FFFF99"/>
                </a:solidFill>
                <a:effectLst>
                  <a:outerShdw dist="35921" dir="2700000" algn="ctr" rotWithShape="0">
                    <a:srgbClr val="C0C0C0"/>
                  </a:outerShdw>
                </a:effectLst>
                <a:uLnTx/>
                <a:uFillTx/>
                <a:latin typeface="Impact" panose="020B0806030902050204" pitchFamily="34" charset="0"/>
                <a:ea typeface="+mn-ea"/>
                <a:cs typeface="+mn-cs"/>
              </a:rPr>
              <a:t>Insertion Sort</a:t>
            </a:r>
          </a:p>
        </p:txBody>
      </p:sp>
      <p:sp>
        <p:nvSpPr>
          <p:cNvPr id="35843" name="Text Box 2">
            <a:extLst>
              <a:ext uri="{FF2B5EF4-FFF2-40B4-BE49-F238E27FC236}">
                <a16:creationId xmlns:a16="http://schemas.microsoft.com/office/drawing/2014/main" id="{5D691687-8578-4EDC-A260-DB42D93684EE}"/>
              </a:ext>
            </a:extLst>
          </p:cNvPr>
          <p:cNvSpPr txBox="1">
            <a:spLocks noChangeArrowheads="1"/>
          </p:cNvSpPr>
          <p:nvPr/>
        </p:nvSpPr>
        <p:spPr bwMode="auto">
          <a:xfrm>
            <a:off x="609600" y="1981200"/>
            <a:ext cx="7721600" cy="320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a:latin typeface="Tahoma" panose="020B0604030504040204" pitchFamily="34" charset="0"/>
            </a:endParaRPr>
          </a:p>
          <a:p>
            <a:pPr algn="ctr">
              <a:spcBef>
                <a:spcPct val="0"/>
              </a:spcBef>
              <a:buFontTx/>
              <a:buNone/>
            </a:pPr>
            <a:endParaRPr lang="en-US" altLang="en-US">
              <a:solidFill>
                <a:schemeClr val="accent2"/>
              </a:solidFill>
              <a:latin typeface="Tahoma" panose="020B0604030504040204" pitchFamily="34" charset="0"/>
            </a:endParaRPr>
          </a:p>
          <a:p>
            <a:pPr algn="ctr">
              <a:spcBef>
                <a:spcPct val="0"/>
              </a:spcBef>
              <a:buFontTx/>
              <a:buNone/>
            </a:pPr>
            <a:r>
              <a:rPr lang="en-US" altLang="en-US" sz="2800">
                <a:latin typeface="Arial" panose="020B0604020202020204" pitchFamily="34" charset="0"/>
              </a:rPr>
              <a:t>The insertion sort first selects an item and</a:t>
            </a:r>
          </a:p>
          <a:p>
            <a:pPr algn="ctr">
              <a:spcBef>
                <a:spcPct val="0"/>
              </a:spcBef>
              <a:buFontTx/>
              <a:buNone/>
            </a:pPr>
            <a:r>
              <a:rPr lang="en-US" altLang="en-US" sz="2800">
                <a:latin typeface="Arial" panose="020B0604020202020204" pitchFamily="34" charset="0"/>
              </a:rPr>
              <a:t>moves items up or down based on the</a:t>
            </a:r>
          </a:p>
          <a:p>
            <a:pPr algn="ctr">
              <a:spcBef>
                <a:spcPct val="0"/>
              </a:spcBef>
              <a:buFontTx/>
              <a:buNone/>
            </a:pPr>
            <a:r>
              <a:rPr lang="en-US" altLang="en-US" sz="2800">
                <a:latin typeface="Arial" panose="020B0604020202020204" pitchFamily="34" charset="0"/>
              </a:rPr>
              <a:t>comparison to the selected item.</a:t>
            </a:r>
          </a:p>
          <a:p>
            <a:pPr algn="ctr">
              <a:spcBef>
                <a:spcPct val="0"/>
              </a:spcBef>
              <a:buFontTx/>
              <a:buNone/>
            </a:pPr>
            <a:r>
              <a:rPr lang="en-US" altLang="en-US" sz="2800">
                <a:latin typeface="Arial" panose="020B0604020202020204" pitchFamily="34" charset="0"/>
              </a:rPr>
              <a:t>The idea is to get the selected item in proper</a:t>
            </a:r>
          </a:p>
          <a:p>
            <a:pPr algn="ctr">
              <a:spcBef>
                <a:spcPct val="0"/>
              </a:spcBef>
              <a:buFontTx/>
              <a:buNone/>
            </a:pPr>
            <a:r>
              <a:rPr lang="en-US" altLang="en-US" sz="2800">
                <a:latin typeface="Arial" panose="020B0604020202020204" pitchFamily="34" charset="0"/>
              </a:rPr>
              <a:t>position by shifting items around in the list.</a:t>
            </a:r>
            <a:endParaRPr lang="en-US" altLang="en-US" sz="2400" b="0"/>
          </a:p>
        </p:txBody>
      </p:sp>
      <p:sp>
        <p:nvSpPr>
          <p:cNvPr id="35842" name="Footer Placeholder 3">
            <a:extLst>
              <a:ext uri="{FF2B5EF4-FFF2-40B4-BE49-F238E27FC236}">
                <a16:creationId xmlns:a16="http://schemas.microsoft.com/office/drawing/2014/main" id="{DF96D0EC-28BE-4AF9-9C5E-13D4155D3FCB}"/>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5FB7EBD-1F87-4B51-9669-7D88F9FBF307}"/>
              </a:ext>
            </a:extLst>
          </p:cNvPr>
          <p:cNvSpPr txBox="1">
            <a:spLocks noGrp="1" noChangeArrowheads="1"/>
          </p:cNvSpPr>
          <p:nvPr>
            <p:ph type="title" idx="4294967295"/>
          </p:nvPr>
        </p:nvSpPr>
        <p:spPr bwMode="auto">
          <a:xfrm>
            <a:off x="1173163" y="457200"/>
            <a:ext cx="7772400" cy="1143000"/>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dirty="0">
                <a:ln>
                  <a:noFill/>
                </a:ln>
                <a:solidFill>
                  <a:srgbClr val="003366"/>
                </a:solidFill>
                <a:effectLst/>
                <a:uLnTx/>
                <a:uFillTx/>
                <a:latin typeface="Arial"/>
                <a:ea typeface="+mj-ea"/>
                <a:cs typeface="+mj-cs"/>
              </a:rPr>
              <a:t>Insertion Sort Explained</a:t>
            </a:r>
          </a:p>
        </p:txBody>
      </p:sp>
      <p:sp>
        <p:nvSpPr>
          <p:cNvPr id="5" name="Rectangle 3">
            <a:extLst>
              <a:ext uri="{FF2B5EF4-FFF2-40B4-BE49-F238E27FC236}">
                <a16:creationId xmlns:a16="http://schemas.microsoft.com/office/drawing/2014/main" id="{BBED3125-2443-41BF-B5D5-B2ED753DBE42}"/>
              </a:ext>
              <a:ext uri="{C183D7F6-B498-43B3-948B-1728B52AA6E4}">
                <adec:decorative xmlns:adec="http://schemas.microsoft.com/office/drawing/2017/decorative" val="1"/>
              </a:ext>
            </a:extLst>
          </p:cNvPr>
          <p:cNvSpPr txBox="1">
            <a:spLocks noChangeArrowheads="1"/>
          </p:cNvSpPr>
          <p:nvPr/>
        </p:nvSpPr>
        <p:spPr bwMode="auto">
          <a:xfrm>
            <a:off x="914400" y="1733550"/>
            <a:ext cx="7772400" cy="4514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742950" marR="0" lvl="1" indent="-285750" algn="l" defTabSz="914400" rtl="0" eaLnBrk="0" fontAlgn="base" latinLnBrk="0" hangingPunct="0">
              <a:lnSpc>
                <a:spcPct val="100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Keep the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elements in order.</a:t>
            </a:r>
          </a:p>
          <a:p>
            <a:pPr marL="742950" marR="0" lvl="1" indent="-285750" algn="l"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5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Take the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+1)-</a:t>
            </a:r>
            <a:r>
              <a:rPr kumimoji="0" lang="en-US" sz="2400" b="0" i="0" u="none" strike="noStrike" kern="0" cap="none" spc="0" normalizeH="0" baseline="0" noProof="0" dirty="0" err="1">
                <a:ln>
                  <a:noFill/>
                </a:ln>
                <a:solidFill>
                  <a:srgbClr val="000000"/>
                </a:solidFill>
                <a:effectLst/>
                <a:uLnTx/>
                <a:uFillTx/>
                <a:latin typeface="Arial"/>
              </a:rPr>
              <a:t>th</a:t>
            </a:r>
            <a:r>
              <a:rPr kumimoji="0" lang="en-US" sz="2400" b="0" i="0" u="none" strike="noStrike" kern="0" cap="none" spc="0" normalizeH="0" baseline="0" noProof="0" dirty="0">
                <a:ln>
                  <a:noFill/>
                </a:ln>
                <a:solidFill>
                  <a:srgbClr val="000000"/>
                </a:solidFill>
                <a:effectLst/>
                <a:uLnTx/>
                <a:uFillTx/>
                <a:latin typeface="Arial"/>
              </a:rPr>
              <a:t> element and insert among the</a:t>
            </a:r>
          </a:p>
          <a:p>
            <a:pPr marL="742950" marR="0" lvl="1" indent="-28575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in the right place.</a:t>
            </a: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3.  Increment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and repeat from Step 2 (while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&lt;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a:t>
            </a:r>
          </a:p>
        </p:txBody>
      </p:sp>
      <p:sp>
        <p:nvSpPr>
          <p:cNvPr id="6" name="Line 90">
            <a:extLst>
              <a:ext uri="{FF2B5EF4-FFF2-40B4-BE49-F238E27FC236}">
                <a16:creationId xmlns:a16="http://schemas.microsoft.com/office/drawing/2014/main" id="{23CD6F97-E6A9-46F2-B4F6-CB44158E2B3A}"/>
              </a:ext>
              <a:ext uri="{C183D7F6-B498-43B3-948B-1728B52AA6E4}">
                <adec:decorative xmlns:adec="http://schemas.microsoft.com/office/drawing/2017/decorative" val="1"/>
              </a:ext>
            </a:extLst>
          </p:cNvPr>
          <p:cNvSpPr>
            <a:spLocks noChangeShapeType="1"/>
          </p:cNvSpPr>
          <p:nvPr/>
        </p:nvSpPr>
        <p:spPr bwMode="auto">
          <a:xfrm>
            <a:off x="4191000" y="6096000"/>
            <a:ext cx="0" cy="2286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7" name="Line 91">
            <a:extLst>
              <a:ext uri="{FF2B5EF4-FFF2-40B4-BE49-F238E27FC236}">
                <a16:creationId xmlns:a16="http://schemas.microsoft.com/office/drawing/2014/main" id="{391B4A5B-60E0-460D-B6FB-B0D70890FAC8}"/>
              </a:ext>
              <a:ext uri="{C183D7F6-B498-43B3-948B-1728B52AA6E4}">
                <adec:decorative xmlns:adec="http://schemas.microsoft.com/office/drawing/2017/decorative" val="1"/>
              </a:ext>
            </a:extLst>
          </p:cNvPr>
          <p:cNvSpPr>
            <a:spLocks noChangeShapeType="1"/>
          </p:cNvSpPr>
          <p:nvPr/>
        </p:nvSpPr>
        <p:spPr bwMode="auto">
          <a:xfrm flipH="1">
            <a:off x="914400" y="63246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8" name="Line 92">
            <a:extLst>
              <a:ext uri="{FF2B5EF4-FFF2-40B4-BE49-F238E27FC236}">
                <a16:creationId xmlns:a16="http://schemas.microsoft.com/office/drawing/2014/main" id="{61CA2126-57F0-4365-9A6B-116841D2249D}"/>
              </a:ext>
              <a:ext uri="{C183D7F6-B498-43B3-948B-1728B52AA6E4}">
                <adec:decorative xmlns:adec="http://schemas.microsoft.com/office/drawing/2017/decorative" val="1"/>
              </a:ext>
            </a:extLst>
          </p:cNvPr>
          <p:cNvSpPr>
            <a:spLocks noChangeShapeType="1"/>
          </p:cNvSpPr>
          <p:nvPr/>
        </p:nvSpPr>
        <p:spPr bwMode="auto">
          <a:xfrm flipV="1">
            <a:off x="914400" y="2438400"/>
            <a:ext cx="0" cy="38862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9" name="Line 93">
            <a:extLst>
              <a:ext uri="{FF2B5EF4-FFF2-40B4-BE49-F238E27FC236}">
                <a16:creationId xmlns:a16="http://schemas.microsoft.com/office/drawing/2014/main" id="{83166BA5-D6ED-40C3-B849-B3CB0BF9D52E}"/>
              </a:ext>
              <a:ext uri="{C183D7F6-B498-43B3-948B-1728B52AA6E4}">
                <adec:decorative xmlns:adec="http://schemas.microsoft.com/office/drawing/2017/decorative" val="1"/>
              </a:ext>
            </a:extLst>
          </p:cNvPr>
          <p:cNvSpPr>
            <a:spLocks noChangeShapeType="1"/>
          </p:cNvSpPr>
          <p:nvPr/>
        </p:nvSpPr>
        <p:spPr bwMode="auto">
          <a:xfrm>
            <a:off x="23622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0" name="Line 94">
            <a:extLst>
              <a:ext uri="{FF2B5EF4-FFF2-40B4-BE49-F238E27FC236}">
                <a16:creationId xmlns:a16="http://schemas.microsoft.com/office/drawing/2014/main" id="{21AEE975-63F2-4EF8-A18E-462F673A3B59}"/>
              </a:ext>
              <a:ext uri="{C183D7F6-B498-43B3-948B-1728B52AA6E4}">
                <adec:decorative xmlns:adec="http://schemas.microsoft.com/office/drawing/2017/decorative" val="1"/>
              </a:ext>
            </a:extLst>
          </p:cNvPr>
          <p:cNvSpPr>
            <a:spLocks noChangeShapeType="1"/>
          </p:cNvSpPr>
          <p:nvPr/>
        </p:nvSpPr>
        <p:spPr bwMode="auto">
          <a:xfrm>
            <a:off x="2362200" y="41910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1" name="Line 95">
            <a:extLst>
              <a:ext uri="{FF2B5EF4-FFF2-40B4-BE49-F238E27FC236}">
                <a16:creationId xmlns:a16="http://schemas.microsoft.com/office/drawing/2014/main" id="{2AA7CC23-BC84-427D-A0BD-78F0FA7697EC}"/>
              </a:ext>
              <a:ext uri="{C183D7F6-B498-43B3-948B-1728B52AA6E4}">
                <adec:decorative xmlns:adec="http://schemas.microsoft.com/office/drawing/2017/decorative" val="1"/>
              </a:ext>
            </a:extLst>
          </p:cNvPr>
          <p:cNvSpPr>
            <a:spLocks noChangeShapeType="1"/>
          </p:cNvSpPr>
          <p:nvPr/>
        </p:nvSpPr>
        <p:spPr bwMode="auto">
          <a:xfrm>
            <a:off x="28194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2" name="Group 96">
            <a:extLst>
              <a:ext uri="{FF2B5EF4-FFF2-40B4-BE49-F238E27FC236}">
                <a16:creationId xmlns:a16="http://schemas.microsoft.com/office/drawing/2014/main" id="{BC16B1F1-0656-48FD-BC10-238BEFA6D64D}"/>
              </a:ext>
              <a:ext uri="{C183D7F6-B498-43B3-948B-1728B52AA6E4}">
                <adec:decorative xmlns:adec="http://schemas.microsoft.com/office/drawing/2017/decorative" val="1"/>
              </a:ext>
            </a:extLst>
          </p:cNvPr>
          <p:cNvGrpSpPr>
            <a:grpSpLocks/>
          </p:cNvGrpSpPr>
          <p:nvPr/>
        </p:nvGrpSpPr>
        <p:grpSpPr bwMode="auto">
          <a:xfrm>
            <a:off x="2362200" y="4038600"/>
            <a:ext cx="457200" cy="152400"/>
            <a:chOff x="720" y="2352"/>
            <a:chExt cx="288" cy="96"/>
          </a:xfrm>
        </p:grpSpPr>
        <p:sp>
          <p:nvSpPr>
            <p:cNvPr id="13" name="Line 97">
              <a:extLst>
                <a:ext uri="{FF2B5EF4-FFF2-40B4-BE49-F238E27FC236}">
                  <a16:creationId xmlns:a16="http://schemas.microsoft.com/office/drawing/2014/main" id="{66F1FB79-3780-4B4F-B837-B8689440157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4" name="Line 98">
              <a:extLst>
                <a:ext uri="{FF2B5EF4-FFF2-40B4-BE49-F238E27FC236}">
                  <a16:creationId xmlns:a16="http://schemas.microsoft.com/office/drawing/2014/main" id="{CEC6FF83-6FB4-404B-B7D1-E539AABC011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 name="Line 99">
              <a:extLst>
                <a:ext uri="{FF2B5EF4-FFF2-40B4-BE49-F238E27FC236}">
                  <a16:creationId xmlns:a16="http://schemas.microsoft.com/office/drawing/2014/main" id="{7D582A13-D69B-42E2-964C-DFCF1ADC2913}"/>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6" name="Group 100">
            <a:extLst>
              <a:ext uri="{FF2B5EF4-FFF2-40B4-BE49-F238E27FC236}">
                <a16:creationId xmlns:a16="http://schemas.microsoft.com/office/drawing/2014/main" id="{F3BA9FBE-88ED-4083-8CB4-5CFAB8C01937}"/>
              </a:ext>
              <a:ext uri="{C183D7F6-B498-43B3-948B-1728B52AA6E4}">
                <adec:decorative xmlns:adec="http://schemas.microsoft.com/office/drawing/2017/decorative" val="1"/>
              </a:ext>
            </a:extLst>
          </p:cNvPr>
          <p:cNvGrpSpPr>
            <a:grpSpLocks/>
          </p:cNvGrpSpPr>
          <p:nvPr/>
        </p:nvGrpSpPr>
        <p:grpSpPr bwMode="auto">
          <a:xfrm>
            <a:off x="2895600" y="4038600"/>
            <a:ext cx="457200" cy="152400"/>
            <a:chOff x="720" y="2352"/>
            <a:chExt cx="288" cy="96"/>
          </a:xfrm>
        </p:grpSpPr>
        <p:sp>
          <p:nvSpPr>
            <p:cNvPr id="17" name="Line 101">
              <a:extLst>
                <a:ext uri="{FF2B5EF4-FFF2-40B4-BE49-F238E27FC236}">
                  <a16:creationId xmlns:a16="http://schemas.microsoft.com/office/drawing/2014/main" id="{F5980680-F9BF-4641-893E-45211C1E93E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8" name="Line 102">
              <a:extLst>
                <a:ext uri="{FF2B5EF4-FFF2-40B4-BE49-F238E27FC236}">
                  <a16:creationId xmlns:a16="http://schemas.microsoft.com/office/drawing/2014/main" id="{30DA2F2D-80C8-465D-AC71-1925C3AC6BA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 name="Line 103">
              <a:extLst>
                <a:ext uri="{FF2B5EF4-FFF2-40B4-BE49-F238E27FC236}">
                  <a16:creationId xmlns:a16="http://schemas.microsoft.com/office/drawing/2014/main" id="{FD8C5084-6241-4C6F-8917-1597BCFC89B6}"/>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 name="Group 104">
            <a:extLst>
              <a:ext uri="{FF2B5EF4-FFF2-40B4-BE49-F238E27FC236}">
                <a16:creationId xmlns:a16="http://schemas.microsoft.com/office/drawing/2014/main" id="{B3FD5374-4195-46AF-A219-B0385D4FEA3A}"/>
              </a:ext>
              <a:ext uri="{C183D7F6-B498-43B3-948B-1728B52AA6E4}">
                <adec:decorative xmlns:adec="http://schemas.microsoft.com/office/drawing/2017/decorative" val="1"/>
              </a:ext>
            </a:extLst>
          </p:cNvPr>
          <p:cNvGrpSpPr>
            <a:grpSpLocks/>
          </p:cNvGrpSpPr>
          <p:nvPr/>
        </p:nvGrpSpPr>
        <p:grpSpPr bwMode="auto">
          <a:xfrm>
            <a:off x="3429000" y="4038600"/>
            <a:ext cx="457200" cy="152400"/>
            <a:chOff x="720" y="2352"/>
            <a:chExt cx="288" cy="96"/>
          </a:xfrm>
        </p:grpSpPr>
        <p:sp>
          <p:nvSpPr>
            <p:cNvPr id="21" name="Line 105">
              <a:extLst>
                <a:ext uri="{FF2B5EF4-FFF2-40B4-BE49-F238E27FC236}">
                  <a16:creationId xmlns:a16="http://schemas.microsoft.com/office/drawing/2014/main" id="{92F58D26-F8D3-4F30-BE15-F4693349AC1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 name="Line 106">
              <a:extLst>
                <a:ext uri="{FF2B5EF4-FFF2-40B4-BE49-F238E27FC236}">
                  <a16:creationId xmlns:a16="http://schemas.microsoft.com/office/drawing/2014/main" id="{8535D386-C3FE-4F5F-B57F-CD8E3C5789F2}"/>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 name="Line 107">
              <a:extLst>
                <a:ext uri="{FF2B5EF4-FFF2-40B4-BE49-F238E27FC236}">
                  <a16:creationId xmlns:a16="http://schemas.microsoft.com/office/drawing/2014/main" id="{00C1B8BD-5F1E-4129-AEA0-745E5CE55DC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4" name="Line 108">
            <a:extLst>
              <a:ext uri="{FF2B5EF4-FFF2-40B4-BE49-F238E27FC236}">
                <a16:creationId xmlns:a16="http://schemas.microsoft.com/office/drawing/2014/main" id="{23E67201-21AB-4779-8E92-59D10EF3E7AC}"/>
              </a:ext>
              <a:ext uri="{C183D7F6-B498-43B3-948B-1728B52AA6E4}">
                <adec:decorative xmlns:adec="http://schemas.microsoft.com/office/drawing/2017/decorative" val="1"/>
              </a:ext>
            </a:extLst>
          </p:cNvPr>
          <p:cNvSpPr>
            <a:spLocks noChangeShapeType="1"/>
          </p:cNvSpPr>
          <p:nvPr/>
        </p:nvSpPr>
        <p:spPr bwMode="auto">
          <a:xfrm>
            <a:off x="39624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 name="Line 109">
            <a:extLst>
              <a:ext uri="{FF2B5EF4-FFF2-40B4-BE49-F238E27FC236}">
                <a16:creationId xmlns:a16="http://schemas.microsoft.com/office/drawing/2014/main" id="{21F43612-71BB-4B84-B1AC-73BB41DC0B54}"/>
              </a:ext>
              <a:ext uri="{C183D7F6-B498-43B3-948B-1728B52AA6E4}">
                <adec:decorative xmlns:adec="http://schemas.microsoft.com/office/drawing/2017/decorative" val="1"/>
              </a:ext>
            </a:extLst>
          </p:cNvPr>
          <p:cNvSpPr>
            <a:spLocks noChangeShapeType="1"/>
          </p:cNvSpPr>
          <p:nvPr/>
        </p:nvSpPr>
        <p:spPr bwMode="auto">
          <a:xfrm>
            <a:off x="3962400" y="41910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 name="Line 110">
            <a:extLst>
              <a:ext uri="{FF2B5EF4-FFF2-40B4-BE49-F238E27FC236}">
                <a16:creationId xmlns:a16="http://schemas.microsoft.com/office/drawing/2014/main" id="{75FD814E-04F5-4500-BF86-7FE27B1DECD7}"/>
              </a:ext>
              <a:ext uri="{C183D7F6-B498-43B3-948B-1728B52AA6E4}">
                <adec:decorative xmlns:adec="http://schemas.microsoft.com/office/drawing/2017/decorative" val="1"/>
              </a:ext>
            </a:extLst>
          </p:cNvPr>
          <p:cNvSpPr>
            <a:spLocks noChangeShapeType="1"/>
          </p:cNvSpPr>
          <p:nvPr/>
        </p:nvSpPr>
        <p:spPr bwMode="auto">
          <a:xfrm>
            <a:off x="44196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7" name="Group 111">
            <a:extLst>
              <a:ext uri="{FF2B5EF4-FFF2-40B4-BE49-F238E27FC236}">
                <a16:creationId xmlns:a16="http://schemas.microsoft.com/office/drawing/2014/main" id="{EBB4105E-940A-4653-B794-20E3D21D133E}"/>
              </a:ext>
              <a:ext uri="{C183D7F6-B498-43B3-948B-1728B52AA6E4}">
                <adec:decorative xmlns:adec="http://schemas.microsoft.com/office/drawing/2017/decorative" val="1"/>
              </a:ext>
            </a:extLst>
          </p:cNvPr>
          <p:cNvGrpSpPr>
            <a:grpSpLocks/>
          </p:cNvGrpSpPr>
          <p:nvPr/>
        </p:nvGrpSpPr>
        <p:grpSpPr bwMode="auto">
          <a:xfrm>
            <a:off x="3962400" y="4038600"/>
            <a:ext cx="457200" cy="152400"/>
            <a:chOff x="720" y="2352"/>
            <a:chExt cx="288" cy="96"/>
          </a:xfrm>
        </p:grpSpPr>
        <p:sp>
          <p:nvSpPr>
            <p:cNvPr id="28" name="Line 112">
              <a:extLst>
                <a:ext uri="{FF2B5EF4-FFF2-40B4-BE49-F238E27FC236}">
                  <a16:creationId xmlns:a16="http://schemas.microsoft.com/office/drawing/2014/main" id="{85D573C8-51EF-43EF-89A4-0A341F2B0DF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9" name="Line 113">
              <a:extLst>
                <a:ext uri="{FF2B5EF4-FFF2-40B4-BE49-F238E27FC236}">
                  <a16:creationId xmlns:a16="http://schemas.microsoft.com/office/drawing/2014/main" id="{9D8561A9-2FE5-4411-A942-2EAECC24013B}"/>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0" name="Line 114">
              <a:extLst>
                <a:ext uri="{FF2B5EF4-FFF2-40B4-BE49-F238E27FC236}">
                  <a16:creationId xmlns:a16="http://schemas.microsoft.com/office/drawing/2014/main" id="{74F6AB83-200F-456B-83B4-F249FE20583E}"/>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31" name="Group 115">
            <a:extLst>
              <a:ext uri="{FF2B5EF4-FFF2-40B4-BE49-F238E27FC236}">
                <a16:creationId xmlns:a16="http://schemas.microsoft.com/office/drawing/2014/main" id="{DD7A8F1B-6914-46CD-B766-6E76EA44965A}"/>
              </a:ext>
              <a:ext uri="{C183D7F6-B498-43B3-948B-1728B52AA6E4}">
                <adec:decorative xmlns:adec="http://schemas.microsoft.com/office/drawing/2017/decorative" val="1"/>
              </a:ext>
            </a:extLst>
          </p:cNvPr>
          <p:cNvGrpSpPr>
            <a:grpSpLocks/>
          </p:cNvGrpSpPr>
          <p:nvPr/>
        </p:nvGrpSpPr>
        <p:grpSpPr bwMode="auto">
          <a:xfrm>
            <a:off x="4495800" y="4038600"/>
            <a:ext cx="457200" cy="152400"/>
            <a:chOff x="720" y="2352"/>
            <a:chExt cx="288" cy="96"/>
          </a:xfrm>
        </p:grpSpPr>
        <p:sp>
          <p:nvSpPr>
            <p:cNvPr id="32" name="Line 116">
              <a:extLst>
                <a:ext uri="{FF2B5EF4-FFF2-40B4-BE49-F238E27FC236}">
                  <a16:creationId xmlns:a16="http://schemas.microsoft.com/office/drawing/2014/main" id="{778E8139-94FD-43B4-A5E6-B62EE511EDE2}"/>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3" name="Line 117">
              <a:extLst>
                <a:ext uri="{FF2B5EF4-FFF2-40B4-BE49-F238E27FC236}">
                  <a16:creationId xmlns:a16="http://schemas.microsoft.com/office/drawing/2014/main" id="{8DE31812-3392-4623-AFA0-30AD17ED5BC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4" name="Line 118">
              <a:extLst>
                <a:ext uri="{FF2B5EF4-FFF2-40B4-BE49-F238E27FC236}">
                  <a16:creationId xmlns:a16="http://schemas.microsoft.com/office/drawing/2014/main" id="{12905FA3-2818-4446-B815-9055B9579E2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35" name="Group 119">
            <a:extLst>
              <a:ext uri="{FF2B5EF4-FFF2-40B4-BE49-F238E27FC236}">
                <a16:creationId xmlns:a16="http://schemas.microsoft.com/office/drawing/2014/main" id="{0F4CAB6F-9F01-461F-A4D1-312A8B767F67}"/>
              </a:ext>
              <a:ext uri="{C183D7F6-B498-43B3-948B-1728B52AA6E4}">
                <adec:decorative xmlns:adec="http://schemas.microsoft.com/office/drawing/2017/decorative" val="1"/>
              </a:ext>
            </a:extLst>
          </p:cNvPr>
          <p:cNvGrpSpPr>
            <a:grpSpLocks/>
          </p:cNvGrpSpPr>
          <p:nvPr/>
        </p:nvGrpSpPr>
        <p:grpSpPr bwMode="auto">
          <a:xfrm>
            <a:off x="5029200" y="4038600"/>
            <a:ext cx="457200" cy="152400"/>
            <a:chOff x="720" y="2352"/>
            <a:chExt cx="288" cy="96"/>
          </a:xfrm>
        </p:grpSpPr>
        <p:sp>
          <p:nvSpPr>
            <p:cNvPr id="36" name="Line 120">
              <a:extLst>
                <a:ext uri="{FF2B5EF4-FFF2-40B4-BE49-F238E27FC236}">
                  <a16:creationId xmlns:a16="http://schemas.microsoft.com/office/drawing/2014/main" id="{5C74C47C-69F7-494F-A16B-05E80AF4ADF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7" name="Line 121">
              <a:extLst>
                <a:ext uri="{FF2B5EF4-FFF2-40B4-BE49-F238E27FC236}">
                  <a16:creationId xmlns:a16="http://schemas.microsoft.com/office/drawing/2014/main" id="{A0F02641-3AF8-49C5-8D7D-971A5316677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8" name="Line 122">
              <a:extLst>
                <a:ext uri="{FF2B5EF4-FFF2-40B4-BE49-F238E27FC236}">
                  <a16:creationId xmlns:a16="http://schemas.microsoft.com/office/drawing/2014/main" id="{EFBB7386-9A58-4F3C-B6AE-E2C4A462326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39" name="Text Box 123">
            <a:extLst>
              <a:ext uri="{FF2B5EF4-FFF2-40B4-BE49-F238E27FC236}">
                <a16:creationId xmlns:a16="http://schemas.microsoft.com/office/drawing/2014/main" id="{410C8159-0A67-4F8A-90FE-518200A46E1C}"/>
              </a:ext>
              <a:ext uri="{C183D7F6-B498-43B3-948B-1728B52AA6E4}">
                <adec:decorative xmlns:adec="http://schemas.microsoft.com/office/drawing/2017/decorative" val="1"/>
              </a:ext>
            </a:extLst>
          </p:cNvPr>
          <p:cNvSpPr txBox="1">
            <a:spLocks noChangeArrowheads="1"/>
          </p:cNvSpPr>
          <p:nvPr/>
        </p:nvSpPr>
        <p:spPr bwMode="auto">
          <a:xfrm>
            <a:off x="23622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endParaRPr lang="en-US" sz="2400" b="0">
              <a:solidFill>
                <a:srgbClr val="000000"/>
              </a:solidFill>
              <a:latin typeface="Arial" pitchFamily="34" charset="0"/>
              <a:cs typeface="Arial" pitchFamily="34" charset="0"/>
            </a:endParaRPr>
          </a:p>
        </p:txBody>
      </p:sp>
      <p:sp>
        <p:nvSpPr>
          <p:cNvPr id="40" name="Text Box 124">
            <a:extLst>
              <a:ext uri="{FF2B5EF4-FFF2-40B4-BE49-F238E27FC236}">
                <a16:creationId xmlns:a16="http://schemas.microsoft.com/office/drawing/2014/main" id="{DB63AE56-ADFC-4527-AB11-03CC17819BC5}"/>
              </a:ext>
              <a:ext uri="{C183D7F6-B498-43B3-948B-1728B52AA6E4}">
                <adec:decorative xmlns:adec="http://schemas.microsoft.com/office/drawing/2017/decorative" val="1"/>
              </a:ext>
            </a:extLst>
          </p:cNvPr>
          <p:cNvSpPr txBox="1">
            <a:spLocks noChangeArrowheads="1"/>
          </p:cNvSpPr>
          <p:nvPr/>
        </p:nvSpPr>
        <p:spPr bwMode="auto">
          <a:xfrm>
            <a:off x="4343400" y="38100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41" name="Text Box 125">
            <a:extLst>
              <a:ext uri="{FF2B5EF4-FFF2-40B4-BE49-F238E27FC236}">
                <a16:creationId xmlns:a16="http://schemas.microsoft.com/office/drawing/2014/main" id="{A84B3D13-5B29-4F55-9743-F54FE50C1016}"/>
              </a:ext>
              <a:ext uri="{C183D7F6-B498-43B3-948B-1728B52AA6E4}">
                <adec:decorative xmlns:adec="http://schemas.microsoft.com/office/drawing/2017/decorative" val="1"/>
              </a:ext>
            </a:extLst>
          </p:cNvPr>
          <p:cNvSpPr txBox="1">
            <a:spLocks noChangeArrowheads="1"/>
          </p:cNvSpPr>
          <p:nvPr/>
        </p:nvSpPr>
        <p:spPr bwMode="auto">
          <a:xfrm>
            <a:off x="55626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42" name="Text Box 126">
            <a:extLst>
              <a:ext uri="{FF2B5EF4-FFF2-40B4-BE49-F238E27FC236}">
                <a16:creationId xmlns:a16="http://schemas.microsoft.com/office/drawing/2014/main" id="{4FA24AEA-B487-48BC-9908-F573E3EF1E8E}"/>
              </a:ext>
              <a:ext uri="{C183D7F6-B498-43B3-948B-1728B52AA6E4}">
                <adec:decorative xmlns:adec="http://schemas.microsoft.com/office/drawing/2017/decorative" val="1"/>
              </a:ext>
            </a:extLst>
          </p:cNvPr>
          <p:cNvSpPr txBox="1">
            <a:spLocks noChangeArrowheads="1"/>
          </p:cNvSpPr>
          <p:nvPr/>
        </p:nvSpPr>
        <p:spPr bwMode="auto">
          <a:xfrm>
            <a:off x="34290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5</a:t>
            </a:r>
            <a:endParaRPr lang="en-US" sz="2400" b="0">
              <a:solidFill>
                <a:srgbClr val="000000"/>
              </a:solidFill>
              <a:latin typeface="Arial" pitchFamily="34" charset="0"/>
              <a:cs typeface="Arial" pitchFamily="34" charset="0"/>
            </a:endParaRPr>
          </a:p>
        </p:txBody>
      </p:sp>
      <p:sp>
        <p:nvSpPr>
          <p:cNvPr id="43" name="Text Box 127">
            <a:extLst>
              <a:ext uri="{FF2B5EF4-FFF2-40B4-BE49-F238E27FC236}">
                <a16:creationId xmlns:a16="http://schemas.microsoft.com/office/drawing/2014/main" id="{1CA69286-DC35-496B-82A2-E6F19B8FC5F2}"/>
              </a:ext>
              <a:ext uri="{C183D7F6-B498-43B3-948B-1728B52AA6E4}">
                <adec:decorative xmlns:adec="http://schemas.microsoft.com/office/drawing/2017/decorative" val="1"/>
              </a:ext>
            </a:extLst>
          </p:cNvPr>
          <p:cNvSpPr txBox="1">
            <a:spLocks noChangeArrowheads="1"/>
          </p:cNvSpPr>
          <p:nvPr/>
        </p:nvSpPr>
        <p:spPr bwMode="auto">
          <a:xfrm>
            <a:off x="39624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44" name="Text Box 128">
            <a:extLst>
              <a:ext uri="{FF2B5EF4-FFF2-40B4-BE49-F238E27FC236}">
                <a16:creationId xmlns:a16="http://schemas.microsoft.com/office/drawing/2014/main" id="{3065F7A0-C49B-4D51-AAD3-A42F681EC143}"/>
              </a:ext>
              <a:ext uri="{C183D7F6-B498-43B3-948B-1728B52AA6E4}">
                <adec:decorative xmlns:adec="http://schemas.microsoft.com/office/drawing/2017/decorative" val="1"/>
              </a:ext>
            </a:extLst>
          </p:cNvPr>
          <p:cNvSpPr txBox="1">
            <a:spLocks noChangeArrowheads="1"/>
          </p:cNvSpPr>
          <p:nvPr/>
        </p:nvSpPr>
        <p:spPr bwMode="auto">
          <a:xfrm>
            <a:off x="4876800" y="38100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sp>
        <p:nvSpPr>
          <p:cNvPr id="45" name="Line 129">
            <a:extLst>
              <a:ext uri="{FF2B5EF4-FFF2-40B4-BE49-F238E27FC236}">
                <a16:creationId xmlns:a16="http://schemas.microsoft.com/office/drawing/2014/main" id="{15899FE9-20EF-4949-A639-A73AF3358A10}"/>
              </a:ext>
              <a:ext uri="{C183D7F6-B498-43B3-948B-1728B52AA6E4}">
                <adec:decorative xmlns:adec="http://schemas.microsoft.com/office/drawing/2017/decorative" val="1"/>
              </a:ext>
            </a:extLst>
          </p:cNvPr>
          <p:cNvSpPr>
            <a:spLocks noChangeShapeType="1"/>
          </p:cNvSpPr>
          <p:nvPr/>
        </p:nvSpPr>
        <p:spPr bwMode="auto">
          <a:xfrm flipV="1">
            <a:off x="3917950" y="42672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46" name="Group 130">
            <a:extLst>
              <a:ext uri="{FF2B5EF4-FFF2-40B4-BE49-F238E27FC236}">
                <a16:creationId xmlns:a16="http://schemas.microsoft.com/office/drawing/2014/main" id="{638B6774-6996-499E-8A87-F220A06CC480}"/>
              </a:ext>
              <a:ext uri="{C183D7F6-B498-43B3-948B-1728B52AA6E4}">
                <adec:decorative xmlns:adec="http://schemas.microsoft.com/office/drawing/2017/decorative" val="1"/>
              </a:ext>
            </a:extLst>
          </p:cNvPr>
          <p:cNvGrpSpPr>
            <a:grpSpLocks/>
          </p:cNvGrpSpPr>
          <p:nvPr/>
        </p:nvGrpSpPr>
        <p:grpSpPr bwMode="auto">
          <a:xfrm>
            <a:off x="5562600" y="4038600"/>
            <a:ext cx="457200" cy="152400"/>
            <a:chOff x="720" y="2352"/>
            <a:chExt cx="288" cy="96"/>
          </a:xfrm>
        </p:grpSpPr>
        <p:sp>
          <p:nvSpPr>
            <p:cNvPr id="47" name="Line 131">
              <a:extLst>
                <a:ext uri="{FF2B5EF4-FFF2-40B4-BE49-F238E27FC236}">
                  <a16:creationId xmlns:a16="http://schemas.microsoft.com/office/drawing/2014/main" id="{573EAB99-3AB2-43A8-8407-B211DA91D17C}"/>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48" name="Line 132">
              <a:extLst>
                <a:ext uri="{FF2B5EF4-FFF2-40B4-BE49-F238E27FC236}">
                  <a16:creationId xmlns:a16="http://schemas.microsoft.com/office/drawing/2014/main" id="{208A9BCF-FBC4-4FC9-8652-7CB9741E85EA}"/>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49" name="Line 133">
              <a:extLst>
                <a:ext uri="{FF2B5EF4-FFF2-40B4-BE49-F238E27FC236}">
                  <a16:creationId xmlns:a16="http://schemas.microsoft.com/office/drawing/2014/main" id="{94E0AE9B-8E6E-4520-B545-8FD77C5B3AF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50" name="Text Box 134">
            <a:extLst>
              <a:ext uri="{FF2B5EF4-FFF2-40B4-BE49-F238E27FC236}">
                <a16:creationId xmlns:a16="http://schemas.microsoft.com/office/drawing/2014/main" id="{C2347E78-DFBF-4F60-B1C9-7C639031A944}"/>
              </a:ext>
              <a:ext uri="{C183D7F6-B498-43B3-948B-1728B52AA6E4}">
                <adec:decorative xmlns:adec="http://schemas.microsoft.com/office/drawing/2017/decorative" val="1"/>
              </a:ext>
            </a:extLst>
          </p:cNvPr>
          <p:cNvSpPr txBox="1">
            <a:spLocks noChangeArrowheads="1"/>
          </p:cNvSpPr>
          <p:nvPr/>
        </p:nvSpPr>
        <p:spPr bwMode="auto">
          <a:xfrm>
            <a:off x="2819400" y="381000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3</a:t>
            </a:r>
            <a:endParaRPr lang="en-US" sz="2400" b="0">
              <a:solidFill>
                <a:srgbClr val="000000"/>
              </a:solidFill>
              <a:latin typeface="Arial" pitchFamily="34" charset="0"/>
              <a:cs typeface="Arial" pitchFamily="34" charset="0"/>
            </a:endParaRPr>
          </a:p>
        </p:txBody>
      </p:sp>
      <p:sp>
        <p:nvSpPr>
          <p:cNvPr id="51" name="Text Box 135">
            <a:extLst>
              <a:ext uri="{FF2B5EF4-FFF2-40B4-BE49-F238E27FC236}">
                <a16:creationId xmlns:a16="http://schemas.microsoft.com/office/drawing/2014/main" id="{EA607BAD-08D3-4159-BB60-A0581FA08D31}"/>
              </a:ext>
              <a:ext uri="{C183D7F6-B498-43B3-948B-1728B52AA6E4}">
                <adec:decorative xmlns:adec="http://schemas.microsoft.com/office/drawing/2017/decorative" val="1"/>
              </a:ext>
            </a:extLst>
          </p:cNvPr>
          <p:cNvSpPr txBox="1">
            <a:spLocks noChangeArrowheads="1"/>
          </p:cNvSpPr>
          <p:nvPr/>
        </p:nvSpPr>
        <p:spPr bwMode="auto">
          <a:xfrm>
            <a:off x="3733800" y="426720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k</a:t>
            </a:r>
            <a:endParaRPr lang="en-US" sz="2400" b="0">
              <a:solidFill>
                <a:srgbClr val="000000"/>
              </a:solidFill>
              <a:latin typeface="Arial" pitchFamily="34" charset="0"/>
              <a:cs typeface="Arial" pitchFamily="34" charset="0"/>
            </a:endParaRPr>
          </a:p>
        </p:txBody>
      </p:sp>
      <p:sp>
        <p:nvSpPr>
          <p:cNvPr id="52" name="Line 136">
            <a:extLst>
              <a:ext uri="{FF2B5EF4-FFF2-40B4-BE49-F238E27FC236}">
                <a16:creationId xmlns:a16="http://schemas.microsoft.com/office/drawing/2014/main" id="{8B0F24B5-5197-439D-9808-ECEB3A66DD0F}"/>
              </a:ext>
              <a:ext uri="{C183D7F6-B498-43B3-948B-1728B52AA6E4}">
                <adec:decorative xmlns:adec="http://schemas.microsoft.com/office/drawing/2017/decorative" val="1"/>
              </a:ext>
            </a:extLst>
          </p:cNvPr>
          <p:cNvSpPr>
            <a:spLocks noChangeShapeType="1"/>
          </p:cNvSpPr>
          <p:nvPr/>
        </p:nvSpPr>
        <p:spPr bwMode="auto">
          <a:xfrm>
            <a:off x="3124200" y="3657600"/>
            <a:ext cx="0" cy="15240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3" name="Line 138">
            <a:extLst>
              <a:ext uri="{FF2B5EF4-FFF2-40B4-BE49-F238E27FC236}">
                <a16:creationId xmlns:a16="http://schemas.microsoft.com/office/drawing/2014/main" id="{83A7601C-50F3-4B3E-BD3F-453592DF9455}"/>
              </a:ext>
              <a:ext uri="{C183D7F6-B498-43B3-948B-1728B52AA6E4}">
                <adec:decorative xmlns:adec="http://schemas.microsoft.com/office/drawing/2017/decorative" val="1"/>
              </a:ext>
            </a:extLst>
          </p:cNvPr>
          <p:cNvSpPr>
            <a:spLocks noChangeShapeType="1"/>
          </p:cNvSpPr>
          <p:nvPr/>
        </p:nvSpPr>
        <p:spPr bwMode="auto">
          <a:xfrm>
            <a:off x="3124200" y="3657600"/>
            <a:ext cx="1066800" cy="0"/>
          </a:xfrm>
          <a:prstGeom prst="line">
            <a:avLst/>
          </a:prstGeom>
          <a:noFill/>
          <a:ln w="9525">
            <a:solidFill>
              <a:srgbClr val="3366CC"/>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4" name="Line 139">
            <a:extLst>
              <a:ext uri="{FF2B5EF4-FFF2-40B4-BE49-F238E27FC236}">
                <a16:creationId xmlns:a16="http://schemas.microsoft.com/office/drawing/2014/main" id="{54BAF9A0-1ACB-4F37-89AF-DADBE0D2B041}"/>
              </a:ext>
              <a:ext uri="{C183D7F6-B498-43B3-948B-1728B52AA6E4}">
                <adec:decorative xmlns:adec="http://schemas.microsoft.com/office/drawing/2017/decorative" val="1"/>
              </a:ext>
            </a:extLst>
          </p:cNvPr>
          <p:cNvSpPr>
            <a:spLocks noChangeShapeType="1"/>
          </p:cNvSpPr>
          <p:nvPr/>
        </p:nvSpPr>
        <p:spPr bwMode="auto">
          <a:xfrm>
            <a:off x="4191000" y="24384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55" name="Line 140">
            <a:extLst>
              <a:ext uri="{FF2B5EF4-FFF2-40B4-BE49-F238E27FC236}">
                <a16:creationId xmlns:a16="http://schemas.microsoft.com/office/drawing/2014/main" id="{59CCD5AF-E443-4961-A1C7-73848DCA8950}"/>
              </a:ext>
              <a:ext uri="{C183D7F6-B498-43B3-948B-1728B52AA6E4}">
                <adec:decorative xmlns:adec="http://schemas.microsoft.com/office/drawing/2017/decorative" val="1"/>
              </a:ext>
            </a:extLst>
          </p:cNvPr>
          <p:cNvSpPr>
            <a:spLocks noChangeShapeType="1"/>
          </p:cNvSpPr>
          <p:nvPr/>
        </p:nvSpPr>
        <p:spPr bwMode="auto">
          <a:xfrm flipH="1">
            <a:off x="914400" y="24384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56" name="Line 141">
            <a:extLst>
              <a:ext uri="{FF2B5EF4-FFF2-40B4-BE49-F238E27FC236}">
                <a16:creationId xmlns:a16="http://schemas.microsoft.com/office/drawing/2014/main" id="{5F938F5A-7B96-4B02-93B5-F272D26BAD20}"/>
              </a:ext>
              <a:ext uri="{C183D7F6-B498-43B3-948B-1728B52AA6E4}">
                <adec:decorative xmlns:adec="http://schemas.microsoft.com/office/drawing/2017/decorative" val="1"/>
              </a:ext>
            </a:extLst>
          </p:cNvPr>
          <p:cNvSpPr>
            <a:spLocks noChangeShapeType="1"/>
          </p:cNvSpPr>
          <p:nvPr/>
        </p:nvSpPr>
        <p:spPr bwMode="auto">
          <a:xfrm>
            <a:off x="4191000" y="3657600"/>
            <a:ext cx="0" cy="152400"/>
          </a:xfrm>
          <a:prstGeom prst="line">
            <a:avLst/>
          </a:prstGeom>
          <a:noFill/>
          <a:ln w="9525">
            <a:solidFill>
              <a:srgbClr val="3366CC"/>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7" name="Line 142">
            <a:extLst>
              <a:ext uri="{FF2B5EF4-FFF2-40B4-BE49-F238E27FC236}">
                <a16:creationId xmlns:a16="http://schemas.microsoft.com/office/drawing/2014/main" id="{F486A6A9-7B2D-457A-89F4-21333834C45D}"/>
              </a:ext>
              <a:ext uri="{C183D7F6-B498-43B3-948B-1728B52AA6E4}">
                <adec:decorative xmlns:adec="http://schemas.microsoft.com/office/drawing/2017/decorative" val="1"/>
              </a:ext>
            </a:extLst>
          </p:cNvPr>
          <p:cNvSpPr>
            <a:spLocks noChangeShapeType="1"/>
          </p:cNvSpPr>
          <p:nvPr/>
        </p:nvSpPr>
        <p:spPr bwMode="auto">
          <a:xfrm>
            <a:off x="3810000" y="4038600"/>
            <a:ext cx="228600" cy="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8" name="Line 143">
            <a:extLst>
              <a:ext uri="{FF2B5EF4-FFF2-40B4-BE49-F238E27FC236}">
                <a16:creationId xmlns:a16="http://schemas.microsoft.com/office/drawing/2014/main" id="{DF5F9322-B7BF-48DA-8B17-9555B6796A75}"/>
              </a:ext>
              <a:ext uri="{C183D7F6-B498-43B3-948B-1728B52AA6E4}">
                <adec:decorative xmlns:adec="http://schemas.microsoft.com/office/drawing/2017/decorative" val="1"/>
              </a:ext>
            </a:extLst>
          </p:cNvPr>
          <p:cNvSpPr>
            <a:spLocks noChangeShapeType="1"/>
          </p:cNvSpPr>
          <p:nvPr/>
        </p:nvSpPr>
        <p:spPr bwMode="auto">
          <a:xfrm>
            <a:off x="3276600" y="4038600"/>
            <a:ext cx="228600" cy="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9" name="Line 144">
            <a:extLst>
              <a:ext uri="{FF2B5EF4-FFF2-40B4-BE49-F238E27FC236}">
                <a16:creationId xmlns:a16="http://schemas.microsoft.com/office/drawing/2014/main" id="{6DB8AD76-DD3E-4E03-A6F6-3859B6DC7CE5}"/>
              </a:ext>
              <a:ext uri="{C183D7F6-B498-43B3-948B-1728B52AA6E4}">
                <adec:decorative xmlns:adec="http://schemas.microsoft.com/office/drawing/2017/decorative" val="1"/>
              </a:ext>
            </a:extLst>
          </p:cNvPr>
          <p:cNvSpPr>
            <a:spLocks noChangeShapeType="1"/>
          </p:cNvSpPr>
          <p:nvPr/>
        </p:nvSpPr>
        <p:spPr bwMode="auto">
          <a:xfrm>
            <a:off x="23622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0" name="Line 145">
            <a:extLst>
              <a:ext uri="{FF2B5EF4-FFF2-40B4-BE49-F238E27FC236}">
                <a16:creationId xmlns:a16="http://schemas.microsoft.com/office/drawing/2014/main" id="{5D287953-C219-49F9-A847-088E97BBE88E}"/>
              </a:ext>
              <a:ext uri="{C183D7F6-B498-43B3-948B-1728B52AA6E4}">
                <adec:decorative xmlns:adec="http://schemas.microsoft.com/office/drawing/2017/decorative" val="1"/>
              </a:ext>
            </a:extLst>
          </p:cNvPr>
          <p:cNvSpPr>
            <a:spLocks noChangeShapeType="1"/>
          </p:cNvSpPr>
          <p:nvPr/>
        </p:nvSpPr>
        <p:spPr bwMode="auto">
          <a:xfrm>
            <a:off x="23622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1" name="Line 146">
            <a:extLst>
              <a:ext uri="{FF2B5EF4-FFF2-40B4-BE49-F238E27FC236}">
                <a16:creationId xmlns:a16="http://schemas.microsoft.com/office/drawing/2014/main" id="{9CF49946-20F4-4339-BCC0-D966971BE3A7}"/>
              </a:ext>
              <a:ext uri="{C183D7F6-B498-43B3-948B-1728B52AA6E4}">
                <adec:decorative xmlns:adec="http://schemas.microsoft.com/office/drawing/2017/decorative" val="1"/>
              </a:ext>
            </a:extLst>
          </p:cNvPr>
          <p:cNvSpPr>
            <a:spLocks noChangeShapeType="1"/>
          </p:cNvSpPr>
          <p:nvPr/>
        </p:nvSpPr>
        <p:spPr bwMode="auto">
          <a:xfrm>
            <a:off x="28194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62" name="Group 147">
            <a:extLst>
              <a:ext uri="{FF2B5EF4-FFF2-40B4-BE49-F238E27FC236}">
                <a16:creationId xmlns:a16="http://schemas.microsoft.com/office/drawing/2014/main" id="{41684A8A-2C2E-40F9-A6AC-16A0DE5659A4}"/>
              </a:ext>
              <a:ext uri="{C183D7F6-B498-43B3-948B-1728B52AA6E4}">
                <adec:decorative xmlns:adec="http://schemas.microsoft.com/office/drawing/2017/decorative" val="1"/>
              </a:ext>
            </a:extLst>
          </p:cNvPr>
          <p:cNvGrpSpPr>
            <a:grpSpLocks/>
          </p:cNvGrpSpPr>
          <p:nvPr/>
        </p:nvGrpSpPr>
        <p:grpSpPr bwMode="auto">
          <a:xfrm>
            <a:off x="2362200" y="5486400"/>
            <a:ext cx="457200" cy="152400"/>
            <a:chOff x="720" y="2352"/>
            <a:chExt cx="288" cy="96"/>
          </a:xfrm>
        </p:grpSpPr>
        <p:sp>
          <p:nvSpPr>
            <p:cNvPr id="63" name="Line 148">
              <a:extLst>
                <a:ext uri="{FF2B5EF4-FFF2-40B4-BE49-F238E27FC236}">
                  <a16:creationId xmlns:a16="http://schemas.microsoft.com/office/drawing/2014/main" id="{4BAC4A78-332F-49FB-B083-1BFC51A563E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4" name="Line 149">
              <a:extLst>
                <a:ext uri="{FF2B5EF4-FFF2-40B4-BE49-F238E27FC236}">
                  <a16:creationId xmlns:a16="http://schemas.microsoft.com/office/drawing/2014/main" id="{7D7A3032-6B47-41FA-8C3C-209F07599DA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5" name="Line 150">
              <a:extLst>
                <a:ext uri="{FF2B5EF4-FFF2-40B4-BE49-F238E27FC236}">
                  <a16:creationId xmlns:a16="http://schemas.microsoft.com/office/drawing/2014/main" id="{560D9BF4-DABE-4ED9-81B3-C4159A8E1135}"/>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66" name="Group 151">
            <a:extLst>
              <a:ext uri="{FF2B5EF4-FFF2-40B4-BE49-F238E27FC236}">
                <a16:creationId xmlns:a16="http://schemas.microsoft.com/office/drawing/2014/main" id="{1F93D6D4-4CD7-4706-9AAD-1F83D5FE7A39}"/>
              </a:ext>
              <a:ext uri="{C183D7F6-B498-43B3-948B-1728B52AA6E4}">
                <adec:decorative xmlns:adec="http://schemas.microsoft.com/office/drawing/2017/decorative" val="1"/>
              </a:ext>
            </a:extLst>
          </p:cNvPr>
          <p:cNvGrpSpPr>
            <a:grpSpLocks/>
          </p:cNvGrpSpPr>
          <p:nvPr/>
        </p:nvGrpSpPr>
        <p:grpSpPr bwMode="auto">
          <a:xfrm>
            <a:off x="2895600" y="5486400"/>
            <a:ext cx="457200" cy="152400"/>
            <a:chOff x="720" y="2352"/>
            <a:chExt cx="288" cy="96"/>
          </a:xfrm>
        </p:grpSpPr>
        <p:sp>
          <p:nvSpPr>
            <p:cNvPr id="67" name="Line 152">
              <a:extLst>
                <a:ext uri="{FF2B5EF4-FFF2-40B4-BE49-F238E27FC236}">
                  <a16:creationId xmlns:a16="http://schemas.microsoft.com/office/drawing/2014/main" id="{5594724A-A9E4-45A5-9E09-3FBEAB210892}"/>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8" name="Line 153">
              <a:extLst>
                <a:ext uri="{FF2B5EF4-FFF2-40B4-BE49-F238E27FC236}">
                  <a16:creationId xmlns:a16="http://schemas.microsoft.com/office/drawing/2014/main" id="{AE1CD351-2094-4A2F-81BC-C9A66254273E}"/>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9" name="Line 154">
              <a:extLst>
                <a:ext uri="{FF2B5EF4-FFF2-40B4-BE49-F238E27FC236}">
                  <a16:creationId xmlns:a16="http://schemas.microsoft.com/office/drawing/2014/main" id="{9EDB8159-5204-4C3D-AFDA-874D98599040}"/>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70" name="Group 155">
            <a:extLst>
              <a:ext uri="{FF2B5EF4-FFF2-40B4-BE49-F238E27FC236}">
                <a16:creationId xmlns:a16="http://schemas.microsoft.com/office/drawing/2014/main" id="{A7C46239-67D7-4CE4-946C-B64002829576}"/>
              </a:ext>
              <a:ext uri="{C183D7F6-B498-43B3-948B-1728B52AA6E4}">
                <adec:decorative xmlns:adec="http://schemas.microsoft.com/office/drawing/2017/decorative" val="1"/>
              </a:ext>
            </a:extLst>
          </p:cNvPr>
          <p:cNvGrpSpPr>
            <a:grpSpLocks/>
          </p:cNvGrpSpPr>
          <p:nvPr/>
        </p:nvGrpSpPr>
        <p:grpSpPr bwMode="auto">
          <a:xfrm>
            <a:off x="3429000" y="5486400"/>
            <a:ext cx="457200" cy="152400"/>
            <a:chOff x="720" y="2352"/>
            <a:chExt cx="288" cy="96"/>
          </a:xfrm>
        </p:grpSpPr>
        <p:sp>
          <p:nvSpPr>
            <p:cNvPr id="71" name="Line 156">
              <a:extLst>
                <a:ext uri="{FF2B5EF4-FFF2-40B4-BE49-F238E27FC236}">
                  <a16:creationId xmlns:a16="http://schemas.microsoft.com/office/drawing/2014/main" id="{044CE363-3DF9-4121-B459-2D9A43BB25F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2" name="Line 157">
              <a:extLst>
                <a:ext uri="{FF2B5EF4-FFF2-40B4-BE49-F238E27FC236}">
                  <a16:creationId xmlns:a16="http://schemas.microsoft.com/office/drawing/2014/main" id="{341340FF-8F24-4225-8A44-F658798F498F}"/>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3" name="Line 158">
              <a:extLst>
                <a:ext uri="{FF2B5EF4-FFF2-40B4-BE49-F238E27FC236}">
                  <a16:creationId xmlns:a16="http://schemas.microsoft.com/office/drawing/2014/main" id="{6CCE63CF-6771-43FE-B84C-B269107E6E2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74" name="Line 159">
            <a:extLst>
              <a:ext uri="{FF2B5EF4-FFF2-40B4-BE49-F238E27FC236}">
                <a16:creationId xmlns:a16="http://schemas.microsoft.com/office/drawing/2014/main" id="{E167529B-7F2F-4776-B554-6DCCBD05969E}"/>
              </a:ext>
              <a:ext uri="{C183D7F6-B498-43B3-948B-1728B52AA6E4}">
                <adec:decorative xmlns:adec="http://schemas.microsoft.com/office/drawing/2017/decorative" val="1"/>
              </a:ext>
            </a:extLst>
          </p:cNvPr>
          <p:cNvSpPr>
            <a:spLocks noChangeShapeType="1"/>
          </p:cNvSpPr>
          <p:nvPr/>
        </p:nvSpPr>
        <p:spPr bwMode="auto">
          <a:xfrm>
            <a:off x="39624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5" name="Line 160">
            <a:extLst>
              <a:ext uri="{FF2B5EF4-FFF2-40B4-BE49-F238E27FC236}">
                <a16:creationId xmlns:a16="http://schemas.microsoft.com/office/drawing/2014/main" id="{83378F42-02BD-4496-B232-F7E371BA41EC}"/>
              </a:ext>
              <a:ext uri="{C183D7F6-B498-43B3-948B-1728B52AA6E4}">
                <adec:decorative xmlns:adec="http://schemas.microsoft.com/office/drawing/2017/decorative" val="1"/>
              </a:ext>
            </a:extLst>
          </p:cNvPr>
          <p:cNvSpPr>
            <a:spLocks noChangeShapeType="1"/>
          </p:cNvSpPr>
          <p:nvPr/>
        </p:nvSpPr>
        <p:spPr bwMode="auto">
          <a:xfrm>
            <a:off x="39624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6" name="Line 161">
            <a:extLst>
              <a:ext uri="{FF2B5EF4-FFF2-40B4-BE49-F238E27FC236}">
                <a16:creationId xmlns:a16="http://schemas.microsoft.com/office/drawing/2014/main" id="{8B49A2DD-BC69-4024-9F41-257DABFBBCBA}"/>
              </a:ext>
              <a:ext uri="{C183D7F6-B498-43B3-948B-1728B52AA6E4}">
                <adec:decorative xmlns:adec="http://schemas.microsoft.com/office/drawing/2017/decorative" val="1"/>
              </a:ext>
            </a:extLst>
          </p:cNvPr>
          <p:cNvSpPr>
            <a:spLocks noChangeShapeType="1"/>
          </p:cNvSpPr>
          <p:nvPr/>
        </p:nvSpPr>
        <p:spPr bwMode="auto">
          <a:xfrm>
            <a:off x="44196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77" name="Group 162">
            <a:extLst>
              <a:ext uri="{FF2B5EF4-FFF2-40B4-BE49-F238E27FC236}">
                <a16:creationId xmlns:a16="http://schemas.microsoft.com/office/drawing/2014/main" id="{A47CF1C4-4E89-4A4A-9DC3-8C46E2D0E2D7}"/>
              </a:ext>
              <a:ext uri="{C183D7F6-B498-43B3-948B-1728B52AA6E4}">
                <adec:decorative xmlns:adec="http://schemas.microsoft.com/office/drawing/2017/decorative" val="1"/>
              </a:ext>
            </a:extLst>
          </p:cNvPr>
          <p:cNvGrpSpPr>
            <a:grpSpLocks/>
          </p:cNvGrpSpPr>
          <p:nvPr/>
        </p:nvGrpSpPr>
        <p:grpSpPr bwMode="auto">
          <a:xfrm>
            <a:off x="3962400" y="5486400"/>
            <a:ext cx="457200" cy="152400"/>
            <a:chOff x="720" y="2352"/>
            <a:chExt cx="288" cy="96"/>
          </a:xfrm>
        </p:grpSpPr>
        <p:sp>
          <p:nvSpPr>
            <p:cNvPr id="78" name="Line 163">
              <a:extLst>
                <a:ext uri="{FF2B5EF4-FFF2-40B4-BE49-F238E27FC236}">
                  <a16:creationId xmlns:a16="http://schemas.microsoft.com/office/drawing/2014/main" id="{7FA0C865-939F-40C4-B7D8-CEC45109C36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9" name="Line 164">
              <a:extLst>
                <a:ext uri="{FF2B5EF4-FFF2-40B4-BE49-F238E27FC236}">
                  <a16:creationId xmlns:a16="http://schemas.microsoft.com/office/drawing/2014/main" id="{D62E4900-1C9C-4CBF-85EC-A00F344B3D6B}"/>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0" name="Line 165">
              <a:extLst>
                <a:ext uri="{FF2B5EF4-FFF2-40B4-BE49-F238E27FC236}">
                  <a16:creationId xmlns:a16="http://schemas.microsoft.com/office/drawing/2014/main" id="{3CED8866-52A2-4790-B045-FBC45F6BFAD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81" name="Group 166">
            <a:extLst>
              <a:ext uri="{FF2B5EF4-FFF2-40B4-BE49-F238E27FC236}">
                <a16:creationId xmlns:a16="http://schemas.microsoft.com/office/drawing/2014/main" id="{948BA4AD-816A-4F06-9A80-C5E39561789D}"/>
              </a:ext>
              <a:ext uri="{C183D7F6-B498-43B3-948B-1728B52AA6E4}">
                <adec:decorative xmlns:adec="http://schemas.microsoft.com/office/drawing/2017/decorative" val="1"/>
              </a:ext>
            </a:extLst>
          </p:cNvPr>
          <p:cNvGrpSpPr>
            <a:grpSpLocks/>
          </p:cNvGrpSpPr>
          <p:nvPr/>
        </p:nvGrpSpPr>
        <p:grpSpPr bwMode="auto">
          <a:xfrm>
            <a:off x="4495800" y="5486400"/>
            <a:ext cx="457200" cy="152400"/>
            <a:chOff x="720" y="2352"/>
            <a:chExt cx="288" cy="96"/>
          </a:xfrm>
        </p:grpSpPr>
        <p:sp>
          <p:nvSpPr>
            <p:cNvPr id="82" name="Line 167">
              <a:extLst>
                <a:ext uri="{FF2B5EF4-FFF2-40B4-BE49-F238E27FC236}">
                  <a16:creationId xmlns:a16="http://schemas.microsoft.com/office/drawing/2014/main" id="{D9A131D9-4BFE-4846-8B2E-2E51EF83F8E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3" name="Line 168">
              <a:extLst>
                <a:ext uri="{FF2B5EF4-FFF2-40B4-BE49-F238E27FC236}">
                  <a16:creationId xmlns:a16="http://schemas.microsoft.com/office/drawing/2014/main" id="{306A420A-2115-497A-9A49-0BF7B37F7DA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4" name="Line 169">
              <a:extLst>
                <a:ext uri="{FF2B5EF4-FFF2-40B4-BE49-F238E27FC236}">
                  <a16:creationId xmlns:a16="http://schemas.microsoft.com/office/drawing/2014/main" id="{BAA57468-5511-4D2E-A5D9-CB5425C76CD4}"/>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85" name="Group 170">
            <a:extLst>
              <a:ext uri="{FF2B5EF4-FFF2-40B4-BE49-F238E27FC236}">
                <a16:creationId xmlns:a16="http://schemas.microsoft.com/office/drawing/2014/main" id="{89DE62BA-28BB-4CFF-AAEB-7B1F5B33E874}"/>
              </a:ext>
              <a:ext uri="{C183D7F6-B498-43B3-948B-1728B52AA6E4}">
                <adec:decorative xmlns:adec="http://schemas.microsoft.com/office/drawing/2017/decorative" val="1"/>
              </a:ext>
            </a:extLst>
          </p:cNvPr>
          <p:cNvGrpSpPr>
            <a:grpSpLocks/>
          </p:cNvGrpSpPr>
          <p:nvPr/>
        </p:nvGrpSpPr>
        <p:grpSpPr bwMode="auto">
          <a:xfrm>
            <a:off x="5029200" y="5486400"/>
            <a:ext cx="457200" cy="152400"/>
            <a:chOff x="720" y="2352"/>
            <a:chExt cx="288" cy="96"/>
          </a:xfrm>
        </p:grpSpPr>
        <p:sp>
          <p:nvSpPr>
            <p:cNvPr id="86" name="Line 171">
              <a:extLst>
                <a:ext uri="{FF2B5EF4-FFF2-40B4-BE49-F238E27FC236}">
                  <a16:creationId xmlns:a16="http://schemas.microsoft.com/office/drawing/2014/main" id="{7E802B8E-95D6-4942-B729-4F64306559F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7" name="Line 172">
              <a:extLst>
                <a:ext uri="{FF2B5EF4-FFF2-40B4-BE49-F238E27FC236}">
                  <a16:creationId xmlns:a16="http://schemas.microsoft.com/office/drawing/2014/main" id="{8B5DA442-AD50-4000-A39E-1832B849950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8" name="Line 173">
              <a:extLst>
                <a:ext uri="{FF2B5EF4-FFF2-40B4-BE49-F238E27FC236}">
                  <a16:creationId xmlns:a16="http://schemas.microsoft.com/office/drawing/2014/main" id="{463FB260-FA9F-4EC7-87D1-2C73573A663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89" name="Text Box 174">
            <a:extLst>
              <a:ext uri="{FF2B5EF4-FFF2-40B4-BE49-F238E27FC236}">
                <a16:creationId xmlns:a16="http://schemas.microsoft.com/office/drawing/2014/main" id="{77CA0D3A-4E07-4501-8BD8-AEB703B10789}"/>
              </a:ext>
              <a:ext uri="{C183D7F6-B498-43B3-948B-1728B52AA6E4}">
                <adec:decorative xmlns:adec="http://schemas.microsoft.com/office/drawing/2017/decorative" val="1"/>
              </a:ext>
            </a:extLst>
          </p:cNvPr>
          <p:cNvSpPr txBox="1">
            <a:spLocks noChangeArrowheads="1"/>
          </p:cNvSpPr>
          <p:nvPr/>
        </p:nvSpPr>
        <p:spPr bwMode="auto">
          <a:xfrm>
            <a:off x="23622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endParaRPr lang="en-US" sz="2400" b="0">
              <a:solidFill>
                <a:srgbClr val="000000"/>
              </a:solidFill>
              <a:latin typeface="Arial" pitchFamily="34" charset="0"/>
              <a:cs typeface="Arial" pitchFamily="34" charset="0"/>
            </a:endParaRPr>
          </a:p>
        </p:txBody>
      </p:sp>
      <p:sp>
        <p:nvSpPr>
          <p:cNvPr id="90" name="Text Box 175">
            <a:extLst>
              <a:ext uri="{FF2B5EF4-FFF2-40B4-BE49-F238E27FC236}">
                <a16:creationId xmlns:a16="http://schemas.microsoft.com/office/drawing/2014/main" id="{3C7E4347-63F3-4546-9725-508412AFBB11}"/>
              </a:ext>
              <a:ext uri="{C183D7F6-B498-43B3-948B-1728B52AA6E4}">
                <adec:decorative xmlns:adec="http://schemas.microsoft.com/office/drawing/2017/decorative" val="1"/>
              </a:ext>
            </a:extLst>
          </p:cNvPr>
          <p:cNvSpPr txBox="1">
            <a:spLocks noChangeArrowheads="1"/>
          </p:cNvSpPr>
          <p:nvPr/>
        </p:nvSpPr>
        <p:spPr bwMode="auto">
          <a:xfrm>
            <a:off x="4343400" y="52578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91" name="Text Box 176">
            <a:extLst>
              <a:ext uri="{FF2B5EF4-FFF2-40B4-BE49-F238E27FC236}">
                <a16:creationId xmlns:a16="http://schemas.microsoft.com/office/drawing/2014/main" id="{ED7786EB-1896-4E9A-AC59-D89C1FCC16BB}"/>
              </a:ext>
              <a:ext uri="{C183D7F6-B498-43B3-948B-1728B52AA6E4}">
                <adec:decorative xmlns:adec="http://schemas.microsoft.com/office/drawing/2017/decorative" val="1"/>
              </a:ext>
            </a:extLst>
          </p:cNvPr>
          <p:cNvSpPr txBox="1">
            <a:spLocks noChangeArrowheads="1"/>
          </p:cNvSpPr>
          <p:nvPr/>
        </p:nvSpPr>
        <p:spPr bwMode="auto">
          <a:xfrm>
            <a:off x="55626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92" name="Text Box 177">
            <a:extLst>
              <a:ext uri="{FF2B5EF4-FFF2-40B4-BE49-F238E27FC236}">
                <a16:creationId xmlns:a16="http://schemas.microsoft.com/office/drawing/2014/main" id="{8096285D-E3A6-4FA8-ABA8-2055E0176280}"/>
              </a:ext>
              <a:ext uri="{C183D7F6-B498-43B3-948B-1728B52AA6E4}">
                <adec:decorative xmlns:adec="http://schemas.microsoft.com/office/drawing/2017/decorative" val="1"/>
              </a:ext>
            </a:extLst>
          </p:cNvPr>
          <p:cNvSpPr txBox="1">
            <a:spLocks noChangeArrowheads="1"/>
          </p:cNvSpPr>
          <p:nvPr/>
        </p:nvSpPr>
        <p:spPr bwMode="auto">
          <a:xfrm>
            <a:off x="39624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5</a:t>
            </a:r>
            <a:endParaRPr lang="en-US" sz="2400" b="0">
              <a:solidFill>
                <a:srgbClr val="000000"/>
              </a:solidFill>
              <a:latin typeface="Arial" pitchFamily="34" charset="0"/>
              <a:cs typeface="Arial" pitchFamily="34" charset="0"/>
            </a:endParaRPr>
          </a:p>
        </p:txBody>
      </p:sp>
      <p:sp>
        <p:nvSpPr>
          <p:cNvPr id="93" name="Text Box 178">
            <a:extLst>
              <a:ext uri="{FF2B5EF4-FFF2-40B4-BE49-F238E27FC236}">
                <a16:creationId xmlns:a16="http://schemas.microsoft.com/office/drawing/2014/main" id="{C38A2C39-0E91-4FE6-834C-7DF87911670F}"/>
              </a:ext>
              <a:ext uri="{C183D7F6-B498-43B3-948B-1728B52AA6E4}">
                <adec:decorative xmlns:adec="http://schemas.microsoft.com/office/drawing/2017/decorative" val="1"/>
              </a:ext>
            </a:extLst>
          </p:cNvPr>
          <p:cNvSpPr txBox="1">
            <a:spLocks noChangeArrowheads="1"/>
          </p:cNvSpPr>
          <p:nvPr/>
        </p:nvSpPr>
        <p:spPr bwMode="auto">
          <a:xfrm>
            <a:off x="28956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2</a:t>
            </a:r>
            <a:endParaRPr lang="en-US" sz="2400" b="0">
              <a:solidFill>
                <a:srgbClr val="000000"/>
              </a:solidFill>
              <a:latin typeface="Arial" pitchFamily="34" charset="0"/>
              <a:cs typeface="Arial" pitchFamily="34" charset="0"/>
            </a:endParaRPr>
          </a:p>
        </p:txBody>
      </p:sp>
      <p:sp>
        <p:nvSpPr>
          <p:cNvPr id="94" name="Text Box 179">
            <a:extLst>
              <a:ext uri="{FF2B5EF4-FFF2-40B4-BE49-F238E27FC236}">
                <a16:creationId xmlns:a16="http://schemas.microsoft.com/office/drawing/2014/main" id="{C01CC389-DADF-4768-83E5-7DFB6296C488}"/>
              </a:ext>
              <a:ext uri="{C183D7F6-B498-43B3-948B-1728B52AA6E4}">
                <adec:decorative xmlns:adec="http://schemas.microsoft.com/office/drawing/2017/decorative" val="1"/>
              </a:ext>
            </a:extLst>
          </p:cNvPr>
          <p:cNvSpPr txBox="1">
            <a:spLocks noChangeArrowheads="1"/>
          </p:cNvSpPr>
          <p:nvPr/>
        </p:nvSpPr>
        <p:spPr bwMode="auto">
          <a:xfrm>
            <a:off x="4876800" y="52578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grpSp>
        <p:nvGrpSpPr>
          <p:cNvPr id="95" name="Group 180">
            <a:extLst>
              <a:ext uri="{FF2B5EF4-FFF2-40B4-BE49-F238E27FC236}">
                <a16:creationId xmlns:a16="http://schemas.microsoft.com/office/drawing/2014/main" id="{AB26C197-82A2-4E70-A638-71C28836935A}"/>
              </a:ext>
              <a:ext uri="{C183D7F6-B498-43B3-948B-1728B52AA6E4}">
                <adec:decorative xmlns:adec="http://schemas.microsoft.com/office/drawing/2017/decorative" val="1"/>
              </a:ext>
            </a:extLst>
          </p:cNvPr>
          <p:cNvGrpSpPr>
            <a:grpSpLocks/>
          </p:cNvGrpSpPr>
          <p:nvPr/>
        </p:nvGrpSpPr>
        <p:grpSpPr bwMode="auto">
          <a:xfrm>
            <a:off x="5562600" y="5486400"/>
            <a:ext cx="457200" cy="152400"/>
            <a:chOff x="720" y="2352"/>
            <a:chExt cx="288" cy="96"/>
          </a:xfrm>
        </p:grpSpPr>
        <p:sp>
          <p:nvSpPr>
            <p:cNvPr id="96" name="Line 181">
              <a:extLst>
                <a:ext uri="{FF2B5EF4-FFF2-40B4-BE49-F238E27FC236}">
                  <a16:creationId xmlns:a16="http://schemas.microsoft.com/office/drawing/2014/main" id="{4E386DBF-BCB9-4C81-8BB2-9349BA79EDF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97" name="Line 182">
              <a:extLst>
                <a:ext uri="{FF2B5EF4-FFF2-40B4-BE49-F238E27FC236}">
                  <a16:creationId xmlns:a16="http://schemas.microsoft.com/office/drawing/2014/main" id="{852223B9-9EF6-4012-8190-F972BD0AA1D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98" name="Line 183">
              <a:extLst>
                <a:ext uri="{FF2B5EF4-FFF2-40B4-BE49-F238E27FC236}">
                  <a16:creationId xmlns:a16="http://schemas.microsoft.com/office/drawing/2014/main" id="{C1F2BC0E-E67A-4260-97F6-3A5B45D173A7}"/>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99" name="Text Box 184">
            <a:extLst>
              <a:ext uri="{FF2B5EF4-FFF2-40B4-BE49-F238E27FC236}">
                <a16:creationId xmlns:a16="http://schemas.microsoft.com/office/drawing/2014/main" id="{F69E8AF5-4DFD-4BE7-970D-1236F19BBFBF}"/>
              </a:ext>
              <a:ext uri="{C183D7F6-B498-43B3-948B-1728B52AA6E4}">
                <adec:decorative xmlns:adec="http://schemas.microsoft.com/office/drawing/2017/decorative" val="1"/>
              </a:ext>
            </a:extLst>
          </p:cNvPr>
          <p:cNvSpPr txBox="1">
            <a:spLocks noChangeArrowheads="1"/>
          </p:cNvSpPr>
          <p:nvPr/>
        </p:nvSpPr>
        <p:spPr bwMode="auto">
          <a:xfrm>
            <a:off x="3352800" y="525780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3</a:t>
            </a:r>
            <a:endParaRPr lang="en-US" sz="2400" b="0">
              <a:solidFill>
                <a:srgbClr val="000000"/>
              </a:solidFill>
              <a:latin typeface="Arial" pitchFamily="34" charset="0"/>
              <a:cs typeface="Arial" pitchFamily="34" charset="0"/>
            </a:endParaRPr>
          </a:p>
        </p:txBody>
      </p:sp>
      <p:sp>
        <p:nvSpPr>
          <p:cNvPr id="100" name="Line 187">
            <a:extLst>
              <a:ext uri="{FF2B5EF4-FFF2-40B4-BE49-F238E27FC236}">
                <a16:creationId xmlns:a16="http://schemas.microsoft.com/office/drawing/2014/main" id="{B3C9D9B3-C942-47C7-887B-FC334DDE6928}"/>
              </a:ext>
              <a:ext uri="{C183D7F6-B498-43B3-948B-1728B52AA6E4}">
                <adec:decorative xmlns:adec="http://schemas.microsoft.com/office/drawing/2017/decorative" val="1"/>
              </a:ext>
            </a:extLst>
          </p:cNvPr>
          <p:cNvSpPr>
            <a:spLocks noChangeShapeType="1"/>
          </p:cNvSpPr>
          <p:nvPr/>
        </p:nvSpPr>
        <p:spPr bwMode="auto">
          <a:xfrm>
            <a:off x="44958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01" name="Line 188">
            <a:extLst>
              <a:ext uri="{FF2B5EF4-FFF2-40B4-BE49-F238E27FC236}">
                <a16:creationId xmlns:a16="http://schemas.microsoft.com/office/drawing/2014/main" id="{65D25E7C-C254-4192-ACAE-E3F8F59CD0D5}"/>
              </a:ext>
              <a:ext uri="{C183D7F6-B498-43B3-948B-1728B52AA6E4}">
                <adec:decorative xmlns:adec="http://schemas.microsoft.com/office/drawing/2017/decorative" val="1"/>
              </a:ext>
            </a:extLst>
          </p:cNvPr>
          <p:cNvSpPr>
            <a:spLocks noChangeShapeType="1"/>
          </p:cNvSpPr>
          <p:nvPr/>
        </p:nvSpPr>
        <p:spPr bwMode="auto">
          <a:xfrm flipV="1">
            <a:off x="4451350" y="57150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102" name="Text Box 189">
            <a:extLst>
              <a:ext uri="{FF2B5EF4-FFF2-40B4-BE49-F238E27FC236}">
                <a16:creationId xmlns:a16="http://schemas.microsoft.com/office/drawing/2014/main" id="{230046F8-3399-4755-9035-7395A4C3776D}"/>
              </a:ext>
              <a:ext uri="{C183D7F6-B498-43B3-948B-1728B52AA6E4}">
                <adec:decorative xmlns:adec="http://schemas.microsoft.com/office/drawing/2017/decorative" val="1"/>
              </a:ext>
            </a:extLst>
          </p:cNvPr>
          <p:cNvSpPr txBox="1">
            <a:spLocks noChangeArrowheads="1"/>
          </p:cNvSpPr>
          <p:nvPr/>
        </p:nvSpPr>
        <p:spPr bwMode="auto">
          <a:xfrm>
            <a:off x="4267200" y="571500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k</a:t>
            </a:r>
            <a:endParaRPr lang="en-US" sz="2400" b="0">
              <a:solidFill>
                <a:srgbClr val="000000"/>
              </a:solidFill>
              <a:latin typeface="Arial" pitchFamily="34" charset="0"/>
              <a:cs typeface="Arial" pitchFamily="34" charset="0"/>
            </a:endParaRPr>
          </a:p>
        </p:txBody>
      </p:sp>
      <p:sp>
        <p:nvSpPr>
          <p:cNvPr id="2" name="Rectangle 3">
            <a:extLst>
              <a:ext uri="{FF2B5EF4-FFF2-40B4-BE49-F238E27FC236}">
                <a16:creationId xmlns:a16="http://schemas.microsoft.com/office/drawing/2014/main" id="{7609077E-224F-C85F-201B-F6CA917E3ECE}"/>
              </a:ext>
            </a:extLst>
          </p:cNvPr>
          <p:cNvSpPr txBox="1">
            <a:spLocks noChangeArrowheads="1"/>
          </p:cNvSpPr>
          <p:nvPr/>
        </p:nvSpPr>
        <p:spPr bwMode="auto">
          <a:xfrm>
            <a:off x="9067800" y="2238375"/>
            <a:ext cx="7772400" cy="4514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742950" marR="0" lvl="1" indent="-285750" algn="l" defTabSz="914400" rtl="0" eaLnBrk="0" fontAlgn="base" latinLnBrk="0" hangingPunct="0">
              <a:lnSpc>
                <a:spcPct val="100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Keep the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elements in order.</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In array [1,3,5,2,13,1,8], the first three elements have already been sorted.</a:t>
            </a:r>
          </a:p>
          <a:p>
            <a:pPr marL="742950" marR="0" lvl="1" indent="-285750" algn="l" defTabSz="914400" rtl="0" eaLnBrk="0" fontAlgn="base" latinLnBrk="0" hangingPunct="0">
              <a:lnSpc>
                <a:spcPct val="100000"/>
              </a:lnSpc>
              <a:spcBef>
                <a:spcPct val="5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Take the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+1)-</a:t>
            </a:r>
            <a:r>
              <a:rPr kumimoji="0" lang="en-US" sz="2400" b="0" i="0" u="none" strike="noStrike" kern="0" cap="none" spc="0" normalizeH="0" baseline="0" noProof="0" dirty="0" err="1">
                <a:ln>
                  <a:noFill/>
                </a:ln>
                <a:solidFill>
                  <a:srgbClr val="000000"/>
                </a:solidFill>
                <a:effectLst/>
                <a:uLnTx/>
                <a:uFillTx/>
                <a:latin typeface="Arial"/>
              </a:rPr>
              <a:t>th</a:t>
            </a:r>
            <a:r>
              <a:rPr kumimoji="0" lang="en-US" sz="2400" b="0" i="0" u="none" strike="noStrike" kern="0" cap="none" spc="0" normalizeH="0" baseline="0" noProof="0" dirty="0">
                <a:ln>
                  <a:noFill/>
                </a:ln>
                <a:solidFill>
                  <a:srgbClr val="000000"/>
                </a:solidFill>
                <a:effectLst/>
                <a:uLnTx/>
                <a:uFillTx/>
                <a:latin typeface="Arial"/>
              </a:rPr>
              <a:t> element and insert among the</a:t>
            </a:r>
          </a:p>
          <a:p>
            <a:pPr marL="742950" marR="0" lvl="1" indent="-28575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in the right place.</a:t>
            </a:r>
          </a:p>
          <a:p>
            <a:pPr marL="742950" marR="0" lvl="1" indent="-28575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To insert the 2, we copy it into a temporary variable, shift the 5 and 3 right one, and place the 2 as the second number in the array, in place of the 3.</a:t>
            </a:r>
          </a:p>
          <a:p>
            <a:pPr marL="742950" marR="0" lvl="1" indent="-285750" algn="l" defTabSz="914400" rtl="0" eaLnBrk="0" fontAlgn="base" latinLnBrk="0" hangingPunct="0">
              <a:lnSpc>
                <a:spcPct val="100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3.  Increment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and repeat from Step 2 (while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&lt;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Thus, we’ll be placing the 13 in the next iteration.</a:t>
            </a:r>
          </a:p>
        </p:txBody>
      </p:sp>
    </p:spTree>
    <p:extLst>
      <p:ext uri="{BB962C8B-B14F-4D97-AF65-F5344CB8AC3E}">
        <p14:creationId xmlns:p14="http://schemas.microsoft.com/office/powerpoint/2010/main" val="4123894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WordArt 2">
            <a:extLst>
              <a:ext uri="{FF2B5EF4-FFF2-40B4-BE49-F238E27FC236}">
                <a16:creationId xmlns:a16="http://schemas.microsoft.com/office/drawing/2014/main" id="{0047891C-B51F-41E1-83CD-CC6880B3698A}"/>
              </a:ext>
            </a:extLst>
          </p:cNvPr>
          <p:cNvSpPr>
            <a:spLocks noGrp="1" noChangeArrowheads="1" noChangeShapeType="1" noTextEdit="1"/>
          </p:cNvSpPr>
          <p:nvPr>
            <p:ph type="title" idx="4294967295"/>
          </p:nvPr>
        </p:nvSpPr>
        <p:spPr bwMode="auto">
          <a:xfrm>
            <a:off x="838200" y="609600"/>
            <a:ext cx="71628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99"/>
                  </a:solidFill>
                  <a:round/>
                  <a:headEnd/>
                  <a:tailEnd/>
                </a:ln>
                <a:solidFill>
                  <a:srgbClr val="008000"/>
                </a:solidFill>
                <a:effectLst>
                  <a:outerShdw dist="35921" dir="2700000" algn="ctr" rotWithShape="0">
                    <a:srgbClr val="C0C0C0"/>
                  </a:outerShdw>
                </a:effectLst>
                <a:uLnTx/>
                <a:uFillTx/>
                <a:latin typeface="Impact" panose="020B0806030902050204" pitchFamily="34" charset="0"/>
                <a:ea typeface="+mn-ea"/>
                <a:cs typeface="+mn-cs"/>
              </a:rPr>
              <a:t>Insertion Sort in Action</a:t>
            </a:r>
          </a:p>
        </p:txBody>
      </p:sp>
      <p:sp>
        <p:nvSpPr>
          <p:cNvPr id="12292" name="Text Box 3">
            <a:extLst>
              <a:ext uri="{FF2B5EF4-FFF2-40B4-BE49-F238E27FC236}">
                <a16:creationId xmlns:a16="http://schemas.microsoft.com/office/drawing/2014/main" id="{C3AC5F66-AD56-472D-A7BC-5DBCA8CE9557}"/>
              </a:ext>
            </a:extLst>
          </p:cNvPr>
          <p:cNvSpPr txBox="1">
            <a:spLocks noChangeArrowheads="1"/>
          </p:cNvSpPr>
          <p:nvPr/>
        </p:nvSpPr>
        <p:spPr bwMode="auto">
          <a:xfrm>
            <a:off x="1066800" y="1905000"/>
            <a:ext cx="6934200" cy="354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ahoma" pitchFamily="34" charset="0"/>
              </a:defRPr>
            </a:lvl1pPr>
            <a:lvl2pPr marL="742950" indent="-285750">
              <a:defRPr sz="2800" b="1">
                <a:solidFill>
                  <a:schemeClr val="tx1"/>
                </a:solidFill>
                <a:latin typeface="Tahoma" pitchFamily="34" charset="0"/>
              </a:defRPr>
            </a:lvl2pPr>
            <a:lvl3pPr marL="1143000" indent="-228600">
              <a:defRPr sz="2800" b="1">
                <a:solidFill>
                  <a:schemeClr val="tx1"/>
                </a:solidFill>
                <a:latin typeface="Tahoma" pitchFamily="34" charset="0"/>
              </a:defRPr>
            </a:lvl3pPr>
            <a:lvl4pPr marL="1600200" indent="-228600">
              <a:defRPr sz="2800" b="1">
                <a:solidFill>
                  <a:schemeClr val="tx1"/>
                </a:solidFill>
                <a:latin typeface="Tahoma" pitchFamily="34" charset="0"/>
              </a:defRPr>
            </a:lvl4pPr>
            <a:lvl5pPr marL="2057400" indent="-228600">
              <a:defRPr sz="2800" b="1">
                <a:solidFill>
                  <a:schemeClr val="tx1"/>
                </a:solidFill>
                <a:latin typeface="Tahoma" pitchFamily="34" charset="0"/>
              </a:defRPr>
            </a:lvl5pPr>
            <a:lvl6pPr marL="2514600" indent="-228600" algn="ctr" eaLnBrk="0" fontAlgn="base" hangingPunct="0">
              <a:spcBef>
                <a:spcPct val="0"/>
              </a:spcBef>
              <a:spcAft>
                <a:spcPct val="0"/>
              </a:spcAft>
              <a:defRPr sz="2800" b="1">
                <a:solidFill>
                  <a:schemeClr val="tx1"/>
                </a:solidFill>
                <a:latin typeface="Tahoma" pitchFamily="34" charset="0"/>
              </a:defRPr>
            </a:lvl6pPr>
            <a:lvl7pPr marL="2971800" indent="-228600" algn="ctr" eaLnBrk="0" fontAlgn="base" hangingPunct="0">
              <a:spcBef>
                <a:spcPct val="0"/>
              </a:spcBef>
              <a:spcAft>
                <a:spcPct val="0"/>
              </a:spcAft>
              <a:defRPr sz="2800" b="1">
                <a:solidFill>
                  <a:schemeClr val="tx1"/>
                </a:solidFill>
                <a:latin typeface="Tahoma" pitchFamily="34" charset="0"/>
              </a:defRPr>
            </a:lvl7pPr>
            <a:lvl8pPr marL="3429000" indent="-228600" algn="ctr" eaLnBrk="0" fontAlgn="base" hangingPunct="0">
              <a:spcBef>
                <a:spcPct val="0"/>
              </a:spcBef>
              <a:spcAft>
                <a:spcPct val="0"/>
              </a:spcAft>
              <a:defRPr sz="2800" b="1">
                <a:solidFill>
                  <a:schemeClr val="tx1"/>
                </a:solidFill>
                <a:latin typeface="Tahoma" pitchFamily="34" charset="0"/>
              </a:defRPr>
            </a:lvl8pPr>
            <a:lvl9pPr marL="3886200" indent="-228600" algn="ctr" eaLnBrk="0" fontAlgn="base" hangingPunct="0">
              <a:spcBef>
                <a:spcPct val="0"/>
              </a:spcBef>
              <a:spcAft>
                <a:spcPct val="0"/>
              </a:spcAft>
              <a:defRPr sz="2800" b="1">
                <a:solidFill>
                  <a:schemeClr val="tx1"/>
                </a:solidFill>
                <a:latin typeface="Tahoma" pitchFamily="34" charset="0"/>
              </a:defRPr>
            </a:lvl9pPr>
          </a:lstStyle>
          <a:p>
            <a:pPr>
              <a:defRPr/>
            </a:pPr>
            <a:r>
              <a:rPr lang="en-US">
                <a:solidFill>
                  <a:srgbClr val="CC0000"/>
                </a:solidFill>
              </a:rPr>
              <a:t>Original List </a:t>
            </a:r>
          </a:p>
          <a:p>
            <a:pPr>
              <a:defRPr/>
            </a:pPr>
            <a:r>
              <a:rPr lang="en-US"/>
              <a:t>Integer[] ray = {90,40,20,30,10,67};</a:t>
            </a:r>
          </a:p>
          <a:p>
            <a:pPr>
              <a:defRPr/>
            </a:pPr>
            <a:endParaRPr lang="en-US"/>
          </a:p>
          <a:p>
            <a:pPr>
              <a:defRPr/>
            </a:pPr>
            <a:r>
              <a:rPr lang="en-US"/>
              <a:t>pass 1  -  </a:t>
            </a:r>
            <a:r>
              <a:rPr lang="en-US">
                <a:solidFill>
                  <a:schemeClr val="accent1">
                    <a:lumMod val="50000"/>
                  </a:schemeClr>
                </a:solidFill>
              </a:rPr>
              <a:t>40  90  </a:t>
            </a:r>
            <a:r>
              <a:rPr lang="en-US"/>
              <a:t>20  30  10  67</a:t>
            </a:r>
          </a:p>
          <a:p>
            <a:pPr>
              <a:defRPr/>
            </a:pPr>
            <a:r>
              <a:rPr lang="en-US"/>
              <a:t>pass 2  -  </a:t>
            </a:r>
            <a:r>
              <a:rPr lang="en-US">
                <a:solidFill>
                  <a:schemeClr val="accent1">
                    <a:lumMod val="50000"/>
                  </a:schemeClr>
                </a:solidFill>
              </a:rPr>
              <a:t>20  40  90</a:t>
            </a:r>
            <a:r>
              <a:rPr lang="en-US"/>
              <a:t>  30  10  67</a:t>
            </a:r>
          </a:p>
          <a:p>
            <a:pPr>
              <a:defRPr/>
            </a:pPr>
            <a:r>
              <a:rPr lang="en-US"/>
              <a:t>pass 3  -  </a:t>
            </a:r>
            <a:r>
              <a:rPr lang="en-US">
                <a:solidFill>
                  <a:schemeClr val="accent1">
                    <a:lumMod val="50000"/>
                  </a:schemeClr>
                </a:solidFill>
              </a:rPr>
              <a:t>20  30  40  90  </a:t>
            </a:r>
            <a:r>
              <a:rPr lang="en-US"/>
              <a:t>10  67</a:t>
            </a:r>
          </a:p>
          <a:p>
            <a:pPr>
              <a:defRPr/>
            </a:pPr>
            <a:r>
              <a:rPr lang="en-US"/>
              <a:t>pass 4  -  </a:t>
            </a:r>
            <a:r>
              <a:rPr lang="en-US">
                <a:solidFill>
                  <a:schemeClr val="accent1">
                    <a:lumMod val="50000"/>
                  </a:schemeClr>
                </a:solidFill>
              </a:rPr>
              <a:t>10  20  30  40  90  </a:t>
            </a:r>
            <a:r>
              <a:rPr lang="en-US"/>
              <a:t>67</a:t>
            </a:r>
          </a:p>
          <a:p>
            <a:pPr>
              <a:defRPr/>
            </a:pPr>
            <a:r>
              <a:rPr lang="en-US"/>
              <a:t>pass 5  -  </a:t>
            </a:r>
            <a:r>
              <a:rPr lang="en-US">
                <a:solidFill>
                  <a:schemeClr val="accent1">
                    <a:lumMod val="50000"/>
                  </a:schemeClr>
                </a:solidFill>
              </a:rPr>
              <a:t>10  20  30  40  67  90</a:t>
            </a:r>
          </a:p>
        </p:txBody>
      </p:sp>
      <p:sp>
        <p:nvSpPr>
          <p:cNvPr id="41986" name="Footer Placeholder 3">
            <a:extLst>
              <a:ext uri="{FF2B5EF4-FFF2-40B4-BE49-F238E27FC236}">
                <a16:creationId xmlns:a16="http://schemas.microsoft.com/office/drawing/2014/main" id="{6BF2B065-F258-4958-9F16-F701CB47E1FB}"/>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7E7F9"/>
        </a:solidFill>
        <a:effectLst/>
      </p:bgPr>
    </p:bg>
    <p:spTree>
      <p:nvGrpSpPr>
        <p:cNvPr id="1" name=""/>
        <p:cNvGrpSpPr/>
        <p:nvPr/>
      </p:nvGrpSpPr>
      <p:grpSpPr>
        <a:xfrm>
          <a:off x="0" y="0"/>
          <a:ext cx="0" cy="0"/>
          <a:chOff x="0" y="0"/>
          <a:chExt cx="0" cy="0"/>
        </a:xfrm>
      </p:grpSpPr>
      <p:sp>
        <p:nvSpPr>
          <p:cNvPr id="37891" name="Text Box 2">
            <a:extLst>
              <a:ext uri="{FF2B5EF4-FFF2-40B4-BE49-F238E27FC236}">
                <a16:creationId xmlns:a16="http://schemas.microsoft.com/office/drawing/2014/main" id="{DF436D73-A31D-4D59-8379-ED29F11D6C3F}"/>
              </a:ext>
            </a:extLst>
          </p:cNvPr>
          <p:cNvSpPr txBox="1">
            <a:spLocks noChangeArrowheads="1"/>
          </p:cNvSpPr>
          <p:nvPr/>
        </p:nvSpPr>
        <p:spPr bwMode="auto">
          <a:xfrm>
            <a:off x="381000" y="360363"/>
            <a:ext cx="7443063" cy="637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dirty="0">
                <a:latin typeface="Tahoma" panose="020B0604030504040204" pitchFamily="34" charset="0"/>
              </a:rPr>
              <a:t>void </a:t>
            </a:r>
            <a:r>
              <a:rPr lang="en-US" altLang="en-US" sz="2800" dirty="0" err="1">
                <a:latin typeface="Tahoma" panose="020B0604030504040204" pitchFamily="34" charset="0"/>
              </a:rPr>
              <a:t>insertionSort</a:t>
            </a:r>
            <a:r>
              <a:rPr lang="en-US" altLang="en-US" sz="2800" dirty="0">
                <a:latin typeface="Tahoma" panose="020B0604030504040204" pitchFamily="34" charset="0"/>
              </a:rPr>
              <a:t>(int[] ray)</a:t>
            </a:r>
          </a:p>
          <a:p>
            <a:pPr>
              <a:lnSpc>
                <a:spcPts val="3800"/>
              </a:lnSpc>
              <a:spcBef>
                <a:spcPct val="0"/>
              </a:spcBef>
              <a:buFontTx/>
              <a:buNone/>
            </a:pP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for (int </a:t>
            </a:r>
            <a:r>
              <a:rPr lang="en-US" altLang="en-US" sz="2800" dirty="0" err="1">
                <a:latin typeface="Tahoma" panose="020B0604030504040204" pitchFamily="34" charset="0"/>
              </a:rPr>
              <a:t>i</a:t>
            </a:r>
            <a:r>
              <a:rPr lang="en-US" altLang="en-US" sz="2800" dirty="0">
                <a:latin typeface="Tahoma" panose="020B0604030504040204" pitchFamily="34" charset="0"/>
              </a:rPr>
              <a:t>=1; </a:t>
            </a:r>
            <a:r>
              <a:rPr lang="en-US" altLang="en-US" sz="2800" dirty="0" err="1">
                <a:latin typeface="Tahoma" panose="020B0604030504040204" pitchFamily="34" charset="0"/>
              </a:rPr>
              <a:t>i</a:t>
            </a:r>
            <a:r>
              <a:rPr lang="en-US" altLang="en-US" sz="2800" dirty="0">
                <a:latin typeface="Tahoma" panose="020B0604030504040204" pitchFamily="34" charset="0"/>
              </a:rPr>
              <a:t>&lt; </a:t>
            </a:r>
            <a:r>
              <a:rPr lang="en-US" altLang="en-US" sz="2800" dirty="0" err="1">
                <a:latin typeface="Tahoma" panose="020B0604030504040204" pitchFamily="34" charset="0"/>
              </a:rPr>
              <a:t>ray.length</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int </a:t>
            </a:r>
            <a:r>
              <a:rPr lang="en-US" altLang="en-US" sz="2800" dirty="0" err="1">
                <a:latin typeface="Tahoma" panose="020B0604030504040204" pitchFamily="34" charset="0"/>
              </a:rPr>
              <a:t>val</a:t>
            </a:r>
            <a:r>
              <a:rPr lang="en-US" altLang="en-US" sz="2800" dirty="0">
                <a:latin typeface="Tahoma" panose="020B0604030504040204" pitchFamily="34" charset="0"/>
              </a:rPr>
              <a:t> = ray[</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int j=</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while(j&gt;0 &amp;&amp; ray</a:t>
            </a:r>
            <a:r>
              <a:rPr lang="en-US" altLang="en-US" sz="2800" spc="200" dirty="0">
                <a:latin typeface="Tahoma" panose="020B0604030504040204" pitchFamily="34" charset="0"/>
              </a:rPr>
              <a:t>[j-1]&gt;</a:t>
            </a:r>
            <a:r>
              <a:rPr lang="en-US" altLang="en-US" sz="2800" dirty="0" err="1">
                <a:latin typeface="Tahoma" panose="020B0604030504040204" pitchFamily="34" charset="0"/>
              </a:rPr>
              <a:t>val</a:t>
            </a:r>
            <a:r>
              <a:rPr lang="en-US" altLang="en-US" sz="2800" dirty="0">
                <a:latin typeface="Tahoma" panose="020B0604030504040204" pitchFamily="34" charset="0"/>
              </a:rPr>
              <a:t>) {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ray</a:t>
            </a:r>
            <a:r>
              <a:rPr lang="en-US" altLang="en-US" sz="2800" spc="200" dirty="0">
                <a:latin typeface="Tahoma" panose="020B0604030504040204" pitchFamily="34" charset="0"/>
              </a:rPr>
              <a:t>[j-1]</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j--;</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a:t>
            </a:r>
            <a:r>
              <a:rPr lang="en-US" altLang="en-US" sz="2800" dirty="0" err="1">
                <a:latin typeface="Tahoma" panose="020B0604030504040204" pitchFamily="34" charset="0"/>
              </a:rPr>
              <a:t>val</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a:t>
            </a:r>
          </a:p>
        </p:txBody>
      </p:sp>
      <p:sp>
        <p:nvSpPr>
          <p:cNvPr id="37890" name="Footer Placeholder 3">
            <a:extLst>
              <a:ext uri="{FF2B5EF4-FFF2-40B4-BE49-F238E27FC236}">
                <a16:creationId xmlns:a16="http://schemas.microsoft.com/office/drawing/2014/main" id="{D95D3947-8716-4028-85F4-E16EF02ADA61}"/>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52940016-A631-4820-C983-B6E1A4852469}"/>
              </a:ext>
            </a:extLst>
          </p:cNvPr>
          <p:cNvSpPr txBox="1"/>
          <p:nvPr/>
        </p:nvSpPr>
        <p:spPr>
          <a:xfrm>
            <a:off x="4168571" y="5048071"/>
            <a:ext cx="4745210" cy="1200329"/>
          </a:xfrm>
          <a:prstGeom prst="rect">
            <a:avLst/>
          </a:prstGeom>
          <a:noFill/>
        </p:spPr>
        <p:txBody>
          <a:bodyPr wrap="none" rtlCol="0">
            <a:spAutoFit/>
          </a:bodyPr>
          <a:lstStyle/>
          <a:p>
            <a:pPr algn="ctr"/>
            <a:r>
              <a:rPr lang="en-US" sz="3600" dirty="0">
                <a:solidFill>
                  <a:schemeClr val="accent2">
                    <a:lumMod val="75000"/>
                  </a:schemeClr>
                </a:solidFill>
              </a:rPr>
              <a:t>Insertion Sort of</a:t>
            </a:r>
            <a:br>
              <a:rPr lang="en-US" sz="3600" dirty="0">
                <a:solidFill>
                  <a:schemeClr val="accent2">
                    <a:lumMod val="75000"/>
                  </a:schemeClr>
                </a:solidFill>
              </a:rPr>
            </a:br>
            <a:r>
              <a:rPr lang="en-US" sz="3600" dirty="0">
                <a:solidFill>
                  <a:schemeClr val="accent2">
                    <a:lumMod val="75000"/>
                  </a:schemeClr>
                </a:solidFill>
              </a:rPr>
              <a:t>Arrays of Primitives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F9F4"/>
        </a:solidFill>
        <a:effectLst/>
      </p:bgPr>
    </p:bg>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DA4CB1FC-4A54-4E17-99FD-50F1DB74932E}"/>
              </a:ext>
            </a:extLst>
          </p:cNvPr>
          <p:cNvSpPr txBox="1">
            <a:spLocks noChangeArrowheads="1"/>
          </p:cNvSpPr>
          <p:nvPr/>
        </p:nvSpPr>
        <p:spPr bwMode="auto">
          <a:xfrm>
            <a:off x="384293" y="393188"/>
            <a:ext cx="8531107" cy="5891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dirty="0">
                <a:latin typeface="Tahoma" panose="020B0604030504040204" pitchFamily="34" charset="0"/>
              </a:rPr>
              <a:t>void </a:t>
            </a:r>
            <a:r>
              <a:rPr lang="en-US" altLang="en-US" sz="2800" dirty="0" err="1">
                <a:latin typeface="Tahoma" panose="020B0604030504040204" pitchFamily="34" charset="0"/>
              </a:rPr>
              <a:t>insertionSort</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Comparable[] </a:t>
            </a:r>
            <a:r>
              <a:rPr lang="en-US" altLang="en-US" sz="2800" dirty="0">
                <a:latin typeface="Tahoma" panose="020B0604030504040204" pitchFamily="34" charset="0"/>
              </a:rPr>
              <a:t>ray) {</a:t>
            </a:r>
          </a:p>
          <a:p>
            <a:pPr>
              <a:lnSpc>
                <a:spcPts val="3800"/>
              </a:lnSpc>
              <a:spcBef>
                <a:spcPct val="0"/>
              </a:spcBef>
              <a:buFontTx/>
              <a:buNone/>
            </a:pPr>
            <a:r>
              <a:rPr lang="en-US" altLang="en-US" sz="2800" dirty="0">
                <a:latin typeface="Tahoma" panose="020B0604030504040204" pitchFamily="34" charset="0"/>
              </a:rPr>
              <a:t>   for (int </a:t>
            </a:r>
            <a:r>
              <a:rPr lang="en-US" altLang="en-US" sz="2800" dirty="0" err="1">
                <a:latin typeface="Tahoma" panose="020B0604030504040204" pitchFamily="34" charset="0"/>
              </a:rPr>
              <a:t>i</a:t>
            </a:r>
            <a:r>
              <a:rPr lang="en-US" altLang="en-US" sz="2800" dirty="0">
                <a:latin typeface="Tahoma" panose="020B0604030504040204" pitchFamily="34" charset="0"/>
              </a:rPr>
              <a:t>=1; </a:t>
            </a:r>
            <a:r>
              <a:rPr lang="en-US" altLang="en-US" sz="2800" dirty="0" err="1">
                <a:latin typeface="Tahoma" panose="020B0604030504040204" pitchFamily="34" charset="0"/>
              </a:rPr>
              <a:t>i</a:t>
            </a:r>
            <a:r>
              <a:rPr lang="en-US" altLang="en-US" sz="2800" dirty="0">
                <a:latin typeface="Tahoma" panose="020B0604030504040204" pitchFamily="34" charset="0"/>
              </a:rPr>
              <a:t>&lt; </a:t>
            </a:r>
            <a:r>
              <a:rPr lang="en-US" altLang="en-US" sz="2800" dirty="0" err="1">
                <a:latin typeface="Tahoma" panose="020B0604030504040204" pitchFamily="34" charset="0"/>
              </a:rPr>
              <a:t>ray.length</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int </a:t>
            </a:r>
            <a:r>
              <a:rPr lang="en-US" altLang="en-US" sz="2800" dirty="0" err="1">
                <a:latin typeface="Tahoma" panose="020B0604030504040204" pitchFamily="34" charset="0"/>
              </a:rPr>
              <a:t>val</a:t>
            </a:r>
            <a:r>
              <a:rPr lang="en-US" altLang="en-US" sz="2800" dirty="0">
                <a:latin typeface="Tahoma" panose="020B0604030504040204" pitchFamily="34" charset="0"/>
              </a:rPr>
              <a:t> = ray[</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int j =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while(</a:t>
            </a:r>
            <a:r>
              <a:rPr lang="en-US" altLang="en-US" sz="2800" dirty="0">
                <a:solidFill>
                  <a:srgbClr val="7030A0"/>
                </a:solidFill>
                <a:latin typeface="Tahoma" panose="020B0604030504040204" pitchFamily="34" charset="0"/>
              </a:rPr>
              <a:t>j&gt;0 &amp;&amp; ray</a:t>
            </a:r>
            <a:r>
              <a:rPr lang="en-US" altLang="en-US" sz="2800" spc="200" dirty="0">
                <a:solidFill>
                  <a:srgbClr val="7030A0"/>
                </a:solidFill>
                <a:latin typeface="Tahoma" panose="020B0604030504040204" pitchFamily="34" charset="0"/>
              </a:rPr>
              <a:t>[j]</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compareTo</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val</a:t>
            </a:r>
            <a:r>
              <a:rPr lang="en-US" altLang="en-US" sz="2800" dirty="0">
                <a:solidFill>
                  <a:srgbClr val="7030A0"/>
                </a:solidFill>
                <a:latin typeface="Tahoma" panose="020B0604030504040204" pitchFamily="34" charset="0"/>
              </a:rPr>
              <a:t>) &gt; 0</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ray</a:t>
            </a:r>
            <a:r>
              <a:rPr lang="en-US" altLang="en-US" sz="2800" spc="200" dirty="0">
                <a:latin typeface="Tahoma" panose="020B0604030504040204" pitchFamily="34" charset="0"/>
              </a:rPr>
              <a:t>[j-1]</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j--;</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a:t>
            </a:r>
            <a:r>
              <a:rPr lang="en-US" altLang="en-US" sz="2800" dirty="0" err="1">
                <a:latin typeface="Tahoma" panose="020B0604030504040204" pitchFamily="34" charset="0"/>
              </a:rPr>
              <a:t>val</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a:t>
            </a:r>
          </a:p>
        </p:txBody>
      </p:sp>
      <p:sp>
        <p:nvSpPr>
          <p:cNvPr id="3" name="TextBox 2">
            <a:extLst>
              <a:ext uri="{FF2B5EF4-FFF2-40B4-BE49-F238E27FC236}">
                <a16:creationId xmlns:a16="http://schemas.microsoft.com/office/drawing/2014/main" id="{4797FD1B-B5FF-AEF2-A706-CA01650639F6}"/>
              </a:ext>
            </a:extLst>
          </p:cNvPr>
          <p:cNvSpPr txBox="1"/>
          <p:nvPr/>
        </p:nvSpPr>
        <p:spPr>
          <a:xfrm>
            <a:off x="4456326" y="5048071"/>
            <a:ext cx="4172938" cy="1200329"/>
          </a:xfrm>
          <a:prstGeom prst="rect">
            <a:avLst/>
          </a:prstGeom>
          <a:noFill/>
        </p:spPr>
        <p:txBody>
          <a:bodyPr wrap="none" rtlCol="0">
            <a:spAutoFit/>
          </a:bodyPr>
          <a:lstStyle/>
          <a:p>
            <a:pPr algn="ctr"/>
            <a:r>
              <a:rPr lang="en-US" sz="3600" dirty="0">
                <a:solidFill>
                  <a:schemeClr val="accent2">
                    <a:lumMod val="75000"/>
                  </a:schemeClr>
                </a:solidFill>
              </a:rPr>
              <a:t>Insertion Sort of</a:t>
            </a:r>
            <a:br>
              <a:rPr lang="en-US" sz="3600" dirty="0">
                <a:solidFill>
                  <a:schemeClr val="accent2">
                    <a:lumMod val="75000"/>
                  </a:schemeClr>
                </a:solidFill>
              </a:rPr>
            </a:br>
            <a:r>
              <a:rPr lang="en-US" sz="3600" dirty="0">
                <a:solidFill>
                  <a:schemeClr val="accent2">
                    <a:lumMod val="75000"/>
                  </a:schemeClr>
                </a:solidFill>
              </a:rPr>
              <a:t>Arrays of Objects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EF9F4"/>
        </a:solidFill>
        <a:effectLst/>
      </p:bgPr>
    </p:bg>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DA4CB1FC-4A54-4E17-99FD-50F1DB74932E}"/>
              </a:ext>
            </a:extLst>
          </p:cNvPr>
          <p:cNvSpPr txBox="1">
            <a:spLocks noChangeArrowheads="1"/>
          </p:cNvSpPr>
          <p:nvPr/>
        </p:nvSpPr>
        <p:spPr bwMode="auto">
          <a:xfrm>
            <a:off x="76200" y="356402"/>
            <a:ext cx="9144001" cy="5891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dirty="0">
                <a:latin typeface="Tahoma" panose="020B0604030504040204" pitchFamily="34" charset="0"/>
              </a:rPr>
              <a:t>void </a:t>
            </a:r>
            <a:r>
              <a:rPr lang="en-US" altLang="en-US" sz="2800" dirty="0" err="1">
                <a:latin typeface="Tahoma" panose="020B0604030504040204" pitchFamily="34" charset="0"/>
              </a:rPr>
              <a:t>insertionSort</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List&lt;Comparable&gt; list</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for (int </a:t>
            </a:r>
            <a:r>
              <a:rPr lang="en-US" altLang="en-US" sz="2800" dirty="0" err="1">
                <a:latin typeface="Tahoma" panose="020B0604030504040204" pitchFamily="34" charset="0"/>
              </a:rPr>
              <a:t>i</a:t>
            </a:r>
            <a:r>
              <a:rPr lang="en-US" altLang="en-US" sz="2800" dirty="0">
                <a:latin typeface="Tahoma" panose="020B0604030504040204" pitchFamily="34" charset="0"/>
              </a:rPr>
              <a:t>=1; </a:t>
            </a:r>
            <a:r>
              <a:rPr lang="en-US" altLang="en-US" sz="2800" dirty="0" err="1">
                <a:latin typeface="Tahoma" panose="020B0604030504040204" pitchFamily="34" charset="0"/>
              </a:rPr>
              <a:t>i</a:t>
            </a:r>
            <a:r>
              <a:rPr lang="en-US" altLang="en-US" sz="2800" dirty="0">
                <a:latin typeface="Tahoma" panose="020B0604030504040204" pitchFamily="34" charset="0"/>
              </a:rPr>
              <a:t>&lt; </a:t>
            </a:r>
            <a:r>
              <a:rPr lang="en-US" altLang="en-US" sz="2800" dirty="0" err="1">
                <a:solidFill>
                  <a:srgbClr val="7030A0"/>
                </a:solidFill>
                <a:latin typeface="Tahoma" panose="020B0604030504040204" pitchFamily="34" charset="0"/>
              </a:rPr>
              <a:t>list.size</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Comparable </a:t>
            </a:r>
            <a:r>
              <a:rPr lang="en-US" altLang="en-US" sz="2800" dirty="0" err="1">
                <a:latin typeface="Tahoma" panose="020B0604030504040204" pitchFamily="34" charset="0"/>
              </a:rPr>
              <a:t>val</a:t>
            </a:r>
            <a:r>
              <a:rPr lang="en-US" altLang="en-US" sz="2800" dirty="0">
                <a:latin typeface="Tahoma" panose="020B0604030504040204" pitchFamily="34" charset="0"/>
              </a:rPr>
              <a:t> = </a:t>
            </a:r>
            <a:r>
              <a:rPr lang="en-US" altLang="en-US" sz="2800" dirty="0" err="1">
                <a:latin typeface="Tahoma" panose="020B0604030504040204" pitchFamily="34" charset="0"/>
              </a:rPr>
              <a:t>list.get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int j =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while(</a:t>
            </a:r>
            <a:r>
              <a:rPr lang="en-US" altLang="en-US" sz="2800" dirty="0">
                <a:solidFill>
                  <a:srgbClr val="7030A0"/>
                </a:solidFill>
                <a:latin typeface="Tahoma" panose="020B0604030504040204" pitchFamily="34" charset="0"/>
              </a:rPr>
              <a:t>j&gt;0 &amp;&amp; </a:t>
            </a:r>
            <a:r>
              <a:rPr lang="en-US" altLang="en-US" sz="2800" dirty="0" err="1">
                <a:solidFill>
                  <a:srgbClr val="7030A0"/>
                </a:solidFill>
                <a:latin typeface="Tahoma" panose="020B0604030504040204" pitchFamily="34" charset="0"/>
              </a:rPr>
              <a:t>list.get</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i</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compareTo</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val</a:t>
            </a:r>
            <a:r>
              <a:rPr lang="en-US" altLang="en-US" sz="2800" dirty="0">
                <a:solidFill>
                  <a:srgbClr val="7030A0"/>
                </a:solidFill>
                <a:latin typeface="Tahoma" panose="020B0604030504040204" pitchFamily="34" charset="0"/>
              </a:rPr>
              <a:t>) &gt; 0</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         </a:t>
            </a:r>
          </a:p>
          <a:p>
            <a:pPr>
              <a:lnSpc>
                <a:spcPts val="3800"/>
              </a:lnSpc>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list.set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 </a:t>
            </a:r>
            <a:r>
              <a:rPr lang="en-US" altLang="en-US" sz="2800" dirty="0" err="1">
                <a:latin typeface="Tahoma" panose="020B0604030504040204" pitchFamily="34" charset="0"/>
              </a:rPr>
              <a:t>list.get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j--;</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list.set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 </a:t>
            </a:r>
            <a:r>
              <a:rPr lang="en-US" altLang="en-US" sz="2800" dirty="0" err="1">
                <a:latin typeface="Tahoma" panose="020B0604030504040204" pitchFamily="34" charset="0"/>
              </a:rPr>
              <a:t>val</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a:t>
            </a:r>
          </a:p>
        </p:txBody>
      </p:sp>
      <p:sp>
        <p:nvSpPr>
          <p:cNvPr id="2" name="TextBox 1">
            <a:extLst>
              <a:ext uri="{FF2B5EF4-FFF2-40B4-BE49-F238E27FC236}">
                <a16:creationId xmlns:a16="http://schemas.microsoft.com/office/drawing/2014/main" id="{CD193DA6-F56C-82E6-1A37-F9808D5583C9}"/>
              </a:ext>
            </a:extLst>
          </p:cNvPr>
          <p:cNvSpPr txBox="1"/>
          <p:nvPr/>
        </p:nvSpPr>
        <p:spPr>
          <a:xfrm>
            <a:off x="4965939" y="5181600"/>
            <a:ext cx="4027064" cy="1200329"/>
          </a:xfrm>
          <a:prstGeom prst="rect">
            <a:avLst/>
          </a:prstGeom>
          <a:noFill/>
        </p:spPr>
        <p:txBody>
          <a:bodyPr wrap="none" rtlCol="0">
            <a:spAutoFit/>
          </a:bodyPr>
          <a:lstStyle/>
          <a:p>
            <a:pPr algn="ctr"/>
            <a:r>
              <a:rPr lang="en-US" sz="3600" dirty="0">
                <a:solidFill>
                  <a:srgbClr val="7030A0"/>
                </a:solidFill>
              </a:rPr>
              <a:t>Insertion Sort of</a:t>
            </a:r>
            <a:br>
              <a:rPr lang="en-US" sz="3600" dirty="0">
                <a:solidFill>
                  <a:srgbClr val="7030A0"/>
                </a:solidFill>
              </a:rPr>
            </a:br>
            <a:r>
              <a:rPr lang="en-US" sz="3600" dirty="0">
                <a:solidFill>
                  <a:srgbClr val="7030A0"/>
                </a:solidFill>
              </a:rPr>
              <a:t>Lists of Objects</a:t>
            </a:r>
          </a:p>
        </p:txBody>
      </p:sp>
    </p:spTree>
    <p:extLst>
      <p:ext uri="{BB962C8B-B14F-4D97-AF65-F5344CB8AC3E}">
        <p14:creationId xmlns:p14="http://schemas.microsoft.com/office/powerpoint/2010/main" val="394263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WordArt 3">
            <a:extLst>
              <a:ext uri="{FF2B5EF4-FFF2-40B4-BE49-F238E27FC236}">
                <a16:creationId xmlns:a16="http://schemas.microsoft.com/office/drawing/2014/main" id="{68EFB535-B482-4D3B-823F-BE310EEAE117}"/>
              </a:ext>
            </a:extLst>
          </p:cNvPr>
          <p:cNvSpPr>
            <a:spLocks noGrp="1" noChangeArrowheads="1" noChangeShapeType="1" noTextEdit="1"/>
          </p:cNvSpPr>
          <p:nvPr>
            <p:ph type="title" idx="4294967295"/>
          </p:nvPr>
        </p:nvSpPr>
        <p:spPr bwMode="auto">
          <a:xfrm>
            <a:off x="5410200" y="2438400"/>
            <a:ext cx="3000375" cy="12192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alpha val="79999"/>
                    </a:srgbClr>
                  </a:outerShdw>
                </a:effectLst>
                <a:uLnTx/>
                <a:uFillTx/>
                <a:latin typeface="Impact" panose="020B0806030902050204" pitchFamily="34" charset="0"/>
                <a:ea typeface="+mn-ea"/>
                <a:cs typeface="+mn-cs"/>
              </a:rPr>
              <a:t>Insertion sort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alpha val="79999"/>
                    </a:srgbClr>
                  </a:outerShdw>
                </a:effectLst>
                <a:uLnTx/>
                <a:uFillTx/>
                <a:latin typeface="Impact" panose="020B0806030902050204" pitchFamily="34" charset="0"/>
                <a:ea typeface="+mn-ea"/>
                <a:cs typeface="+mn-cs"/>
              </a:rPr>
              <a:t>with 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alpha val="79999"/>
                    </a:srgbClr>
                  </a:outerShdw>
                </a:effectLst>
                <a:uLnTx/>
                <a:uFillTx/>
                <a:latin typeface="Impact" panose="020B0806030902050204" pitchFamily="34" charset="0"/>
                <a:ea typeface="+mn-ea"/>
                <a:cs typeface="+mn-cs"/>
              </a:rPr>
              <a:t>Binary search</a:t>
            </a:r>
          </a:p>
        </p:txBody>
      </p:sp>
      <p:sp>
        <p:nvSpPr>
          <p:cNvPr id="44035" name="Text Box 2">
            <a:extLst>
              <a:ext uri="{FF2B5EF4-FFF2-40B4-BE49-F238E27FC236}">
                <a16:creationId xmlns:a16="http://schemas.microsoft.com/office/drawing/2014/main" id="{D6CADE04-6131-4646-BE47-10C84C1D41B6}"/>
              </a:ext>
            </a:extLst>
          </p:cNvPr>
          <p:cNvSpPr txBox="1">
            <a:spLocks noChangeArrowheads="1"/>
          </p:cNvSpPr>
          <p:nvPr/>
        </p:nvSpPr>
        <p:spPr bwMode="auto">
          <a:xfrm>
            <a:off x="457200" y="82550"/>
            <a:ext cx="7756525" cy="677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500"/>
              </a:lnSpc>
              <a:spcBef>
                <a:spcPct val="0"/>
              </a:spcBef>
              <a:buFontTx/>
              <a:buNone/>
            </a:pPr>
            <a:r>
              <a:rPr lang="en-US" altLang="en-US" sz="2000" b="0">
                <a:latin typeface="Tahoma" panose="020B0604030504040204" pitchFamily="34" charset="0"/>
              </a:rPr>
              <a:t>void insertionSort( int[] ray){</a:t>
            </a:r>
          </a:p>
          <a:p>
            <a:pPr>
              <a:lnSpc>
                <a:spcPts val="3500"/>
              </a:lnSpc>
              <a:spcBef>
                <a:spcPct val="0"/>
              </a:spcBef>
              <a:buFontTx/>
              <a:buNone/>
            </a:pPr>
            <a:r>
              <a:rPr lang="en-US" altLang="en-US" sz="2000" b="0">
                <a:latin typeface="Tahoma" panose="020B0604030504040204" pitchFamily="34" charset="0"/>
              </a:rPr>
              <a:t>  for (int i=1; i&lt; ray.length; ++i){</a:t>
            </a:r>
          </a:p>
          <a:p>
            <a:pPr>
              <a:lnSpc>
                <a:spcPts val="3500"/>
              </a:lnSpc>
              <a:spcBef>
                <a:spcPct val="0"/>
              </a:spcBef>
              <a:buFontTx/>
              <a:buNone/>
            </a:pPr>
            <a:r>
              <a:rPr lang="en-US" altLang="en-US" sz="2000" b="0">
                <a:latin typeface="Tahoma" panose="020B0604030504040204" pitchFamily="34" charset="0"/>
              </a:rPr>
              <a:t>     int bot=0, top=i-1;</a:t>
            </a:r>
          </a:p>
          <a:p>
            <a:pPr>
              <a:lnSpc>
                <a:spcPts val="3500"/>
              </a:lnSpc>
              <a:spcBef>
                <a:spcPct val="0"/>
              </a:spcBef>
              <a:buFontTx/>
              <a:buNone/>
            </a:pPr>
            <a:r>
              <a:rPr lang="en-US" altLang="en-US" sz="2000" b="0">
                <a:latin typeface="Tahoma" panose="020B0604030504040204" pitchFamily="34" charset="0"/>
              </a:rPr>
              <a:t>     while (bot&lt;=top){</a:t>
            </a:r>
          </a:p>
          <a:p>
            <a:pPr>
              <a:lnSpc>
                <a:spcPts val="3500"/>
              </a:lnSpc>
              <a:spcBef>
                <a:spcPct val="0"/>
              </a:spcBef>
              <a:buFontTx/>
              <a:buNone/>
            </a:pPr>
            <a:r>
              <a:rPr lang="en-US" altLang="en-US" sz="2000" b="0">
                <a:latin typeface="Tahoma" panose="020B0604030504040204" pitchFamily="34" charset="0"/>
              </a:rPr>
              <a:t>        int mid=(bot+top)/2;</a:t>
            </a:r>
          </a:p>
          <a:p>
            <a:pPr>
              <a:lnSpc>
                <a:spcPts val="3500"/>
              </a:lnSpc>
              <a:spcBef>
                <a:spcPct val="0"/>
              </a:spcBef>
              <a:buFontTx/>
              <a:buNone/>
            </a:pPr>
            <a:r>
              <a:rPr lang="en-US" altLang="en-US" sz="2000" b="0">
                <a:latin typeface="Tahoma" panose="020B0604030504040204" pitchFamily="34" charset="0"/>
              </a:rPr>
              <a:t>        if (ray[mid] &lt; ray[ i ])</a:t>
            </a:r>
          </a:p>
          <a:p>
            <a:pPr>
              <a:lnSpc>
                <a:spcPts val="3500"/>
              </a:lnSpc>
              <a:spcBef>
                <a:spcPct val="0"/>
              </a:spcBef>
              <a:buFontTx/>
              <a:buNone/>
            </a:pPr>
            <a:r>
              <a:rPr lang="en-US" altLang="en-US" sz="2000" b="0">
                <a:latin typeface="Tahoma" panose="020B0604030504040204" pitchFamily="34" charset="0"/>
              </a:rPr>
              <a:t>           bot=mid+1;</a:t>
            </a:r>
          </a:p>
          <a:p>
            <a:pPr>
              <a:lnSpc>
                <a:spcPts val="3500"/>
              </a:lnSpc>
              <a:spcBef>
                <a:spcPct val="0"/>
              </a:spcBef>
              <a:buFontTx/>
              <a:buNone/>
            </a:pPr>
            <a:r>
              <a:rPr lang="en-US" altLang="en-US" sz="2000" b="0">
                <a:latin typeface="Tahoma" panose="020B0604030504040204" pitchFamily="34" charset="0"/>
              </a:rPr>
              <a:t>        else top=mid-1;</a:t>
            </a:r>
          </a:p>
          <a:p>
            <a:pPr>
              <a:lnSpc>
                <a:spcPts val="3500"/>
              </a:lnSpc>
              <a:spcBef>
                <a:spcPct val="0"/>
              </a:spcBef>
              <a:buFontTx/>
              <a:buNone/>
            </a:pPr>
            <a:r>
              <a:rPr lang="en-US" altLang="en-US" sz="2000" b="0">
                <a:latin typeface="Tahoma" panose="020B0604030504040204" pitchFamily="34" charset="0"/>
              </a:rPr>
              <a:t>    }</a:t>
            </a:r>
          </a:p>
          <a:p>
            <a:pPr>
              <a:lnSpc>
                <a:spcPts val="3500"/>
              </a:lnSpc>
              <a:spcBef>
                <a:spcPct val="0"/>
              </a:spcBef>
              <a:buFontTx/>
              <a:buNone/>
            </a:pPr>
            <a:r>
              <a:rPr lang="en-US" altLang="en-US" sz="2000" b="0">
                <a:latin typeface="Tahoma" panose="020B0604030504040204" pitchFamily="34" charset="0"/>
              </a:rPr>
              <a:t>    Comparable temp = ray[i];</a:t>
            </a:r>
          </a:p>
          <a:p>
            <a:pPr>
              <a:lnSpc>
                <a:spcPts val="3500"/>
              </a:lnSpc>
              <a:spcBef>
                <a:spcPct val="0"/>
              </a:spcBef>
              <a:buFontTx/>
              <a:buNone/>
            </a:pPr>
            <a:r>
              <a:rPr lang="en-US" altLang="en-US" sz="2000" b="0">
                <a:latin typeface="Tahoma" panose="020B0604030504040204" pitchFamily="34" charset="0"/>
              </a:rPr>
              <a:t>    for (int j=i; j&gt;bot; --j)</a:t>
            </a:r>
          </a:p>
          <a:p>
            <a:pPr>
              <a:lnSpc>
                <a:spcPts val="3500"/>
              </a:lnSpc>
              <a:spcBef>
                <a:spcPct val="0"/>
              </a:spcBef>
              <a:buFontTx/>
              <a:buNone/>
            </a:pPr>
            <a:r>
              <a:rPr lang="en-US" altLang="en-US" sz="2000" b="0">
                <a:latin typeface="Tahoma" panose="020B0604030504040204" pitchFamily="34" charset="0"/>
              </a:rPr>
              <a:t>       ray[ j]=ray[ j-1];</a:t>
            </a:r>
          </a:p>
          <a:p>
            <a:pPr>
              <a:lnSpc>
                <a:spcPts val="3500"/>
              </a:lnSpc>
              <a:spcBef>
                <a:spcPct val="0"/>
              </a:spcBef>
              <a:buFontTx/>
              <a:buNone/>
            </a:pPr>
            <a:r>
              <a:rPr lang="en-US" altLang="en-US" sz="2000" b="0">
                <a:latin typeface="Tahoma" panose="020B0604030504040204" pitchFamily="34" charset="0"/>
              </a:rPr>
              <a:t>    ray[bot]=temp;</a:t>
            </a:r>
          </a:p>
          <a:p>
            <a:pPr>
              <a:lnSpc>
                <a:spcPts val="3500"/>
              </a:lnSpc>
              <a:spcBef>
                <a:spcPct val="0"/>
              </a:spcBef>
              <a:buFontTx/>
              <a:buNone/>
            </a:pPr>
            <a:r>
              <a:rPr lang="en-US" altLang="en-US" sz="2000" b="0">
                <a:latin typeface="Tahoma" panose="020B0604030504040204" pitchFamily="34" charset="0"/>
              </a:rPr>
              <a:t>  }</a:t>
            </a:r>
          </a:p>
          <a:p>
            <a:pPr>
              <a:lnSpc>
                <a:spcPts val="3500"/>
              </a:lnSpc>
              <a:spcBef>
                <a:spcPct val="0"/>
              </a:spcBef>
              <a:buFontTx/>
              <a:buNone/>
            </a:pPr>
            <a:r>
              <a:rPr lang="en-US" altLang="en-US" sz="2000" b="0">
                <a:latin typeface="Tahoma" panose="020B0604030504040204" pitchFamily="34" charset="0"/>
              </a:rPr>
              <a:t>}</a:t>
            </a:r>
          </a:p>
        </p:txBody>
      </p:sp>
      <p:sp>
        <p:nvSpPr>
          <p:cNvPr id="44034" name="Footer Placeholder 3">
            <a:extLst>
              <a:ext uri="{FF2B5EF4-FFF2-40B4-BE49-F238E27FC236}">
                <a16:creationId xmlns:a16="http://schemas.microsoft.com/office/drawing/2014/main" id="{FC290699-4760-45EC-B1A4-011A50C5C52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500"/>
              </a:lnSpc>
              <a:spcBef>
                <a:spcPct val="0"/>
              </a:spcBef>
              <a:buFontTx/>
              <a:buNone/>
            </a:pPr>
            <a:endParaRPr lang="en-US" altLang="en-US" sz="700"/>
          </a:p>
          <a:p>
            <a:pPr>
              <a:lnSpc>
                <a:spcPts val="3500"/>
              </a:lnSpc>
              <a:spcBef>
                <a:spcPct val="0"/>
              </a:spcBef>
              <a:buFontTx/>
              <a:buNone/>
            </a:pPr>
            <a:endParaRPr lang="en-US" altLang="en-US" sz="700" b="0">
              <a:latin typeface="Tahoma" panose="020B0604030504040204" pitchFamily="34" charset="0"/>
            </a:endParaRPr>
          </a:p>
          <a:p>
            <a:pPr>
              <a:lnSpc>
                <a:spcPts val="3500"/>
              </a:lnSpc>
              <a:spcBef>
                <a:spcPct val="0"/>
              </a:spcBef>
              <a:buFontTx/>
              <a:buNone/>
            </a:pPr>
            <a:endParaRPr lang="en-US" altLang="en-US" sz="700">
              <a:latin typeface="Tahoma" panose="020B0604030504040204" pitchFamily="34" charset="0"/>
            </a:endParaRPr>
          </a:p>
          <a:p>
            <a:pPr>
              <a:lnSpc>
                <a:spcPts val="3500"/>
              </a:lnSpc>
              <a:spcBef>
                <a:spcPct val="0"/>
              </a:spcBef>
              <a:buFontTx/>
              <a:buNone/>
            </a:pPr>
            <a:r>
              <a:rPr lang="en-US" altLang="en-US" sz="700">
                <a:latin typeface="Tahoma" panose="020B0604030504040204" pitchFamily="34" charset="0"/>
              </a:rPr>
              <a:t>© A+ Computer Science  -  www.apluscompsci.com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45A94-72BD-2109-041C-AE591FEB468F}"/>
              </a:ext>
            </a:extLst>
          </p:cNvPr>
          <p:cNvSpPr>
            <a:spLocks noGrp="1"/>
          </p:cNvSpPr>
          <p:nvPr>
            <p:ph type="title" idx="4294967295"/>
          </p:nvPr>
        </p:nvSpPr>
        <p:spPr>
          <a:xfrm>
            <a:off x="685800" y="-1391044"/>
            <a:ext cx="7772400" cy="1143000"/>
          </a:xfrm>
        </p:spPr>
        <p:txBody>
          <a:bodyPr/>
          <a:lstStyle/>
          <a:p>
            <a:r>
              <a:rPr lang="en-US" dirty="0"/>
              <a:t>Animation of Selection and Insertion Sorts</a:t>
            </a:r>
          </a:p>
        </p:txBody>
      </p:sp>
      <p:pic>
        <p:nvPicPr>
          <p:cNvPr id="6" name="Google Shape;597;p80">
            <a:extLst>
              <a:ext uri="{FF2B5EF4-FFF2-40B4-BE49-F238E27FC236}">
                <a16:creationId xmlns:a16="http://schemas.microsoft.com/office/drawing/2014/main" id="{98A99F50-9251-339E-24AF-905D1289D653}"/>
              </a:ext>
              <a:ext uri="{C183D7F6-B498-43B3-948B-1728B52AA6E4}">
                <adec:decorative xmlns:adec="http://schemas.microsoft.com/office/drawing/2017/decorative" val="1"/>
              </a:ext>
            </a:extLst>
          </p:cNvPr>
          <p:cNvPicPr preferRelativeResize="0"/>
          <p:nvPr/>
        </p:nvPicPr>
        <p:blipFill>
          <a:blip r:embed="rId2">
            <a:alphaModFix/>
          </a:blip>
          <a:stretch>
            <a:fillRect/>
          </a:stretch>
        </p:blipFill>
        <p:spPr>
          <a:xfrm>
            <a:off x="0" y="195263"/>
            <a:ext cx="9144000" cy="2928937"/>
          </a:xfrm>
          <a:prstGeom prst="rect">
            <a:avLst/>
          </a:prstGeom>
          <a:noFill/>
          <a:ln>
            <a:noFill/>
          </a:ln>
        </p:spPr>
      </p:pic>
      <p:pic>
        <p:nvPicPr>
          <p:cNvPr id="7" name="Google Shape;598;p80">
            <a:extLst>
              <a:ext uri="{FF2B5EF4-FFF2-40B4-BE49-F238E27FC236}">
                <a16:creationId xmlns:a16="http://schemas.microsoft.com/office/drawing/2014/main" id="{6A83410E-C85B-2057-399D-94270481599B}"/>
              </a:ex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24581" y="3567507"/>
            <a:ext cx="9168581" cy="5933301"/>
          </a:xfrm>
          <a:prstGeom prst="rect">
            <a:avLst/>
          </a:prstGeom>
          <a:noFill/>
          <a:ln>
            <a:noFill/>
          </a:ln>
        </p:spPr>
      </p:pic>
      <p:sp>
        <p:nvSpPr>
          <p:cNvPr id="8" name="Google Shape;599;p80">
            <a:extLst>
              <a:ext uri="{FF2B5EF4-FFF2-40B4-BE49-F238E27FC236}">
                <a16:creationId xmlns:a16="http://schemas.microsoft.com/office/drawing/2014/main" id="{BE2C6DE6-C709-B8E6-B37A-65BCF1E7635E}"/>
              </a:ext>
              <a:ext uri="{C183D7F6-B498-43B3-948B-1728B52AA6E4}">
                <adec:decorative xmlns:adec="http://schemas.microsoft.com/office/drawing/2017/decorative" val="1"/>
              </a:ext>
            </a:extLst>
          </p:cNvPr>
          <p:cNvSpPr txBox="1"/>
          <p:nvPr/>
        </p:nvSpPr>
        <p:spPr>
          <a:xfrm>
            <a:off x="36226" y="6391542"/>
            <a:ext cx="2371850" cy="41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u="sng"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sz="1200" dirty="0">
              <a:latin typeface="Times New Roman"/>
              <a:ea typeface="Times New Roman"/>
              <a:cs typeface="Times New Roman"/>
              <a:sym typeface="Times New Roman"/>
            </a:endParaRPr>
          </a:p>
        </p:txBody>
      </p:sp>
      <p:sp>
        <p:nvSpPr>
          <p:cNvPr id="4" name="Google Shape;595;p80">
            <a:extLst>
              <a:ext uri="{FF2B5EF4-FFF2-40B4-BE49-F238E27FC236}">
                <a16:creationId xmlns:a16="http://schemas.microsoft.com/office/drawing/2014/main" id="{A8A3FDA9-FEF1-AD7F-649B-D647E4E21592}"/>
              </a:ext>
              <a:ext uri="{C183D7F6-B498-43B3-948B-1728B52AA6E4}">
                <adec:decorative xmlns:adec="http://schemas.microsoft.com/office/drawing/2017/decorative" val="1"/>
              </a:ext>
            </a:extLst>
          </p:cNvPr>
          <p:cNvSpPr txBox="1"/>
          <p:nvPr/>
        </p:nvSpPr>
        <p:spPr>
          <a:xfrm>
            <a:off x="91050" y="-76200"/>
            <a:ext cx="2956950" cy="53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ea typeface="Tahoma" panose="020B0604030504040204" pitchFamily="34" charset="0"/>
                <a:cs typeface="Tahoma" panose="020B0604030504040204" pitchFamily="34" charset="0"/>
                <a:sym typeface="Times New Roman"/>
              </a:rPr>
              <a:t>Selection Sort</a:t>
            </a:r>
            <a:endParaRPr sz="2400" dirty="0">
              <a:ea typeface="Tahoma" panose="020B0604030504040204" pitchFamily="34" charset="0"/>
              <a:cs typeface="Tahoma" panose="020B0604030504040204" pitchFamily="34" charset="0"/>
              <a:sym typeface="Times New Roman"/>
            </a:endParaRPr>
          </a:p>
        </p:txBody>
      </p:sp>
      <p:sp>
        <p:nvSpPr>
          <p:cNvPr id="5" name="Google Shape;596;p80">
            <a:extLst>
              <a:ext uri="{FF2B5EF4-FFF2-40B4-BE49-F238E27FC236}">
                <a16:creationId xmlns:a16="http://schemas.microsoft.com/office/drawing/2014/main" id="{F62F27BF-4E10-F514-A5D0-2DF971CD1624}"/>
              </a:ext>
              <a:ext uri="{C183D7F6-B498-43B3-948B-1728B52AA6E4}">
                <adec:decorative xmlns:adec="http://schemas.microsoft.com/office/drawing/2017/decorative" val="1"/>
              </a:ext>
            </a:extLst>
          </p:cNvPr>
          <p:cNvSpPr txBox="1"/>
          <p:nvPr/>
        </p:nvSpPr>
        <p:spPr>
          <a:xfrm>
            <a:off x="36226" y="3379191"/>
            <a:ext cx="2956950" cy="53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ea typeface="Tahoma" panose="020B0604030504040204" pitchFamily="34" charset="0"/>
                <a:cs typeface="Tahoma" panose="020B0604030504040204" pitchFamily="34" charset="0"/>
                <a:sym typeface="Times New Roman"/>
              </a:rPr>
              <a:t>Insertion Sort</a:t>
            </a:r>
            <a:endParaRPr sz="2400" dirty="0">
              <a:ea typeface="Tahoma" panose="020B0604030504040204" pitchFamily="34" charset="0"/>
              <a:cs typeface="Tahoma" panose="020B0604030504040204" pitchFamily="34" charset="0"/>
              <a:sym typeface="Times New Roman"/>
            </a:endParaRPr>
          </a:p>
        </p:txBody>
      </p:sp>
    </p:spTree>
    <p:extLst>
      <p:ext uri="{BB962C8B-B14F-4D97-AF65-F5344CB8AC3E}">
        <p14:creationId xmlns:p14="http://schemas.microsoft.com/office/powerpoint/2010/main" val="3122452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Shape 764"/>
        <p:cNvGrpSpPr/>
        <p:nvPr/>
      </p:nvGrpSpPr>
      <p:grpSpPr>
        <a:xfrm>
          <a:off x="0" y="0"/>
          <a:ext cx="0" cy="0"/>
          <a:chOff x="0" y="0"/>
          <a:chExt cx="0" cy="0"/>
        </a:xfrm>
      </p:grpSpPr>
      <p:sp>
        <p:nvSpPr>
          <p:cNvPr id="766" name="Google Shape;766;p103"/>
          <p:cNvSpPr txBox="1">
            <a:spLocks noGrp="1"/>
          </p:cNvSpPr>
          <p:nvPr>
            <p:ph type="title"/>
          </p:nvPr>
        </p:nvSpPr>
        <p:spPr>
          <a:xfrm>
            <a:off x="304800" y="304800"/>
            <a:ext cx="8458200" cy="857400"/>
          </a:xfrm>
          <a:prstGeom prst="rect">
            <a:avLst/>
          </a:prstGeom>
          <a:noFill/>
          <a:ln>
            <a:noFill/>
          </a:ln>
        </p:spPr>
        <p:txBody>
          <a:bodyPr spcFirstLastPara="1" vert="horz" wrap="square" lIns="92075" tIns="46025" rIns="92075" bIns="46025" numCol="1" anchor="ctr" anchorCtr="0" compatLnSpc="1">
            <a:prstTxWarp prst="textNoShape">
              <a:avLst/>
            </a:prstTxWarp>
            <a:noAutofit/>
          </a:bodyPr>
          <a:lstStyle/>
          <a:p>
            <a:pPr>
              <a:spcBef>
                <a:spcPts val="0"/>
              </a:spcBef>
              <a:spcAft>
                <a:spcPts val="0"/>
              </a:spcAft>
              <a:buClr>
                <a:schemeClr val="lt2"/>
              </a:buClr>
              <a:buSzPts val="4400"/>
            </a:pPr>
            <a:r>
              <a:rPr lang="en-US" dirty="0">
                <a:solidFill>
                  <a:schemeClr val="tx1"/>
                </a:solidFill>
                <a:latin typeface="Times New Roman"/>
                <a:ea typeface="Times New Roman"/>
                <a:cs typeface="Times New Roman"/>
                <a:sym typeface="Times New Roman"/>
              </a:rPr>
              <a:t>Bubble Sort </a:t>
            </a:r>
            <a:r>
              <a:rPr lang="en-US" dirty="0">
                <a:solidFill>
                  <a:schemeClr val="tx1"/>
                </a:solidFill>
              </a:rPr>
              <a:t>is distinguished by frequent swapping</a:t>
            </a:r>
            <a:endParaRPr dirty="0">
              <a:solidFill>
                <a:schemeClr val="tx1"/>
              </a:solidFill>
            </a:endParaRPr>
          </a:p>
        </p:txBody>
      </p:sp>
      <p:pic>
        <p:nvPicPr>
          <p:cNvPr id="767" name="Google Shape;767;p10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8738" y="1793447"/>
            <a:ext cx="9125262" cy="2813139"/>
          </a:xfrm>
          <a:prstGeom prst="rect">
            <a:avLst/>
          </a:prstGeom>
          <a:noFill/>
          <a:ln>
            <a:noFill/>
          </a:ln>
        </p:spPr>
      </p:pic>
      <p:sp>
        <p:nvSpPr>
          <p:cNvPr id="768" name="Google Shape;768;p103"/>
          <p:cNvSpPr txBox="1"/>
          <p:nvPr/>
        </p:nvSpPr>
        <p:spPr>
          <a:xfrm>
            <a:off x="197370" y="5237833"/>
            <a:ext cx="8668062" cy="1069200"/>
          </a:xfrm>
          <a:prstGeom prst="rect">
            <a:avLst/>
          </a:prstGeom>
          <a:noFill/>
          <a:ln>
            <a:noFill/>
          </a:ln>
        </p:spPr>
        <p:txBody>
          <a:bodyPr spcFirstLastPara="1" wrap="square" lIns="91425" tIns="91425" rIns="91425" bIns="91425" anchor="t" anchorCtr="0">
            <a:noAutofit/>
          </a:bodyPr>
          <a:lstStyle/>
          <a:p>
            <a:pPr>
              <a:spcBef>
                <a:spcPts val="0"/>
              </a:spcBef>
              <a:spcAft>
                <a:spcPts val="0"/>
              </a:spcAft>
            </a:pPr>
            <a:r>
              <a:rPr lang="en-US" dirty="0">
                <a:latin typeface="Times New Roman"/>
                <a:ea typeface="Times New Roman"/>
                <a:cs typeface="Times New Roman"/>
                <a:sym typeface="Times New Roman"/>
              </a:rPr>
              <a:t>This is an “improved” bubble sort that stops early if no swap is performed for an entire pass</a:t>
            </a:r>
            <a:endParaRPr dirty="0">
              <a:latin typeface="Times New Roman"/>
              <a:ea typeface="Times New Roman"/>
              <a:cs typeface="Times New Roman"/>
              <a:sym typeface="Times New Roman"/>
            </a:endParaRPr>
          </a:p>
          <a:p>
            <a:pPr>
              <a:spcBef>
                <a:spcPts val="0"/>
              </a:spcBef>
              <a:spcAft>
                <a:spcPts val="0"/>
              </a:spcAft>
            </a:pPr>
            <a:r>
              <a:rPr lang="en-US" u="sng"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dirty="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Shape 814"/>
        <p:cNvGrpSpPr/>
        <p:nvPr/>
      </p:nvGrpSpPr>
      <p:grpSpPr>
        <a:xfrm>
          <a:off x="0" y="0"/>
          <a:ext cx="0" cy="0"/>
          <a:chOff x="0" y="0"/>
          <a:chExt cx="0" cy="0"/>
        </a:xfrm>
      </p:grpSpPr>
      <p:sp>
        <p:nvSpPr>
          <p:cNvPr id="818" name="Google Shape;818;p110"/>
          <p:cNvSpPr txBox="1">
            <a:spLocks noGrp="1"/>
          </p:cNvSpPr>
          <p:nvPr>
            <p:ph type="title"/>
          </p:nvPr>
        </p:nvSpPr>
        <p:spPr>
          <a:xfrm>
            <a:off x="376800" y="381000"/>
            <a:ext cx="7772400" cy="1699500"/>
          </a:xfrm>
          <a:prstGeom prst="rect">
            <a:avLst/>
          </a:prstGeom>
          <a:noFill/>
          <a:ln>
            <a:noFill/>
          </a:ln>
        </p:spPr>
        <p:txBody>
          <a:bodyPr spcFirstLastPara="1" vert="horz" wrap="square" lIns="92075" tIns="46025" rIns="92075" bIns="46025" numCol="1" anchor="ctr" anchorCtr="0" compatLnSpc="1">
            <a:prstTxWarp prst="textNoShape">
              <a:avLst/>
            </a:prstTxWarp>
            <a:noAutofit/>
          </a:bodyPr>
          <a:lstStyle/>
          <a:p>
            <a:pPr algn="l">
              <a:spcBef>
                <a:spcPts val="0"/>
              </a:spcBef>
              <a:spcAft>
                <a:spcPts val="0"/>
              </a:spcAft>
              <a:buClr>
                <a:schemeClr val="lt2"/>
              </a:buClr>
              <a:buSzPts val="4400"/>
            </a:pPr>
            <a:r>
              <a:rPr lang="en-US" dirty="0"/>
              <a:t>Selection</a:t>
            </a:r>
            <a:r>
              <a:rPr lang="en-US" dirty="0">
                <a:solidFill>
                  <a:schemeClr val="lt2"/>
                </a:solidFill>
                <a:latin typeface="Times New Roman"/>
                <a:ea typeface="Times New Roman"/>
                <a:cs typeface="Times New Roman"/>
                <a:sym typeface="Times New Roman"/>
              </a:rPr>
              <a:t> Sort </a:t>
            </a:r>
            <a:r>
              <a:rPr lang="en-US" dirty="0"/>
              <a:t>is distinguished a single swap after each pass</a:t>
            </a:r>
            <a:endParaRPr dirty="0"/>
          </a:p>
        </p:txBody>
      </p:sp>
      <p:pic>
        <p:nvPicPr>
          <p:cNvPr id="816" name="Google Shape;816;p110">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52400" y="2514600"/>
            <a:ext cx="8839200" cy="2831306"/>
          </a:xfrm>
          <a:prstGeom prst="rect">
            <a:avLst/>
          </a:prstGeom>
          <a:noFill/>
          <a:ln>
            <a:noFill/>
          </a:ln>
        </p:spPr>
      </p:pic>
      <p:sp>
        <p:nvSpPr>
          <p:cNvPr id="817" name="Google Shape;817;p110">
            <a:extLst>
              <a:ext uri="{C183D7F6-B498-43B3-948B-1728B52AA6E4}">
                <adec:decorative xmlns:adec="http://schemas.microsoft.com/office/drawing/2017/decorative" val="1"/>
              </a:ext>
            </a:extLst>
          </p:cNvPr>
          <p:cNvSpPr txBox="1"/>
          <p:nvPr/>
        </p:nvSpPr>
        <p:spPr>
          <a:xfrm>
            <a:off x="13741" y="6477000"/>
            <a:ext cx="1905000" cy="569362"/>
          </a:xfrm>
          <a:prstGeom prst="rect">
            <a:avLst/>
          </a:prstGeom>
          <a:noFill/>
          <a:ln>
            <a:noFill/>
          </a:ln>
        </p:spPr>
        <p:txBody>
          <a:bodyPr spcFirstLastPara="1" wrap="square" lIns="91425" tIns="91425" rIns="91425" bIns="91425" anchor="t" anchorCtr="0">
            <a:noAutofit/>
          </a:bodyPr>
          <a:lstStyle/>
          <a:p>
            <a:pPr>
              <a:spcBef>
                <a:spcPts val="0"/>
              </a:spcBef>
              <a:spcAft>
                <a:spcPts val="0"/>
              </a:spcAft>
            </a:pPr>
            <a:r>
              <a:rPr lang="en-US" sz="1200" u="sng"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sz="1200" dirty="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Shape 836"/>
        <p:cNvGrpSpPr/>
        <p:nvPr/>
      </p:nvGrpSpPr>
      <p:grpSpPr>
        <a:xfrm>
          <a:off x="0" y="0"/>
          <a:ext cx="0" cy="0"/>
          <a:chOff x="0" y="0"/>
          <a:chExt cx="0" cy="0"/>
        </a:xfrm>
      </p:grpSpPr>
      <p:sp>
        <p:nvSpPr>
          <p:cNvPr id="840" name="Google Shape;840;p113"/>
          <p:cNvSpPr txBox="1">
            <a:spLocks noGrp="1"/>
          </p:cNvSpPr>
          <p:nvPr>
            <p:ph type="title"/>
          </p:nvPr>
        </p:nvSpPr>
        <p:spPr>
          <a:xfrm>
            <a:off x="142750" y="45216"/>
            <a:ext cx="9107100" cy="1225200"/>
          </a:xfrm>
          <a:prstGeom prst="rect">
            <a:avLst/>
          </a:prstGeom>
          <a:noFill/>
          <a:ln>
            <a:noFill/>
          </a:ln>
        </p:spPr>
        <p:txBody>
          <a:bodyPr spcFirstLastPara="1" vert="horz" wrap="square" lIns="92075" tIns="46025" rIns="92075" bIns="46025" numCol="1" anchor="ctr" anchorCtr="0" compatLnSpc="1">
            <a:prstTxWarp prst="textNoShape">
              <a:avLst/>
            </a:prstTxWarp>
            <a:noAutofit/>
          </a:bodyPr>
          <a:lstStyle/>
          <a:p>
            <a:pPr algn="l">
              <a:spcBef>
                <a:spcPts val="0"/>
              </a:spcBef>
              <a:spcAft>
                <a:spcPts val="0"/>
              </a:spcAft>
              <a:buClr>
                <a:schemeClr val="lt2"/>
              </a:buClr>
              <a:buSzPts val="4400"/>
            </a:pPr>
            <a:r>
              <a:rPr lang="en-US" sz="3200" dirty="0"/>
              <a:t>Insertion </a:t>
            </a:r>
            <a:r>
              <a:rPr lang="en-US" sz="3200" dirty="0">
                <a:solidFill>
                  <a:schemeClr val="lt2"/>
                </a:solidFill>
                <a:latin typeface="Times New Roman"/>
                <a:ea typeface="Times New Roman"/>
                <a:cs typeface="Times New Roman"/>
                <a:sym typeface="Times New Roman"/>
              </a:rPr>
              <a:t>Sort </a:t>
            </a:r>
            <a:r>
              <a:rPr lang="en-US" sz="3200" dirty="0"/>
              <a:t>is distinguished by how the elements “</a:t>
            </a:r>
            <a:r>
              <a:rPr lang="en-US" sz="3200" dirty="0">
                <a:solidFill>
                  <a:srgbClr val="6AA84F"/>
                </a:solidFill>
              </a:rPr>
              <a:t>slide</a:t>
            </a:r>
            <a:r>
              <a:rPr lang="en-US" sz="3200" dirty="0"/>
              <a:t>” to make room for the insertion</a:t>
            </a:r>
            <a:endParaRPr sz="3200" dirty="0"/>
          </a:p>
        </p:txBody>
      </p:sp>
      <p:pic>
        <p:nvPicPr>
          <p:cNvPr id="838" name="Google Shape;838;p11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42750" y="1180920"/>
            <a:ext cx="8772650" cy="5677080"/>
          </a:xfrm>
          <a:prstGeom prst="rect">
            <a:avLst/>
          </a:prstGeom>
          <a:noFill/>
          <a:ln>
            <a:noFill/>
          </a:ln>
        </p:spPr>
      </p:pic>
      <p:sp>
        <p:nvSpPr>
          <p:cNvPr id="839" name="Google Shape;839;p113">
            <a:extLst>
              <a:ext uri="{C183D7F6-B498-43B3-948B-1728B52AA6E4}">
                <adec:decorative xmlns:adec="http://schemas.microsoft.com/office/drawing/2017/decorative" val="1"/>
              </a:ext>
            </a:extLst>
          </p:cNvPr>
          <p:cNvSpPr txBox="1"/>
          <p:nvPr/>
        </p:nvSpPr>
        <p:spPr>
          <a:xfrm>
            <a:off x="28731" y="6391988"/>
            <a:ext cx="2045526" cy="342900"/>
          </a:xfrm>
          <a:prstGeom prst="rect">
            <a:avLst/>
          </a:prstGeom>
          <a:noFill/>
          <a:ln>
            <a:noFill/>
          </a:ln>
        </p:spPr>
        <p:txBody>
          <a:bodyPr spcFirstLastPara="1" wrap="square" lIns="91425" tIns="91425" rIns="91425" bIns="91425" anchor="t" anchorCtr="0">
            <a:noAutofit/>
          </a:bodyPr>
          <a:lstStyle/>
          <a:p>
            <a:pPr>
              <a:spcBef>
                <a:spcPts val="0"/>
              </a:spcBef>
              <a:spcAft>
                <a:spcPts val="0"/>
              </a:spcAft>
            </a:pPr>
            <a:r>
              <a:rPr lang="en-US" sz="1200" u="sng">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sz="12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7C64E82-A9EC-42EE-A14A-B3EC453AAD36}"/>
              </a:ext>
            </a:extLst>
          </p:cNvPr>
          <p:cNvSpPr txBox="1">
            <a:spLocks noGrp="1" noChangeArrowheads="1"/>
          </p:cNvSpPr>
          <p:nvPr>
            <p:ph type="title" idx="4294967295"/>
          </p:nvPr>
        </p:nvSpPr>
        <p:spPr bwMode="auto">
          <a:xfrm>
            <a:off x="1173163" y="457200"/>
            <a:ext cx="7772400" cy="1143000"/>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dirty="0">
                <a:ln>
                  <a:noFill/>
                </a:ln>
                <a:solidFill>
                  <a:srgbClr val="003366"/>
                </a:solidFill>
                <a:effectLst/>
                <a:uLnTx/>
                <a:uFillTx/>
                <a:latin typeface="Arial"/>
                <a:ea typeface="+mj-ea"/>
                <a:cs typeface="+mj-cs"/>
              </a:rPr>
              <a:t>Insertion Sort (cont’d)</a:t>
            </a:r>
          </a:p>
        </p:txBody>
      </p:sp>
      <p:sp>
        <p:nvSpPr>
          <p:cNvPr id="5" name="Rectangle 3">
            <a:extLst>
              <a:ext uri="{FF2B5EF4-FFF2-40B4-BE49-F238E27FC236}">
                <a16:creationId xmlns:a16="http://schemas.microsoft.com/office/drawing/2014/main" id="{665E2D22-8061-4684-B544-DF53414B130E}"/>
              </a:ext>
            </a:extLst>
          </p:cNvPr>
          <p:cNvSpPr txBox="1">
            <a:spLocks noChangeArrowheads="1"/>
          </p:cNvSpPr>
          <p:nvPr/>
        </p:nvSpPr>
        <p:spPr bwMode="auto">
          <a:xfrm>
            <a:off x="1173163" y="1600200"/>
            <a:ext cx="7589837"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Finding the right place takes anywhere from 1 to </a:t>
            </a:r>
            <a:r>
              <a:rPr kumimoji="1" lang="en-US" sz="2800" b="0" i="1" u="none" strike="noStrike" kern="0" cap="none" spc="0" normalizeH="0" baseline="0" noProof="0">
                <a:ln>
                  <a:noFill/>
                </a:ln>
                <a:solidFill>
                  <a:srgbClr val="000000"/>
                </a:solidFill>
                <a:effectLst/>
                <a:uLnTx/>
                <a:uFillTx/>
                <a:latin typeface="Arial"/>
                <a:ea typeface="+mn-ea"/>
                <a:cs typeface="+mn-cs"/>
              </a:rPr>
              <a:t>k</a:t>
            </a:r>
            <a:r>
              <a:rPr kumimoji="1" lang="en-US" sz="2800" b="0" i="0" u="none" strike="noStrike" kern="0" cap="none" spc="0" normalizeH="0" baseline="0" noProof="0">
                <a:ln>
                  <a:noFill/>
                </a:ln>
                <a:solidFill>
                  <a:srgbClr val="000000"/>
                </a:solidFill>
                <a:effectLst/>
                <a:uLnTx/>
                <a:uFillTx/>
                <a:latin typeface="Arial"/>
                <a:ea typeface="+mn-ea"/>
                <a:cs typeface="+mn-cs"/>
              </a:rPr>
              <a:t> comparisons.</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average number of comparisons is </a:t>
            </a:r>
          </a:p>
          <a:p>
            <a:pPr marL="342900" marR="0" lvl="0" indent="-342900" algn="ctr" defTabSz="914400" rtl="0" eaLnBrk="0" fontAlgn="base" latinLnBrk="0" hangingPunct="0">
              <a:lnSpc>
                <a:spcPct val="100000"/>
              </a:lnSpc>
              <a:spcBef>
                <a:spcPct val="20000"/>
              </a:spcBef>
              <a:spcAft>
                <a:spcPct val="0"/>
              </a:spcAft>
              <a:buClr>
                <a:srgbClr val="99CCFF"/>
              </a:buClr>
              <a:buSzPct val="60000"/>
              <a:buFont typeface="Monotype Sorts"/>
              <a:buNone/>
              <a:tabLst/>
              <a:defRPr/>
            </a:pPr>
            <a:r>
              <a:rPr kumimoji="1" lang="en-US" sz="2800" b="0" i="0" u="none" strike="noStrike" kern="0" cap="none" spc="0" normalizeH="0" baseline="0" noProof="0">
                <a:ln>
                  <a:noFill/>
                </a:ln>
                <a:solidFill>
                  <a:srgbClr val="000000"/>
                </a:solidFill>
                <a:effectLst/>
                <a:uLnTx/>
                <a:uFillTx/>
                <a:latin typeface="Arial"/>
                <a:ea typeface="+mn-ea"/>
                <a:cs typeface="+mn-cs"/>
              </a:rPr>
              <a:t>2/2 + 3/2 + 4/2 + ... + </a:t>
            </a:r>
            <a:r>
              <a:rPr kumimoji="1" lang="en-US" sz="2800" b="0" i="1" u="none" strike="noStrike" kern="0" cap="none" spc="0" normalizeH="0" baseline="0" noProof="0">
                <a:ln>
                  <a:noFill/>
                </a:ln>
                <a:solidFill>
                  <a:srgbClr val="000000"/>
                </a:solidFill>
                <a:effectLst/>
                <a:uLnTx/>
                <a:uFillTx/>
                <a:latin typeface="Arial"/>
                <a:ea typeface="+mn-ea"/>
                <a:cs typeface="+mn-cs"/>
              </a:rPr>
              <a:t>n</a:t>
            </a:r>
            <a:r>
              <a:rPr kumimoji="1" lang="en-US" sz="2800" b="0" i="0" u="none" strike="noStrike" kern="0" cap="none" spc="0" normalizeH="0" baseline="0" noProof="0">
                <a:ln>
                  <a:noFill/>
                </a:ln>
                <a:solidFill>
                  <a:srgbClr val="000000"/>
                </a:solidFill>
                <a:effectLst/>
                <a:uLnTx/>
                <a:uFillTx/>
                <a:latin typeface="Arial"/>
                <a:ea typeface="+mn-ea"/>
                <a:cs typeface="+mn-cs"/>
              </a:rPr>
              <a:t>/2 = </a:t>
            </a:r>
            <a:r>
              <a:rPr kumimoji="1" lang="en-US" sz="2800" b="0" i="0" u="none" strike="noStrike" kern="0" cap="none" spc="0" normalizeH="0" baseline="0" noProof="0">
                <a:ln>
                  <a:noFill/>
                </a:ln>
                <a:solidFill>
                  <a:srgbClr val="FF3300"/>
                </a:solidFill>
                <a:effectLst/>
                <a:uLnTx/>
                <a:uFillTx/>
                <a:latin typeface="Arial"/>
                <a:ea typeface="+mn-ea"/>
                <a:cs typeface="+mn-cs"/>
              </a:rPr>
              <a:t>(</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0" i="0" u="none" strike="noStrike" kern="0" cap="none" spc="0" normalizeH="0" baseline="0" noProof="0">
                <a:ln>
                  <a:noFill/>
                </a:ln>
                <a:solidFill>
                  <a:srgbClr val="FF3300"/>
                </a:solidFill>
                <a:effectLst/>
                <a:uLnTx/>
                <a:uFillTx/>
                <a:latin typeface="Arial"/>
                <a:ea typeface="+mn-ea"/>
                <a:cs typeface="+mn-cs"/>
              </a:rPr>
              <a:t>+2)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 / 4</a:t>
            </a:r>
          </a:p>
          <a:p>
            <a:pPr marL="342900" marR="0" lvl="0" indent="-342900" algn="l" defTabSz="914400" rtl="0" eaLnBrk="0" fontAlgn="base" latinLnBrk="0" hangingPunct="0">
              <a:lnSpc>
                <a:spcPct val="100000"/>
              </a:lnSpc>
              <a:spcBef>
                <a:spcPct val="20000"/>
              </a:spcBef>
              <a:spcAft>
                <a:spcPct val="0"/>
              </a:spcAft>
              <a:buClr>
                <a:srgbClr val="99CCFF"/>
              </a:buClr>
              <a:buSzPct val="60000"/>
              <a:buFont typeface="Monotype Sorts"/>
              <a:buNone/>
              <a:tabLst/>
              <a:defRPr/>
            </a:pPr>
            <a:r>
              <a:rPr kumimoji="1" lang="en-US" sz="2800" b="0" i="0" u="none" strike="noStrike" kern="0" cap="none" spc="0" normalizeH="0" baseline="0" noProof="0">
                <a:ln>
                  <a:noFill/>
                </a:ln>
                <a:solidFill>
                  <a:srgbClr val="000000"/>
                </a:solidFill>
                <a:effectLst/>
                <a:uLnTx/>
                <a:uFillTx/>
                <a:latin typeface="Arial"/>
                <a:ea typeface="+mn-ea"/>
                <a:cs typeface="+mn-cs"/>
              </a:rPr>
              <a:t>	— roughly half of Selection Sort.</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worst case is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0" i="0" u="none" strike="noStrike" kern="0" cap="none" spc="0" normalizeH="0" baseline="0" noProof="0">
                <a:ln>
                  <a:noFill/>
                </a:ln>
                <a:solidFill>
                  <a:srgbClr val="FF3300"/>
                </a:solidFill>
                <a:effectLst/>
                <a:uLnTx/>
                <a:uFillTx/>
                <a:latin typeface="Arial"/>
                <a:ea typeface="+mn-ea"/>
                <a:cs typeface="+mn-cs"/>
              </a:rPr>
              <a:t>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 / 2</a:t>
            </a:r>
            <a:r>
              <a:rPr kumimoji="1" lang="en-US" sz="2800" b="0" i="0" u="none" strike="noStrike" kern="0" cap="none" spc="0" normalizeH="0" baseline="0" noProof="0">
                <a:ln>
                  <a:noFill/>
                </a:ln>
                <a:solidFill>
                  <a:srgbClr val="000000"/>
                </a:solidFill>
                <a:effectLst/>
                <a:uLnTx/>
                <a:uFillTx/>
                <a:latin typeface="Arial"/>
                <a:ea typeface="+mn-ea"/>
                <a:cs typeface="+mn-cs"/>
              </a:rPr>
              <a:t> when the array is sorted in reverse order.</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best case is when the array is already sorted: takes only </a:t>
            </a:r>
            <a:r>
              <a:rPr kumimoji="1" lang="en-US" sz="2800" b="0" i="0" u="none" strike="noStrike" kern="0" cap="none" spc="0" normalizeH="0" baseline="0" noProof="0">
                <a:ln>
                  <a:noFill/>
                </a:ln>
                <a:solidFill>
                  <a:srgbClr val="FF3300"/>
                </a:solidFill>
                <a:effectLst/>
                <a:uLnTx/>
                <a:uFillTx/>
                <a:latin typeface="Arial"/>
                <a:ea typeface="+mn-ea"/>
                <a:cs typeface="+mn-cs"/>
              </a:rPr>
              <a:t>(</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a:t>
            </a:r>
            <a:r>
              <a:rPr kumimoji="1" lang="en-US" sz="2800" b="0" i="0" u="none" strike="noStrike" kern="0" cap="none" spc="0" normalizeH="0" baseline="0" noProof="0">
                <a:ln>
                  <a:noFill/>
                </a:ln>
                <a:solidFill>
                  <a:srgbClr val="000000"/>
                </a:solidFill>
                <a:effectLst/>
                <a:uLnTx/>
                <a:uFillTx/>
                <a:latin typeface="Arial"/>
                <a:ea typeface="+mn-ea"/>
                <a:cs typeface="+mn-cs"/>
              </a:rPr>
              <a:t> comparisons.</a:t>
            </a:r>
            <a:endParaRPr kumimoji="1" lang="en-US" sz="28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561862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WordArt 2">
            <a:extLst>
              <a:ext uri="{FF2B5EF4-FFF2-40B4-BE49-F238E27FC236}">
                <a16:creationId xmlns:a16="http://schemas.microsoft.com/office/drawing/2014/main" id="{D804C694-1662-45F1-80AA-52013AA65DDD}"/>
              </a:ext>
            </a:extLst>
          </p:cNvPr>
          <p:cNvSpPr>
            <a:spLocks noGrp="1" noChangeArrowheads="1" noChangeShapeType="1" noTextEdit="1"/>
          </p:cNvSpPr>
          <p:nvPr>
            <p:ph type="title" idx="4294967295"/>
          </p:nvPr>
        </p:nvSpPr>
        <p:spPr bwMode="auto">
          <a:xfrm>
            <a:off x="1143000" y="1295400"/>
            <a:ext cx="6934200" cy="36576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People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Sort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Demo</a:t>
            </a:r>
          </a:p>
        </p:txBody>
      </p:sp>
      <p:sp>
        <p:nvSpPr>
          <p:cNvPr id="46084" name="Text Box 3">
            <a:extLst>
              <a:ext uri="{FF2B5EF4-FFF2-40B4-BE49-F238E27FC236}">
                <a16:creationId xmlns:a16="http://schemas.microsoft.com/office/drawing/2014/main" id="{80BC289E-02BA-41B1-83A1-4B4715725E83}"/>
              </a:ext>
            </a:extLst>
          </p:cNvPr>
          <p:cNvSpPr txBox="1">
            <a:spLocks noChangeArrowheads="1"/>
          </p:cNvSpPr>
          <p:nvPr/>
        </p:nvSpPr>
        <p:spPr bwMode="auto">
          <a:xfrm>
            <a:off x="419544" y="5562600"/>
            <a:ext cx="8082662" cy="492443"/>
          </a:xfrm>
          <a:prstGeom prst="rect">
            <a:avLst/>
          </a:prstGeom>
          <a:noFill/>
          <a:ln w="9525">
            <a:solidFill>
              <a:srgbClr val="33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00" dirty="0">
                <a:solidFill>
                  <a:srgbClr val="FF6600"/>
                </a:solidFill>
                <a:latin typeface="Tahoma" panose="020B0604030504040204" pitchFamily="34" charset="0"/>
              </a:rPr>
              <a:t>Line up some students and insertion sort them.</a:t>
            </a:r>
          </a:p>
        </p:txBody>
      </p:sp>
      <p:sp>
        <p:nvSpPr>
          <p:cNvPr id="46082" name="Footer Placeholder 3">
            <a:extLst>
              <a:ext uri="{FF2B5EF4-FFF2-40B4-BE49-F238E27FC236}">
                <a16:creationId xmlns:a16="http://schemas.microsoft.com/office/drawing/2014/main" id="{1EC277BE-8AA3-4AFE-B263-399077AB9021}"/>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165;p19">
            <a:extLst>
              <a:ext uri="{FF2B5EF4-FFF2-40B4-BE49-F238E27FC236}">
                <a16:creationId xmlns:a16="http://schemas.microsoft.com/office/drawing/2014/main" id="{947E2F3C-2D85-08D4-D093-4082B097DAB4}"/>
              </a:ext>
            </a:extLst>
          </p:cNvPr>
          <p:cNvSpPr txBox="1">
            <a:spLocks noGrp="1"/>
          </p:cNvSpPr>
          <p:nvPr>
            <p:ph type="title" idx="4294967295"/>
          </p:nvPr>
        </p:nvSpPr>
        <p:spPr>
          <a:xfrm>
            <a:off x="838200" y="102476"/>
            <a:ext cx="7772400" cy="857400"/>
          </a:xfrm>
          <a:prstGeom prst="rect">
            <a:avLst/>
          </a:prstGeom>
          <a:noFill/>
          <a:ln>
            <a:noFill/>
            <a:prstDash/>
          </a:ln>
          <a:effectLst/>
        </p:spPr>
        <p:txBody>
          <a:bodyPr rot="0" spcFirstLastPara="1" vertOverflow="overflow" horzOverflow="overflow" vert="horz" wrap="square" lIns="92075" tIns="46025" rIns="92075" bIns="46025" numCol="1" spcCol="0" rtlCol="0" fromWordArt="0" anchor="ctr" anchorCtr="0" forceAA="0" compatLnSpc="1">
            <a:prstTxWarp prst="textNoShape">
              <a:avLst/>
            </a:prstTxWarp>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0" marR="0" lvl="0" indent="0" algn="l" defTabSz="914400" rtl="0" eaLnBrk="0" fontAlgn="base" latinLnBrk="0" hangingPunct="0">
              <a:lnSpc>
                <a:spcPct val="100000"/>
              </a:lnSpc>
              <a:spcBef>
                <a:spcPts val="0"/>
              </a:spcBef>
              <a:spcAft>
                <a:spcPts val="0"/>
              </a:spcAft>
              <a:buClr>
                <a:schemeClr val="lt2"/>
              </a:buClr>
              <a:buSzPts val="3600"/>
              <a:buFont typeface="Times New Roman"/>
              <a:buNone/>
              <a:tabLst/>
              <a:defRPr/>
            </a:pPr>
            <a:r>
              <a:rPr kumimoji="0" lang="en-US" sz="4400" b="1" i="0" u="none" strike="noStrike" kern="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sym typeface="Times New Roman"/>
              </a:rPr>
              <a:t>O(n</a:t>
            </a:r>
            <a:r>
              <a:rPr kumimoji="0" lang="en-US" sz="4400" b="1" i="0" u="none" strike="noStrike" kern="0" cap="none" spc="0" normalizeH="0" baseline="3000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sym typeface="Times New Roman"/>
              </a:rPr>
              <a:t>2</a:t>
            </a:r>
            <a:r>
              <a:rPr kumimoji="0" lang="en-US" sz="4400" b="1" i="0" u="none" strike="noStrike" kern="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sym typeface="Times New Roman"/>
              </a:rPr>
              <a:t>) Sorting Algorithms</a:t>
            </a:r>
            <a:endParaRPr kumimoji="0" lang="en-US" sz="5400" b="1" i="0" u="none" strike="noStrike" kern="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1" name="Google Shape;166;p19">
            <a:extLst>
              <a:ext uri="{FF2B5EF4-FFF2-40B4-BE49-F238E27FC236}">
                <a16:creationId xmlns:a16="http://schemas.microsoft.com/office/drawing/2014/main" id="{6C873CBE-A060-D800-F9A8-1985EA730C1C}"/>
              </a:ext>
            </a:extLst>
          </p:cNvPr>
          <p:cNvSpPr txBox="1">
            <a:spLocks/>
          </p:cNvSpPr>
          <p:nvPr/>
        </p:nvSpPr>
        <p:spPr>
          <a:xfrm>
            <a:off x="0" y="1479030"/>
            <a:ext cx="9143999" cy="5276494"/>
          </a:xfrm>
          <a:prstGeom prst="rect">
            <a:avLst/>
          </a:prstGeom>
          <a:noFill/>
          <a:ln>
            <a:noFill/>
          </a:ln>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spcBef>
                <a:spcPts val="0"/>
              </a:spcBef>
              <a:spcAft>
                <a:spcPts val="0"/>
              </a:spcAft>
              <a:buClr>
                <a:schemeClr val="lt2"/>
              </a:buClr>
              <a:buSzPts val="2700"/>
              <a:buFont typeface="Noto Sans Symbols"/>
              <a:buChar char="■"/>
            </a:pPr>
            <a:r>
              <a:rPr lang="en-US" sz="3600" b="0" kern="0" dirty="0">
                <a:latin typeface="Arial"/>
                <a:ea typeface="Arial"/>
                <a:cs typeface="Arial"/>
                <a:sym typeface="Arial"/>
              </a:rPr>
              <a:t>Characterized by nested loops</a:t>
            </a:r>
            <a:endParaRPr lang="en-US" b="0" kern="0" dirty="0"/>
          </a:p>
          <a:p>
            <a:pPr lvl="1">
              <a:spcBef>
                <a:spcPts val="0"/>
              </a:spcBef>
              <a:spcAft>
                <a:spcPts val="0"/>
              </a:spcAft>
              <a:buClr>
                <a:schemeClr val="folHlink"/>
              </a:buClr>
              <a:buSzPts val="2400"/>
              <a:buFont typeface="Noto Sans Symbols"/>
              <a:buChar char="◆"/>
            </a:pPr>
            <a:r>
              <a:rPr lang="en-US" sz="4000" b="0" kern="0" dirty="0">
                <a:latin typeface="Arial"/>
                <a:ea typeface="Arial"/>
                <a:cs typeface="Arial"/>
                <a:sym typeface="Arial"/>
              </a:rPr>
              <a:t>Bubble Sort</a:t>
            </a:r>
            <a:endParaRPr lang="en-US" b="0" kern="0" dirty="0"/>
          </a:p>
          <a:p>
            <a:pPr lvl="1">
              <a:spcBef>
                <a:spcPts val="0"/>
              </a:spcBef>
              <a:spcAft>
                <a:spcPts val="0"/>
              </a:spcAft>
              <a:buClr>
                <a:schemeClr val="folHlink"/>
              </a:buClr>
              <a:buSzPts val="2400"/>
              <a:buFont typeface="Noto Sans Symbols"/>
              <a:buChar char="◆"/>
            </a:pPr>
            <a:r>
              <a:rPr lang="en-US" sz="4000" b="0" kern="0" dirty="0">
                <a:latin typeface="Arial"/>
                <a:ea typeface="Arial"/>
                <a:cs typeface="Arial"/>
                <a:sym typeface="Arial"/>
              </a:rPr>
              <a:t>Selection Sort</a:t>
            </a:r>
            <a:endParaRPr lang="en-US" b="0" kern="0" dirty="0"/>
          </a:p>
          <a:p>
            <a:pPr lvl="1">
              <a:spcBef>
                <a:spcPts val="0"/>
              </a:spcBef>
              <a:spcAft>
                <a:spcPts val="0"/>
              </a:spcAft>
              <a:buClr>
                <a:schemeClr val="folHlink"/>
              </a:buClr>
              <a:buSzPts val="2400"/>
              <a:buFont typeface="Noto Sans Symbols"/>
              <a:buChar char="◆"/>
            </a:pPr>
            <a:r>
              <a:rPr lang="en-US" sz="4000" b="0" kern="0" dirty="0">
                <a:latin typeface="Arial"/>
                <a:ea typeface="Arial"/>
                <a:cs typeface="Arial"/>
                <a:sym typeface="Arial"/>
              </a:rPr>
              <a:t>Insertion Sort</a:t>
            </a:r>
            <a:br>
              <a:rPr lang="en-US" sz="4000" b="0" kern="0" dirty="0">
                <a:latin typeface="Arial"/>
                <a:ea typeface="Arial"/>
                <a:cs typeface="Arial"/>
                <a:sym typeface="Arial"/>
              </a:rPr>
            </a:br>
            <a:endParaRPr lang="en-US" b="0" kern="0" dirty="0"/>
          </a:p>
          <a:p>
            <a:pPr>
              <a:spcBef>
                <a:spcPts val="0"/>
              </a:spcBef>
              <a:spcAft>
                <a:spcPts val="0"/>
              </a:spcAft>
              <a:buClr>
                <a:schemeClr val="lt2"/>
              </a:buClr>
              <a:buSzPts val="3000"/>
              <a:buFont typeface="Noto Sans Symbols"/>
              <a:buChar char="■"/>
            </a:pPr>
            <a:r>
              <a:rPr lang="en-US" sz="4000" b="0" kern="0" dirty="0">
                <a:latin typeface="Arial"/>
                <a:ea typeface="Arial"/>
                <a:cs typeface="Arial"/>
                <a:sym typeface="Arial"/>
              </a:rPr>
              <a:t> 2 x the data </a:t>
            </a:r>
            <a:r>
              <a:rPr lang="en-US" sz="4000" b="0" kern="0" dirty="0">
                <a:latin typeface="Arial"/>
                <a:ea typeface="Arial"/>
                <a:cs typeface="Arial"/>
                <a:sym typeface="Symbol" panose="05050102010706020507" pitchFamily="18" charset="2"/>
              </a:rPr>
              <a:t></a:t>
            </a:r>
            <a:r>
              <a:rPr lang="en-US" sz="4000" b="0" kern="0" dirty="0">
                <a:latin typeface="Arial"/>
                <a:ea typeface="Arial"/>
                <a:cs typeface="Arial"/>
                <a:sym typeface="Arial"/>
              </a:rPr>
              <a:t> 4 x the time to sort</a:t>
            </a:r>
            <a:br>
              <a:rPr lang="en-US" sz="4000" b="0" kern="0" dirty="0">
                <a:latin typeface="Arial"/>
                <a:ea typeface="Arial"/>
                <a:cs typeface="Arial"/>
                <a:sym typeface="Arial"/>
              </a:rPr>
            </a:br>
            <a:endParaRPr lang="en-US" sz="4000" b="0" kern="0" dirty="0">
              <a:latin typeface="Arial"/>
              <a:ea typeface="Arial"/>
              <a:cs typeface="Arial"/>
              <a:sym typeface="Arial"/>
            </a:endParaRPr>
          </a:p>
          <a:p>
            <a:pPr>
              <a:spcBef>
                <a:spcPts val="0"/>
              </a:spcBef>
              <a:spcAft>
                <a:spcPts val="0"/>
              </a:spcAft>
              <a:buClr>
                <a:schemeClr val="lt2"/>
              </a:buClr>
              <a:buSzPts val="3000"/>
              <a:buFont typeface="Noto Sans Symbols"/>
              <a:buChar char="■"/>
            </a:pPr>
            <a:r>
              <a:rPr lang="en-US" sz="4000" b="0" kern="0" dirty="0">
                <a:latin typeface="Arial"/>
                <a:ea typeface="Arial"/>
                <a:cs typeface="Arial"/>
                <a:sym typeface="Arial"/>
              </a:rPr>
              <a:t>10 x the data </a:t>
            </a:r>
            <a:r>
              <a:rPr lang="en-US" sz="4000" b="0" kern="0" dirty="0">
                <a:latin typeface="Arial"/>
                <a:ea typeface="Arial"/>
                <a:cs typeface="Arial"/>
                <a:sym typeface="Symbol" panose="05050102010706020507" pitchFamily="18" charset="2"/>
              </a:rPr>
              <a:t> </a:t>
            </a:r>
            <a:r>
              <a:rPr lang="en-US" sz="4000" b="0" kern="0" dirty="0">
                <a:latin typeface="Arial"/>
                <a:ea typeface="Arial"/>
                <a:cs typeface="Arial"/>
                <a:sym typeface="Arial"/>
              </a:rPr>
              <a:t>100 x the time to sort</a:t>
            </a:r>
            <a:endParaRPr lang="en-US" sz="3600" b="0" kern="0" dirty="0"/>
          </a:p>
          <a:p>
            <a:pPr indent="-152400">
              <a:spcBef>
                <a:spcPts val="800"/>
              </a:spcBef>
              <a:spcAft>
                <a:spcPts val="0"/>
              </a:spcAft>
              <a:buSzPts val="3000"/>
              <a:buFontTx/>
              <a:buNone/>
            </a:pPr>
            <a:endParaRPr lang="en-US" sz="4000" b="0" kern="0" dirty="0">
              <a:latin typeface="Arial"/>
              <a:ea typeface="Arial"/>
              <a:cs typeface="Arial"/>
              <a:sym typeface="Arial"/>
            </a:endParaRPr>
          </a:p>
        </p:txBody>
      </p:sp>
    </p:spTree>
    <p:extLst>
      <p:ext uri="{BB962C8B-B14F-4D97-AF65-F5344CB8AC3E}">
        <p14:creationId xmlns:p14="http://schemas.microsoft.com/office/powerpoint/2010/main" val="1719877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7B26-D8E4-13BE-1123-753B20951268}"/>
              </a:ext>
            </a:extLst>
          </p:cNvPr>
          <p:cNvSpPr>
            <a:spLocks noGrp="1"/>
          </p:cNvSpPr>
          <p:nvPr>
            <p:ph type="title" idx="4294967295"/>
          </p:nvPr>
        </p:nvSpPr>
        <p:spPr>
          <a:xfrm>
            <a:off x="760412" y="-1600200"/>
            <a:ext cx="7772400" cy="1143000"/>
          </a:xfrm>
        </p:spPr>
        <p:txBody>
          <a:bodyPr/>
          <a:lstStyle/>
          <a:p>
            <a:r>
              <a:rPr lang="en-US" dirty="0"/>
              <a:t>Big O Chart</a:t>
            </a:r>
          </a:p>
        </p:txBody>
      </p:sp>
      <p:pic>
        <p:nvPicPr>
          <p:cNvPr id="48130" name="Picture 2" descr="A graph showing the growth of various types of algorithms. They are listed here in order of best to worst run-time:&#10;1, log n, n, n log n, n^2, 2^n, n!, n^n">
            <a:extLst>
              <a:ext uri="{FF2B5EF4-FFF2-40B4-BE49-F238E27FC236}">
                <a16:creationId xmlns:a16="http://schemas.microsoft.com/office/drawing/2014/main" id="{36A2F441-712E-4E2B-8D60-164D8C0D02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0"/>
            <a:ext cx="73310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9.0&quot;&gt;&lt;object type=&quot;1&quot; unique_id=&quot;10001&quot;&gt;&lt;object type=&quot;2&quot; unique_id=&quot;10531&quot;&gt;&lt;object type=&quot;3&quot; unique_id=&quot;10532&quot;&gt;&lt;property id=&quot;20148&quot; value=&quot;5&quot;/&gt;&lt;property id=&quot;20300&quot; value=&quot;Slide 1&quot;/&gt;&lt;property id=&quot;20307&quot; value=&quot;256&quot;/&gt;&lt;/object&gt;&lt;object type=&quot;3&quot; unique_id=&quot;10533&quot;&gt;&lt;property id=&quot;20148&quot; value=&quot;5&quot;/&gt;&lt;property id=&quot;20300&quot; value=&quot;Slide 2&quot;/&gt;&lt;property id=&quot;20307&quot; value=&quot;412&quot;/&gt;&lt;/object&gt;&lt;object type=&quot;3&quot; unique_id=&quot;10534&quot;&gt;&lt;property id=&quot;20148&quot; value=&quot;5&quot;/&gt;&lt;property id=&quot;20300&quot; value=&quot;Slide 3&quot;/&gt;&lt;property id=&quot;20307&quot; value=&quot;348&quot;/&gt;&lt;/object&gt;&lt;object type=&quot;3&quot; unique_id=&quot;10535&quot;&gt;&lt;property id=&quot;20148&quot; value=&quot;5&quot;/&gt;&lt;property id=&quot;20300&quot; value=&quot;Slide 4&quot;/&gt;&lt;property id=&quot;20307&quot; value=&quot;267&quot;/&gt;&lt;/object&gt;&lt;object type=&quot;3&quot; unique_id=&quot;10536&quot;&gt;&lt;property id=&quot;20148&quot; value=&quot;5&quot;/&gt;&lt;property id=&quot;20300&quot; value=&quot;Slide 5&quot;/&gt;&lt;property id=&quot;20307&quot; value=&quot;257&quot;/&gt;&lt;/object&gt;&lt;object type=&quot;3&quot; unique_id=&quot;10537&quot;&gt;&lt;property id=&quot;20148&quot; value=&quot;5&quot;/&gt;&lt;property id=&quot;20300&quot; value=&quot;Slide 6&quot;/&gt;&lt;property id=&quot;20307&quot; value=&quot;373&quot;/&gt;&lt;/object&gt;&lt;object type=&quot;3&quot; unique_id=&quot;10538&quot;&gt;&lt;property id=&quot;20148&quot; value=&quot;5&quot;/&gt;&lt;property id=&quot;20300&quot; value=&quot;Slide 7&quot;/&gt;&lt;property id=&quot;20307&quot; value=&quot;269&quot;/&gt;&lt;/object&gt;&lt;object type=&quot;3&quot; unique_id=&quot;10539&quot;&gt;&lt;property id=&quot;20148&quot; value=&quot;5&quot;/&gt;&lt;property id=&quot;20300&quot; value=&quot;Slide 8&quot;/&gt;&lt;property id=&quot;20307&quot; value=&quot;261&quot;/&gt;&lt;/object&gt;&lt;object type=&quot;3&quot; unique_id=&quot;10540&quot;&gt;&lt;property id=&quot;20148&quot; value=&quot;5&quot;/&gt;&lt;property id=&quot;20300&quot; value=&quot;Slide 9&quot;/&gt;&lt;property id=&quot;20307&quot; value=&quot;406&quot;/&gt;&lt;/object&gt;&lt;object type=&quot;3&quot; unique_id=&quot;10541&quot;&gt;&lt;property id=&quot;20148&quot; value=&quot;5&quot;/&gt;&lt;property id=&quot;20300&quot; value=&quot;Slide 10&quot;/&gt;&lt;property id=&quot;20307&quot; value=&quot;407&quot;/&gt;&lt;/object&gt;&lt;object type=&quot;3&quot; unique_id=&quot;10542&quot;&gt;&lt;property id=&quot;20148&quot; value=&quot;5&quot;/&gt;&lt;property id=&quot;20300&quot; value=&quot;Slide 11&quot;/&gt;&lt;property id=&quot;20307&quot; value=&quot;396&quot;/&gt;&lt;/object&gt;&lt;object type=&quot;3&quot; unique_id=&quot;10543&quot;&gt;&lt;property id=&quot;20148&quot; value=&quot;5&quot;/&gt;&lt;property id=&quot;20300&quot; value=&quot;Slide 12&quot;/&gt;&lt;property id=&quot;20307&quot; value=&quot;401&quot;/&gt;&lt;/object&gt;&lt;object type=&quot;3&quot; unique_id=&quot;10544&quot;&gt;&lt;property id=&quot;20148&quot; value=&quot;5&quot;/&gt;&lt;property id=&quot;20300&quot; value=&quot;Slide 13&quot;/&gt;&lt;property id=&quot;20307&quot; value=&quot;403&quot;/&gt;&lt;/object&gt;&lt;object type=&quot;3&quot; unique_id=&quot;10545&quot;&gt;&lt;property id=&quot;20148&quot; value=&quot;5&quot;/&gt;&lt;property id=&quot;20300&quot; value=&quot;Slide 15&quot;/&gt;&lt;property id=&quot;20307&quot; value=&quot;270&quot;/&gt;&lt;/object&gt;&lt;object type=&quot;3&quot; unique_id=&quot;10546&quot;&gt;&lt;property id=&quot;20148&quot; value=&quot;5&quot;/&gt;&lt;property id=&quot;20300&quot; value=&quot;Slide 16&quot;/&gt;&lt;property id=&quot;20307&quot; value=&quot;263&quot;/&gt;&lt;/object&gt;&lt;object type=&quot;3&quot; unique_id=&quot;10547&quot;&gt;&lt;property id=&quot;20148&quot; value=&quot;5&quot;/&gt;&lt;property id=&quot;20300&quot; value=&quot;Slide 17&quot;/&gt;&lt;property id=&quot;20307&quot; value=&quot;400&quot;/&gt;&lt;/object&gt;&lt;object type=&quot;3&quot; unique_id=&quot;10548&quot;&gt;&lt;property id=&quot;20148&quot; value=&quot;5&quot;/&gt;&lt;property id=&quot;20300&quot; value=&quot;Slide 20&quot;/&gt;&lt;property id=&quot;20307&quot; value=&quot;398&quot;/&gt;&lt;/object&gt;&lt;object type=&quot;3&quot; unique_id=&quot;10549&quot;&gt;&lt;property id=&quot;20148&quot; value=&quot;5&quot;/&gt;&lt;property id=&quot;20300&quot; value=&quot;Slide 19&quot;/&gt;&lt;property id=&quot;20307&quot; value=&quot;411&quot;/&gt;&lt;/object&gt;&lt;object type=&quot;3&quot; unique_id=&quot;10550&quot;&gt;&lt;property id=&quot;20148&quot; value=&quot;5&quot;/&gt;&lt;property id=&quot;20300&quot; value=&quot;Slide 22&quot;/&gt;&lt;property id=&quot;20307&quot; value=&quot;404&quot;/&gt;&lt;/object&gt;&lt;object type=&quot;3&quot; unique_id=&quot;10551&quot;&gt;&lt;property id=&quot;20148&quot; value=&quot;5&quot;/&gt;&lt;property id=&quot;20300&quot; value=&quot;Slide 23&quot;/&gt;&lt;property id=&quot;20307&quot; value=&quot;351&quot;/&gt;&lt;/object&gt;&lt;object type=&quot;3&quot; unique_id=&quot;10552&quot;&gt;&lt;property id=&quot;20148&quot; value=&quot;5&quot;/&gt;&lt;property id=&quot;20300&quot; value=&quot;Slide 24&quot;/&gt;&lt;property id=&quot;20307&quot; value=&quot;352&quot;/&gt;&lt;/object&gt;&lt;object type=&quot;3&quot; unique_id=&quot;10553&quot;&gt;&lt;property id=&quot;20148&quot; value=&quot;5&quot;/&gt;&lt;property id=&quot;20300&quot; value=&quot;Slide 25&quot;/&gt;&lt;property id=&quot;20307&quot; value=&quot;353&quot;/&gt;&lt;/object&gt;&lt;object type=&quot;3&quot; unique_id=&quot;10554&quot;&gt;&lt;property id=&quot;20148&quot; value=&quot;5&quot;/&gt;&lt;property id=&quot;20300&quot; value=&quot;Slide 26&quot;/&gt;&lt;property id=&quot;20307&quot; value=&quot;354&quot;/&gt;&lt;/object&gt;&lt;object type=&quot;3&quot; unique_id=&quot;10555&quot;&gt;&lt;property id=&quot;20148&quot; value=&quot;5&quot;/&gt;&lt;property id=&quot;20300&quot; value=&quot;Slide 27&quot;/&gt;&lt;property id=&quot;20307&quot; value=&quot;356&quot;/&gt;&lt;/object&gt;&lt;object type=&quot;3&quot; unique_id=&quot;10556&quot;&gt;&lt;property id=&quot;20148&quot; value=&quot;5&quot;/&gt;&lt;property id=&quot;20300&quot; value=&quot;Slide 28&quot;/&gt;&lt;property id=&quot;20307&quot; value=&quot;357&quot;/&gt;&lt;/object&gt;&lt;object type=&quot;3&quot; unique_id=&quot;10557&quot;&gt;&lt;property id=&quot;20148&quot; value=&quot;5&quot;/&gt;&lt;property id=&quot;20300&quot; value=&quot;Slide 30&quot;/&gt;&lt;property id=&quot;20307&quot; value=&quot;358&quot;/&gt;&lt;/object&gt;&lt;object type=&quot;3&quot; unique_id=&quot;10558&quot;&gt;&lt;property id=&quot;20148&quot; value=&quot;5&quot;/&gt;&lt;property id=&quot;20300&quot; value=&quot;Slide 31&quot;/&gt;&lt;property id=&quot;20307&quot; value=&quot;392&quot;/&gt;&lt;/object&gt;&lt;object type=&quot;3&quot; unique_id=&quot;10559&quot;&gt;&lt;property id=&quot;20148&quot; value=&quot;5&quot;/&gt;&lt;property id=&quot;20300&quot; value=&quot;Slide 32&quot;/&gt;&lt;property id=&quot;20307&quot; value=&quot;378&quot;/&gt;&lt;/object&gt;&lt;object type=&quot;3&quot; unique_id=&quot;10560&quot;&gt;&lt;property id=&quot;20148&quot; value=&quot;5&quot;/&gt;&lt;property id=&quot;20300&quot; value=&quot;Slide 33&quot;/&gt;&lt;property id=&quot;20307&quot; value=&quot;361&quot;/&gt;&lt;/object&gt;&lt;object type=&quot;3&quot; unique_id=&quot;10561&quot;&gt;&lt;property id=&quot;20148&quot; value=&quot;5&quot;/&gt;&lt;property id=&quot;20300&quot; value=&quot;Slide 34&quot;/&gt;&lt;property id=&quot;20307&quot; value=&quot;362&quot;/&gt;&lt;/object&gt;&lt;object type=&quot;3&quot; unique_id=&quot;10562&quot;&gt;&lt;property id=&quot;20148&quot; value=&quot;5&quot;/&gt;&lt;property id=&quot;20300&quot; value=&quot;Slide 35&quot;/&gt;&lt;property id=&quot;20307&quot; value=&quot;394&quot;/&gt;&lt;/object&gt;&lt;object type=&quot;3&quot; unique_id=&quot;10563&quot;&gt;&lt;property id=&quot;20148&quot; value=&quot;5&quot;/&gt;&lt;property id=&quot;20300&quot; value=&quot;Slide 37&quot;/&gt;&lt;property id=&quot;20307&quot; value=&quot;364&quot;/&gt;&lt;/object&gt;&lt;object type=&quot;3&quot; unique_id=&quot;10564&quot;&gt;&lt;property id=&quot;20148&quot; value=&quot;5&quot;/&gt;&lt;property id=&quot;20300&quot; value=&quot;Slide 38&quot;/&gt;&lt;property id=&quot;20307&quot; value=&quot;375&quot;/&gt;&lt;/object&gt;&lt;object type=&quot;3&quot; unique_id=&quot;10565&quot;&gt;&lt;property id=&quot;20148&quot; value=&quot;5&quot;/&gt;&lt;property id=&quot;20300&quot; value=&quot;Slide 39&quot;/&gt;&lt;property id=&quot;20307&quot; value=&quot;383&quot;/&gt;&lt;/object&gt;&lt;object type=&quot;3&quot; unique_id=&quot;10566&quot;&gt;&lt;property id=&quot;20148&quot; value=&quot;5&quot;/&gt;&lt;property id=&quot;20300&quot; value=&quot;Slide 40&quot;/&gt;&lt;property id=&quot;20307&quot; value=&quot;379&quot;/&gt;&lt;/object&gt;&lt;object type=&quot;3&quot; unique_id=&quot;10567&quot;&gt;&lt;property id=&quot;20148&quot; value=&quot;5&quot;/&gt;&lt;property id=&quot;20300&quot; value=&quot;Slide 41&quot;/&gt;&lt;property id=&quot;20307&quot; value=&quot;408&quot;/&gt;&lt;/object&gt;&lt;object type=&quot;3&quot; unique_id=&quot;10568&quot;&gt;&lt;property id=&quot;20148&quot; value=&quot;5&quot;/&gt;&lt;property id=&quot;20300&quot; value=&quot;Slide 42&quot;/&gt;&lt;property id=&quot;20307&quot; value=&quot;409&quot;/&gt;&lt;/object&gt;&lt;object type=&quot;3&quot; unique_id=&quot;10569&quot;&gt;&lt;property id=&quot;20148&quot; value=&quot;5&quot;/&gt;&lt;property id=&quot;20300&quot; value=&quot;Slide 43&quot;/&gt;&lt;property id=&quot;20307&quot; value=&quot;410&quot;/&gt;&lt;/object&gt;&lt;object type=&quot;3&quot; unique_id=&quot;10570&quot;&gt;&lt;property id=&quot;20148&quot; value=&quot;5&quot;/&gt;&lt;property id=&quot;20300&quot; value=&quot;Slide 44&quot;/&gt;&lt;property id=&quot;20307&quot; value=&quot;387&quot;/&gt;&lt;/object&gt;&lt;object type=&quot;3&quot; unique_id=&quot;10571&quot;&gt;&lt;property id=&quot;20148&quot; value=&quot;5&quot;/&gt;&lt;property id=&quot;20300&quot; value=&quot;Slide 45&quot;/&gt;&lt;property id=&quot;20307&quot; value=&quot;388&quot;/&gt;&lt;/object&gt;&lt;object type=&quot;3&quot; unique_id=&quot;10572&quot;&gt;&lt;property id=&quot;20148&quot; value=&quot;5&quot;/&gt;&lt;property id=&quot;20300&quot; value=&quot;Slide 46&quot;/&gt;&lt;property id=&quot;20307&quot; value=&quot;390&quot;/&gt;&lt;/object&gt;&lt;object type=&quot;3&quot; unique_id=&quot;10745&quot;&gt;&lt;property id=&quot;20148&quot; value=&quot;5&quot;/&gt;&lt;property id=&quot;20300&quot; value=&quot;Slide 14&quot;/&gt;&lt;property id=&quot;20307&quot; value=&quot;413&quot;/&gt;&lt;/object&gt;&lt;object type=&quot;3&quot; unique_id=&quot;10746&quot;&gt;&lt;property id=&quot;20148&quot; value=&quot;5&quot;/&gt;&lt;property id=&quot;20300&quot; value=&quot;Slide 21&quot;/&gt;&lt;property id=&quot;20307&quot; value=&quot;414&quot;/&gt;&lt;/object&gt;&lt;object type=&quot;3&quot; unique_id=&quot;10748&quot;&gt;&lt;property id=&quot;20148&quot; value=&quot;5&quot;/&gt;&lt;property id=&quot;20300&quot; value=&quot;Slide 18&quot;/&gt;&lt;property id=&quot;20307&quot; value=&quot;415&quot;/&gt;&lt;/object&gt;&lt;object type=&quot;3&quot; unique_id=&quot;10933&quot;&gt;&lt;property id=&quot;20148&quot; value=&quot;5&quot;/&gt;&lt;property id=&quot;20300&quot; value=&quot;Slide 29&quot;/&gt;&lt;property id=&quot;20307&quot; value=&quot;416&quot;/&gt;&lt;/object&gt;&lt;object type=&quot;3&quot; unique_id=&quot;10934&quot;&gt;&lt;property id=&quot;20148&quot; value=&quot;5&quot;/&gt;&lt;property id=&quot;20300&quot; value=&quot;Slide 36&quot;/&gt;&lt;property id=&quot;20307&quot; value=&quot;417&quot;/&gt;&lt;/object&gt;&lt;/object&gt;&lt;object type=&quot;8&quot; unique_id=&quot;10615&quot;&gt;&lt;/object&gt;&lt;/object&gt;&lt;/database&gt;"/>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1658</TotalTime>
  <Words>2701</Words>
  <Application>Microsoft Office PowerPoint</Application>
  <PresentationFormat>On-screen Show (4:3)</PresentationFormat>
  <Paragraphs>439</Paragraphs>
  <Slides>36</Slides>
  <Notes>28</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0" baseType="lpstr">
      <vt:lpstr>Arial</vt:lpstr>
      <vt:lpstr>Arial Black</vt:lpstr>
      <vt:lpstr>Courier New</vt:lpstr>
      <vt:lpstr>Gill Sans MT</vt:lpstr>
      <vt:lpstr>Gill Sans MT Condensed</vt:lpstr>
      <vt:lpstr>Impact</vt:lpstr>
      <vt:lpstr>Monotype Sorts</vt:lpstr>
      <vt:lpstr>Noto Sans Symbols</vt:lpstr>
      <vt:lpstr>Symbol</vt:lpstr>
      <vt:lpstr>Tahoma</vt:lpstr>
      <vt:lpstr>Times New Roman</vt:lpstr>
      <vt:lpstr>Wingdings</vt:lpstr>
      <vt:lpstr>Default Design</vt:lpstr>
      <vt:lpstr>Worksheet</vt:lpstr>
      <vt:lpstr>SORTING AND SEARCHING</vt:lpstr>
      <vt:lpstr>Software Development Anecdote</vt:lpstr>
      <vt:lpstr>Examples of sorting applications:</vt:lpstr>
      <vt:lpstr>Sorting (cont’d)</vt:lpstr>
      <vt:lpstr>Sorts Quadratic ( N2)</vt:lpstr>
      <vt:lpstr>The Bubble Sort</vt:lpstr>
      <vt:lpstr>Bubble Sort</vt:lpstr>
      <vt:lpstr>Bubble Sort Animation</vt:lpstr>
      <vt:lpstr>Bubble Sort W/Objects</vt:lpstr>
      <vt:lpstr>Bubble Sort W/Objects</vt:lpstr>
      <vt:lpstr>The Selection Sort</vt:lpstr>
      <vt:lpstr>Selection Sort</vt:lpstr>
      <vt:lpstr>Selection Sort Explained</vt:lpstr>
      <vt:lpstr>Selection Sort Trace</vt:lpstr>
      <vt:lpstr>Selection Sort Code for Array of Primitives</vt:lpstr>
      <vt:lpstr>PowerPoint Presentation</vt:lpstr>
      <vt:lpstr>PowerPoint Presentation</vt:lpstr>
      <vt:lpstr>Selection Sort in Action</vt:lpstr>
      <vt:lpstr>Selection Sort (cont’d)</vt:lpstr>
      <vt:lpstr>People Sort Demo</vt:lpstr>
      <vt:lpstr>The Insertion Sort</vt:lpstr>
      <vt:lpstr>Insertion Sort</vt:lpstr>
      <vt:lpstr>Insertion Sort Explained</vt:lpstr>
      <vt:lpstr>Insertion Sort in Action</vt:lpstr>
      <vt:lpstr>PowerPoint Presentation</vt:lpstr>
      <vt:lpstr>PowerPoint Presentation</vt:lpstr>
      <vt:lpstr>PowerPoint Presentation</vt:lpstr>
      <vt:lpstr>Insertion sort with a  Binary search</vt:lpstr>
      <vt:lpstr>Animation of Selection and Insertion Sorts</vt:lpstr>
      <vt:lpstr>Bubble Sort is distinguished by frequent swapping</vt:lpstr>
      <vt:lpstr>Selection Sort is distinguished a single swap after each pass</vt:lpstr>
      <vt:lpstr>Insertion Sort is distinguished by how the elements “slide” to make room for the insertion</vt:lpstr>
      <vt:lpstr>Insertion Sort (cont’d)</vt:lpstr>
      <vt:lpstr>People Sort Demo</vt:lpstr>
      <vt:lpstr>O(n2) Sorting Algorithms</vt:lpstr>
      <vt:lpstr>Big O Chart</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sortsearch</dc:title>
  <dc:subject>Sorting and Searching</dc:subject>
  <dc:creator>A+ Computer Science</dc:creator>
  <cp:keywords>www.apluscompsci.com</cp:keywords>
  <dc:description>Sorting and Searching_x000d_
©A+ Computer Science_x000d_
www.apluscompsci.com</dc:description>
  <cp:lastModifiedBy>Weldon Jasik</cp:lastModifiedBy>
  <cp:revision>458</cp:revision>
  <cp:lastPrinted>2000-04-26T16:54:12Z</cp:lastPrinted>
  <dcterms:created xsi:type="dcterms:W3CDTF">1998-04-06T14:13:40Z</dcterms:created>
  <dcterms:modified xsi:type="dcterms:W3CDTF">2025-05-05T18:13:43Z</dcterms:modified>
  <cp:category>www.apluscompsci.com</cp:category>
</cp:coreProperties>
</file>