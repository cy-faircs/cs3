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93" r:id="rId3"/>
    <p:sldId id="417" r:id="rId4"/>
    <p:sldId id="258" r:id="rId5"/>
    <p:sldId id="445" r:id="rId6"/>
    <p:sldId id="418" r:id="rId7"/>
    <p:sldId id="446" r:id="rId8"/>
    <p:sldId id="447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0099"/>
    <a:srgbClr val="0000CC"/>
    <a:srgbClr val="0000FF"/>
    <a:srgbClr val="336633"/>
    <a:srgbClr val="E7F6EF"/>
    <a:srgbClr val="CBECDE"/>
    <a:srgbClr val="A50021"/>
    <a:srgbClr val="CC3300"/>
    <a:srgbClr val="3366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86797" autoAdjust="0"/>
  </p:normalViewPr>
  <p:slideViewPr>
    <p:cSldViewPr snapToGrid="0">
      <p:cViewPr varScale="1">
        <p:scale>
          <a:sx n="68" d="100"/>
          <a:sy n="68" d="100"/>
        </p:scale>
        <p:origin x="108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80"/>
    </p:cViewPr>
  </p:sorterViewPr>
  <p:notesViewPr>
    <p:cSldViewPr snapToGrid="0">
      <p:cViewPr varScale="1">
        <p:scale>
          <a:sx n="60" d="100"/>
          <a:sy n="60" d="100"/>
        </p:scale>
        <p:origin x="-249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81C265-B1C2-471B-B18F-DD82EF45B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079320B-1D61-4E30-ADCA-0084737343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15ECF5B-F8C0-4CF7-8C65-84BA085BDC2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3A3E004-1F63-40F0-9663-8858D99724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32E2B96-9C06-4A8B-9DEE-BF176AD5E0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9:53:12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4197 131 8192,'35'84'12531,"2"1"-7050,52 127-5346,-71-162-177,-2 1 0,11 67 1,-27-118 39,1 5-2090,0 0 0,0 0-1,-1 0 1,0 0-1,-1 10 1,-5-1 10542,6-14-8409,-1 0-1,1 0 1,0 0-1,0 1 1,-1-1 0,1 0-1,0 0 1,0 0 0,-1 0-1,1 0 1,0 0 0,0 0-1,-1 0 1,1 0-1,0 0 1,0 0 0,-1 0-1,1 0 1,0 0 0,0 0-1,-1 0 1,1 0 0,0 0-1,0 0 1,-1 0-1,1-1 1,0 1 0,0 0-1,0 0 1,-1 0 0,1 0-1,0 0 1,0-1 0,0 1-1,0 0 1,-1 0-1,1 0 1,0-1 0,0 1-1,0 0 1,-25-21 119,1 0 1,1-2-1,-25-32 1,-61-87-5892,97 126 5142,-86-127-7404,-62-79 6082,155 216 1911,-35-36 0,38 40 0,0 0 0,-1 0 0,0 0 0,1 0 0,-1 0 0,0 1 0,0-1 0,0 1 0,0 0 0,0 0 0,0 0 0,0 0 0,0 0 0,-4 0 0,6 2 58,-1-1-1,1 0 1,0 0 0,0 1 0,0-1 0,-1 1 0,1-1-1,0 1 1,0 0 0,0-1 0,0 1 0,0 0 0,0 0-1,0 0 1,0-1 0,0 1 0,1 0 0,-1 0-1,0 0 1,0 0 0,1 1 0,-1-1 0,1 0 0,-1 0-1,1 0 1,-1 0 0,1 1 0,0-1 0,0 0 0,0 0-1,-1 1 1,1-1 0,0 0 0,0 0 0,1 3 0,4 47 1109,14 19-2585,50 127 0,-38-117 1116,36 96 195,108 325 103,-169-465 232,-6-35-220,0 0 0,0-1 0,0 1 0,0 0 0,0-1 0,0 1-1,0 0 1,0-1 0,-1 1 0,1 0 0,0-1 0,0 1 0,-1 0-1,1-1 1,0 1 0,0-1 0,-1 1 0,1-1 0,-1 2 0,0-2-6,0 0 1,0 0 0,1 0 0,-1 0 0,0 0 0,1 0 0,-1-1-1,0 1 1,1 0 0,-1 0 0,0-1 0,1 1 0,-1 0 0,0-1-1,1 1 1,-1 0 0,1-1 0,-1 1 0,0-1 0,1 1 0,0-1-1,-1 1 1,1-1 0,-1 0 0,-12-13-3,1-1 0,0 0 0,-15-28 0,-355-631 548,344 604-622,-16-35-417,-11-21 4033,47 94 1436,-39-50 1,56 80-4758,0 1 1,1 0-1,-1 0 1,0 0 0,0 0-1,0-1 1,0 1-1,0 1 1,0-1 0,0 0-1,0 0 1,0 0-1,-1 0 1,1 1 0,0-1-1,0 1 1,-1-1-1,1 1 1,-3-1 0,3 2-238,1 0 0,-1 1 0,1-1 0,-1 0 0,1 1 0,0-1 1,-1 1-1,1-1 0,0 1 0,0-1 0,0 1 0,0-1 0,0 0 1,0 1-1,1-1 0,-1 1 0,0-1 0,1 1 0,-1-1 0,1 0 0,1 3 1,131 394-2441,-61-197-358,-41-112 1740,48 150-3119,-36-80-2962,-40-144 6966,8 40 33,-11-51 157,1 0 0,-1-1 1,0 1-1,0 0 0,-1 0 0,1 0 1,-1 0-1,0-1 0,0 1 0,0 0 1,-2 4-1,2-7-1,1-1 0,-1 1 0,0-1 0,1 1 0,-1-1 0,0 1 0,0-1 0,1 1 0,-1-1 0,0 1 0,0-1 0,0 0 0,0 0 0,1 1 0,-1-1 0,0 0 0,0 0 0,0 0 0,0 0 0,0 0 0,0 0 0,1 0 0,-1 0 0,0 0 0,0-1 0,0 1 0,0 0 0,0-1 0,1 1 0,-1 0 0,0-1 0,0 1 0,1-1 0,-2 0 0,-28-19 0,19 10 156,0-1 1,1 0-1,0 0 1,-15-23 0,-299-471-983,2 1 869,317 495-43,4 6 0,-1 0 0,1 1 0,-1-1 0,1 1 0,-1 0 0,0-1 0,0 1 0,0 0 0,0 0 0,0 0 0,0 0 0,0 1 0,-1-1 0,-4-2 0,7 4 0,-1 0 0,1 0 0,0 0 0,0 1 0,-1-1 0,1 0 0,0 0 0,0 0 0,-1 1 0,1-1 0,0 0 0,0 0 0,-1 1 0,1-1 0,0 0 0,0 1 0,0-1 0,0 0 0,0 0 0,0 1 0,-1-1 0,1 0 0,0 1 0,0-1 0,0 0 0,0 1 0,0-1 0,0 0 0,0 1 0,0-1 0,0 0 0,0 1 0,1-1 0,-1 0 0,0 1 1,4 17 100,-3-15-55,11 42 66,22 50-1,-7-24-334,53 147 84,136 389 244,-206-576 52,-3-13-196,-1 1 0,-1-1-1,5 37 1,-10-54 113,0-1 0,0 1 1,0-1-1,0 1 0,1-1 0,-1 1 0,0-1 1,0 1-1,0-1 0,0 1 0,-1-1 0,1 1 1,0-1-1,0 1 0,0-1 0,0 1 0,0-1 1,-1 1-1,1-1 0,0 1 0,0-1 1,-1 0-1,1 1 0,0-1 0,-1 1 0,1-1 1,0 0-1,-1 1 0,1-1 0,-1 0 0,1 1 1,0-1-1,-1 0 0,1 0 0,-1 0 0,0 1 1,-1-1 33,1 0 0,-1-1 0,1 1 0,-1 0 1,0-1-1,1 1 0,-1-1 0,1 1 0,-1-1 1,1 0-1,-3-1 0,-24-18 3546,15 9 2330,-26-37-2449,-360-567-5591,240 362-1401,69 108 867,2 5-2317,28 47 7029,51 83 6075,5 14-5204,8 27-2604,115 332-2161,-70-224 742,9 28 206,147 457-617,-200-609 1821,-3-12-105,-1 0-1,0 0 1,0 0-1,0 0 0,0 0 1,0 0-1,-1 1 1,1-1-1,-1 0 1,0 1-1,0-1 0,0 0 1,-1 4-1,0-6-248,1-1-1,-1 0 1,1 1-1,-1-1 1,1 0-1,-1 1 1,1-1 0,-1 0-1,0 0 1,1 0-1,-1 1 1,1-1-1,-1 0 1,0 0-1,1 0 1,-1 0 0,1 0-1,-1 0 1,0 0-1,1 0 1,-1 0-1,1 0 1,-1-1-1,0 1 1,1 0-1,-1 0 1,1-1 0,-1 1-1,1 0 1,-1-1-1,1 1 1,-1 0-1,1-1 1,-1 1-1,0-1 1,-20-18-112,21 19 97,-48-56-160,-328-492-5509,-40-54-1834,404 587 7714,-8-12 2547,-5 7 4334,25 20-7021,0 0 0,-1 0 0,1-1 0,-1 1 1,1 0-1,0 0 0,-1 0 0,1 0 0,-1-1 1,1 1-1,-1 0 0,1 0 0,-1 0 0,1 0 0,-1 0 1,1 0-1,-1 0 0,1 0 0,-1 0 0,1 0 1,0 1-1,-1-1 0,1 0 0,-1 0 0,1 0 1,-1 1-1,1-1 0,0 0 0,-1 0 0,1 1 0,-1-1 1,-5 17 595,8 22-781,13 14-126,137 347-378,-3-12-1842,-63-130-6774,-80-237 8479,6 20 770,-11-16-4016,-1-25 4042,0 0 1,0 1 0,0-1-1,-1 0 1,1 0-1,0 1 1,0-1-1,0 0 1,0 1 0,0-1-1,0 0 1,0 0-1,-1 1 1,1-1-1,0 0 1,0 0-1,0 1 1,-1-1 0,1 0-1,0 0 1,0 0-1,0 0 1,-1 1-1,1-1 1,0 0 0,0 0-1,-1 0 1,1 0-1,0 0 1,-1 0-1,1 0 1,-1 1 0,-11-6 2005,-21-27 1884,-489-642-10884,313 392 5491,160 216 1885,-154-188-1016,202 253 1190,1 0 0,-1 0 0,0 1 1,1-1-1,-1 0 0,0 0 0,1 0 1,-1 0-1,0 1 0,0-1 0,0 0 1,0 1-1,1-1 0,-1 1 0,0-1 1,0 1-1,0-1 0,0 1 0,-1-1 1,1 1-1,0 0 0,0 0 0,0 0 1,-1 0-1,1 9 3270,7 12-4940,138 308-1327,-38-90 157,-83-185 1804,20 47 2341,49 168 0,-90-264-1782,-1 1 0,0 0 0,0 0 1,0 0-1,-1 0 0,0 0 0,0 0 0,-1 6 0,1-11-128,-1-1 0,1 1 0,0 0 0,0 0-1,-1 0 1,1-1 0,0 1 0,-1 0 0,1 0 0,-1-1 0,1 1 0,-1 0 0,0-1 0,1 1 0,-1-1 0,1 1 0,-1-1 0,0 1 0,0-1 0,1 1 0,-1-1 0,0 1 0,-1-1 0,0 0-5,0 1 0,0-1 0,0 0 0,0-1 0,0 1 0,0 0 1,0-1-1,0 1 0,0-1 0,1 1 0,-1-1 0,0 0 0,0 0 0,-2-2 1,-9-4 1,0-1 0,1-1 0,1 0 0,-22-21 0,-357-396 0,148 152 0,220 257 0,22 17 0,0 0 0,0 0 0,0 0 0,0 0 0,-1 0 0,1 0 0,0 0 0,0 0 0,0 0 0,-1 0 0,1 0 0,0 0 0,0 0 0,0 0 0,0 0 0,-1 0 0,1 0 0,0 0 0,0 0 0,0 1 0,0-1 0,-1 0 0,1 0 0,0 0 0,0 0 0,0 0 0,0 1 0,0-1 0,0 0 0,0 0 0,0 0 0,-1 0 0,1 1 0,0-1 0,0 0 0,0 0 0,0 0 0,0 1 0,0-1 0,0 0 0,2 21 0,16 36-149,96 237-1707,-15-40-2351,-12 4-3608,-85-248 7426,1-3 17,-1 1-1,0 0 1,0-1-1,-1 1 1,0 0 0,0 0-1,-1 9 1,0-17 489,0 1 0,0-1 0,0 1-1,0 0 1,0-1 0,0 1 0,0-1 0,0 1 0,-1-1 0,1 1 0,0-1 0,0 1 0,-1-1 0,1 1 0,0-1 0,-1 1 0,1-1 0,0 1 0,-1-1 0,1 0 0,0 1 0,-1-1 0,1 1 0,-1-1-1,1 0 1,-1 0 0,1 1 0,-1-1 0,1 0 0,-1 0 0,1 0 0,-1 1 0,0-1 0,1 0 0,-1 0 0,1 0 0,-1 0 0,1 0 0,-1 0 0,1 0 0,-1 0 0,0 0 0,-24-12 4005,-12-20-1230,-423-484-10393,200 211 2648,79 112 4871,173 183 120,1 3 214,-1 0 0,1 0 1,-1 0-1,0 1 0,-11-7 0,19 13-214,-1-1 0,1 1 0,-1 0 0,1 0-1,0-1 1,-1 1 0,1 0 0,-1 0 0,1 0-1,-1-1 1,1 1 0,-1 0 0,1 0 0,-1 0 0,1 0-1,-1 0 1,1 0 0,-1 0 0,1 0 0,-1 0 0,1 0-1,0 0 1,-1 0 0,1 1 0,-1-1 0,1 0-1,-1 0 1,1 0 0,-1 1 0,1-1 0,0 0 0,-1 1-1,1-1 1,-1 0 0,1 1 0,0-1 0,-1 0 0,1 1-1,0-1 1,0 0 0,-1 1 0,1-1 0,0 1 0,0-1-1,-1 1 1,1-1 0,0 1 0,0-1 0,0 1-1,0-1 1,0 1 0,0-1 0,0 1 0,0-1 0,0 1-1,3 31 7582,11 19-7719,3 0 0,29 60 0,-13-33 0,-7-12 0,94 245 0,-116-301 0,9 30 0,-13-39 0,1 1 0,-1-1 0,0 1 0,1-1 0,-1 1 0,0-1 0,0 0 0,0 1 0,0-1 0,0 1 0,0-1 0,-1 1 0,1-1 0,0 1 0,-1-1 0,1 1 0,-1-1 0,1 0 0,-1 1 0,-1 1 0,1-3 0,0 1 0,1-1 0,-1 0 0,0 0 0,0 1 0,1-1 0,-1 0 0,0 0 0,0 0 0,1 0 0,-1 0 0,0 0 0,0 0 0,0 0 0,1 0 0,-1 0 0,0 0 0,0-1 0,1 1 0,-1 0 0,0 0 0,0-1 0,1 1 0,-1-1 0,0 1 0,0-1 0,-22-16 0,19 13 0,-73-66 62,-100-118 1,91 93-3324,-3 3-6144,71 81 7534,18 11 1789,-1 0-1,1 0 1,-1 0-1,1 0 1,-1 0-1,1 0 1,-1 0-1,1 0 1,-1 0-1,1 0 1,-1 1-1,1-1 1,-1 0-1,1 0 0,0 0 1,-1 1-1,1-1 1,-1 0-1,1 1 1,0-1-1,-1 0 1,1 1-1,0-1 1,-1 1-1,0 2-14,-1-1-1,1 1 0,0 0 1,0 0-1,0 0 1,1 0-1,-1 0 0,1 0 1,-1 5-1,1 10 213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9E576DC-6DB4-4542-9148-85BEECA101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4833FEA-F53C-4FE8-A51A-3ECBE46CF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036EBB4-7F48-4E22-98D8-07B6AE5A5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3DB2B02-83C6-4523-BE7F-85F7AE501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79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849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 originally stored a link to the 29 node (i.e. the node object that stores a value of 29).</a:t>
            </a:r>
          </a:p>
          <a:p>
            <a:r>
              <a:rPr lang="en-US" dirty="0"/>
              <a:t>Now s stores a link to the 85 node.</a:t>
            </a:r>
          </a:p>
        </p:txBody>
      </p:sp>
    </p:spTree>
    <p:extLst>
      <p:ext uri="{BB962C8B-B14F-4D97-AF65-F5344CB8AC3E}">
        <p14:creationId xmlns:p14="http://schemas.microsoft.com/office/powerpoint/2010/main" val="736388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A5EE-FD5F-EEB8-35CA-ACD06B81C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2FE2C-AB8D-15C1-B14D-961DFC7F3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17113-4387-6C66-BE68-7DE1CB6AC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 originally stored a link to the 29 node (i.e. the node object that stores a value of 29).</a:t>
            </a:r>
          </a:p>
          <a:p>
            <a:r>
              <a:rPr lang="en-US" dirty="0"/>
              <a:t>Now s stores a link to the 85 node.</a:t>
            </a:r>
          </a:p>
        </p:txBody>
      </p:sp>
    </p:spTree>
    <p:extLst>
      <p:ext uri="{BB962C8B-B14F-4D97-AF65-F5344CB8AC3E}">
        <p14:creationId xmlns:p14="http://schemas.microsoft.com/office/powerpoint/2010/main" val="1769248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BF3316-E646-42D9-8491-E12A9C404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673751-D0D4-43BF-9E1A-72989C9732C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D4E20-2045-446F-8110-A1D77EC4BE8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78EFA95-EF3B-4222-A3CA-5E10D92C5BC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8088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63385-1929-4C1F-A072-F78EEB738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D53940-8057-45C2-9093-55DACDCF9F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221E9-ABCE-473C-8C79-A8DF224B52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BE5D1C3-C3DF-45BD-8F37-37681FF5C2A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4516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5728C1-44C7-4F0A-89DF-771925D48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D13E40-E81D-4E96-9021-2A0B3C5741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2DCF54-775B-4199-891C-34263C8AF26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A82CD45-B035-427B-88B8-394645F8E13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5297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62C17-16AA-4F13-81AB-C05410E03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66B823-CA31-4381-B375-435BACEB3E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4E660-17D2-40E5-B3BD-BC03864065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3458B24-48D2-43F1-BC11-4E230F00F90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6829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4294D4-68DB-4E20-9466-9928CD604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CEEA9B9-4060-44F3-9AD7-4B900F08EF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B224B-3A84-4B86-87F2-077C1E787C5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BF0EF-3CEB-41B1-8AD1-F127147BBB8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3575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DE7DEE-5D88-4355-BDE6-BBA7ED7B54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287BB4-C04A-47E1-A1F6-23F2C7A4A1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E6CE5-F13E-4D24-BA7C-643E41200EC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D73FFD8-3921-48F3-8003-26A59728B26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5058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5B0FDC-0D0A-4406-BEE6-E8698520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63FDAF6-65D3-4AE7-B413-A26956CCB6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E82FFA-A343-41F8-A944-CCDE55561D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21D90BC-2638-46DE-9682-9F668B9CD7A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0970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4995-4616-4DE8-AD50-3A73A7367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052D76-1CB4-4CD5-9C04-7754CA0B17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CD2388-4565-4435-8190-53E6AAE269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46DBB93-3436-4DC8-AEC3-7C8388C08EC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5552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B9C28-A8D0-44D8-B8C9-05BB45744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8E2729-0597-4F39-A654-EAFB0AEB31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B5FFE-6466-4B74-B71A-09E45EE170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3E93671-63A0-4C1C-889D-F441D74F36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6000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0B54FB-B5E1-45CF-B97A-22EA9CBC1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E3E92-8E25-42AD-8604-44398226F7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2501B-F662-4AD6-943B-F6AA86CA34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2EEEAFE-5003-4CAB-AD93-49454978058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661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8D8E88-BFE0-4946-B9AE-309086958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FCD7A5-36D9-4313-850C-87B15B5D36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7F7B4-CAB9-4642-B967-205A05C549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5898C-59DC-447A-A842-049798986F5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937003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-9525" y="0"/>
            <a:ext cx="9169400" cy="533400"/>
            <a:chOff x="-6" y="-180"/>
            <a:chExt cx="5776" cy="516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-6" y="-180"/>
              <a:ext cx="5772" cy="5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6" y="2"/>
                </a:cxn>
                <a:cxn ang="0">
                  <a:pos x="2542" y="0"/>
                </a:cxn>
                <a:cxn ang="0">
                  <a:pos x="4374" y="367"/>
                </a:cxn>
                <a:cxn ang="0">
                  <a:pos x="5766" y="55"/>
                </a:cxn>
                <a:cxn ang="0">
                  <a:pos x="5772" y="213"/>
                </a:cxn>
                <a:cxn ang="0">
                  <a:pos x="4302" y="439"/>
                </a:cxn>
                <a:cxn ang="0">
                  <a:pos x="1488" y="201"/>
                </a:cxn>
                <a:cxn ang="0">
                  <a:pos x="0" y="656"/>
                </a:cxn>
                <a:cxn ang="0">
                  <a:pos x="6" y="2"/>
                </a:cxn>
              </a:cxnLst>
              <a:rect l="0" t="0" r="0" b="0"/>
              <a:pathLst>
                <a:path w="5772" h="656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shade val="50000"/>
                    <a:alpha val="45000"/>
                    <a:satMod val="120000"/>
                  </a:schemeClr>
                </a:gs>
                <a:gs pos="100000">
                  <a:schemeClr val="accent3">
                    <a:shade val="80000"/>
                    <a:alpha val="55000"/>
                    <a:satMod val="15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688" y="-180"/>
              <a:ext cx="3072" cy="263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1668" y="564"/>
                </a:cxn>
                <a:cxn ang="0">
                  <a:pos x="3000" y="186"/>
                </a:cxn>
                <a:cxn ang="0">
                  <a:pos x="3000" y="6"/>
                </a:cxn>
                <a:cxn ang="0">
                  <a:pos x="0" y="0"/>
                </a:cxn>
              </a:cxnLst>
              <a:rect l="0" t="0" r="0" b="0"/>
              <a:pathLst>
                <a:path w="3000" h="595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shade val="50000"/>
                    <a:alpha val="30000"/>
                    <a:satMod val="130000"/>
                  </a:schemeClr>
                </a:gs>
                <a:gs pos="80000">
                  <a:schemeClr val="accent2">
                    <a:shade val="75000"/>
                    <a:alpha val="45000"/>
                    <a:satMod val="140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grpSp>
          <p:nvGrpSpPr>
            <p:cNvPr id="7" name="Group 1"/>
            <p:cNvGrpSpPr>
              <a:grpSpLocks/>
            </p:cNvGrpSpPr>
            <p:nvPr/>
          </p:nvGrpSpPr>
          <p:grpSpPr bwMode="auto">
            <a:xfrm>
              <a:off x="0" y="-42"/>
              <a:ext cx="5770" cy="246"/>
              <a:chOff x="-13880" y="438044"/>
              <a:chExt cx="9173112" cy="427357"/>
            </a:xfrm>
          </p:grpSpPr>
          <p:sp>
            <p:nvSpPr>
              <p:cNvPr id="8" name="Freeform 7"/>
              <p:cNvSpPr>
                <a:spLocks/>
              </p:cNvSpPr>
              <p:nvPr/>
            </p:nvSpPr>
            <p:spPr bwMode="auto">
              <a:xfrm rot="21435692">
                <a:off x="-13880" y="438118"/>
                <a:ext cx="9173112" cy="427283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966"/>
                  </a:cxn>
                  <a:cxn ang="0">
                    <a:pos x="1608" y="282"/>
                  </a:cxn>
                  <a:cxn ang="0">
                    <a:pos x="4110" y="1008"/>
                  </a:cxn>
                  <a:cxn ang="0">
                    <a:pos x="5772" y="0"/>
                  </a:cxn>
                </a:cxnLst>
                <a:rect l="0" t="0" r="0" b="0"/>
                <a:pathLst>
                  <a:path w="5772" h="1055">
                    <a:moveTo>
                      <a:pt x="0" y="966"/>
                    </a:moveTo>
                    <a:cubicBezTo>
                      <a:pt x="282" y="738"/>
                      <a:pt x="923" y="275"/>
                      <a:pt x="1608" y="282"/>
                    </a:cubicBezTo>
                    <a:cubicBezTo>
                      <a:pt x="2293" y="289"/>
                      <a:pt x="3416" y="1055"/>
                      <a:pt x="4110" y="1008"/>
                    </a:cubicBezTo>
                    <a:cubicBezTo>
                      <a:pt x="4804" y="961"/>
                      <a:pt x="5426" y="210"/>
                      <a:pt x="5772" y="0"/>
                    </a:cubicBezTo>
                  </a:path>
                </a:pathLst>
              </a:custGeom>
              <a:noFill/>
              <a:ln w="10795" cap="flat" cmpd="sng" algn="ctr">
                <a:gradFill>
                  <a:gsLst>
                    <a:gs pos="74000">
                      <a:schemeClr val="accent3">
                        <a:shade val="75000"/>
                      </a:schemeClr>
                    </a:gs>
                    <a:gs pos="86000">
                      <a:schemeClr val="tx1">
                        <a:alpha val="29000"/>
                      </a:schemeClr>
                    </a:gs>
                    <a:gs pos="16000">
                      <a:schemeClr val="accent2">
                        <a:shade val="75000"/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9" name="Freeform 8"/>
              <p:cNvSpPr>
                <a:spLocks/>
              </p:cNvSpPr>
              <p:nvPr/>
            </p:nvSpPr>
            <p:spPr bwMode="auto">
              <a:xfrm rot="21435692">
                <a:off x="-10858" y="438044"/>
                <a:ext cx="9169042" cy="382392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732"/>
                  </a:cxn>
                  <a:cxn ang="0">
                    <a:pos x="1638" y="228"/>
                  </a:cxn>
                  <a:cxn ang="0">
                    <a:pos x="4122" y="816"/>
                  </a:cxn>
                  <a:cxn ang="0">
                    <a:pos x="5766" y="0"/>
                  </a:cxn>
                </a:cxnLst>
                <a:rect l="0" t="0" r="0" b="0"/>
                <a:pathLst>
                  <a:path w="5766" h="854">
                    <a:moveTo>
                      <a:pt x="0" y="732"/>
                    </a:moveTo>
                    <a:cubicBezTo>
                      <a:pt x="273" y="647"/>
                      <a:pt x="951" y="214"/>
                      <a:pt x="1638" y="228"/>
                    </a:cubicBezTo>
                    <a:cubicBezTo>
                      <a:pt x="2325" y="242"/>
                      <a:pt x="3434" y="854"/>
                      <a:pt x="4122" y="816"/>
                    </a:cubicBezTo>
                    <a:cubicBezTo>
                      <a:pt x="4810" y="778"/>
                      <a:pt x="5424" y="170"/>
                      <a:pt x="5766" y="0"/>
                    </a:cubicBezTo>
                  </a:path>
                </a:pathLst>
              </a:custGeom>
              <a:noFill/>
              <a:ln w="9525" cap="flat" cmpd="sng" algn="ctr">
                <a:gradFill>
                  <a:gsLst>
                    <a:gs pos="74000">
                      <a:schemeClr val="accent4"/>
                    </a:gs>
                    <a:gs pos="44000">
                      <a:schemeClr val="accent1"/>
                    </a:gs>
                    <a:gs pos="33000">
                      <a:schemeClr val="accent2"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81924" name="Title Placeholder 8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1925" name="Text Placeholder 29"/>
          <p:cNvSpPr>
            <a:spLocks noGrp="1"/>
          </p:cNvSpPr>
          <p:nvPr>
            <p:ph type="subTitle" idx="1"/>
          </p:nvPr>
        </p:nvSpPr>
        <p:spPr>
          <a:xfrm>
            <a:off x="685800" y="3276600"/>
            <a:ext cx="7772400" cy="1752600"/>
          </a:xfrm>
          <a:ln w="9525"/>
        </p:spPr>
        <p:txBody>
          <a:bodyPr/>
          <a:lstStyle>
            <a:lvl1pPr marL="0" indent="0" algn="ctr">
              <a:buFont typeface="Wingdings 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80941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3726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83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3467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9738"/>
            <a:ext cx="8229600" cy="7032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915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944905" y="6504997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212</a:t>
            </a:r>
          </a:p>
        </p:txBody>
      </p:sp>
    </p:spTree>
    <p:extLst>
      <p:ext uri="{BB962C8B-B14F-4D97-AF65-F5344CB8AC3E}">
        <p14:creationId xmlns:p14="http://schemas.microsoft.com/office/powerpoint/2010/main" val="3253398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00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8ECE40-9177-464C-A4A0-7C90B8D9E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5881AF-BAC6-4DB8-A6D2-914CCD113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3B868F-2FA4-4A5C-BDEA-D9F6757CE9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7E766D-CF08-415B-A339-93DF86FAD9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EBA80AB3-A713-496F-8928-FDA1A35C4B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3DCD569-0E93-4D9A-821B-CDE4264A30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0">
              <a:latin typeface="Tahoma" pitchFamily="34" charset="0"/>
            </a:endParaRPr>
          </a:p>
          <a:p>
            <a:pPr>
              <a:defRPr/>
            </a:pPr>
            <a:endParaRPr lang="en-US" altLang="en-US">
              <a:latin typeface="Tahoma" pitchFamily="34" charset="0"/>
            </a:endParaRPr>
          </a:p>
          <a:p>
            <a:pPr>
              <a:defRPr/>
            </a:pPr>
            <a:r>
              <a:rPr lang="en-US" alt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228600" y="1371600"/>
            <a:ext cx="8915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1028" name="Group 24"/>
          <p:cNvGrpSpPr>
            <a:grpSpLocks/>
          </p:cNvGrpSpPr>
          <p:nvPr/>
        </p:nvGrpSpPr>
        <p:grpSpPr bwMode="auto">
          <a:xfrm>
            <a:off x="-9525" y="0"/>
            <a:ext cx="9169400" cy="533400"/>
            <a:chOff x="-6" y="-180"/>
            <a:chExt cx="5776" cy="516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-6" y="-180"/>
              <a:ext cx="5772" cy="5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6" y="2"/>
                </a:cxn>
                <a:cxn ang="0">
                  <a:pos x="2542" y="0"/>
                </a:cxn>
                <a:cxn ang="0">
                  <a:pos x="4374" y="367"/>
                </a:cxn>
                <a:cxn ang="0">
                  <a:pos x="5766" y="55"/>
                </a:cxn>
                <a:cxn ang="0">
                  <a:pos x="5772" y="213"/>
                </a:cxn>
                <a:cxn ang="0">
                  <a:pos x="4302" y="439"/>
                </a:cxn>
                <a:cxn ang="0">
                  <a:pos x="1488" y="201"/>
                </a:cxn>
                <a:cxn ang="0">
                  <a:pos x="0" y="656"/>
                </a:cxn>
                <a:cxn ang="0">
                  <a:pos x="6" y="2"/>
                </a:cxn>
              </a:cxnLst>
              <a:rect l="0" t="0" r="0" b="0"/>
              <a:pathLst>
                <a:path w="5772" h="656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shade val="50000"/>
                    <a:alpha val="45000"/>
                    <a:satMod val="120000"/>
                  </a:schemeClr>
                </a:gs>
                <a:gs pos="100000">
                  <a:schemeClr val="accent3">
                    <a:shade val="80000"/>
                    <a:alpha val="55000"/>
                    <a:satMod val="15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688" y="-180"/>
              <a:ext cx="3072" cy="263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1668" y="564"/>
                </a:cxn>
                <a:cxn ang="0">
                  <a:pos x="3000" y="186"/>
                </a:cxn>
                <a:cxn ang="0">
                  <a:pos x="3000" y="6"/>
                </a:cxn>
                <a:cxn ang="0">
                  <a:pos x="0" y="0"/>
                </a:cxn>
              </a:cxnLst>
              <a:rect l="0" t="0" r="0" b="0"/>
              <a:pathLst>
                <a:path w="3000" h="595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shade val="50000"/>
                    <a:alpha val="30000"/>
                    <a:satMod val="130000"/>
                  </a:schemeClr>
                </a:gs>
                <a:gs pos="80000">
                  <a:schemeClr val="accent2">
                    <a:shade val="75000"/>
                    <a:alpha val="45000"/>
                    <a:satMod val="140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grpSp>
          <p:nvGrpSpPr>
            <p:cNvPr id="1032" name="Group 1"/>
            <p:cNvGrpSpPr>
              <a:grpSpLocks/>
            </p:cNvGrpSpPr>
            <p:nvPr/>
          </p:nvGrpSpPr>
          <p:grpSpPr bwMode="auto">
            <a:xfrm>
              <a:off x="0" y="-42"/>
              <a:ext cx="5770" cy="246"/>
              <a:chOff x="-13880" y="438044"/>
              <a:chExt cx="9173112" cy="427357"/>
            </a:xfrm>
          </p:grpSpPr>
          <p:sp>
            <p:nvSpPr>
              <p:cNvPr id="12" name="Freeform 11"/>
              <p:cNvSpPr>
                <a:spLocks/>
              </p:cNvSpPr>
              <p:nvPr/>
            </p:nvSpPr>
            <p:spPr bwMode="auto">
              <a:xfrm rot="21435692">
                <a:off x="-13880" y="438118"/>
                <a:ext cx="9173112" cy="427283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966"/>
                  </a:cxn>
                  <a:cxn ang="0">
                    <a:pos x="1608" y="282"/>
                  </a:cxn>
                  <a:cxn ang="0">
                    <a:pos x="4110" y="1008"/>
                  </a:cxn>
                  <a:cxn ang="0">
                    <a:pos x="5772" y="0"/>
                  </a:cxn>
                </a:cxnLst>
                <a:rect l="0" t="0" r="0" b="0"/>
                <a:pathLst>
                  <a:path w="5772" h="1055">
                    <a:moveTo>
                      <a:pt x="0" y="966"/>
                    </a:moveTo>
                    <a:cubicBezTo>
                      <a:pt x="282" y="738"/>
                      <a:pt x="923" y="275"/>
                      <a:pt x="1608" y="282"/>
                    </a:cubicBezTo>
                    <a:cubicBezTo>
                      <a:pt x="2293" y="289"/>
                      <a:pt x="3416" y="1055"/>
                      <a:pt x="4110" y="1008"/>
                    </a:cubicBezTo>
                    <a:cubicBezTo>
                      <a:pt x="4804" y="961"/>
                      <a:pt x="5426" y="210"/>
                      <a:pt x="5772" y="0"/>
                    </a:cubicBezTo>
                  </a:path>
                </a:pathLst>
              </a:custGeom>
              <a:noFill/>
              <a:ln w="10795" cap="flat" cmpd="sng" algn="ctr">
                <a:gradFill>
                  <a:gsLst>
                    <a:gs pos="74000">
                      <a:schemeClr val="accent3">
                        <a:shade val="75000"/>
                      </a:schemeClr>
                    </a:gs>
                    <a:gs pos="86000">
                      <a:schemeClr val="tx1">
                        <a:alpha val="29000"/>
                      </a:schemeClr>
                    </a:gs>
                    <a:gs pos="16000">
                      <a:schemeClr val="accent2">
                        <a:shade val="75000"/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3" name="Freeform 12"/>
              <p:cNvSpPr>
                <a:spLocks/>
              </p:cNvSpPr>
              <p:nvPr/>
            </p:nvSpPr>
            <p:spPr bwMode="auto">
              <a:xfrm rot="21435692">
                <a:off x="-10858" y="438044"/>
                <a:ext cx="9169042" cy="382392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732"/>
                  </a:cxn>
                  <a:cxn ang="0">
                    <a:pos x="1638" y="228"/>
                  </a:cxn>
                  <a:cxn ang="0">
                    <a:pos x="4122" y="816"/>
                  </a:cxn>
                  <a:cxn ang="0">
                    <a:pos x="5766" y="0"/>
                  </a:cxn>
                </a:cxnLst>
                <a:rect l="0" t="0" r="0" b="0"/>
                <a:pathLst>
                  <a:path w="5766" h="854">
                    <a:moveTo>
                      <a:pt x="0" y="732"/>
                    </a:moveTo>
                    <a:cubicBezTo>
                      <a:pt x="273" y="647"/>
                      <a:pt x="951" y="214"/>
                      <a:pt x="1638" y="228"/>
                    </a:cubicBezTo>
                    <a:cubicBezTo>
                      <a:pt x="2325" y="242"/>
                      <a:pt x="3434" y="854"/>
                      <a:pt x="4122" y="816"/>
                    </a:cubicBezTo>
                    <a:cubicBezTo>
                      <a:pt x="4810" y="778"/>
                      <a:pt x="5424" y="170"/>
                      <a:pt x="5766" y="0"/>
                    </a:cubicBezTo>
                  </a:path>
                </a:pathLst>
              </a:custGeom>
              <a:noFill/>
              <a:ln w="9525" cap="flat" cmpd="sng" algn="ctr">
                <a:gradFill>
                  <a:gsLst>
                    <a:gs pos="74000">
                      <a:schemeClr val="accent4"/>
                    </a:gs>
                    <a:gs pos="44000">
                      <a:schemeClr val="accent1"/>
                    </a:gs>
                    <a:gs pos="33000">
                      <a:schemeClr val="accent2"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8326438" y="6430963"/>
            <a:ext cx="762000" cy="365125"/>
          </a:xfrm>
          <a:prstGeom prst="rect">
            <a:avLst/>
          </a:prstGeom>
          <a:noFill/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buFont typeface="Wingdings" panose="05000000000000000000" pitchFamily="2" charset="2"/>
              <a:buNone/>
              <a:defRPr/>
            </a:pPr>
            <a:fld id="{4902ECC2-4A39-4E20-AECF-DDF2B3AC0189}" type="slidenum">
              <a:rPr lang="en-US" altLang="en-US" sz="1200" smtClean="0">
                <a:solidFill>
                  <a:srgbClr val="424242"/>
                </a:solidFill>
              </a:rPr>
              <a:pPr algn="r" eaLnBrk="1" hangingPunct="1">
                <a:buFont typeface="Wingdings" panose="05000000000000000000" pitchFamily="2" charset="2"/>
                <a:buNone/>
                <a:defRPr/>
              </a:pPr>
              <a:t>‹#›</a:t>
            </a:fld>
            <a:endParaRPr lang="en-US" altLang="en-US" sz="1200">
              <a:solidFill>
                <a:srgbClr val="424242"/>
              </a:solidFill>
            </a:endParaRPr>
          </a:p>
        </p:txBody>
      </p:sp>
      <p:sp>
        <p:nvSpPr>
          <p:cNvPr id="11" name="AutoShape 3"/>
          <p:cNvSpPr>
            <a:spLocks noChangeArrowheads="1"/>
          </p:cNvSpPr>
          <p:nvPr userDrawn="1"/>
        </p:nvSpPr>
        <p:spPr bwMode="auto">
          <a:xfrm>
            <a:off x="0" y="0"/>
            <a:ext cx="9144000" cy="1246414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800000"/>
              </a:gs>
              <a:gs pos="100000">
                <a:srgbClr val="FF0000"/>
              </a:gs>
            </a:gsLst>
            <a:lin ang="4500000" scaled="1"/>
          </a:gra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432" tIns="45716" rIns="91432" bIns="45716" anchor="ctr"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8613" indent="-227013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ndale Mono" pitchFamily="1" charset="0"/>
              <a:buNone/>
              <a:defRPr/>
            </a:pPr>
            <a:endParaRPr lang="en-US" altLang="en-US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439738"/>
            <a:ext cx="82296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95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95000"/>
        <a:buFont typeface="Wingdings 2" panose="05020102010507070707" pitchFamily="18" charset="2"/>
        <a:buChar char=""/>
        <a:defRPr sz="2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65000"/>
        <a:buFont typeface="Wingdings 2" panose="05020102010507070707" pitchFamily="18" charset="2"/>
        <a:buChar char=""/>
        <a:defRPr sz="1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39639D"/>
        </a:buClr>
        <a:buSzPct val="65000"/>
        <a:buFont typeface="Wingdings 2" panose="05020102010507070707" pitchFamily="18" charset="2"/>
        <a:buChar char=""/>
        <a:defRPr sz="1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328D7BA-8516-4D0A-A215-163672FD06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BE6EDA3-9CD3-4DF5-BB13-321154F00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D2340A22-84E5-4AB9-AA45-8FA85F723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0"/>
            <a:ext cx="7045325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linked list is a group of nodes.   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Each node contains a value and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reference to the next node in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the list.</a:t>
            </a:r>
          </a:p>
        </p:txBody>
      </p:sp>
      <p:sp>
        <p:nvSpPr>
          <p:cNvPr id="24581" name="WordArt 6">
            <a:extLst>
              <a:ext uri="{FF2B5EF4-FFF2-40B4-BE49-F238E27FC236}">
                <a16:creationId xmlns:a16="http://schemas.microsoft.com/office/drawing/2014/main" id="{77530551-8514-44DA-8A9F-7DE0C4C9A5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D00D5A11-75B4-45BD-A10B-8E5ABDAD15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6A8F1A0-33B4-4A46-AC8C-5F1BD6309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public class 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Node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public Node(Comparable dat, Node nxt)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data=dat;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next=nxt;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6628" name="WordArt 3">
            <a:extLst>
              <a:ext uri="{FF2B5EF4-FFF2-40B4-BE49-F238E27FC236}">
                <a16:creationId xmlns:a16="http://schemas.microsoft.com/office/drawing/2014/main" id="{EB0F3751-D6AF-4015-A3D2-A164F2AD88E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Simple Node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Typical Linked List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97739"/>
            <a:ext cx="8915400" cy="1863212"/>
          </a:xfrm>
        </p:spPr>
        <p:txBody>
          <a:bodyPr/>
          <a:lstStyle/>
          <a:p>
            <a:pPr eaLnBrk="1" hangingPunct="1">
              <a:buFont typeface="Wingdings 2" charset="0"/>
              <a:buChar char=""/>
              <a:defRPr/>
            </a:pPr>
            <a:r>
              <a:rPr lang="en-US" sz="2600" b="1" dirty="0">
                <a:latin typeface="Courier New" charset="0"/>
                <a:ea typeface="ＭＳ Ｐゴシック" charset="-128"/>
              </a:rPr>
              <a:t>list</a:t>
            </a:r>
            <a:r>
              <a:rPr lang="en-US" sz="2600" dirty="0">
                <a:ea typeface="ＭＳ Ｐゴシック" charset="0"/>
              </a:rPr>
              <a:t> is a reference variable that stores a reference to the first node. It does not store 10!</a:t>
            </a:r>
          </a:p>
          <a:p>
            <a:pPr eaLnBrk="1" hangingPunct="1">
              <a:buFont typeface="Wingdings 2" charset="0"/>
              <a:buChar char=""/>
              <a:defRPr/>
            </a:pPr>
            <a:r>
              <a:rPr lang="en-US" sz="2600" dirty="0">
                <a:ea typeface="ＭＳ Ｐゴシック" charset="0"/>
              </a:rPr>
              <a:t>Each node</a:t>
            </a:r>
            <a:r>
              <a:rPr lang="en-US" sz="2600" dirty="0">
                <a:ea typeface="ＭＳ Ｐゴシック" charset="-128"/>
              </a:rPr>
              <a:t> stores a value AND a reference to the node that follows it.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06B4F8-4568-7BCB-B8B1-E0490EB7A9AB}"/>
              </a:ext>
            </a:extLst>
          </p:cNvPr>
          <p:cNvSpPr/>
          <p:nvPr/>
        </p:nvSpPr>
        <p:spPr>
          <a:xfrm>
            <a:off x="3097162" y="6422465"/>
            <a:ext cx="6046838" cy="426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 descr="reference variable list points to a node storing 10 and a link to a node storing 20 and a link to . . . a link to a final node storing 990 and no link.&#10;&#10;list --&gt; 10 --&gt; 20 --&gt; ... --&gt; 990&#10;">
            <a:extLst>
              <a:ext uri="{FF2B5EF4-FFF2-40B4-BE49-F238E27FC236}">
                <a16:creationId xmlns:a16="http://schemas.microsoft.com/office/drawing/2014/main" id="{02F24E35-76DB-DA8A-BC68-72A29E9DC073}"/>
              </a:ext>
            </a:extLst>
          </p:cNvPr>
          <p:cNvGrpSpPr/>
          <p:nvPr/>
        </p:nvGrpSpPr>
        <p:grpSpPr>
          <a:xfrm>
            <a:off x="282575" y="3732548"/>
            <a:ext cx="8525856" cy="938865"/>
            <a:chOff x="282575" y="4024648"/>
            <a:chExt cx="8525856" cy="938865"/>
          </a:xfrm>
        </p:grpSpPr>
        <p:sp>
          <p:nvSpPr>
            <p:cNvPr id="309316" name="Line 68"/>
            <p:cNvSpPr>
              <a:spLocks noChangeShapeType="1"/>
            </p:cNvSpPr>
            <p:nvPr/>
          </p:nvSpPr>
          <p:spPr bwMode="auto">
            <a:xfrm flipV="1">
              <a:off x="6530975" y="4642771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92E157B-286A-D6E6-8644-660100CCEF27}"/>
                </a:ext>
              </a:extLst>
            </p:cNvPr>
            <p:cNvGrpSpPr/>
            <p:nvPr/>
          </p:nvGrpSpPr>
          <p:grpSpPr>
            <a:xfrm>
              <a:off x="6973376" y="4027696"/>
              <a:ext cx="1835055" cy="932769"/>
              <a:chOff x="6973376" y="4110305"/>
              <a:chExt cx="1835055" cy="93276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4C26217-3D7E-7736-40B9-45FB2ABF65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3376" y="4110305"/>
                <a:ext cx="1835055" cy="932769"/>
              </a:xfrm>
              <a:prstGeom prst="rect">
                <a:avLst/>
              </a:prstGeom>
            </p:spPr>
          </p:pic>
          <p:sp>
            <p:nvSpPr>
              <p:cNvPr id="309317" name="Line 69"/>
              <p:cNvSpPr>
                <a:spLocks noChangeShapeType="1"/>
              </p:cNvSpPr>
              <p:nvPr/>
            </p:nvSpPr>
            <p:spPr bwMode="auto">
              <a:xfrm flipH="1">
                <a:off x="7890903" y="4551680"/>
                <a:ext cx="867017" cy="3785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318" name="Text Box 70"/>
            <p:cNvSpPr txBox="1">
              <a:spLocks noChangeArrowheads="1"/>
            </p:cNvSpPr>
            <p:nvPr/>
          </p:nvSpPr>
          <p:spPr bwMode="auto">
            <a:xfrm>
              <a:off x="282575" y="4193509"/>
              <a:ext cx="793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MS PGothic" panose="020B0600070205080204" pitchFamily="34" charset="-128"/>
                  <a:cs typeface="+mn-cs"/>
                </a:rPr>
                <a:t>list</a:t>
              </a:r>
            </a:p>
          </p:txBody>
        </p:sp>
        <p:sp>
          <p:nvSpPr>
            <p:cNvPr id="309319" name="Line 71"/>
            <p:cNvSpPr>
              <a:spLocks noChangeShapeType="1"/>
            </p:cNvSpPr>
            <p:nvPr/>
          </p:nvSpPr>
          <p:spPr bwMode="auto">
            <a:xfrm flipV="1">
              <a:off x="1158875" y="4404646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9320" name="Text Box 72"/>
            <p:cNvSpPr txBox="1">
              <a:spLocks noChangeArrowheads="1"/>
            </p:cNvSpPr>
            <p:nvPr/>
          </p:nvSpPr>
          <p:spPr bwMode="auto">
            <a:xfrm>
              <a:off x="6073775" y="4398296"/>
              <a:ext cx="412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MS PGothic" panose="020B0600070205080204" pitchFamily="34" charset="-128"/>
                  <a:cs typeface="+mn-cs"/>
                </a:rPr>
                <a:t>...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01FC27-5556-783A-4E2A-687FC6697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9300" y="4027696"/>
              <a:ext cx="1676545" cy="93276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99101D-8E64-79EC-05FD-ED23DFFB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6029" y="4024648"/>
              <a:ext cx="1682642" cy="938865"/>
            </a:xfrm>
            <a:prstGeom prst="rect">
              <a:avLst/>
            </a:prstGeom>
          </p:spPr>
        </p:pic>
        <p:sp>
          <p:nvSpPr>
            <p:cNvPr id="309333" name="Line 85"/>
            <p:cNvSpPr>
              <a:spLocks noChangeShapeType="1"/>
            </p:cNvSpPr>
            <p:nvPr/>
          </p:nvSpPr>
          <p:spPr bwMode="auto">
            <a:xfrm flipV="1">
              <a:off x="5286375" y="4642771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9321" name="Line 73"/>
            <p:cNvSpPr>
              <a:spLocks noChangeShapeType="1"/>
            </p:cNvSpPr>
            <p:nvPr/>
          </p:nvSpPr>
          <p:spPr bwMode="auto">
            <a:xfrm flipV="1">
              <a:off x="3292475" y="4642771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25" name="Group 24" descr="list --&gt; 10 --&gt; 20 --&gt; ... --&gt; 990">
            <a:extLst>
              <a:ext uri="{FF2B5EF4-FFF2-40B4-BE49-F238E27FC236}">
                <a16:creationId xmlns:a16="http://schemas.microsoft.com/office/drawing/2014/main" id="{EF0A4CAB-F47E-F2FC-D9C0-7A1BE63704C5}"/>
              </a:ext>
            </a:extLst>
          </p:cNvPr>
          <p:cNvGrpSpPr/>
          <p:nvPr/>
        </p:nvGrpSpPr>
        <p:grpSpPr>
          <a:xfrm>
            <a:off x="711200" y="5598646"/>
            <a:ext cx="7092371" cy="784830"/>
            <a:chOff x="711200" y="5598646"/>
            <a:chExt cx="7092371" cy="784830"/>
          </a:xfrm>
        </p:grpSpPr>
        <p:sp>
          <p:nvSpPr>
            <p:cNvPr id="4" name="Line 68">
              <a:extLst>
                <a:ext uri="{FF2B5EF4-FFF2-40B4-BE49-F238E27FC236}">
                  <a16:creationId xmlns:a16="http://schemas.microsoft.com/office/drawing/2014/main" id="{A293203F-72C0-9866-7530-9730355345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50000" y="5977989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" name="Text Box 70">
              <a:extLst>
                <a:ext uri="{FF2B5EF4-FFF2-40B4-BE49-F238E27FC236}">
                  <a16:creationId xmlns:a16="http://schemas.microsoft.com/office/drawing/2014/main" id="{DAC6D41A-4692-4DAD-DCEA-201966E9D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200" y="5779552"/>
              <a:ext cx="793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MS PGothic" panose="020B0600070205080204" pitchFamily="34" charset="-128"/>
                  <a:cs typeface="+mn-cs"/>
                </a:rPr>
                <a:t>list</a:t>
              </a:r>
            </a:p>
          </p:txBody>
        </p:sp>
        <p:sp>
          <p:nvSpPr>
            <p:cNvPr id="12" name="Line 71">
              <a:extLst>
                <a:ext uri="{FF2B5EF4-FFF2-40B4-BE49-F238E27FC236}">
                  <a16:creationId xmlns:a16="http://schemas.microsoft.com/office/drawing/2014/main" id="{264F5BBC-46B5-9AA2-DF5B-323939B342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75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" name="Text Box 72">
              <a:extLst>
                <a:ext uri="{FF2B5EF4-FFF2-40B4-BE49-F238E27FC236}">
                  <a16:creationId xmlns:a16="http://schemas.microsoft.com/office/drawing/2014/main" id="{53088945-FFD4-2B92-E5C1-61257D0DD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800" y="5830352"/>
              <a:ext cx="412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MS PGothic" panose="020B0600070205080204" pitchFamily="34" charset="-128"/>
                  <a:cs typeface="+mn-cs"/>
                </a:rPr>
                <a:t>...</a:t>
              </a:r>
            </a:p>
          </p:txBody>
        </p:sp>
        <p:sp>
          <p:nvSpPr>
            <p:cNvPr id="16" name="Line 85">
              <a:extLst>
                <a:ext uri="{FF2B5EF4-FFF2-40B4-BE49-F238E27FC236}">
                  <a16:creationId xmlns:a16="http://schemas.microsoft.com/office/drawing/2014/main" id="{70B97693-03E1-57DF-0014-B9E1C327CE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54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" name="Line 73">
              <a:extLst>
                <a:ext uri="{FF2B5EF4-FFF2-40B4-BE49-F238E27FC236}">
                  <a16:creationId xmlns:a16="http://schemas.microsoft.com/office/drawing/2014/main" id="{DD6F9BF8-730A-8682-03DF-AFFA060934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8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D0F03C-7662-6167-EEE6-5565D2788BCD}"/>
                </a:ext>
              </a:extLst>
            </p:cNvPr>
            <p:cNvSpPr txBox="1"/>
            <p:nvPr/>
          </p:nvSpPr>
          <p:spPr>
            <a:xfrm>
              <a:off x="2536536" y="5598646"/>
              <a:ext cx="660400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10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C7095B-63C9-8F2F-768E-A8C201CDC5A6}"/>
                </a:ext>
              </a:extLst>
            </p:cNvPr>
            <p:cNvSpPr txBox="1"/>
            <p:nvPr/>
          </p:nvSpPr>
          <p:spPr>
            <a:xfrm>
              <a:off x="4298950" y="5598646"/>
              <a:ext cx="660400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20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7CB58A-D505-D912-0F68-9D06B5845DA9}"/>
                </a:ext>
              </a:extLst>
            </p:cNvPr>
            <p:cNvSpPr txBox="1"/>
            <p:nvPr/>
          </p:nvSpPr>
          <p:spPr>
            <a:xfrm>
              <a:off x="6998438" y="5598646"/>
              <a:ext cx="805133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990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9B6BF65-D470-C4D9-DD2D-2AA626441AE9}"/>
              </a:ext>
            </a:extLst>
          </p:cNvPr>
          <p:cNvSpPr txBox="1"/>
          <p:nvPr/>
        </p:nvSpPr>
        <p:spPr>
          <a:xfrm>
            <a:off x="327280" y="5018535"/>
            <a:ext cx="4777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more streamlined representation: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138ADEC-BEC2-459D-AAE9-0C14610FB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grpSp>
        <p:nvGrpSpPr>
          <p:cNvPr id="2" name="Group 1" descr="reference variable node stores a reference to a ListNode object storing &quot;B&quot; and null. The memory location node stores is 0xF2.">
            <a:extLst>
              <a:ext uri="{FF2B5EF4-FFF2-40B4-BE49-F238E27FC236}">
                <a16:creationId xmlns:a16="http://schemas.microsoft.com/office/drawing/2014/main" id="{6CD26A19-0A70-1610-A2BB-8AF4D12F239A}"/>
              </a:ext>
            </a:extLst>
          </p:cNvPr>
          <p:cNvGrpSpPr/>
          <p:nvPr/>
        </p:nvGrpSpPr>
        <p:grpSpPr>
          <a:xfrm>
            <a:off x="1447800" y="2438400"/>
            <a:ext cx="3804444" cy="1250950"/>
            <a:chOff x="1447800" y="2438400"/>
            <a:chExt cx="3804444" cy="1250950"/>
          </a:xfrm>
        </p:grpSpPr>
        <p:sp>
          <p:nvSpPr>
            <p:cNvPr id="28676" name="Line 3">
              <a:extLst>
                <a:ext uri="{FF2B5EF4-FFF2-40B4-BE49-F238E27FC236}">
                  <a16:creationId xmlns:a16="http://schemas.microsoft.com/office/drawing/2014/main" id="{75493DBE-9CF7-4493-9BEA-C70653FD3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3276600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7" name="Rectangle 4">
              <a:extLst>
                <a:ext uri="{FF2B5EF4-FFF2-40B4-BE49-F238E27FC236}">
                  <a16:creationId xmlns:a16="http://schemas.microsoft.com/office/drawing/2014/main" id="{E6BB0464-A47E-4CB9-8CDC-0BC34523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8194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FA7082F-F7C8-4629-A777-FC04FBB24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28194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80" name="Text Box 7">
              <a:extLst>
                <a:ext uri="{FF2B5EF4-FFF2-40B4-BE49-F238E27FC236}">
                  <a16:creationId xmlns:a16="http://schemas.microsoft.com/office/drawing/2014/main" id="{0014584C-BCA7-4366-AB6E-8E8BCEB65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29718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8681" name="Text Box 8">
              <a:extLst>
                <a:ext uri="{FF2B5EF4-FFF2-40B4-BE49-F238E27FC236}">
                  <a16:creationId xmlns:a16="http://schemas.microsoft.com/office/drawing/2014/main" id="{45F1F17A-9FA6-4024-8733-BD6D37F5F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644" y="300499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28682" name="Text Box 9">
              <a:extLst>
                <a:ext uri="{FF2B5EF4-FFF2-40B4-BE49-F238E27FC236}">
                  <a16:creationId xmlns:a16="http://schemas.microsoft.com/office/drawing/2014/main" id="{7A0523A3-8911-40AA-A84A-A40C1D191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895600"/>
              <a:ext cx="1295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28683" name="Text Box 10">
              <a:extLst>
                <a:ext uri="{FF2B5EF4-FFF2-40B4-BE49-F238E27FC236}">
                  <a16:creationId xmlns:a16="http://schemas.microsoft.com/office/drawing/2014/main" id="{CCFEAF47-A311-4F48-9428-44CD3A419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3352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8684" name="Text Box 11">
              <a:extLst>
                <a:ext uri="{FF2B5EF4-FFF2-40B4-BE49-F238E27FC236}">
                  <a16:creationId xmlns:a16="http://schemas.microsoft.com/office/drawing/2014/main" id="{CAB28DCE-156A-47E1-A446-DCC88FA7E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2438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28685" name="WordArt 12">
            <a:extLst>
              <a:ext uri="{FF2B5EF4-FFF2-40B4-BE49-F238E27FC236}">
                <a16:creationId xmlns:a16="http://schemas.microsoft.com/office/drawing/2014/main" id="{32E15CAD-8FA8-4095-ABDE-712A9AE1EC3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Single Node</a:t>
            </a:r>
          </a:p>
        </p:txBody>
      </p: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114800"/>
            <a:ext cx="5780088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to the next node.</a:t>
            </a:r>
          </a:p>
        </p:txBody>
      </p:sp>
    </p:spTree>
    <p:extLst>
      <p:ext uri="{BB962C8B-B14F-4D97-AF65-F5344CB8AC3E}">
        <p14:creationId xmlns:p14="http://schemas.microsoft.com/office/powerpoint/2010/main" val="2239250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0095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pSp>
        <p:nvGrpSpPr>
          <p:cNvPr id="2" name="Group 1" descr="Below is the same description as the last slide, but this image has an arrow leading from the &quot;next&quot; part of the node to the word &quot;null&quot;, whereas the previous image had the word &quot;null&quot; in the &quot;next&quot; part of the node.&#10;&#10;reference variable node stores a reference to a ListNode object storing &quot;B&quot; and null. The memory location node stores is 0xF2.">
            <a:extLst>
              <a:ext uri="{FF2B5EF4-FFF2-40B4-BE49-F238E27FC236}">
                <a16:creationId xmlns:a16="http://schemas.microsoft.com/office/drawing/2014/main" id="{141488A4-2902-2CC1-7104-40CF5328F26E}"/>
              </a:ext>
            </a:extLst>
          </p:cNvPr>
          <p:cNvGrpSpPr/>
          <p:nvPr/>
        </p:nvGrpSpPr>
        <p:grpSpPr>
          <a:xfrm>
            <a:off x="1624385" y="1868227"/>
            <a:ext cx="5215219" cy="1250950"/>
            <a:chOff x="1624385" y="1868227"/>
            <a:chExt cx="5215219" cy="1250950"/>
          </a:xfrm>
        </p:grpSpPr>
        <p:sp>
          <p:nvSpPr>
            <p:cNvPr id="28675" name="Rectangle 2">
              <a:extLst>
                <a:ext uri="{FF2B5EF4-FFF2-40B4-BE49-F238E27FC236}">
                  <a16:creationId xmlns:a16="http://schemas.microsoft.com/office/drawing/2014/main" id="{F138ADEC-BEC2-459D-AAE9-0C14610FB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5454" y="198810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MS LineDraw" charset="2"/>
              </a:endParaRPr>
            </a:p>
          </p:txBody>
        </p:sp>
        <p:sp>
          <p:nvSpPr>
            <p:cNvPr id="28676" name="Line 3">
              <a:extLst>
                <a:ext uri="{FF2B5EF4-FFF2-40B4-BE49-F238E27FC236}">
                  <a16:creationId xmlns:a16="http://schemas.microsoft.com/office/drawing/2014/main" id="{75493DBE-9CF7-4493-9BEA-C70653FD3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585" y="270642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7" name="Rectangle 4">
              <a:extLst>
                <a:ext uri="{FF2B5EF4-FFF2-40B4-BE49-F238E27FC236}">
                  <a16:creationId xmlns:a16="http://schemas.microsoft.com/office/drawing/2014/main" id="{E6BB0464-A47E-4CB9-8CDC-0BC34523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985" y="224922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FA7082F-F7C8-4629-A777-FC04FBB24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385" y="224922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9" name="Line 6">
              <a:extLst>
                <a:ext uri="{FF2B5EF4-FFF2-40B4-BE49-F238E27FC236}">
                  <a16:creationId xmlns:a16="http://schemas.microsoft.com/office/drawing/2014/main" id="{AE029987-C8EA-4EA9-ABBF-67A972BD8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985" y="2706427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0" name="Text Box 7">
              <a:extLst>
                <a:ext uri="{FF2B5EF4-FFF2-40B4-BE49-F238E27FC236}">
                  <a16:creationId xmlns:a16="http://schemas.microsoft.com/office/drawing/2014/main" id="{0014584C-BCA7-4366-AB6E-8E8BCEB65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585" y="240162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8681" name="Text Box 8">
              <a:extLst>
                <a:ext uri="{FF2B5EF4-FFF2-40B4-BE49-F238E27FC236}">
                  <a16:creationId xmlns:a16="http://schemas.microsoft.com/office/drawing/2014/main" id="{45F1F17A-9FA6-4024-8733-BD6D37F5F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5385" y="247782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28682" name="Text Box 9">
              <a:extLst>
                <a:ext uri="{FF2B5EF4-FFF2-40B4-BE49-F238E27FC236}">
                  <a16:creationId xmlns:a16="http://schemas.microsoft.com/office/drawing/2014/main" id="{7A0523A3-8911-40AA-A84A-A40C1D191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4385" y="2325427"/>
              <a:ext cx="1295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28683" name="Text Box 10">
              <a:extLst>
                <a:ext uri="{FF2B5EF4-FFF2-40B4-BE49-F238E27FC236}">
                  <a16:creationId xmlns:a16="http://schemas.microsoft.com/office/drawing/2014/main" id="{CCFEAF47-A311-4F48-9428-44CD3A419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785" y="278262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8684" name="Text Box 11">
              <a:extLst>
                <a:ext uri="{FF2B5EF4-FFF2-40B4-BE49-F238E27FC236}">
                  <a16:creationId xmlns:a16="http://schemas.microsoft.com/office/drawing/2014/main" id="{CAB28DCE-156A-47E1-A446-DCC88FA7E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0385" y="186822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48" y="511693"/>
            <a:ext cx="833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Some draw the null reference this way!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2D104-EB37-C32A-8849-E0E212EAB1BC}"/>
              </a:ext>
            </a:extLst>
          </p:cNvPr>
          <p:cNvSpPr txBox="1"/>
          <p:nvPr/>
        </p:nvSpPr>
        <p:spPr>
          <a:xfrm>
            <a:off x="598392" y="3770574"/>
            <a:ext cx="81421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This leads to the misconception that the “B” node points to a node that stores a </a:t>
            </a:r>
            <a:r>
              <a:rPr lang="en-US" altLang="en-US" sz="3200" b="1" i="1" dirty="0">
                <a:solidFill>
                  <a:srgbClr val="C00000"/>
                </a:solidFill>
                <a:latin typeface="Tahoma" panose="020B0604030504040204" pitchFamily="34" charset="0"/>
              </a:rPr>
              <a:t>null</a:t>
            </a: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 value, but there simply is no node after the “B” node.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79A1C7-1ABA-E884-2954-148933E81B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33C1A-EFBA-E960-BED8-1452EFC30AFB}"/>
              </a:ext>
            </a:extLst>
          </p:cNvPr>
          <p:cNvSpPr txBox="1"/>
          <p:nvPr/>
        </p:nvSpPr>
        <p:spPr>
          <a:xfrm>
            <a:off x="439041" y="208027"/>
            <a:ext cx="79976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tabLst>
                <a:tab pos="685800" algn="l"/>
              </a:tabLst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Directions:  Show what the following commands do to the given diagram of a linked list.  Draw an arrow to demonstrate the result of the command.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9D766-034E-4AB3-47C7-C61E255C7A3A}"/>
              </a:ext>
            </a:extLst>
          </p:cNvPr>
          <p:cNvSpPr txBox="1"/>
          <p:nvPr/>
        </p:nvSpPr>
        <p:spPr>
          <a:xfrm>
            <a:off x="252984" y="5284832"/>
            <a:ext cx="5436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>
              <a:buNone/>
            </a:pPr>
            <a:r>
              <a:rPr lang="en-US" sz="3600" dirty="0">
                <a:solidFill>
                  <a:srgbClr val="0000CC"/>
                </a:solidFill>
                <a:latin typeface="Cascadia Code" panose="020B0609020000020004" pitchFamily="49" charset="0"/>
                <a:ea typeface="Times New Roman" panose="02020603050405020304" pitchFamily="18" charset="0"/>
                <a:cs typeface="Cascadia Code" panose="020B0609020000020004" pitchFamily="49" charset="0"/>
              </a:rPr>
              <a:t>s = </a:t>
            </a:r>
            <a:r>
              <a:rPr lang="en-US" sz="3600" dirty="0" err="1">
                <a:solidFill>
                  <a:srgbClr val="0000CC"/>
                </a:solidFill>
                <a:latin typeface="Cascadia Code" panose="020B0609020000020004" pitchFamily="49" charset="0"/>
                <a:ea typeface="Times New Roman" panose="02020603050405020304" pitchFamily="18" charset="0"/>
                <a:cs typeface="Cascadia Code" panose="020B0609020000020004" pitchFamily="49" charset="0"/>
              </a:rPr>
              <a:t>q.getNext</a:t>
            </a:r>
            <a:r>
              <a:rPr lang="en-US" sz="3600" dirty="0">
                <a:solidFill>
                  <a:srgbClr val="0000CC"/>
                </a:solidFill>
                <a:latin typeface="Cascadia Code" panose="020B0609020000020004" pitchFamily="49" charset="0"/>
                <a:ea typeface="Times New Roman" panose="02020603050405020304" pitchFamily="18" charset="0"/>
                <a:cs typeface="Cascadia Code" panose="020B0609020000020004" pitchFamily="49" charset="0"/>
              </a:rPr>
              <a:t>();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975845-EF7E-3A1D-7CEF-194C95B05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85" y="2177142"/>
            <a:ext cx="8801913" cy="237228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6C9F99C-7462-D456-1B11-4F9D978675AB}"/>
              </a:ext>
            </a:extLst>
          </p:cNvPr>
          <p:cNvGrpSpPr/>
          <p:nvPr/>
        </p:nvGrpSpPr>
        <p:grpSpPr>
          <a:xfrm>
            <a:off x="5607932" y="3384333"/>
            <a:ext cx="1695978" cy="668377"/>
            <a:chOff x="5653088" y="3680883"/>
            <a:chExt cx="615950" cy="274638"/>
          </a:xfrm>
        </p:grpSpPr>
        <p:sp>
          <p:nvSpPr>
            <p:cNvPr id="7" name="Line 2">
              <a:extLst>
                <a:ext uri="{FF2B5EF4-FFF2-40B4-BE49-F238E27FC236}">
                  <a16:creationId xmlns:a16="http://schemas.microsoft.com/office/drawing/2014/main" id="{AA7C4CCF-21C9-9439-1DE3-70262D4E45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53088" y="3680883"/>
              <a:ext cx="366712" cy="27463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4DDAA74-D675-875F-E0C8-DA58F9AE1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1388" y="3741208"/>
              <a:ext cx="247650" cy="146050"/>
            </a:xfrm>
            <a:custGeom>
              <a:avLst/>
              <a:gdLst>
                <a:gd name="T0" fmla="*/ 391 w 391"/>
                <a:gd name="T1" fmla="*/ 5 h 229"/>
                <a:gd name="T2" fmla="*/ 101 w 391"/>
                <a:gd name="T3" fmla="*/ 14 h 229"/>
                <a:gd name="T4" fmla="*/ 138 w 391"/>
                <a:gd name="T5" fmla="*/ 42 h 229"/>
                <a:gd name="T6" fmla="*/ 204 w 391"/>
                <a:gd name="T7" fmla="*/ 61 h 229"/>
                <a:gd name="T8" fmla="*/ 372 w 391"/>
                <a:gd name="T9" fmla="*/ 70 h 229"/>
                <a:gd name="T10" fmla="*/ 82 w 391"/>
                <a:gd name="T11" fmla="*/ 108 h 229"/>
                <a:gd name="T12" fmla="*/ 101 w 391"/>
                <a:gd name="T13" fmla="*/ 145 h 229"/>
                <a:gd name="T14" fmla="*/ 363 w 391"/>
                <a:gd name="T15" fmla="*/ 155 h 229"/>
                <a:gd name="T16" fmla="*/ 353 w 391"/>
                <a:gd name="T17" fmla="*/ 183 h 229"/>
                <a:gd name="T18" fmla="*/ 316 w 391"/>
                <a:gd name="T19" fmla="*/ 192 h 229"/>
                <a:gd name="T20" fmla="*/ 194 w 391"/>
                <a:gd name="T21" fmla="*/ 211 h 229"/>
                <a:gd name="T22" fmla="*/ 148 w 391"/>
                <a:gd name="T23" fmla="*/ 220 h 229"/>
                <a:gd name="T24" fmla="*/ 120 w 391"/>
                <a:gd name="T25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1" h="229">
                  <a:moveTo>
                    <a:pt x="391" y="5"/>
                  </a:moveTo>
                  <a:cubicBezTo>
                    <a:pt x="294" y="8"/>
                    <a:pt x="197" y="0"/>
                    <a:pt x="101" y="14"/>
                  </a:cubicBezTo>
                  <a:cubicBezTo>
                    <a:pt x="86" y="16"/>
                    <a:pt x="125" y="34"/>
                    <a:pt x="138" y="42"/>
                  </a:cubicBezTo>
                  <a:cubicBezTo>
                    <a:pt x="149" y="48"/>
                    <a:pt x="195" y="60"/>
                    <a:pt x="204" y="61"/>
                  </a:cubicBezTo>
                  <a:cubicBezTo>
                    <a:pt x="260" y="66"/>
                    <a:pt x="316" y="67"/>
                    <a:pt x="372" y="70"/>
                  </a:cubicBezTo>
                  <a:cubicBezTo>
                    <a:pt x="248" y="112"/>
                    <a:pt x="264" y="99"/>
                    <a:pt x="82" y="108"/>
                  </a:cubicBezTo>
                  <a:cubicBezTo>
                    <a:pt x="0" y="128"/>
                    <a:pt x="73" y="143"/>
                    <a:pt x="101" y="145"/>
                  </a:cubicBezTo>
                  <a:cubicBezTo>
                    <a:pt x="188" y="151"/>
                    <a:pt x="276" y="152"/>
                    <a:pt x="363" y="155"/>
                  </a:cubicBezTo>
                  <a:cubicBezTo>
                    <a:pt x="360" y="164"/>
                    <a:pt x="361" y="177"/>
                    <a:pt x="353" y="183"/>
                  </a:cubicBezTo>
                  <a:cubicBezTo>
                    <a:pt x="343" y="191"/>
                    <a:pt x="328" y="189"/>
                    <a:pt x="316" y="192"/>
                  </a:cubicBezTo>
                  <a:cubicBezTo>
                    <a:pt x="233" y="215"/>
                    <a:pt x="378" y="186"/>
                    <a:pt x="194" y="211"/>
                  </a:cubicBezTo>
                  <a:cubicBezTo>
                    <a:pt x="179" y="213"/>
                    <a:pt x="163" y="216"/>
                    <a:pt x="148" y="220"/>
                  </a:cubicBezTo>
                  <a:cubicBezTo>
                    <a:pt x="138" y="222"/>
                    <a:pt x="120" y="229"/>
                    <a:pt x="120" y="229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373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973C-811D-63A1-D953-36BA0752D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28EC652-76E9-114B-D3F3-6809EC7E7E2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76207-0101-4D13-602B-9BBF4400C8CA}"/>
              </a:ext>
            </a:extLst>
          </p:cNvPr>
          <p:cNvSpPr txBox="1"/>
          <p:nvPr/>
        </p:nvSpPr>
        <p:spPr>
          <a:xfrm>
            <a:off x="439041" y="208027"/>
            <a:ext cx="79976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tabLst>
                <a:tab pos="685800" algn="l"/>
              </a:tabLst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Directions:  Show what the following commands do to the given diagram of a linked list.  Draw an arrow to demonstrate the result of the command.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EC19C-BBAD-2DFA-E60B-F4F04E6CBA42}"/>
              </a:ext>
            </a:extLst>
          </p:cNvPr>
          <p:cNvSpPr txBox="1"/>
          <p:nvPr/>
        </p:nvSpPr>
        <p:spPr>
          <a:xfrm>
            <a:off x="252984" y="5284832"/>
            <a:ext cx="73105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>
              <a:buNone/>
            </a:pPr>
            <a:r>
              <a:rPr lang="en-US" sz="3600" dirty="0" err="1">
                <a:solidFill>
                  <a:srgbClr val="0000CC"/>
                </a:solidFill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Cascadia Code" panose="020B0609020000020004" pitchFamily="49" charset="0"/>
              </a:rPr>
              <a:t>s.setNext</a:t>
            </a:r>
            <a:r>
              <a:rPr lang="en-US" sz="3600" dirty="0">
                <a:solidFill>
                  <a:srgbClr val="0000CC"/>
                </a:solidFill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Cascadia Code" panose="020B0609020000020004" pitchFamily="49" charset="0"/>
              </a:rPr>
              <a:t>(</a:t>
            </a:r>
            <a:r>
              <a:rPr lang="en-US" sz="3600" dirty="0" err="1">
                <a:solidFill>
                  <a:srgbClr val="0000CC"/>
                </a:solidFill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Cascadia Code" panose="020B0609020000020004" pitchFamily="49" charset="0"/>
              </a:rPr>
              <a:t>q.getNext</a:t>
            </a:r>
            <a:r>
              <a:rPr lang="en-US" sz="3600" dirty="0">
                <a:solidFill>
                  <a:srgbClr val="0000CC"/>
                </a:solidFill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Cascadia Code" panose="020B0609020000020004" pitchFamily="49" charset="0"/>
              </a:rPr>
              <a:t>());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98965D-B8D0-93C3-9D21-6A9B04160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85" y="2177142"/>
            <a:ext cx="8801913" cy="237228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B45A43E-7A3A-140E-6D5E-61F7E3731BC4}"/>
              </a:ext>
            </a:extLst>
          </p:cNvPr>
          <p:cNvGrpSpPr/>
          <p:nvPr/>
        </p:nvGrpSpPr>
        <p:grpSpPr>
          <a:xfrm>
            <a:off x="5531556" y="3040324"/>
            <a:ext cx="3361173" cy="2203327"/>
            <a:chOff x="5531556" y="3040324"/>
            <a:chExt cx="3361173" cy="220332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6251378-A090-D095-C593-2737B76730AE}"/>
                    </a:ext>
                  </a:extLst>
                </p14:cNvPr>
                <p14:cNvContentPartPr/>
                <p14:nvPr/>
              </p14:nvContentPartPr>
              <p14:xfrm>
                <a:off x="7300449" y="3040324"/>
                <a:ext cx="1592280" cy="502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6251378-A090-D095-C593-2737B76730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91809" y="3031684"/>
                  <a:ext cx="1609920" cy="5202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AE89AE9-3FFE-34D3-002A-339252DA007C}"/>
                </a:ext>
              </a:extLst>
            </p:cNvPr>
            <p:cNvSpPr/>
            <p:nvPr/>
          </p:nvSpPr>
          <p:spPr bwMode="auto">
            <a:xfrm>
              <a:off x="5531556" y="3364089"/>
              <a:ext cx="2065866" cy="1879562"/>
            </a:xfrm>
            <a:custGeom>
              <a:avLst/>
              <a:gdLst>
                <a:gd name="connsiteX0" fmla="*/ 1670755 w 2065866"/>
                <a:gd name="connsiteY0" fmla="*/ 0 h 1879562"/>
                <a:gd name="connsiteX1" fmla="*/ 1851377 w 2065866"/>
                <a:gd name="connsiteY1" fmla="*/ 327378 h 1879562"/>
                <a:gd name="connsiteX2" fmla="*/ 2065866 w 2065866"/>
                <a:gd name="connsiteY2" fmla="*/ 1095022 h 1879562"/>
                <a:gd name="connsiteX3" fmla="*/ 1851377 w 2065866"/>
                <a:gd name="connsiteY3" fmla="*/ 1715911 h 1879562"/>
                <a:gd name="connsiteX4" fmla="*/ 1524000 w 2065866"/>
                <a:gd name="connsiteY4" fmla="*/ 1873955 h 1879562"/>
                <a:gd name="connsiteX5" fmla="*/ 970844 w 2065866"/>
                <a:gd name="connsiteY5" fmla="*/ 1761067 h 1879562"/>
                <a:gd name="connsiteX6" fmla="*/ 406400 w 2065866"/>
                <a:gd name="connsiteY6" fmla="*/ 1027289 h 1879562"/>
                <a:gd name="connsiteX7" fmla="*/ 0 w 2065866"/>
                <a:gd name="connsiteY7" fmla="*/ 169333 h 1879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5866" h="1879562">
                  <a:moveTo>
                    <a:pt x="1670755" y="0"/>
                  </a:moveTo>
                  <a:cubicBezTo>
                    <a:pt x="1728140" y="72437"/>
                    <a:pt x="1785525" y="144874"/>
                    <a:pt x="1851377" y="327378"/>
                  </a:cubicBezTo>
                  <a:cubicBezTo>
                    <a:pt x="1917229" y="509882"/>
                    <a:pt x="2065866" y="863600"/>
                    <a:pt x="2065866" y="1095022"/>
                  </a:cubicBezTo>
                  <a:cubicBezTo>
                    <a:pt x="2065866" y="1326444"/>
                    <a:pt x="1941688" y="1586089"/>
                    <a:pt x="1851377" y="1715911"/>
                  </a:cubicBezTo>
                  <a:cubicBezTo>
                    <a:pt x="1761066" y="1845733"/>
                    <a:pt x="1670756" y="1866429"/>
                    <a:pt x="1524000" y="1873955"/>
                  </a:cubicBezTo>
                  <a:cubicBezTo>
                    <a:pt x="1377244" y="1881481"/>
                    <a:pt x="1157111" y="1902178"/>
                    <a:pt x="970844" y="1761067"/>
                  </a:cubicBezTo>
                  <a:cubicBezTo>
                    <a:pt x="784577" y="1619956"/>
                    <a:pt x="568207" y="1292578"/>
                    <a:pt x="406400" y="1027289"/>
                  </a:cubicBezTo>
                  <a:cubicBezTo>
                    <a:pt x="244593" y="762000"/>
                    <a:pt x="122296" y="465666"/>
                    <a:pt x="0" y="169333"/>
                  </a:cubicBezTo>
                </a:path>
              </a:pathLst>
            </a:custGeom>
            <a:noFill/>
            <a:ln w="28575" cap="flat" cmpd="sng" algn="ctr">
              <a:solidFill>
                <a:srgbClr val="330099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115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se143-13wi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6C7E9C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2928</TotalTime>
  <Words>395</Words>
  <Application>Microsoft Office PowerPoint</Application>
  <PresentationFormat>On-screen Show (4:3)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ＭＳ Ｐゴシック</vt:lpstr>
      <vt:lpstr>Andale Mono</vt:lpstr>
      <vt:lpstr>Cascadia Code</vt:lpstr>
      <vt:lpstr>Courier New</vt:lpstr>
      <vt:lpstr>Impact</vt:lpstr>
      <vt:lpstr>MS LineDraw</vt:lpstr>
      <vt:lpstr>Tahoma</vt:lpstr>
      <vt:lpstr>Times New Roman</vt:lpstr>
      <vt:lpstr>Verdana</vt:lpstr>
      <vt:lpstr>Wingdings</vt:lpstr>
      <vt:lpstr>Wingdings 2</vt:lpstr>
      <vt:lpstr>Blank Presentation</vt:lpstr>
      <vt:lpstr>cse143-13wi</vt:lpstr>
      <vt:lpstr>PowerPoint Presentation</vt:lpstr>
      <vt:lpstr>PowerPoint Presentation</vt:lpstr>
      <vt:lpstr>Typical Linked List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linkedlists</dc:title>
  <dc:subject>Linked Lists</dc:subject>
  <dc:creator>A+ Computer Science</dc:creator>
  <cp:keywords>www.apluscompsci.com</cp:keywords>
  <dc:description>Linked Lists_x000d_
©A+ Computer Science_x000d_
www.apluscompsci.com</dc:description>
  <cp:lastModifiedBy>Weldon Jasik</cp:lastModifiedBy>
  <cp:revision>500</cp:revision>
  <cp:lastPrinted>2000-10-05T14:12:58Z</cp:lastPrinted>
  <dcterms:created xsi:type="dcterms:W3CDTF">1995-06-17T23:31:02Z</dcterms:created>
  <dcterms:modified xsi:type="dcterms:W3CDTF">2026-01-05T19:55:12Z</dcterms:modified>
  <cp:category>www.apluscompsci.com</cp:category>
</cp:coreProperties>
</file>