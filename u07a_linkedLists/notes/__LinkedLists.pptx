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64"/>
  </p:notesMasterIdLst>
  <p:handoutMasterIdLst>
    <p:handoutMasterId r:id="rId65"/>
  </p:handoutMasterIdLst>
  <p:sldIdLst>
    <p:sldId id="295" r:id="rId3"/>
    <p:sldId id="395" r:id="rId4"/>
    <p:sldId id="341" r:id="rId5"/>
    <p:sldId id="399" r:id="rId6"/>
    <p:sldId id="400" r:id="rId7"/>
    <p:sldId id="394" r:id="rId8"/>
    <p:sldId id="396" r:id="rId9"/>
    <p:sldId id="439" r:id="rId10"/>
    <p:sldId id="446" r:id="rId11"/>
    <p:sldId id="441" r:id="rId12"/>
    <p:sldId id="442" r:id="rId13"/>
    <p:sldId id="443" r:id="rId14"/>
    <p:sldId id="447" r:id="rId15"/>
    <p:sldId id="438" r:id="rId16"/>
    <p:sldId id="293" r:id="rId17"/>
    <p:sldId id="417" r:id="rId18"/>
    <p:sldId id="258" r:id="rId19"/>
    <p:sldId id="445" r:id="rId20"/>
    <p:sldId id="418" r:id="rId21"/>
    <p:sldId id="388" r:id="rId22"/>
    <p:sldId id="311" r:id="rId23"/>
    <p:sldId id="312" r:id="rId24"/>
    <p:sldId id="383" r:id="rId25"/>
    <p:sldId id="389" r:id="rId26"/>
    <p:sldId id="317" r:id="rId27"/>
    <p:sldId id="365" r:id="rId28"/>
    <p:sldId id="409" r:id="rId29"/>
    <p:sldId id="419" r:id="rId30"/>
    <p:sldId id="422" r:id="rId31"/>
    <p:sldId id="424" r:id="rId32"/>
    <p:sldId id="448" r:id="rId33"/>
    <p:sldId id="427" r:id="rId34"/>
    <p:sldId id="428" r:id="rId35"/>
    <p:sldId id="385" r:id="rId36"/>
    <p:sldId id="384" r:id="rId37"/>
    <p:sldId id="386" r:id="rId38"/>
    <p:sldId id="391" r:id="rId39"/>
    <p:sldId id="437" r:id="rId40"/>
    <p:sldId id="435" r:id="rId41"/>
    <p:sldId id="415" r:id="rId42"/>
    <p:sldId id="411" r:id="rId43"/>
    <p:sldId id="412" r:id="rId44"/>
    <p:sldId id="413" r:id="rId45"/>
    <p:sldId id="302" r:id="rId46"/>
    <p:sldId id="287" r:id="rId47"/>
    <p:sldId id="361" r:id="rId48"/>
    <p:sldId id="407" r:id="rId49"/>
    <p:sldId id="408" r:id="rId50"/>
    <p:sldId id="444" r:id="rId51"/>
    <p:sldId id="380" r:id="rId52"/>
    <p:sldId id="432" r:id="rId53"/>
    <p:sldId id="430" r:id="rId54"/>
    <p:sldId id="433" r:id="rId55"/>
    <p:sldId id="434" r:id="rId56"/>
    <p:sldId id="271" r:id="rId57"/>
    <p:sldId id="416" r:id="rId58"/>
    <p:sldId id="320" r:id="rId59"/>
    <p:sldId id="279" r:id="rId60"/>
    <p:sldId id="272" r:id="rId61"/>
    <p:sldId id="318" r:id="rId62"/>
    <p:sldId id="322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33"/>
    <a:srgbClr val="0000CC"/>
    <a:srgbClr val="330099"/>
    <a:srgbClr val="0000FF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4497" autoAdjust="0"/>
  </p:normalViewPr>
  <p:slideViewPr>
    <p:cSldViewPr snapToGrid="0">
      <p:cViewPr varScale="1">
        <p:scale>
          <a:sx n="60" d="100"/>
          <a:sy n="60" d="100"/>
        </p:scale>
        <p:origin x="146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1C7FE-6D5D-4926-B791-A5A073EB6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57C2E5F-0F77-45B3-BFAD-730BE9C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39F086-A443-49B0-833A-45202E3A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219260-F2BF-4AE8-8775-299BC8A0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781927-0204-421F-9C4A-74F74D11B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79801D-234D-4184-9EBD-DE0AADE9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4CC514-51AA-4CD9-A097-DAE1FEE3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3E52E4E-39E9-4C18-843C-450C4F580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94E341-00A5-48BB-9CB8-1F00AF268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5C2CF8-B73A-44F1-93DE-BE0A4E8C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064823-4023-4638-9026-0D7DC392D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C4CE4D-3C45-45B7-8887-CB276A12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0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32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79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F7306C-0BAD-49CA-97B5-EB426F7EB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F377936-0AC3-4A33-B9FA-B575A007D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NPE == </a:t>
            </a:r>
            <a:r>
              <a:rPr lang="en-US" altLang="en-US" dirty="0" err="1"/>
              <a:t>NullPointerException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6CF32E0-6CB3-444C-9653-D2749797D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6CD9A4-6460-42CA-9BB1-59D60E07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86F1AD-5519-42AB-9116-0BEA9523B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EEBCFA-4105-4E1A-9BFF-6F1DEA8C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AD3AB9-CB8A-451F-9505-0EDC74EF4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0C20E36-57B2-43F3-A731-FF01AED6F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75E26B8-6D24-43AA-8A04-CCACE779D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AC2BC8-C57B-4833-BDB5-84A1A6A51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547579A-EDF0-44CB-8187-C596E907D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3BA74A2-D5EF-41E7-817E-F0A7DB09A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E06D021-24B6-4F47-A1D7-96132A88A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D6D36A0-427A-4B38-8A9D-ADE43875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1B2C66C-8921-4C21-B3D8-11FA0D05A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7F3D1D-1FD0-4E86-A3E5-D5987C1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670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BDF265-0DEB-42E4-B899-9D28C7411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EACA4D-ADEE-48A8-9D64-6F5C1179A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F280ABB-2FAB-4B03-B32D-F23A46D54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D4A7B84-F0F5-4398-80D0-ACD132C3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3CDC9E2-9BC8-4964-9978-796A6FDFB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07AB225-00CD-4A30-8777-8E0B89E9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7FE691D-D430-4B9C-92DF-F06CA6EF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9A17BA6-F522-4117-81CB-59F40BC45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417E8C-C55D-40A3-AC02-BE7769F3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1713B39-E74A-43DA-85B1-6D8409C75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C42A7DA-1C85-4836-B8CD-0AA5CE6E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D11B2A9-B9A1-4AB0-B379-B5E556E4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6EFE5B0-2310-49BA-884C-90AA81EF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2B08312-5DE5-4023-A5AF-5D95634DD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363CB8-54D0-4115-84A7-0EADB1A1C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9E6E853-74F7-46A3-8276-C0B3E9EA7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FE93C88-8456-427D-8858-2A7323E49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76605AF-A518-4F14-B7D1-45CA7B61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897559A-88B8-4520-A094-6EB59179F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62C533-9C57-48BE-BBA0-8BEF2968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048CB39-79E3-4732-90D4-5C4283366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E929AE7-C291-4976-84C4-7A1513A76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E2E3F61-1856-49AB-8EC4-20735987A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A38FB7A-781B-4E71-8EF3-21A340B4A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F5496A-BAC3-4CA7-B8A2-6BA505B7F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CC72AA4-1A19-41C9-BB35-537C608A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also points to pig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4B7BB3B-E665-42DA-ACE9-DC707B78F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FB0FA2-0C59-4F96-A775-5357AA380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and previous also points to pig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AC1389D-1B22-4FC9-BC8B-EFA6A4ED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BA5850B-2CCF-46CF-9B69-23AB33274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 eaLnBrk="1" hangingPunct="1"/>
            <a:r>
              <a:rPr lang="en-US" altLang="en-US" dirty="0"/>
              <a:t>current = </a:t>
            </a:r>
            <a:r>
              <a:rPr lang="en-US" altLang="en-US" dirty="0" err="1"/>
              <a:t>current.getNext</a:t>
            </a:r>
            <a:r>
              <a:rPr lang="en-US" altLang="en-US" dirty="0"/>
              <a:t>();</a:t>
            </a:r>
          </a:p>
          <a:p>
            <a:pPr eaLnBrk="1" hangingPunct="1"/>
            <a:r>
              <a:rPr lang="en-US" altLang="en-US" dirty="0"/>
              <a:t>current stores 0xF21, which is the memory location of the "dog" node: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current = 0xF21 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0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The “pig” node now stores a reference to the “cat” node. Current still stores a reference to the “dog” node that we’re removing.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Since the “pig” node now stores a reference to the “cat” node, now current does, too. So we’ve lost </a:t>
            </a:r>
            <a:r>
              <a:rPr lang="en-US" altLang="en-US" sz="1000" b="1">
                <a:latin typeface="Courier New" panose="02070309020205020404" pitchFamily="49" charset="0"/>
              </a:rPr>
              <a:t>all access to the “dog” node.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4626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1AEBB1-11F6-4D41-AB55-3666DB34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2BCDFD0-FF17-4735-BE45-CE6B0C872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7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8" name="Freeform 7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81924" name="Title Placeholder 8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25" name="Text Placeholder 29"/>
          <p:cNvSpPr>
            <a:spLocks noGrp="1"/>
          </p:cNvSpPr>
          <p:nvPr>
            <p:ph type="subTitle" idx="1"/>
          </p:nvPr>
        </p:nvSpPr>
        <p:spPr>
          <a:xfrm>
            <a:off x="685800" y="3276600"/>
            <a:ext cx="7772400" cy="1752600"/>
          </a:xfrm>
          <a:ln w="9525"/>
        </p:spPr>
        <p:txBody>
          <a:bodyPr/>
          <a:lstStyle>
            <a:lvl1pPr marL="0" indent="0" algn="ctr">
              <a:buFont typeface="Wingdings 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0941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72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83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46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9738"/>
            <a:ext cx="8229600" cy="703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44905" y="650499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325339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0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228600" y="1371600"/>
            <a:ext cx="8915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24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1032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8326438" y="6430963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  <a:defRPr/>
            </a:pPr>
            <a:fld id="{4902ECC2-4A39-4E20-AECF-DDF2B3AC0189}" type="slidenum">
              <a:rPr lang="en-US" altLang="en-US" sz="1200" smtClean="0">
                <a:solidFill>
                  <a:srgbClr val="424242"/>
                </a:solidFill>
              </a:rPr>
              <a:pPr algn="r" eaLnBrk="1" hangingPunct="1"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200">
              <a:solidFill>
                <a:srgbClr val="424242"/>
              </a:solidFill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0" y="0"/>
            <a:ext cx="9144000" cy="1246414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800000"/>
              </a:gs>
              <a:gs pos="100000">
                <a:srgbClr val="FF0000"/>
              </a:gs>
            </a:gsLst>
            <a:lin ang="4500000" scaled="1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8613" indent="-227013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ndale Mono" pitchFamily="1" charset="0"/>
              <a:buNone/>
              <a:defRPr/>
            </a:pPr>
            <a:endParaRPr lang="en-US" altLang="en-US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439738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95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anose="05020102010507070707" pitchFamily="18" charset="2"/>
        <a:buChar char="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6D92DB2B-2155-4F5F-99E7-B18BB761A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5" name="WordArt 2051">
            <a:extLst>
              <a:ext uri="{FF2B5EF4-FFF2-40B4-BE49-F238E27FC236}">
                <a16:creationId xmlns:a16="http://schemas.microsoft.com/office/drawing/2014/main" id="{7DFF32C8-567A-4276-B358-D3FB81A000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828800"/>
            <a:ext cx="70104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1F1F338-376B-4554-8E45-7B37034627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1E5E84A7-8A4F-4BE0-921C-730522B046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ArrayList class implements the RandomAccess interface and extends the AbstractList class, which implements the List interface.&#10;The LinkedList class extends the AbstractSequentialList class, which extends the AbstractList class, which implements the List interfaces.&#10;&#10;Here is a description of the rest of the Java Collections Hierarchy:&#10;Java Collections Hierarchy Relationships Enumerated with Abstract Classes&#10;&#10;Collections&#10;Collection interface extends Iterable Interface and is the root of the collections hierarchy.&#10;List and Set interfaces extend Collection interface&#10;AbstractCollection class implements Collection interface&#10;AbstractList class extends AbstractCollection class and implements List interface&#10;AbstractSet class extends AbstractCollection class and implements Set interface&#10;ArrayList class extends AbstractList class and implements List and RandomAccess interfaces&#10;AbstractSequentialList class extends AbstractList class and implements List interface&#10;LinkedList class extends AbstractSequentialList class and implements List interface&#10;AbstractSet class extends AbstractCollection class and implements Collection interface&#10;HashSet class extends AbstractSet class and implements Set interface&#10;SortedSet interface extends Set interface&#10;TreeSet class extends AbstractSet class and implements SortedSet class&#10;&#10;Maps&#10;Map interface is the root of the map hierarchy&#10;AbstractMap class implements Map interface&#10;HashMap class extends AbstractMap class and implements Map interface&#10;SortedMap interface extends Map&#10;TreeMap class implements SortMap interface">
            <a:extLst>
              <a:ext uri="{FF2B5EF4-FFF2-40B4-BE49-F238E27FC236}">
                <a16:creationId xmlns:a16="http://schemas.microsoft.com/office/drawing/2014/main" id="{40C887D3-5145-4CC1-BA34-C2A4F0AB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8979294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6884-C718-402D-9919-0F3881BD6143}"/>
              </a:ext>
            </a:extLst>
          </p:cNvPr>
          <p:cNvSpPr txBox="1"/>
          <p:nvPr/>
        </p:nvSpPr>
        <p:spPr>
          <a:xfrm>
            <a:off x="1828800" y="838200"/>
            <a:ext cx="9906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err="1">
                <a:latin typeface="Trebuchet MS" panose="020B0603020202020204" pitchFamily="34" charset="0"/>
              </a:rPr>
              <a:t>Iterable</a:t>
            </a:r>
            <a:endParaRPr lang="en-US" sz="1800" b="0" dirty="0">
              <a:latin typeface="Trebuchet MS" panose="020B0603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65AFD-0C3A-4F60-B85F-C17BE870CA14}"/>
              </a:ext>
            </a:extLst>
          </p:cNvPr>
          <p:cNvCxnSpPr/>
          <p:nvPr/>
        </p:nvCxnSpPr>
        <p:spPr bwMode="auto">
          <a:xfrm flipV="1">
            <a:off x="2362200" y="1115199"/>
            <a:ext cx="0" cy="4088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79148-C696-4DD5-AB6A-E013D52ECCDC}"/>
              </a:ext>
            </a:extLst>
          </p:cNvPr>
          <p:cNvSpPr txBox="1"/>
          <p:nvPr/>
        </p:nvSpPr>
        <p:spPr>
          <a:xfrm>
            <a:off x="990600" y="5562600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rgbClr val="7030A0"/>
                </a:solidFill>
                <a:latin typeface="Trebuchet MS" panose="020B0603020202020204" pitchFamily="34" charset="0"/>
              </a:rPr>
              <a:t>Vector</a:t>
            </a:r>
            <a:endParaRPr lang="en-US" sz="1800" b="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6BE0-3854-4AEE-904C-33C8ADC94230}"/>
              </a:ext>
            </a:extLst>
          </p:cNvPr>
          <p:cNvCxnSpPr/>
          <p:nvPr/>
        </p:nvCxnSpPr>
        <p:spPr bwMode="auto">
          <a:xfrm flipV="1">
            <a:off x="1514797" y="5137219"/>
            <a:ext cx="588323" cy="4384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D1CBE4-0783-4B2D-95AC-F39855A8EFC0}"/>
              </a:ext>
            </a:extLst>
          </p:cNvPr>
          <p:cNvSpPr txBox="1"/>
          <p:nvPr/>
        </p:nvSpPr>
        <p:spPr>
          <a:xfrm>
            <a:off x="990600" y="6259286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Trebuchet MS" panose="020B0603020202020204" pitchFamily="34" charset="0"/>
              </a:rPr>
              <a:t>Stack</a:t>
            </a:r>
            <a:endParaRPr lang="en-US" sz="180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AEDD9-A600-419E-A107-D14A91628D2A}"/>
              </a:ext>
            </a:extLst>
          </p:cNvPr>
          <p:cNvCxnSpPr/>
          <p:nvPr/>
        </p:nvCxnSpPr>
        <p:spPr bwMode="auto">
          <a:xfrm flipH="1">
            <a:off x="336550" y="5701100"/>
            <a:ext cx="65405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75BB73-D42C-49CA-A520-4FC437C67BED}"/>
              </a:ext>
            </a:extLst>
          </p:cNvPr>
          <p:cNvSpPr/>
          <p:nvPr/>
        </p:nvSpPr>
        <p:spPr bwMode="auto">
          <a:xfrm>
            <a:off x="1460665" y="5854535"/>
            <a:ext cx="88425" cy="391886"/>
          </a:xfrm>
          <a:custGeom>
            <a:avLst/>
            <a:gdLst>
              <a:gd name="connsiteX0" fmla="*/ 0 w 88425"/>
              <a:gd name="connsiteY0" fmla="*/ 391886 h 391886"/>
              <a:gd name="connsiteX1" fmla="*/ 71252 w 88425"/>
              <a:gd name="connsiteY1" fmla="*/ 308759 h 391886"/>
              <a:gd name="connsiteX2" fmla="*/ 83127 w 88425"/>
              <a:gd name="connsiteY2" fmla="*/ 142504 h 391886"/>
              <a:gd name="connsiteX3" fmla="*/ 0 w 8842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425" h="391886">
                <a:moveTo>
                  <a:pt x="0" y="391886"/>
                </a:moveTo>
                <a:cubicBezTo>
                  <a:pt x="28699" y="371104"/>
                  <a:pt x="57398" y="350323"/>
                  <a:pt x="71252" y="308759"/>
                </a:cubicBezTo>
                <a:cubicBezTo>
                  <a:pt x="85107" y="267195"/>
                  <a:pt x="95002" y="193964"/>
                  <a:pt x="83127" y="142504"/>
                </a:cubicBezTo>
                <a:cubicBezTo>
                  <a:pt x="71252" y="91044"/>
                  <a:pt x="35626" y="45522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E69A3-FCEF-486C-B47F-880C4DE51B13}"/>
              </a:ext>
            </a:extLst>
          </p:cNvPr>
          <p:cNvSpPr/>
          <p:nvPr/>
        </p:nvSpPr>
        <p:spPr bwMode="auto">
          <a:xfrm>
            <a:off x="1514065" y="3213463"/>
            <a:ext cx="1473075" cy="2351314"/>
          </a:xfrm>
          <a:custGeom>
            <a:avLst/>
            <a:gdLst>
              <a:gd name="connsiteX0" fmla="*/ 14289 w 1473075"/>
              <a:gd name="connsiteY0" fmla="*/ 2351314 h 2351314"/>
              <a:gd name="connsiteX1" fmla="*/ 27352 w 1473075"/>
              <a:gd name="connsiteY1" fmla="*/ 2090057 h 2351314"/>
              <a:gd name="connsiteX2" fmla="*/ 262484 w 1473075"/>
              <a:gd name="connsiteY2" fmla="*/ 1867988 h 2351314"/>
              <a:gd name="connsiteX3" fmla="*/ 484552 w 1473075"/>
              <a:gd name="connsiteY3" fmla="*/ 1685108 h 2351314"/>
              <a:gd name="connsiteX4" fmla="*/ 628244 w 1473075"/>
              <a:gd name="connsiteY4" fmla="*/ 1371600 h 2351314"/>
              <a:gd name="connsiteX5" fmla="*/ 1046255 w 1473075"/>
              <a:gd name="connsiteY5" fmla="*/ 1240971 h 2351314"/>
              <a:gd name="connsiteX6" fmla="*/ 1398952 w 1473075"/>
              <a:gd name="connsiteY6" fmla="*/ 1018903 h 2351314"/>
              <a:gd name="connsiteX7" fmla="*/ 1464266 w 1473075"/>
              <a:gd name="connsiteY7" fmla="*/ 535577 h 2351314"/>
              <a:gd name="connsiteX8" fmla="*/ 1268324 w 1473075"/>
              <a:gd name="connsiteY8" fmla="*/ 261257 h 2351314"/>
              <a:gd name="connsiteX9" fmla="*/ 863375 w 1473075"/>
              <a:gd name="connsiteY9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3075" h="2351314">
                <a:moveTo>
                  <a:pt x="14289" y="2351314"/>
                </a:moveTo>
                <a:cubicBezTo>
                  <a:pt x="137" y="2260962"/>
                  <a:pt x="-14014" y="2170611"/>
                  <a:pt x="27352" y="2090057"/>
                </a:cubicBezTo>
                <a:cubicBezTo>
                  <a:pt x="68718" y="2009503"/>
                  <a:pt x="186284" y="1935480"/>
                  <a:pt x="262484" y="1867988"/>
                </a:cubicBezTo>
                <a:cubicBezTo>
                  <a:pt x="338684" y="1800496"/>
                  <a:pt x="423592" y="1767839"/>
                  <a:pt x="484552" y="1685108"/>
                </a:cubicBezTo>
                <a:cubicBezTo>
                  <a:pt x="545512" y="1602377"/>
                  <a:pt x="534627" y="1445623"/>
                  <a:pt x="628244" y="1371600"/>
                </a:cubicBezTo>
                <a:cubicBezTo>
                  <a:pt x="721861" y="1297577"/>
                  <a:pt x="917804" y="1299754"/>
                  <a:pt x="1046255" y="1240971"/>
                </a:cubicBezTo>
                <a:cubicBezTo>
                  <a:pt x="1174706" y="1182188"/>
                  <a:pt x="1329284" y="1136469"/>
                  <a:pt x="1398952" y="1018903"/>
                </a:cubicBezTo>
                <a:cubicBezTo>
                  <a:pt x="1468621" y="901337"/>
                  <a:pt x="1486037" y="661851"/>
                  <a:pt x="1464266" y="535577"/>
                </a:cubicBezTo>
                <a:cubicBezTo>
                  <a:pt x="1442495" y="409303"/>
                  <a:pt x="1368472" y="350520"/>
                  <a:pt x="1268324" y="261257"/>
                </a:cubicBezTo>
                <a:cubicBezTo>
                  <a:pt x="1168176" y="171994"/>
                  <a:pt x="1015775" y="85997"/>
                  <a:pt x="863375" y="0"/>
                </a:cubicBezTo>
              </a:path>
            </a:pathLst>
          </a:cu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B428CE59-B1EF-4161-83B1-AB4483575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7417F1E4-12D9-452D-8086-9CF8AB63CB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E5CBC063-72BF-4055-A15D-B61C35E217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90466" name="Group 2">
            <a:extLst>
              <a:ext uri="{FF2B5EF4-FFF2-40B4-BE49-F238E27FC236}">
                <a16:creationId xmlns:a16="http://schemas.microsoft.com/office/drawing/2014/main" id="{DB66C98B-1371-4721-9256-150C2932410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4870451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LinkedList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set(x,y)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 location x to the value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 the item at location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 item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all items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19" name="Text Box 30">
            <a:extLst>
              <a:ext uri="{FF2B5EF4-FFF2-40B4-BE49-F238E27FC236}">
                <a16:creationId xmlns:a16="http://schemas.microsoft.com/office/drawing/2014/main" id="{8DFB0C1E-8DB0-4253-82B4-58F415DDA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638800"/>
            <a:ext cx="5257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import  java.util.LinkedList;</a:t>
            </a: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84777E7-E6FC-446A-97B4-396AE14B74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C09FD88-76F9-4F87-97F6-A38459C9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7620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out.println(list);</a:t>
            </a:r>
            <a:r>
              <a:rPr lang="en-US" altLang="en-US" b="1">
                <a:latin typeface="Tahoma" panose="020B0604030504040204" pitchFamily="34" charset="0"/>
              </a:rPr>
              <a:t>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7AD40D80-1599-423A-9737-05BFE1D3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971800"/>
            <a:ext cx="2362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[c, d, b, a]</a:t>
            </a:r>
          </a:p>
        </p:txBody>
      </p:sp>
      <p:sp>
        <p:nvSpPr>
          <p:cNvPr id="14341" name="WordArt 4">
            <a:extLst>
              <a:ext uri="{FF2B5EF4-FFF2-40B4-BE49-F238E27FC236}">
                <a16:creationId xmlns:a16="http://schemas.microsoft.com/office/drawing/2014/main" id="{F8F81176-FC67-492C-91DC-82B080555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62844AAD-8948-4E1E-86C7-F3F82BE53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DA2A9F-9928-48AF-9AD1-8ECB4827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out.println(list.get(0)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out.println(list.get(1)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out.println("first " + list.getFirst());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out.println("last " + list.getLast());	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AAA72DA6-CF3A-48C5-8AAB-6ED0DDC1F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574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first 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last a</a:t>
            </a:r>
          </a:p>
        </p:txBody>
      </p:sp>
      <p:sp>
        <p:nvSpPr>
          <p:cNvPr id="16389" name="WordArt 4">
            <a:extLst>
              <a:ext uri="{FF2B5EF4-FFF2-40B4-BE49-F238E27FC236}">
                <a16:creationId xmlns:a16="http://schemas.microsoft.com/office/drawing/2014/main" id="{90A2166D-3D22-4AB5-9F6B-634B0152B2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334214"/>
            <a:ext cx="8603763" cy="5801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public interface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Marker interface used by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implementations to indicate that they support fast (generally constant time) random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primary purpose of this interface is to allow generic algorithms to alter their behavior to provide good performance when applied to either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or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best algorithms for manipulating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ArrayList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 can produce quadratic behavior when applied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LinkedList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5662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919317"/>
            <a:ext cx="8405272" cy="46320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via indices:</a:t>
            </a:r>
            <a:endParaRPr lang="en-US" altLang="en-US" sz="3600" b="1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for (int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=0, n=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list.size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 &lt; n;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++)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list.get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366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RandomAccess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such as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spcBef>
                <a:spcPct val="0"/>
              </a:spcBef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kumimoji="0" lang="en-US" altLang="en-US" sz="3600" b="1" i="0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941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8" y="925238"/>
            <a:ext cx="8810624" cy="3234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FA6400"/>
                </a:solidFill>
                <a:latin typeface="Courier New" panose="02070309020205020404" pitchFamily="49" charset="0"/>
              </a:rPr>
              <a:t>ArrayList</a:t>
            </a:r>
            <a:r>
              <a:rPr lang="en-US" sz="3600" b="1" dirty="0">
                <a:solidFill>
                  <a:srgbClr val="FA6400"/>
                </a:solidFill>
                <a:latin typeface="Courier New" panose="02070309020205020404" pitchFamily="49" charset="0"/>
              </a:rPr>
              <a:t> get() method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Objects.checkIndex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(index, size);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urier New" panose="02070309020205020404" pitchFamily="49" charset="0"/>
              </a:rPr>
              <a:t>(E) elementData[index];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it-IT" sz="3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99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316" y="-13419"/>
            <a:ext cx="8986684" cy="6694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FA6400"/>
                </a:solidFill>
                <a:latin typeface="Courier New" panose="02070309020205020404" pitchFamily="49" charset="0"/>
              </a:rPr>
              <a:t>LinkedList get()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24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0 || index &gt;= size)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throw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"Index: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index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+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", Size: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size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e = header;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(size &gt;&gt; 1))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&lt;=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e.next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size;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&gt;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--)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e.previous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e.element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2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364" y="272621"/>
            <a:ext cx="8405272" cy="5247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Entry(E element,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next,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previous) 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.element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.previous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CD58A-469C-1AD6-F9DB-98A001647664}"/>
              </a:ext>
            </a:extLst>
          </p:cNvPr>
          <p:cNvSpPr txBox="1"/>
          <p:nvPr/>
        </p:nvSpPr>
        <p:spPr>
          <a:xfrm>
            <a:off x="235974" y="5606898"/>
            <a:ext cx="89080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Note that you don’t interact with a LinkedList’s nodes directly. You have to use the public methods.</a:t>
            </a:r>
          </a:p>
        </p:txBody>
      </p:sp>
    </p:spTree>
    <p:extLst>
      <p:ext uri="{BB962C8B-B14F-4D97-AF65-F5344CB8AC3E}">
        <p14:creationId xmlns:p14="http://schemas.microsoft.com/office/powerpoint/2010/main" val="10550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3496" y="1273260"/>
            <a:ext cx="7185151" cy="392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using an iterator: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Iterator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list.iterator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endParaRPr lang="en-US" altLang="en-US" sz="3600" dirty="0">
              <a:solidFill>
                <a:srgbClr val="330099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while 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i.hasNext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()) 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</a:rPr>
              <a:t> 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sz="3600" b="1" dirty="0">
                <a:solidFill>
                  <a:srgbClr val="336633"/>
                </a:solidFill>
                <a:cs typeface="Arial" panose="020B0604020202020204" pitchFamily="34" charset="0"/>
              </a:rPr>
              <a:t>O(n)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ANY list: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775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2B25F-4ACC-4396-8406-F48E8A073AF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26234476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47268632"/>
                    </a:ext>
                  </a:extLst>
                </a:gridCol>
              </a:tblGrid>
              <a:tr h="61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157584"/>
                  </a:ext>
                </a:extLst>
              </a:tr>
              <a:tr h="124472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dynamic array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doubly linked list</a:t>
                      </a:r>
                      <a:b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4067080482"/>
                  </a:ext>
                </a:extLst>
              </a:tr>
              <a:tr h="226544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slow since when any element is removed, all following bits are shifted in memory.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faster because no bit shifting is required in memory.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102102299"/>
                  </a:ext>
                </a:extLst>
              </a:tr>
              <a:tr h="1745263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only act as a list</a:t>
                      </a:r>
                      <a:b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since it only implements List.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act as a list or queue (including a stack) 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because it implements List and Deque interfaces.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999517526"/>
                  </a:ext>
                </a:extLst>
              </a:tr>
              <a:tr h="986384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is better for storing and accessing data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 is better for manipulating data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25497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146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Typical Linked List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7739"/>
            <a:ext cx="8915400" cy="1863212"/>
          </a:xfrm>
        </p:spPr>
        <p:txBody>
          <a:bodyPr/>
          <a:lstStyle/>
          <a:p>
            <a:pPr eaLnBrk="1" hangingPunct="1">
              <a:buFont typeface="Wingdings 2" charset="0"/>
              <a:buChar char=""/>
              <a:defRPr/>
            </a:pPr>
            <a:r>
              <a:rPr lang="en-US" sz="2600" b="1" dirty="0">
                <a:latin typeface="Courier New" charset="0"/>
                <a:ea typeface="ＭＳ Ｐゴシック" charset="-128"/>
              </a:rPr>
              <a:t>list</a:t>
            </a:r>
            <a:r>
              <a:rPr lang="en-US" sz="2600" dirty="0">
                <a:ea typeface="ＭＳ Ｐゴシック" charset="0"/>
              </a:rPr>
              <a:t> is a reference variable that stores a reference to the first node. It does not store 10!</a:t>
            </a:r>
          </a:p>
          <a:p>
            <a:pPr eaLnBrk="1" hangingPunct="1">
              <a:buFont typeface="Wingdings 2" charset="0"/>
              <a:buChar char=""/>
              <a:defRPr/>
            </a:pPr>
            <a:r>
              <a:rPr lang="en-US" sz="2600" dirty="0">
                <a:ea typeface="ＭＳ Ｐゴシック" charset="0"/>
              </a:rPr>
              <a:t>Each node</a:t>
            </a:r>
            <a:r>
              <a:rPr lang="en-US" sz="2600" dirty="0">
                <a:ea typeface="ＭＳ Ｐゴシック" charset="-128"/>
              </a:rPr>
              <a:t> stores a value AND a reference to the node that follows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6B4F8-4568-7BCB-B8B1-E0490EB7A9AB}"/>
              </a:ext>
            </a:extLst>
          </p:cNvPr>
          <p:cNvSpPr/>
          <p:nvPr/>
        </p:nvSpPr>
        <p:spPr>
          <a:xfrm>
            <a:off x="3097162" y="6422465"/>
            <a:ext cx="6046838" cy="426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 descr="reference variable list points to a node storing 10 and a link to a node storing 20 and a link to . . . a link to a final node storing 990 and no link.&#10;&#10;list --&gt; 10 --&gt; 20 --&gt; ... --&gt; 990&#10;">
            <a:extLst>
              <a:ext uri="{FF2B5EF4-FFF2-40B4-BE49-F238E27FC236}">
                <a16:creationId xmlns:a16="http://schemas.microsoft.com/office/drawing/2014/main" id="{02F24E35-76DB-DA8A-BC68-72A29E9DC073}"/>
              </a:ext>
            </a:extLst>
          </p:cNvPr>
          <p:cNvGrpSpPr/>
          <p:nvPr/>
        </p:nvGrpSpPr>
        <p:grpSpPr>
          <a:xfrm>
            <a:off x="282575" y="3732548"/>
            <a:ext cx="8525856" cy="938865"/>
            <a:chOff x="282575" y="4024648"/>
            <a:chExt cx="8525856" cy="938865"/>
          </a:xfrm>
        </p:grpSpPr>
        <p:sp>
          <p:nvSpPr>
            <p:cNvPr id="309316" name="Line 68"/>
            <p:cNvSpPr>
              <a:spLocks noChangeShapeType="1"/>
            </p:cNvSpPr>
            <p:nvPr/>
          </p:nvSpPr>
          <p:spPr bwMode="auto">
            <a:xfrm flipV="1">
              <a:off x="6530975" y="4642771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2E157B-286A-D6E6-8644-660100CCEF27}"/>
                </a:ext>
              </a:extLst>
            </p:cNvPr>
            <p:cNvGrpSpPr/>
            <p:nvPr/>
          </p:nvGrpSpPr>
          <p:grpSpPr>
            <a:xfrm>
              <a:off x="6973376" y="4027696"/>
              <a:ext cx="1835055" cy="932769"/>
              <a:chOff x="6973376" y="4110305"/>
              <a:chExt cx="1835055" cy="93276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26217-3D7E-7736-40B9-45FB2ABF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376" y="4110305"/>
                <a:ext cx="1835055" cy="932769"/>
              </a:xfrm>
              <a:prstGeom prst="rect">
                <a:avLst/>
              </a:prstGeom>
            </p:spPr>
          </p:pic>
          <p:sp>
            <p:nvSpPr>
              <p:cNvPr id="309317" name="Line 69"/>
              <p:cNvSpPr>
                <a:spLocks noChangeShapeType="1"/>
              </p:cNvSpPr>
              <p:nvPr/>
            </p:nvSpPr>
            <p:spPr bwMode="auto">
              <a:xfrm flipH="1">
                <a:off x="7890903" y="4551680"/>
                <a:ext cx="867017" cy="3785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318" name="Text Box 70"/>
            <p:cNvSpPr txBox="1">
              <a:spLocks noChangeArrowheads="1"/>
            </p:cNvSpPr>
            <p:nvPr/>
          </p:nvSpPr>
          <p:spPr bwMode="auto">
            <a:xfrm>
              <a:off x="282575" y="4193509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309319" name="Line 71"/>
            <p:cNvSpPr>
              <a:spLocks noChangeShapeType="1"/>
            </p:cNvSpPr>
            <p:nvPr/>
          </p:nvSpPr>
          <p:spPr bwMode="auto">
            <a:xfrm flipV="1">
              <a:off x="1158875" y="4404646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0" name="Text Box 72"/>
            <p:cNvSpPr txBox="1">
              <a:spLocks noChangeArrowheads="1"/>
            </p:cNvSpPr>
            <p:nvPr/>
          </p:nvSpPr>
          <p:spPr bwMode="auto">
            <a:xfrm>
              <a:off x="6073775" y="4398296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1FC27-5556-783A-4E2A-687FC669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00" y="4027696"/>
              <a:ext cx="1676545" cy="9327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99101D-8E64-79EC-05FD-ED23DFFB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6029" y="4024648"/>
              <a:ext cx="1682642" cy="938865"/>
            </a:xfrm>
            <a:prstGeom prst="rect">
              <a:avLst/>
            </a:prstGeom>
          </p:spPr>
        </p:pic>
        <p:sp>
          <p:nvSpPr>
            <p:cNvPr id="309333" name="Line 85"/>
            <p:cNvSpPr>
              <a:spLocks noChangeShapeType="1"/>
            </p:cNvSpPr>
            <p:nvPr/>
          </p:nvSpPr>
          <p:spPr bwMode="auto">
            <a:xfrm flipV="1">
              <a:off x="52863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1" name="Line 73"/>
            <p:cNvSpPr>
              <a:spLocks noChangeShapeType="1"/>
            </p:cNvSpPr>
            <p:nvPr/>
          </p:nvSpPr>
          <p:spPr bwMode="auto">
            <a:xfrm flipV="1">
              <a:off x="32924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24" descr="list --&gt; 10 --&gt; 20 --&gt; ... --&gt; 990">
            <a:extLst>
              <a:ext uri="{FF2B5EF4-FFF2-40B4-BE49-F238E27FC236}">
                <a16:creationId xmlns:a16="http://schemas.microsoft.com/office/drawing/2014/main" id="{EF0A4CAB-F47E-F2FC-D9C0-7A1BE63704C5}"/>
              </a:ext>
            </a:extLst>
          </p:cNvPr>
          <p:cNvGrpSpPr/>
          <p:nvPr/>
        </p:nvGrpSpPr>
        <p:grpSpPr>
          <a:xfrm>
            <a:off x="711200" y="5598646"/>
            <a:ext cx="7092371" cy="784830"/>
            <a:chOff x="711200" y="5598646"/>
            <a:chExt cx="7092371" cy="784830"/>
          </a:xfrm>
        </p:grpSpPr>
        <p:sp>
          <p:nvSpPr>
            <p:cNvPr id="4" name="Line 68">
              <a:extLst>
                <a:ext uri="{FF2B5EF4-FFF2-40B4-BE49-F238E27FC236}">
                  <a16:creationId xmlns:a16="http://schemas.microsoft.com/office/drawing/2014/main" id="{A293203F-72C0-9866-7530-97303553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0000" y="5977989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Text Box 70">
              <a:extLst>
                <a:ext uri="{FF2B5EF4-FFF2-40B4-BE49-F238E27FC236}">
                  <a16:creationId xmlns:a16="http://schemas.microsoft.com/office/drawing/2014/main" id="{DAC6D41A-4692-4DAD-DCEA-201966E9D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" y="5779552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264F5BBC-46B5-9AA2-DF5B-323939B34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75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Text Box 72">
              <a:extLst>
                <a:ext uri="{FF2B5EF4-FFF2-40B4-BE49-F238E27FC236}">
                  <a16:creationId xmlns:a16="http://schemas.microsoft.com/office/drawing/2014/main" id="{53088945-FFD4-2B92-E5C1-61257D0D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0" y="5830352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sp>
          <p:nvSpPr>
            <p:cNvPr id="16" name="Line 85">
              <a:extLst>
                <a:ext uri="{FF2B5EF4-FFF2-40B4-BE49-F238E27FC236}">
                  <a16:creationId xmlns:a16="http://schemas.microsoft.com/office/drawing/2014/main" id="{70B97693-03E1-57DF-0014-B9E1C327C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DD6F9BF8-730A-8682-03DF-AFFA06093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D0F03C-7662-6167-EEE6-5565D2788BCD}"/>
                </a:ext>
              </a:extLst>
            </p:cNvPr>
            <p:cNvSpPr txBox="1"/>
            <p:nvPr/>
          </p:nvSpPr>
          <p:spPr>
            <a:xfrm>
              <a:off x="2536536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095B-63C9-8F2F-768E-A8C201CDC5A6}"/>
                </a:ext>
              </a:extLst>
            </p:cNvPr>
            <p:cNvSpPr txBox="1"/>
            <p:nvPr/>
          </p:nvSpPr>
          <p:spPr>
            <a:xfrm>
              <a:off x="4298950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20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7CB58A-D505-D912-0F68-9D06B5845DA9}"/>
                </a:ext>
              </a:extLst>
            </p:cNvPr>
            <p:cNvSpPr txBox="1"/>
            <p:nvPr/>
          </p:nvSpPr>
          <p:spPr>
            <a:xfrm>
              <a:off x="6998438" y="5598646"/>
              <a:ext cx="805133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990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B6BF65-D470-C4D9-DD2D-2AA626441AE9}"/>
              </a:ext>
            </a:extLst>
          </p:cNvPr>
          <p:cNvSpPr txBox="1"/>
          <p:nvPr/>
        </p:nvSpPr>
        <p:spPr>
          <a:xfrm>
            <a:off x="327280" y="5018535"/>
            <a:ext cx="4777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more streamlined representation: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grpSp>
        <p:nvGrpSpPr>
          <p:cNvPr id="2" name="Group 1" descr="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6CD26A19-0A70-1610-A2BB-8AF4D12F239A}"/>
              </a:ext>
            </a:extLst>
          </p:cNvPr>
          <p:cNvGrpSpPr/>
          <p:nvPr/>
        </p:nvGrpSpPr>
        <p:grpSpPr>
          <a:xfrm>
            <a:off x="1447800" y="2438400"/>
            <a:ext cx="3804444" cy="1250950"/>
            <a:chOff x="1447800" y="2438400"/>
            <a:chExt cx="3804444" cy="1250950"/>
          </a:xfrm>
        </p:grpSpPr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2766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8194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8194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644" y="300499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895600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352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438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Below is the same description as the last slide, but this image has an arrow leading from the &quot;next&quot; part of the node to the word &quot;null&quot;, whereas the previous image had the word &quot;null&quot; in the &quot;next&quot; part of the node.&#10;&#10;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141488A4-2902-2CC1-7104-40CF5328F26E}"/>
              </a:ext>
            </a:extLst>
          </p:cNvPr>
          <p:cNvGrpSpPr/>
          <p:nvPr/>
        </p:nvGrpSpPr>
        <p:grpSpPr>
          <a:xfrm>
            <a:off x="1624385" y="1868227"/>
            <a:ext cx="5215219" cy="1250950"/>
            <a:chOff x="1624385" y="1868227"/>
            <a:chExt cx="5215219" cy="1250950"/>
          </a:xfrm>
        </p:grpSpPr>
        <p:sp>
          <p:nvSpPr>
            <p:cNvPr id="28675" name="Rectangle 2">
              <a:extLst>
                <a:ext uri="{FF2B5EF4-FFF2-40B4-BE49-F238E27FC236}">
                  <a16:creationId xmlns:a16="http://schemas.microsoft.com/office/drawing/2014/main" id="{F138ADEC-BEC2-459D-AAE9-0C14610F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454" y="198810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MS LineDraw" charset="2"/>
              </a:endParaRPr>
            </a:p>
          </p:txBody>
        </p:sp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585" y="270642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985" y="224922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385" y="224922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9" name="Line 6">
              <a:extLst>
                <a:ext uri="{FF2B5EF4-FFF2-40B4-BE49-F238E27FC236}">
                  <a16:creationId xmlns:a16="http://schemas.microsoft.com/office/drawing/2014/main" id="{AE029987-C8EA-4EA9-ABBF-67A972BD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85" y="2706427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585" y="240162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385" y="247782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385" y="2325427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785" y="27826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385" y="18682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8" y="511693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Some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Comparable 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Linkable 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setNext(Linkable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setValue(Comparable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57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public class ListNode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listNodeValue;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ListNode nextListNode;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ListNode(Comparable value, ListNode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//refer to the Linkable interface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10200" y="1447800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869AC684-9010-419A-AF70-AF9FC8739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6446" y="62991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722A2647-79E2-41C8-A00F-EFE27CA7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12900"/>
            <a:ext cx="89154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Linkable node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 null);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(node);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.</a:t>
            </a:r>
            <a:r>
              <a:rPr lang="en-US" altLang="en-US" sz="2800" b="1" dirty="0" err="1">
                <a:solidFill>
                  <a:srgbClr val="FF0000"/>
                </a:solidFill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()</a:t>
            </a:r>
            <a:r>
              <a:rPr lang="en-US" altLang="en-US" sz="2800" b="1" dirty="0">
                <a:latin typeface="Tahoma" panose="020B0604030504040204" pitchFamily="34" charset="0"/>
              </a:rPr>
              <a:t>);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NPE!!!</a:t>
            </a:r>
            <a:endParaRPr lang="en-US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" descr="reference variable node stores a reference to a ListNode object storing 10 and null. The memory location node stores is 0xFA.">
            <a:extLst>
              <a:ext uri="{FF2B5EF4-FFF2-40B4-BE49-F238E27FC236}">
                <a16:creationId xmlns:a16="http://schemas.microsoft.com/office/drawing/2014/main" id="{519FAAB4-39FB-7314-70D2-D37CEA2C1753}"/>
              </a:ext>
            </a:extLst>
          </p:cNvPr>
          <p:cNvGrpSpPr/>
          <p:nvPr/>
        </p:nvGrpSpPr>
        <p:grpSpPr>
          <a:xfrm>
            <a:off x="2357280" y="5164388"/>
            <a:ext cx="3543300" cy="1219200"/>
            <a:chOff x="2357280" y="4967747"/>
            <a:chExt cx="3543300" cy="1219200"/>
          </a:xfrm>
        </p:grpSpPr>
        <p:sp>
          <p:nvSpPr>
            <p:cNvPr id="88068" name="Rectangle 4">
              <a:extLst>
                <a:ext uri="{FF2B5EF4-FFF2-40B4-BE49-F238E27FC236}">
                  <a16:creationId xmlns:a16="http://schemas.microsoft.com/office/drawing/2014/main" id="{63B35EE1-968B-4FF0-BE31-73BEAB72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280" y="534874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88069" name="Rectangle 5">
              <a:extLst>
                <a:ext uri="{FF2B5EF4-FFF2-40B4-BE49-F238E27FC236}">
                  <a16:creationId xmlns:a16="http://schemas.microsoft.com/office/drawing/2014/main" id="{3384A7FC-0D2F-4787-8604-F7625D917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680" y="534874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88071" name="Text Box 7">
              <a:extLst>
                <a:ext uri="{FF2B5EF4-FFF2-40B4-BE49-F238E27FC236}">
                  <a16:creationId xmlns:a16="http://schemas.microsoft.com/office/drawing/2014/main" id="{97EB41B5-29CC-4198-9B2D-9AD3EAB8E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480" y="557734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8072" name="Text Box 8">
              <a:extLst>
                <a:ext uri="{FF2B5EF4-FFF2-40B4-BE49-F238E27FC236}">
                  <a16:creationId xmlns:a16="http://schemas.microsoft.com/office/drawing/2014/main" id="{2126790F-140A-4F5A-A7F9-C43373F4C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980" y="5539434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88073" name="Text Box 9">
              <a:extLst>
                <a:ext uri="{FF2B5EF4-FFF2-40B4-BE49-F238E27FC236}">
                  <a16:creationId xmlns:a16="http://schemas.microsoft.com/office/drawing/2014/main" id="{B89DADA2-B95E-4774-BC46-5B56EA67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280" y="5424947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88074" name="Text Box 10">
              <a:extLst>
                <a:ext uri="{FF2B5EF4-FFF2-40B4-BE49-F238E27FC236}">
                  <a16:creationId xmlns:a16="http://schemas.microsoft.com/office/drawing/2014/main" id="{E5F90ED7-4532-46A9-80FD-75D2B2C83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880" y="58059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5" name="Text Box 11">
              <a:extLst>
                <a:ext uri="{FF2B5EF4-FFF2-40B4-BE49-F238E27FC236}">
                  <a16:creationId xmlns:a16="http://schemas.microsoft.com/office/drawing/2014/main" id="{5AE0BFE6-352E-4A26-B7E1-30A6CC60C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480" y="49677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6" name="Line 12">
              <a:extLst>
                <a:ext uri="{FF2B5EF4-FFF2-40B4-BE49-F238E27FC236}">
                  <a16:creationId xmlns:a16="http://schemas.microsoft.com/office/drawing/2014/main" id="{25CD0869-AD12-481D-B12C-1E39315A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080" y="5729747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0" name="Text Box 13">
            <a:extLst>
              <a:ext uri="{FF2B5EF4-FFF2-40B4-BE49-F238E27FC236}">
                <a16:creationId xmlns:a16="http://schemas.microsoft.com/office/drawing/2014/main" id="{DC4AA381-4CA2-4A46-BBEA-6303CE27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381" y="2303268"/>
            <a:ext cx="3067665" cy="181588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ListNode@0xFA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10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635B1-BF43-10D0-B1DB-535520FEAAB3}"/>
              </a:ext>
            </a:extLst>
          </p:cNvPr>
          <p:cNvSpPr/>
          <p:nvPr/>
        </p:nvSpPr>
        <p:spPr>
          <a:xfrm>
            <a:off x="1864514" y="280396"/>
            <a:ext cx="50241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 Single Node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DCEA428-94FA-43B0-B4E6-E3C9BF7D7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2">
            <a:extLst>
              <a:ext uri="{FF2B5EF4-FFF2-40B4-BE49-F238E27FC236}">
                <a16:creationId xmlns:a16="http://schemas.microsoft.com/office/drawing/2014/main" id="{895C2814-1F9A-4F1F-8C38-D5148A7E9E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CFB5C8F0-3640-40A1-84E0-302E0D34D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7C222F03-920C-4806-B174-DB380239D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0964" name="Rectangle 32">
            <a:extLst>
              <a:ext uri="{FF2B5EF4-FFF2-40B4-BE49-F238E27FC236}">
                <a16:creationId xmlns:a16="http://schemas.microsoft.com/office/drawing/2014/main" id="{E45706D2-616F-4FE1-BFEB-42B5C0E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97888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40965" name="Text Box 34">
            <a:extLst>
              <a:ext uri="{FF2B5EF4-FFF2-40B4-BE49-F238E27FC236}">
                <a16:creationId xmlns:a16="http://schemas.microsoft.com/office/drawing/2014/main" id="{C1B444E0-DA1C-41F5-A7B6-B0442926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00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733B75A4-4886-4EE1-9211-8C2FFE5616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32363B8-6C31-49E1-A5EA-739D92CB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1437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ListNode("11",x);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ListNode("12",y);</a:t>
            </a:r>
          </a:p>
        </p:txBody>
      </p:sp>
      <p:grpSp>
        <p:nvGrpSpPr>
          <p:cNvPr id="2" name="Group 1" descr="This image shows 3 nodes linked together as well as three variables, x, y, and z, that store references to them:&#10;&#10;z = 0x12&#10;0x12 --&gt; 12, 0x15&#10;y = 0x15&#10;0x15 --&gt; 11, 0x17&#10;x = 0x17&#10;0x17 --&gt; 10, null&#10;&#10;Normally this linked list would be represented linearly as:&#10;&#10;z --&gt; 12 --&gt; 11 --&gt; 10 where it is understood that z is a reference variable that refers to the first node and each number represents a node that stores that numeric value AND a link to the following node.">
            <a:extLst>
              <a:ext uri="{FF2B5EF4-FFF2-40B4-BE49-F238E27FC236}">
                <a16:creationId xmlns:a16="http://schemas.microsoft.com/office/drawing/2014/main" id="{7003C4CD-7B1B-A446-8448-559A2A9F9D7F}"/>
              </a:ext>
            </a:extLst>
          </p:cNvPr>
          <p:cNvGrpSpPr/>
          <p:nvPr/>
        </p:nvGrpSpPr>
        <p:grpSpPr>
          <a:xfrm>
            <a:off x="0" y="4191000"/>
            <a:ext cx="8229600" cy="2089150"/>
            <a:chOff x="0" y="4191000"/>
            <a:chExt cx="8229600" cy="2089150"/>
          </a:xfrm>
        </p:grpSpPr>
        <p:sp>
          <p:nvSpPr>
            <p:cNvPr id="93196" name="Rectangle 12">
              <a:extLst>
                <a:ext uri="{FF2B5EF4-FFF2-40B4-BE49-F238E27FC236}">
                  <a16:creationId xmlns:a16="http://schemas.microsoft.com/office/drawing/2014/main" id="{3E0BC32D-3F57-42BB-AA0B-EEDE393F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3197" name="Rectangle 13">
              <a:extLst>
                <a:ext uri="{FF2B5EF4-FFF2-40B4-BE49-F238E27FC236}">
                  <a16:creationId xmlns:a16="http://schemas.microsoft.com/office/drawing/2014/main" id="{6B56A01B-287C-4F84-8D3A-577F37883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00" name="Text Box 16">
              <a:extLst>
                <a:ext uri="{FF2B5EF4-FFF2-40B4-BE49-F238E27FC236}">
                  <a16:creationId xmlns:a16="http://schemas.microsoft.com/office/drawing/2014/main" id="{951DF76F-A357-41EE-BBD5-312E9BD2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93209" name="Text Box 25">
              <a:extLst>
                <a:ext uri="{FF2B5EF4-FFF2-40B4-BE49-F238E27FC236}">
                  <a16:creationId xmlns:a16="http://schemas.microsoft.com/office/drawing/2014/main" id="{AC79DB6B-1328-4636-ADA0-732B9D3A8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55626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3215" name="Text Box 31">
              <a:extLst>
                <a:ext uri="{FF2B5EF4-FFF2-40B4-BE49-F238E27FC236}">
                  <a16:creationId xmlns:a16="http://schemas.microsoft.com/office/drawing/2014/main" id="{69C4D6E4-E8DB-460A-9CCA-CCC59991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18" name="Text Box 34">
              <a:extLst>
                <a:ext uri="{FF2B5EF4-FFF2-40B4-BE49-F238E27FC236}">
                  <a16:creationId xmlns:a16="http://schemas.microsoft.com/office/drawing/2014/main" id="{C461ADA9-DD17-493A-9113-AE3A9E1A2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724400"/>
              <a:ext cx="667871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3221" name="Text Box 37">
              <a:extLst>
                <a:ext uri="{FF2B5EF4-FFF2-40B4-BE49-F238E27FC236}">
                  <a16:creationId xmlns:a16="http://schemas.microsoft.com/office/drawing/2014/main" id="{A84DFD7D-CDC6-447D-9B3A-C12E3756C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22" name="Line 38">
              <a:extLst>
                <a:ext uri="{FF2B5EF4-FFF2-40B4-BE49-F238E27FC236}">
                  <a16:creationId xmlns:a16="http://schemas.microsoft.com/office/drawing/2014/main" id="{3822C529-BD55-477A-9229-2CE280991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1" name="Rectangle 57">
              <a:extLst>
                <a:ext uri="{FF2B5EF4-FFF2-40B4-BE49-F238E27FC236}">
                  <a16:creationId xmlns:a16="http://schemas.microsoft.com/office/drawing/2014/main" id="{DD111D31-915F-4726-B76E-16FE49843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2" name="Rectangle 58">
              <a:extLst>
                <a:ext uri="{FF2B5EF4-FFF2-40B4-BE49-F238E27FC236}">
                  <a16:creationId xmlns:a16="http://schemas.microsoft.com/office/drawing/2014/main" id="{1C8BDB8C-B66E-4E6E-ABE2-5D2304F05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3" name="Line 59">
              <a:extLst>
                <a:ext uri="{FF2B5EF4-FFF2-40B4-BE49-F238E27FC236}">
                  <a16:creationId xmlns:a16="http://schemas.microsoft.com/office/drawing/2014/main" id="{341A5F2B-7276-40D1-8195-8E8EF461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4" name="Rectangle 60">
              <a:extLst>
                <a:ext uri="{FF2B5EF4-FFF2-40B4-BE49-F238E27FC236}">
                  <a16:creationId xmlns:a16="http://schemas.microsoft.com/office/drawing/2014/main" id="{4331EBBF-AF74-44A9-AFA5-8F99766E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5" name="Rectangle 61">
              <a:extLst>
                <a:ext uri="{FF2B5EF4-FFF2-40B4-BE49-F238E27FC236}">
                  <a16:creationId xmlns:a16="http://schemas.microsoft.com/office/drawing/2014/main" id="{3073509A-7596-48DF-92A3-0C02FBC7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6" name="Line 62">
              <a:extLst>
                <a:ext uri="{FF2B5EF4-FFF2-40B4-BE49-F238E27FC236}">
                  <a16:creationId xmlns:a16="http://schemas.microsoft.com/office/drawing/2014/main" id="{C76304D4-EE68-483E-A309-C2B334C46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7" name="Text Box 63">
              <a:extLst>
                <a:ext uri="{FF2B5EF4-FFF2-40B4-BE49-F238E27FC236}">
                  <a16:creationId xmlns:a16="http://schemas.microsoft.com/office/drawing/2014/main" id="{1FF3A8F8-0CBE-4469-B9A1-519522278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93248" name="Text Box 64">
              <a:extLst>
                <a:ext uri="{FF2B5EF4-FFF2-40B4-BE49-F238E27FC236}">
                  <a16:creationId xmlns:a16="http://schemas.microsoft.com/office/drawing/2014/main" id="{25737533-1272-4A92-B77A-E42FEB91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93249" name="Text Box 65">
              <a:extLst>
                <a:ext uri="{FF2B5EF4-FFF2-40B4-BE49-F238E27FC236}">
                  <a16:creationId xmlns:a16="http://schemas.microsoft.com/office/drawing/2014/main" id="{EAADA115-0BB0-4242-8516-E4F03F311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410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93250" name="Text Box 66">
              <a:extLst>
                <a:ext uri="{FF2B5EF4-FFF2-40B4-BE49-F238E27FC236}">
                  <a16:creationId xmlns:a16="http://schemas.microsoft.com/office/drawing/2014/main" id="{DCA76FFA-4414-46AF-AD6C-4E1BB8D17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4648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93251" name="Text Box 67">
              <a:extLst>
                <a:ext uri="{FF2B5EF4-FFF2-40B4-BE49-F238E27FC236}">
                  <a16:creationId xmlns:a16="http://schemas.microsoft.com/office/drawing/2014/main" id="{27CE9588-3B74-47AB-B38D-0BCF6034C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105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2" name="Line 68">
              <a:extLst>
                <a:ext uri="{FF2B5EF4-FFF2-40B4-BE49-F238E27FC236}">
                  <a16:creationId xmlns:a16="http://schemas.microsoft.com/office/drawing/2014/main" id="{AA587DBA-EF24-4739-B9DC-8B07AFE5A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3" name="Text Box 69">
              <a:extLst>
                <a:ext uri="{FF2B5EF4-FFF2-40B4-BE49-F238E27FC236}">
                  <a16:creationId xmlns:a16="http://schemas.microsoft.com/office/drawing/2014/main" id="{4094D04E-707A-46B0-A85F-16742D6E7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4" name="Text Box 70">
              <a:extLst>
                <a:ext uri="{FF2B5EF4-FFF2-40B4-BE49-F238E27FC236}">
                  <a16:creationId xmlns:a16="http://schemas.microsoft.com/office/drawing/2014/main" id="{F58392D4-1F7F-4C5B-8961-86235A137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5" name="Text Box 71">
              <a:extLst>
                <a:ext uri="{FF2B5EF4-FFF2-40B4-BE49-F238E27FC236}">
                  <a16:creationId xmlns:a16="http://schemas.microsoft.com/office/drawing/2014/main" id="{3663D850-59BF-42B3-9E64-A133CBDC0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6" name="Text Box 72">
              <a:extLst>
                <a:ext uri="{FF2B5EF4-FFF2-40B4-BE49-F238E27FC236}">
                  <a16:creationId xmlns:a16="http://schemas.microsoft.com/office/drawing/2014/main" id="{E1F67665-A599-4415-93C3-7D0A4BEDA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57" name="Text Box 73">
              <a:extLst>
                <a:ext uri="{FF2B5EF4-FFF2-40B4-BE49-F238E27FC236}">
                  <a16:creationId xmlns:a16="http://schemas.microsoft.com/office/drawing/2014/main" id="{6685E6B7-BAD4-4AA6-AC39-8DE5B70D8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8" name="Line 74">
              <a:extLst>
                <a:ext uri="{FF2B5EF4-FFF2-40B4-BE49-F238E27FC236}">
                  <a16:creationId xmlns:a16="http://schemas.microsoft.com/office/drawing/2014/main" id="{D6E22B71-2D20-458F-9949-27FFE7AB2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5105400"/>
              <a:ext cx="304800" cy="3810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88" name="WordArt 75">
            <a:extLst>
              <a:ext uri="{FF2B5EF4-FFF2-40B4-BE49-F238E27FC236}">
                <a16:creationId xmlns:a16="http://schemas.microsoft.com/office/drawing/2014/main" id="{FF8166D1-C7FC-4495-8101-4DA8A486EF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86E17B69-EC87-40A4-A032-CE4DAA0793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7B3325-5863-434D-A567-68B7F75E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1326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</p:txBody>
      </p:sp>
      <p:grpSp>
        <p:nvGrpSpPr>
          <p:cNvPr id="2" name="Group 1" descr="This image is similar to the last one, except it doesn't show the memory references.  There are 3 nodes linked together as well as three variables, x, y, and z, that store references to them:&#10;&#10;z --&gt; 12.5 node --&gt; 11.0 node --&gt; 10.3 node&#10;y --&gt; 11.0 node&#10;x --&gt; 10.3 node&#10;&#10;y = 0x15&#10;0x15 --&gt; 11, 0x17&#10;x = 0x17&#10;0x17 --&gt; 10, null&#10;">
            <a:extLst>
              <a:ext uri="{FF2B5EF4-FFF2-40B4-BE49-F238E27FC236}">
                <a16:creationId xmlns:a16="http://schemas.microsoft.com/office/drawing/2014/main" id="{40156607-9457-421A-776A-6834D0493077}"/>
              </a:ext>
            </a:extLst>
          </p:cNvPr>
          <p:cNvGrpSpPr/>
          <p:nvPr/>
        </p:nvGrpSpPr>
        <p:grpSpPr>
          <a:xfrm>
            <a:off x="381000" y="4419600"/>
            <a:ext cx="7655861" cy="1524000"/>
            <a:chOff x="381000" y="4419600"/>
            <a:chExt cx="7655861" cy="1524000"/>
          </a:xfrm>
        </p:grpSpPr>
        <p:sp>
          <p:nvSpPr>
            <p:cNvPr id="47108" name="Rectangle 4">
              <a:extLst>
                <a:ext uri="{FF2B5EF4-FFF2-40B4-BE49-F238E27FC236}">
                  <a16:creationId xmlns:a16="http://schemas.microsoft.com/office/drawing/2014/main" id="{861B4A8B-4A02-4202-8409-E86F3124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09" name="Rectangle 5">
              <a:extLst>
                <a:ext uri="{FF2B5EF4-FFF2-40B4-BE49-F238E27FC236}">
                  <a16:creationId xmlns:a16="http://schemas.microsoft.com/office/drawing/2014/main" id="{A40F9448-C1D9-47D4-9000-71C5BB12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0" name="Line 6">
              <a:extLst>
                <a:ext uri="{FF2B5EF4-FFF2-40B4-BE49-F238E27FC236}">
                  <a16:creationId xmlns:a16="http://schemas.microsoft.com/office/drawing/2014/main" id="{EAB141D8-32B9-47C8-849D-78B6ACD65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Rectangle 7">
              <a:extLst>
                <a:ext uri="{FF2B5EF4-FFF2-40B4-BE49-F238E27FC236}">
                  <a16:creationId xmlns:a16="http://schemas.microsoft.com/office/drawing/2014/main" id="{5A16ED35-E20F-4831-96D5-76706AD6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2" name="Rectangle 8">
              <a:extLst>
                <a:ext uri="{FF2B5EF4-FFF2-40B4-BE49-F238E27FC236}">
                  <a16:creationId xmlns:a16="http://schemas.microsoft.com/office/drawing/2014/main" id="{1417493C-3875-4F3D-B605-3B113402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3" name="Line 9">
              <a:extLst>
                <a:ext uri="{FF2B5EF4-FFF2-40B4-BE49-F238E27FC236}">
                  <a16:creationId xmlns:a16="http://schemas.microsoft.com/office/drawing/2014/main" id="{CDCBE074-5B67-4A77-B4A2-2F327FF02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Rectangle 10">
              <a:extLst>
                <a:ext uri="{FF2B5EF4-FFF2-40B4-BE49-F238E27FC236}">
                  <a16:creationId xmlns:a16="http://schemas.microsoft.com/office/drawing/2014/main" id="{D45E4C30-B5F7-4E60-AE64-5FF7C8C95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15" name="Rectangle 11">
              <a:extLst>
                <a:ext uri="{FF2B5EF4-FFF2-40B4-BE49-F238E27FC236}">
                  <a16:creationId xmlns:a16="http://schemas.microsoft.com/office/drawing/2014/main" id="{8E691505-798B-4421-A834-69B0553DA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7" name="Text Box 13">
              <a:extLst>
                <a:ext uri="{FF2B5EF4-FFF2-40B4-BE49-F238E27FC236}">
                  <a16:creationId xmlns:a16="http://schemas.microsoft.com/office/drawing/2014/main" id="{D1C8CF99-F88C-4D0E-82E2-37CD59F7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6482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10.3</a:t>
              </a:r>
            </a:p>
          </p:txBody>
        </p:sp>
        <p:sp>
          <p:nvSpPr>
            <p:cNvPr id="47118" name="Text Box 14">
              <a:extLst>
                <a:ext uri="{FF2B5EF4-FFF2-40B4-BE49-F238E27FC236}">
                  <a16:creationId xmlns:a16="http://schemas.microsoft.com/office/drawing/2014/main" id="{D60EA552-A16D-4792-90E3-11BB2E7EE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11.0</a:t>
              </a:r>
            </a:p>
          </p:txBody>
        </p:sp>
        <p:sp>
          <p:nvSpPr>
            <p:cNvPr id="47119" name="Text Box 15">
              <a:extLst>
                <a:ext uri="{FF2B5EF4-FFF2-40B4-BE49-F238E27FC236}">
                  <a16:creationId xmlns:a16="http://schemas.microsoft.com/office/drawing/2014/main" id="{81A78FD5-8D90-466A-A70A-199D8E16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12.5</a:t>
              </a:r>
            </a:p>
          </p:txBody>
        </p:sp>
        <p:sp>
          <p:nvSpPr>
            <p:cNvPr id="47120" name="Text Box 16">
              <a:extLst>
                <a:ext uri="{FF2B5EF4-FFF2-40B4-BE49-F238E27FC236}">
                  <a16:creationId xmlns:a16="http://schemas.microsoft.com/office/drawing/2014/main" id="{ED979DA3-AF6D-42CF-84EC-061E7A5E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5720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47121" name="Text Box 17">
              <a:extLst>
                <a:ext uri="{FF2B5EF4-FFF2-40B4-BE49-F238E27FC236}">
                  <a16:creationId xmlns:a16="http://schemas.microsoft.com/office/drawing/2014/main" id="{85799B8C-401C-442E-A4FF-C674681A0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4864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47122" name="Text Box 18">
              <a:extLst>
                <a:ext uri="{FF2B5EF4-FFF2-40B4-BE49-F238E27FC236}">
                  <a16:creationId xmlns:a16="http://schemas.microsoft.com/office/drawing/2014/main" id="{9D842C97-DEA9-4037-81C5-99C90CD8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4864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7123" name="Text Box 19">
              <a:extLst>
                <a:ext uri="{FF2B5EF4-FFF2-40B4-BE49-F238E27FC236}">
                  <a16:creationId xmlns:a16="http://schemas.microsoft.com/office/drawing/2014/main" id="{2C5B327D-9544-40B2-8E62-6819D790D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261" y="4619068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67C9FEDF-F439-47FE-9FF7-DAAACC7A7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>
              <a:extLst>
                <a:ext uri="{FF2B5EF4-FFF2-40B4-BE49-F238E27FC236}">
                  <a16:creationId xmlns:a16="http://schemas.microsoft.com/office/drawing/2014/main" id="{5699475D-AF55-4715-9141-72ABC825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88FB87FA-87BB-474F-AB61-BBCC17F1A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" y="48006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7" name="WordArt 23">
            <a:extLst>
              <a:ext uri="{FF2B5EF4-FFF2-40B4-BE49-F238E27FC236}">
                <a16:creationId xmlns:a16="http://schemas.microsoft.com/office/drawing/2014/main" id="{C9CCF7FC-F67A-480C-8BE7-9E3C28A9DB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C6C72C3-51C3-4F90-9270-A0EC7C64B6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9155" name="WordArt 2">
            <a:extLst>
              <a:ext uri="{FF2B5EF4-FFF2-40B4-BE49-F238E27FC236}">
                <a16:creationId xmlns:a16="http://schemas.microsoft.com/office/drawing/2014/main" id="{223A8399-73A3-447B-8255-BA31E7A379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07D972-210A-4A1F-93FC-4B03633D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84709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out.println(z.getNext().getValue());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587E026-68D8-44F4-82F7-F0196100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724400"/>
            <a:ext cx="19812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sz="2800" b="1">
                <a:latin typeface="Tahoma" panose="020B0604030504040204" pitchFamily="34" charset="0"/>
              </a:rPr>
              <a:t>12.5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11.0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9245B57-DB93-48DD-918C-C1CD5D457C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8CA01F0-95A2-4488-A602-C52211A3F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Using Loops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With Lists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DC91DDB1-5660-4FA6-9D9F-9452B3B61F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WordArt 2">
            <a:extLst>
              <a:ext uri="{FF2B5EF4-FFF2-40B4-BE49-F238E27FC236}">
                <a16:creationId xmlns:a16="http://schemas.microsoft.com/office/drawing/2014/main" id="{75BCA2D9-5EDE-43C6-BE9C-99852183B7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24C29C3-4C27-4128-A145-5045A78F7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F419529-A048-44A5-BED2-D65F3636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. .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D3A83-EACF-3111-49A5-B009C1792704}"/>
              </a:ext>
            </a:extLst>
          </p:cNvPr>
          <p:cNvSpPr txBox="1"/>
          <p:nvPr/>
        </p:nvSpPr>
        <p:spPr>
          <a:xfrm>
            <a:off x="685800" y="5537200"/>
            <a:ext cx="56012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Infinite Loop == Very Bad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</a:t>
            </a:r>
            <a:r>
              <a:rPr lang="en-US" altLang="en-US" sz="2800" b="1">
                <a:solidFill>
                  <a:srgbClr val="008000"/>
                </a:solidFill>
                <a:latin typeface="Tahoma" panose="020B0604030504040204" pitchFamily="34" charset="0"/>
              </a:rPr>
              <a:t>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114300" y="5995988"/>
            <a:ext cx="9129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Better, but what is x storing after the loop?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9657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temp = x;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while( temp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 </a:t>
            </a:r>
            <a:r>
              <a:rPr lang="en-US" altLang="en-US" sz="2800" b="1" dirty="0" err="1">
                <a:latin typeface="Tahoma" panose="020B0604030504040204" pitchFamily="34" charset="0"/>
              </a:rPr>
              <a:t>temp.getValue</a:t>
            </a:r>
            <a:r>
              <a:rPr lang="en-US" altLang="en-US" sz="2800" b="1" dirty="0">
                <a:latin typeface="Tahoma" panose="020B0604030504040204" pitchFamily="34" charset="0"/>
              </a:rPr>
              <a:t>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temp = </a:t>
            </a:r>
            <a:r>
              <a:rPr lang="en-US" altLang="en-US" sz="2800" b="1" dirty="0" err="1">
                <a:solidFill>
                  <a:srgbClr val="008000"/>
                </a:solidFill>
                <a:latin typeface="Tahoma" panose="020B0604030504040204" pitchFamily="34" charset="0"/>
              </a:rPr>
              <a:t>temp.getNext</a:t>
            </a:r>
            <a:r>
              <a:rPr lang="en-US" altLang="en-US" sz="2800" b="1" dirty="0">
                <a:solidFill>
                  <a:srgbClr val="008000"/>
                </a:solidFill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45BD2E-B3AC-66FF-93CA-AE3C1F43FF6F}"/>
              </a:ext>
            </a:extLst>
          </p:cNvPr>
          <p:cNvSpPr txBox="1"/>
          <p:nvPr/>
        </p:nvSpPr>
        <p:spPr>
          <a:xfrm>
            <a:off x="50800" y="5995988"/>
            <a:ext cx="9190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36633"/>
                </a:solidFill>
              </a:rPr>
              <a:t>x still points to the first node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2149188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692B78AA-5511-4609-9D7F-0AB6232D8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3491" name="WordArt 2">
            <a:extLst>
              <a:ext uri="{FF2B5EF4-FFF2-40B4-BE49-F238E27FC236}">
                <a16:creationId xmlns:a16="http://schemas.microsoft.com/office/drawing/2014/main" id="{0A58F576-B93E-4527-8563-FFFB3ADA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Summing All Nodes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9EAC22B-02DC-4E27-8801-CE25E60D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026275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ListNode(8,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ListNode(5,null)));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int sum=0;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sum = sum + (Integer)x.getValue();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out.println(sum);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2D83B299-E1D7-4FEF-A7DB-F5472526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76600"/>
            <a:ext cx="1981200" cy="10795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84304D99-99E6-4446-B68F-025ECA2EF3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7587" name="WordArt 2">
            <a:extLst>
              <a:ext uri="{FF2B5EF4-FFF2-40B4-BE49-F238E27FC236}">
                <a16:creationId xmlns:a16="http://schemas.microsoft.com/office/drawing/2014/main" id="{99524BB6-17D0-485F-BA97-3AAC4870C6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Adding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7D8BBF8-377A-4401-8F7E-419470E6F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44AE894-FF41-472E-B370-52D3BCBB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69641" name="Text Box 19">
            <a:extLst>
              <a:ext uri="{FF2B5EF4-FFF2-40B4-BE49-F238E27FC236}">
                <a16:creationId xmlns:a16="http://schemas.microsoft.com/office/drawing/2014/main" id="{1E40844E-4D38-4316-8E46-41AD9EFC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292107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("cat", null);</a:t>
            </a:r>
          </a:p>
        </p:txBody>
      </p:sp>
      <p:grpSp>
        <p:nvGrpSpPr>
          <p:cNvPr id="2" name="Group 1" descr="front = 0xF2&#10;0xF2 --&gt; cat, null&#10;Normal representation:&#10;front --&gt; cat --&gt; null">
            <a:extLst>
              <a:ext uri="{FF2B5EF4-FFF2-40B4-BE49-F238E27FC236}">
                <a16:creationId xmlns:a16="http://schemas.microsoft.com/office/drawing/2014/main" id="{24F219CB-A544-372E-F167-FD6E51CA2BFE}"/>
              </a:ext>
            </a:extLst>
          </p:cNvPr>
          <p:cNvGrpSpPr/>
          <p:nvPr/>
        </p:nvGrpSpPr>
        <p:grpSpPr>
          <a:xfrm>
            <a:off x="4343400" y="2514600"/>
            <a:ext cx="3220572" cy="1327150"/>
            <a:chOff x="4343400" y="2514600"/>
            <a:chExt cx="3220572" cy="1327150"/>
          </a:xfrm>
        </p:grpSpPr>
        <p:sp>
          <p:nvSpPr>
            <p:cNvPr id="69636" name="Rectangle 9">
              <a:extLst>
                <a:ext uri="{FF2B5EF4-FFF2-40B4-BE49-F238E27FC236}">
                  <a16:creationId xmlns:a16="http://schemas.microsoft.com/office/drawing/2014/main" id="{913A88A8-E2B0-4746-9DD9-0C554CAB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9637" name="Rectangle 10">
              <a:extLst>
                <a:ext uri="{FF2B5EF4-FFF2-40B4-BE49-F238E27FC236}">
                  <a16:creationId xmlns:a16="http://schemas.microsoft.com/office/drawing/2014/main" id="{F33F6D2F-6BC3-494F-9601-E639D3E5A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9639" name="Text Box 12">
              <a:extLst>
                <a:ext uri="{FF2B5EF4-FFF2-40B4-BE49-F238E27FC236}">
                  <a16:creationId xmlns:a16="http://schemas.microsoft.com/office/drawing/2014/main" id="{3B4124BB-72D2-4FB9-9C78-58F5799C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69640" name="Text Box 16">
              <a:extLst>
                <a:ext uri="{FF2B5EF4-FFF2-40B4-BE49-F238E27FC236}">
                  <a16:creationId xmlns:a16="http://schemas.microsoft.com/office/drawing/2014/main" id="{AA8B9557-9714-41E4-9D2E-BDC879790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372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69642" name="Text Box 20">
              <a:extLst>
                <a:ext uri="{FF2B5EF4-FFF2-40B4-BE49-F238E27FC236}">
                  <a16:creationId xmlns:a16="http://schemas.microsoft.com/office/drawing/2014/main" id="{4BD36D29-C325-4C74-98D4-2D522BA33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69643" name="Text Box 21">
              <a:extLst>
                <a:ext uri="{FF2B5EF4-FFF2-40B4-BE49-F238E27FC236}">
                  <a16:creationId xmlns:a16="http://schemas.microsoft.com/office/drawing/2014/main" id="{0079C6D5-51E1-49B8-8A98-79366BD24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05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69644" name="Text Box 22">
              <a:extLst>
                <a:ext uri="{FF2B5EF4-FFF2-40B4-BE49-F238E27FC236}">
                  <a16:creationId xmlns:a16="http://schemas.microsoft.com/office/drawing/2014/main" id="{CBAECB9A-2C86-48A6-B583-D48D8449C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69645" name="WordArt 24">
            <a:extLst>
              <a:ext uri="{FF2B5EF4-FFF2-40B4-BE49-F238E27FC236}">
                <a16:creationId xmlns:a16="http://schemas.microsoft.com/office/drawing/2014/main" id="{7558B041-D1BA-4123-A6E4-618F047450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6096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DE390BD-749F-AA78-5C7D-A58FC891EBF5}"/>
              </a:ext>
            </a:extLst>
          </p:cNvPr>
          <p:cNvGrpSpPr/>
          <p:nvPr/>
        </p:nvGrpSpPr>
        <p:grpSpPr>
          <a:xfrm>
            <a:off x="1981200" y="2514600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2BE50758-8F94-49DC-8ED0-1A83A4CE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174B9809-B47D-464D-867F-C6A7119E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ED90A58A-9E6D-4396-A5A9-E6FD6B79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FE41F74F-4827-4E4E-85C7-CFF1E5E5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DFD0E51B-9D51-46F0-8E13-130065C9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232BBAAF-6359-49E6-AF66-8E51B42AA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966892D3-75F4-4410-AB0D-988FDD90C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92169B3E-D055-409F-9D0D-2DAEC579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F58DBD64-EE54-4069-9C63-D7C1E85D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42500536-2DFD-40CD-AE6F-894EDB15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48A9B8FF-686E-474D-A0DF-2F5B9AD22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2ABD523D-F3AC-4528-983B-016C5244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943FD49A-FC93-4E42-9221-6403E0E11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83616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("dog", front);</a:t>
            </a:r>
          </a:p>
        </p:txBody>
      </p:sp>
      <p:sp>
        <p:nvSpPr>
          <p:cNvPr id="71699" name="WordArt 31">
            <a:extLst>
              <a:ext uri="{FF2B5EF4-FFF2-40B4-BE49-F238E27FC236}">
                <a16:creationId xmlns:a16="http://schemas.microsoft.com/office/drawing/2014/main" id="{422EE3EB-BADA-4730-A2BF-F9F167AB35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D4966E99-3043-4723-A101-F1033BD72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6E5568C-0639-418D-976A-DCF0775C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E4D52452-B3CA-9C01-21B3-F6F3D6F36AE2}"/>
              </a:ext>
            </a:extLst>
          </p:cNvPr>
          <p:cNvGrpSpPr/>
          <p:nvPr/>
        </p:nvGrpSpPr>
        <p:grpSpPr>
          <a:xfrm>
            <a:off x="304800" y="2514600"/>
            <a:ext cx="7810500" cy="1250950"/>
            <a:chOff x="304800" y="2514600"/>
            <a:chExt cx="7810500" cy="1250950"/>
          </a:xfrm>
        </p:grpSpPr>
        <p:sp>
          <p:nvSpPr>
            <p:cNvPr id="73732" name="Rectangle 13">
              <a:extLst>
                <a:ext uri="{FF2B5EF4-FFF2-40B4-BE49-F238E27FC236}">
                  <a16:creationId xmlns:a16="http://schemas.microsoft.com/office/drawing/2014/main" id="{1B24CD4C-3E95-4AF8-8BE4-61A5CA531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3" name="Rectangle 14">
              <a:extLst>
                <a:ext uri="{FF2B5EF4-FFF2-40B4-BE49-F238E27FC236}">
                  <a16:creationId xmlns:a16="http://schemas.microsoft.com/office/drawing/2014/main" id="{2BB03E62-91EA-43BC-8167-7FB9DE32D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4" name="Line 15">
              <a:extLst>
                <a:ext uri="{FF2B5EF4-FFF2-40B4-BE49-F238E27FC236}">
                  <a16:creationId xmlns:a16="http://schemas.microsoft.com/office/drawing/2014/main" id="{0BA8D338-883A-4930-A91E-B11993CE6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5" name="Rectangle 16">
              <a:extLst>
                <a:ext uri="{FF2B5EF4-FFF2-40B4-BE49-F238E27FC236}">
                  <a16:creationId xmlns:a16="http://schemas.microsoft.com/office/drawing/2014/main" id="{1D374B6A-33A5-4B6F-A5BA-FDF7E8CE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6" name="Rectangle 17">
              <a:extLst>
                <a:ext uri="{FF2B5EF4-FFF2-40B4-BE49-F238E27FC236}">
                  <a16:creationId xmlns:a16="http://schemas.microsoft.com/office/drawing/2014/main" id="{7BCF5846-3034-4FFE-9B59-E82B6D3B2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7" name="Line 18">
              <a:extLst>
                <a:ext uri="{FF2B5EF4-FFF2-40B4-BE49-F238E27FC236}">
                  <a16:creationId xmlns:a16="http://schemas.microsoft.com/office/drawing/2014/main" id="{6390ABB3-5B93-4D36-A483-5AF5CF6AD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Rectangle 19">
              <a:extLst>
                <a:ext uri="{FF2B5EF4-FFF2-40B4-BE49-F238E27FC236}">
                  <a16:creationId xmlns:a16="http://schemas.microsoft.com/office/drawing/2014/main" id="{980ACEFE-1362-46FD-BDCB-6E211ADA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3739" name="Rectangle 20">
              <a:extLst>
                <a:ext uri="{FF2B5EF4-FFF2-40B4-BE49-F238E27FC236}">
                  <a16:creationId xmlns:a16="http://schemas.microsoft.com/office/drawing/2014/main" id="{F5B7DD40-AD8C-40E0-AD11-B440BEBF3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41" name="Text Box 22">
              <a:extLst>
                <a:ext uri="{FF2B5EF4-FFF2-40B4-BE49-F238E27FC236}">
                  <a16:creationId xmlns:a16="http://schemas.microsoft.com/office/drawing/2014/main" id="{C2ABE3C7-5A75-4314-861D-DD57ADD4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3742" name="Text Box 23">
              <a:extLst>
                <a:ext uri="{FF2B5EF4-FFF2-40B4-BE49-F238E27FC236}">
                  <a16:creationId xmlns:a16="http://schemas.microsoft.com/office/drawing/2014/main" id="{0F2E32B2-D6F3-4689-98C1-718CFA45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3743" name="Text Box 24">
              <a:extLst>
                <a:ext uri="{FF2B5EF4-FFF2-40B4-BE49-F238E27FC236}">
                  <a16:creationId xmlns:a16="http://schemas.microsoft.com/office/drawing/2014/main" id="{E9CA6B9C-5C28-4099-A778-63E4E4F1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73744" name="Text Box 26">
              <a:extLst>
                <a:ext uri="{FF2B5EF4-FFF2-40B4-BE49-F238E27FC236}">
                  <a16:creationId xmlns:a16="http://schemas.microsoft.com/office/drawing/2014/main" id="{55E3B61A-0295-48FE-99B5-C0849C0CC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3745" name="Text Box 30">
              <a:extLst>
                <a:ext uri="{FF2B5EF4-FFF2-40B4-BE49-F238E27FC236}">
                  <a16:creationId xmlns:a16="http://schemas.microsoft.com/office/drawing/2014/main" id="{92A696E1-F586-4BF4-B830-9BD29C943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3746" name="Text Box 31">
              <a:extLst>
                <a:ext uri="{FF2B5EF4-FFF2-40B4-BE49-F238E27FC236}">
                  <a16:creationId xmlns:a16="http://schemas.microsoft.com/office/drawing/2014/main" id="{A5E4255F-16EC-48A5-8DE4-AA5643A27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47" name="Text Box 32">
              <a:extLst>
                <a:ext uri="{FF2B5EF4-FFF2-40B4-BE49-F238E27FC236}">
                  <a16:creationId xmlns:a16="http://schemas.microsoft.com/office/drawing/2014/main" id="{3B06477F-1A81-42CD-A617-B0A94577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8" name="Text Box 33">
              <a:extLst>
                <a:ext uri="{FF2B5EF4-FFF2-40B4-BE49-F238E27FC236}">
                  <a16:creationId xmlns:a16="http://schemas.microsoft.com/office/drawing/2014/main" id="{106DC784-7D91-4CEE-AA1C-C4B0C60A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9" name="Text Box 34">
              <a:extLst>
                <a:ext uri="{FF2B5EF4-FFF2-40B4-BE49-F238E27FC236}">
                  <a16:creationId xmlns:a16="http://schemas.microsoft.com/office/drawing/2014/main" id="{E574D0C5-D65E-442E-8B5B-F3112E35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50" name="Text Box 35">
              <a:extLst>
                <a:ext uri="{FF2B5EF4-FFF2-40B4-BE49-F238E27FC236}">
                  <a16:creationId xmlns:a16="http://schemas.microsoft.com/office/drawing/2014/main" id="{365E84C5-D4CF-46A1-87C7-957E986D5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73751" name="Text Box 36">
              <a:extLst>
                <a:ext uri="{FF2B5EF4-FFF2-40B4-BE49-F238E27FC236}">
                  <a16:creationId xmlns:a16="http://schemas.microsoft.com/office/drawing/2014/main" id="{05604ACD-9A2F-4103-9885-7CDA07EAF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</p:grpSp>
      <p:sp>
        <p:nvSpPr>
          <p:cNvPr id="73752" name="Text Box 40">
            <a:extLst>
              <a:ext uri="{FF2B5EF4-FFF2-40B4-BE49-F238E27FC236}">
                <a16:creationId xmlns:a16="http://schemas.microsoft.com/office/drawing/2014/main" id="{284A82D8-7ADE-4A4B-8C79-C9CB3500B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11480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("pig", front);</a:t>
            </a:r>
          </a:p>
        </p:txBody>
      </p:sp>
      <p:sp>
        <p:nvSpPr>
          <p:cNvPr id="73753" name="WordArt 42">
            <a:extLst>
              <a:ext uri="{FF2B5EF4-FFF2-40B4-BE49-F238E27FC236}">
                <a16:creationId xmlns:a16="http://schemas.microsoft.com/office/drawing/2014/main" id="{2A3B3D4C-6052-40A0-8CE0-92A0AC8508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7AB9A650-A22A-4117-9055-35BA17B8FE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B38429-946B-4B62-991D-6B02EC80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67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front=null;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ListNode("10", 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ListNode("11",front);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ListNode("12",front);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out.println(front.getNext().getValue());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9A047981-433D-4B1F-BC58-B0A59621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5781" name="WordArt 8">
            <a:extLst>
              <a:ext uri="{FF2B5EF4-FFF2-40B4-BE49-F238E27FC236}">
                <a16:creationId xmlns:a16="http://schemas.microsoft.com/office/drawing/2014/main" id="{23D64189-BA8F-4043-8D9C-99898953B0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5A70D92-7679-4A9D-8101-FABEF594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01B2B6A-6414-4D49-944E-28BFA235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3F7B9CB-B3AC-4FA3-86E9-D3452EBF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63FA20B5-F552-4FB1-993C-7E7DE991F4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WordArt 2">
            <a:extLst>
              <a:ext uri="{FF2B5EF4-FFF2-40B4-BE49-F238E27FC236}">
                <a16:creationId xmlns:a16="http://schemas.microsoft.com/office/drawing/2014/main" id="{3A55F777-190C-49CB-ACB4-DE4F6E2C5C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Finding 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B4D89A9A-BF26-42BC-A5E8-EB40BAB4A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WordArt 2">
            <a:extLst>
              <a:ext uri="{FF2B5EF4-FFF2-40B4-BE49-F238E27FC236}">
                <a16:creationId xmlns:a16="http://schemas.microsoft.com/office/drawing/2014/main" id="{1A44BEB0-B8F6-4171-9BBB-104071BA16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Finding a Node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A029B7A-5C95-453F-8318-8FBFB124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818197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list = front;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 ( there are more nodes to check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if( a node containing the value was found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return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move to the next node to check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return false;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EC923905-0368-4B87-9F67-46DF2E8A29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WordArt 2">
            <a:extLst>
              <a:ext uri="{FF2B5EF4-FFF2-40B4-BE49-F238E27FC236}">
                <a16:creationId xmlns:a16="http://schemas.microsoft.com/office/drawing/2014/main" id="{F22F650D-4155-44E9-A054-8FDA638C52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E03E79F5-A609-4C85-8B14-AE4E42DBF1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8067" name="WordArt 2">
            <a:extLst>
              <a:ext uri="{FF2B5EF4-FFF2-40B4-BE49-F238E27FC236}">
                <a16:creationId xmlns:a16="http://schemas.microsoft.com/office/drawing/2014/main" id="{82FA84AD-3390-4D3D-A942-5C71D742B2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5438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First Node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CD03B3DC-9CCD-45BA-BFD7-520AE69EF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B859716-5E5C-47CD-9C50-C54EF35C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3000"/>
            <a:ext cx="39385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pig is to be removed.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0126" name="WordArt 15">
            <a:extLst>
              <a:ext uri="{FF2B5EF4-FFF2-40B4-BE49-F238E27FC236}">
                <a16:creationId xmlns:a16="http://schemas.microsoft.com/office/drawing/2014/main" id="{6D88AC51-689E-4762-9FD1-AAA90BF100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90127" name="Text Box 16">
            <a:extLst>
              <a:ext uri="{FF2B5EF4-FFF2-40B4-BE49-F238E27FC236}">
                <a16:creationId xmlns:a16="http://schemas.microsoft.com/office/drawing/2014/main" id="{5322F3DB-F847-4740-8786-3F04030B0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05400"/>
            <a:ext cx="63246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refers to the 1</a:t>
            </a:r>
            <a:r>
              <a:rPr lang="en-US" altLang="en-US" sz="2800" baseline="30000">
                <a:solidFill>
                  <a:schemeClr val="accent2"/>
                </a:solidFill>
                <a:latin typeface="Tahoma" panose="020B0604030504040204" pitchFamily="34" charset="0"/>
              </a:rPr>
              <a:t>st</a:t>
            </a: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 node in the list.</a:t>
            </a:r>
          </a:p>
        </p:txBody>
      </p:sp>
      <p:grpSp>
        <p:nvGrpSpPr>
          <p:cNvPr id="2" name="Group 1" descr="front = 0xB3A&#10;0xB3A --&gt; pig, 0x2CB&#10;0x2CB --&gt; dog, 0xFEA&#10;0xFEA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C4A20493-8F71-9453-DB5A-F458CE1D7AAD}"/>
              </a:ext>
            </a:extLst>
          </p:cNvPr>
          <p:cNvGrpSpPr/>
          <p:nvPr/>
        </p:nvGrpSpPr>
        <p:grpSpPr>
          <a:xfrm>
            <a:off x="396690" y="2608729"/>
            <a:ext cx="8305800" cy="1143000"/>
            <a:chOff x="396690" y="2608729"/>
            <a:chExt cx="8305800" cy="1143000"/>
          </a:xfrm>
        </p:grpSpPr>
        <p:sp>
          <p:nvSpPr>
            <p:cNvPr id="90116" name="Rectangle 3">
              <a:extLst>
                <a:ext uri="{FF2B5EF4-FFF2-40B4-BE49-F238E27FC236}">
                  <a16:creationId xmlns:a16="http://schemas.microsoft.com/office/drawing/2014/main" id="{6C1D11D6-7604-4E07-8581-C28FABD5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6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7" name="Rectangle 4">
              <a:extLst>
                <a:ext uri="{FF2B5EF4-FFF2-40B4-BE49-F238E27FC236}">
                  <a16:creationId xmlns:a16="http://schemas.microsoft.com/office/drawing/2014/main" id="{455E2DB5-8698-4504-86F9-0C4EC3865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0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8" name="Rectangle 5">
              <a:extLst>
                <a:ext uri="{FF2B5EF4-FFF2-40B4-BE49-F238E27FC236}">
                  <a16:creationId xmlns:a16="http://schemas.microsoft.com/office/drawing/2014/main" id="{08654975-28CA-4AD2-8E25-123ABEC26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4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9" name="Rectangle 6">
              <a:extLst>
                <a:ext uri="{FF2B5EF4-FFF2-40B4-BE49-F238E27FC236}">
                  <a16:creationId xmlns:a16="http://schemas.microsoft.com/office/drawing/2014/main" id="{D2088F77-5557-436C-A12B-4290AF8F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8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0" name="Rectangle 7">
              <a:extLst>
                <a:ext uri="{FF2B5EF4-FFF2-40B4-BE49-F238E27FC236}">
                  <a16:creationId xmlns:a16="http://schemas.microsoft.com/office/drawing/2014/main" id="{3365ACE2-E822-4110-BC1D-ABFA4728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2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0121" name="Rectangle 8">
              <a:extLst>
                <a:ext uri="{FF2B5EF4-FFF2-40B4-BE49-F238E27FC236}">
                  <a16:creationId xmlns:a16="http://schemas.microsoft.com/office/drawing/2014/main" id="{4E8DDBE7-8F2B-4915-BED0-45AD2D86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6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2" name="Text Box 9">
              <a:extLst>
                <a:ext uri="{FF2B5EF4-FFF2-40B4-BE49-F238E27FC236}">
                  <a16:creationId xmlns:a16="http://schemas.microsoft.com/office/drawing/2014/main" id="{4347A3FF-5004-4720-B465-29CD99CCE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74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0123" name="Text Box 10">
              <a:extLst>
                <a:ext uri="{FF2B5EF4-FFF2-40B4-BE49-F238E27FC236}">
                  <a16:creationId xmlns:a16="http://schemas.microsoft.com/office/drawing/2014/main" id="{1B1675A1-AB07-4D31-AEAD-EFD017E68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76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0124" name="Text Box 11">
              <a:extLst>
                <a:ext uri="{FF2B5EF4-FFF2-40B4-BE49-F238E27FC236}">
                  <a16:creationId xmlns:a16="http://schemas.microsoft.com/office/drawing/2014/main" id="{553ED3E5-DD80-46C0-8512-C7196A255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8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0125" name="Text Box 13">
              <a:extLst>
                <a:ext uri="{FF2B5EF4-FFF2-40B4-BE49-F238E27FC236}">
                  <a16:creationId xmlns:a16="http://schemas.microsoft.com/office/drawing/2014/main" id="{9A728038-9296-4C42-A473-03BC4FFF0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1890" y="3142129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0128" name="Text Box 18">
              <a:extLst>
                <a:ext uri="{FF2B5EF4-FFF2-40B4-BE49-F238E27FC236}">
                  <a16:creationId xmlns:a16="http://schemas.microsoft.com/office/drawing/2014/main" id="{D834061D-6427-4515-B66F-FDA4CDD7E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6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29" name="Line 19">
              <a:extLst>
                <a:ext uri="{FF2B5EF4-FFF2-40B4-BE49-F238E27FC236}">
                  <a16:creationId xmlns:a16="http://schemas.microsoft.com/office/drawing/2014/main" id="{07303EF1-C989-48FD-8C65-FF5939B9B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2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0" name="Text Box 23">
              <a:extLst>
                <a:ext uri="{FF2B5EF4-FFF2-40B4-BE49-F238E27FC236}">
                  <a16:creationId xmlns:a16="http://schemas.microsoft.com/office/drawing/2014/main" id="{F73439AC-15B8-4419-BFF9-6B69D407F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2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1" name="Text Box 24">
              <a:extLst>
                <a:ext uri="{FF2B5EF4-FFF2-40B4-BE49-F238E27FC236}">
                  <a16:creationId xmlns:a16="http://schemas.microsoft.com/office/drawing/2014/main" id="{C7477C31-CC12-4F19-BD11-8BC7FE982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2" name="Line 25">
              <a:extLst>
                <a:ext uri="{FF2B5EF4-FFF2-40B4-BE49-F238E27FC236}">
                  <a16:creationId xmlns:a16="http://schemas.microsoft.com/office/drawing/2014/main" id="{19241349-31C6-4EE0-8E6D-237A7AE23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0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4" name="Text Box 27">
              <a:extLst>
                <a:ext uri="{FF2B5EF4-FFF2-40B4-BE49-F238E27FC236}">
                  <a16:creationId xmlns:a16="http://schemas.microsoft.com/office/drawing/2014/main" id="{E336753F-BBEC-41F5-9101-3A57D64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0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5" name="Text Box 28">
              <a:extLst>
                <a:ext uri="{FF2B5EF4-FFF2-40B4-BE49-F238E27FC236}">
                  <a16:creationId xmlns:a16="http://schemas.microsoft.com/office/drawing/2014/main" id="{7F931461-72C1-4AA4-8A22-B551D5347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8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6" name="Text Box 32">
              <a:extLst>
                <a:ext uri="{FF2B5EF4-FFF2-40B4-BE49-F238E27FC236}">
                  <a16:creationId xmlns:a16="http://schemas.microsoft.com/office/drawing/2014/main" id="{19AD7A20-72D8-4B93-9D63-0CBCB69D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2761129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0137" name="Text Box 34">
              <a:extLst>
                <a:ext uri="{FF2B5EF4-FFF2-40B4-BE49-F238E27FC236}">
                  <a16:creationId xmlns:a16="http://schemas.microsoft.com/office/drawing/2014/main" id="{B9F7648E-F72E-4105-AB83-5A4406BC8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31421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38" name="Line 35">
              <a:extLst>
                <a:ext uri="{FF2B5EF4-FFF2-40B4-BE49-F238E27FC236}">
                  <a16:creationId xmlns:a16="http://schemas.microsoft.com/office/drawing/2014/main" id="{E2407369-5FC3-40EE-AD5F-511DE45C4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490" y="3065929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9BE25972-ABF2-4859-924A-78ED7FA2B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C4AFB20-EED7-4455-80FF-2592816E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445611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front = front.getNext();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53BEC47D-F119-4EDE-860F-8CB912DC8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moves up one node.  </a:t>
            </a:r>
          </a:p>
        </p:txBody>
      </p:sp>
      <p:sp>
        <p:nvSpPr>
          <p:cNvPr id="92186" name="WordArt 32">
            <a:extLst>
              <a:ext uri="{FF2B5EF4-FFF2-40B4-BE49-F238E27FC236}">
                <a16:creationId xmlns:a16="http://schemas.microsoft.com/office/drawing/2014/main" id="{DF347EBE-AB28-49C7-A689-8A79392141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grpSp>
        <p:nvGrpSpPr>
          <p:cNvPr id="2" name="Group 1" descr="Before removal:&#10;front = 0xB3A&#10;0xB3A --&gt; pig, 0x2CB&#10;0x2CB --&gt; dog, 0xFEA&#10;0xFEA --&gt; cat, null&#10;&#10;After removal:&#10;front = 0x2CB&#10;0x2CB --&gt; dog, 0xFEA&#10;0xFEA --&gt; cat, null&#10;&#10;Note that the pig node still exists in memory temporarily, but has been marked for removal by the garbage collector.&#10;&#10;Normal representation of original list:&#10;front --&gt; pig --&gt; dog --&gt; cat --&gt; null&#10;&#10;after removal:&#10;front --&gt; dog --&gt; cat --&gt; null">
            <a:extLst>
              <a:ext uri="{FF2B5EF4-FFF2-40B4-BE49-F238E27FC236}">
                <a16:creationId xmlns:a16="http://schemas.microsoft.com/office/drawing/2014/main" id="{0421C70A-28EB-2653-02AD-F5778D354342}"/>
              </a:ext>
            </a:extLst>
          </p:cNvPr>
          <p:cNvGrpSpPr/>
          <p:nvPr/>
        </p:nvGrpSpPr>
        <p:grpSpPr>
          <a:xfrm>
            <a:off x="457200" y="2364432"/>
            <a:ext cx="8305800" cy="1353680"/>
            <a:chOff x="457200" y="2364432"/>
            <a:chExt cx="8305800" cy="1353680"/>
          </a:xfrm>
        </p:grpSpPr>
        <p:sp>
          <p:nvSpPr>
            <p:cNvPr id="204805" name="Rectangle 5">
              <a:extLst>
                <a:ext uri="{FF2B5EF4-FFF2-40B4-BE49-F238E27FC236}">
                  <a16:creationId xmlns:a16="http://schemas.microsoft.com/office/drawing/2014/main" id="{2E1693FC-571D-43EC-AA17-2E979353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04806" name="Rectangle 6">
              <a:extLst>
                <a:ext uri="{FF2B5EF4-FFF2-40B4-BE49-F238E27FC236}">
                  <a16:creationId xmlns:a16="http://schemas.microsoft.com/office/drawing/2014/main" id="{D3E2A0CA-E3FA-4CF1-9134-D9204D98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7" name="Rectangle 7">
              <a:extLst>
                <a:ext uri="{FF2B5EF4-FFF2-40B4-BE49-F238E27FC236}">
                  <a16:creationId xmlns:a16="http://schemas.microsoft.com/office/drawing/2014/main" id="{D4FCF855-4867-4B88-A390-80C778C3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8" name="Rectangle 8">
              <a:extLst>
                <a:ext uri="{FF2B5EF4-FFF2-40B4-BE49-F238E27FC236}">
                  <a16:creationId xmlns:a16="http://schemas.microsoft.com/office/drawing/2014/main" id="{32C966C5-CE8C-4AAA-8256-F08862F81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9" name="Rectangle 9">
              <a:extLst>
                <a:ext uri="{FF2B5EF4-FFF2-40B4-BE49-F238E27FC236}">
                  <a16:creationId xmlns:a16="http://schemas.microsoft.com/office/drawing/2014/main" id="{6F4CD220-F95E-4610-80A1-36B3BD357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2170" name="Rectangle 10">
              <a:extLst>
                <a:ext uri="{FF2B5EF4-FFF2-40B4-BE49-F238E27FC236}">
                  <a16:creationId xmlns:a16="http://schemas.microsoft.com/office/drawing/2014/main" id="{A67142BD-DFA6-4EF5-8902-46DC4177E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72" name="Text Box 12">
              <a:extLst>
                <a:ext uri="{FF2B5EF4-FFF2-40B4-BE49-F238E27FC236}">
                  <a16:creationId xmlns:a16="http://schemas.microsoft.com/office/drawing/2014/main" id="{6673C810-586B-43F8-94C0-0714927CF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2173" name="Text Box 13">
              <a:extLst>
                <a:ext uri="{FF2B5EF4-FFF2-40B4-BE49-F238E27FC236}">
                  <a16:creationId xmlns:a16="http://schemas.microsoft.com/office/drawing/2014/main" id="{1BF37935-D657-403B-BEEA-6E5031EE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204814" name="Text Box 14">
              <a:extLst>
                <a:ext uri="{FF2B5EF4-FFF2-40B4-BE49-F238E27FC236}">
                  <a16:creationId xmlns:a16="http://schemas.microsoft.com/office/drawing/2014/main" id="{FDC65391-1E18-46BB-B25D-57108251A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2175" name="Text Box 15">
              <a:extLst>
                <a:ext uri="{FF2B5EF4-FFF2-40B4-BE49-F238E27FC236}">
                  <a16:creationId xmlns:a16="http://schemas.microsoft.com/office/drawing/2014/main" id="{FB5E6539-66B2-4D16-AAD4-3829990AD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64432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2176" name="Text Box 16">
              <a:extLst>
                <a:ext uri="{FF2B5EF4-FFF2-40B4-BE49-F238E27FC236}">
                  <a16:creationId xmlns:a16="http://schemas.microsoft.com/office/drawing/2014/main" id="{26319E84-4123-45EE-BF53-46F5B30BC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6815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2177" name="Text Box 18">
              <a:extLst>
                <a:ext uri="{FF2B5EF4-FFF2-40B4-BE49-F238E27FC236}">
                  <a16:creationId xmlns:a16="http://schemas.microsoft.com/office/drawing/2014/main" id="{48A40888-301A-49EB-B7E4-E1308C392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4543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19" name="Text Box 19">
              <a:extLst>
                <a:ext uri="{FF2B5EF4-FFF2-40B4-BE49-F238E27FC236}">
                  <a16:creationId xmlns:a16="http://schemas.microsoft.com/office/drawing/2014/main" id="{375EAF21-032A-418A-84F6-988744E4F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20" name="Line 20">
              <a:extLst>
                <a:ext uri="{FF2B5EF4-FFF2-40B4-BE49-F238E27FC236}">
                  <a16:creationId xmlns:a16="http://schemas.microsoft.com/office/drawing/2014/main" id="{4D9BA668-B2E8-4EB1-B602-C4E5A143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31242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0" name="Text Box 23">
              <a:extLst>
                <a:ext uri="{FF2B5EF4-FFF2-40B4-BE49-F238E27FC236}">
                  <a16:creationId xmlns:a16="http://schemas.microsoft.com/office/drawing/2014/main" id="{FF7BAE3A-DFEE-4E0F-807C-B0D418CA7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1" name="Text Box 24">
              <a:extLst>
                <a:ext uri="{FF2B5EF4-FFF2-40B4-BE49-F238E27FC236}">
                  <a16:creationId xmlns:a16="http://schemas.microsoft.com/office/drawing/2014/main" id="{E166B4C6-85B0-4D41-9898-86DD12B3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28" name="Line 28">
              <a:extLst>
                <a:ext uri="{FF2B5EF4-FFF2-40B4-BE49-F238E27FC236}">
                  <a16:creationId xmlns:a16="http://schemas.microsoft.com/office/drawing/2014/main" id="{968254E6-1855-4AE5-AB3D-4CE3D0CA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29" name="Text Box 29">
              <a:extLst>
                <a:ext uri="{FF2B5EF4-FFF2-40B4-BE49-F238E27FC236}">
                  <a16:creationId xmlns:a16="http://schemas.microsoft.com/office/drawing/2014/main" id="{A295E26D-59A8-4B7E-AE4E-32E70FF31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4" name="Line 30">
              <a:extLst>
                <a:ext uri="{FF2B5EF4-FFF2-40B4-BE49-F238E27FC236}">
                  <a16:creationId xmlns:a16="http://schemas.microsoft.com/office/drawing/2014/main" id="{628BA231-5524-4F15-AB27-469EC8A16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5" name="Text Box 31">
              <a:extLst>
                <a:ext uri="{FF2B5EF4-FFF2-40B4-BE49-F238E27FC236}">
                  <a16:creationId xmlns:a16="http://schemas.microsoft.com/office/drawing/2014/main" id="{FDE38F4B-B855-41CA-946D-3BCDA5DFF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34" name="Line 34">
              <a:extLst>
                <a:ext uri="{FF2B5EF4-FFF2-40B4-BE49-F238E27FC236}">
                  <a16:creationId xmlns:a16="http://schemas.microsoft.com/office/drawing/2014/main" id="{1A079370-0D96-4CD8-8BEA-B34BDE81C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6858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9331A35-3EE0-4817-8772-FB0D5124E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4211" name="WordArt 4">
            <a:extLst>
              <a:ext uri="{FF2B5EF4-FFF2-40B4-BE49-F238E27FC236}">
                <a16:creationId xmlns:a16="http://schemas.microsoft.com/office/drawing/2014/main" id="{BA6FE019-7516-4BF3-984C-D7CE89A1FD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15A9CA9A-62CD-42C6-BEFB-824D24E01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F31B89E-8AC8-4BF1-9C55-1C75360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90600"/>
            <a:ext cx="4652963" cy="9556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dog is to be removed.</a:t>
            </a:r>
            <a:b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 = front;</a:t>
            </a:r>
            <a:r>
              <a:rPr lang="en-US" altLang="en-US" sz="1800" b="1">
                <a:latin typeface="Courier New" panose="02070309020205020404" pitchFamily="49" charset="0"/>
              </a:rPr>
              <a:t>            </a:t>
            </a:r>
          </a:p>
        </p:txBody>
      </p:sp>
      <p:sp>
        <p:nvSpPr>
          <p:cNvPr id="96272" name="WordArt 45">
            <a:extLst>
              <a:ext uri="{FF2B5EF4-FFF2-40B4-BE49-F238E27FC236}">
                <a16:creationId xmlns:a16="http://schemas.microsoft.com/office/drawing/2014/main" id="{2A2A36E9-1B93-4A56-AF00-2B27C7D109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96273" name="Text Box 46">
            <a:extLst>
              <a:ext uri="{FF2B5EF4-FFF2-40B4-BE49-F238E27FC236}">
                <a16:creationId xmlns:a16="http://schemas.microsoft.com/office/drawing/2014/main" id="{EDEC0036-4F23-47CF-A887-2D29FEE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30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and current store the same memory address.</a:t>
            </a:r>
          </a:p>
        </p:txBody>
      </p:sp>
      <p:grpSp>
        <p:nvGrpSpPr>
          <p:cNvPr id="2" name="Group 1" descr="The linked list:&#10;front = current = 0xF17&#10;0xF17 --&gt; pig, 0xF21&#10;0xF21 --&gt; dog, 0xFEA&#10;0xFEA --&gt; cat, null&#10;&#10;Normal representation of original list:&#10;front --&gt; pig --&gt; dog --&gt; cat --&gt; null&#10;current also points to pig">
            <a:extLst>
              <a:ext uri="{FF2B5EF4-FFF2-40B4-BE49-F238E27FC236}">
                <a16:creationId xmlns:a16="http://schemas.microsoft.com/office/drawing/2014/main" id="{18B0EBA1-5481-F1C2-E3E0-E93D3614A8C2}"/>
              </a:ext>
            </a:extLst>
          </p:cNvPr>
          <p:cNvGrpSpPr/>
          <p:nvPr/>
        </p:nvGrpSpPr>
        <p:grpSpPr>
          <a:xfrm>
            <a:off x="437028" y="2487986"/>
            <a:ext cx="8325972" cy="1555750"/>
            <a:chOff x="437028" y="2487986"/>
            <a:chExt cx="8325972" cy="1555750"/>
          </a:xfrm>
        </p:grpSpPr>
        <p:sp>
          <p:nvSpPr>
            <p:cNvPr id="96260" name="Rectangle 28">
              <a:extLst>
                <a:ext uri="{FF2B5EF4-FFF2-40B4-BE49-F238E27FC236}">
                  <a16:creationId xmlns:a16="http://schemas.microsoft.com/office/drawing/2014/main" id="{49A81338-F336-42FF-9E0C-E0E40CDA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0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1" name="Rectangle 29">
              <a:extLst>
                <a:ext uri="{FF2B5EF4-FFF2-40B4-BE49-F238E27FC236}">
                  <a16:creationId xmlns:a16="http://schemas.microsoft.com/office/drawing/2014/main" id="{BA216382-CF75-47EB-90E0-03A77D50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2" name="Rectangle 31">
              <a:extLst>
                <a:ext uri="{FF2B5EF4-FFF2-40B4-BE49-F238E27FC236}">
                  <a16:creationId xmlns:a16="http://schemas.microsoft.com/office/drawing/2014/main" id="{A57D0690-7C06-4680-A83B-64D353F29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8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3" name="Rectangle 32">
              <a:extLst>
                <a:ext uri="{FF2B5EF4-FFF2-40B4-BE49-F238E27FC236}">
                  <a16:creationId xmlns:a16="http://schemas.microsoft.com/office/drawing/2014/main" id="{8A890D96-AA8D-4B21-BFEE-DCFDAA80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62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4" name="Rectangle 34">
              <a:extLst>
                <a:ext uri="{FF2B5EF4-FFF2-40B4-BE49-F238E27FC236}">
                  <a16:creationId xmlns:a16="http://schemas.microsoft.com/office/drawing/2014/main" id="{9146A60F-A5C2-4B8E-A502-22283BF6B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6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6265" name="Rectangle 35">
              <a:extLst>
                <a:ext uri="{FF2B5EF4-FFF2-40B4-BE49-F238E27FC236}">
                  <a16:creationId xmlns:a16="http://schemas.microsoft.com/office/drawing/2014/main" id="{E67C96F4-EC98-4534-8B3F-F967E07C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60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6" name="Text Box 37">
              <a:extLst>
                <a:ext uri="{FF2B5EF4-FFF2-40B4-BE49-F238E27FC236}">
                  <a16:creationId xmlns:a16="http://schemas.microsoft.com/office/drawing/2014/main" id="{D83D9166-E88D-403A-833D-1A44FF23E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8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6267" name="Text Box 38">
              <a:extLst>
                <a:ext uri="{FF2B5EF4-FFF2-40B4-BE49-F238E27FC236}">
                  <a16:creationId xmlns:a16="http://schemas.microsoft.com/office/drawing/2014/main" id="{112B399F-6EE7-4D7B-9D66-B995F27FF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0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6268" name="Text Box 39">
              <a:extLst>
                <a:ext uri="{FF2B5EF4-FFF2-40B4-BE49-F238E27FC236}">
                  <a16:creationId xmlns:a16="http://schemas.microsoft.com/office/drawing/2014/main" id="{4965E794-0B6B-461B-BC58-32823F19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2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6269" name="Text Box 40">
              <a:extLst>
                <a:ext uri="{FF2B5EF4-FFF2-40B4-BE49-F238E27FC236}">
                  <a16:creationId xmlns:a16="http://schemas.microsoft.com/office/drawing/2014/main" id="{AE628866-83D0-48FD-8613-B8948D5E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2640386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6270" name="Text Box 43">
              <a:extLst>
                <a:ext uri="{FF2B5EF4-FFF2-40B4-BE49-F238E27FC236}">
                  <a16:creationId xmlns:a16="http://schemas.microsoft.com/office/drawing/2014/main" id="{B0F85639-7AFC-4033-98B8-0612998A7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99916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6271" name="Text Box 44">
              <a:extLst>
                <a:ext uri="{FF2B5EF4-FFF2-40B4-BE49-F238E27FC236}">
                  <a16:creationId xmlns:a16="http://schemas.microsoft.com/office/drawing/2014/main" id="{C4972756-505B-41C7-9EC1-8E61D53D4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326186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6274" name="Text Box 50">
              <a:extLst>
                <a:ext uri="{FF2B5EF4-FFF2-40B4-BE49-F238E27FC236}">
                  <a16:creationId xmlns:a16="http://schemas.microsoft.com/office/drawing/2014/main" id="{97B78F1D-97B4-4553-B75A-0C6BE7BD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0213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5" name="Text Box 51">
              <a:extLst>
                <a:ext uri="{FF2B5EF4-FFF2-40B4-BE49-F238E27FC236}">
                  <a16:creationId xmlns:a16="http://schemas.microsoft.com/office/drawing/2014/main" id="{DE1B8F7D-B9CF-44B5-9F90-338FB9035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0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6" name="Line 53">
              <a:extLst>
                <a:ext uri="{FF2B5EF4-FFF2-40B4-BE49-F238E27FC236}">
                  <a16:creationId xmlns:a16="http://schemas.microsoft.com/office/drawing/2014/main" id="{790BA45B-F64A-4CB8-8223-A48F419E3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6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7" name="Line 54">
              <a:extLst>
                <a:ext uri="{FF2B5EF4-FFF2-40B4-BE49-F238E27FC236}">
                  <a16:creationId xmlns:a16="http://schemas.microsoft.com/office/drawing/2014/main" id="{2924DACE-62A1-46D0-8594-53BC24A1B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828" y="2945186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8" name="Line 55">
              <a:extLst>
                <a:ext uri="{FF2B5EF4-FFF2-40B4-BE49-F238E27FC236}">
                  <a16:creationId xmlns:a16="http://schemas.microsoft.com/office/drawing/2014/main" id="{C6EB8B9F-B633-4116-93B1-5AB5D7C3D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428" y="3554786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9" name="Text Box 56">
              <a:extLst>
                <a:ext uri="{FF2B5EF4-FFF2-40B4-BE49-F238E27FC236}">
                  <a16:creationId xmlns:a16="http://schemas.microsoft.com/office/drawing/2014/main" id="{A2817ADE-C195-489D-8530-72BD9755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7071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80" name="Text Box 57">
              <a:extLst>
                <a:ext uri="{FF2B5EF4-FFF2-40B4-BE49-F238E27FC236}">
                  <a16:creationId xmlns:a16="http://schemas.microsoft.com/office/drawing/2014/main" id="{CBFA1B77-B1A9-4075-9B92-FC8417475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1" name="Text Box 58">
              <a:extLst>
                <a:ext uri="{FF2B5EF4-FFF2-40B4-BE49-F238E27FC236}">
                  <a16:creationId xmlns:a16="http://schemas.microsoft.com/office/drawing/2014/main" id="{29C97A41-5C88-4306-B25D-1E3B2F489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8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6282" name="Line 59">
              <a:extLst>
                <a:ext uri="{FF2B5EF4-FFF2-40B4-BE49-F238E27FC236}">
                  <a16:creationId xmlns:a16="http://schemas.microsoft.com/office/drawing/2014/main" id="{DC210B8E-1D5A-4E1E-8EEE-88DA30BBE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44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84" name="Text Box 61">
              <a:extLst>
                <a:ext uri="{FF2B5EF4-FFF2-40B4-BE49-F238E27FC236}">
                  <a16:creationId xmlns:a16="http://schemas.microsoft.com/office/drawing/2014/main" id="{3F46EED8-D26C-4281-8A94-5326AB3A7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4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5" name="Text Box 62">
              <a:extLst>
                <a:ext uri="{FF2B5EF4-FFF2-40B4-BE49-F238E27FC236}">
                  <a16:creationId xmlns:a16="http://schemas.microsoft.com/office/drawing/2014/main" id="{D19E2ADB-BB22-4BEA-9553-527BC336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62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1B2202E4-ABFD-4FC1-BE8C-2813A8488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5FE8C2E4-ECC0-440E-B528-4D50458E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66236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 = current;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8309" name="Text Box 21">
            <a:extLst>
              <a:ext uri="{FF2B5EF4-FFF2-40B4-BE49-F238E27FC236}">
                <a16:creationId xmlns:a16="http://schemas.microsoft.com/office/drawing/2014/main" id="{B958712F-8E20-4EA3-B7D5-6BB8ADAE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8001000" cy="9588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front, current, and previous all store the same memory address.</a:t>
            </a:r>
          </a:p>
        </p:txBody>
      </p:sp>
      <p:grpSp>
        <p:nvGrpSpPr>
          <p:cNvPr id="2" name="Group 1" descr="The linked list:&#10;front = current = previous = 0xF17&#10;0xF17 --&gt; pig, 0xF21&#10;0xF21 --&gt; dog, 0xFEA&#10;0xFEA --&gt; cat, null&#10;&#10;Normal representation of original list:&#10;front --&gt; pig --&gt; dog --&gt; cat --&gt; null&#10;current and previous also points to pig">
            <a:extLst>
              <a:ext uri="{FF2B5EF4-FFF2-40B4-BE49-F238E27FC236}">
                <a16:creationId xmlns:a16="http://schemas.microsoft.com/office/drawing/2014/main" id="{B9383D49-C5FA-5AB2-B603-D3EAD3FFDB82}"/>
              </a:ext>
            </a:extLst>
          </p:cNvPr>
          <p:cNvGrpSpPr/>
          <p:nvPr/>
        </p:nvGrpSpPr>
        <p:grpSpPr>
          <a:xfrm>
            <a:off x="457200" y="2225488"/>
            <a:ext cx="8305800" cy="2165350"/>
            <a:chOff x="457200" y="2225488"/>
            <a:chExt cx="8305800" cy="2165350"/>
          </a:xfrm>
        </p:grpSpPr>
        <p:sp>
          <p:nvSpPr>
            <p:cNvPr id="98308" name="Text Box 17">
              <a:extLst>
                <a:ext uri="{FF2B5EF4-FFF2-40B4-BE49-F238E27FC236}">
                  <a16:creationId xmlns:a16="http://schemas.microsoft.com/office/drawing/2014/main" id="{D437C571-F9FF-4D72-A736-7730FF0F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673288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98310" name="Rectangle 27">
              <a:extLst>
                <a:ext uri="{FF2B5EF4-FFF2-40B4-BE49-F238E27FC236}">
                  <a16:creationId xmlns:a16="http://schemas.microsoft.com/office/drawing/2014/main" id="{02D50328-E4CB-421F-BD4E-7C41F783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1" name="Rectangle 28">
              <a:extLst>
                <a:ext uri="{FF2B5EF4-FFF2-40B4-BE49-F238E27FC236}">
                  <a16:creationId xmlns:a16="http://schemas.microsoft.com/office/drawing/2014/main" id="{8A869A56-FF38-4114-A14C-70E37DA3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2" name="Rectangle 29">
              <a:extLst>
                <a:ext uri="{FF2B5EF4-FFF2-40B4-BE49-F238E27FC236}">
                  <a16:creationId xmlns:a16="http://schemas.microsoft.com/office/drawing/2014/main" id="{DFB39C42-CD92-478B-BF90-C5D647155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3" name="Rectangle 30">
              <a:extLst>
                <a:ext uri="{FF2B5EF4-FFF2-40B4-BE49-F238E27FC236}">
                  <a16:creationId xmlns:a16="http://schemas.microsoft.com/office/drawing/2014/main" id="{783D977F-5B73-4D55-9AE4-51D368476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4" name="Rectangle 31">
              <a:extLst>
                <a:ext uri="{FF2B5EF4-FFF2-40B4-BE49-F238E27FC236}">
                  <a16:creationId xmlns:a16="http://schemas.microsoft.com/office/drawing/2014/main" id="{1D950543-4DB8-4D14-B557-F7AC8425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15" name="Rectangle 32">
              <a:extLst>
                <a:ext uri="{FF2B5EF4-FFF2-40B4-BE49-F238E27FC236}">
                  <a16:creationId xmlns:a16="http://schemas.microsoft.com/office/drawing/2014/main" id="{61CC2F46-7026-4147-AEBC-9D8666248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7" name="Text Box 34">
              <a:extLst>
                <a:ext uri="{FF2B5EF4-FFF2-40B4-BE49-F238E27FC236}">
                  <a16:creationId xmlns:a16="http://schemas.microsoft.com/office/drawing/2014/main" id="{F23CC2BB-7740-465D-B2D6-12D95A669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8318" name="Text Box 35">
              <a:extLst>
                <a:ext uri="{FF2B5EF4-FFF2-40B4-BE49-F238E27FC236}">
                  <a16:creationId xmlns:a16="http://schemas.microsoft.com/office/drawing/2014/main" id="{9F849931-418F-496C-8BA0-D2AC16C9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8319" name="Text Box 36">
              <a:extLst>
                <a:ext uri="{FF2B5EF4-FFF2-40B4-BE49-F238E27FC236}">
                  <a16:creationId xmlns:a16="http://schemas.microsoft.com/office/drawing/2014/main" id="{05C8F16F-9134-48D8-B597-9B30536D3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8320" name="Text Box 37">
              <a:extLst>
                <a:ext uri="{FF2B5EF4-FFF2-40B4-BE49-F238E27FC236}">
                  <a16:creationId xmlns:a16="http://schemas.microsoft.com/office/drawing/2014/main" id="{0B0237EC-A345-4352-948D-1211C192D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77888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8321" name="Text Box 38">
              <a:extLst>
                <a:ext uri="{FF2B5EF4-FFF2-40B4-BE49-F238E27FC236}">
                  <a16:creationId xmlns:a16="http://schemas.microsoft.com/office/drawing/2014/main" id="{FA9C2443-CBC5-4DC8-91CD-1E67301C2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3274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8322" name="Text Box 39">
              <a:extLst>
                <a:ext uri="{FF2B5EF4-FFF2-40B4-BE49-F238E27FC236}">
                  <a16:creationId xmlns:a16="http://schemas.microsoft.com/office/drawing/2014/main" id="{9034811C-3FA7-44B2-A95B-3BADF9D1E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063688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8323" name="Text Box 40">
              <a:extLst>
                <a:ext uri="{FF2B5EF4-FFF2-40B4-BE49-F238E27FC236}">
                  <a16:creationId xmlns:a16="http://schemas.microsoft.com/office/drawing/2014/main" id="{D532C32E-727F-4009-BE15-612CB26ED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588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4" name="Text Box 41">
              <a:extLst>
                <a:ext uri="{FF2B5EF4-FFF2-40B4-BE49-F238E27FC236}">
                  <a16:creationId xmlns:a16="http://schemas.microsoft.com/office/drawing/2014/main" id="{7E3EF28B-E932-4032-80AA-D0598D83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5" name="Line 44">
              <a:extLst>
                <a:ext uri="{FF2B5EF4-FFF2-40B4-BE49-F238E27FC236}">
                  <a16:creationId xmlns:a16="http://schemas.microsoft.com/office/drawing/2014/main" id="{4AA092B0-F022-4F5B-B852-D11452ED5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2682688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45">
              <a:extLst>
                <a:ext uri="{FF2B5EF4-FFF2-40B4-BE49-F238E27FC236}">
                  <a16:creationId xmlns:a16="http://schemas.microsoft.com/office/drawing/2014/main" id="{E032A5D3-C2F7-414E-A22E-7FF3807CF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292288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7" name="Text Box 46">
              <a:extLst>
                <a:ext uri="{FF2B5EF4-FFF2-40B4-BE49-F238E27FC236}">
                  <a16:creationId xmlns:a16="http://schemas.microsoft.com/office/drawing/2014/main" id="{35D37ED9-5823-4FC1-A638-5FD7D2FE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4446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8" name="Text Box 47">
              <a:extLst>
                <a:ext uri="{FF2B5EF4-FFF2-40B4-BE49-F238E27FC236}">
                  <a16:creationId xmlns:a16="http://schemas.microsoft.com/office/drawing/2014/main" id="{9DF6C71D-A156-49E4-8D0F-1B54E4CB3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29" name="Text Box 48">
              <a:extLst>
                <a:ext uri="{FF2B5EF4-FFF2-40B4-BE49-F238E27FC236}">
                  <a16:creationId xmlns:a16="http://schemas.microsoft.com/office/drawing/2014/main" id="{26E15FA7-CB4F-4291-99D0-3B0DC4E5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8330" name="Text Box 49">
              <a:extLst>
                <a:ext uri="{FF2B5EF4-FFF2-40B4-BE49-F238E27FC236}">
                  <a16:creationId xmlns:a16="http://schemas.microsoft.com/office/drawing/2014/main" id="{D87C6546-D706-4A85-9AE5-EC4702AFE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0542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31" name="Line 50">
              <a:extLst>
                <a:ext uri="{FF2B5EF4-FFF2-40B4-BE49-F238E27FC236}">
                  <a16:creationId xmlns:a16="http://schemas.microsoft.com/office/drawing/2014/main" id="{04F41AB0-993F-4BC6-BE04-623E170A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368488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2" name="Line 52">
              <a:extLst>
                <a:ext uri="{FF2B5EF4-FFF2-40B4-BE49-F238E27FC236}">
                  <a16:creationId xmlns:a16="http://schemas.microsoft.com/office/drawing/2014/main" id="{45A8F184-C09B-4012-941D-D1C31A26A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3" name="Text Box 53">
              <a:extLst>
                <a:ext uri="{FF2B5EF4-FFF2-40B4-BE49-F238E27FC236}">
                  <a16:creationId xmlns:a16="http://schemas.microsoft.com/office/drawing/2014/main" id="{E42262B6-C1C0-4612-A1C0-948D6A56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34" name="Line 54">
              <a:extLst>
                <a:ext uri="{FF2B5EF4-FFF2-40B4-BE49-F238E27FC236}">
                  <a16:creationId xmlns:a16="http://schemas.microsoft.com/office/drawing/2014/main" id="{CC24F0F9-EAC8-4EA0-8E3D-544372CB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5" name="Text Box 55">
              <a:extLst>
                <a:ext uri="{FF2B5EF4-FFF2-40B4-BE49-F238E27FC236}">
                  <a16:creationId xmlns:a16="http://schemas.microsoft.com/office/drawing/2014/main" id="{2E3DFEDA-D623-483E-BDE2-CDA2F1065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98336" name="WordArt 56">
            <a:extLst>
              <a:ext uri="{FF2B5EF4-FFF2-40B4-BE49-F238E27FC236}">
                <a16:creationId xmlns:a16="http://schemas.microsoft.com/office/drawing/2014/main" id="{EB931542-79DB-4096-A0D5-69EB2D6E50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2F4B1B4D-A59F-4722-A7EB-F904251156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C13A82C-5FB9-4F4B-8D08-FCEF0B5E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50942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current=current.getNext();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1F85E173-0879-4BE6-B7EF-2C73C60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5638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current moves forward one node.</a:t>
            </a:r>
          </a:p>
        </p:txBody>
      </p:sp>
      <p:sp>
        <p:nvSpPr>
          <p:cNvPr id="197650" name="Text Box 18">
            <a:extLst>
              <a:ext uri="{FF2B5EF4-FFF2-40B4-BE49-F238E27FC236}">
                <a16:creationId xmlns:a16="http://schemas.microsoft.com/office/drawing/2014/main" id="{DBA361EF-150E-4318-9099-C96BA0EF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1754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56" name="Line 24">
            <a:extLst>
              <a:ext uri="{FF2B5EF4-FFF2-40B4-BE49-F238E27FC236}">
                <a16:creationId xmlns:a16="http://schemas.microsoft.com/office/drawing/2014/main" id="{DF00086E-5339-4599-904C-6F931978E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352" y="3404067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7" name="Text Box 25">
            <a:extLst>
              <a:ext uri="{FF2B5EF4-FFF2-40B4-BE49-F238E27FC236}">
                <a16:creationId xmlns:a16="http://schemas.microsoft.com/office/drawing/2014/main" id="{271A007F-6EB1-480D-A58E-76D33E57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5564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97662" name="Text Box 30">
            <a:extLst>
              <a:ext uri="{FF2B5EF4-FFF2-40B4-BE49-F238E27FC236}">
                <a16:creationId xmlns:a16="http://schemas.microsoft.com/office/drawing/2014/main" id="{3F9BA7FB-4AE7-4763-9122-8B77BA73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36326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63" name="Line 31">
            <a:extLst>
              <a:ext uri="{FF2B5EF4-FFF2-40B4-BE49-F238E27FC236}">
                <a16:creationId xmlns:a16="http://schemas.microsoft.com/office/drawing/2014/main" id="{9AF086C6-3B71-4551-8B84-F4D6267B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3752" y="3251667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4" name="Text Box 32">
            <a:extLst>
              <a:ext uri="{FF2B5EF4-FFF2-40B4-BE49-F238E27FC236}">
                <a16:creationId xmlns:a16="http://schemas.microsoft.com/office/drawing/2014/main" id="{9E9C6E9D-3B64-4401-9EB5-972F9570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4013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grpSp>
        <p:nvGrpSpPr>
          <p:cNvPr id="3" name="Group 2" descr="The linked list:&#10;front = current = previous = 0xF17&#10;0xF17 --&gt; pig, 0xF21&#10;0xF21 --&gt; dog, 0xFEA&#10;0xFEA --&gt; cat, null&#10;&#10;After running:&#10;current = current.getNext();&#10;current stores 0xF21, which is the memory location of the &quot;dog&quot; node:&#10;front = previous = 0xF17&#10;current = 0xF21 &#10;0xF17 --&gt; pig, 0xF21&#10;0xF21 --&gt; dog, 0xFEA&#10;0xFEA --&gt; cat, null">
            <a:extLst>
              <a:ext uri="{FF2B5EF4-FFF2-40B4-BE49-F238E27FC236}">
                <a16:creationId xmlns:a16="http://schemas.microsoft.com/office/drawing/2014/main" id="{E36D27BD-87DF-D2EF-D112-D4CDD72E1B32}"/>
              </a:ext>
            </a:extLst>
          </p:cNvPr>
          <p:cNvGrpSpPr/>
          <p:nvPr/>
        </p:nvGrpSpPr>
        <p:grpSpPr>
          <a:xfrm>
            <a:off x="519952" y="2337267"/>
            <a:ext cx="8305800" cy="2165350"/>
            <a:chOff x="519952" y="2337267"/>
            <a:chExt cx="8305800" cy="2165350"/>
          </a:xfrm>
        </p:grpSpPr>
        <p:sp>
          <p:nvSpPr>
            <p:cNvPr id="100356" name="Text Box 3">
              <a:extLst>
                <a:ext uri="{FF2B5EF4-FFF2-40B4-BE49-F238E27FC236}">
                  <a16:creationId xmlns:a16="http://schemas.microsoft.com/office/drawing/2014/main" id="{3983AFAF-A0EB-4C23-8317-B558382E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3785067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100358" name="Rectangle 6">
              <a:extLst>
                <a:ext uri="{FF2B5EF4-FFF2-40B4-BE49-F238E27FC236}">
                  <a16:creationId xmlns:a16="http://schemas.microsoft.com/office/drawing/2014/main" id="{493948EE-9CCA-4CBE-8E74-016B7771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9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59" name="Rectangle 7">
              <a:extLst>
                <a:ext uri="{FF2B5EF4-FFF2-40B4-BE49-F238E27FC236}">
                  <a16:creationId xmlns:a16="http://schemas.microsoft.com/office/drawing/2014/main" id="{D79E3DDA-805B-4D34-A31A-D1991AB77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3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0" name="Rectangle 8">
              <a:extLst>
                <a:ext uri="{FF2B5EF4-FFF2-40B4-BE49-F238E27FC236}">
                  <a16:creationId xmlns:a16="http://schemas.microsoft.com/office/drawing/2014/main" id="{819EA5E3-1053-4EAC-8BF3-1DDAB6D3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7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699CC24C-D220-4EF9-9EF2-32D05FCC3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91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2" name="Rectangle 10">
              <a:extLst>
                <a:ext uri="{FF2B5EF4-FFF2-40B4-BE49-F238E27FC236}">
                  <a16:creationId xmlns:a16="http://schemas.microsoft.com/office/drawing/2014/main" id="{FF99A942-AD27-4015-9ECE-6CFB6BB3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5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0363" name="Rectangle 11">
              <a:extLst>
                <a:ext uri="{FF2B5EF4-FFF2-40B4-BE49-F238E27FC236}">
                  <a16:creationId xmlns:a16="http://schemas.microsoft.com/office/drawing/2014/main" id="{EF3B5AA5-FC51-4549-8799-45FD4ECD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9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5" name="Text Box 13">
              <a:extLst>
                <a:ext uri="{FF2B5EF4-FFF2-40B4-BE49-F238E27FC236}">
                  <a16:creationId xmlns:a16="http://schemas.microsoft.com/office/drawing/2014/main" id="{C825EE01-9A7F-44EA-A288-2AC28AA67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7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00366" name="Text Box 14">
              <a:extLst>
                <a:ext uri="{FF2B5EF4-FFF2-40B4-BE49-F238E27FC236}">
                  <a16:creationId xmlns:a16="http://schemas.microsoft.com/office/drawing/2014/main" id="{F1B59A3C-3344-41AF-A721-0D5378FC7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9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ABD9EB8C-6BD5-46E9-A705-ED6A40644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1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100368" name="Text Box 16">
              <a:extLst>
                <a:ext uri="{FF2B5EF4-FFF2-40B4-BE49-F238E27FC236}">
                  <a16:creationId xmlns:a16="http://schemas.microsoft.com/office/drawing/2014/main" id="{A08C3E4B-9B98-4AE3-89FA-CEA6EACE7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489667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00369" name="Text Box 17">
              <a:extLst>
                <a:ext uri="{FF2B5EF4-FFF2-40B4-BE49-F238E27FC236}">
                  <a16:creationId xmlns:a16="http://schemas.microsoft.com/office/drawing/2014/main" id="{17F32BB4-812E-4AEB-AF22-417EE379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152" y="285161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00371" name="Text Box 19">
              <a:extLst>
                <a:ext uri="{FF2B5EF4-FFF2-40B4-BE49-F238E27FC236}">
                  <a16:creationId xmlns:a16="http://schemas.microsoft.com/office/drawing/2014/main" id="{7815BA8A-85C6-42CF-A90C-5224D826C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8706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2" name="Text Box 20">
              <a:extLst>
                <a:ext uri="{FF2B5EF4-FFF2-40B4-BE49-F238E27FC236}">
                  <a16:creationId xmlns:a16="http://schemas.microsoft.com/office/drawing/2014/main" id="{C310F85F-ADE9-408C-97D5-95919118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9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3" name="Line 23">
              <a:extLst>
                <a:ext uri="{FF2B5EF4-FFF2-40B4-BE49-F238E27FC236}">
                  <a16:creationId xmlns:a16="http://schemas.microsoft.com/office/drawing/2014/main" id="{D99B5334-6B4D-4BA5-A3B7-8CFFA1AE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752" y="2794467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76" name="Text Box 26">
              <a:extLst>
                <a:ext uri="{FF2B5EF4-FFF2-40B4-BE49-F238E27FC236}">
                  <a16:creationId xmlns:a16="http://schemas.microsoft.com/office/drawing/2014/main" id="{AEA07693-BC04-4A10-8795-DA70C4DCC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77" name="Text Box 27">
              <a:extLst>
                <a:ext uri="{FF2B5EF4-FFF2-40B4-BE49-F238E27FC236}">
                  <a16:creationId xmlns:a16="http://schemas.microsoft.com/office/drawing/2014/main" id="{55067567-F2B3-49A9-B366-8FB11A221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1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100378" name="Text Box 28">
              <a:extLst>
                <a:ext uri="{FF2B5EF4-FFF2-40B4-BE49-F238E27FC236}">
                  <a16:creationId xmlns:a16="http://schemas.microsoft.com/office/drawing/2014/main" id="{619736FD-B7E7-4F62-8B8D-6727D77E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41660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9" name="Line 29">
              <a:extLst>
                <a:ext uri="{FF2B5EF4-FFF2-40B4-BE49-F238E27FC236}">
                  <a16:creationId xmlns:a16="http://schemas.microsoft.com/office/drawing/2014/main" id="{8CEDFD89-6752-437D-8015-FE3E446DC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752" y="3480267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3" name="Line 35">
              <a:extLst>
                <a:ext uri="{FF2B5EF4-FFF2-40B4-BE49-F238E27FC236}">
                  <a16:creationId xmlns:a16="http://schemas.microsoft.com/office/drawing/2014/main" id="{1C99046E-6B8E-4B65-B676-6E6487002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5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4" name="Text Box 36">
              <a:extLst>
                <a:ext uri="{FF2B5EF4-FFF2-40B4-BE49-F238E27FC236}">
                  <a16:creationId xmlns:a16="http://schemas.microsoft.com/office/drawing/2014/main" id="{91BDD617-74F3-4096-A167-8F542499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3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85" name="Line 37">
              <a:extLst>
                <a:ext uri="{FF2B5EF4-FFF2-40B4-BE49-F238E27FC236}">
                  <a16:creationId xmlns:a16="http://schemas.microsoft.com/office/drawing/2014/main" id="{31E64EB2-85BF-4EBE-AFFC-9F8F6FBD3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73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6" name="Text Box 38">
              <a:extLst>
                <a:ext uri="{FF2B5EF4-FFF2-40B4-BE49-F238E27FC236}">
                  <a16:creationId xmlns:a16="http://schemas.microsoft.com/office/drawing/2014/main" id="{F7EA282D-BA52-45DC-9C10-A3188B584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1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0387" name="WordArt 39">
            <a:extLst>
              <a:ext uri="{FF2B5EF4-FFF2-40B4-BE49-F238E27FC236}">
                <a16:creationId xmlns:a16="http://schemas.microsoft.com/office/drawing/2014/main" id="{5AF16232-3213-4554-8D08-9E1F9DC66C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7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0" grpId="0"/>
      <p:bldP spid="197657" grpId="0"/>
      <p:bldP spid="197662" grpId="0"/>
      <p:bldP spid="19766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800" b="1" dirty="0">
                <a:latin typeface="Courier New" panose="02070309020205020404" pitchFamily="49" charset="0"/>
              </a:rPr>
              <a:t>     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4" name="Rectangle 8">
            <a:extLst>
              <a:ext uri="{FF2B5EF4-FFF2-40B4-BE49-F238E27FC236}">
                <a16:creationId xmlns:a16="http://schemas.microsoft.com/office/drawing/2014/main" id="{ECB37405-F7DA-4DA0-B333-CB98C2C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5" name="Rectangle 9">
            <a:extLst>
              <a:ext uri="{FF2B5EF4-FFF2-40B4-BE49-F238E27FC236}">
                <a16:creationId xmlns:a16="http://schemas.microsoft.com/office/drawing/2014/main" id="{09608A9E-4E00-496C-BDD5-BFE3CD01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5EC4AE52-EB73-48CB-BA88-C94FDCC1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088" y="280595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88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2" name="Text Box 26">
            <a:extLst>
              <a:ext uri="{FF2B5EF4-FFF2-40B4-BE49-F238E27FC236}">
                <a16:creationId xmlns:a16="http://schemas.microsoft.com/office/drawing/2014/main" id="{F6DBF4BC-B9C6-4AF6-B603-DF56AC71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4488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A1A7D995-3E93-479C-9AA0-EB38281A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581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C80E4203-7999-454F-A9C3-2069FD64D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0488" y="3200400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488" y="3048000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ACC2D808-E64E-4B7F-98E8-1DB45A0EA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4" name="Text Box 38">
            <a:extLst>
              <a:ext uri="{FF2B5EF4-FFF2-40B4-BE49-F238E27FC236}">
                <a16:creationId xmlns:a16="http://schemas.microsoft.com/office/drawing/2014/main" id="{A3D54502-C9D0-47C1-BE5A-B96859F6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6" name="Text Box 40">
            <a:extLst>
              <a:ext uri="{FF2B5EF4-FFF2-40B4-BE49-F238E27FC236}">
                <a16:creationId xmlns:a16="http://schemas.microsoft.com/office/drawing/2014/main" id="{3C96B072-7177-4B51-BAB5-59B71BDA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198699" name="Text Box 43">
            <a:extLst>
              <a:ext uri="{FF2B5EF4-FFF2-40B4-BE49-F238E27FC236}">
                <a16:creationId xmlns:a16="http://schemas.microsoft.com/office/drawing/2014/main" id="{5234D678-63A7-428B-B17D-9AB49205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962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 animBg="1"/>
      <p:bldP spid="198665" grpId="0" animBg="1"/>
      <p:bldP spid="198670" grpId="0"/>
      <p:bldP spid="198682" grpId="0"/>
      <p:bldP spid="198694" grpId="0"/>
      <p:bldP spid="198696" grpId="0"/>
      <p:bldP spid="19869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0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70" y="27827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9870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8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BDD4-470D-83B8-859D-01E4482843D6}"/>
              </a:ext>
            </a:extLst>
          </p:cNvPr>
          <p:cNvGrpSpPr/>
          <p:nvPr/>
        </p:nvGrpSpPr>
        <p:grpSpPr>
          <a:xfrm>
            <a:off x="4554070" y="2286000"/>
            <a:ext cx="2057400" cy="1143000"/>
            <a:chOff x="4191000" y="2286000"/>
            <a:chExt cx="2057400" cy="1143000"/>
          </a:xfrm>
        </p:grpSpPr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D2E6D062-B426-F566-F361-17F9735B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590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5" name="Text Box 38">
              <a:extLst>
                <a:ext uri="{FF2B5EF4-FFF2-40B4-BE49-F238E27FC236}">
                  <a16:creationId xmlns:a16="http://schemas.microsoft.com/office/drawing/2014/main" id="{D40C13AD-9CC9-9365-DA78-31BF571B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819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6" name="Text Box 57">
              <a:extLst>
                <a:ext uri="{FF2B5EF4-FFF2-40B4-BE49-F238E27FC236}">
                  <a16:creationId xmlns:a16="http://schemas.microsoft.com/office/drawing/2014/main" id="{DA12AEE7-6857-F4F1-EF3D-B8A92B30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286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6E571D2F-CF9E-06D6-E046-63FAD6774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0480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A3619A4-E1BA-7B56-591C-584070DDD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895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870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6870" y="2906796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470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710" y="2843025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73E76-7050-8563-2B3C-724C100221A7}"/>
              </a:ext>
            </a:extLst>
          </p:cNvPr>
          <p:cNvGrpSpPr/>
          <p:nvPr/>
        </p:nvGrpSpPr>
        <p:grpSpPr>
          <a:xfrm>
            <a:off x="5163670" y="3511550"/>
            <a:ext cx="1600200" cy="1098550"/>
            <a:chOff x="2438400" y="3200400"/>
            <a:chExt cx="1600200" cy="1098550"/>
          </a:xfrm>
        </p:grpSpPr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A1A7D995-3E93-479C-9AA0-EB38281A0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5814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198687" name="Line 31">
              <a:extLst>
                <a:ext uri="{FF2B5EF4-FFF2-40B4-BE49-F238E27FC236}">
                  <a16:creationId xmlns:a16="http://schemas.microsoft.com/office/drawing/2014/main" id="{C80E4203-7999-454F-A9C3-2069FD64D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304800" cy="6096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99" name="Text Box 43">
              <a:extLst>
                <a:ext uri="{FF2B5EF4-FFF2-40B4-BE49-F238E27FC236}">
                  <a16:creationId xmlns:a16="http://schemas.microsoft.com/office/drawing/2014/main" id="{5234D678-63A7-428B-B17D-9AB49205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962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2255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C4D6C365-FB7D-4F5C-BB2B-7B0AD21FE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F3C90CA-B322-4B55-AB7E-407543CA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452361" cy="446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Some things you must account for!</a:t>
            </a: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b="1" dirty="0">
                <a:latin typeface="Tahoma" panose="020B0604030504040204" pitchFamily="34" charset="0"/>
              </a:rPr>
              <a:t> What if the linked list is null?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2.  How do I remove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node?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3.  How do I remove other nodes?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4.  Do I remove more than 1 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of the given value or just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one?</a:t>
            </a:r>
          </a:p>
        </p:txBody>
      </p:sp>
      <p:sp>
        <p:nvSpPr>
          <p:cNvPr id="104452" name="WordArt 22">
            <a:extLst>
              <a:ext uri="{FF2B5EF4-FFF2-40B4-BE49-F238E27FC236}">
                <a16:creationId xmlns:a16="http://schemas.microsoft.com/office/drawing/2014/main" id="{F182E012-6493-4733-851A-67899551F27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019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class DoublyNode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prev;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DoublyNode(Comparable dat,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		DoublyNode prv, DoublyNode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prev=prv;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pSp>
        <p:nvGrpSpPr>
          <p:cNvPr id="8" name="Group 7" descr="A single node with a memory location of 0xF2. It has three parts: a reference to the previous node, the value, and a reference to the next node.&#10;This node stores: null, &quot;B&quot;, null">
            <a:extLst>
              <a:ext uri="{FF2B5EF4-FFF2-40B4-BE49-F238E27FC236}">
                <a16:creationId xmlns:a16="http://schemas.microsoft.com/office/drawing/2014/main" id="{9ECA5102-EB13-A6E1-E565-D407B87907A0}"/>
              </a:ext>
            </a:extLst>
          </p:cNvPr>
          <p:cNvGrpSpPr/>
          <p:nvPr/>
        </p:nvGrpSpPr>
        <p:grpSpPr>
          <a:xfrm>
            <a:off x="3003972" y="2209800"/>
            <a:ext cx="2502600" cy="1239310"/>
            <a:chOff x="3003972" y="2209800"/>
            <a:chExt cx="2502600" cy="1239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3D2F0A-FB9F-26F8-4738-83A02813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3972" y="2638272"/>
              <a:ext cx="2487384" cy="810838"/>
            </a:xfrm>
            <a:prstGeom prst="rect">
              <a:avLst/>
            </a:prstGeom>
          </p:spPr>
        </p:pic>
        <p:grpSp>
          <p:nvGrpSpPr>
            <p:cNvPr id="2" name="Group 1" descr="A single node with a memory location of 0xF2. It has three parts: a reference to the previous node, the value, and a reference to the next node.&#10;This node stores: null, &quot;B&quot;, null">
              <a:extLst>
                <a:ext uri="{FF2B5EF4-FFF2-40B4-BE49-F238E27FC236}">
                  <a16:creationId xmlns:a16="http://schemas.microsoft.com/office/drawing/2014/main" id="{3DBA4920-5761-C138-576B-1903AEDDC8FA}"/>
                </a:ext>
              </a:extLst>
            </p:cNvPr>
            <p:cNvGrpSpPr/>
            <p:nvPr/>
          </p:nvGrpSpPr>
          <p:grpSpPr>
            <a:xfrm>
              <a:off x="3068172" y="2209800"/>
              <a:ext cx="2438400" cy="1040652"/>
              <a:chOff x="3068172" y="2209800"/>
              <a:chExt cx="2438400" cy="1040652"/>
            </a:xfrm>
          </p:grpSpPr>
          <p:sp>
            <p:nvSpPr>
              <p:cNvPr id="112645" name="Text Box 10">
                <a:extLst>
                  <a:ext uri="{FF2B5EF4-FFF2-40B4-BE49-F238E27FC236}">
                    <a16:creationId xmlns:a16="http://schemas.microsoft.com/office/drawing/2014/main" id="{D8E7BEC5-2413-4BB8-8D4C-34F6519BD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22098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1" dirty="0">
                    <a:solidFill>
                      <a:srgbClr val="0000CC"/>
                    </a:solidFill>
                    <a:latin typeface="Tahoma" panose="020B0604030504040204" pitchFamily="34" charset="0"/>
                  </a:rPr>
                  <a:t>0xF2</a:t>
                </a:r>
              </a:p>
            </p:txBody>
          </p:sp>
          <p:sp>
            <p:nvSpPr>
              <p:cNvPr id="112644" name="Text Box 7">
                <a:extLst>
                  <a:ext uri="{FF2B5EF4-FFF2-40B4-BE49-F238E27FC236}">
                    <a16:creationId xmlns:a16="http://schemas.microsoft.com/office/drawing/2014/main" id="{9996665C-99D8-4705-B367-63E59CAC3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44" y="2793252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  <p:sp>
            <p:nvSpPr>
              <p:cNvPr id="112648" name="Text Box 15">
                <a:extLst>
                  <a:ext uri="{FF2B5EF4-FFF2-40B4-BE49-F238E27FC236}">
                    <a16:creationId xmlns:a16="http://schemas.microsoft.com/office/drawing/2014/main" id="{FF2F9AC5-8BA6-4349-9429-53C43F6DE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172" y="2768600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09540"/>
              </p:ext>
            </p:extLst>
          </p:nvPr>
        </p:nvGraphicFramePr>
        <p:xfrm>
          <a:off x="6002591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97477"/>
              </p:ext>
            </p:extLst>
          </p:nvPr>
        </p:nvGraphicFramePr>
        <p:xfrm>
          <a:off x="481783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grpSp>
        <p:nvGrpSpPr>
          <p:cNvPr id="7" name="Group 6" descr="Three double nodes stored at memory locations 0xF2, 0xF3, and 0xF4.&#10;First node stores: 0xF4, &quot;A&quot;, 0xF3&#10;so the 2nd node is after the 1st node and the last node is before it.&#10;Second node: 0xF2, &quot;B&quot;, 0xF4&#10;Third node: 0xF3, &quot;C&quot;, 0xF2&#10;so the 2nd node is before the 3rd node and the first node is after it">
            <a:extLst>
              <a:ext uri="{FF2B5EF4-FFF2-40B4-BE49-F238E27FC236}">
                <a16:creationId xmlns:a16="http://schemas.microsoft.com/office/drawing/2014/main" id="{2BB51D4A-E2C4-DE32-4247-1903170C6BA2}"/>
              </a:ext>
            </a:extLst>
          </p:cNvPr>
          <p:cNvGrpSpPr/>
          <p:nvPr/>
        </p:nvGrpSpPr>
        <p:grpSpPr>
          <a:xfrm>
            <a:off x="481783" y="2362200"/>
            <a:ext cx="8187808" cy="946150"/>
            <a:chOff x="481783" y="2362200"/>
            <a:chExt cx="8187808" cy="946150"/>
          </a:xfrm>
        </p:grpSpPr>
        <p:sp>
          <p:nvSpPr>
            <p:cNvPr id="114692" name="Text Box 6">
              <a:extLst>
                <a:ext uri="{FF2B5EF4-FFF2-40B4-BE49-F238E27FC236}">
                  <a16:creationId xmlns:a16="http://schemas.microsoft.com/office/drawing/2014/main" id="{0F57AB58-A323-48BB-8968-98739F52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91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  <p:sp>
          <p:nvSpPr>
            <p:cNvPr id="114704" name="Text Box 23">
              <a:extLst>
                <a:ext uri="{FF2B5EF4-FFF2-40B4-BE49-F238E27FC236}">
                  <a16:creationId xmlns:a16="http://schemas.microsoft.com/office/drawing/2014/main" id="{D5BD602D-0BF8-4D6E-8C99-46DB40D1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983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6" name="Text Box 38">
              <a:extLst>
                <a:ext uri="{FF2B5EF4-FFF2-40B4-BE49-F238E27FC236}">
                  <a16:creationId xmlns:a16="http://schemas.microsoft.com/office/drawing/2014/main" id="{B46AE38E-099A-4120-9E7C-D185F730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5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7" name="Text Box 39">
              <a:extLst>
                <a:ext uri="{FF2B5EF4-FFF2-40B4-BE49-F238E27FC236}">
                  <a16:creationId xmlns:a16="http://schemas.microsoft.com/office/drawing/2014/main" id="{94E21E80-384A-4B73-9B27-0B9FB2A6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9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8" name="Text Box 40">
              <a:extLst>
                <a:ext uri="{FF2B5EF4-FFF2-40B4-BE49-F238E27FC236}">
                  <a16:creationId xmlns:a16="http://schemas.microsoft.com/office/drawing/2014/main" id="{34ABFBC6-DA01-4077-8990-63FAEBC21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344" y="2971800"/>
              <a:ext cx="71283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9" name="Text Box 41">
              <a:extLst>
                <a:ext uri="{FF2B5EF4-FFF2-40B4-BE49-F238E27FC236}">
                  <a16:creationId xmlns:a16="http://schemas.microsoft.com/office/drawing/2014/main" id="{0C0DA64D-FFA2-4BAA-881D-0DD9447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83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</p:grpSp>
      <p:graphicFrame>
        <p:nvGraphicFramePr>
          <p:cNvPr id="3" name="Group 25">
            <a:extLst>
              <a:ext uri="{FF2B5EF4-FFF2-40B4-BE49-F238E27FC236}">
                <a16:creationId xmlns:a16="http://schemas.microsoft.com/office/drawing/2014/main" id="{667ABF50-2FFD-A97D-AC77-78EB3B46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6985"/>
              </p:ext>
            </p:extLst>
          </p:nvPr>
        </p:nvGraphicFramePr>
        <p:xfrm>
          <a:off x="3261855" y="2813051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7E0AA1F6-9A36-7710-94D4-F1640C1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055" y="23558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0xF3</a:t>
            </a:r>
          </a:p>
        </p:txBody>
      </p:sp>
      <p:sp>
        <p:nvSpPr>
          <p:cNvPr id="5" name="Text Box 40">
            <a:extLst>
              <a:ext uri="{FF2B5EF4-FFF2-40B4-BE49-F238E27FC236}">
                <a16:creationId xmlns:a16="http://schemas.microsoft.com/office/drawing/2014/main" id="{6C30E119-163D-DEDE-6166-83FC7441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2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5E6BE5DC-BF9B-A54C-7E27-EABAD0C2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8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47800"/>
            <a:ext cx="6138863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Big-O notation is an assessment of 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algorithm’s efficiency.  Big-O notation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helps gauge the amount of work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is taking place.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Common Big O Notations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O(1)				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O(2</a:t>
            </a:r>
            <a:r>
              <a:rPr lang="en-US" altLang="en-US" sz="2800" b="1" baseline="30000">
                <a:latin typeface="Tahoma" panose="020B0604030504040204" pitchFamily="34" charset="0"/>
              </a:rPr>
              <a:t>N</a:t>
            </a:r>
            <a:r>
              <a:rPr lang="en-US" altLang="en-US" sz="2800" b="1">
                <a:latin typeface="Tahoma" panose="020B0604030504040204" pitchFamily="34" charset="0"/>
              </a:rPr>
              <a:t>)   			O(N</a:t>
            </a:r>
            <a:r>
              <a:rPr lang="en-US" altLang="en-US" sz="2800" b="1" baseline="30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		O(N)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  <a:r>
              <a:rPr lang="en-US" altLang="en-US" sz="2400">
                <a:latin typeface="Arial" panose="020B0604020202020204" pitchFamily="34" charset="0"/>
              </a:rPr>
              <a:t> 			</a:t>
            </a:r>
            <a:r>
              <a:rPr lang="en-US" altLang="en-US" sz="2800" b="1">
                <a:latin typeface="Tahoma" panose="020B0604030504040204" pitchFamily="34" charset="0"/>
              </a:rPr>
              <a:t>O(N</a:t>
            </a:r>
            <a:r>
              <a:rPr lang="en-US" altLang="en-US" sz="2800" b="1" baseline="30000">
                <a:latin typeface="Tahoma" panose="020B0604030504040204" pitchFamily="34" charset="0"/>
              </a:rPr>
              <a:t>3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393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9B893A22-0430-B14B-42AC-814EFA5CD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172" y="2768600"/>
            <a:ext cx="8180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49631" y="321622"/>
            <a:ext cx="5105400" cy="6857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868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doubly-linked list.</a:t>
            </a: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EC87CE93-1E62-4BF5-9BE2-1F2EFBA6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764004CD-0984-45B7-9908-5E41CAD2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5207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6331EAE8-6DDC-4754-B5E4-B0870572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576C1B39-E1CD-4B84-9CC8-7FA128BB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533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3FD83581-C423-62D5-A60E-F8CBB519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435" y="4648200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C84A02D-D39F-FFD7-6015-A0963E42A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441" y="4650282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se143-13w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6C7E9C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2588</TotalTime>
  <Words>3734</Words>
  <Application>Microsoft Office PowerPoint</Application>
  <PresentationFormat>On-screen Show (4:3)</PresentationFormat>
  <Paragraphs>851</Paragraphs>
  <Slides>61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7" baseType="lpstr">
      <vt:lpstr>ＭＳ Ｐゴシック</vt:lpstr>
      <vt:lpstr>Andale Mono</vt:lpstr>
      <vt:lpstr>Arial</vt:lpstr>
      <vt:lpstr>Arial Black</vt:lpstr>
      <vt:lpstr>Arial Unicode MS</vt:lpstr>
      <vt:lpstr>Courier New</vt:lpstr>
      <vt:lpstr>Impact</vt:lpstr>
      <vt:lpstr>MS LineDraw</vt:lpstr>
      <vt:lpstr>Tahoma</vt:lpstr>
      <vt:lpstr>Times New Roman</vt:lpstr>
      <vt:lpstr>Trebuchet MS</vt:lpstr>
      <vt:lpstr>Verdana</vt:lpstr>
      <vt:lpstr>Wingdings</vt:lpstr>
      <vt:lpstr>Wingdings 2</vt:lpstr>
      <vt:lpstr>Blank Presentation</vt:lpstr>
      <vt:lpstr>cse143-13wi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Typical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483</cp:revision>
  <cp:lastPrinted>2000-10-05T14:12:58Z</cp:lastPrinted>
  <dcterms:created xsi:type="dcterms:W3CDTF">1995-06-17T23:31:02Z</dcterms:created>
  <dcterms:modified xsi:type="dcterms:W3CDTF">2025-01-07T18:57:57Z</dcterms:modified>
  <cp:category>www.apluscompsci.com</cp:category>
</cp:coreProperties>
</file>