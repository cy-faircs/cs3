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2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3.xml" ContentType="application/vnd.openxmlformats-officedocument.presentationml.notesSlid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  <p:sldMasterId id="2147483665" r:id="rId2"/>
  </p:sldMasterIdLst>
  <p:notesMasterIdLst>
    <p:notesMasterId r:id="rId36"/>
  </p:notesMasterIdLst>
  <p:handoutMasterIdLst>
    <p:handoutMasterId r:id="rId37"/>
  </p:handoutMasterIdLst>
  <p:sldIdLst>
    <p:sldId id="281" r:id="rId3"/>
    <p:sldId id="283" r:id="rId4"/>
    <p:sldId id="284" r:id="rId5"/>
    <p:sldId id="318" r:id="rId6"/>
    <p:sldId id="285" r:id="rId7"/>
    <p:sldId id="319" r:id="rId8"/>
    <p:sldId id="286" r:id="rId9"/>
    <p:sldId id="287" r:id="rId10"/>
    <p:sldId id="315" r:id="rId11"/>
    <p:sldId id="261" r:id="rId12"/>
    <p:sldId id="288" r:id="rId13"/>
    <p:sldId id="289" r:id="rId14"/>
    <p:sldId id="290" r:id="rId15"/>
    <p:sldId id="291" r:id="rId16"/>
    <p:sldId id="292" r:id="rId17"/>
    <p:sldId id="316" r:id="rId18"/>
    <p:sldId id="294" r:id="rId19"/>
    <p:sldId id="295" r:id="rId20"/>
    <p:sldId id="269" r:id="rId21"/>
    <p:sldId id="297" r:id="rId22"/>
    <p:sldId id="273" r:id="rId23"/>
    <p:sldId id="299" r:id="rId24"/>
    <p:sldId id="300" r:id="rId25"/>
    <p:sldId id="301" r:id="rId26"/>
    <p:sldId id="310" r:id="rId27"/>
    <p:sldId id="278" r:id="rId28"/>
    <p:sldId id="304" r:id="rId29"/>
    <p:sldId id="306" r:id="rId30"/>
    <p:sldId id="305" r:id="rId31"/>
    <p:sldId id="311" r:id="rId32"/>
    <p:sldId id="320" r:id="rId33"/>
    <p:sldId id="321" r:id="rId34"/>
    <p:sldId id="317" r:id="rId35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9933"/>
    <a:srgbClr val="0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2714" autoAdjust="0"/>
  </p:normalViewPr>
  <p:slideViewPr>
    <p:cSldViewPr>
      <p:cViewPr varScale="1">
        <p:scale>
          <a:sx n="76" d="100"/>
          <a:sy n="76" d="100"/>
        </p:scale>
        <p:origin x="1526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CAC3FDBB-08F0-4E50-ABFB-5A62F7D78E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endParaRPr lang="en-US"/>
          </a:p>
        </p:txBody>
      </p:sp>
      <p:sp>
        <p:nvSpPr>
          <p:cNvPr id="10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b="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b="0"/>
            </a:lvl1pPr>
          </a:lstStyle>
          <a:p>
            <a:fld id="{2C67BDBE-48D2-4F82-AD31-5C3827ABFF6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81A08E-86E1-47C5-83DB-1FE4DBB5DEEA}" type="slidenum">
              <a:rPr lang="en-US"/>
              <a:pPr/>
              <a:t>3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24" tIns="47562" rIns="95124" bIns="47562"/>
          <a:lstStyle/>
          <a:p>
            <a:r>
              <a:rPr lang="en-US"/>
              <a:t>queue is empty: count =0, front=rear=null</a:t>
            </a:r>
          </a:p>
          <a:p>
            <a:r>
              <a:rPr lang="en-US"/>
              <a:t>only 1 element: front = rear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ED153C0-FEDC-C177-194C-DAD394D633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8D2BB0-55E0-DD76-8ED2-66EBBFCC79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E91A175-C9EC-A0FF-2E29-0F178CB3D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800DF-8E18-4CC3-85A7-88694E21D63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4746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9ED153C0-FEDC-C177-194C-DAD394D633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B8D2BB0-55E0-DD76-8ED2-66EBBFCC79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4E91A175-C9EC-A0FF-2E29-0F178CB3D2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E800DF-8E18-4CC3-85A7-88694E21D63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149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>
            <a:extLst>
              <a:ext uri="{FF2B5EF4-FFF2-40B4-BE49-F238E27FC236}">
                <a16:creationId xmlns:a16="http://schemas.microsoft.com/office/drawing/2014/main" id="{3D7B458C-F71F-4CF5-5AC8-7747A3CA00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33DA67-8E78-4874-8487-B191FABDB4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6D6804D-28AE-56F5-534B-81805EBA5E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E6BA8FD-C7E5-FFC7-4C57-EF29F7A64A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lvl="1"/>
            <a:r>
              <a:rPr lang="en-US" dirty="0"/>
              <a:t>The last index is thought to “</a:t>
            </a:r>
            <a:r>
              <a:rPr lang="en-US" b="1" i="1" dirty="0">
                <a:solidFill>
                  <a:schemeClr val="hlink"/>
                </a:solidFill>
              </a:rPr>
              <a:t>precede</a:t>
            </a:r>
            <a:r>
              <a:rPr lang="en-US" dirty="0"/>
              <a:t>” index 0</a:t>
            </a:r>
          </a:p>
          <a:p>
            <a:pPr lvl="1"/>
            <a:r>
              <a:rPr lang="en-US" dirty="0"/>
              <a:t>In an array whose last index is </a:t>
            </a:r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, the location “</a:t>
            </a:r>
            <a:r>
              <a:rPr lang="en-US" b="1" i="1" dirty="0">
                <a:solidFill>
                  <a:schemeClr val="hlink"/>
                </a:solidFill>
              </a:rPr>
              <a:t>before</a:t>
            </a:r>
            <a:r>
              <a:rPr lang="en-US" dirty="0"/>
              <a:t>” index </a:t>
            </a:r>
            <a:r>
              <a:rPr lang="en-US" b="1" dirty="0">
                <a:solidFill>
                  <a:schemeClr val="accent2"/>
                </a:solidFill>
              </a:rPr>
              <a:t>0</a:t>
            </a:r>
            <a:r>
              <a:rPr lang="en-US" dirty="0"/>
              <a:t> is index </a:t>
            </a:r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; the location “</a:t>
            </a:r>
            <a:r>
              <a:rPr lang="en-US" b="1" i="1" dirty="0">
                <a:solidFill>
                  <a:schemeClr val="hlink"/>
                </a:solidFill>
              </a:rPr>
              <a:t>after</a:t>
            </a:r>
            <a:r>
              <a:rPr lang="en-US" dirty="0"/>
              <a:t>” index </a:t>
            </a:r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 is index </a:t>
            </a:r>
            <a:r>
              <a:rPr lang="en-US" b="1" dirty="0">
                <a:solidFill>
                  <a:schemeClr val="accent2"/>
                </a:solidFill>
              </a:rPr>
              <a:t>0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E983047-4051-4A98-9CAB-178AAAFF49B0}" type="slidenum">
              <a:rPr lang="en-US"/>
              <a:pPr/>
              <a:t>24</a:t>
            </a:fld>
            <a:endParaRPr lang="en-US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124" tIns="47562" rIns="95124" bIns="47562"/>
          <a:lstStyle/>
          <a:p>
            <a:r>
              <a:rPr lang="en-US"/>
              <a:t>Yes, so it may need enlarging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O(</a:t>
            </a:r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200" dirty="0"/>
              <a:t>) to access </a:t>
            </a:r>
            <a:r>
              <a:rPr lang="en-US" altLang="en-US" sz="1200" i="1" dirty="0"/>
              <a:t>k</a:t>
            </a:r>
            <a:r>
              <a:rPr lang="en-US" altLang="en-US" sz="1200" i="0" baseline="30000" dirty="0"/>
              <a:t>th</a:t>
            </a:r>
            <a:r>
              <a:rPr lang="en-US" altLang="en-US" sz="1200" i="0" baseline="0" dirty="0"/>
              <a:t> element with circular arrays that allow it</a:t>
            </a:r>
            <a:endParaRPr lang="en-US" altLang="en-US" sz="12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O(N) to access </a:t>
            </a:r>
            <a:r>
              <a:rPr lang="en-US" altLang="en-US" sz="1200" i="1" dirty="0"/>
              <a:t>k</a:t>
            </a:r>
            <a:r>
              <a:rPr lang="en-US" altLang="en-US" sz="1200" i="0" baseline="30000" dirty="0"/>
              <a:t>th</a:t>
            </a:r>
            <a:r>
              <a:rPr lang="en-US" dirty="0"/>
              <a:t> element with 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7BDBE-48D2-4F82-AD31-5C3827ABFF6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673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780338C-AE80-4F11-8E1F-8D3B31B99D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82012934-9C3A-47FB-9EEC-D52D46410F7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BC108A19-1577-43BF-B58D-2D0D8005890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9EBF5C0-8D3E-47E5-B236-F500C6A9EB0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C7C403DE-349E-4161-A438-CD8FE3A955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95BD1BE3-2940-44E7-9ED2-05AFC67123E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20655CE6-0BC0-47A5-AF06-0C05F0CABE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3A3B9712-3044-4C30-A9A3-4F9441A2677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E42DEC11-32CC-45F5-B71A-9CA3581528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E094A01B-0130-499E-AAEF-D006C64E507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05231482-92F2-44C0-83A5-B5E8D59674A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6-</a:t>
            </a:r>
            <a:fld id="{5C1150F2-7ED7-4622-92E0-588ABA97952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47B230-A187-F16D-B667-8E299C2298A4}"/>
              </a:ext>
            </a:extLst>
          </p:cNvPr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85780B-2160-C75F-42DD-B6C35D65D5C2}"/>
              </a:ext>
            </a:extLst>
          </p:cNvPr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C9904-0B52-115E-CE64-89D4D23844B2}"/>
              </a:ext>
            </a:extLst>
          </p:cNvPr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E9FFA2-2D0F-F239-20C3-4554ACB1E8F1}"/>
              </a:ext>
            </a:extLst>
          </p:cNvPr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Date Placeholder 27">
            <a:extLst>
              <a:ext uri="{FF2B5EF4-FFF2-40B4-BE49-F238E27FC236}">
                <a16:creationId xmlns:a16="http://schemas.microsoft.com/office/drawing/2014/main" id="{A93F01FA-9194-C36C-1357-82E4FD11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637E7C7-E3BD-4941-B593-F39F8AF21717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334A4540-5AC1-15F2-5A4D-943ECC54A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6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165C0F6F-D4FE-55D4-9FD8-D6083396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BCF81-28B1-49BA-B00E-F1F5CADFAC21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94AB4DEC-96F6-8C50-F052-06533165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4AE0E43-9FA3-879F-8793-BF616EB7F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1DC49B-6F3C-4AEA-93D2-3188201DDC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332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24BCF8-B65A-EB5A-7821-421D56907B85}"/>
              </a:ext>
            </a:extLst>
          </p:cNvPr>
          <p:cNvSpPr/>
          <p:nvPr/>
        </p:nvSpPr>
        <p:spPr>
          <a:xfrm>
            <a:off x="914400" y="2819400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314EC3-5E60-3D9B-B935-BD028DF0029D}"/>
              </a:ext>
            </a:extLst>
          </p:cNvPr>
          <p:cNvSpPr/>
          <p:nvPr/>
        </p:nvSpPr>
        <p:spPr>
          <a:xfrm>
            <a:off x="914400" y="2819400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/>
          <a:lstStyle>
            <a:lvl1pPr algn="r">
              <a:buNone/>
              <a:defRPr sz="3200" b="0" cap="none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022A4E9A-BC2A-8A9C-585B-8E88DB23C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C9AC04E-218E-4422-B65B-7F2056CDEAD1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3EF2DDC-BF97-4366-1F16-16308237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98775" y="6354763"/>
            <a:ext cx="3475038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C180718-896A-B4A2-D9F1-29811E6ED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9975" y="6354763"/>
            <a:ext cx="1520825" cy="366712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40952C-A7E5-410C-9F05-EE3D6A8A3F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1290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720CF330-77D1-8999-97D3-179CF998D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370D8-02F7-4AA5-95A4-E66F963E55CC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40B2FEB-F26D-6DFD-69C9-C9756E8B1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A7FEA767-1039-1ED0-65B4-2BF0CFE0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512E1-4E40-4779-A164-9550079B72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633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>
            <a:extLst>
              <a:ext uri="{FF2B5EF4-FFF2-40B4-BE49-F238E27FC236}">
                <a16:creationId xmlns:a16="http://schemas.microsoft.com/office/drawing/2014/main" id="{A24D1C20-B8A4-618D-1AF5-A80FA9FF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E98B47-FDD6-4334-BC09-44781AAFC4E6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1F9E6DB-D35A-91FC-5303-7A190E6F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43ACA4C7-FADD-A039-F56C-85DB0BDB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411B2-B475-4874-A02B-12C9604AAD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6078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56DBCA75-659A-4B10-8955-44B552BB5207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F8DB1602-0E04-47DD-C7F7-9528D9DA8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B87063-45BD-4D8E-B247-01833C2156D3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6C51B7F-CFFF-C4D7-826F-43994A1E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E802D312-3A53-D909-BDF9-4DB73EA15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573750-A36D-4030-8387-D00C744F30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01117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58297651-2471-4093-F0ED-34F4649E4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C9621D24-F483-BAE1-8BDE-4B7EF2367836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96A9FFDF-4EE5-0C50-5B48-29C4F096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D9F7447-C052-449B-8EEF-28BA83C601B8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24C6060-B66A-C2E4-9157-FCF2F015B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1810F2B-ECA0-D804-A3DE-2003135B4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1B7826-BA55-43A8-BCC7-88DFEEF673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4119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>
            <a:extLst>
              <a:ext uri="{FF2B5EF4-FFF2-40B4-BE49-F238E27FC236}">
                <a16:creationId xmlns:a16="http://schemas.microsoft.com/office/drawing/2014/main" id="{171C785D-99DD-DB78-192F-8D6F4DE3EB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Straight Connector 3">
            <a:extLst>
              <a:ext uri="{FF2B5EF4-FFF2-40B4-BE49-F238E27FC236}">
                <a16:creationId xmlns:a16="http://schemas.microsoft.com/office/drawing/2014/main" id="{ACAD145B-26B8-6F59-D9FF-17A274242D2D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160712" y="3324226"/>
            <a:ext cx="603567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AD6CF70D-8C2A-DB1A-FC5A-197A6CC4B790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C0F9B71-D3EE-D103-1DDE-3D32EEE97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FAC0A1-8D16-4E9A-B49A-BA39B209A24E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E960A0B6-13E2-12FD-9256-CA6584DD6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A39A3FAB-FC20-4E66-C631-6A66F4E0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E0772DD-C4E4-4602-A420-A82ADEB1E1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220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1">
            <a:extLst>
              <a:ext uri="{FF2B5EF4-FFF2-40B4-BE49-F238E27FC236}">
                <a16:creationId xmlns:a16="http://schemas.microsoft.com/office/drawing/2014/main" id="{40B45AD7-A480-820C-896E-F183B95873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0BA3B13-D9CD-CFB2-4EAB-442E895A42F5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B1C7D-C51C-5A68-D521-7889B1FFAAEB}"/>
              </a:ext>
            </a:extLst>
          </p:cNvPr>
          <p:cNvSpPr/>
          <p:nvPr/>
        </p:nvSpPr>
        <p:spPr>
          <a:xfrm>
            <a:off x="457200" y="500063"/>
            <a:ext cx="182563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C9CA2D7F-88A1-C1AF-85D7-ECAD041B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3B06C8-99A1-4D7A-B16E-ED4D8D9A2E33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0002AC3-577D-19E3-1C7B-5C59BBF85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6B72952-80A3-1EEE-0E02-7B20FCA70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46085-806E-4512-BCA3-021E5C925F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306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15D66144-35C6-882C-9936-A7B5A2C85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596A24-7CE7-4C20-98D0-6DA80F1FCC7A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55941D8-1DC1-2212-376A-1B46A48CB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2987943E-D606-D5BC-3A4A-374EA4303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ACA1C-ED6B-494A-87B9-C8A47C16F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1834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 Connector 1">
            <a:extLst>
              <a:ext uri="{FF2B5EF4-FFF2-40B4-BE49-F238E27FC236}">
                <a16:creationId xmlns:a16="http://schemas.microsoft.com/office/drawing/2014/main" id="{764DE680-B4A1-87AD-3198-E8AFC42F8F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B02F096-A798-8BCE-C73B-145F5B1D2EDE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Straight Connector 4">
            <a:extLst>
              <a:ext uri="{FF2B5EF4-FFF2-40B4-BE49-F238E27FC236}">
                <a16:creationId xmlns:a16="http://schemas.microsoft.com/office/drawing/2014/main" id="{9A39A979-D3A9-EEBB-3D89-DDF68BC226C7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630612" y="3201988"/>
            <a:ext cx="5851525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B4DB5D5-371A-CF9D-16FE-B5F045A3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A793E66-F925-4C7D-B439-CA1A8942EDBA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91B3EF7-7276-2930-E8B7-2B3F6A5E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8A18AAA-CDF2-441A-E33C-21189F709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8CD33A-43C0-4AAC-A01E-0B1FD49960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72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endParaRPr lang="en-US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/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r>
              <a:rPr lang="en-US"/>
              <a:t>6-</a:t>
            </a:r>
            <a:fld id="{FB956CA3-E12E-4505-8EE3-916123BFA3B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>
            <a:extLst>
              <a:ext uri="{FF2B5EF4-FFF2-40B4-BE49-F238E27FC236}">
                <a16:creationId xmlns:a16="http://schemas.microsoft.com/office/drawing/2014/main" id="{8C4527FD-161E-B665-44B7-63161038BE8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12">
            <a:extLst>
              <a:ext uri="{FF2B5EF4-FFF2-40B4-BE49-F238E27FC236}">
                <a16:creationId xmlns:a16="http://schemas.microsoft.com/office/drawing/2014/main" id="{9F849A1D-F575-B1A3-F5BC-C1062E4B6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81AF834-C3BE-FA13-5988-075C38362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8F73F5-9B55-428B-BBB7-B2526FA51BBD}" type="datetime1">
              <a:rPr lang="en-US" altLang="en-US"/>
              <a:pPr>
                <a:defRPr/>
              </a:pPr>
              <a:t>12/5/2024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5305B4-6F60-C591-56E3-A8C00E13B4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98775" y="6356350"/>
            <a:ext cx="3505200" cy="3651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Arial" pitchFamily="-1" charset="0"/>
                <a:ea typeface="ＭＳ Ｐゴシック" pitchFamily="-1" charset="-128"/>
                <a:cs typeface="ＭＳ Ｐゴシック" pitchFamily="-1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D1C5B73-B67C-5D76-8FD9-E855CD99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7F41551C-1AD4-4069-BC1B-FF4BF8DDC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Straight Connector 27">
            <a:extLst>
              <a:ext uri="{FF2B5EF4-FFF2-40B4-BE49-F238E27FC236}">
                <a16:creationId xmlns:a16="http://schemas.microsoft.com/office/drawing/2014/main" id="{D22380CE-5135-3547-84C2-33BF631C0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Straight Connector 28">
            <a:extLst>
              <a:ext uri="{FF2B5EF4-FFF2-40B4-BE49-F238E27FC236}">
                <a16:creationId xmlns:a16="http://schemas.microsoft.com/office/drawing/2014/main" id="{1774C11F-00CA-33CA-424B-F961D931B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algn="ctr">
            <a:solidFill>
              <a:schemeClr val="accent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D250FDF8-3439-E492-A017-E5D0D0E8ED94}"/>
              </a:ext>
            </a:extLst>
          </p:cNvPr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8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pitchFamily="-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MS PGothic" panose="020B0600070205080204" pitchFamily="34" charset="-128"/>
          <a:cs typeface="ＭＳ Ｐゴシック" pitchFamily="-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-1" charset="0"/>
          <a:ea typeface="ＭＳ Ｐゴシック" pitchFamily="-1" charset="-128"/>
          <a:cs typeface="ＭＳ Ｐゴシック" pitchFamily="-1" charset="-128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anose="05040102010807070707" pitchFamily="18" charset="2"/>
        <a:buChar char=""/>
        <a:defRPr sz="26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pitchFamily="-1" charset="-128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2300" kern="12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6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18" Type="http://schemas.openxmlformats.org/officeDocument/2006/relationships/tags" Target="../tags/tag44.xml"/><Relationship Id="rId26" Type="http://schemas.openxmlformats.org/officeDocument/2006/relationships/tags" Target="../tags/tag52.xml"/><Relationship Id="rId3" Type="http://schemas.openxmlformats.org/officeDocument/2006/relationships/tags" Target="../tags/tag29.xml"/><Relationship Id="rId21" Type="http://schemas.openxmlformats.org/officeDocument/2006/relationships/tags" Target="../tags/tag47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17" Type="http://schemas.openxmlformats.org/officeDocument/2006/relationships/tags" Target="../tags/tag43.xml"/><Relationship Id="rId25" Type="http://schemas.openxmlformats.org/officeDocument/2006/relationships/tags" Target="../tags/tag51.xml"/><Relationship Id="rId2" Type="http://schemas.openxmlformats.org/officeDocument/2006/relationships/tags" Target="../tags/tag28.xml"/><Relationship Id="rId16" Type="http://schemas.openxmlformats.org/officeDocument/2006/relationships/tags" Target="../tags/tag42.xml"/><Relationship Id="rId20" Type="http://schemas.openxmlformats.org/officeDocument/2006/relationships/tags" Target="../tags/tag46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24" Type="http://schemas.openxmlformats.org/officeDocument/2006/relationships/tags" Target="../tags/tag50.xml"/><Relationship Id="rId5" Type="http://schemas.openxmlformats.org/officeDocument/2006/relationships/tags" Target="../tags/tag31.xml"/><Relationship Id="rId15" Type="http://schemas.openxmlformats.org/officeDocument/2006/relationships/tags" Target="../tags/tag41.xml"/><Relationship Id="rId23" Type="http://schemas.openxmlformats.org/officeDocument/2006/relationships/tags" Target="../tags/tag49.xml"/><Relationship Id="rId28" Type="http://schemas.openxmlformats.org/officeDocument/2006/relationships/notesSlide" Target="../notesSlides/notesSlide3.xml"/><Relationship Id="rId10" Type="http://schemas.openxmlformats.org/officeDocument/2006/relationships/tags" Target="../tags/tag36.xml"/><Relationship Id="rId19" Type="http://schemas.openxmlformats.org/officeDocument/2006/relationships/tags" Target="../tags/tag45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tags" Target="../tags/tag40.xml"/><Relationship Id="rId22" Type="http://schemas.openxmlformats.org/officeDocument/2006/relationships/tags" Target="../tags/tag48.xml"/><Relationship Id="rId27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tags" Target="../tags/tag70.xml"/><Relationship Id="rId26" Type="http://schemas.openxmlformats.org/officeDocument/2006/relationships/tags" Target="../tags/tag78.xml"/><Relationship Id="rId3" Type="http://schemas.openxmlformats.org/officeDocument/2006/relationships/tags" Target="../tags/tag55.xml"/><Relationship Id="rId21" Type="http://schemas.openxmlformats.org/officeDocument/2006/relationships/tags" Target="../tags/tag73.xml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5" Type="http://schemas.openxmlformats.org/officeDocument/2006/relationships/tags" Target="../tags/tag77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tags" Target="../tags/tag72.xml"/><Relationship Id="rId29" Type="http://schemas.openxmlformats.org/officeDocument/2006/relationships/notesSlide" Target="../notesSlides/notesSlide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24" Type="http://schemas.openxmlformats.org/officeDocument/2006/relationships/tags" Target="../tags/tag76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tags" Target="../tags/tag75.xml"/><Relationship Id="rId28" Type="http://schemas.openxmlformats.org/officeDocument/2006/relationships/slideLayout" Target="../slideLayouts/slideLayout14.xml"/><Relationship Id="rId10" Type="http://schemas.openxmlformats.org/officeDocument/2006/relationships/tags" Target="../tags/tag62.xml"/><Relationship Id="rId19" Type="http://schemas.openxmlformats.org/officeDocument/2006/relationships/tags" Target="../tags/tag71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tags" Target="../tags/tag74.xml"/><Relationship Id="rId27" Type="http://schemas.openxmlformats.org/officeDocument/2006/relationships/tags" Target="../tags/tag7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tags" Target="../tags/tag105.xml"/><Relationship Id="rId3" Type="http://schemas.openxmlformats.org/officeDocument/2006/relationships/tags" Target="../tags/tag82.xml"/><Relationship Id="rId21" Type="http://schemas.openxmlformats.org/officeDocument/2006/relationships/tags" Target="../tags/tag100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tags" Target="../tags/tag104.xml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slideLayout" Target="../slideLayouts/slideLayout14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tags" Target="../tags/tag103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tags" Target="../tags/tag102.xml"/><Relationship Id="rId28" Type="http://schemas.openxmlformats.org/officeDocument/2006/relationships/tags" Target="../tags/tag107.xml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tags" Target="../tags/tag101.xml"/><Relationship Id="rId27" Type="http://schemas.openxmlformats.org/officeDocument/2006/relationships/tags" Target="../tags/tag10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115.xml"/><Relationship Id="rId13" Type="http://schemas.openxmlformats.org/officeDocument/2006/relationships/tags" Target="../tags/tag120.xml"/><Relationship Id="rId18" Type="http://schemas.openxmlformats.org/officeDocument/2006/relationships/tags" Target="../tags/tag125.xml"/><Relationship Id="rId26" Type="http://schemas.openxmlformats.org/officeDocument/2006/relationships/tags" Target="../tags/tag133.xml"/><Relationship Id="rId3" Type="http://schemas.openxmlformats.org/officeDocument/2006/relationships/tags" Target="../tags/tag110.xml"/><Relationship Id="rId21" Type="http://schemas.openxmlformats.org/officeDocument/2006/relationships/tags" Target="../tags/tag128.xml"/><Relationship Id="rId7" Type="http://schemas.openxmlformats.org/officeDocument/2006/relationships/tags" Target="../tags/tag114.xml"/><Relationship Id="rId12" Type="http://schemas.openxmlformats.org/officeDocument/2006/relationships/tags" Target="../tags/tag119.xml"/><Relationship Id="rId17" Type="http://schemas.openxmlformats.org/officeDocument/2006/relationships/tags" Target="../tags/tag124.xml"/><Relationship Id="rId25" Type="http://schemas.openxmlformats.org/officeDocument/2006/relationships/tags" Target="../tags/tag132.xml"/><Relationship Id="rId2" Type="http://schemas.openxmlformats.org/officeDocument/2006/relationships/tags" Target="../tags/tag109.xml"/><Relationship Id="rId16" Type="http://schemas.openxmlformats.org/officeDocument/2006/relationships/tags" Target="../tags/tag123.xml"/><Relationship Id="rId20" Type="http://schemas.openxmlformats.org/officeDocument/2006/relationships/tags" Target="../tags/tag127.xml"/><Relationship Id="rId29" Type="http://schemas.openxmlformats.org/officeDocument/2006/relationships/slideLayout" Target="../slideLayouts/slideLayout14.xml"/><Relationship Id="rId1" Type="http://schemas.openxmlformats.org/officeDocument/2006/relationships/tags" Target="../tags/tag108.xml"/><Relationship Id="rId6" Type="http://schemas.openxmlformats.org/officeDocument/2006/relationships/tags" Target="../tags/tag113.xml"/><Relationship Id="rId11" Type="http://schemas.openxmlformats.org/officeDocument/2006/relationships/tags" Target="../tags/tag118.xml"/><Relationship Id="rId24" Type="http://schemas.openxmlformats.org/officeDocument/2006/relationships/tags" Target="../tags/tag131.xml"/><Relationship Id="rId5" Type="http://schemas.openxmlformats.org/officeDocument/2006/relationships/tags" Target="../tags/tag112.xml"/><Relationship Id="rId15" Type="http://schemas.openxmlformats.org/officeDocument/2006/relationships/tags" Target="../tags/tag122.xml"/><Relationship Id="rId23" Type="http://schemas.openxmlformats.org/officeDocument/2006/relationships/tags" Target="../tags/tag130.xml"/><Relationship Id="rId28" Type="http://schemas.openxmlformats.org/officeDocument/2006/relationships/tags" Target="../tags/tag135.xml"/><Relationship Id="rId10" Type="http://schemas.openxmlformats.org/officeDocument/2006/relationships/tags" Target="../tags/tag117.xml"/><Relationship Id="rId19" Type="http://schemas.openxmlformats.org/officeDocument/2006/relationships/tags" Target="../tags/tag126.xml"/><Relationship Id="rId4" Type="http://schemas.openxmlformats.org/officeDocument/2006/relationships/tags" Target="../tags/tag111.xml"/><Relationship Id="rId9" Type="http://schemas.openxmlformats.org/officeDocument/2006/relationships/tags" Target="../tags/tag116.xml"/><Relationship Id="rId14" Type="http://schemas.openxmlformats.org/officeDocument/2006/relationships/tags" Target="../tags/tag121.xml"/><Relationship Id="rId22" Type="http://schemas.openxmlformats.org/officeDocument/2006/relationships/tags" Target="../tags/tag129.xml"/><Relationship Id="rId27" Type="http://schemas.openxmlformats.org/officeDocument/2006/relationships/tags" Target="../tags/tag13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Queue Implementation Issues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8229600" cy="4495800"/>
          </a:xfrm>
        </p:spPr>
        <p:txBody>
          <a:bodyPr/>
          <a:lstStyle/>
          <a:p>
            <a:r>
              <a:rPr lang="en-US"/>
              <a:t>What do we need to implement a queue?</a:t>
            </a:r>
          </a:p>
          <a:p>
            <a:pPr lvl="1"/>
            <a:r>
              <a:rPr lang="en-US" sz="3200"/>
              <a:t>A data structure (</a:t>
            </a:r>
            <a:r>
              <a:rPr lang="en-US" sz="3200" b="1" i="1">
                <a:solidFill>
                  <a:schemeClr val="accent2"/>
                </a:solidFill>
              </a:rPr>
              <a:t>container</a:t>
            </a:r>
            <a:r>
              <a:rPr lang="en-US" sz="3200"/>
              <a:t>) to hold the data elements</a:t>
            </a:r>
          </a:p>
          <a:p>
            <a:pPr lvl="1"/>
            <a:r>
              <a:rPr lang="en-US" sz="3200"/>
              <a:t>Something to indicate the </a:t>
            </a:r>
            <a:r>
              <a:rPr lang="en-US" sz="3200" b="1" i="1">
                <a:solidFill>
                  <a:schemeClr val="accent2"/>
                </a:solidFill>
              </a:rPr>
              <a:t>front</a:t>
            </a:r>
            <a:r>
              <a:rPr lang="en-US" sz="3200"/>
              <a:t> of the queue</a:t>
            </a:r>
          </a:p>
          <a:p>
            <a:pPr lvl="1"/>
            <a:r>
              <a:rPr lang="en-US" sz="3200"/>
              <a:t>Something to indicate the </a:t>
            </a:r>
            <a:r>
              <a:rPr lang="en-US" sz="3200" b="1" i="1">
                <a:solidFill>
                  <a:schemeClr val="accent2"/>
                </a:solidFill>
              </a:rPr>
              <a:t>end</a:t>
            </a:r>
            <a:r>
              <a:rPr lang="en-US" sz="3200">
                <a:solidFill>
                  <a:schemeClr val="accent2"/>
                </a:solidFill>
              </a:rPr>
              <a:t> </a:t>
            </a:r>
            <a:r>
              <a:rPr lang="en-US" sz="3200"/>
              <a:t>of the queue</a:t>
            </a:r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9776" y="152400"/>
            <a:ext cx="8134672" cy="1143000"/>
          </a:xfrm>
        </p:spPr>
        <p:txBody>
          <a:bodyPr/>
          <a:lstStyle/>
          <a:p>
            <a:r>
              <a:rPr lang="en-US" dirty="0"/>
              <a:t>Linked Implementation of a Queue</a:t>
            </a:r>
          </a:p>
        </p:txBody>
      </p:sp>
      <p:sp>
        <p:nvSpPr>
          <p:cNvPr id="43054" name="Text Box 46"/>
          <p:cNvSpPr txBox="1">
            <a:spLocks noChangeArrowheads="1"/>
          </p:cNvSpPr>
          <p:nvPr/>
        </p:nvSpPr>
        <p:spPr bwMode="auto">
          <a:xfrm>
            <a:off x="1659409" y="1752600"/>
            <a:ext cx="5576887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A queue </a:t>
            </a:r>
            <a:r>
              <a:rPr lang="en-US" sz="2400">
                <a:solidFill>
                  <a:schemeClr val="accent2"/>
                </a:solidFill>
              </a:rPr>
              <a:t>q</a:t>
            </a:r>
            <a:r>
              <a:rPr lang="en-US" sz="2400"/>
              <a:t> containing four elements</a:t>
            </a:r>
          </a:p>
        </p:txBody>
      </p:sp>
      <p:grpSp>
        <p:nvGrpSpPr>
          <p:cNvPr id="2" name="Group 1" descr="This is a diagram of a singly linked list composed of four nodes storing colored squares in this order: yellow, red, cream, and blue.&#10;&#10;There are Node variables front and rear that store references to the yellow node and blue node, respectively. There is also a count variable that stores 4 currently.&#10;&#10;The list:&#10;yellow --&gt; red --&gt; cream --&gt; blue&#10;&#10;front --&gt; yellow&#10;rear --&gt; blue&#10;count = 4&#10;&#10;front, rear, and count are encapsulated in a queue object, a reference to which is stored in variable q.">
            <a:extLst>
              <a:ext uri="{FF2B5EF4-FFF2-40B4-BE49-F238E27FC236}">
                <a16:creationId xmlns:a16="http://schemas.microsoft.com/office/drawing/2014/main" id="{64152309-D1CA-1E03-ED7E-04A6ABAF9B18}"/>
              </a:ext>
            </a:extLst>
          </p:cNvPr>
          <p:cNvGrpSpPr/>
          <p:nvPr/>
        </p:nvGrpSpPr>
        <p:grpSpPr>
          <a:xfrm>
            <a:off x="900113" y="2895600"/>
            <a:ext cx="6984255" cy="2759075"/>
            <a:chOff x="900113" y="2895600"/>
            <a:chExt cx="6984255" cy="2759075"/>
          </a:xfrm>
        </p:grpSpPr>
        <p:sp>
          <p:nvSpPr>
            <p:cNvPr id="43012" name="Rectangle 4"/>
            <p:cNvSpPr>
              <a:spLocks noChangeArrowheads="1"/>
            </p:cNvSpPr>
            <p:nvPr/>
          </p:nvSpPr>
          <p:spPr bwMode="auto">
            <a:xfrm>
              <a:off x="2209800" y="4800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3" name="Text Box 5"/>
            <p:cNvSpPr txBox="1">
              <a:spLocks noChangeArrowheads="1"/>
            </p:cNvSpPr>
            <p:nvPr/>
          </p:nvSpPr>
          <p:spPr bwMode="auto">
            <a:xfrm>
              <a:off x="2133600" y="52578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3014" name="Text Box 6"/>
            <p:cNvSpPr txBox="1">
              <a:spLocks noChangeArrowheads="1"/>
            </p:cNvSpPr>
            <p:nvPr/>
          </p:nvSpPr>
          <p:spPr bwMode="auto">
            <a:xfrm>
              <a:off x="2286000" y="4876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3015" name="Rectangle 7"/>
            <p:cNvSpPr>
              <a:spLocks noChangeArrowheads="1"/>
            </p:cNvSpPr>
            <p:nvPr/>
          </p:nvSpPr>
          <p:spPr bwMode="auto">
            <a:xfrm>
              <a:off x="1905000" y="28956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2133600" y="3505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3017" name="Rectangle 9"/>
            <p:cNvSpPr>
              <a:spLocks noChangeArrowheads="1"/>
            </p:cNvSpPr>
            <p:nvPr/>
          </p:nvSpPr>
          <p:spPr bwMode="auto">
            <a:xfrm>
              <a:off x="2209800" y="3048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18" name="Text Box 10"/>
            <p:cNvSpPr txBox="1">
              <a:spLocks noChangeArrowheads="1"/>
            </p:cNvSpPr>
            <p:nvPr/>
          </p:nvSpPr>
          <p:spPr bwMode="auto">
            <a:xfrm>
              <a:off x="2133600" y="43434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3019" name="Rectangle 11"/>
            <p:cNvSpPr>
              <a:spLocks noChangeArrowheads="1"/>
            </p:cNvSpPr>
            <p:nvPr/>
          </p:nvSpPr>
          <p:spPr bwMode="auto">
            <a:xfrm>
              <a:off x="22098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0" name="Rectangle 12"/>
            <p:cNvSpPr>
              <a:spLocks noChangeArrowheads="1"/>
            </p:cNvSpPr>
            <p:nvPr/>
          </p:nvSpPr>
          <p:spPr bwMode="auto">
            <a:xfrm>
              <a:off x="36576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4" name="Rectangle 16"/>
            <p:cNvSpPr>
              <a:spLocks noChangeArrowheads="1"/>
            </p:cNvSpPr>
            <p:nvPr/>
          </p:nvSpPr>
          <p:spPr bwMode="auto">
            <a:xfrm>
              <a:off x="37338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5" name="Rectangle 17"/>
            <p:cNvSpPr>
              <a:spLocks noChangeArrowheads="1"/>
            </p:cNvSpPr>
            <p:nvPr/>
          </p:nvSpPr>
          <p:spPr bwMode="auto">
            <a:xfrm>
              <a:off x="40386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26" name="Line 18"/>
            <p:cNvSpPr>
              <a:spLocks noChangeShapeType="1"/>
            </p:cNvSpPr>
            <p:nvPr/>
          </p:nvSpPr>
          <p:spPr bwMode="auto">
            <a:xfrm>
              <a:off x="38862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27" name="Line 19"/>
            <p:cNvSpPr>
              <a:spLocks noChangeShapeType="1"/>
            </p:cNvSpPr>
            <p:nvPr/>
          </p:nvSpPr>
          <p:spPr bwMode="auto">
            <a:xfrm>
              <a:off x="2438400" y="4114800"/>
              <a:ext cx="1295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28" name="Rectangle 20"/>
            <p:cNvSpPr>
              <a:spLocks noChangeArrowheads="1"/>
            </p:cNvSpPr>
            <p:nvPr/>
          </p:nvSpPr>
          <p:spPr bwMode="auto">
            <a:xfrm>
              <a:off x="4648200" y="4648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2" name="Rectangle 24"/>
            <p:cNvSpPr>
              <a:spLocks noChangeArrowheads="1"/>
            </p:cNvSpPr>
            <p:nvPr/>
          </p:nvSpPr>
          <p:spPr bwMode="auto">
            <a:xfrm>
              <a:off x="47244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3" name="Rectangle 25"/>
            <p:cNvSpPr>
              <a:spLocks noChangeArrowheads="1"/>
            </p:cNvSpPr>
            <p:nvPr/>
          </p:nvSpPr>
          <p:spPr bwMode="auto">
            <a:xfrm>
              <a:off x="50292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4" name="Line 26"/>
            <p:cNvSpPr>
              <a:spLocks noChangeShapeType="1"/>
            </p:cNvSpPr>
            <p:nvPr/>
          </p:nvSpPr>
          <p:spPr bwMode="auto">
            <a:xfrm>
              <a:off x="48768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35" name="Rectangle 27"/>
            <p:cNvSpPr>
              <a:spLocks noChangeArrowheads="1"/>
            </p:cNvSpPr>
            <p:nvPr/>
          </p:nvSpPr>
          <p:spPr bwMode="auto">
            <a:xfrm>
              <a:off x="5638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39" name="Rectangle 31"/>
            <p:cNvSpPr>
              <a:spLocks noChangeArrowheads="1"/>
            </p:cNvSpPr>
            <p:nvPr/>
          </p:nvSpPr>
          <p:spPr bwMode="auto">
            <a:xfrm>
              <a:off x="57150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0" name="Rectangle 32"/>
            <p:cNvSpPr>
              <a:spLocks noChangeArrowheads="1"/>
            </p:cNvSpPr>
            <p:nvPr/>
          </p:nvSpPr>
          <p:spPr bwMode="auto">
            <a:xfrm>
              <a:off x="60198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1" name="Line 33"/>
            <p:cNvSpPr>
              <a:spLocks noChangeShapeType="1"/>
            </p:cNvSpPr>
            <p:nvPr/>
          </p:nvSpPr>
          <p:spPr bwMode="auto">
            <a:xfrm>
              <a:off x="58674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2" name="Line 34"/>
            <p:cNvSpPr>
              <a:spLocks noChangeShapeType="1"/>
            </p:cNvSpPr>
            <p:nvPr/>
          </p:nvSpPr>
          <p:spPr bwMode="auto">
            <a:xfrm>
              <a:off x="41910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3" name="Line 35"/>
            <p:cNvSpPr>
              <a:spLocks noChangeShapeType="1"/>
            </p:cNvSpPr>
            <p:nvPr/>
          </p:nvSpPr>
          <p:spPr bwMode="auto">
            <a:xfrm>
              <a:off x="51816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44" name="Rectangle 36"/>
            <p:cNvSpPr>
              <a:spLocks noChangeArrowheads="1"/>
            </p:cNvSpPr>
            <p:nvPr/>
          </p:nvSpPr>
          <p:spPr bwMode="auto">
            <a:xfrm>
              <a:off x="6629400" y="46482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8" name="Rectangle 40"/>
            <p:cNvSpPr>
              <a:spLocks noChangeArrowheads="1"/>
            </p:cNvSpPr>
            <p:nvPr/>
          </p:nvSpPr>
          <p:spPr bwMode="auto">
            <a:xfrm>
              <a:off x="67056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49" name="Rectangle 41"/>
            <p:cNvSpPr>
              <a:spLocks noChangeArrowheads="1"/>
            </p:cNvSpPr>
            <p:nvPr/>
          </p:nvSpPr>
          <p:spPr bwMode="auto">
            <a:xfrm>
              <a:off x="7010400" y="39624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51" name="Line 43"/>
            <p:cNvSpPr>
              <a:spLocks noChangeShapeType="1"/>
            </p:cNvSpPr>
            <p:nvPr/>
          </p:nvSpPr>
          <p:spPr bwMode="auto">
            <a:xfrm>
              <a:off x="6172200" y="41148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2" name="Line 44"/>
            <p:cNvSpPr>
              <a:spLocks noChangeShapeType="1"/>
            </p:cNvSpPr>
            <p:nvPr/>
          </p:nvSpPr>
          <p:spPr bwMode="auto">
            <a:xfrm>
              <a:off x="6858000" y="41910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3" name="Freeform 45"/>
            <p:cNvSpPr>
              <a:spLocks/>
            </p:cNvSpPr>
            <p:nvPr/>
          </p:nvSpPr>
          <p:spPr bwMode="auto">
            <a:xfrm>
              <a:off x="2438400" y="3162300"/>
              <a:ext cx="44196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208" y="72"/>
                </a:cxn>
                <a:cxn ang="0">
                  <a:pos x="2784" y="504"/>
                </a:cxn>
              </a:cxnLst>
              <a:rect l="0" t="0" r="r" b="b"/>
              <a:pathLst>
                <a:path w="2784" h="504">
                  <a:moveTo>
                    <a:pt x="0" y="72"/>
                  </a:moveTo>
                  <a:cubicBezTo>
                    <a:pt x="872" y="36"/>
                    <a:pt x="1744" y="0"/>
                    <a:pt x="2208" y="72"/>
                  </a:cubicBezTo>
                  <a:cubicBezTo>
                    <a:pt x="2672" y="144"/>
                    <a:pt x="2728" y="324"/>
                    <a:pt x="2784" y="504"/>
                  </a:cubicBezTo>
                </a:path>
              </a:pathLst>
            </a:custGeom>
            <a:noFill/>
            <a:ln w="38100" cmpd="sng">
              <a:solidFill>
                <a:schemeClr val="hlink"/>
              </a:solidFill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3055" name="Text Box 47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3056" name="Rectangle 48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3057" name="Line 49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>
              <a:off x="7236296" y="4149080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5" name="Straight Connector 44"/>
            <p:cNvCxnSpPr/>
            <p:nvPr/>
          </p:nvCxnSpPr>
          <p:spPr bwMode="auto">
            <a:xfrm>
              <a:off x="7740352" y="4149080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7596336" y="4365104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What if the queue is empty?</a:t>
            </a:r>
          </a:p>
          <a:p>
            <a:pPr>
              <a:buFontTx/>
              <a:buNone/>
            </a:pPr>
            <a:endParaRPr lang="en-US"/>
          </a:p>
          <a:p>
            <a:r>
              <a:rPr lang="en-US"/>
              <a:t>What if there is only 1 element?</a:t>
            </a: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auto">
          <a:xfrm>
            <a:off x="1905000" y="304800"/>
            <a:ext cx="4110038" cy="7016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en-US" sz="4000" b="0">
                <a:solidFill>
                  <a:schemeClr val="tx2"/>
                </a:solidFill>
              </a:rPr>
              <a:t>Discussion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D6FF20E-A64C-802C-FC04-F1D7E4B0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 Queue</a:t>
            </a:r>
          </a:p>
        </p:txBody>
      </p:sp>
      <p:grpSp>
        <p:nvGrpSpPr>
          <p:cNvPr id="2" name="Group 35" descr="front --&gt; b --&gt; c --&gt; d --&gt; e --&gt; f&#10;back --&gt; f&#10;&#10;This is a diagram of a singly linked list composed of nodes storing the values b, c, d, e, and f.&#10;&#10;There are Node variables front and back that store references to the b node and f node, respectively.">
            <a:extLst>
              <a:ext uri="{FF2B5EF4-FFF2-40B4-BE49-F238E27FC236}">
                <a16:creationId xmlns:a16="http://schemas.microsoft.com/office/drawing/2014/main" id="{202AF3A1-0EF0-7779-6805-0B7286A7CD78}"/>
              </a:ext>
            </a:extLst>
          </p:cNvPr>
          <p:cNvGrpSpPr>
            <a:grpSpLocks/>
          </p:cNvGrpSpPr>
          <p:nvPr/>
        </p:nvGrpSpPr>
        <p:grpSpPr bwMode="auto">
          <a:xfrm>
            <a:off x="444918" y="1340768"/>
            <a:ext cx="8121157" cy="1740248"/>
            <a:chOff x="1752600" y="1295400"/>
            <a:chExt cx="5334000" cy="1143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02872D-9C27-202C-340B-A5D3F81B0A0A}"/>
                </a:ext>
              </a:extLst>
            </p:cNvPr>
            <p:cNvSpPr/>
            <p:nvPr/>
          </p:nvSpPr>
          <p:spPr bwMode="auto">
            <a:xfrm>
              <a:off x="1752600" y="1295400"/>
              <a:ext cx="53340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5368" name="Group 29">
              <a:extLst>
                <a:ext uri="{FF2B5EF4-FFF2-40B4-BE49-F238E27FC236}">
                  <a16:creationId xmlns:a16="http://schemas.microsoft.com/office/drawing/2014/main" id="{0C18A747-0281-C24C-AA13-C68689863E7F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1905000" y="1371600"/>
              <a:ext cx="4800600" cy="977900"/>
              <a:chOff x="1200" y="1190"/>
              <a:chExt cx="3024" cy="616"/>
            </a:xfrm>
          </p:grpSpPr>
          <p:sp>
            <p:nvSpPr>
              <p:cNvPr id="15369" name="Rectangle 3">
                <a:extLst>
                  <a:ext uri="{FF2B5EF4-FFF2-40B4-BE49-F238E27FC236}">
                    <a16:creationId xmlns:a16="http://schemas.microsoft.com/office/drawing/2014/main" id="{08AE3D8C-D8E2-2F0C-0D6D-331319F3DAE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4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5370" name="Rectangle 4">
                <a:extLst>
                  <a:ext uri="{FF2B5EF4-FFF2-40B4-BE49-F238E27FC236}">
                    <a16:creationId xmlns:a16="http://schemas.microsoft.com/office/drawing/2014/main" id="{799013B9-D547-1F12-CB76-5CD030F54C3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53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1" name="Rectangle 5">
                <a:extLst>
                  <a:ext uri="{FF2B5EF4-FFF2-40B4-BE49-F238E27FC236}">
                    <a16:creationId xmlns:a16="http://schemas.microsoft.com/office/drawing/2014/main" id="{2BF43EE0-8510-845D-92D9-EB8B6F2A5ED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440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2" name="Rectangle 6">
                <a:extLst>
                  <a:ext uri="{FF2B5EF4-FFF2-40B4-BE49-F238E27FC236}">
                    <a16:creationId xmlns:a16="http://schemas.microsoft.com/office/drawing/2014/main" id="{A3506637-2A58-8248-2A94-323411C00B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96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c</a:t>
                </a:r>
              </a:p>
            </p:txBody>
          </p:sp>
          <p:sp>
            <p:nvSpPr>
              <p:cNvPr id="15373" name="Rectangle 7">
                <a:extLst>
                  <a:ext uri="{FF2B5EF4-FFF2-40B4-BE49-F238E27FC236}">
                    <a16:creationId xmlns:a16="http://schemas.microsoft.com/office/drawing/2014/main" id="{393D563A-7EE6-6CAB-B57D-8E365CABC0B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16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4" name="Rectangle 8">
                <a:extLst>
                  <a:ext uri="{FF2B5EF4-FFF2-40B4-BE49-F238E27FC236}">
                    <a16:creationId xmlns:a16="http://schemas.microsoft.com/office/drawing/2014/main" id="{58E189DE-63BE-65D8-7A7E-615F33D9660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064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5" name="AutoShape 9">
                <a:extLst>
                  <a:ext uri="{FF2B5EF4-FFF2-40B4-BE49-F238E27FC236}">
                    <a16:creationId xmlns:a16="http://schemas.microsoft.com/office/drawing/2014/main" id="{9D45B576-05C9-95BE-174C-DE1517C37CF3}"/>
                  </a:ext>
                </a:extLst>
              </p:cNvPr>
              <p:cNvCxnSpPr>
                <a:cxnSpLocks noChangeShapeType="1"/>
                <a:stCxn id="15371" idx="3"/>
                <a:endCxn id="15372" idx="1"/>
              </p:cNvCxnSpPr>
              <p:nvPr>
                <p:custDataLst>
                  <p:tags r:id="rId9"/>
                </p:custDataLst>
              </p:nvPr>
            </p:nvCxnSpPr>
            <p:spPr bwMode="auto">
              <a:xfrm>
                <a:off x="1632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76" name="Rectangle 10">
                <a:extLst>
                  <a:ext uri="{FF2B5EF4-FFF2-40B4-BE49-F238E27FC236}">
                    <a16:creationId xmlns:a16="http://schemas.microsoft.com/office/drawing/2014/main" id="{22169BED-173B-A8FB-55EB-9C1DBFF3BB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9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5377" name="Rectangle 11">
                <a:extLst>
                  <a:ext uri="{FF2B5EF4-FFF2-40B4-BE49-F238E27FC236}">
                    <a16:creationId xmlns:a16="http://schemas.microsoft.com/office/drawing/2014/main" id="{F02D7BD3-850E-7C7A-BE55-975E5ACA8D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78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8" name="Rectangle 12">
                <a:extLst>
                  <a:ext uri="{FF2B5EF4-FFF2-40B4-BE49-F238E27FC236}">
                    <a16:creationId xmlns:a16="http://schemas.microsoft.com/office/drawing/2014/main" id="{AC0EA7E6-9B1D-4C38-369F-B0EB705A60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88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9" name="AutoShape 13">
                <a:extLst>
                  <a:ext uri="{FF2B5EF4-FFF2-40B4-BE49-F238E27FC236}">
                    <a16:creationId xmlns:a16="http://schemas.microsoft.com/office/drawing/2014/main" id="{11946A20-5DCA-9965-D61E-227B4457A368}"/>
                  </a:ext>
                </a:extLst>
              </p:cNvPr>
              <p:cNvCxnSpPr>
                <a:cxnSpLocks noChangeShapeType="1"/>
                <a:stCxn id="15374" idx="3"/>
                <a:endCxn id="15376" idx="1"/>
              </p:cNvCxnSpPr>
              <p:nvPr>
                <p:custDataLst>
                  <p:tags r:id="rId13"/>
                </p:custDataLst>
              </p:nvPr>
            </p:nvCxnSpPr>
            <p:spPr bwMode="auto">
              <a:xfrm>
                <a:off x="2256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0" name="Rectangle 14">
                <a:extLst>
                  <a:ext uri="{FF2B5EF4-FFF2-40B4-BE49-F238E27FC236}">
                    <a16:creationId xmlns:a16="http://schemas.microsoft.com/office/drawing/2014/main" id="{73B275A3-EA4F-2B76-751E-0BBE27CD58C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1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5381" name="Rectangle 15">
                <a:extLst>
                  <a:ext uri="{FF2B5EF4-FFF2-40B4-BE49-F238E27FC236}">
                    <a16:creationId xmlns:a16="http://schemas.microsoft.com/office/drawing/2014/main" id="{FE5A93BA-FFB1-D7DC-0DEF-D7482FEC71B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40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2" name="Rectangle 16">
                <a:extLst>
                  <a:ext uri="{FF2B5EF4-FFF2-40B4-BE49-F238E27FC236}">
                    <a16:creationId xmlns:a16="http://schemas.microsoft.com/office/drawing/2014/main" id="{D9604D7C-34FD-9E3C-100A-F0A688AD190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12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3" name="AutoShape 17">
                <a:extLst>
                  <a:ext uri="{FF2B5EF4-FFF2-40B4-BE49-F238E27FC236}">
                    <a16:creationId xmlns:a16="http://schemas.microsoft.com/office/drawing/2014/main" id="{98646BD5-014E-6743-CB26-A17C4EF922EE}"/>
                  </a:ext>
                </a:extLst>
              </p:cNvPr>
              <p:cNvCxnSpPr>
                <a:cxnSpLocks noChangeShapeType="1"/>
                <a:stCxn id="15378" idx="3"/>
                <a:endCxn id="15380" idx="1"/>
              </p:cNvCxnSpPr>
              <p:nvPr>
                <p:custDataLst>
                  <p:tags r:id="rId17"/>
                </p:custDataLst>
              </p:nvPr>
            </p:nvCxnSpPr>
            <p:spPr bwMode="auto">
              <a:xfrm>
                <a:off x="2880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4" name="Rectangle 18">
                <a:extLst>
                  <a:ext uri="{FF2B5EF4-FFF2-40B4-BE49-F238E27FC236}">
                    <a16:creationId xmlns:a16="http://schemas.microsoft.com/office/drawing/2014/main" id="{B692D33F-82A4-D5C0-5BCF-97494307F6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84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5385" name="Rectangle 19">
                <a:extLst>
                  <a:ext uri="{FF2B5EF4-FFF2-40B4-BE49-F238E27FC236}">
                    <a16:creationId xmlns:a16="http://schemas.microsoft.com/office/drawing/2014/main" id="{40C451C9-1B2B-569A-2441-1751B24BE3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6" name="Rectangle 20">
                <a:extLst>
                  <a:ext uri="{FF2B5EF4-FFF2-40B4-BE49-F238E27FC236}">
                    <a16:creationId xmlns:a16="http://schemas.microsoft.com/office/drawing/2014/main" id="{2BF16B45-6FC3-595B-0063-EA76D83D23B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36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7" name="AutoShape 21">
                <a:extLst>
                  <a:ext uri="{FF2B5EF4-FFF2-40B4-BE49-F238E27FC236}">
                    <a16:creationId xmlns:a16="http://schemas.microsoft.com/office/drawing/2014/main" id="{CA9CC74D-D426-856E-C687-23ECE62FD022}"/>
                  </a:ext>
                </a:extLst>
              </p:cNvPr>
              <p:cNvCxnSpPr>
                <a:cxnSpLocks noChangeShapeType="1"/>
                <a:stCxn id="15382" idx="3"/>
                <a:endCxn id="15384" idx="1"/>
              </p:cNvCxnSpPr>
              <p:nvPr>
                <p:custDataLst>
                  <p:tags r:id="rId21"/>
                </p:custDataLst>
              </p:nvPr>
            </p:nvCxnSpPr>
            <p:spPr bwMode="auto">
              <a:xfrm>
                <a:off x="3504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8" name="Line 22">
                <a:extLst>
                  <a:ext uri="{FF2B5EF4-FFF2-40B4-BE49-F238E27FC236}">
                    <a16:creationId xmlns:a16="http://schemas.microsoft.com/office/drawing/2014/main" id="{6D7C96C6-8718-1281-16E8-090F86059FB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9" name="Text Box 23">
                <a:extLst>
                  <a:ext uri="{FF2B5EF4-FFF2-40B4-BE49-F238E27FC236}">
                    <a16:creationId xmlns:a16="http://schemas.microsoft.com/office/drawing/2014/main" id="{28AAC71A-23E0-8863-5FE2-187BB41905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00" y="1554"/>
                <a:ext cx="43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front</a:t>
                </a:r>
              </a:p>
            </p:txBody>
          </p:sp>
          <p:sp>
            <p:nvSpPr>
              <p:cNvPr id="15390" name="Text Box 24">
                <a:extLst>
                  <a:ext uri="{FF2B5EF4-FFF2-40B4-BE49-F238E27FC236}">
                    <a16:creationId xmlns:a16="http://schemas.microsoft.com/office/drawing/2014/main" id="{5AE37E6A-EEBE-F1D3-DF2C-25FDB27BFD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696" y="1554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back</a:t>
                </a:r>
              </a:p>
            </p:txBody>
          </p:sp>
          <p:cxnSp>
            <p:nvCxnSpPr>
              <p:cNvPr id="15391" name="AutoShape 25">
                <a:extLst>
                  <a:ext uri="{FF2B5EF4-FFF2-40B4-BE49-F238E27FC236}">
                    <a16:creationId xmlns:a16="http://schemas.microsoft.com/office/drawing/2014/main" id="{CF22934C-DFFD-C727-1465-DDF448F89A5F}"/>
                  </a:ext>
                </a:extLst>
              </p:cNvPr>
              <p:cNvCxnSpPr>
                <a:cxnSpLocks noChangeShapeType="1"/>
                <a:stCxn id="15389" idx="0"/>
                <a:endCxn id="15369" idx="2"/>
              </p:cNvCxnSpPr>
              <p:nvPr>
                <p:custDataLst>
                  <p:tags r:id="rId25"/>
                </p:custDataLst>
              </p:nvPr>
            </p:nvCxnSpPr>
            <p:spPr bwMode="auto">
              <a:xfrm rot="5400000" flipH="1" flipV="1">
                <a:off x="1344" y="1458"/>
                <a:ext cx="172" cy="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2" name="AutoShape 26">
                <a:extLst>
                  <a:ext uri="{FF2B5EF4-FFF2-40B4-BE49-F238E27FC236}">
                    <a16:creationId xmlns:a16="http://schemas.microsoft.com/office/drawing/2014/main" id="{10FBE8B6-926F-E9B3-8CB1-9781F37826B1}"/>
                  </a:ext>
                </a:extLst>
              </p:cNvPr>
              <p:cNvCxnSpPr>
                <a:cxnSpLocks noChangeShapeType="1"/>
                <a:stCxn id="15390" idx="0"/>
                <a:endCxn id="15384" idx="2"/>
              </p:cNvCxnSpPr>
              <p:nvPr>
                <p:custDataLst>
                  <p:tags r:id="rId26"/>
                </p:custDataLst>
              </p:nvPr>
            </p:nvCxnSpPr>
            <p:spPr bwMode="auto">
              <a:xfrm rot="5400000" flipH="1" flipV="1">
                <a:off x="3844" y="1462"/>
                <a:ext cx="172" cy="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33" name="Rectangle 3">
            <a:extLst>
              <a:ext uri="{FF2B5EF4-FFF2-40B4-BE49-F238E27FC236}">
                <a16:creationId xmlns:a16="http://schemas.microsoft.com/office/drawing/2014/main" id="{AB74B869-6D65-1032-F33E-7F72B07444F4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67544" y="3360182"/>
            <a:ext cx="8098531" cy="285988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373D54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enqueue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(x)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back.next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= new Node(x);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back = </a:t>
            </a:r>
            <a:r>
              <a:rPr kumimoji="0" lang="en-US" altLang="en-US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back.next</a:t>
            </a:r>
            <a:r>
              <a: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}</a:t>
            </a:r>
          </a:p>
          <a:p>
            <a:pPr algn="r">
              <a:lnSpc>
                <a:spcPct val="90000"/>
              </a:lnSpc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6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18646937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07504" y="152400"/>
            <a:ext cx="8350696" cy="1143000"/>
          </a:xfrm>
        </p:spPr>
        <p:txBody>
          <a:bodyPr/>
          <a:lstStyle/>
          <a:p>
            <a:r>
              <a:rPr lang="en-US" dirty="0"/>
              <a:t>Queue After Adding Green Element</a:t>
            </a:r>
          </a:p>
        </p:txBody>
      </p:sp>
      <p:sp>
        <p:nvSpPr>
          <p:cNvPr id="46115" name="Rectangl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458200" y="495300"/>
            <a:ext cx="4572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sp>
        <p:nvSpPr>
          <p:cNvPr id="46123" name="Text Box 43"/>
          <p:cNvSpPr txBox="1">
            <a:spLocks noChangeArrowheads="1"/>
          </p:cNvSpPr>
          <p:nvPr/>
        </p:nvSpPr>
        <p:spPr bwMode="auto">
          <a:xfrm>
            <a:off x="624143" y="1556355"/>
            <a:ext cx="8062657" cy="830997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New element is added in a node at the end of the list, </a:t>
            </a:r>
            <a:r>
              <a:rPr lang="en-US" sz="2400" dirty="0">
                <a:solidFill>
                  <a:schemeClr val="accent2"/>
                </a:solidFill>
              </a:rPr>
              <a:t>rear</a:t>
            </a:r>
            <a:r>
              <a:rPr lang="en-US" sz="2400" dirty="0"/>
              <a:t> points to the new node, and </a:t>
            </a:r>
            <a:r>
              <a:rPr lang="en-US" sz="2400" dirty="0">
                <a:solidFill>
                  <a:schemeClr val="accent2"/>
                </a:solidFill>
              </a:rPr>
              <a:t>count</a:t>
            </a:r>
            <a:r>
              <a:rPr lang="en-US" sz="2400" dirty="0"/>
              <a:t> is incremented</a:t>
            </a:r>
          </a:p>
        </p:txBody>
      </p:sp>
      <p:grpSp>
        <p:nvGrpSpPr>
          <p:cNvPr id="2" name="Group 1" descr="The list:&#10;yellow --&gt; red --&gt; cream --&gt; blue --&gt; green&#10;&#10;front --&gt; yellow&#10;rear --&gt; green&#10;count = 5&#10;&#10;front, rear, and count are encapsulated in a queue object, a reference to which is stored in variable q.&#10;This is a diagram of a singly linked list composed of nodes storing colored squares in this order: yellow, red, cream, blue, and green.&#10;&#10;There are Node variables front and rear that store references to the yellow node and green node, respectively. There is also a count variable that stores 5 currently.">
            <a:extLst>
              <a:ext uri="{FF2B5EF4-FFF2-40B4-BE49-F238E27FC236}">
                <a16:creationId xmlns:a16="http://schemas.microsoft.com/office/drawing/2014/main" id="{BC849080-99A0-54DE-FD72-728E656D4DBB}"/>
              </a:ext>
            </a:extLst>
          </p:cNvPr>
          <p:cNvGrpSpPr/>
          <p:nvPr/>
        </p:nvGrpSpPr>
        <p:grpSpPr>
          <a:xfrm>
            <a:off x="753865" y="2819400"/>
            <a:ext cx="7848351" cy="2759075"/>
            <a:chOff x="900113" y="2819400"/>
            <a:chExt cx="7848351" cy="2759075"/>
          </a:xfrm>
        </p:grpSpPr>
        <p:sp>
          <p:nvSpPr>
            <p:cNvPr id="46084" name="Rectangle 4"/>
            <p:cNvSpPr>
              <a:spLocks noChangeArrowheads="1"/>
            </p:cNvSpPr>
            <p:nvPr/>
          </p:nvSpPr>
          <p:spPr bwMode="auto">
            <a:xfrm>
              <a:off x="2209800" y="4724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85" name="Text Box 5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6086" name="Text Box 6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46087" name="Rectangle 7"/>
            <p:cNvSpPr>
              <a:spLocks noChangeArrowheads="1"/>
            </p:cNvSpPr>
            <p:nvPr/>
          </p:nvSpPr>
          <p:spPr bwMode="auto">
            <a:xfrm>
              <a:off x="1905000" y="28194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88" name="Text Box 8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6089" name="Rectangle 9"/>
            <p:cNvSpPr>
              <a:spLocks noChangeArrowheads="1"/>
            </p:cNvSpPr>
            <p:nvPr/>
          </p:nvSpPr>
          <p:spPr bwMode="auto">
            <a:xfrm>
              <a:off x="2209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0" name="Text Box 10"/>
            <p:cNvSpPr txBox="1">
              <a:spLocks noChangeArrowheads="1"/>
            </p:cNvSpPr>
            <p:nvPr/>
          </p:nvSpPr>
          <p:spPr bwMode="auto">
            <a:xfrm>
              <a:off x="2133600" y="4267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6091" name="Rectangle 11"/>
            <p:cNvSpPr>
              <a:spLocks noChangeArrowheads="1"/>
            </p:cNvSpPr>
            <p:nvPr/>
          </p:nvSpPr>
          <p:spPr bwMode="auto">
            <a:xfrm>
              <a:off x="2209800" y="3810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2" name="Rectangle 12"/>
            <p:cNvSpPr>
              <a:spLocks noChangeArrowheads="1"/>
            </p:cNvSpPr>
            <p:nvPr/>
          </p:nvSpPr>
          <p:spPr bwMode="auto">
            <a:xfrm>
              <a:off x="3657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3" name="Rectangle 13"/>
            <p:cNvSpPr>
              <a:spLocks noChangeArrowheads="1"/>
            </p:cNvSpPr>
            <p:nvPr/>
          </p:nvSpPr>
          <p:spPr bwMode="auto">
            <a:xfrm>
              <a:off x="3733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4" name="Rectangle 14"/>
            <p:cNvSpPr>
              <a:spLocks noChangeArrowheads="1"/>
            </p:cNvSpPr>
            <p:nvPr/>
          </p:nvSpPr>
          <p:spPr bwMode="auto">
            <a:xfrm>
              <a:off x="4038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5" name="Line 15"/>
            <p:cNvSpPr>
              <a:spLocks noChangeShapeType="1"/>
            </p:cNvSpPr>
            <p:nvPr/>
          </p:nvSpPr>
          <p:spPr bwMode="auto">
            <a:xfrm>
              <a:off x="38862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096" name="Line 16"/>
            <p:cNvSpPr>
              <a:spLocks noChangeShapeType="1"/>
            </p:cNvSpPr>
            <p:nvPr/>
          </p:nvSpPr>
          <p:spPr bwMode="auto">
            <a:xfrm>
              <a:off x="2438400" y="4038600"/>
              <a:ext cx="1295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097" name="Rectangle 17"/>
            <p:cNvSpPr>
              <a:spLocks noChangeArrowheads="1"/>
            </p:cNvSpPr>
            <p:nvPr/>
          </p:nvSpPr>
          <p:spPr bwMode="auto">
            <a:xfrm>
              <a:off x="4648200" y="4572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8" name="Rectangle 18"/>
            <p:cNvSpPr>
              <a:spLocks noChangeArrowheads="1"/>
            </p:cNvSpPr>
            <p:nvPr/>
          </p:nvSpPr>
          <p:spPr bwMode="auto">
            <a:xfrm>
              <a:off x="4724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099" name="Rectangle 19"/>
            <p:cNvSpPr>
              <a:spLocks noChangeArrowheads="1"/>
            </p:cNvSpPr>
            <p:nvPr/>
          </p:nvSpPr>
          <p:spPr bwMode="auto">
            <a:xfrm>
              <a:off x="5029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0" name="Line 20"/>
            <p:cNvSpPr>
              <a:spLocks noChangeShapeType="1"/>
            </p:cNvSpPr>
            <p:nvPr/>
          </p:nvSpPr>
          <p:spPr bwMode="auto">
            <a:xfrm>
              <a:off x="48768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1" name="Rectangle 21"/>
            <p:cNvSpPr>
              <a:spLocks noChangeArrowheads="1"/>
            </p:cNvSpPr>
            <p:nvPr/>
          </p:nvSpPr>
          <p:spPr bwMode="auto">
            <a:xfrm>
              <a:off x="5638800" y="45720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2" name="Rectangle 22"/>
            <p:cNvSpPr>
              <a:spLocks noChangeArrowheads="1"/>
            </p:cNvSpPr>
            <p:nvPr/>
          </p:nvSpPr>
          <p:spPr bwMode="auto">
            <a:xfrm>
              <a:off x="5715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3" name="Rectangle 23"/>
            <p:cNvSpPr>
              <a:spLocks noChangeArrowheads="1"/>
            </p:cNvSpPr>
            <p:nvPr/>
          </p:nvSpPr>
          <p:spPr bwMode="auto">
            <a:xfrm>
              <a:off x="6019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4" name="Line 24"/>
            <p:cNvSpPr>
              <a:spLocks noChangeShapeType="1"/>
            </p:cNvSpPr>
            <p:nvPr/>
          </p:nvSpPr>
          <p:spPr bwMode="auto">
            <a:xfrm>
              <a:off x="58674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5" name="Line 25"/>
            <p:cNvSpPr>
              <a:spLocks noChangeShapeType="1"/>
            </p:cNvSpPr>
            <p:nvPr/>
          </p:nvSpPr>
          <p:spPr bwMode="auto">
            <a:xfrm>
              <a:off x="41910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6" name="Line 26"/>
            <p:cNvSpPr>
              <a:spLocks noChangeShapeType="1"/>
            </p:cNvSpPr>
            <p:nvPr/>
          </p:nvSpPr>
          <p:spPr bwMode="auto">
            <a:xfrm>
              <a:off x="51816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07" name="Rectangle 27"/>
            <p:cNvSpPr>
              <a:spLocks noChangeArrowheads="1"/>
            </p:cNvSpPr>
            <p:nvPr/>
          </p:nvSpPr>
          <p:spPr bwMode="auto">
            <a:xfrm>
              <a:off x="66294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8" name="Rectangle 28"/>
            <p:cNvSpPr>
              <a:spLocks noChangeArrowheads="1"/>
            </p:cNvSpPr>
            <p:nvPr/>
          </p:nvSpPr>
          <p:spPr bwMode="auto">
            <a:xfrm>
              <a:off x="6705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09" name="Rectangle 29"/>
            <p:cNvSpPr>
              <a:spLocks noChangeArrowheads="1"/>
            </p:cNvSpPr>
            <p:nvPr/>
          </p:nvSpPr>
          <p:spPr bwMode="auto">
            <a:xfrm>
              <a:off x="7010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1" name="Line 31"/>
            <p:cNvSpPr>
              <a:spLocks noChangeShapeType="1"/>
            </p:cNvSpPr>
            <p:nvPr/>
          </p:nvSpPr>
          <p:spPr bwMode="auto">
            <a:xfrm>
              <a:off x="61722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12" name="Line 32"/>
            <p:cNvSpPr>
              <a:spLocks noChangeShapeType="1"/>
            </p:cNvSpPr>
            <p:nvPr/>
          </p:nvSpPr>
          <p:spPr bwMode="auto">
            <a:xfrm>
              <a:off x="68580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16" name="Rectangle 36"/>
            <p:cNvSpPr>
              <a:spLocks noChangeArrowheads="1"/>
            </p:cNvSpPr>
            <p:nvPr/>
          </p:nvSpPr>
          <p:spPr bwMode="auto">
            <a:xfrm>
              <a:off x="7620000" y="457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7" name="Rectangle 37"/>
            <p:cNvSpPr>
              <a:spLocks noChangeArrowheads="1"/>
            </p:cNvSpPr>
            <p:nvPr/>
          </p:nvSpPr>
          <p:spPr bwMode="auto">
            <a:xfrm>
              <a:off x="7696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18" name="Rectangle 38"/>
            <p:cNvSpPr>
              <a:spLocks noChangeArrowheads="1"/>
            </p:cNvSpPr>
            <p:nvPr/>
          </p:nvSpPr>
          <p:spPr bwMode="auto">
            <a:xfrm>
              <a:off x="8001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20" name="Line 40"/>
            <p:cNvSpPr>
              <a:spLocks noChangeShapeType="1"/>
            </p:cNvSpPr>
            <p:nvPr/>
          </p:nvSpPr>
          <p:spPr bwMode="auto">
            <a:xfrm>
              <a:off x="71628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1" name="Line 41"/>
            <p:cNvSpPr>
              <a:spLocks noChangeShapeType="1"/>
            </p:cNvSpPr>
            <p:nvPr/>
          </p:nvSpPr>
          <p:spPr bwMode="auto">
            <a:xfrm>
              <a:off x="78486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2" name="Freeform 42"/>
            <p:cNvSpPr>
              <a:spLocks/>
            </p:cNvSpPr>
            <p:nvPr/>
          </p:nvSpPr>
          <p:spPr bwMode="auto">
            <a:xfrm>
              <a:off x="2438400" y="3086100"/>
              <a:ext cx="54102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640" y="72"/>
                </a:cxn>
                <a:cxn ang="0">
                  <a:pos x="3408" y="504"/>
                </a:cxn>
              </a:cxnLst>
              <a:rect l="0" t="0" r="r" b="b"/>
              <a:pathLst>
                <a:path w="3408" h="504">
                  <a:moveTo>
                    <a:pt x="0" y="72"/>
                  </a:moveTo>
                  <a:cubicBezTo>
                    <a:pt x="1036" y="36"/>
                    <a:pt x="2072" y="0"/>
                    <a:pt x="2640" y="72"/>
                  </a:cubicBezTo>
                  <a:cubicBezTo>
                    <a:pt x="3208" y="144"/>
                    <a:pt x="3308" y="324"/>
                    <a:pt x="3408" y="504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6126" name="Text Box 46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6127" name="Rectangle 47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6128" name="Line 48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6" name="Straight Connector 45"/>
            <p:cNvCxnSpPr/>
            <p:nvPr/>
          </p:nvCxnSpPr>
          <p:spPr bwMode="auto">
            <a:xfrm>
              <a:off x="8100392" y="4077072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7" name="Straight Connector 46"/>
            <p:cNvCxnSpPr/>
            <p:nvPr/>
          </p:nvCxnSpPr>
          <p:spPr bwMode="auto">
            <a:xfrm>
              <a:off x="8604448" y="4077072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8" name="Straight Connector 47"/>
            <p:cNvCxnSpPr/>
            <p:nvPr/>
          </p:nvCxnSpPr>
          <p:spPr bwMode="auto">
            <a:xfrm>
              <a:off x="8460432" y="4293096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D6FF20E-A64C-802C-FC04-F1D7E4B0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Linked List Queue</a:t>
            </a:r>
          </a:p>
        </p:txBody>
      </p:sp>
      <p:grpSp>
        <p:nvGrpSpPr>
          <p:cNvPr id="2" name="Group 35" descr="front --&gt; b --&gt; c --&gt; d --&gt; e --&gt; f&#10;back --&gt; f&#10;&#10;This is a diagram of a singly linked list composed of nodes storing the values b, c, d, e, and f.&#10;&#10;There are Node variables front and back that store references to the b node and f node, respectively.">
            <a:extLst>
              <a:ext uri="{FF2B5EF4-FFF2-40B4-BE49-F238E27FC236}">
                <a16:creationId xmlns:a16="http://schemas.microsoft.com/office/drawing/2014/main" id="{202AF3A1-0EF0-7779-6805-0B7286A7CD78}"/>
              </a:ext>
            </a:extLst>
          </p:cNvPr>
          <p:cNvGrpSpPr>
            <a:grpSpLocks/>
          </p:cNvGrpSpPr>
          <p:nvPr/>
        </p:nvGrpSpPr>
        <p:grpSpPr bwMode="auto">
          <a:xfrm>
            <a:off x="323528" y="1340768"/>
            <a:ext cx="8400933" cy="1800200"/>
            <a:chOff x="1752600" y="1295400"/>
            <a:chExt cx="5334000" cy="1143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102872D-9C27-202C-340B-A5D3F81B0A0A}"/>
                </a:ext>
              </a:extLst>
            </p:cNvPr>
            <p:cNvSpPr/>
            <p:nvPr/>
          </p:nvSpPr>
          <p:spPr bwMode="auto">
            <a:xfrm>
              <a:off x="1752600" y="1295400"/>
              <a:ext cx="5334000" cy="1143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5368" name="Group 29">
              <a:extLst>
                <a:ext uri="{FF2B5EF4-FFF2-40B4-BE49-F238E27FC236}">
                  <a16:creationId xmlns:a16="http://schemas.microsoft.com/office/drawing/2014/main" id="{0C18A747-0281-C24C-AA13-C68689863E7F}"/>
                </a:ext>
              </a:extLst>
            </p:cNvPr>
            <p:cNvGrpSpPr>
              <a:grpSpLocks/>
            </p:cNvGrpSpPr>
            <p:nvPr>
              <p:custDataLst>
                <p:tags r:id="rId2"/>
              </p:custDataLst>
            </p:nvPr>
          </p:nvGrpSpPr>
          <p:grpSpPr bwMode="auto">
            <a:xfrm>
              <a:off x="1905000" y="1371600"/>
              <a:ext cx="4800600" cy="977900"/>
              <a:chOff x="1200" y="1190"/>
              <a:chExt cx="3024" cy="616"/>
            </a:xfrm>
          </p:grpSpPr>
          <p:sp>
            <p:nvSpPr>
              <p:cNvPr id="15369" name="Rectangle 3">
                <a:extLst>
                  <a:ext uri="{FF2B5EF4-FFF2-40B4-BE49-F238E27FC236}">
                    <a16:creationId xmlns:a16="http://schemas.microsoft.com/office/drawing/2014/main" id="{08AE3D8C-D8E2-2F0C-0D6D-331319F3DAEE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3"/>
                </p:custDataLst>
              </p:nvPr>
            </p:nvSpPr>
            <p:spPr bwMode="auto">
              <a:xfrm>
                <a:off x="134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</a:t>
                </a:r>
              </a:p>
            </p:txBody>
          </p:sp>
          <p:sp>
            <p:nvSpPr>
              <p:cNvPr id="15370" name="Rectangle 4">
                <a:extLst>
                  <a:ext uri="{FF2B5EF4-FFF2-40B4-BE49-F238E27FC236}">
                    <a16:creationId xmlns:a16="http://schemas.microsoft.com/office/drawing/2014/main" id="{799013B9-D547-1F12-CB76-5CD030F54C3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4"/>
                </p:custDataLst>
              </p:nvPr>
            </p:nvSpPr>
            <p:spPr bwMode="auto">
              <a:xfrm>
                <a:off x="153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1" name="Rectangle 5">
                <a:extLst>
                  <a:ext uri="{FF2B5EF4-FFF2-40B4-BE49-F238E27FC236}">
                    <a16:creationId xmlns:a16="http://schemas.microsoft.com/office/drawing/2014/main" id="{2BF43EE0-8510-845D-92D9-EB8B6F2A5ED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440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2" name="Rectangle 6">
                <a:extLst>
                  <a:ext uri="{FF2B5EF4-FFF2-40B4-BE49-F238E27FC236}">
                    <a16:creationId xmlns:a16="http://schemas.microsoft.com/office/drawing/2014/main" id="{A3506637-2A58-8248-2A94-323411C00B4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96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c</a:t>
                </a:r>
              </a:p>
            </p:txBody>
          </p:sp>
          <p:sp>
            <p:nvSpPr>
              <p:cNvPr id="15373" name="Rectangle 7">
                <a:extLst>
                  <a:ext uri="{FF2B5EF4-FFF2-40B4-BE49-F238E27FC236}">
                    <a16:creationId xmlns:a16="http://schemas.microsoft.com/office/drawing/2014/main" id="{393D563A-7EE6-6CAB-B57D-8E365CABC0B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16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4" name="Rectangle 8">
                <a:extLst>
                  <a:ext uri="{FF2B5EF4-FFF2-40B4-BE49-F238E27FC236}">
                    <a16:creationId xmlns:a16="http://schemas.microsoft.com/office/drawing/2014/main" id="{58E189DE-63BE-65D8-7A7E-615F33D96603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2064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5" name="AutoShape 9">
                <a:extLst>
                  <a:ext uri="{FF2B5EF4-FFF2-40B4-BE49-F238E27FC236}">
                    <a16:creationId xmlns:a16="http://schemas.microsoft.com/office/drawing/2014/main" id="{9D45B576-05C9-95BE-174C-DE1517C37CF3}"/>
                  </a:ext>
                </a:extLst>
              </p:cNvPr>
              <p:cNvCxnSpPr>
                <a:cxnSpLocks noChangeShapeType="1"/>
                <a:stCxn id="15371" idx="3"/>
                <a:endCxn id="15372" idx="1"/>
              </p:cNvCxnSpPr>
              <p:nvPr>
                <p:custDataLst>
                  <p:tags r:id="rId9"/>
                </p:custDataLst>
              </p:nvPr>
            </p:nvCxnSpPr>
            <p:spPr bwMode="auto">
              <a:xfrm>
                <a:off x="1632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76" name="Rectangle 10">
                <a:extLst>
                  <a:ext uri="{FF2B5EF4-FFF2-40B4-BE49-F238E27FC236}">
                    <a16:creationId xmlns:a16="http://schemas.microsoft.com/office/drawing/2014/main" id="{22169BED-173B-A8FB-55EB-9C1DBFF3BB45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259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d</a:t>
                </a:r>
              </a:p>
            </p:txBody>
          </p:sp>
          <p:sp>
            <p:nvSpPr>
              <p:cNvPr id="15377" name="Rectangle 11">
                <a:extLst>
                  <a:ext uri="{FF2B5EF4-FFF2-40B4-BE49-F238E27FC236}">
                    <a16:creationId xmlns:a16="http://schemas.microsoft.com/office/drawing/2014/main" id="{F02D7BD3-850E-7C7A-BE55-975E5ACA8DE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784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78" name="Rectangle 12">
                <a:extLst>
                  <a:ext uri="{FF2B5EF4-FFF2-40B4-BE49-F238E27FC236}">
                    <a16:creationId xmlns:a16="http://schemas.microsoft.com/office/drawing/2014/main" id="{AC0EA7E6-9B1D-4C38-369F-B0EB705A60FC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2"/>
                </p:custDataLst>
              </p:nvPr>
            </p:nvSpPr>
            <p:spPr bwMode="auto">
              <a:xfrm>
                <a:off x="2688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79" name="AutoShape 13">
                <a:extLst>
                  <a:ext uri="{FF2B5EF4-FFF2-40B4-BE49-F238E27FC236}">
                    <a16:creationId xmlns:a16="http://schemas.microsoft.com/office/drawing/2014/main" id="{11946A20-5DCA-9965-D61E-227B4457A368}"/>
                  </a:ext>
                </a:extLst>
              </p:cNvPr>
              <p:cNvCxnSpPr>
                <a:cxnSpLocks noChangeShapeType="1"/>
                <a:stCxn id="15374" idx="3"/>
                <a:endCxn id="15376" idx="1"/>
              </p:cNvCxnSpPr>
              <p:nvPr>
                <p:custDataLst>
                  <p:tags r:id="rId13"/>
                </p:custDataLst>
              </p:nvPr>
            </p:nvCxnSpPr>
            <p:spPr bwMode="auto">
              <a:xfrm>
                <a:off x="2256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0" name="Rectangle 14">
                <a:extLst>
                  <a:ext uri="{FF2B5EF4-FFF2-40B4-BE49-F238E27FC236}">
                    <a16:creationId xmlns:a16="http://schemas.microsoft.com/office/drawing/2014/main" id="{73B275A3-EA4F-2B76-751E-0BBE27CD58C2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16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e</a:t>
                </a:r>
              </a:p>
            </p:txBody>
          </p:sp>
          <p:sp>
            <p:nvSpPr>
              <p:cNvPr id="15381" name="Rectangle 15">
                <a:extLst>
                  <a:ext uri="{FF2B5EF4-FFF2-40B4-BE49-F238E27FC236}">
                    <a16:creationId xmlns:a16="http://schemas.microsoft.com/office/drawing/2014/main" id="{FE5A93BA-FFB1-D7DC-0DEF-D7482FEC71B8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5"/>
                </p:custDataLst>
              </p:nvPr>
            </p:nvSpPr>
            <p:spPr bwMode="auto">
              <a:xfrm>
                <a:off x="3408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2" name="Rectangle 16">
                <a:extLst>
                  <a:ext uri="{FF2B5EF4-FFF2-40B4-BE49-F238E27FC236}">
                    <a16:creationId xmlns:a16="http://schemas.microsoft.com/office/drawing/2014/main" id="{D9604D7C-34FD-9E3C-100A-F0A688AD1909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6"/>
                </p:custDataLst>
              </p:nvPr>
            </p:nvSpPr>
            <p:spPr bwMode="auto">
              <a:xfrm>
                <a:off x="3312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3" name="AutoShape 17">
                <a:extLst>
                  <a:ext uri="{FF2B5EF4-FFF2-40B4-BE49-F238E27FC236}">
                    <a16:creationId xmlns:a16="http://schemas.microsoft.com/office/drawing/2014/main" id="{98646BD5-014E-6743-CB26-A17C4EF922EE}"/>
                  </a:ext>
                </a:extLst>
              </p:cNvPr>
              <p:cNvCxnSpPr>
                <a:cxnSpLocks noChangeShapeType="1"/>
                <a:stCxn id="15378" idx="3"/>
                <a:endCxn id="15380" idx="1"/>
              </p:cNvCxnSpPr>
              <p:nvPr>
                <p:custDataLst>
                  <p:tags r:id="rId17"/>
                </p:custDataLst>
              </p:nvPr>
            </p:nvCxnSpPr>
            <p:spPr bwMode="auto">
              <a:xfrm>
                <a:off x="2880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4" name="Rectangle 18">
                <a:extLst>
                  <a:ext uri="{FF2B5EF4-FFF2-40B4-BE49-F238E27FC236}">
                    <a16:creationId xmlns:a16="http://schemas.microsoft.com/office/drawing/2014/main" id="{B692D33F-82A4-D5C0-5BCF-97494307F68D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3840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ctr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</a:t>
                </a:r>
              </a:p>
            </p:txBody>
          </p:sp>
          <p:sp>
            <p:nvSpPr>
              <p:cNvPr id="15385" name="Rectangle 19">
                <a:extLst>
                  <a:ext uri="{FF2B5EF4-FFF2-40B4-BE49-F238E27FC236}">
                    <a16:creationId xmlns:a16="http://schemas.microsoft.com/office/drawing/2014/main" id="{40C451C9-1B2B-569A-2441-1751B24BE3B7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19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6" name="Rectangle 20">
                <a:extLst>
                  <a:ext uri="{FF2B5EF4-FFF2-40B4-BE49-F238E27FC236}">
                    <a16:creationId xmlns:a16="http://schemas.microsoft.com/office/drawing/2014/main" id="{2BF16B45-6FC3-595B-0063-EA76D83D23B0}"/>
                  </a:ext>
                </a:extLst>
              </p:cNvPr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3936" y="1190"/>
                <a:ext cx="19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cxnSp>
            <p:nvCxnSpPr>
              <p:cNvPr id="15387" name="AutoShape 21">
                <a:extLst>
                  <a:ext uri="{FF2B5EF4-FFF2-40B4-BE49-F238E27FC236}">
                    <a16:creationId xmlns:a16="http://schemas.microsoft.com/office/drawing/2014/main" id="{CA9CC74D-D426-856E-C687-23ECE62FD022}"/>
                  </a:ext>
                </a:extLst>
              </p:cNvPr>
              <p:cNvCxnSpPr>
                <a:cxnSpLocks noChangeShapeType="1"/>
                <a:stCxn id="15382" idx="3"/>
                <a:endCxn id="15384" idx="1"/>
              </p:cNvCxnSpPr>
              <p:nvPr>
                <p:custDataLst>
                  <p:tags r:id="rId21"/>
                </p:custDataLst>
              </p:nvPr>
            </p:nvCxnSpPr>
            <p:spPr bwMode="auto">
              <a:xfrm>
                <a:off x="3504" y="1286"/>
                <a:ext cx="336" cy="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5388" name="Line 22">
                <a:extLst>
                  <a:ext uri="{FF2B5EF4-FFF2-40B4-BE49-F238E27FC236}">
                    <a16:creationId xmlns:a16="http://schemas.microsoft.com/office/drawing/2014/main" id="{6D7C96C6-8718-1281-16E8-090F86059FB0}"/>
                  </a:ext>
                </a:extLst>
              </p:cNvPr>
              <p:cNvSpPr>
                <a:spLocks noChangeShapeType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4032" y="1190"/>
                <a:ext cx="192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5389" name="Text Box 23">
                <a:extLst>
                  <a:ext uri="{FF2B5EF4-FFF2-40B4-BE49-F238E27FC236}">
                    <a16:creationId xmlns:a16="http://schemas.microsoft.com/office/drawing/2014/main" id="{28AAC71A-23E0-8863-5FE2-187BB41905D8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1200" y="1554"/>
                <a:ext cx="43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front</a:t>
                </a:r>
              </a:p>
            </p:txBody>
          </p:sp>
          <p:sp>
            <p:nvSpPr>
              <p:cNvPr id="15390" name="Text Box 24">
                <a:extLst>
                  <a:ext uri="{FF2B5EF4-FFF2-40B4-BE49-F238E27FC236}">
                    <a16:creationId xmlns:a16="http://schemas.microsoft.com/office/drawing/2014/main" id="{5AE37E6A-EEBE-F1D3-DF2C-25FDB27BFDBC}"/>
                  </a:ext>
                </a:extLst>
              </p:cNvPr>
              <p:cNvSpPr txBox="1">
                <a:spLocks noChangeArrowheads="1"/>
              </p:cNvSpPr>
              <p:nvPr>
                <p:custDataLst>
                  <p:tags r:id="rId24"/>
                </p:custDataLst>
              </p:nvPr>
            </p:nvSpPr>
            <p:spPr bwMode="auto">
              <a:xfrm>
                <a:off x="3696" y="1554"/>
                <a:ext cx="45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MS PGothic" panose="020B0600070205080204" pitchFamily="34" charset="-128"/>
                    <a:cs typeface="+mn-cs"/>
                  </a:rPr>
                  <a:t>back</a:t>
                </a:r>
              </a:p>
            </p:txBody>
          </p:sp>
          <p:cxnSp>
            <p:nvCxnSpPr>
              <p:cNvPr id="15391" name="AutoShape 25">
                <a:extLst>
                  <a:ext uri="{FF2B5EF4-FFF2-40B4-BE49-F238E27FC236}">
                    <a16:creationId xmlns:a16="http://schemas.microsoft.com/office/drawing/2014/main" id="{CF22934C-DFFD-C727-1465-DDF448F89A5F}"/>
                  </a:ext>
                </a:extLst>
              </p:cNvPr>
              <p:cNvCxnSpPr>
                <a:cxnSpLocks noChangeShapeType="1"/>
                <a:stCxn id="15389" idx="0"/>
                <a:endCxn id="15369" idx="2"/>
              </p:cNvCxnSpPr>
              <p:nvPr>
                <p:custDataLst>
                  <p:tags r:id="rId25"/>
                </p:custDataLst>
              </p:nvPr>
            </p:nvCxnSpPr>
            <p:spPr bwMode="auto">
              <a:xfrm rot="5400000" flipH="1" flipV="1">
                <a:off x="1344" y="1458"/>
                <a:ext cx="172" cy="2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5392" name="AutoShape 26">
                <a:extLst>
                  <a:ext uri="{FF2B5EF4-FFF2-40B4-BE49-F238E27FC236}">
                    <a16:creationId xmlns:a16="http://schemas.microsoft.com/office/drawing/2014/main" id="{10FBE8B6-926F-E9B3-8CB1-9781F37826B1}"/>
                  </a:ext>
                </a:extLst>
              </p:cNvPr>
              <p:cNvCxnSpPr>
                <a:cxnSpLocks noChangeShapeType="1"/>
                <a:stCxn id="15390" idx="0"/>
                <a:endCxn id="15384" idx="2"/>
              </p:cNvCxnSpPr>
              <p:nvPr>
                <p:custDataLst>
                  <p:tags r:id="rId26"/>
                </p:custDataLst>
              </p:nvPr>
            </p:nvCxnSpPr>
            <p:spPr bwMode="auto">
              <a:xfrm rot="5400000" flipH="1" flipV="1">
                <a:off x="3844" y="1462"/>
                <a:ext cx="172" cy="11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27653" name="Text Box 32">
            <a:extLst>
              <a:ext uri="{FF2B5EF4-FFF2-40B4-BE49-F238E27FC236}">
                <a16:creationId xmlns:a16="http://schemas.microsoft.com/office/drawing/2014/main" id="{360D5425-2A4A-06C2-6CE0-F63EF7A933B5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70324" y="3268361"/>
            <a:ext cx="7107340" cy="3175228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254061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dequeue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() {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x = </a:t>
            </a:r>
            <a:r>
              <a:rPr kumimoji="0" lang="en-US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front.item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 = </a:t>
            </a:r>
            <a:r>
              <a:rPr kumimoji="0" lang="en-US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front.next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return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x;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MS PGothic" panose="020B0600070205080204" pitchFamily="34" charset="-128"/>
              <a:cs typeface="+mn-cs"/>
            </a:endParaRP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MS PGothic" panose="020B0600070205080204" pitchFamily="34" charset="-128"/>
                <a:cs typeface="+mn-cs"/>
              </a:rPr>
              <a:t> }</a:t>
            </a:r>
          </a:p>
          <a:p>
            <a:pPr marL="0" lvl="1" algn="r" defTabSz="457200"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2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40156918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52400"/>
            <a:ext cx="8280920" cy="1143000"/>
          </a:xfrm>
        </p:spPr>
        <p:txBody>
          <a:bodyPr/>
          <a:lstStyle/>
          <a:p>
            <a:r>
              <a:rPr lang="en-US" dirty="0"/>
              <a:t>Queue After a </a:t>
            </a:r>
            <a:r>
              <a:rPr lang="en-US" b="1" dirty="0">
                <a:solidFill>
                  <a:schemeClr val="accent2"/>
                </a:solidFill>
              </a:rPr>
              <a:t>dequeue</a:t>
            </a:r>
            <a:r>
              <a:rPr lang="en-US" dirty="0"/>
              <a:t> Operation</a:t>
            </a:r>
          </a:p>
        </p:txBody>
      </p:sp>
      <p:sp>
        <p:nvSpPr>
          <p:cNvPr id="47136" name="Text Box 32"/>
          <p:cNvSpPr txBox="1">
            <a:spLocks noChangeArrowheads="1"/>
          </p:cNvSpPr>
          <p:nvPr/>
        </p:nvSpPr>
        <p:spPr bwMode="auto">
          <a:xfrm>
            <a:off x="511546" y="1355725"/>
            <a:ext cx="7948357" cy="1569660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Node containing yellow        is removed from the front of the list (see previous slide), </a:t>
            </a:r>
            <a:r>
              <a:rPr lang="en-US" sz="2400" dirty="0">
                <a:solidFill>
                  <a:schemeClr val="accent2"/>
                </a:solidFill>
              </a:rPr>
              <a:t>front</a:t>
            </a:r>
            <a:r>
              <a:rPr lang="en-US" sz="2400" dirty="0"/>
              <a:t> now points to the node that was formerly second, and </a:t>
            </a:r>
            <a:r>
              <a:rPr lang="en-US" sz="2400" dirty="0">
                <a:solidFill>
                  <a:schemeClr val="accent2"/>
                </a:solidFill>
              </a:rPr>
              <a:t>count</a:t>
            </a:r>
            <a:r>
              <a:rPr lang="en-US" sz="2400" dirty="0"/>
              <a:t> has been decremented.</a:t>
            </a:r>
          </a:p>
        </p:txBody>
      </p:sp>
      <p:sp>
        <p:nvSpPr>
          <p:cNvPr id="47145" name="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295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grpSp>
        <p:nvGrpSpPr>
          <p:cNvPr id="2" name="Group 1" descr="The list:&#10;red --&gt; cream --&gt; blue --&gt; green&#10;&#10;front --&gt; red&#10;rear --&gt; green&#10;count = 4&#10;&#10;front, rear, and count are encapsulated in a queue object, a reference to which is stored in variable q.&#10;&#10;This is a diagram of a singly linked list composed of nodes storing colored squares in this order: red, cream, blue, and green.&#10;&#10;There are Node variables front and rear that store references to the red node and green node, respectively. There is also a count variable that stores 4 currently.">
            <a:extLst>
              <a:ext uri="{FF2B5EF4-FFF2-40B4-BE49-F238E27FC236}">
                <a16:creationId xmlns:a16="http://schemas.microsoft.com/office/drawing/2014/main" id="{ADDA4194-1862-F6AB-C27E-4A8AAAF9DC18}"/>
              </a:ext>
            </a:extLst>
          </p:cNvPr>
          <p:cNvGrpSpPr/>
          <p:nvPr/>
        </p:nvGrpSpPr>
        <p:grpSpPr>
          <a:xfrm>
            <a:off x="611560" y="3262213"/>
            <a:ext cx="7848351" cy="2759075"/>
            <a:chOff x="900113" y="2819400"/>
            <a:chExt cx="7848351" cy="2759075"/>
          </a:xfrm>
        </p:grpSpPr>
        <p:sp>
          <p:nvSpPr>
            <p:cNvPr id="47108" name="Rectangle 4"/>
            <p:cNvSpPr>
              <a:spLocks noChangeArrowheads="1"/>
            </p:cNvSpPr>
            <p:nvPr/>
          </p:nvSpPr>
          <p:spPr bwMode="auto">
            <a:xfrm>
              <a:off x="2209800" y="4724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09" name="Text Box 5"/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47110" name="Text Box 6"/>
            <p:cNvSpPr txBox="1">
              <a:spLocks noChangeArrowheads="1"/>
            </p:cNvSpPr>
            <p:nvPr/>
          </p:nvSpPr>
          <p:spPr bwMode="auto">
            <a:xfrm>
              <a:off x="2286000" y="4800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47111" name="Rectangle 7"/>
            <p:cNvSpPr>
              <a:spLocks noChangeArrowheads="1"/>
            </p:cNvSpPr>
            <p:nvPr/>
          </p:nvSpPr>
          <p:spPr bwMode="auto">
            <a:xfrm>
              <a:off x="1905000" y="2819400"/>
              <a:ext cx="1143000" cy="27432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12" name="Text Box 8"/>
            <p:cNvSpPr txBox="1">
              <a:spLocks noChangeArrowheads="1"/>
            </p:cNvSpPr>
            <p:nvPr/>
          </p:nvSpPr>
          <p:spPr bwMode="auto">
            <a:xfrm>
              <a:off x="21336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47113" name="Rectangle 9"/>
            <p:cNvSpPr>
              <a:spLocks noChangeArrowheads="1"/>
            </p:cNvSpPr>
            <p:nvPr/>
          </p:nvSpPr>
          <p:spPr bwMode="auto">
            <a:xfrm>
              <a:off x="2209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14" name="Text Box 10"/>
            <p:cNvSpPr txBox="1">
              <a:spLocks noChangeArrowheads="1"/>
            </p:cNvSpPr>
            <p:nvPr/>
          </p:nvSpPr>
          <p:spPr bwMode="auto">
            <a:xfrm>
              <a:off x="2133600" y="4267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47115" name="Rectangle 11"/>
            <p:cNvSpPr>
              <a:spLocks noChangeArrowheads="1"/>
            </p:cNvSpPr>
            <p:nvPr/>
          </p:nvSpPr>
          <p:spPr bwMode="auto">
            <a:xfrm>
              <a:off x="2209800" y="3810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>
              <a:off x="2438400" y="4038600"/>
              <a:ext cx="2286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21" name="Rectangle 17"/>
            <p:cNvSpPr>
              <a:spLocks noChangeArrowheads="1"/>
            </p:cNvSpPr>
            <p:nvPr/>
          </p:nvSpPr>
          <p:spPr bwMode="auto">
            <a:xfrm>
              <a:off x="4648200" y="4572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2" name="Rectangle 18"/>
            <p:cNvSpPr>
              <a:spLocks noChangeArrowheads="1"/>
            </p:cNvSpPr>
            <p:nvPr/>
          </p:nvSpPr>
          <p:spPr bwMode="auto">
            <a:xfrm>
              <a:off x="4724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3" name="Rectangle 19"/>
            <p:cNvSpPr>
              <a:spLocks noChangeArrowheads="1"/>
            </p:cNvSpPr>
            <p:nvPr/>
          </p:nvSpPr>
          <p:spPr bwMode="auto">
            <a:xfrm>
              <a:off x="5029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>
              <a:off x="48768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25" name="Rectangle 21"/>
            <p:cNvSpPr>
              <a:spLocks noChangeArrowheads="1"/>
            </p:cNvSpPr>
            <p:nvPr/>
          </p:nvSpPr>
          <p:spPr bwMode="auto">
            <a:xfrm>
              <a:off x="5638800" y="45720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6" name="Rectangle 22"/>
            <p:cNvSpPr>
              <a:spLocks noChangeArrowheads="1"/>
            </p:cNvSpPr>
            <p:nvPr/>
          </p:nvSpPr>
          <p:spPr bwMode="auto">
            <a:xfrm>
              <a:off x="5715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7" name="Rectangle 23"/>
            <p:cNvSpPr>
              <a:spLocks noChangeArrowheads="1"/>
            </p:cNvSpPr>
            <p:nvPr/>
          </p:nvSpPr>
          <p:spPr bwMode="auto">
            <a:xfrm>
              <a:off x="60198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28" name="Line 24"/>
            <p:cNvSpPr>
              <a:spLocks noChangeShapeType="1"/>
            </p:cNvSpPr>
            <p:nvPr/>
          </p:nvSpPr>
          <p:spPr bwMode="auto">
            <a:xfrm>
              <a:off x="58674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>
              <a:off x="51816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1" name="Rectangle 27"/>
            <p:cNvSpPr>
              <a:spLocks noChangeArrowheads="1"/>
            </p:cNvSpPr>
            <p:nvPr/>
          </p:nvSpPr>
          <p:spPr bwMode="auto">
            <a:xfrm>
              <a:off x="66294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2" name="Rectangle 28"/>
            <p:cNvSpPr>
              <a:spLocks noChangeArrowheads="1"/>
            </p:cNvSpPr>
            <p:nvPr/>
          </p:nvSpPr>
          <p:spPr bwMode="auto">
            <a:xfrm>
              <a:off x="67056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3" name="Rectangle 29"/>
            <p:cNvSpPr>
              <a:spLocks noChangeArrowheads="1"/>
            </p:cNvSpPr>
            <p:nvPr/>
          </p:nvSpPr>
          <p:spPr bwMode="auto">
            <a:xfrm>
              <a:off x="70104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4" name="Line 30"/>
            <p:cNvSpPr>
              <a:spLocks noChangeShapeType="1"/>
            </p:cNvSpPr>
            <p:nvPr/>
          </p:nvSpPr>
          <p:spPr bwMode="auto">
            <a:xfrm>
              <a:off x="61722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5" name="Line 31"/>
            <p:cNvSpPr>
              <a:spLocks noChangeShapeType="1"/>
            </p:cNvSpPr>
            <p:nvPr/>
          </p:nvSpPr>
          <p:spPr bwMode="auto">
            <a:xfrm>
              <a:off x="68580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38" name="Rectangle 34"/>
            <p:cNvSpPr>
              <a:spLocks noChangeArrowheads="1"/>
            </p:cNvSpPr>
            <p:nvPr/>
          </p:nvSpPr>
          <p:spPr bwMode="auto">
            <a:xfrm>
              <a:off x="7620000" y="457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39" name="Rectangle 35"/>
            <p:cNvSpPr>
              <a:spLocks noChangeArrowheads="1"/>
            </p:cNvSpPr>
            <p:nvPr/>
          </p:nvSpPr>
          <p:spPr bwMode="auto">
            <a:xfrm>
              <a:off x="76962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0" name="Rectangle 36"/>
            <p:cNvSpPr>
              <a:spLocks noChangeArrowheads="1"/>
            </p:cNvSpPr>
            <p:nvPr/>
          </p:nvSpPr>
          <p:spPr bwMode="auto">
            <a:xfrm>
              <a:off x="8001000" y="3886200"/>
              <a:ext cx="304800" cy="381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2" name="Line 38"/>
            <p:cNvSpPr>
              <a:spLocks noChangeShapeType="1"/>
            </p:cNvSpPr>
            <p:nvPr/>
          </p:nvSpPr>
          <p:spPr bwMode="auto">
            <a:xfrm>
              <a:off x="7162800" y="4038600"/>
              <a:ext cx="5334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3" name="Line 39"/>
            <p:cNvSpPr>
              <a:spLocks noChangeShapeType="1"/>
            </p:cNvSpPr>
            <p:nvPr/>
          </p:nvSpPr>
          <p:spPr bwMode="auto">
            <a:xfrm>
              <a:off x="7848600" y="4114800"/>
              <a:ext cx="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4" name="Freeform 40"/>
            <p:cNvSpPr>
              <a:spLocks/>
            </p:cNvSpPr>
            <p:nvPr/>
          </p:nvSpPr>
          <p:spPr bwMode="auto">
            <a:xfrm>
              <a:off x="2438400" y="3086100"/>
              <a:ext cx="5410200" cy="800100"/>
            </a:xfrm>
            <a:custGeom>
              <a:avLst/>
              <a:gdLst/>
              <a:ahLst/>
              <a:cxnLst>
                <a:cxn ang="0">
                  <a:pos x="0" y="72"/>
                </a:cxn>
                <a:cxn ang="0">
                  <a:pos x="2640" y="72"/>
                </a:cxn>
                <a:cxn ang="0">
                  <a:pos x="3408" y="504"/>
                </a:cxn>
              </a:cxnLst>
              <a:rect l="0" t="0" r="r" b="b"/>
              <a:pathLst>
                <a:path w="3408" h="504">
                  <a:moveTo>
                    <a:pt x="0" y="72"/>
                  </a:moveTo>
                  <a:cubicBezTo>
                    <a:pt x="1036" y="36"/>
                    <a:pt x="2072" y="0"/>
                    <a:pt x="2640" y="72"/>
                  </a:cubicBezTo>
                  <a:cubicBezTo>
                    <a:pt x="3208" y="144"/>
                    <a:pt x="3308" y="324"/>
                    <a:pt x="3408" y="504"/>
                  </a:cubicBezTo>
                </a:path>
              </a:pathLst>
            </a:custGeom>
            <a:noFill/>
            <a:ln w="38100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47146" name="Text Box 42"/>
            <p:cNvSpPr txBox="1">
              <a:spLocks noChangeArrowheads="1"/>
            </p:cNvSpPr>
            <p:nvPr/>
          </p:nvSpPr>
          <p:spPr bwMode="auto">
            <a:xfrm>
              <a:off x="900113" y="3860800"/>
              <a:ext cx="457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q</a:t>
              </a:r>
            </a:p>
          </p:txBody>
        </p:sp>
        <p:sp>
          <p:nvSpPr>
            <p:cNvPr id="47147" name="Rectangle 43"/>
            <p:cNvSpPr>
              <a:spLocks noChangeArrowheads="1"/>
            </p:cNvSpPr>
            <p:nvPr/>
          </p:nvSpPr>
          <p:spPr bwMode="auto">
            <a:xfrm>
              <a:off x="1204913" y="3860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47148" name="Line 44"/>
            <p:cNvSpPr>
              <a:spLocks noChangeShapeType="1"/>
            </p:cNvSpPr>
            <p:nvPr/>
          </p:nvSpPr>
          <p:spPr bwMode="auto">
            <a:xfrm>
              <a:off x="1433513" y="4089400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cxnSp>
          <p:nvCxnSpPr>
            <p:cNvPr id="41" name="Straight Connector 40"/>
            <p:cNvCxnSpPr/>
            <p:nvPr/>
          </p:nvCxnSpPr>
          <p:spPr bwMode="auto">
            <a:xfrm>
              <a:off x="8100392" y="4077072"/>
              <a:ext cx="504056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>
              <a:off x="8604448" y="4077072"/>
              <a:ext cx="0" cy="216024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>
              <a:off x="8460432" y="4293096"/>
              <a:ext cx="288032" cy="0"/>
            </a:xfrm>
            <a:prstGeom prst="line">
              <a:avLst/>
            </a:prstGeom>
            <a:noFill/>
            <a:ln w="38100" cap="flat" cmpd="sng" algn="ctr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Java Implementation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876800"/>
          </a:xfrm>
        </p:spPr>
        <p:txBody>
          <a:bodyPr/>
          <a:lstStyle/>
          <a:p>
            <a:r>
              <a:rPr lang="en-US"/>
              <a:t>The queue is represented as a linked list of nodes:</a:t>
            </a:r>
          </a:p>
          <a:p>
            <a:pPr lvl="1"/>
            <a:r>
              <a:rPr lang="en-US"/>
              <a:t>We will again use the </a:t>
            </a:r>
            <a:r>
              <a:rPr lang="en-US" b="1">
                <a:solidFill>
                  <a:schemeClr val="accent2"/>
                </a:solidFill>
              </a:rPr>
              <a:t>LinearNode</a:t>
            </a:r>
            <a:r>
              <a:rPr lang="en-US"/>
              <a:t> class</a:t>
            </a:r>
          </a:p>
          <a:p>
            <a:pPr lvl="1"/>
            <a:r>
              <a:rPr lang="en-US" b="1">
                <a:solidFill>
                  <a:schemeClr val="accent2"/>
                </a:solidFill>
              </a:rPr>
              <a:t>front</a:t>
            </a:r>
            <a:r>
              <a:rPr lang="en-US"/>
              <a:t> is a reference to the head of the queue (beginning of the linked list)</a:t>
            </a:r>
          </a:p>
          <a:p>
            <a:pPr lvl="1"/>
            <a:r>
              <a:rPr lang="en-US" b="1">
                <a:solidFill>
                  <a:schemeClr val="accent2"/>
                </a:solidFill>
              </a:rPr>
              <a:t>rear</a:t>
            </a:r>
            <a:r>
              <a:rPr lang="en-US"/>
              <a:t> is a reference to the tail of the queue (end of the linked list)</a:t>
            </a:r>
          </a:p>
          <a:p>
            <a:pPr lvl="1"/>
            <a:r>
              <a:rPr lang="en-US"/>
              <a:t>The integer </a:t>
            </a:r>
            <a:r>
              <a:rPr lang="en-US" b="1">
                <a:solidFill>
                  <a:schemeClr val="accent2"/>
                </a:solidFill>
              </a:rPr>
              <a:t>count</a:t>
            </a:r>
            <a:r>
              <a:rPr lang="en-US"/>
              <a:t> is the number of nodes in the queue</a:t>
            </a:r>
          </a:p>
          <a:p>
            <a:pPr lvl="1"/>
            <a:endParaRPr lang="en-US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26"/>
          <p:cNvSpPr>
            <a:spLocks noChangeArrowheads="1"/>
          </p:cNvSpPr>
          <p:nvPr/>
        </p:nvSpPr>
        <p:spPr bwMode="auto">
          <a:xfrm>
            <a:off x="381000" y="381000"/>
            <a:ext cx="8077200" cy="6019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dirty="0"/>
              <a:t>public class </a:t>
            </a:r>
            <a:r>
              <a:rPr lang="en-US" sz="2400" b="0" dirty="0" err="1"/>
              <a:t>LinkedQueue</a:t>
            </a:r>
            <a:r>
              <a:rPr lang="en-US" sz="2400" b="0" dirty="0"/>
              <a:t>&lt;T&gt; </a:t>
            </a:r>
            <a:r>
              <a:rPr lang="en-US" sz="2400" b="0" dirty="0">
                <a:solidFill>
                  <a:schemeClr val="accent2"/>
                </a:solidFill>
              </a:rPr>
              <a:t>implements </a:t>
            </a:r>
            <a:r>
              <a:rPr lang="en-US" sz="2400" b="0" dirty="0" err="1"/>
              <a:t>QueueADT</a:t>
            </a:r>
            <a:r>
              <a:rPr lang="en-US" sz="2400" b="0" dirty="0"/>
              <a:t>&lt;T&gt; {</a:t>
            </a:r>
          </a:p>
          <a:p>
            <a:pPr eaLnBrk="0" hangingPunct="0"/>
            <a:r>
              <a:rPr lang="en-US" sz="2400" b="0" dirty="0"/>
              <a:t>   /**</a:t>
            </a:r>
          </a:p>
          <a:p>
            <a:pPr eaLnBrk="0" hangingPunct="0"/>
            <a:r>
              <a:rPr lang="en-US" sz="2400" b="0" dirty="0"/>
              <a:t>    * Attributes</a:t>
            </a:r>
          </a:p>
          <a:p>
            <a:pPr eaLnBrk="0" hangingPunct="0"/>
            <a:r>
              <a:rPr lang="en-US" sz="2400" b="0" dirty="0"/>
              <a:t>    */</a:t>
            </a:r>
          </a:p>
          <a:p>
            <a:pPr eaLnBrk="0" hangingPunct="0"/>
            <a:r>
              <a:rPr lang="en-US" sz="2400" b="0" dirty="0"/>
              <a:t>   private </a:t>
            </a:r>
            <a:r>
              <a:rPr lang="en-US" sz="2400" b="0" dirty="0" err="1"/>
              <a:t>int</a:t>
            </a:r>
            <a:r>
              <a:rPr lang="en-US" sz="2400" b="0" dirty="0"/>
              <a:t> count;</a:t>
            </a:r>
          </a:p>
          <a:p>
            <a:pPr eaLnBrk="0" hangingPunct="0"/>
            <a:r>
              <a:rPr lang="en-US" sz="2400" b="0" dirty="0"/>
              <a:t>   private </a:t>
            </a:r>
            <a:r>
              <a:rPr lang="en-US" sz="2400" b="0" dirty="0" err="1"/>
              <a:t>LinearNode</a:t>
            </a:r>
            <a:r>
              <a:rPr lang="en-US" sz="2400" b="0" dirty="0"/>
              <a:t>&lt;T&gt; front, rear;</a:t>
            </a:r>
          </a:p>
          <a:p>
            <a:pPr eaLnBrk="0" hangingPunct="0"/>
            <a:endParaRPr lang="en-US" sz="2400" b="0" dirty="0"/>
          </a:p>
          <a:p>
            <a:pPr eaLnBrk="0" hangingPunct="0"/>
            <a:r>
              <a:rPr lang="en-US" sz="2400" b="0" dirty="0"/>
              <a:t>   /**</a:t>
            </a:r>
          </a:p>
          <a:p>
            <a:pPr eaLnBrk="0" hangingPunct="0"/>
            <a:r>
              <a:rPr lang="en-US" sz="2400" b="0" dirty="0"/>
              <a:t>    * Creates an empty queue.</a:t>
            </a:r>
          </a:p>
          <a:p>
            <a:pPr eaLnBrk="0" hangingPunct="0"/>
            <a:r>
              <a:rPr lang="en-US" sz="2400" b="0" dirty="0"/>
              <a:t>    */</a:t>
            </a:r>
          </a:p>
          <a:p>
            <a:pPr eaLnBrk="0" hangingPunct="0"/>
            <a:r>
              <a:rPr lang="en-US" sz="2400" b="0" dirty="0"/>
              <a:t>   public </a:t>
            </a:r>
            <a:r>
              <a:rPr lang="en-US" sz="2400" b="0" dirty="0" err="1"/>
              <a:t>LinkedQueue</a:t>
            </a:r>
            <a:r>
              <a:rPr lang="en-US" sz="2400" b="0" dirty="0"/>
              <a:t>() {</a:t>
            </a:r>
          </a:p>
          <a:p>
            <a:pPr eaLnBrk="0" hangingPunct="0"/>
            <a:r>
              <a:rPr lang="en-US" sz="2400" b="0" dirty="0"/>
              <a:t>      count = 0;</a:t>
            </a:r>
          </a:p>
          <a:p>
            <a:pPr eaLnBrk="0" hangingPunct="0"/>
            <a:r>
              <a:rPr lang="en-US" sz="2400" b="0" dirty="0"/>
              <a:t>      front = rear = null;</a:t>
            </a:r>
          </a:p>
          <a:p>
            <a:pPr eaLnBrk="0" hangingPunct="0"/>
            <a:r>
              <a:rPr lang="en-US" sz="2400" b="0" dirty="0"/>
              <a:t>  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685800" y="838200"/>
            <a:ext cx="7772400" cy="55626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  Adds the specified element to the rear of the queue.</a:t>
            </a:r>
          </a:p>
          <a:p>
            <a:pPr eaLnBrk="0" hangingPunct="0"/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eaLnBrk="0" hangingPunct="0"/>
            <a:r>
              <a:rPr lang="en-US" b="0" dirty="0"/>
              <a:t>public void enqueue (T element) {</a:t>
            </a:r>
          </a:p>
          <a:p>
            <a:pPr eaLnBrk="0" hangingPunct="0"/>
            <a:r>
              <a:rPr lang="en-US" b="0" dirty="0"/>
              <a:t>   </a:t>
            </a:r>
            <a:r>
              <a:rPr lang="en-US" b="0" dirty="0" err="1"/>
              <a:t>LinearNode</a:t>
            </a:r>
            <a:r>
              <a:rPr lang="en-US" b="0" dirty="0"/>
              <a:t>&lt;T&gt; node = new </a:t>
            </a:r>
            <a:r>
              <a:rPr lang="en-US" b="0" dirty="0" err="1"/>
              <a:t>LinearNode</a:t>
            </a:r>
            <a:r>
              <a:rPr lang="en-US" b="0" dirty="0"/>
              <a:t>&lt;T&gt; (element);</a:t>
            </a:r>
          </a:p>
          <a:p>
            <a:pPr eaLnBrk="0" hangingPunct="0"/>
            <a:endParaRPr lang="en-US" b="0" dirty="0"/>
          </a:p>
          <a:p>
            <a:pPr eaLnBrk="0" hangingPunct="0"/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eaLnBrk="0" hangingPunct="0"/>
            <a:r>
              <a:rPr lang="en-US" b="0" dirty="0"/>
              <a:t>      front = node;</a:t>
            </a:r>
          </a:p>
          <a:p>
            <a:pPr eaLnBrk="0" hangingPunct="0"/>
            <a:r>
              <a:rPr lang="en-US" b="0" dirty="0"/>
              <a:t>   else</a:t>
            </a:r>
          </a:p>
          <a:p>
            <a:pPr eaLnBrk="0" hangingPunct="0"/>
            <a:r>
              <a:rPr lang="en-US" b="0" dirty="0"/>
              <a:t>      </a:t>
            </a:r>
            <a:r>
              <a:rPr lang="en-US" b="0" dirty="0" err="1"/>
              <a:t>rear.setNext</a:t>
            </a:r>
            <a:r>
              <a:rPr lang="en-US" b="0" dirty="0"/>
              <a:t> (node);</a:t>
            </a:r>
          </a:p>
          <a:p>
            <a:pPr eaLnBrk="0" hangingPunct="0"/>
            <a:endParaRPr lang="en-US" b="0" dirty="0"/>
          </a:p>
          <a:p>
            <a:pPr eaLnBrk="0" hangingPunct="0"/>
            <a:r>
              <a:rPr lang="en-US" b="0" dirty="0"/>
              <a:t>   rear = node;</a:t>
            </a:r>
          </a:p>
          <a:p>
            <a:pPr eaLnBrk="0" hangingPunct="0"/>
            <a:r>
              <a:rPr lang="en-US" b="0" dirty="0"/>
              <a:t>   count++;</a:t>
            </a:r>
          </a:p>
          <a:p>
            <a:pPr eaLnBrk="0" hangingPunct="0"/>
            <a:r>
              <a:rPr lang="en-US" b="0" dirty="0"/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609600" y="304800"/>
            <a:ext cx="7772400" cy="60198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Removes the element at the front of the queue and returns a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reference to it. Throws an </a:t>
            </a:r>
            <a:r>
              <a:rPr lang="en-US" b="0" dirty="0" err="1">
                <a:solidFill>
                  <a:schemeClr val="hlink"/>
                </a:solidFill>
              </a:rPr>
              <a:t>EmptyCollectionException</a:t>
            </a:r>
            <a:r>
              <a:rPr lang="en-US" b="0" dirty="0">
                <a:solidFill>
                  <a:schemeClr val="hlink"/>
                </a:solidFill>
              </a:rPr>
              <a:t> if the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queue is empty.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T dequeue ( ) throws </a:t>
            </a:r>
            <a:r>
              <a:rPr lang="en-US" b="0" dirty="0" err="1"/>
              <a:t>EmptyCollectionException</a:t>
            </a:r>
            <a:r>
              <a:rPr lang="en-US" b="0" dirty="0"/>
              <a:t>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throw new </a:t>
            </a:r>
            <a:r>
              <a:rPr lang="en-US" b="0" dirty="0" err="1"/>
              <a:t>EmptyCollectionException</a:t>
            </a:r>
            <a:r>
              <a:rPr lang="en-US" b="0" dirty="0"/>
              <a:t> ("queue");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T result = </a:t>
            </a:r>
            <a:r>
              <a:rPr lang="en-US" b="0" dirty="0" err="1"/>
              <a:t>front.getElement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front = </a:t>
            </a:r>
            <a:r>
              <a:rPr lang="en-US" b="0" dirty="0" err="1"/>
              <a:t>front.getNext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count--;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rear = null;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return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458200" cy="1295400"/>
          </a:xfrm>
        </p:spPr>
        <p:txBody>
          <a:bodyPr/>
          <a:lstStyle/>
          <a:p>
            <a:r>
              <a:rPr lang="en-US" b="1" dirty="0"/>
              <a:t>Array Implementation of  a Queue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229600" cy="4343400"/>
          </a:xfrm>
        </p:spPr>
        <p:txBody>
          <a:bodyPr/>
          <a:lstStyle/>
          <a:p>
            <a:r>
              <a:rPr lang="en-US" b="1" i="1" dirty="0">
                <a:solidFill>
                  <a:schemeClr val="hlink"/>
                </a:solidFill>
              </a:rPr>
              <a:t>First Approach</a:t>
            </a:r>
            <a:r>
              <a:rPr lang="en-US" dirty="0">
                <a:solidFill>
                  <a:srgbClr val="00357F"/>
                </a:solidFill>
              </a:rPr>
              <a:t>:</a:t>
            </a:r>
          </a:p>
          <a:p>
            <a:pPr lvl="1"/>
            <a:r>
              <a:rPr lang="en-US" dirty="0"/>
              <a:t>Use an array in which </a:t>
            </a:r>
            <a:r>
              <a:rPr lang="en-US" dirty="0">
                <a:solidFill>
                  <a:schemeClr val="tx2"/>
                </a:solidFill>
              </a:rPr>
              <a:t>index 0</a:t>
            </a:r>
            <a:r>
              <a:rPr lang="en-US" dirty="0"/>
              <a:t> represents one end of the queue (the </a:t>
            </a:r>
            <a:r>
              <a:rPr lang="en-US" i="1" dirty="0">
                <a:solidFill>
                  <a:schemeClr val="tx2"/>
                </a:solidFill>
              </a:rPr>
              <a:t>front</a:t>
            </a:r>
            <a:r>
              <a:rPr lang="en-US" dirty="0"/>
              <a:t>) </a:t>
            </a:r>
          </a:p>
          <a:p>
            <a:pPr lvl="1"/>
            <a:r>
              <a:rPr lang="en-US" dirty="0"/>
              <a:t>Integer value </a:t>
            </a:r>
            <a:r>
              <a:rPr lang="en-US" b="1" i="1" dirty="0">
                <a:solidFill>
                  <a:schemeClr val="accent2"/>
                </a:solidFill>
              </a:rPr>
              <a:t>count</a:t>
            </a:r>
            <a:r>
              <a:rPr lang="en-US" dirty="0"/>
              <a:t> represents the number of elements in the array (so the element at the rear of the queue is in position count - 1)</a:t>
            </a:r>
          </a:p>
          <a:p>
            <a:r>
              <a:rPr lang="en-US" b="1" i="1" dirty="0">
                <a:solidFill>
                  <a:schemeClr val="hlink"/>
                </a:solidFill>
              </a:rPr>
              <a:t>Discussion</a:t>
            </a:r>
            <a:r>
              <a:rPr lang="en-US" dirty="0"/>
              <a:t>: What is the challenge with this approach? 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52400"/>
            <a:ext cx="8659812" cy="897177"/>
          </a:xfrm>
        </p:spPr>
        <p:txBody>
          <a:bodyPr/>
          <a:lstStyle/>
          <a:p>
            <a:r>
              <a:rPr lang="en-US" dirty="0"/>
              <a:t>An Array Implementation of a Queue</a:t>
            </a:r>
          </a:p>
        </p:txBody>
      </p:sp>
      <p:sp>
        <p:nvSpPr>
          <p:cNvPr id="53292" name="Text Box 44"/>
          <p:cNvSpPr txBox="1">
            <a:spLocks noChangeArrowheads="1"/>
          </p:cNvSpPr>
          <p:nvPr/>
        </p:nvSpPr>
        <p:spPr bwMode="auto">
          <a:xfrm>
            <a:off x="1499145" y="1265435"/>
            <a:ext cx="5816055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A queue </a:t>
            </a:r>
            <a:r>
              <a:rPr lang="en-US" sz="2400" dirty="0" err="1">
                <a:solidFill>
                  <a:schemeClr val="accent2"/>
                </a:solidFill>
              </a:rPr>
              <a:t>aq</a:t>
            </a:r>
            <a:r>
              <a:rPr lang="en-US" sz="2400" dirty="0"/>
              <a:t> containing four elements</a:t>
            </a:r>
          </a:p>
        </p:txBody>
      </p:sp>
      <p:grpSp>
        <p:nvGrpSpPr>
          <p:cNvPr id="12" name="Group 11" descr="An array-based queue with the first element always at spot zero. It stores references to four colored squares: yellow, red, cream, and blue. &#10;&#10;The array:&#10;[yellow, red, cream, blue, null, ...]&#10;&#10;There is a queue object called &quot;aq&quot; that has four instance variables:&#10;&#10;queue: stores a reference to the array&#10;front = 0&#10;back = 3&#10;count = 4">
            <a:extLst>
              <a:ext uri="{FF2B5EF4-FFF2-40B4-BE49-F238E27FC236}">
                <a16:creationId xmlns:a16="http://schemas.microsoft.com/office/drawing/2014/main" id="{EF781067-8082-914C-F866-647A7658DC64}"/>
              </a:ext>
            </a:extLst>
          </p:cNvPr>
          <p:cNvGrpSpPr/>
          <p:nvPr/>
        </p:nvGrpSpPr>
        <p:grpSpPr>
          <a:xfrm>
            <a:off x="179388" y="2276872"/>
            <a:ext cx="8736012" cy="4191000"/>
            <a:chOff x="179388" y="2276872"/>
            <a:chExt cx="8736012" cy="41910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51E9562-8DFC-001C-36F1-FB45D7A6957D}"/>
                </a:ext>
              </a:extLst>
            </p:cNvPr>
            <p:cNvGrpSpPr/>
            <p:nvPr/>
          </p:nvGrpSpPr>
          <p:grpSpPr>
            <a:xfrm>
              <a:off x="1658248" y="3631274"/>
              <a:ext cx="838200" cy="854075"/>
              <a:chOff x="1676400" y="3962400"/>
              <a:chExt cx="838200" cy="854075"/>
            </a:xfrm>
          </p:grpSpPr>
          <p:sp>
            <p:nvSpPr>
              <p:cNvPr id="53251" name="Rectangle 3"/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3252" name="Text Box 4"/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3253" name="Text Box 5"/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95BC0F5F-A5E2-6483-2FA3-04083E1A43B3}"/>
                </a:ext>
              </a:extLst>
            </p:cNvPr>
            <p:cNvGrpSpPr/>
            <p:nvPr/>
          </p:nvGrpSpPr>
          <p:grpSpPr>
            <a:xfrm>
              <a:off x="1524000" y="2657872"/>
              <a:ext cx="914400" cy="854075"/>
              <a:chOff x="1524000" y="3048000"/>
              <a:chExt cx="914400" cy="854075"/>
            </a:xfrm>
          </p:grpSpPr>
          <p:sp>
            <p:nvSpPr>
              <p:cNvPr id="53254" name="Text Box 6"/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53255" name="Rectangle 7"/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53256" name="Rectangle 8"/>
            <p:cNvSpPr>
              <a:spLocks noChangeArrowheads="1"/>
            </p:cNvSpPr>
            <p:nvPr/>
          </p:nvSpPr>
          <p:spPr bwMode="auto">
            <a:xfrm>
              <a:off x="1371600" y="2505472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58" name="Rectangle 10"/>
            <p:cNvSpPr>
              <a:spLocks noChangeArrowheads="1"/>
            </p:cNvSpPr>
            <p:nvPr/>
          </p:nvSpPr>
          <p:spPr bwMode="auto">
            <a:xfrm>
              <a:off x="3276600" y="3496072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62" name="Rectangle 14"/>
            <p:cNvSpPr>
              <a:spLocks noChangeArrowheads="1"/>
            </p:cNvSpPr>
            <p:nvPr/>
          </p:nvSpPr>
          <p:spPr bwMode="auto">
            <a:xfrm>
              <a:off x="4267200" y="349607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66" name="Rectangle 18"/>
            <p:cNvSpPr>
              <a:spLocks noChangeArrowheads="1"/>
            </p:cNvSpPr>
            <p:nvPr/>
          </p:nvSpPr>
          <p:spPr bwMode="auto">
            <a:xfrm>
              <a:off x="5257800" y="349607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0" name="Rectangle 22"/>
            <p:cNvSpPr>
              <a:spLocks noChangeArrowheads="1"/>
            </p:cNvSpPr>
            <p:nvPr/>
          </p:nvSpPr>
          <p:spPr bwMode="auto">
            <a:xfrm>
              <a:off x="6248400" y="349607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4" name="Rectangle 26"/>
            <p:cNvSpPr>
              <a:spLocks noChangeArrowheads="1"/>
            </p:cNvSpPr>
            <p:nvPr/>
          </p:nvSpPr>
          <p:spPr bwMode="auto">
            <a:xfrm>
              <a:off x="29718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5" name="Rectangle 27"/>
            <p:cNvSpPr>
              <a:spLocks noChangeArrowheads="1"/>
            </p:cNvSpPr>
            <p:nvPr/>
          </p:nvSpPr>
          <p:spPr bwMode="auto">
            <a:xfrm>
              <a:off x="69342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6" name="Rectangle 28"/>
            <p:cNvSpPr>
              <a:spLocks noChangeArrowheads="1"/>
            </p:cNvSpPr>
            <p:nvPr/>
          </p:nvSpPr>
          <p:spPr bwMode="auto">
            <a:xfrm>
              <a:off x="59436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7" name="Rectangle 29"/>
            <p:cNvSpPr>
              <a:spLocks noChangeArrowheads="1"/>
            </p:cNvSpPr>
            <p:nvPr/>
          </p:nvSpPr>
          <p:spPr bwMode="auto">
            <a:xfrm>
              <a:off x="49530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8" name="Rectangle 30"/>
            <p:cNvSpPr>
              <a:spLocks noChangeArrowheads="1"/>
            </p:cNvSpPr>
            <p:nvPr/>
          </p:nvSpPr>
          <p:spPr bwMode="auto">
            <a:xfrm>
              <a:off x="39624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79" name="Text Box 31"/>
            <p:cNvSpPr txBox="1">
              <a:spLocks noChangeArrowheads="1"/>
            </p:cNvSpPr>
            <p:nvPr/>
          </p:nvSpPr>
          <p:spPr bwMode="auto">
            <a:xfrm>
              <a:off x="32766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3280" name="Text Box 32"/>
            <p:cNvSpPr txBox="1">
              <a:spLocks noChangeArrowheads="1"/>
            </p:cNvSpPr>
            <p:nvPr/>
          </p:nvSpPr>
          <p:spPr bwMode="auto">
            <a:xfrm>
              <a:off x="73152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53281" name="Text Box 33"/>
            <p:cNvSpPr txBox="1">
              <a:spLocks noChangeArrowheads="1"/>
            </p:cNvSpPr>
            <p:nvPr/>
          </p:nvSpPr>
          <p:spPr bwMode="auto">
            <a:xfrm>
              <a:off x="63246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3282" name="Text Box 34"/>
            <p:cNvSpPr txBox="1">
              <a:spLocks noChangeArrowheads="1"/>
            </p:cNvSpPr>
            <p:nvPr/>
          </p:nvSpPr>
          <p:spPr bwMode="auto">
            <a:xfrm>
              <a:off x="52578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3283" name="Text Box 35"/>
            <p:cNvSpPr txBox="1">
              <a:spLocks noChangeArrowheads="1"/>
            </p:cNvSpPr>
            <p:nvPr/>
          </p:nvSpPr>
          <p:spPr bwMode="auto">
            <a:xfrm>
              <a:off x="4267200" y="227687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3285" name="Line 37"/>
            <p:cNvSpPr>
              <a:spLocks noChangeShapeType="1"/>
            </p:cNvSpPr>
            <p:nvPr/>
          </p:nvSpPr>
          <p:spPr bwMode="auto">
            <a:xfrm>
              <a:off x="1981200" y="288647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6" name="Line 38"/>
            <p:cNvSpPr>
              <a:spLocks noChangeShapeType="1"/>
            </p:cNvSpPr>
            <p:nvPr/>
          </p:nvSpPr>
          <p:spPr bwMode="auto">
            <a:xfrm>
              <a:off x="35052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7" name="Line 39"/>
            <p:cNvSpPr>
              <a:spLocks noChangeShapeType="1"/>
            </p:cNvSpPr>
            <p:nvPr/>
          </p:nvSpPr>
          <p:spPr bwMode="auto">
            <a:xfrm>
              <a:off x="64770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8" name="Line 40"/>
            <p:cNvSpPr>
              <a:spLocks noChangeShapeType="1"/>
            </p:cNvSpPr>
            <p:nvPr/>
          </p:nvSpPr>
          <p:spPr bwMode="auto">
            <a:xfrm>
              <a:off x="54864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89" name="Line 41"/>
            <p:cNvSpPr>
              <a:spLocks noChangeShapeType="1"/>
            </p:cNvSpPr>
            <p:nvPr/>
          </p:nvSpPr>
          <p:spPr bwMode="auto">
            <a:xfrm>
              <a:off x="4495800" y="288647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3290" name="Rectangle 42"/>
            <p:cNvSpPr>
              <a:spLocks noChangeArrowheads="1"/>
            </p:cNvSpPr>
            <p:nvPr/>
          </p:nvSpPr>
          <p:spPr bwMode="auto">
            <a:xfrm>
              <a:off x="7924800" y="265787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91" name="Text Box 43"/>
            <p:cNvSpPr txBox="1">
              <a:spLocks noChangeArrowheads="1"/>
            </p:cNvSpPr>
            <p:nvPr/>
          </p:nvSpPr>
          <p:spPr bwMode="auto">
            <a:xfrm>
              <a:off x="8229600" y="250547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3293" name="Text Box 45"/>
            <p:cNvSpPr txBox="1">
              <a:spLocks noChangeArrowheads="1"/>
            </p:cNvSpPr>
            <p:nvPr/>
          </p:nvSpPr>
          <p:spPr bwMode="auto">
            <a:xfrm>
              <a:off x="179388" y="325477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3294" name="Rectangle 46"/>
            <p:cNvSpPr>
              <a:spLocks noChangeArrowheads="1"/>
            </p:cNvSpPr>
            <p:nvPr/>
          </p:nvSpPr>
          <p:spPr bwMode="auto">
            <a:xfrm>
              <a:off x="701675" y="325477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3295" name="Line 47"/>
            <p:cNvSpPr>
              <a:spLocks noChangeShapeType="1"/>
            </p:cNvSpPr>
            <p:nvPr/>
          </p:nvSpPr>
          <p:spPr bwMode="auto">
            <a:xfrm>
              <a:off x="930275" y="348337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98E602-AF51-1D71-97DF-25F6EA590019}"/>
                </a:ext>
              </a:extLst>
            </p:cNvPr>
            <p:cNvGrpSpPr/>
            <p:nvPr/>
          </p:nvGrpSpPr>
          <p:grpSpPr>
            <a:xfrm>
              <a:off x="1658248" y="4564219"/>
              <a:ext cx="838200" cy="854075"/>
              <a:chOff x="1676400" y="3962400"/>
              <a:chExt cx="838200" cy="854075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00B4BEA-2C1D-E3DF-9D88-FA748D1A5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79EBD9EF-B9BD-DBE6-70F9-1A1A85DEE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6" name="Text Box 5">
                <a:extLst>
                  <a:ext uri="{FF2B5EF4-FFF2-40B4-BE49-F238E27FC236}">
                    <a16:creationId xmlns:a16="http://schemas.microsoft.com/office/drawing/2014/main" id="{B41A5864-95AA-5F65-82A9-3E31A02845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0740368-AB7E-12B9-9A66-D19F8C393D02}"/>
                </a:ext>
              </a:extLst>
            </p:cNvPr>
            <p:cNvGrpSpPr/>
            <p:nvPr/>
          </p:nvGrpSpPr>
          <p:grpSpPr>
            <a:xfrm>
              <a:off x="1658248" y="5497165"/>
              <a:ext cx="838200" cy="854075"/>
              <a:chOff x="1676400" y="3962400"/>
              <a:chExt cx="838200" cy="85407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197788D-A8DF-C929-B0FD-1E05EBD90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9" name="Text Box 4">
                <a:extLst>
                  <a:ext uri="{FF2B5EF4-FFF2-40B4-BE49-F238E27FC236}">
                    <a16:creationId xmlns:a16="http://schemas.microsoft.com/office/drawing/2014/main" id="{4DE3F265-0DDA-20F0-C96B-26762A81CB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0" name="Text Box 5">
                <a:extLst>
                  <a:ext uri="{FF2B5EF4-FFF2-40B4-BE49-F238E27FC236}">
                    <a16:creationId xmlns:a16="http://schemas.microsoft.com/office/drawing/2014/main" id="{378BD9EB-7645-4BA7-9465-953613BD93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8676755" cy="1143000"/>
          </a:xfrm>
        </p:spPr>
        <p:txBody>
          <a:bodyPr/>
          <a:lstStyle/>
          <a:p>
            <a:r>
              <a:rPr lang="en-US" dirty="0"/>
              <a:t>Queue After Adding a Green Element</a:t>
            </a:r>
          </a:p>
        </p:txBody>
      </p:sp>
      <p:sp>
        <p:nvSpPr>
          <p:cNvPr id="54304" name="Text Box 32"/>
          <p:cNvSpPr txBox="1">
            <a:spLocks noChangeArrowheads="1"/>
          </p:cNvSpPr>
          <p:nvPr/>
        </p:nvSpPr>
        <p:spPr bwMode="auto">
          <a:xfrm>
            <a:off x="1905000" y="1556792"/>
            <a:ext cx="6705600" cy="707886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The element is added at the array location given by the value of </a:t>
            </a:r>
            <a:r>
              <a:rPr lang="en-US" dirty="0">
                <a:solidFill>
                  <a:schemeClr val="accent2"/>
                </a:solidFill>
              </a:rPr>
              <a:t>count </a:t>
            </a:r>
            <a:r>
              <a:rPr lang="en-US" dirty="0"/>
              <a:t>and then count is increased by 1.</a:t>
            </a:r>
          </a:p>
        </p:txBody>
      </p:sp>
      <p:sp>
        <p:nvSpPr>
          <p:cNvPr id="54306" name="Rectangle 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1304" y="495300"/>
            <a:ext cx="457200" cy="457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/>
          </a:p>
        </p:txBody>
      </p:sp>
      <p:grpSp>
        <p:nvGrpSpPr>
          <p:cNvPr id="18" name="Group 17" descr="The array:&#10;[yellow, red, cream, blue, green, null, ...]&#10;&#10;aq's instance variables:&#10;&#10;queue: stores a reference to the array&#10;front = 0&#10;back = 4&#10;count = 5">
            <a:extLst>
              <a:ext uri="{FF2B5EF4-FFF2-40B4-BE49-F238E27FC236}">
                <a16:creationId xmlns:a16="http://schemas.microsoft.com/office/drawing/2014/main" id="{15BE27E7-B939-DAEC-1FD5-BAC0C0ECA395}"/>
              </a:ext>
            </a:extLst>
          </p:cNvPr>
          <p:cNvGrpSpPr/>
          <p:nvPr/>
        </p:nvGrpSpPr>
        <p:grpSpPr>
          <a:xfrm>
            <a:off x="179388" y="2471192"/>
            <a:ext cx="8736012" cy="4146376"/>
            <a:chOff x="179388" y="2471192"/>
            <a:chExt cx="8736012" cy="4146376"/>
          </a:xfrm>
        </p:grpSpPr>
        <p:sp>
          <p:nvSpPr>
            <p:cNvPr id="54282" name="Rectangle 10"/>
            <p:cNvSpPr>
              <a:spLocks noChangeArrowheads="1"/>
            </p:cNvSpPr>
            <p:nvPr/>
          </p:nvSpPr>
          <p:spPr bwMode="auto">
            <a:xfrm>
              <a:off x="3276600" y="3690392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3" name="Rectangle 11"/>
            <p:cNvSpPr>
              <a:spLocks noChangeArrowheads="1"/>
            </p:cNvSpPr>
            <p:nvPr/>
          </p:nvSpPr>
          <p:spPr bwMode="auto">
            <a:xfrm>
              <a:off x="4267200" y="369039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4" name="Rectangle 12"/>
            <p:cNvSpPr>
              <a:spLocks noChangeArrowheads="1"/>
            </p:cNvSpPr>
            <p:nvPr/>
          </p:nvSpPr>
          <p:spPr bwMode="auto">
            <a:xfrm>
              <a:off x="5257800" y="369039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5" name="Rectangle 13"/>
            <p:cNvSpPr>
              <a:spLocks noChangeArrowheads="1"/>
            </p:cNvSpPr>
            <p:nvPr/>
          </p:nvSpPr>
          <p:spPr bwMode="auto">
            <a:xfrm>
              <a:off x="6248400" y="369039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6" name="Rectangle 14"/>
            <p:cNvSpPr>
              <a:spLocks noChangeArrowheads="1"/>
            </p:cNvSpPr>
            <p:nvPr/>
          </p:nvSpPr>
          <p:spPr bwMode="auto">
            <a:xfrm>
              <a:off x="29718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7" name="Rectangle 15"/>
            <p:cNvSpPr>
              <a:spLocks noChangeArrowheads="1"/>
            </p:cNvSpPr>
            <p:nvPr/>
          </p:nvSpPr>
          <p:spPr bwMode="auto">
            <a:xfrm>
              <a:off x="69342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8" name="Rectangle 16"/>
            <p:cNvSpPr>
              <a:spLocks noChangeArrowheads="1"/>
            </p:cNvSpPr>
            <p:nvPr/>
          </p:nvSpPr>
          <p:spPr bwMode="auto">
            <a:xfrm>
              <a:off x="59436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89" name="Rectangle 17"/>
            <p:cNvSpPr>
              <a:spLocks noChangeArrowheads="1"/>
            </p:cNvSpPr>
            <p:nvPr/>
          </p:nvSpPr>
          <p:spPr bwMode="auto">
            <a:xfrm>
              <a:off x="49530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90" name="Rectangle 18"/>
            <p:cNvSpPr>
              <a:spLocks noChangeArrowheads="1"/>
            </p:cNvSpPr>
            <p:nvPr/>
          </p:nvSpPr>
          <p:spPr bwMode="auto">
            <a:xfrm>
              <a:off x="39624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291" name="Text Box 19"/>
            <p:cNvSpPr txBox="1">
              <a:spLocks noChangeArrowheads="1"/>
            </p:cNvSpPr>
            <p:nvPr/>
          </p:nvSpPr>
          <p:spPr bwMode="auto">
            <a:xfrm>
              <a:off x="32766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54292" name="Text Box 20"/>
            <p:cNvSpPr txBox="1">
              <a:spLocks noChangeArrowheads="1"/>
            </p:cNvSpPr>
            <p:nvPr/>
          </p:nvSpPr>
          <p:spPr bwMode="auto">
            <a:xfrm>
              <a:off x="73152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54293" name="Text Box 21"/>
            <p:cNvSpPr txBox="1">
              <a:spLocks noChangeArrowheads="1"/>
            </p:cNvSpPr>
            <p:nvPr/>
          </p:nvSpPr>
          <p:spPr bwMode="auto">
            <a:xfrm>
              <a:off x="63246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54294" name="Text Box 22"/>
            <p:cNvSpPr txBox="1">
              <a:spLocks noChangeArrowheads="1"/>
            </p:cNvSpPr>
            <p:nvPr/>
          </p:nvSpPr>
          <p:spPr bwMode="auto">
            <a:xfrm>
              <a:off x="52578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54295" name="Text Box 23"/>
            <p:cNvSpPr txBox="1">
              <a:spLocks noChangeArrowheads="1"/>
            </p:cNvSpPr>
            <p:nvPr/>
          </p:nvSpPr>
          <p:spPr bwMode="auto">
            <a:xfrm>
              <a:off x="4267200" y="2471192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54297" name="Line 25"/>
            <p:cNvSpPr>
              <a:spLocks noChangeShapeType="1"/>
            </p:cNvSpPr>
            <p:nvPr/>
          </p:nvSpPr>
          <p:spPr bwMode="auto">
            <a:xfrm>
              <a:off x="1981200" y="308079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298" name="Line 26"/>
            <p:cNvSpPr>
              <a:spLocks noChangeShapeType="1"/>
            </p:cNvSpPr>
            <p:nvPr/>
          </p:nvSpPr>
          <p:spPr bwMode="auto">
            <a:xfrm>
              <a:off x="35052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299" name="Line 27"/>
            <p:cNvSpPr>
              <a:spLocks noChangeShapeType="1"/>
            </p:cNvSpPr>
            <p:nvPr/>
          </p:nvSpPr>
          <p:spPr bwMode="auto">
            <a:xfrm>
              <a:off x="64770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0" name="Line 28"/>
            <p:cNvSpPr>
              <a:spLocks noChangeShapeType="1"/>
            </p:cNvSpPr>
            <p:nvPr/>
          </p:nvSpPr>
          <p:spPr bwMode="auto">
            <a:xfrm>
              <a:off x="54864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1" name="Line 29"/>
            <p:cNvSpPr>
              <a:spLocks noChangeShapeType="1"/>
            </p:cNvSpPr>
            <p:nvPr/>
          </p:nvSpPr>
          <p:spPr bwMode="auto">
            <a:xfrm>
              <a:off x="44958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2" name="Rectangle 30"/>
            <p:cNvSpPr>
              <a:spLocks noChangeArrowheads="1"/>
            </p:cNvSpPr>
            <p:nvPr/>
          </p:nvSpPr>
          <p:spPr bwMode="auto">
            <a:xfrm>
              <a:off x="7924800" y="285219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03" name="Text Box 31"/>
            <p:cNvSpPr txBox="1">
              <a:spLocks noChangeArrowheads="1"/>
            </p:cNvSpPr>
            <p:nvPr/>
          </p:nvSpPr>
          <p:spPr bwMode="auto">
            <a:xfrm>
              <a:off x="8229600" y="269979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4305" name="Rectangle 33"/>
            <p:cNvSpPr>
              <a:spLocks noChangeArrowheads="1"/>
            </p:cNvSpPr>
            <p:nvPr/>
          </p:nvSpPr>
          <p:spPr bwMode="auto">
            <a:xfrm>
              <a:off x="7239000" y="3690392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07" name="Line 35"/>
            <p:cNvSpPr>
              <a:spLocks noChangeShapeType="1"/>
            </p:cNvSpPr>
            <p:nvPr/>
          </p:nvSpPr>
          <p:spPr bwMode="auto">
            <a:xfrm>
              <a:off x="7467600" y="308079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4308" name="Text Box 36"/>
            <p:cNvSpPr txBox="1">
              <a:spLocks noChangeArrowheads="1"/>
            </p:cNvSpPr>
            <p:nvPr/>
          </p:nvSpPr>
          <p:spPr bwMode="auto">
            <a:xfrm>
              <a:off x="179388" y="344909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4309" name="Rectangle 37"/>
            <p:cNvSpPr>
              <a:spLocks noChangeArrowheads="1"/>
            </p:cNvSpPr>
            <p:nvPr/>
          </p:nvSpPr>
          <p:spPr bwMode="auto">
            <a:xfrm>
              <a:off x="701675" y="344909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4310" name="Line 38"/>
            <p:cNvSpPr>
              <a:spLocks noChangeShapeType="1"/>
            </p:cNvSpPr>
            <p:nvPr/>
          </p:nvSpPr>
          <p:spPr bwMode="auto">
            <a:xfrm>
              <a:off x="930275" y="367769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F63823-E6B3-6029-3352-35075E459FE3}"/>
                </a:ext>
              </a:extLst>
            </p:cNvPr>
            <p:cNvGrpSpPr/>
            <p:nvPr/>
          </p:nvGrpSpPr>
          <p:grpSpPr>
            <a:xfrm>
              <a:off x="1695232" y="3780970"/>
              <a:ext cx="838200" cy="854075"/>
              <a:chOff x="1676400" y="3962400"/>
              <a:chExt cx="838200" cy="854075"/>
            </a:xfrm>
          </p:grpSpPr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12C2310E-441B-C888-3104-D7AB25922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05466A10-45A6-620A-2465-D5D2847EFF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25575EB5-0F70-71E9-B285-49AF03B77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910CDC6-81C0-912D-F93D-5559ED51D8EC}"/>
                </a:ext>
              </a:extLst>
            </p:cNvPr>
            <p:cNvGrpSpPr/>
            <p:nvPr/>
          </p:nvGrpSpPr>
          <p:grpSpPr>
            <a:xfrm>
              <a:off x="1560984" y="2807568"/>
              <a:ext cx="914400" cy="854075"/>
              <a:chOff x="1524000" y="3048000"/>
              <a:chExt cx="914400" cy="854075"/>
            </a:xfrm>
          </p:grpSpPr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01659F4B-7264-903C-F0AC-755FDB5068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97E71B4-397C-716C-94E3-EB8CC6DC0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587CE30-51AC-B775-26DF-55E3A0AE13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8584" y="2655168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C502B9-F2AA-7BC3-F580-F6A72B30CF5E}"/>
                </a:ext>
              </a:extLst>
            </p:cNvPr>
            <p:cNvGrpSpPr/>
            <p:nvPr/>
          </p:nvGrpSpPr>
          <p:grpSpPr>
            <a:xfrm>
              <a:off x="1695232" y="4713915"/>
              <a:ext cx="838200" cy="854075"/>
              <a:chOff x="1676400" y="3962400"/>
              <a:chExt cx="838200" cy="8540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248CAB8-682B-9A31-DDB6-D9FD3276F1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83D4574D-2ADE-0D66-BA90-F802C69DE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6F8F674B-DB59-469E-225C-7B5485EF85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1DA6DB6-C865-3EAE-715B-11152AA183A1}"/>
                </a:ext>
              </a:extLst>
            </p:cNvPr>
            <p:cNvGrpSpPr/>
            <p:nvPr/>
          </p:nvGrpSpPr>
          <p:grpSpPr>
            <a:xfrm>
              <a:off x="1695232" y="5646861"/>
              <a:ext cx="838200" cy="854075"/>
              <a:chOff x="1676400" y="3962400"/>
              <a:chExt cx="838200" cy="8540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E5822F9-F603-DFDD-0EE8-5CEBB90A5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4395EB73-F6DB-0A1F-4F58-9D76009255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8AFF12F6-D2DF-C91D-6439-ED9929549B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6632"/>
            <a:ext cx="8458200" cy="838200"/>
          </a:xfrm>
        </p:spPr>
        <p:txBody>
          <a:bodyPr/>
          <a:lstStyle/>
          <a:p>
            <a:r>
              <a:rPr lang="en-US" dirty="0"/>
              <a:t>Queue After Removing an Element</a:t>
            </a:r>
          </a:p>
        </p:txBody>
      </p:sp>
      <p:sp>
        <p:nvSpPr>
          <p:cNvPr id="55315" name="Text Box 19"/>
          <p:cNvSpPr txBox="1">
            <a:spLocks noChangeArrowheads="1"/>
          </p:cNvSpPr>
          <p:nvPr/>
        </p:nvSpPr>
        <p:spPr bwMode="auto">
          <a:xfrm>
            <a:off x="32766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0</a:t>
            </a:r>
          </a:p>
        </p:txBody>
      </p:sp>
      <p:sp>
        <p:nvSpPr>
          <p:cNvPr id="55316" name="Text Box 20"/>
          <p:cNvSpPr txBox="1">
            <a:spLocks noChangeArrowheads="1"/>
          </p:cNvSpPr>
          <p:nvPr/>
        </p:nvSpPr>
        <p:spPr bwMode="auto">
          <a:xfrm>
            <a:off x="73152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4</a:t>
            </a:r>
          </a:p>
        </p:txBody>
      </p:sp>
      <p:sp>
        <p:nvSpPr>
          <p:cNvPr id="55317" name="Text Box 21"/>
          <p:cNvSpPr txBox="1">
            <a:spLocks noChangeArrowheads="1"/>
          </p:cNvSpPr>
          <p:nvPr/>
        </p:nvSpPr>
        <p:spPr bwMode="auto">
          <a:xfrm>
            <a:off x="63246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55318" name="Text Box 22"/>
          <p:cNvSpPr txBox="1">
            <a:spLocks noChangeArrowheads="1"/>
          </p:cNvSpPr>
          <p:nvPr/>
        </p:nvSpPr>
        <p:spPr bwMode="auto">
          <a:xfrm>
            <a:off x="52578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2</a:t>
            </a:r>
          </a:p>
        </p:txBody>
      </p:sp>
      <p:sp>
        <p:nvSpPr>
          <p:cNvPr id="55319" name="Text Box 23"/>
          <p:cNvSpPr txBox="1">
            <a:spLocks noChangeArrowheads="1"/>
          </p:cNvSpPr>
          <p:nvPr/>
        </p:nvSpPr>
        <p:spPr bwMode="auto">
          <a:xfrm>
            <a:off x="4267200" y="2492152"/>
            <a:ext cx="360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55327" name="Text Box 31"/>
          <p:cNvSpPr txBox="1">
            <a:spLocks noChangeArrowheads="1"/>
          </p:cNvSpPr>
          <p:nvPr/>
        </p:nvSpPr>
        <p:spPr bwMode="auto">
          <a:xfrm>
            <a:off x="457200" y="1205136"/>
            <a:ext cx="8458200" cy="1200329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The yellow element        is removed from array location 0, remaining elements are shifted forward one position in the array, and then count is decremented.</a:t>
            </a:r>
          </a:p>
        </p:txBody>
      </p:sp>
      <p:sp>
        <p:nvSpPr>
          <p:cNvPr id="55328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9462" y="1109301"/>
            <a:ext cx="474466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CA" sz="2400" dirty="0"/>
          </a:p>
        </p:txBody>
      </p:sp>
      <p:grpSp>
        <p:nvGrpSpPr>
          <p:cNvPr id="18" name="Group 17" descr="The array:&#10;[red, cream, blue, green, null, ...]&#10;&#10;aq's instance variables:&#10;&#10;queue: stores a reference to the array&#10;front = 0&#10;back = 3&#10;count = 4">
            <a:extLst>
              <a:ext uri="{FF2B5EF4-FFF2-40B4-BE49-F238E27FC236}">
                <a16:creationId xmlns:a16="http://schemas.microsoft.com/office/drawing/2014/main" id="{5825FEF3-EB8E-3C18-68A9-C4FFF26A09F0}"/>
              </a:ext>
            </a:extLst>
          </p:cNvPr>
          <p:cNvGrpSpPr/>
          <p:nvPr/>
        </p:nvGrpSpPr>
        <p:grpSpPr>
          <a:xfrm>
            <a:off x="179388" y="2706960"/>
            <a:ext cx="8736012" cy="3962400"/>
            <a:chOff x="179388" y="2706960"/>
            <a:chExt cx="8736012" cy="3962400"/>
          </a:xfrm>
        </p:grpSpPr>
        <p:sp>
          <p:nvSpPr>
            <p:cNvPr id="55306" name="Rectangle 10"/>
            <p:cNvSpPr>
              <a:spLocks noChangeArrowheads="1"/>
            </p:cNvSpPr>
            <p:nvPr/>
          </p:nvSpPr>
          <p:spPr bwMode="auto">
            <a:xfrm>
              <a:off x="3276600" y="3711352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7" name="Rectangle 11"/>
            <p:cNvSpPr>
              <a:spLocks noChangeArrowheads="1"/>
            </p:cNvSpPr>
            <p:nvPr/>
          </p:nvSpPr>
          <p:spPr bwMode="auto">
            <a:xfrm>
              <a:off x="4267200" y="3711352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8" name="Rectangle 12"/>
            <p:cNvSpPr>
              <a:spLocks noChangeArrowheads="1"/>
            </p:cNvSpPr>
            <p:nvPr/>
          </p:nvSpPr>
          <p:spPr bwMode="auto">
            <a:xfrm>
              <a:off x="5257800" y="3711352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09" name="Rectangle 13"/>
            <p:cNvSpPr>
              <a:spLocks noChangeArrowheads="1"/>
            </p:cNvSpPr>
            <p:nvPr/>
          </p:nvSpPr>
          <p:spPr bwMode="auto">
            <a:xfrm>
              <a:off x="6248400" y="3711352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0" name="Rectangle 14"/>
            <p:cNvSpPr>
              <a:spLocks noChangeArrowheads="1"/>
            </p:cNvSpPr>
            <p:nvPr/>
          </p:nvSpPr>
          <p:spPr bwMode="auto">
            <a:xfrm>
              <a:off x="29718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1" name="Rectangle 15"/>
            <p:cNvSpPr>
              <a:spLocks noChangeArrowheads="1"/>
            </p:cNvSpPr>
            <p:nvPr/>
          </p:nvSpPr>
          <p:spPr bwMode="auto">
            <a:xfrm>
              <a:off x="69342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2" name="Rectangle 16"/>
            <p:cNvSpPr>
              <a:spLocks noChangeArrowheads="1"/>
            </p:cNvSpPr>
            <p:nvPr/>
          </p:nvSpPr>
          <p:spPr bwMode="auto">
            <a:xfrm>
              <a:off x="59436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3" name="Rectangle 17"/>
            <p:cNvSpPr>
              <a:spLocks noChangeArrowheads="1"/>
            </p:cNvSpPr>
            <p:nvPr/>
          </p:nvSpPr>
          <p:spPr bwMode="auto">
            <a:xfrm>
              <a:off x="49530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14" name="Rectangle 18"/>
            <p:cNvSpPr>
              <a:spLocks noChangeArrowheads="1"/>
            </p:cNvSpPr>
            <p:nvPr/>
          </p:nvSpPr>
          <p:spPr bwMode="auto">
            <a:xfrm>
              <a:off x="39624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20" name="Line 24"/>
            <p:cNvSpPr>
              <a:spLocks noChangeShapeType="1"/>
            </p:cNvSpPr>
            <p:nvPr/>
          </p:nvSpPr>
          <p:spPr bwMode="auto">
            <a:xfrm>
              <a:off x="1981200" y="3101752"/>
              <a:ext cx="9906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1" name="Line 25"/>
            <p:cNvSpPr>
              <a:spLocks noChangeShapeType="1"/>
            </p:cNvSpPr>
            <p:nvPr/>
          </p:nvSpPr>
          <p:spPr bwMode="auto">
            <a:xfrm>
              <a:off x="35052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2" name="Line 26"/>
            <p:cNvSpPr>
              <a:spLocks noChangeShapeType="1"/>
            </p:cNvSpPr>
            <p:nvPr/>
          </p:nvSpPr>
          <p:spPr bwMode="auto">
            <a:xfrm>
              <a:off x="64770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3" name="Line 27"/>
            <p:cNvSpPr>
              <a:spLocks noChangeShapeType="1"/>
            </p:cNvSpPr>
            <p:nvPr/>
          </p:nvSpPr>
          <p:spPr bwMode="auto">
            <a:xfrm>
              <a:off x="54864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4" name="Line 28"/>
            <p:cNvSpPr>
              <a:spLocks noChangeShapeType="1"/>
            </p:cNvSpPr>
            <p:nvPr/>
          </p:nvSpPr>
          <p:spPr bwMode="auto">
            <a:xfrm>
              <a:off x="4495800" y="3101752"/>
              <a:ext cx="0" cy="6096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55325" name="Rectangle 29"/>
            <p:cNvSpPr>
              <a:spLocks noChangeArrowheads="1"/>
            </p:cNvSpPr>
            <p:nvPr/>
          </p:nvSpPr>
          <p:spPr bwMode="auto">
            <a:xfrm>
              <a:off x="7924800" y="2873152"/>
              <a:ext cx="9906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26" name="Text Box 30"/>
            <p:cNvSpPr txBox="1">
              <a:spLocks noChangeArrowheads="1"/>
            </p:cNvSpPr>
            <p:nvPr/>
          </p:nvSpPr>
          <p:spPr bwMode="auto">
            <a:xfrm>
              <a:off x="8229600" y="2720752"/>
              <a:ext cx="609600" cy="641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6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55332" name="Text Box 36"/>
            <p:cNvSpPr txBox="1">
              <a:spLocks noChangeArrowheads="1"/>
            </p:cNvSpPr>
            <p:nvPr/>
          </p:nvSpPr>
          <p:spPr bwMode="auto">
            <a:xfrm>
              <a:off x="179388" y="3470052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aq</a:t>
              </a:r>
            </a:p>
          </p:txBody>
        </p:sp>
        <p:sp>
          <p:nvSpPr>
            <p:cNvPr id="55333" name="Rectangle 37"/>
            <p:cNvSpPr>
              <a:spLocks noChangeArrowheads="1"/>
            </p:cNvSpPr>
            <p:nvPr/>
          </p:nvSpPr>
          <p:spPr bwMode="auto">
            <a:xfrm>
              <a:off x="701675" y="3470052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55334" name="Line 38"/>
            <p:cNvSpPr>
              <a:spLocks noChangeShapeType="1"/>
            </p:cNvSpPr>
            <p:nvPr/>
          </p:nvSpPr>
          <p:spPr bwMode="auto">
            <a:xfrm>
              <a:off x="930275" y="3698652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7AA41E6-C30F-109E-B82B-AA5BA3A211F1}"/>
                </a:ext>
              </a:extLst>
            </p:cNvPr>
            <p:cNvGrpSpPr/>
            <p:nvPr/>
          </p:nvGrpSpPr>
          <p:grpSpPr>
            <a:xfrm>
              <a:off x="1658248" y="3832762"/>
              <a:ext cx="838200" cy="854075"/>
              <a:chOff x="1676400" y="3962400"/>
              <a:chExt cx="838200" cy="854075"/>
            </a:xfrm>
          </p:grpSpPr>
          <p:sp>
            <p:nvSpPr>
              <p:cNvPr id="3" name="Rectangle 3">
                <a:extLst>
                  <a:ext uri="{FF2B5EF4-FFF2-40B4-BE49-F238E27FC236}">
                    <a16:creationId xmlns:a16="http://schemas.microsoft.com/office/drawing/2014/main" id="{678AEED9-32EA-4243-145D-FBFE57BA0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4" name="Text Box 4">
                <a:extLst>
                  <a:ext uri="{FF2B5EF4-FFF2-40B4-BE49-F238E27FC236}">
                    <a16:creationId xmlns:a16="http://schemas.microsoft.com/office/drawing/2014/main" id="{4218D8BF-78F6-35D1-B369-623E44EDA2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front</a:t>
                </a:r>
              </a:p>
            </p:txBody>
          </p:sp>
          <p:sp>
            <p:nvSpPr>
              <p:cNvPr id="5" name="Text Box 5">
                <a:extLst>
                  <a:ext uri="{FF2B5EF4-FFF2-40B4-BE49-F238E27FC236}">
                    <a16:creationId xmlns:a16="http://schemas.microsoft.com/office/drawing/2014/main" id="{923090EB-2A1B-3354-350A-09990992B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0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2965CA6-A947-D2E5-B04E-1103ED5B4DF1}"/>
                </a:ext>
              </a:extLst>
            </p:cNvPr>
            <p:cNvGrpSpPr/>
            <p:nvPr/>
          </p:nvGrpSpPr>
          <p:grpSpPr>
            <a:xfrm>
              <a:off x="1524000" y="2859360"/>
              <a:ext cx="914400" cy="854075"/>
              <a:chOff x="1524000" y="3048000"/>
              <a:chExt cx="914400" cy="854075"/>
            </a:xfrm>
          </p:grpSpPr>
          <p:sp>
            <p:nvSpPr>
              <p:cNvPr id="7" name="Text Box 6">
                <a:extLst>
                  <a:ext uri="{FF2B5EF4-FFF2-40B4-BE49-F238E27FC236}">
                    <a16:creationId xmlns:a16="http://schemas.microsoft.com/office/drawing/2014/main" id="{F70DF633-3155-06D4-F287-5209D22C48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0" y="3505200"/>
                <a:ext cx="9144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/>
                  <a:t>queue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DFC4E26-C781-114A-C4DD-67335FFC73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0480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F46F09-1CE7-3A3E-B9D8-16BC39D66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600" y="2706960"/>
              <a:ext cx="1219200" cy="39624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14E160C-775F-3049-A25E-14E6F4CCE111}"/>
                </a:ext>
              </a:extLst>
            </p:cNvPr>
            <p:cNvGrpSpPr/>
            <p:nvPr/>
          </p:nvGrpSpPr>
          <p:grpSpPr>
            <a:xfrm>
              <a:off x="1658248" y="4765707"/>
              <a:ext cx="838200" cy="854075"/>
              <a:chOff x="1676400" y="3962400"/>
              <a:chExt cx="838200" cy="854075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5B143CE-D0B6-9536-D198-2ACC81F39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CD0A4CA9-FA0E-F57E-AC43-56A99B6E6D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back</a:t>
                </a: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B508A082-6FCD-936E-277D-FD2D72E5B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8A65A71-15DF-982B-F448-19C83F57CF98}"/>
                </a:ext>
              </a:extLst>
            </p:cNvPr>
            <p:cNvGrpSpPr/>
            <p:nvPr/>
          </p:nvGrpSpPr>
          <p:grpSpPr>
            <a:xfrm>
              <a:off x="1658248" y="5698653"/>
              <a:ext cx="838200" cy="854075"/>
              <a:chOff x="1676400" y="3962400"/>
              <a:chExt cx="838200" cy="85407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D9BB83A-810D-1809-2684-4EC7DDA7F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00" y="3962400"/>
                <a:ext cx="457200" cy="45720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CA"/>
              </a:p>
            </p:txBody>
          </p:sp>
          <p:sp>
            <p:nvSpPr>
              <p:cNvPr id="16" name="Text Box 4">
                <a:extLst>
                  <a:ext uri="{FF2B5EF4-FFF2-40B4-BE49-F238E27FC236}">
                    <a16:creationId xmlns:a16="http://schemas.microsoft.com/office/drawing/2014/main" id="{BAACC5CC-2281-C3B5-40E8-BF523C1D37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76400" y="4419600"/>
                <a:ext cx="838200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b="0" dirty="0"/>
                  <a:t>count</a:t>
                </a:r>
              </a:p>
            </p:txBody>
          </p:sp>
          <p:sp>
            <p:nvSpPr>
              <p:cNvPr id="17" name="Text Box 5">
                <a:extLst>
                  <a:ext uri="{FF2B5EF4-FFF2-40B4-BE49-F238E27FC236}">
                    <a16:creationId xmlns:a16="http://schemas.microsoft.com/office/drawing/2014/main" id="{12E4C054-7FE7-E95D-D6F9-FF77DB1AFE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28800" y="4038600"/>
                <a:ext cx="360363" cy="3968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533400" y="381000"/>
            <a:ext cx="8001000" cy="60960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/>
              <a:t>public class </a:t>
            </a:r>
            <a:r>
              <a:rPr lang="en-US" b="0" dirty="0" err="1"/>
              <a:t>ArrayQueue</a:t>
            </a:r>
            <a:r>
              <a:rPr lang="en-US" b="0" dirty="0"/>
              <a:t>&lt;T&gt; implements </a:t>
            </a:r>
            <a:r>
              <a:rPr lang="en-US" b="0" dirty="0" err="1"/>
              <a:t>QueueADT</a:t>
            </a:r>
            <a:r>
              <a:rPr lang="en-US" b="0" dirty="0"/>
              <a:t>&lt;T&gt;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final </a:t>
            </a:r>
            <a:r>
              <a:rPr lang="en-US" b="0" dirty="0" err="1"/>
              <a:t>int</a:t>
            </a:r>
            <a:r>
              <a:rPr lang="en-US" b="0" dirty="0"/>
              <a:t> DEFAULT_CAPACITY = 100;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</a:t>
            </a:r>
            <a:r>
              <a:rPr lang="en-US" b="0" dirty="0" err="1"/>
              <a:t>int</a:t>
            </a:r>
            <a:r>
              <a:rPr lang="en-US" b="0" dirty="0"/>
              <a:t> count;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private T[] queue; </a:t>
            </a:r>
          </a:p>
          <a:p>
            <a:pPr marL="342900" indent="-342900">
              <a:spcBef>
                <a:spcPct val="20000"/>
              </a:spcBef>
            </a:pPr>
            <a:endParaRPr lang="en-US" b="0" dirty="0"/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</a:t>
            </a:r>
            <a:r>
              <a:rPr lang="en-US" b="0" dirty="0" err="1"/>
              <a:t>ArrayQueue</a:t>
            </a:r>
            <a:r>
              <a:rPr lang="en-US" b="0" dirty="0"/>
              <a:t>()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count = 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 = (T[])(new Object[DEFAULT_CAPACITY]);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}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</a:t>
            </a:r>
            <a:r>
              <a:rPr lang="en-US" b="0" dirty="0" err="1"/>
              <a:t>ArrayQueue</a:t>
            </a:r>
            <a:r>
              <a:rPr lang="en-US" b="0" dirty="0"/>
              <a:t> (</a:t>
            </a:r>
            <a:r>
              <a:rPr lang="en-US" b="0" dirty="0" err="1"/>
              <a:t>int</a:t>
            </a:r>
            <a:r>
              <a:rPr lang="en-US" b="0" dirty="0"/>
              <a:t> </a:t>
            </a:r>
            <a:r>
              <a:rPr lang="en-US" b="0" dirty="0" err="1"/>
              <a:t>initialCapacity</a:t>
            </a:r>
            <a:r>
              <a:rPr lang="en-US" b="0" dirty="0"/>
              <a:t>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count = 0;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 = (T[])(new Object[</a:t>
            </a:r>
            <a:r>
              <a:rPr lang="en-US" b="0" dirty="0" err="1"/>
              <a:t>initialCapacity</a:t>
            </a:r>
            <a:r>
              <a:rPr lang="en-US" b="0" dirty="0"/>
              <a:t>]);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}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1066800" y="914400"/>
            <a:ext cx="6934200" cy="4800600"/>
          </a:xfrm>
          <a:prstGeom prst="rect">
            <a:avLst/>
          </a:prstGeom>
          <a:solidFill>
            <a:schemeClr val="bg2"/>
          </a:solidFill>
          <a:ln w="38100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Adds the specified element to the rear of the queue, 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expanding the capacity of the queue array if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necessary.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void enqueue (T element)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(size() == </a:t>
            </a:r>
            <a:r>
              <a:rPr lang="en-US" b="0" dirty="0" err="1"/>
              <a:t>queue.length</a:t>
            </a:r>
            <a:r>
              <a:rPr lang="en-US" b="0" dirty="0"/>
              <a:t>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</a:t>
            </a:r>
            <a:r>
              <a:rPr lang="en-US" b="0" dirty="0" err="1"/>
              <a:t>expandCapacity</a:t>
            </a:r>
            <a:r>
              <a:rPr lang="en-US" b="0" dirty="0"/>
              <a:t>( );</a:t>
            </a:r>
          </a:p>
          <a:p>
            <a:pPr marL="342900" indent="-342900">
              <a:spcBef>
                <a:spcPct val="20000"/>
              </a:spcBef>
            </a:pPr>
            <a:endParaRPr lang="en-US" b="0" dirty="0"/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queue[count] = element;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count++;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/>
          <p:cNvSpPr>
            <a:spLocks noChangeArrowheads="1"/>
          </p:cNvSpPr>
          <p:nvPr/>
        </p:nvSpPr>
        <p:spPr bwMode="auto">
          <a:xfrm>
            <a:off x="533400" y="228600"/>
            <a:ext cx="7848600" cy="6324600"/>
          </a:xfrm>
          <a:prstGeom prst="rect">
            <a:avLst/>
          </a:prstGeom>
          <a:solidFill>
            <a:schemeClr val="bg2"/>
          </a:solidFill>
          <a:ln w="9525">
            <a:solidFill>
              <a:schemeClr val="bg2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Removes the element at the front of the queue and returns 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a reference to it. Throws </a:t>
            </a:r>
            <a:r>
              <a:rPr lang="en-US" b="0" dirty="0" err="1">
                <a:solidFill>
                  <a:schemeClr val="hlink"/>
                </a:solidFill>
              </a:rPr>
              <a:t>anEmptyCollectionException</a:t>
            </a:r>
            <a:r>
              <a:rPr lang="en-US" b="0" dirty="0">
                <a:solidFill>
                  <a:schemeClr val="hlink"/>
                </a:solidFill>
              </a:rPr>
              <a:t> if the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  queue is empty.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//-----------------------------------------------------------------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public T dequeue ( ) throws </a:t>
            </a:r>
            <a:r>
              <a:rPr lang="en-US" b="0" dirty="0" err="1"/>
              <a:t>EmptyCollectionException</a:t>
            </a:r>
            <a:r>
              <a:rPr lang="en-US" b="0" dirty="0"/>
              <a:t> {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if (</a:t>
            </a:r>
            <a:r>
              <a:rPr lang="en-US" b="0" dirty="0" err="1"/>
              <a:t>isEmpty</a:t>
            </a:r>
            <a:r>
              <a:rPr lang="en-US" b="0" dirty="0"/>
              <a:t>( ))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throw new </a:t>
            </a:r>
            <a:r>
              <a:rPr lang="en-US" b="0" dirty="0" err="1"/>
              <a:t>EmptyCollectionException</a:t>
            </a:r>
            <a:r>
              <a:rPr lang="en-US" b="0" dirty="0"/>
              <a:t> (“Empty queue");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T result = queue[0];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count--;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>
                <a:solidFill>
                  <a:schemeClr val="hlink"/>
                </a:solidFill>
              </a:rPr>
              <a:t>   </a:t>
            </a:r>
            <a:r>
              <a:rPr lang="en-US" b="0" dirty="0">
                <a:solidFill>
                  <a:schemeClr val="accent2"/>
                </a:solidFill>
              </a:rPr>
              <a:t>// shift the elements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for (</a:t>
            </a:r>
            <a:r>
              <a:rPr lang="en-US" b="0" dirty="0" err="1"/>
              <a:t>int</a:t>
            </a:r>
            <a:r>
              <a:rPr lang="en-US" b="0" dirty="0"/>
              <a:t> </a:t>
            </a:r>
            <a:r>
              <a:rPr lang="en-US" b="0" dirty="0" err="1"/>
              <a:t>i</a:t>
            </a:r>
            <a:r>
              <a:rPr lang="en-US" b="0" dirty="0"/>
              <a:t> = 0; </a:t>
            </a:r>
            <a:r>
              <a:rPr lang="en-US" b="0" dirty="0" err="1"/>
              <a:t>i</a:t>
            </a:r>
            <a:r>
              <a:rPr lang="en-US" b="0" dirty="0"/>
              <a:t> &lt; count; </a:t>
            </a:r>
            <a:r>
              <a:rPr lang="en-US" b="0" dirty="0" err="1"/>
              <a:t>i</a:t>
            </a:r>
            <a:r>
              <a:rPr lang="en-US" b="0" dirty="0"/>
              <a:t>++)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   queue[</a:t>
            </a:r>
            <a:r>
              <a:rPr lang="en-US" b="0" dirty="0" err="1"/>
              <a:t>i</a:t>
            </a:r>
            <a:r>
              <a:rPr lang="en-US" b="0" dirty="0"/>
              <a:t>] = queue[i+1];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queue[count] = null;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   return result;</a:t>
            </a:r>
          </a:p>
          <a:p>
            <a:pPr marL="342900" indent="-342900">
              <a:spcBef>
                <a:spcPct val="20000"/>
              </a:spcBef>
            </a:pPr>
            <a:r>
              <a:rPr lang="en-US" b="0" dirty="0"/>
              <a:t>}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>
            <a:extLst>
              <a:ext uri="{FF2B5EF4-FFF2-40B4-BE49-F238E27FC236}">
                <a16:creationId xmlns:a16="http://schemas.microsoft.com/office/drawing/2014/main" id="{C3F7EFE1-B32E-7CC2-8675-250A8F2CC2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67544" y="1417639"/>
            <a:ext cx="5082994" cy="2573754"/>
          </a:xfrm>
        </p:spPr>
        <p:txBody>
          <a:bodyPr/>
          <a:lstStyle/>
          <a:p>
            <a:pPr eaLnBrk="1" hangingPunct="1"/>
            <a:r>
              <a:rPr lang="en-US" altLang="en-US" dirty="0"/>
              <a:t>Use a </a:t>
            </a:r>
            <a:r>
              <a:rPr lang="en-US" altLang="en-US" b="1" i="1" dirty="0"/>
              <a:t>circular array</a:t>
            </a:r>
            <a:r>
              <a:rPr lang="en-US" altLang="en-US" dirty="0"/>
              <a:t> to insert and remove items from a queue in </a:t>
            </a:r>
            <a:r>
              <a:rPr lang="en-US" altLang="en-US" b="1" dirty="0"/>
              <a:t>constant time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/>
              <a:t>The idea is that the end of the array “wraps around” to the start of the array.</a:t>
            </a:r>
          </a:p>
        </p:txBody>
      </p:sp>
      <p:grpSp>
        <p:nvGrpSpPr>
          <p:cNvPr id="12292" name="Group 4" descr="An array in the shape of a ring with the last spot, 7, adjacent to the first spot, 0.">
            <a:extLst>
              <a:ext uri="{FF2B5EF4-FFF2-40B4-BE49-F238E27FC236}">
                <a16:creationId xmlns:a16="http://schemas.microsoft.com/office/drawing/2014/main" id="{F03952E0-0951-3264-736B-F90224DD70C0}"/>
              </a:ext>
            </a:extLst>
          </p:cNvPr>
          <p:cNvGrpSpPr>
            <a:grpSpLocks/>
          </p:cNvGrpSpPr>
          <p:nvPr/>
        </p:nvGrpSpPr>
        <p:grpSpPr bwMode="auto">
          <a:xfrm>
            <a:off x="5813623" y="1417638"/>
            <a:ext cx="2790825" cy="2505075"/>
            <a:chOff x="1156" y="2432"/>
            <a:chExt cx="1740" cy="1649"/>
          </a:xfrm>
        </p:grpSpPr>
        <p:sp>
          <p:nvSpPr>
            <p:cNvPr id="12323" name="Text Box 5">
              <a:extLst>
                <a:ext uri="{FF2B5EF4-FFF2-40B4-BE49-F238E27FC236}">
                  <a16:creationId xmlns:a16="http://schemas.microsoft.com/office/drawing/2014/main" id="{0EF90D76-85DF-DEFA-A7BE-FB600BCE6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2432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2324" name="Text Box 6">
              <a:extLst>
                <a:ext uri="{FF2B5EF4-FFF2-40B4-BE49-F238E27FC236}">
                  <a16:creationId xmlns:a16="http://schemas.microsoft.com/office/drawing/2014/main" id="{33451ED6-FEBE-AC55-E08B-2EA0F7860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284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1</a:t>
              </a:r>
            </a:p>
          </p:txBody>
        </p:sp>
        <p:sp>
          <p:nvSpPr>
            <p:cNvPr id="12325" name="Text Box 7">
              <a:extLst>
                <a:ext uri="{FF2B5EF4-FFF2-40B4-BE49-F238E27FC236}">
                  <a16:creationId xmlns:a16="http://schemas.microsoft.com/office/drawing/2014/main" id="{D24C6A9F-E457-FC6D-2491-EB8B96106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3793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3</a:t>
              </a:r>
            </a:p>
          </p:txBody>
        </p:sp>
        <p:sp>
          <p:nvSpPr>
            <p:cNvPr id="12326" name="Text Box 8">
              <a:extLst>
                <a:ext uri="{FF2B5EF4-FFF2-40B4-BE49-F238E27FC236}">
                  <a16:creationId xmlns:a16="http://schemas.microsoft.com/office/drawing/2014/main" id="{9859F603-95E0-BF50-107F-0CD713036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3385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2</a:t>
              </a:r>
            </a:p>
          </p:txBody>
        </p:sp>
        <p:sp>
          <p:nvSpPr>
            <p:cNvPr id="12327" name="Text Box 9">
              <a:extLst>
                <a:ext uri="{FF2B5EF4-FFF2-40B4-BE49-F238E27FC236}">
                  <a16:creationId xmlns:a16="http://schemas.microsoft.com/office/drawing/2014/main" id="{DA7C2F4A-879D-7BDF-4270-5E11B92601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5" y="3838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4</a:t>
              </a:r>
            </a:p>
          </p:txBody>
        </p:sp>
        <p:sp>
          <p:nvSpPr>
            <p:cNvPr id="12328" name="Text Box 10">
              <a:extLst>
                <a:ext uri="{FF2B5EF4-FFF2-40B4-BE49-F238E27FC236}">
                  <a16:creationId xmlns:a16="http://schemas.microsoft.com/office/drawing/2014/main" id="{9F12FBF1-DAAA-01E5-23A1-44E7CFCBD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6" y="343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5</a:t>
              </a:r>
            </a:p>
          </p:txBody>
        </p:sp>
        <p:sp>
          <p:nvSpPr>
            <p:cNvPr id="12329" name="Text Box 11">
              <a:extLst>
                <a:ext uri="{FF2B5EF4-FFF2-40B4-BE49-F238E27FC236}">
                  <a16:creationId xmlns:a16="http://schemas.microsoft.com/office/drawing/2014/main" id="{0D019598-272F-CABA-88C1-889107990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840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6</a:t>
              </a:r>
            </a:p>
          </p:txBody>
        </p:sp>
        <p:grpSp>
          <p:nvGrpSpPr>
            <p:cNvPr id="12330" name="Group 12">
              <a:extLst>
                <a:ext uri="{FF2B5EF4-FFF2-40B4-BE49-F238E27FC236}">
                  <a16:creationId xmlns:a16="http://schemas.microsoft.com/office/drawing/2014/main" id="{3A733752-52DC-F8DB-603F-77663C8F4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38" y="2523"/>
              <a:ext cx="1403" cy="1438"/>
              <a:chOff x="1780" y="2324"/>
              <a:chExt cx="1403" cy="1438"/>
            </a:xfrm>
          </p:grpSpPr>
          <p:sp>
            <p:nvSpPr>
              <p:cNvPr id="12332" name="Oval 13">
                <a:extLst>
                  <a:ext uri="{FF2B5EF4-FFF2-40B4-BE49-F238E27FC236}">
                    <a16:creationId xmlns:a16="http://schemas.microsoft.com/office/drawing/2014/main" id="{75B54B3A-9FA4-28C8-04D7-577D7DCE5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2470"/>
                <a:ext cx="1152" cy="1152"/>
              </a:xfrm>
              <a:prstGeom prst="ellipse">
                <a:avLst/>
              </a:prstGeom>
              <a:noFill/>
              <a:ln w="40640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3" name="Line 14">
                <a:extLst>
                  <a:ext uri="{FF2B5EF4-FFF2-40B4-BE49-F238E27FC236}">
                    <a16:creationId xmlns:a16="http://schemas.microsoft.com/office/drawing/2014/main" id="{1D98B7EB-1577-41E1-E9B8-66FBE6F81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0" y="2341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4" name="Line 15">
                <a:extLst>
                  <a:ext uri="{FF2B5EF4-FFF2-40B4-BE49-F238E27FC236}">
                    <a16:creationId xmlns:a16="http://schemas.microsoft.com/office/drawing/2014/main" id="{F97FF3CA-5EE8-D957-A633-D4CC2F57A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2477" y="2346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5" name="Line 16">
                <a:extLst>
                  <a:ext uri="{FF2B5EF4-FFF2-40B4-BE49-F238E27FC236}">
                    <a16:creationId xmlns:a16="http://schemas.microsoft.com/office/drawing/2014/main" id="{90D9AD48-934C-CE75-EDAB-93C69D5CE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2622516">
                <a:off x="2473" y="2324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6" name="Line 17">
                <a:extLst>
                  <a:ext uri="{FF2B5EF4-FFF2-40B4-BE49-F238E27FC236}">
                    <a16:creationId xmlns:a16="http://schemas.microsoft.com/office/drawing/2014/main" id="{E6DF5297-BF1B-E54B-1477-A120D7D31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624116">
                <a:off x="2490" y="2359"/>
                <a:ext cx="9" cy="14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4572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2337" name="Oval 18">
                <a:extLst>
                  <a:ext uri="{FF2B5EF4-FFF2-40B4-BE49-F238E27FC236}">
                    <a16:creationId xmlns:a16="http://schemas.microsoft.com/office/drawing/2014/main" id="{E3DED3A3-49FD-53E3-027F-F4E0FB7B1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5" y="2600"/>
                <a:ext cx="892" cy="8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 panose="05040102010807070707" pitchFamily="18" charset="2"/>
                  <a:buChar char=""/>
                  <a:defRPr sz="2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 panose="05040102010807070707" pitchFamily="18" charset="2"/>
                  <a:buChar char=""/>
                  <a:defRPr sz="2300">
                    <a:solidFill>
                      <a:schemeClr val="tx2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2pPr>
                <a:lvl3pPr marL="822325" indent="-228600">
                  <a:spcBef>
                    <a:spcPts val="500"/>
                  </a:spcBef>
                  <a:buClr>
                    <a:srgbClr val="BCBCBC"/>
                  </a:buClr>
                  <a:buSzPct val="76000"/>
                  <a:buFont typeface="Wingdings 3" panose="05040102010807070707" pitchFamily="18" charset="2"/>
                  <a:buChar char=""/>
                  <a:defRPr sz="20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3pPr>
                <a:lvl4pPr marL="1096963" indent="-228600">
                  <a:spcBef>
                    <a:spcPts val="400"/>
                  </a:spcBef>
                  <a:buClr>
                    <a:srgbClr val="8BA2B4"/>
                  </a:buClr>
                  <a:buSzPct val="70000"/>
                  <a:buFont typeface="Wingdings" panose="05000000000000000000" pitchFamily="2" charset="2"/>
                  <a:buChar char=""/>
                  <a:defRPr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4pPr>
                <a:lvl5pPr marL="1371600" indent="-228600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5pPr>
                <a:lvl6pPr marL="18288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6pPr>
                <a:lvl7pPr marL="22860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7pPr>
                <a:lvl8pPr marL="27432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8pPr>
                <a:lvl9pPr marL="3200400" indent="-228600" defTabSz="45720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"/>
                  <a:defRPr sz="16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</a:defRPr>
                </a:lvl9pPr>
              </a:lstStyle>
              <a:p>
                <a:pPr marL="0" marR="0" lvl="0" indent="0" algn="l" defTabSz="4572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2331" name="Text Box 19">
              <a:extLst>
                <a:ext uri="{FF2B5EF4-FFF2-40B4-BE49-F238E27FC236}">
                  <a16:creationId xmlns:a16="http://schemas.microsoft.com/office/drawing/2014/main" id="{A9E99806-A58E-9571-6731-6417C1FA8E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0" y="2432"/>
              <a:ext cx="288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panose="02070309020205020404" pitchFamily="49" charset="0"/>
                  <a:ea typeface="MS PGothic" panose="020B0600070205080204" pitchFamily="34" charset="-128"/>
                  <a:cs typeface="+mn-cs"/>
                </a:rPr>
                <a:t>7</a:t>
              </a:r>
            </a:p>
          </p:txBody>
        </p:sp>
      </p:grpSp>
      <p:grpSp>
        <p:nvGrpSpPr>
          <p:cNvPr id="4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A231AAC0-5410-8186-F31B-9C1BFF57F408}"/>
              </a:ext>
            </a:extLst>
          </p:cNvPr>
          <p:cNvGrpSpPr>
            <a:grpSpLocks/>
          </p:cNvGrpSpPr>
          <p:nvPr/>
        </p:nvGrpSpPr>
        <p:grpSpPr bwMode="auto">
          <a:xfrm>
            <a:off x="593731" y="5418251"/>
            <a:ext cx="7772400" cy="1225550"/>
            <a:chOff x="685800" y="1155958"/>
            <a:chExt cx="7772400" cy="122535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1AA6CF-BF7B-52E6-6476-4899D1AD89E5}"/>
                </a:ext>
              </a:extLst>
            </p:cNvPr>
            <p:cNvSpPr/>
            <p:nvPr/>
          </p:nvSpPr>
          <p:spPr bwMode="auto">
            <a:xfrm>
              <a:off x="685800" y="1155958"/>
              <a:ext cx="7772400" cy="121900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6" name="Rectangle 4">
              <a:extLst>
                <a:ext uri="{FF2B5EF4-FFF2-40B4-BE49-F238E27FC236}">
                  <a16:creationId xmlns:a16="http://schemas.microsoft.com/office/drawing/2014/main" id="{F5FB18F8-FABA-561C-CA5F-D9951AE9E50D}"/>
                </a:ext>
              </a:extLst>
            </p:cNvPr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7" name="Rectangle 5">
              <a:extLst>
                <a:ext uri="{FF2B5EF4-FFF2-40B4-BE49-F238E27FC236}">
                  <a16:creationId xmlns:a16="http://schemas.microsoft.com/office/drawing/2014/main" id="{2D019406-222E-870D-55D5-072A4EF18CD2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8" name="Rectangle 6">
              <a:extLst>
                <a:ext uri="{FF2B5EF4-FFF2-40B4-BE49-F238E27FC236}">
                  <a16:creationId xmlns:a16="http://schemas.microsoft.com/office/drawing/2014/main" id="{1691CCAC-A60C-5124-DC0A-7CF2762EFCA3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299" name="Rectangle 7">
              <a:extLst>
                <a:ext uri="{FF2B5EF4-FFF2-40B4-BE49-F238E27FC236}">
                  <a16:creationId xmlns:a16="http://schemas.microsoft.com/office/drawing/2014/main" id="{E6A2CDF1-A373-017C-6DDE-031D41DBCA86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0" name="Rectangle 8">
              <a:extLst>
                <a:ext uri="{FF2B5EF4-FFF2-40B4-BE49-F238E27FC236}">
                  <a16:creationId xmlns:a16="http://schemas.microsoft.com/office/drawing/2014/main" id="{40B24179-B925-AC40-77EC-7D5EB2693F9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1" name="Rectangle 9">
              <a:extLst>
                <a:ext uri="{FF2B5EF4-FFF2-40B4-BE49-F238E27FC236}">
                  <a16:creationId xmlns:a16="http://schemas.microsoft.com/office/drawing/2014/main" id="{FD025747-241A-A66E-1F7B-971FE1E91770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2" name="Rectangle 10">
              <a:extLst>
                <a:ext uri="{FF2B5EF4-FFF2-40B4-BE49-F238E27FC236}">
                  <a16:creationId xmlns:a16="http://schemas.microsoft.com/office/drawing/2014/main" id="{E1B5542B-1604-8E0C-ED45-4C610EBB9A41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3" name="Rectangle 11">
              <a:extLst>
                <a:ext uri="{FF2B5EF4-FFF2-40B4-BE49-F238E27FC236}">
                  <a16:creationId xmlns:a16="http://schemas.microsoft.com/office/drawing/2014/main" id="{40EB9686-8B15-486F-C9CF-15F9C74D236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2304" name="Rectangle 12">
              <a:extLst>
                <a:ext uri="{FF2B5EF4-FFF2-40B4-BE49-F238E27FC236}">
                  <a16:creationId xmlns:a16="http://schemas.microsoft.com/office/drawing/2014/main" id="{4F542E07-FBF6-A576-0131-6647FAEC7FD6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2305" name="Rectangle 13">
              <a:extLst>
                <a:ext uri="{FF2B5EF4-FFF2-40B4-BE49-F238E27FC236}">
                  <a16:creationId xmlns:a16="http://schemas.microsoft.com/office/drawing/2014/main" id="{9E92C996-9C2E-0023-C770-371A3F6B74A9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2306" name="Rectangle 14">
              <a:extLst>
                <a:ext uri="{FF2B5EF4-FFF2-40B4-BE49-F238E27FC236}">
                  <a16:creationId xmlns:a16="http://schemas.microsoft.com/office/drawing/2014/main" id="{4747B5AC-FB1D-614D-64EA-8B014B4CC5C9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2307" name="Rectangle 15">
              <a:extLst>
                <a:ext uri="{FF2B5EF4-FFF2-40B4-BE49-F238E27FC236}">
                  <a16:creationId xmlns:a16="http://schemas.microsoft.com/office/drawing/2014/main" id="{85669A9F-66B0-7A9F-85BA-E3DE00F2B20D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2308" name="Rectangle 16">
              <a:extLst>
                <a:ext uri="{FF2B5EF4-FFF2-40B4-BE49-F238E27FC236}">
                  <a16:creationId xmlns:a16="http://schemas.microsoft.com/office/drawing/2014/main" id="{0D4D5032-0983-4A55-9622-9B806D81190C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09" name="Rectangle 17">
              <a:extLst>
                <a:ext uri="{FF2B5EF4-FFF2-40B4-BE49-F238E27FC236}">
                  <a16:creationId xmlns:a16="http://schemas.microsoft.com/office/drawing/2014/main" id="{4331B4AE-2CAD-7757-6D3F-EC7134531CA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0" name="Rectangle 18">
              <a:extLst>
                <a:ext uri="{FF2B5EF4-FFF2-40B4-BE49-F238E27FC236}">
                  <a16:creationId xmlns:a16="http://schemas.microsoft.com/office/drawing/2014/main" id="{DF44473D-EE74-D332-55A3-58A3FC119943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1" name="Rectangle 19">
              <a:extLst>
                <a:ext uri="{FF2B5EF4-FFF2-40B4-BE49-F238E27FC236}">
                  <a16:creationId xmlns:a16="http://schemas.microsoft.com/office/drawing/2014/main" id="{5879900A-C2E0-1140-533F-F11FEB36E8ED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2" name="Rectangle 20">
              <a:extLst>
                <a:ext uri="{FF2B5EF4-FFF2-40B4-BE49-F238E27FC236}">
                  <a16:creationId xmlns:a16="http://schemas.microsoft.com/office/drawing/2014/main" id="{887ACDC3-D33E-96B8-656F-3E24F4A3C4B3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3" name="Rectangle 21">
              <a:extLst>
                <a:ext uri="{FF2B5EF4-FFF2-40B4-BE49-F238E27FC236}">
                  <a16:creationId xmlns:a16="http://schemas.microsoft.com/office/drawing/2014/main" id="{3D6B7F2E-E84C-2742-F95F-93E73F78DC09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4" name="Rectangle 22">
              <a:extLst>
                <a:ext uri="{FF2B5EF4-FFF2-40B4-BE49-F238E27FC236}">
                  <a16:creationId xmlns:a16="http://schemas.microsoft.com/office/drawing/2014/main" id="{19524130-D310-5B90-20B3-E062BD5A7279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5" name="Rectangle 23">
              <a:extLst>
                <a:ext uri="{FF2B5EF4-FFF2-40B4-BE49-F238E27FC236}">
                  <a16:creationId xmlns:a16="http://schemas.microsoft.com/office/drawing/2014/main" id="{814460F2-E255-6D25-5E5A-DD2AC55A2B64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2316" name="Text Box 24">
              <a:extLst>
                <a:ext uri="{FF2B5EF4-FFF2-40B4-BE49-F238E27FC236}">
                  <a16:creationId xmlns:a16="http://schemas.microsoft.com/office/drawing/2014/main" id="{29A3AFD1-50A2-9320-5880-D909D83F3C56}"/>
                </a:ext>
              </a:extLst>
            </p:cNvPr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2317" name="Text Box 25">
              <a:extLst>
                <a:ext uri="{FF2B5EF4-FFF2-40B4-BE49-F238E27FC236}">
                  <a16:creationId xmlns:a16="http://schemas.microsoft.com/office/drawing/2014/main" id="{9B9A1EA0-2FE8-01E1-3A05-7BACECDF71AC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2318" name="Text Box 26">
              <a:extLst>
                <a:ext uri="{FF2B5EF4-FFF2-40B4-BE49-F238E27FC236}">
                  <a16:creationId xmlns:a16="http://schemas.microsoft.com/office/drawing/2014/main" id="{626FB1C2-0F58-2EF9-775B-F821F5B50DF8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2319" name="AutoShape 29">
              <a:extLst>
                <a:ext uri="{FF2B5EF4-FFF2-40B4-BE49-F238E27FC236}">
                  <a16:creationId xmlns:a16="http://schemas.microsoft.com/office/drawing/2014/main" id="{C2528076-AE72-DC8A-61F3-2225DB8EE20B}"/>
                </a:ext>
              </a:extLst>
            </p:cNvPr>
            <p:cNvCxnSpPr>
              <a:cxnSpLocks noChangeShapeType="1"/>
              <a:endCxn id="12303" idx="2"/>
            </p:cNvCxnSpPr>
            <p:nvPr>
              <p:custDataLst>
                <p:tags r:id="rId24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20" name="AutoShape 30">
              <a:extLst>
                <a:ext uri="{FF2B5EF4-FFF2-40B4-BE49-F238E27FC236}">
                  <a16:creationId xmlns:a16="http://schemas.microsoft.com/office/drawing/2014/main" id="{F22126EF-F77C-84A8-0E10-011B3719F088}"/>
                </a:ext>
              </a:extLst>
            </p:cNvPr>
            <p:cNvCxnSpPr>
              <a:cxnSpLocks noChangeShapeType="1"/>
            </p:cNvCxnSpPr>
            <p:nvPr>
              <p:custDataLst>
                <p:tags r:id="rId25"/>
              </p:custDataLst>
            </p:nvPr>
          </p:nvCxnSpPr>
          <p:spPr bwMode="auto">
            <a:xfrm flipV="1">
              <a:off x="5406565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21" name="Text Box 25">
              <a:extLst>
                <a:ext uri="{FF2B5EF4-FFF2-40B4-BE49-F238E27FC236}">
                  <a16:creationId xmlns:a16="http://schemas.microsoft.com/office/drawing/2014/main" id="{0F41055D-32F7-1DB0-6F30-C401833166D1}"/>
                </a:ext>
              </a:extLst>
            </p:cNvPr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2322" name="Text Box 25">
              <a:extLst>
                <a:ext uri="{FF2B5EF4-FFF2-40B4-BE49-F238E27FC236}">
                  <a16:creationId xmlns:a16="http://schemas.microsoft.com/office/drawing/2014/main" id="{0CEA84E4-A262-C047-1B28-6B859D86BCBF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343074" y="1962090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864C98-B194-288B-1445-5AC208CA3EA8}"/>
              </a:ext>
            </a:extLst>
          </p:cNvPr>
          <p:cNvSpPr txBox="1"/>
          <p:nvPr/>
        </p:nvSpPr>
        <p:spPr>
          <a:xfrm>
            <a:off x="457199" y="4182179"/>
            <a:ext cx="74511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3050" marR="0" lvl="0" indent="-2730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727CA3"/>
              </a:buClr>
              <a:buSzPct val="76000"/>
              <a:buFont typeface="Wingdings 3" panose="05040102010807070707" pitchFamily="18" charset="2"/>
              <a:buChar char="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64653">
                    <a:lumMod val="75000"/>
                  </a:srgbClr>
                </a:solidFill>
                <a:effectLst/>
                <a:uLnTx/>
                <a:uFillTx/>
                <a:latin typeface="Gill Sans MT"/>
                <a:ea typeface="MS PGothic" panose="020B0600070205080204" pitchFamily="34" charset="-128"/>
              </a:rPr>
              <a:t>If  we don't fix one end of the queue at index 0, we won't have to shift elements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531C1B8-E174-B0E9-0835-EC0E3634D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177024"/>
            <a:ext cx="8914555" cy="877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Second Approach: Queue as a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Arial Unicode MS" pitchFamily="34" charset="-128"/>
                <a:ea typeface="+mj-ea"/>
                <a:cs typeface="+mj-cs"/>
              </a:rPr>
              <a:t>Circular Array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50606" y="139318"/>
            <a:ext cx="8305800" cy="838200"/>
          </a:xfrm>
        </p:spPr>
        <p:txBody>
          <a:bodyPr/>
          <a:lstStyle/>
          <a:p>
            <a:r>
              <a:rPr lang="en-US" sz="3200" dirty="0"/>
              <a:t>Conceptual Example of a Circular Queue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685800" y="381000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endParaRPr lang="en-US" sz="4000">
              <a:solidFill>
                <a:srgbClr val="00357F"/>
              </a:solidFill>
            </a:endParaRPr>
          </a:p>
        </p:txBody>
      </p:sp>
      <p:sp>
        <p:nvSpPr>
          <p:cNvPr id="60478" name="Text Box 62"/>
          <p:cNvSpPr txBox="1">
            <a:spLocks noChangeArrowheads="1"/>
          </p:cNvSpPr>
          <p:nvPr/>
        </p:nvSpPr>
        <p:spPr bwMode="auto">
          <a:xfrm>
            <a:off x="457200" y="1066800"/>
            <a:ext cx="1447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0"/>
              <a:t>front</a:t>
            </a:r>
          </a:p>
        </p:txBody>
      </p:sp>
      <p:grpSp>
        <p:nvGrpSpPr>
          <p:cNvPr id="2" name="Group 1" descr="An empty circular array with length 12:&#10;array = []&#10;front = 0&#10;rear = 1&#10;&#10;After 7 enqueue operations:&#10;array = spots 0 thru 6 are occupied&#10;front = 0&#10;rear = 7 (the spot just after the last element)&#10;&#10;After 5 dequeue operations:&#10;array = only spots 5 and 6 are occupied&#10;front = 5&#10;rear = 7&#10;&#10;After 8 more enqueue operations:&#10;array = spots 5 thru 12 followed by spots 0 and 1 are occupied, in that order. &#10;front = 5&#10;rear = 1">
            <a:extLst>
              <a:ext uri="{FF2B5EF4-FFF2-40B4-BE49-F238E27FC236}">
                <a16:creationId xmlns:a16="http://schemas.microsoft.com/office/drawing/2014/main" id="{F69031BB-AC5E-5E95-260B-2D10075033B1}"/>
              </a:ext>
            </a:extLst>
          </p:cNvPr>
          <p:cNvGrpSpPr/>
          <p:nvPr/>
        </p:nvGrpSpPr>
        <p:grpSpPr>
          <a:xfrm>
            <a:off x="685800" y="1295400"/>
            <a:ext cx="8305800" cy="5257800"/>
            <a:chOff x="685800" y="1295400"/>
            <a:chExt cx="8305800" cy="5257800"/>
          </a:xfrm>
        </p:grpSpPr>
        <p:sp>
          <p:nvSpPr>
            <p:cNvPr id="60420" name="Rectangle 4"/>
            <p:cNvSpPr>
              <a:spLocks noChangeArrowheads="1"/>
            </p:cNvSpPr>
            <p:nvPr/>
          </p:nvSpPr>
          <p:spPr bwMode="auto">
            <a:xfrm>
              <a:off x="2133600" y="167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1" name="Rectangle 5"/>
            <p:cNvSpPr>
              <a:spLocks noChangeArrowheads="1"/>
            </p:cNvSpPr>
            <p:nvPr/>
          </p:nvSpPr>
          <p:spPr bwMode="auto">
            <a:xfrm>
              <a:off x="2514600" y="1828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2" name="Rectangle 6"/>
            <p:cNvSpPr>
              <a:spLocks noChangeArrowheads="1"/>
            </p:cNvSpPr>
            <p:nvPr/>
          </p:nvSpPr>
          <p:spPr bwMode="auto">
            <a:xfrm>
              <a:off x="2895600" y="2057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3" name="Rectangle 7"/>
            <p:cNvSpPr>
              <a:spLocks noChangeArrowheads="1"/>
            </p:cNvSpPr>
            <p:nvPr/>
          </p:nvSpPr>
          <p:spPr bwMode="auto">
            <a:xfrm>
              <a:off x="3048000" y="243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4" name="Rectangle 8"/>
            <p:cNvSpPr>
              <a:spLocks noChangeArrowheads="1"/>
            </p:cNvSpPr>
            <p:nvPr/>
          </p:nvSpPr>
          <p:spPr bwMode="auto">
            <a:xfrm>
              <a:off x="2971800" y="2895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27432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23622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>
              <a:off x="19050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8" name="Rectangle 12"/>
            <p:cNvSpPr>
              <a:spLocks noChangeArrowheads="1"/>
            </p:cNvSpPr>
            <p:nvPr/>
          </p:nvSpPr>
          <p:spPr bwMode="auto">
            <a:xfrm>
              <a:off x="14478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29" name="Rectangle 13"/>
            <p:cNvSpPr>
              <a:spLocks noChangeArrowheads="1"/>
            </p:cNvSpPr>
            <p:nvPr/>
          </p:nvSpPr>
          <p:spPr bwMode="auto">
            <a:xfrm>
              <a:off x="12192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0" name="Rectangle 14"/>
            <p:cNvSpPr>
              <a:spLocks noChangeArrowheads="1"/>
            </p:cNvSpPr>
            <p:nvPr/>
          </p:nvSpPr>
          <p:spPr bwMode="auto">
            <a:xfrm>
              <a:off x="1143000" y="2590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1" name="Rectangle 15"/>
            <p:cNvSpPr>
              <a:spLocks noChangeArrowheads="1"/>
            </p:cNvSpPr>
            <p:nvPr/>
          </p:nvSpPr>
          <p:spPr bwMode="auto">
            <a:xfrm>
              <a:off x="1295400" y="1981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2" name="Rectangle 16"/>
            <p:cNvSpPr>
              <a:spLocks noChangeArrowheads="1"/>
            </p:cNvSpPr>
            <p:nvPr/>
          </p:nvSpPr>
          <p:spPr bwMode="auto">
            <a:xfrm>
              <a:off x="1676400" y="1676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33" name="Text Box 17"/>
            <p:cNvSpPr txBox="1">
              <a:spLocks noChangeArrowheads="1"/>
            </p:cNvSpPr>
            <p:nvPr/>
          </p:nvSpPr>
          <p:spPr bwMode="auto">
            <a:xfrm>
              <a:off x="1295400" y="1524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34" name="Text Box 18"/>
            <p:cNvSpPr txBox="1">
              <a:spLocks noChangeArrowheads="1"/>
            </p:cNvSpPr>
            <p:nvPr/>
          </p:nvSpPr>
          <p:spPr bwMode="auto">
            <a:xfrm>
              <a:off x="838200" y="1905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35" name="Text Box 19"/>
            <p:cNvSpPr txBox="1">
              <a:spLocks noChangeArrowheads="1"/>
            </p:cNvSpPr>
            <p:nvPr/>
          </p:nvSpPr>
          <p:spPr bwMode="auto">
            <a:xfrm>
              <a:off x="685800" y="2514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36" name="Text Box 20"/>
            <p:cNvSpPr txBox="1">
              <a:spLocks noChangeArrowheads="1"/>
            </p:cNvSpPr>
            <p:nvPr/>
          </p:nvSpPr>
          <p:spPr bwMode="auto">
            <a:xfrm>
              <a:off x="762000" y="2895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37" name="Text Box 21"/>
            <p:cNvSpPr txBox="1">
              <a:spLocks noChangeArrowheads="1"/>
            </p:cNvSpPr>
            <p:nvPr/>
          </p:nvSpPr>
          <p:spPr bwMode="auto">
            <a:xfrm>
              <a:off x="990600" y="3352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38" name="Line 22"/>
            <p:cNvSpPr>
              <a:spLocks noChangeShapeType="1"/>
            </p:cNvSpPr>
            <p:nvPr/>
          </p:nvSpPr>
          <p:spPr bwMode="auto">
            <a:xfrm>
              <a:off x="685800" y="2209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39" name="Rectangle 23"/>
            <p:cNvSpPr>
              <a:spLocks noChangeArrowheads="1"/>
            </p:cNvSpPr>
            <p:nvPr/>
          </p:nvSpPr>
          <p:spPr bwMode="auto">
            <a:xfrm>
              <a:off x="4267200" y="4343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0" name="Rectangle 24"/>
            <p:cNvSpPr>
              <a:spLocks noChangeArrowheads="1"/>
            </p:cNvSpPr>
            <p:nvPr/>
          </p:nvSpPr>
          <p:spPr bwMode="auto">
            <a:xfrm>
              <a:off x="4648200" y="4495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1" name="Rectangle 25"/>
            <p:cNvSpPr>
              <a:spLocks noChangeArrowheads="1"/>
            </p:cNvSpPr>
            <p:nvPr/>
          </p:nvSpPr>
          <p:spPr bwMode="auto">
            <a:xfrm>
              <a:off x="5029200" y="4724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2" name="Rectangle 26"/>
            <p:cNvSpPr>
              <a:spLocks noChangeArrowheads="1"/>
            </p:cNvSpPr>
            <p:nvPr/>
          </p:nvSpPr>
          <p:spPr bwMode="auto">
            <a:xfrm>
              <a:off x="5181600" y="5105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3" name="Rectangle 27"/>
            <p:cNvSpPr>
              <a:spLocks noChangeArrowheads="1"/>
            </p:cNvSpPr>
            <p:nvPr/>
          </p:nvSpPr>
          <p:spPr bwMode="auto">
            <a:xfrm>
              <a:off x="5105400" y="5562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4" name="Rectangle 28"/>
            <p:cNvSpPr>
              <a:spLocks noChangeArrowheads="1"/>
            </p:cNvSpPr>
            <p:nvPr/>
          </p:nvSpPr>
          <p:spPr bwMode="auto">
            <a:xfrm>
              <a:off x="4876800" y="6019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5" name="Rectangle 29"/>
            <p:cNvSpPr>
              <a:spLocks noChangeArrowheads="1"/>
            </p:cNvSpPr>
            <p:nvPr/>
          </p:nvSpPr>
          <p:spPr bwMode="auto">
            <a:xfrm>
              <a:off x="4495800" y="624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6" name="Rectangle 30"/>
            <p:cNvSpPr>
              <a:spLocks noChangeArrowheads="1"/>
            </p:cNvSpPr>
            <p:nvPr/>
          </p:nvSpPr>
          <p:spPr bwMode="auto">
            <a:xfrm>
              <a:off x="4038600" y="624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7" name="Rectangle 31"/>
            <p:cNvSpPr>
              <a:spLocks noChangeArrowheads="1"/>
            </p:cNvSpPr>
            <p:nvPr/>
          </p:nvSpPr>
          <p:spPr bwMode="auto">
            <a:xfrm>
              <a:off x="3581400" y="6019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8" name="Rectangle 32"/>
            <p:cNvSpPr>
              <a:spLocks noChangeArrowheads="1"/>
            </p:cNvSpPr>
            <p:nvPr/>
          </p:nvSpPr>
          <p:spPr bwMode="auto">
            <a:xfrm>
              <a:off x="3352800" y="5638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49" name="Rectangle 33"/>
            <p:cNvSpPr>
              <a:spLocks noChangeArrowheads="1"/>
            </p:cNvSpPr>
            <p:nvPr/>
          </p:nvSpPr>
          <p:spPr bwMode="auto">
            <a:xfrm>
              <a:off x="3276600" y="52578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0" name="Rectangle 34"/>
            <p:cNvSpPr>
              <a:spLocks noChangeArrowheads="1"/>
            </p:cNvSpPr>
            <p:nvPr/>
          </p:nvSpPr>
          <p:spPr bwMode="auto">
            <a:xfrm>
              <a:off x="3429000" y="46482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1" name="Rectangle 35"/>
            <p:cNvSpPr>
              <a:spLocks noChangeArrowheads="1"/>
            </p:cNvSpPr>
            <p:nvPr/>
          </p:nvSpPr>
          <p:spPr bwMode="auto">
            <a:xfrm>
              <a:off x="3810000" y="4343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2" name="Text Box 36"/>
            <p:cNvSpPr txBox="1">
              <a:spLocks noChangeArrowheads="1"/>
            </p:cNvSpPr>
            <p:nvPr/>
          </p:nvSpPr>
          <p:spPr bwMode="auto">
            <a:xfrm>
              <a:off x="3429000" y="4191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53" name="Text Box 37"/>
            <p:cNvSpPr txBox="1">
              <a:spLocks noChangeArrowheads="1"/>
            </p:cNvSpPr>
            <p:nvPr/>
          </p:nvSpPr>
          <p:spPr bwMode="auto">
            <a:xfrm>
              <a:off x="2971800" y="4572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54" name="Text Box 38"/>
            <p:cNvSpPr txBox="1">
              <a:spLocks noChangeArrowheads="1"/>
            </p:cNvSpPr>
            <p:nvPr/>
          </p:nvSpPr>
          <p:spPr bwMode="auto">
            <a:xfrm>
              <a:off x="2819400" y="5181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55" name="Text Box 39"/>
            <p:cNvSpPr txBox="1">
              <a:spLocks noChangeArrowheads="1"/>
            </p:cNvSpPr>
            <p:nvPr/>
          </p:nvSpPr>
          <p:spPr bwMode="auto">
            <a:xfrm>
              <a:off x="2895600" y="5562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56" name="Text Box 40"/>
            <p:cNvSpPr txBox="1">
              <a:spLocks noChangeArrowheads="1"/>
            </p:cNvSpPr>
            <p:nvPr/>
          </p:nvSpPr>
          <p:spPr bwMode="auto">
            <a:xfrm>
              <a:off x="3124200" y="6019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57" name="Line 41"/>
            <p:cNvSpPr>
              <a:spLocks noChangeShapeType="1"/>
            </p:cNvSpPr>
            <p:nvPr/>
          </p:nvSpPr>
          <p:spPr bwMode="auto">
            <a:xfrm>
              <a:off x="2819400" y="4876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58" name="Rectangle 42"/>
            <p:cNvSpPr>
              <a:spLocks noChangeArrowheads="1"/>
            </p:cNvSpPr>
            <p:nvPr/>
          </p:nvSpPr>
          <p:spPr bwMode="auto">
            <a:xfrm>
              <a:off x="6553200" y="1676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59" name="Rectangle 43"/>
            <p:cNvSpPr>
              <a:spLocks noChangeArrowheads="1"/>
            </p:cNvSpPr>
            <p:nvPr/>
          </p:nvSpPr>
          <p:spPr bwMode="auto">
            <a:xfrm>
              <a:off x="6934200" y="1828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0" name="Rectangle 44"/>
            <p:cNvSpPr>
              <a:spLocks noChangeArrowheads="1"/>
            </p:cNvSpPr>
            <p:nvPr/>
          </p:nvSpPr>
          <p:spPr bwMode="auto">
            <a:xfrm>
              <a:off x="7315200" y="2057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1" name="Rectangle 45"/>
            <p:cNvSpPr>
              <a:spLocks noChangeArrowheads="1"/>
            </p:cNvSpPr>
            <p:nvPr/>
          </p:nvSpPr>
          <p:spPr bwMode="auto">
            <a:xfrm>
              <a:off x="7467600" y="24384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2" name="Rectangle 46"/>
            <p:cNvSpPr>
              <a:spLocks noChangeArrowheads="1"/>
            </p:cNvSpPr>
            <p:nvPr/>
          </p:nvSpPr>
          <p:spPr bwMode="auto">
            <a:xfrm>
              <a:off x="7391400" y="2895600"/>
              <a:ext cx="304800" cy="3048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3" name="Rectangle 47"/>
            <p:cNvSpPr>
              <a:spLocks noChangeArrowheads="1"/>
            </p:cNvSpPr>
            <p:nvPr/>
          </p:nvSpPr>
          <p:spPr bwMode="auto">
            <a:xfrm>
              <a:off x="71628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4" name="Rectangle 48"/>
            <p:cNvSpPr>
              <a:spLocks noChangeArrowheads="1"/>
            </p:cNvSpPr>
            <p:nvPr/>
          </p:nvSpPr>
          <p:spPr bwMode="auto">
            <a:xfrm>
              <a:off x="67818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5" name="Rectangle 49"/>
            <p:cNvSpPr>
              <a:spLocks noChangeArrowheads="1"/>
            </p:cNvSpPr>
            <p:nvPr/>
          </p:nvSpPr>
          <p:spPr bwMode="auto">
            <a:xfrm>
              <a:off x="6324600" y="3581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6" name="Rectangle 50"/>
            <p:cNvSpPr>
              <a:spLocks noChangeArrowheads="1"/>
            </p:cNvSpPr>
            <p:nvPr/>
          </p:nvSpPr>
          <p:spPr bwMode="auto">
            <a:xfrm>
              <a:off x="5867400" y="3352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7" name="Rectangle 51"/>
            <p:cNvSpPr>
              <a:spLocks noChangeArrowheads="1"/>
            </p:cNvSpPr>
            <p:nvPr/>
          </p:nvSpPr>
          <p:spPr bwMode="auto">
            <a:xfrm>
              <a:off x="5638800" y="2971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8" name="Rectangle 52"/>
            <p:cNvSpPr>
              <a:spLocks noChangeArrowheads="1"/>
            </p:cNvSpPr>
            <p:nvPr/>
          </p:nvSpPr>
          <p:spPr bwMode="auto">
            <a:xfrm>
              <a:off x="5562600" y="25908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69" name="Rectangle 53"/>
            <p:cNvSpPr>
              <a:spLocks noChangeArrowheads="1"/>
            </p:cNvSpPr>
            <p:nvPr/>
          </p:nvSpPr>
          <p:spPr bwMode="auto">
            <a:xfrm>
              <a:off x="5715000" y="1981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70" name="Rectangle 54"/>
            <p:cNvSpPr>
              <a:spLocks noChangeArrowheads="1"/>
            </p:cNvSpPr>
            <p:nvPr/>
          </p:nvSpPr>
          <p:spPr bwMode="auto">
            <a:xfrm>
              <a:off x="6096000" y="16764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0471" name="Text Box 55"/>
            <p:cNvSpPr txBox="1">
              <a:spLocks noChangeArrowheads="1"/>
            </p:cNvSpPr>
            <p:nvPr/>
          </p:nvSpPr>
          <p:spPr bwMode="auto">
            <a:xfrm>
              <a:off x="5715000" y="1524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</a:t>
              </a:r>
            </a:p>
          </p:txBody>
        </p:sp>
        <p:sp>
          <p:nvSpPr>
            <p:cNvPr id="60472" name="Text Box 56"/>
            <p:cNvSpPr txBox="1">
              <a:spLocks noChangeArrowheads="1"/>
            </p:cNvSpPr>
            <p:nvPr/>
          </p:nvSpPr>
          <p:spPr bwMode="auto">
            <a:xfrm>
              <a:off x="5257800" y="1905000"/>
              <a:ext cx="381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0</a:t>
              </a:r>
            </a:p>
          </p:txBody>
        </p:sp>
        <p:sp>
          <p:nvSpPr>
            <p:cNvPr id="60473" name="Text Box 57"/>
            <p:cNvSpPr txBox="1">
              <a:spLocks noChangeArrowheads="1"/>
            </p:cNvSpPr>
            <p:nvPr/>
          </p:nvSpPr>
          <p:spPr bwMode="auto">
            <a:xfrm>
              <a:off x="5105400" y="2514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12</a:t>
              </a:r>
            </a:p>
          </p:txBody>
        </p:sp>
        <p:sp>
          <p:nvSpPr>
            <p:cNvPr id="60474" name="Text Box 58"/>
            <p:cNvSpPr txBox="1">
              <a:spLocks noChangeArrowheads="1"/>
            </p:cNvSpPr>
            <p:nvPr/>
          </p:nvSpPr>
          <p:spPr bwMode="auto">
            <a:xfrm>
              <a:off x="5181600" y="28956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11</a:t>
              </a:r>
            </a:p>
          </p:txBody>
        </p:sp>
        <p:sp>
          <p:nvSpPr>
            <p:cNvPr id="60475" name="Text Box 59"/>
            <p:cNvSpPr txBox="1">
              <a:spLocks noChangeArrowheads="1"/>
            </p:cNvSpPr>
            <p:nvPr/>
          </p:nvSpPr>
          <p:spPr bwMode="auto">
            <a:xfrm>
              <a:off x="5410200" y="3352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10</a:t>
              </a:r>
            </a:p>
          </p:txBody>
        </p:sp>
        <p:sp>
          <p:nvSpPr>
            <p:cNvPr id="60476" name="Line 60"/>
            <p:cNvSpPr>
              <a:spLocks noChangeShapeType="1"/>
            </p:cNvSpPr>
            <p:nvPr/>
          </p:nvSpPr>
          <p:spPr bwMode="auto">
            <a:xfrm>
              <a:off x="5105400" y="2209800"/>
              <a:ext cx="1295400" cy="3810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77" name="Text Box 61"/>
            <p:cNvSpPr txBox="1">
              <a:spLocks noChangeArrowheads="1"/>
            </p:cNvSpPr>
            <p:nvPr/>
          </p:nvSpPr>
          <p:spPr bwMode="auto">
            <a:xfrm>
              <a:off x="2895600" y="1600200"/>
              <a:ext cx="2209800" cy="3968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7 enqueues</a:t>
              </a:r>
            </a:p>
          </p:txBody>
        </p:sp>
        <p:sp>
          <p:nvSpPr>
            <p:cNvPr id="60479" name="Text Box 63"/>
            <p:cNvSpPr txBox="1">
              <a:spLocks noChangeArrowheads="1"/>
            </p:cNvSpPr>
            <p:nvPr/>
          </p:nvSpPr>
          <p:spPr bwMode="auto">
            <a:xfrm>
              <a:off x="3505200" y="3276600"/>
              <a:ext cx="1447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80" name="Line 64"/>
            <p:cNvSpPr>
              <a:spLocks noChangeShapeType="1"/>
            </p:cNvSpPr>
            <p:nvPr/>
          </p:nvSpPr>
          <p:spPr bwMode="auto">
            <a:xfrm>
              <a:off x="838200" y="1447800"/>
              <a:ext cx="457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1" name="Line 65"/>
            <p:cNvSpPr>
              <a:spLocks noChangeShapeType="1"/>
            </p:cNvSpPr>
            <p:nvPr/>
          </p:nvSpPr>
          <p:spPr bwMode="auto">
            <a:xfrm flipH="1" flipV="1">
              <a:off x="3124200" y="35052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2" name="Line 66"/>
            <p:cNvSpPr>
              <a:spLocks noChangeShapeType="1"/>
            </p:cNvSpPr>
            <p:nvPr/>
          </p:nvSpPr>
          <p:spPr bwMode="auto">
            <a:xfrm>
              <a:off x="3886200" y="2667000"/>
              <a:ext cx="1143000" cy="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3" name="Text Box 67"/>
            <p:cNvSpPr txBox="1">
              <a:spLocks noChangeArrowheads="1"/>
            </p:cNvSpPr>
            <p:nvPr/>
          </p:nvSpPr>
          <p:spPr bwMode="auto">
            <a:xfrm>
              <a:off x="7467600" y="1295400"/>
              <a:ext cx="1371600" cy="7016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5 dequeues</a:t>
              </a:r>
            </a:p>
          </p:txBody>
        </p:sp>
        <p:sp>
          <p:nvSpPr>
            <p:cNvPr id="60484" name="Text Box 68"/>
            <p:cNvSpPr txBox="1">
              <a:spLocks noChangeArrowheads="1"/>
            </p:cNvSpPr>
            <p:nvPr/>
          </p:nvSpPr>
          <p:spPr bwMode="auto">
            <a:xfrm>
              <a:off x="8229600" y="2362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0485" name="Text Box 69"/>
            <p:cNvSpPr txBox="1">
              <a:spLocks noChangeArrowheads="1"/>
            </p:cNvSpPr>
            <p:nvPr/>
          </p:nvSpPr>
          <p:spPr bwMode="auto">
            <a:xfrm>
              <a:off x="8153400" y="32004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86" name="Line 70"/>
            <p:cNvSpPr>
              <a:spLocks noChangeShapeType="1"/>
            </p:cNvSpPr>
            <p:nvPr/>
          </p:nvSpPr>
          <p:spPr bwMode="auto">
            <a:xfrm flipH="1">
              <a:off x="7772400" y="25908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7" name="Line 71"/>
            <p:cNvSpPr>
              <a:spLocks noChangeShapeType="1"/>
            </p:cNvSpPr>
            <p:nvPr/>
          </p:nvSpPr>
          <p:spPr bwMode="auto">
            <a:xfrm flipH="1">
              <a:off x="7543800" y="3429000"/>
              <a:ext cx="6096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88" name="Text Box 72"/>
            <p:cNvSpPr txBox="1">
              <a:spLocks noChangeArrowheads="1"/>
            </p:cNvSpPr>
            <p:nvPr/>
          </p:nvSpPr>
          <p:spPr bwMode="auto">
            <a:xfrm>
              <a:off x="5562600" y="5715000"/>
              <a:ext cx="2819400" cy="396875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After 8 more enqueues</a:t>
              </a:r>
            </a:p>
          </p:txBody>
        </p:sp>
        <p:sp>
          <p:nvSpPr>
            <p:cNvPr id="60489" name="Text Box 73"/>
            <p:cNvSpPr txBox="1">
              <a:spLocks noChangeArrowheads="1"/>
            </p:cNvSpPr>
            <p:nvPr/>
          </p:nvSpPr>
          <p:spPr bwMode="auto">
            <a:xfrm>
              <a:off x="6019800" y="50292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0490" name="Line 74"/>
            <p:cNvSpPr>
              <a:spLocks noChangeShapeType="1"/>
            </p:cNvSpPr>
            <p:nvPr/>
          </p:nvSpPr>
          <p:spPr bwMode="auto">
            <a:xfrm flipH="1">
              <a:off x="5562600" y="5257800"/>
              <a:ext cx="4572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91" name="Text Box 75"/>
            <p:cNvSpPr txBox="1">
              <a:spLocks noChangeArrowheads="1"/>
            </p:cNvSpPr>
            <p:nvPr/>
          </p:nvSpPr>
          <p:spPr bwMode="auto">
            <a:xfrm>
              <a:off x="4876800" y="3886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0492" name="Line 76"/>
            <p:cNvSpPr>
              <a:spLocks noChangeShapeType="1"/>
            </p:cNvSpPr>
            <p:nvPr/>
          </p:nvSpPr>
          <p:spPr bwMode="auto">
            <a:xfrm flipH="1">
              <a:off x="4495800" y="4114800"/>
              <a:ext cx="381000" cy="152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0493" name="Line 77"/>
            <p:cNvSpPr>
              <a:spLocks noChangeShapeType="1"/>
            </p:cNvSpPr>
            <p:nvPr/>
          </p:nvSpPr>
          <p:spPr bwMode="auto">
            <a:xfrm flipH="1">
              <a:off x="5638800" y="4114800"/>
              <a:ext cx="1066800" cy="609600"/>
            </a:xfrm>
            <a:prstGeom prst="lin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4624"/>
            <a:ext cx="8991600" cy="1143000"/>
          </a:xfrm>
        </p:spPr>
        <p:txBody>
          <a:bodyPr/>
          <a:lstStyle/>
          <a:p>
            <a:r>
              <a:rPr lang="en-US" sz="3600" dirty="0"/>
              <a:t>Circular Array Implementation of a Queue</a:t>
            </a:r>
          </a:p>
        </p:txBody>
      </p:sp>
      <p:grpSp>
        <p:nvGrpSpPr>
          <p:cNvPr id="2" name="Group 1" descr="Depicts a circular array with spots numbered 0 thru n-1 and with spot n-1 next to spot 0. It stores five values, blue, red, cream, green, and yellow, at spots 3 thru 7.&#10;&#10;Variables:&#10;queue = the array&#10;front = 3&#10;rear = 8 (just after yellow element)&#10;count = 5">
            <a:extLst>
              <a:ext uri="{FF2B5EF4-FFF2-40B4-BE49-F238E27FC236}">
                <a16:creationId xmlns:a16="http://schemas.microsoft.com/office/drawing/2014/main" id="{713102C6-857E-0812-929C-482343CF97AC}"/>
              </a:ext>
            </a:extLst>
          </p:cNvPr>
          <p:cNvGrpSpPr/>
          <p:nvPr/>
        </p:nvGrpSpPr>
        <p:grpSpPr>
          <a:xfrm>
            <a:off x="179388" y="1295400"/>
            <a:ext cx="8431212" cy="4724400"/>
            <a:chOff x="179388" y="1295400"/>
            <a:chExt cx="8431212" cy="4724400"/>
          </a:xfrm>
        </p:grpSpPr>
        <p:sp>
          <p:nvSpPr>
            <p:cNvPr id="32771" name="Oval 3"/>
            <p:cNvSpPr>
              <a:spLocks noChangeArrowheads="1"/>
            </p:cNvSpPr>
            <p:nvPr/>
          </p:nvSpPr>
          <p:spPr bwMode="auto">
            <a:xfrm>
              <a:off x="3429000" y="1905000"/>
              <a:ext cx="4419600" cy="411480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2" name="Oval 4"/>
            <p:cNvSpPr>
              <a:spLocks noChangeArrowheads="1"/>
            </p:cNvSpPr>
            <p:nvPr/>
          </p:nvSpPr>
          <p:spPr bwMode="auto">
            <a:xfrm>
              <a:off x="4191000" y="2514600"/>
              <a:ext cx="2971800" cy="2819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774" name="Line 6"/>
            <p:cNvSpPr>
              <a:spLocks noChangeShapeType="1"/>
            </p:cNvSpPr>
            <p:nvPr/>
          </p:nvSpPr>
          <p:spPr bwMode="auto">
            <a:xfrm flipH="1">
              <a:off x="3429000" y="38862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6" name="Line 8"/>
            <p:cNvSpPr>
              <a:spLocks noChangeShapeType="1"/>
            </p:cNvSpPr>
            <p:nvPr/>
          </p:nvSpPr>
          <p:spPr bwMode="auto">
            <a:xfrm>
              <a:off x="7162800" y="38862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7" name="Line 9"/>
            <p:cNvSpPr>
              <a:spLocks noChangeShapeType="1"/>
            </p:cNvSpPr>
            <p:nvPr/>
          </p:nvSpPr>
          <p:spPr bwMode="auto">
            <a:xfrm>
              <a:off x="5638800" y="19050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78" name="Line 10"/>
            <p:cNvSpPr>
              <a:spLocks noChangeShapeType="1"/>
            </p:cNvSpPr>
            <p:nvPr/>
          </p:nvSpPr>
          <p:spPr bwMode="auto">
            <a:xfrm>
              <a:off x="5638800" y="53340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1" name="Line 13"/>
            <p:cNvSpPr>
              <a:spLocks noChangeShapeType="1"/>
            </p:cNvSpPr>
            <p:nvPr/>
          </p:nvSpPr>
          <p:spPr bwMode="auto">
            <a:xfrm>
              <a:off x="4191000" y="24384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2" name="Line 14"/>
            <p:cNvSpPr>
              <a:spLocks noChangeShapeType="1"/>
            </p:cNvSpPr>
            <p:nvPr/>
          </p:nvSpPr>
          <p:spPr bwMode="auto">
            <a:xfrm>
              <a:off x="6781800" y="4876800"/>
              <a:ext cx="5334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5" name="Line 17"/>
            <p:cNvSpPr>
              <a:spLocks noChangeShapeType="1"/>
            </p:cNvSpPr>
            <p:nvPr/>
          </p:nvSpPr>
          <p:spPr bwMode="auto">
            <a:xfrm flipH="1">
              <a:off x="4038600" y="4876800"/>
              <a:ext cx="5334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6" name="Line 18"/>
            <p:cNvSpPr>
              <a:spLocks noChangeShapeType="1"/>
            </p:cNvSpPr>
            <p:nvPr/>
          </p:nvSpPr>
          <p:spPr bwMode="auto">
            <a:xfrm flipH="1">
              <a:off x="6629400" y="23622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8" name="Line 20"/>
            <p:cNvSpPr>
              <a:spLocks noChangeShapeType="1"/>
            </p:cNvSpPr>
            <p:nvPr/>
          </p:nvSpPr>
          <p:spPr bwMode="auto">
            <a:xfrm>
              <a:off x="4876800" y="20574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89" name="Line 21"/>
            <p:cNvSpPr>
              <a:spLocks noChangeShapeType="1"/>
            </p:cNvSpPr>
            <p:nvPr/>
          </p:nvSpPr>
          <p:spPr bwMode="auto">
            <a:xfrm>
              <a:off x="6248400" y="52578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1" name="Line 23"/>
            <p:cNvSpPr>
              <a:spLocks noChangeShapeType="1"/>
            </p:cNvSpPr>
            <p:nvPr/>
          </p:nvSpPr>
          <p:spPr bwMode="auto">
            <a:xfrm>
              <a:off x="3657600" y="3124200"/>
              <a:ext cx="6858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2" name="Line 24"/>
            <p:cNvSpPr>
              <a:spLocks noChangeShapeType="1"/>
            </p:cNvSpPr>
            <p:nvPr/>
          </p:nvSpPr>
          <p:spPr bwMode="auto">
            <a:xfrm>
              <a:off x="7086600" y="44196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4" name="Line 26"/>
            <p:cNvSpPr>
              <a:spLocks noChangeShapeType="1"/>
            </p:cNvSpPr>
            <p:nvPr/>
          </p:nvSpPr>
          <p:spPr bwMode="auto">
            <a:xfrm flipH="1">
              <a:off x="6172200" y="2057400"/>
              <a:ext cx="2286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7" name="Line 29"/>
            <p:cNvSpPr>
              <a:spLocks noChangeShapeType="1"/>
            </p:cNvSpPr>
            <p:nvPr/>
          </p:nvSpPr>
          <p:spPr bwMode="auto">
            <a:xfrm flipH="1">
              <a:off x="7010400" y="3048000"/>
              <a:ext cx="609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8" name="Line 30"/>
            <p:cNvSpPr>
              <a:spLocks noChangeShapeType="1"/>
            </p:cNvSpPr>
            <p:nvPr/>
          </p:nvSpPr>
          <p:spPr bwMode="auto">
            <a:xfrm flipV="1">
              <a:off x="3581400" y="44196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799" name="Rectangle 31"/>
            <p:cNvSpPr>
              <a:spLocks noChangeArrowheads="1"/>
            </p:cNvSpPr>
            <p:nvPr/>
          </p:nvSpPr>
          <p:spPr bwMode="auto">
            <a:xfrm>
              <a:off x="1543050" y="33305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0" name="Text Box 32"/>
            <p:cNvSpPr txBox="1">
              <a:spLocks noChangeArrowheads="1"/>
            </p:cNvSpPr>
            <p:nvPr/>
          </p:nvSpPr>
          <p:spPr bwMode="auto">
            <a:xfrm>
              <a:off x="1390650" y="3787775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32801" name="Text Box 33"/>
            <p:cNvSpPr txBox="1">
              <a:spLocks noChangeArrowheads="1"/>
            </p:cNvSpPr>
            <p:nvPr/>
          </p:nvSpPr>
          <p:spPr bwMode="auto">
            <a:xfrm>
              <a:off x="1466850" y="2873375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32802" name="Rectangle 34"/>
            <p:cNvSpPr>
              <a:spLocks noChangeArrowheads="1"/>
            </p:cNvSpPr>
            <p:nvPr/>
          </p:nvSpPr>
          <p:spPr bwMode="auto">
            <a:xfrm>
              <a:off x="1547813" y="2420938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3" name="Rectangle 35"/>
            <p:cNvSpPr>
              <a:spLocks noChangeArrowheads="1"/>
            </p:cNvSpPr>
            <p:nvPr/>
          </p:nvSpPr>
          <p:spPr bwMode="auto">
            <a:xfrm>
              <a:off x="1258888" y="2286000"/>
              <a:ext cx="1865312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5" name="Rectangle 37"/>
            <p:cNvSpPr>
              <a:spLocks noChangeArrowheads="1"/>
            </p:cNvSpPr>
            <p:nvPr/>
          </p:nvSpPr>
          <p:spPr bwMode="auto">
            <a:xfrm>
              <a:off x="2362200" y="3352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6" name="Text Box 38"/>
            <p:cNvSpPr txBox="1">
              <a:spLocks noChangeArrowheads="1"/>
            </p:cNvSpPr>
            <p:nvPr/>
          </p:nvSpPr>
          <p:spPr bwMode="auto">
            <a:xfrm>
              <a:off x="2438400" y="3429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2807" name="Text Box 39"/>
            <p:cNvSpPr txBox="1">
              <a:spLocks noChangeArrowheads="1"/>
            </p:cNvSpPr>
            <p:nvPr/>
          </p:nvSpPr>
          <p:spPr bwMode="auto">
            <a:xfrm>
              <a:off x="2209800" y="28956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32808" name="Rectangle 40"/>
            <p:cNvSpPr>
              <a:spLocks noChangeArrowheads="1"/>
            </p:cNvSpPr>
            <p:nvPr/>
          </p:nvSpPr>
          <p:spPr bwMode="auto">
            <a:xfrm>
              <a:off x="2362200" y="2438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09" name="Text Box 41"/>
            <p:cNvSpPr txBox="1">
              <a:spLocks noChangeArrowheads="1"/>
            </p:cNvSpPr>
            <p:nvPr/>
          </p:nvSpPr>
          <p:spPr bwMode="auto">
            <a:xfrm>
              <a:off x="2209800" y="3810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32810" name="Text Box 42"/>
            <p:cNvSpPr txBox="1">
              <a:spLocks noChangeArrowheads="1"/>
            </p:cNvSpPr>
            <p:nvPr/>
          </p:nvSpPr>
          <p:spPr bwMode="auto">
            <a:xfrm>
              <a:off x="1619250" y="3406775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32811" name="Line 43"/>
            <p:cNvSpPr>
              <a:spLocks noChangeShapeType="1"/>
            </p:cNvSpPr>
            <p:nvPr/>
          </p:nvSpPr>
          <p:spPr bwMode="auto">
            <a:xfrm>
              <a:off x="2590800" y="2667000"/>
              <a:ext cx="12192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12" name="Text Box 44"/>
            <p:cNvSpPr txBox="1">
              <a:spLocks noChangeArrowheads="1"/>
            </p:cNvSpPr>
            <p:nvPr/>
          </p:nvSpPr>
          <p:spPr bwMode="auto">
            <a:xfrm>
              <a:off x="1619250" y="2492375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2827" name="Text Box 59"/>
            <p:cNvSpPr txBox="1">
              <a:spLocks noChangeArrowheads="1"/>
            </p:cNvSpPr>
            <p:nvPr/>
          </p:nvSpPr>
          <p:spPr bwMode="auto">
            <a:xfrm>
              <a:off x="4495800" y="3048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32828" name="Text Box 60"/>
            <p:cNvSpPr txBox="1">
              <a:spLocks noChangeArrowheads="1"/>
            </p:cNvSpPr>
            <p:nvPr/>
          </p:nvSpPr>
          <p:spPr bwMode="auto">
            <a:xfrm>
              <a:off x="4800600" y="2743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32829" name="Text Box 61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32830" name="Text Box 62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32831" name="Text Box 63"/>
            <p:cNvSpPr txBox="1">
              <a:spLocks noChangeArrowheads="1"/>
            </p:cNvSpPr>
            <p:nvPr/>
          </p:nvSpPr>
          <p:spPr bwMode="auto">
            <a:xfrm>
              <a:off x="6096000" y="2667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32832" name="Text Box 64"/>
            <p:cNvSpPr txBox="1">
              <a:spLocks noChangeArrowheads="1"/>
            </p:cNvSpPr>
            <p:nvPr/>
          </p:nvSpPr>
          <p:spPr bwMode="auto">
            <a:xfrm>
              <a:off x="6477000" y="2971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32833" name="Text Box 65"/>
            <p:cNvSpPr txBox="1">
              <a:spLocks noChangeArrowheads="1"/>
            </p:cNvSpPr>
            <p:nvPr/>
          </p:nvSpPr>
          <p:spPr bwMode="auto">
            <a:xfrm>
              <a:off x="6781800" y="3429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32834" name="Text Box 66"/>
            <p:cNvSpPr txBox="1">
              <a:spLocks noChangeArrowheads="1"/>
            </p:cNvSpPr>
            <p:nvPr/>
          </p:nvSpPr>
          <p:spPr bwMode="auto">
            <a:xfrm>
              <a:off x="6781800" y="3886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32835" name="Text Box 67"/>
            <p:cNvSpPr txBox="1">
              <a:spLocks noChangeArrowheads="1"/>
            </p:cNvSpPr>
            <p:nvPr/>
          </p:nvSpPr>
          <p:spPr bwMode="auto">
            <a:xfrm>
              <a:off x="6553200" y="4343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32836" name="Text Box 68"/>
            <p:cNvSpPr txBox="1">
              <a:spLocks noChangeArrowheads="1"/>
            </p:cNvSpPr>
            <p:nvPr/>
          </p:nvSpPr>
          <p:spPr bwMode="auto">
            <a:xfrm>
              <a:off x="6248400" y="4648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32837" name="Text Box 69"/>
            <p:cNvSpPr txBox="1">
              <a:spLocks noChangeArrowheads="1"/>
            </p:cNvSpPr>
            <p:nvPr/>
          </p:nvSpPr>
          <p:spPr bwMode="auto">
            <a:xfrm>
              <a:off x="5715000" y="48006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32838" name="Text Box 70"/>
            <p:cNvSpPr txBox="1">
              <a:spLocks noChangeArrowheads="1"/>
            </p:cNvSpPr>
            <p:nvPr/>
          </p:nvSpPr>
          <p:spPr bwMode="auto">
            <a:xfrm>
              <a:off x="4267200" y="3505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n-1</a:t>
              </a:r>
            </a:p>
          </p:txBody>
        </p:sp>
        <p:sp>
          <p:nvSpPr>
            <p:cNvPr id="32839" name="Text Box 71"/>
            <p:cNvSpPr txBox="1">
              <a:spLocks noChangeArrowheads="1"/>
            </p:cNvSpPr>
            <p:nvPr/>
          </p:nvSpPr>
          <p:spPr bwMode="auto">
            <a:xfrm>
              <a:off x="4267200" y="38862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n-2</a:t>
              </a:r>
            </a:p>
          </p:txBody>
        </p:sp>
        <p:sp>
          <p:nvSpPr>
            <p:cNvPr id="32840" name="Text Box 72"/>
            <p:cNvSpPr txBox="1">
              <a:spLocks noChangeArrowheads="1"/>
            </p:cNvSpPr>
            <p:nvPr/>
          </p:nvSpPr>
          <p:spPr bwMode="auto">
            <a:xfrm>
              <a:off x="4495800" y="43434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n-3</a:t>
              </a:r>
            </a:p>
          </p:txBody>
        </p:sp>
        <p:sp>
          <p:nvSpPr>
            <p:cNvPr id="32841" name="Text Box 73"/>
            <p:cNvSpPr txBox="1">
              <a:spLocks noChangeArrowheads="1"/>
            </p:cNvSpPr>
            <p:nvPr/>
          </p:nvSpPr>
          <p:spPr bwMode="auto">
            <a:xfrm>
              <a:off x="4495800" y="46482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2" name="Text Box 74"/>
            <p:cNvSpPr txBox="1">
              <a:spLocks noChangeArrowheads="1"/>
            </p:cNvSpPr>
            <p:nvPr/>
          </p:nvSpPr>
          <p:spPr bwMode="auto">
            <a:xfrm>
              <a:off x="5105400" y="48768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3" name="Text Box 75"/>
            <p:cNvSpPr txBox="1">
              <a:spLocks noChangeArrowheads="1"/>
            </p:cNvSpPr>
            <p:nvPr/>
          </p:nvSpPr>
          <p:spPr bwMode="auto">
            <a:xfrm>
              <a:off x="4800600" y="48006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32844" name="Rectangle 76"/>
            <p:cNvSpPr>
              <a:spLocks noChangeArrowheads="1"/>
            </p:cNvSpPr>
            <p:nvPr/>
          </p:nvSpPr>
          <p:spPr bwMode="auto">
            <a:xfrm>
              <a:off x="5867400" y="1295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5" name="Rectangle 77"/>
            <p:cNvSpPr>
              <a:spLocks noChangeArrowheads="1"/>
            </p:cNvSpPr>
            <p:nvPr/>
          </p:nvSpPr>
          <p:spPr bwMode="auto">
            <a:xfrm>
              <a:off x="6858000" y="15240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6" name="Rectangle 78"/>
            <p:cNvSpPr>
              <a:spLocks noChangeArrowheads="1"/>
            </p:cNvSpPr>
            <p:nvPr/>
          </p:nvSpPr>
          <p:spPr bwMode="auto">
            <a:xfrm>
              <a:off x="7696200" y="21336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7" name="Rectangle 79"/>
            <p:cNvSpPr>
              <a:spLocks noChangeArrowheads="1"/>
            </p:cNvSpPr>
            <p:nvPr/>
          </p:nvSpPr>
          <p:spPr bwMode="auto">
            <a:xfrm>
              <a:off x="8153400" y="32004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48" name="Line 80"/>
            <p:cNvSpPr>
              <a:spLocks noChangeShapeType="1"/>
            </p:cNvSpPr>
            <p:nvPr/>
          </p:nvSpPr>
          <p:spPr bwMode="auto">
            <a:xfrm flipV="1">
              <a:off x="5943600" y="1752600"/>
              <a:ext cx="1524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49" name="Line 81"/>
            <p:cNvSpPr>
              <a:spLocks noChangeShapeType="1"/>
            </p:cNvSpPr>
            <p:nvPr/>
          </p:nvSpPr>
          <p:spPr bwMode="auto">
            <a:xfrm flipV="1">
              <a:off x="6629400" y="1981200"/>
              <a:ext cx="3810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0" name="Line 82"/>
            <p:cNvSpPr>
              <a:spLocks noChangeShapeType="1"/>
            </p:cNvSpPr>
            <p:nvPr/>
          </p:nvSpPr>
          <p:spPr bwMode="auto">
            <a:xfrm flipV="1">
              <a:off x="7086600" y="2438400"/>
              <a:ext cx="609600" cy="457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1" name="Line 83"/>
            <p:cNvSpPr>
              <a:spLocks noChangeShapeType="1"/>
            </p:cNvSpPr>
            <p:nvPr/>
          </p:nvSpPr>
          <p:spPr bwMode="auto">
            <a:xfrm flipV="1">
              <a:off x="7543800" y="3429000"/>
              <a:ext cx="609600" cy="76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3" name="Rectangle 85"/>
            <p:cNvSpPr>
              <a:spLocks noChangeArrowheads="1"/>
            </p:cNvSpPr>
            <p:nvPr/>
          </p:nvSpPr>
          <p:spPr bwMode="auto">
            <a:xfrm>
              <a:off x="8077200" y="4114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54" name="Line 86"/>
            <p:cNvSpPr>
              <a:spLocks noChangeShapeType="1"/>
            </p:cNvSpPr>
            <p:nvPr/>
          </p:nvSpPr>
          <p:spPr bwMode="auto">
            <a:xfrm>
              <a:off x="7467600" y="4191000"/>
              <a:ext cx="609600" cy="76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32855" name="Text Box 87"/>
            <p:cNvSpPr txBox="1">
              <a:spLocks noChangeArrowheads="1"/>
            </p:cNvSpPr>
            <p:nvPr/>
          </p:nvSpPr>
          <p:spPr bwMode="auto">
            <a:xfrm>
              <a:off x="179388" y="3068638"/>
              <a:ext cx="674687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32856" name="Rectangle 88"/>
            <p:cNvSpPr>
              <a:spLocks noChangeArrowheads="1"/>
            </p:cNvSpPr>
            <p:nvPr/>
          </p:nvSpPr>
          <p:spPr bwMode="auto">
            <a:xfrm>
              <a:off x="611188" y="3068638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32857" name="Line 89"/>
            <p:cNvSpPr>
              <a:spLocks noChangeShapeType="1"/>
            </p:cNvSpPr>
            <p:nvPr/>
          </p:nvSpPr>
          <p:spPr bwMode="auto">
            <a:xfrm>
              <a:off x="809625" y="3284538"/>
              <a:ext cx="4572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Queue Straddling the End of a Circular Array</a:t>
            </a:r>
          </a:p>
        </p:txBody>
      </p:sp>
      <p:grpSp>
        <p:nvGrpSpPr>
          <p:cNvPr id="2" name="Group 1" descr="Depicts a circular array with spots numbered 0 thru 99 and with spot 99 next to spot 0. It stores four values, red, blue, green, and cream, at spots 98 thru 1.&#10;&#10;Variables:&#10;queue = the array&#10;front = 98&#10;rear = 2 (just after cream element)&#10;count = 4">
            <a:extLst>
              <a:ext uri="{FF2B5EF4-FFF2-40B4-BE49-F238E27FC236}">
                <a16:creationId xmlns:a16="http://schemas.microsoft.com/office/drawing/2014/main" id="{BAFDB36E-6397-26BB-EBB6-CDC6E5C43134}"/>
              </a:ext>
            </a:extLst>
          </p:cNvPr>
          <p:cNvGrpSpPr/>
          <p:nvPr/>
        </p:nvGrpSpPr>
        <p:grpSpPr>
          <a:xfrm>
            <a:off x="250825" y="1665312"/>
            <a:ext cx="8175625" cy="4572000"/>
            <a:chOff x="250825" y="1422400"/>
            <a:chExt cx="8175625" cy="4572000"/>
          </a:xfrm>
        </p:grpSpPr>
        <p:sp>
          <p:nvSpPr>
            <p:cNvPr id="62467" name="Oval 3"/>
            <p:cNvSpPr>
              <a:spLocks noChangeArrowheads="1"/>
            </p:cNvSpPr>
            <p:nvPr/>
          </p:nvSpPr>
          <p:spPr bwMode="auto">
            <a:xfrm>
              <a:off x="4006850" y="1879600"/>
              <a:ext cx="4419600" cy="4114800"/>
            </a:xfrm>
            <a:prstGeom prst="ellipse">
              <a:avLst/>
            </a:prstGeom>
            <a:solidFill>
              <a:schemeClr val="bg2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68" name="Oval 4"/>
            <p:cNvSpPr>
              <a:spLocks noChangeArrowheads="1"/>
            </p:cNvSpPr>
            <p:nvPr/>
          </p:nvSpPr>
          <p:spPr bwMode="auto">
            <a:xfrm>
              <a:off x="4768850" y="2489200"/>
              <a:ext cx="2971800" cy="2819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69" name="Line 5"/>
            <p:cNvSpPr>
              <a:spLocks noChangeShapeType="1"/>
            </p:cNvSpPr>
            <p:nvPr/>
          </p:nvSpPr>
          <p:spPr bwMode="auto">
            <a:xfrm flipH="1">
              <a:off x="4006850" y="38608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0" name="Line 6"/>
            <p:cNvSpPr>
              <a:spLocks noChangeShapeType="1"/>
            </p:cNvSpPr>
            <p:nvPr/>
          </p:nvSpPr>
          <p:spPr bwMode="auto">
            <a:xfrm>
              <a:off x="7740650" y="3860800"/>
              <a:ext cx="685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1" name="Line 7"/>
            <p:cNvSpPr>
              <a:spLocks noChangeShapeType="1"/>
            </p:cNvSpPr>
            <p:nvPr/>
          </p:nvSpPr>
          <p:spPr bwMode="auto">
            <a:xfrm>
              <a:off x="6216650" y="1879600"/>
              <a:ext cx="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2" name="Line 8"/>
            <p:cNvSpPr>
              <a:spLocks noChangeShapeType="1"/>
            </p:cNvSpPr>
            <p:nvPr/>
          </p:nvSpPr>
          <p:spPr bwMode="auto">
            <a:xfrm>
              <a:off x="6216650" y="5308600"/>
              <a:ext cx="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3" name="Line 9"/>
            <p:cNvSpPr>
              <a:spLocks noChangeShapeType="1"/>
            </p:cNvSpPr>
            <p:nvPr/>
          </p:nvSpPr>
          <p:spPr bwMode="auto">
            <a:xfrm>
              <a:off x="4768850" y="24130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4" name="Line 10"/>
            <p:cNvSpPr>
              <a:spLocks noChangeShapeType="1"/>
            </p:cNvSpPr>
            <p:nvPr/>
          </p:nvSpPr>
          <p:spPr bwMode="auto">
            <a:xfrm>
              <a:off x="7359650" y="4851400"/>
              <a:ext cx="5334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5" name="Line 11"/>
            <p:cNvSpPr>
              <a:spLocks noChangeShapeType="1"/>
            </p:cNvSpPr>
            <p:nvPr/>
          </p:nvSpPr>
          <p:spPr bwMode="auto">
            <a:xfrm flipH="1">
              <a:off x="4616450" y="4851400"/>
              <a:ext cx="5334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6" name="Line 12"/>
            <p:cNvSpPr>
              <a:spLocks noChangeShapeType="1"/>
            </p:cNvSpPr>
            <p:nvPr/>
          </p:nvSpPr>
          <p:spPr bwMode="auto">
            <a:xfrm flipH="1">
              <a:off x="7207250" y="2336800"/>
              <a:ext cx="4572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7" name="Line 13"/>
            <p:cNvSpPr>
              <a:spLocks noChangeShapeType="1"/>
            </p:cNvSpPr>
            <p:nvPr/>
          </p:nvSpPr>
          <p:spPr bwMode="auto">
            <a:xfrm>
              <a:off x="5454650" y="20320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8" name="Line 14"/>
            <p:cNvSpPr>
              <a:spLocks noChangeShapeType="1"/>
            </p:cNvSpPr>
            <p:nvPr/>
          </p:nvSpPr>
          <p:spPr bwMode="auto">
            <a:xfrm>
              <a:off x="6826250" y="5232400"/>
              <a:ext cx="2286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79" name="Line 15"/>
            <p:cNvSpPr>
              <a:spLocks noChangeShapeType="1"/>
            </p:cNvSpPr>
            <p:nvPr/>
          </p:nvSpPr>
          <p:spPr bwMode="auto">
            <a:xfrm>
              <a:off x="4235450" y="3098800"/>
              <a:ext cx="6858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0" name="Line 16"/>
            <p:cNvSpPr>
              <a:spLocks noChangeShapeType="1"/>
            </p:cNvSpPr>
            <p:nvPr/>
          </p:nvSpPr>
          <p:spPr bwMode="auto">
            <a:xfrm>
              <a:off x="7664450" y="43942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1" name="Line 17"/>
            <p:cNvSpPr>
              <a:spLocks noChangeShapeType="1"/>
            </p:cNvSpPr>
            <p:nvPr/>
          </p:nvSpPr>
          <p:spPr bwMode="auto">
            <a:xfrm flipH="1">
              <a:off x="6750050" y="2032000"/>
              <a:ext cx="2286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2" name="Line 18"/>
            <p:cNvSpPr>
              <a:spLocks noChangeShapeType="1"/>
            </p:cNvSpPr>
            <p:nvPr/>
          </p:nvSpPr>
          <p:spPr bwMode="auto">
            <a:xfrm flipH="1">
              <a:off x="7588250" y="3022600"/>
              <a:ext cx="609600" cy="304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3" name="Line 19"/>
            <p:cNvSpPr>
              <a:spLocks noChangeShapeType="1"/>
            </p:cNvSpPr>
            <p:nvPr/>
          </p:nvSpPr>
          <p:spPr bwMode="auto">
            <a:xfrm flipV="1">
              <a:off x="4159250" y="4394200"/>
              <a:ext cx="6858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84" name="Rectangle 20"/>
            <p:cNvSpPr>
              <a:spLocks noChangeArrowheads="1"/>
            </p:cNvSpPr>
            <p:nvPr/>
          </p:nvSpPr>
          <p:spPr bwMode="auto">
            <a:xfrm>
              <a:off x="1693863" y="33321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85" name="Text Box 21"/>
            <p:cNvSpPr txBox="1">
              <a:spLocks noChangeArrowheads="1"/>
            </p:cNvSpPr>
            <p:nvPr/>
          </p:nvSpPr>
          <p:spPr bwMode="auto">
            <a:xfrm>
              <a:off x="1549400" y="3763963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2486" name="Text Box 22"/>
            <p:cNvSpPr txBox="1">
              <a:spLocks noChangeArrowheads="1"/>
            </p:cNvSpPr>
            <p:nvPr/>
          </p:nvSpPr>
          <p:spPr bwMode="auto">
            <a:xfrm>
              <a:off x="1549400" y="2898775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2487" name="Rectangle 23"/>
            <p:cNvSpPr>
              <a:spLocks noChangeArrowheads="1"/>
            </p:cNvSpPr>
            <p:nvPr/>
          </p:nvSpPr>
          <p:spPr bwMode="auto">
            <a:xfrm>
              <a:off x="1693863" y="2395538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88" name="Rectangle 24"/>
            <p:cNvSpPr>
              <a:spLocks noChangeArrowheads="1"/>
            </p:cNvSpPr>
            <p:nvPr/>
          </p:nvSpPr>
          <p:spPr bwMode="auto">
            <a:xfrm>
              <a:off x="1404938" y="2260600"/>
              <a:ext cx="1839912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0" name="Rectangle 26"/>
            <p:cNvSpPr>
              <a:spLocks noChangeArrowheads="1"/>
            </p:cNvSpPr>
            <p:nvPr/>
          </p:nvSpPr>
          <p:spPr bwMode="auto">
            <a:xfrm>
              <a:off x="2482850" y="33274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1" name="Text Box 27"/>
            <p:cNvSpPr txBox="1">
              <a:spLocks noChangeArrowheads="1"/>
            </p:cNvSpPr>
            <p:nvPr/>
          </p:nvSpPr>
          <p:spPr bwMode="auto">
            <a:xfrm>
              <a:off x="255905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2492" name="Text Box 28"/>
            <p:cNvSpPr txBox="1">
              <a:spLocks noChangeArrowheads="1"/>
            </p:cNvSpPr>
            <p:nvPr/>
          </p:nvSpPr>
          <p:spPr bwMode="auto">
            <a:xfrm>
              <a:off x="2330450" y="28702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2493" name="Rectangle 29"/>
            <p:cNvSpPr>
              <a:spLocks noChangeArrowheads="1"/>
            </p:cNvSpPr>
            <p:nvPr/>
          </p:nvSpPr>
          <p:spPr bwMode="auto">
            <a:xfrm>
              <a:off x="2482850" y="24130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494" name="Text Box 30"/>
            <p:cNvSpPr txBox="1">
              <a:spLocks noChangeArrowheads="1"/>
            </p:cNvSpPr>
            <p:nvPr/>
          </p:nvSpPr>
          <p:spPr bwMode="auto">
            <a:xfrm>
              <a:off x="2330450" y="37846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2495" name="Text Box 31"/>
            <p:cNvSpPr txBox="1">
              <a:spLocks noChangeArrowheads="1"/>
            </p:cNvSpPr>
            <p:nvPr/>
          </p:nvSpPr>
          <p:spPr bwMode="auto">
            <a:xfrm>
              <a:off x="176530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2496" name="Line 32"/>
            <p:cNvSpPr>
              <a:spLocks noChangeShapeType="1"/>
            </p:cNvSpPr>
            <p:nvPr/>
          </p:nvSpPr>
          <p:spPr bwMode="auto">
            <a:xfrm>
              <a:off x="2711450" y="2641600"/>
              <a:ext cx="1600200" cy="304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497" name="Text Box 33"/>
            <p:cNvSpPr txBox="1">
              <a:spLocks noChangeArrowheads="1"/>
            </p:cNvSpPr>
            <p:nvPr/>
          </p:nvSpPr>
          <p:spPr bwMode="auto">
            <a:xfrm>
              <a:off x="1693863" y="2466975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2498" name="Text Box 34"/>
            <p:cNvSpPr txBox="1">
              <a:spLocks noChangeArrowheads="1"/>
            </p:cNvSpPr>
            <p:nvPr/>
          </p:nvSpPr>
          <p:spPr bwMode="auto">
            <a:xfrm>
              <a:off x="5073650" y="3022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2499" name="Text Box 35"/>
            <p:cNvSpPr txBox="1">
              <a:spLocks noChangeArrowheads="1"/>
            </p:cNvSpPr>
            <p:nvPr/>
          </p:nvSpPr>
          <p:spPr bwMode="auto">
            <a:xfrm>
              <a:off x="5378450" y="271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2500" name="Text Box 36"/>
            <p:cNvSpPr txBox="1">
              <a:spLocks noChangeArrowheads="1"/>
            </p:cNvSpPr>
            <p:nvPr/>
          </p:nvSpPr>
          <p:spPr bwMode="auto">
            <a:xfrm>
              <a:off x="5759450" y="2565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2501" name="Text Box 37"/>
            <p:cNvSpPr txBox="1">
              <a:spLocks noChangeArrowheads="1"/>
            </p:cNvSpPr>
            <p:nvPr/>
          </p:nvSpPr>
          <p:spPr bwMode="auto">
            <a:xfrm>
              <a:off x="6216650" y="2565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2502" name="Text Box 38"/>
            <p:cNvSpPr txBox="1">
              <a:spLocks noChangeArrowheads="1"/>
            </p:cNvSpPr>
            <p:nvPr/>
          </p:nvSpPr>
          <p:spPr bwMode="auto">
            <a:xfrm>
              <a:off x="6673850" y="2641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2503" name="Text Box 39"/>
            <p:cNvSpPr txBox="1">
              <a:spLocks noChangeArrowheads="1"/>
            </p:cNvSpPr>
            <p:nvPr/>
          </p:nvSpPr>
          <p:spPr bwMode="auto">
            <a:xfrm>
              <a:off x="7054850" y="2946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62504" name="Text Box 40"/>
            <p:cNvSpPr txBox="1">
              <a:spLocks noChangeArrowheads="1"/>
            </p:cNvSpPr>
            <p:nvPr/>
          </p:nvSpPr>
          <p:spPr bwMode="auto">
            <a:xfrm>
              <a:off x="7359650" y="34036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2505" name="Text Box 41"/>
            <p:cNvSpPr txBox="1">
              <a:spLocks noChangeArrowheads="1"/>
            </p:cNvSpPr>
            <p:nvPr/>
          </p:nvSpPr>
          <p:spPr bwMode="auto">
            <a:xfrm>
              <a:off x="7359650" y="386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2506" name="Text Box 42"/>
            <p:cNvSpPr txBox="1">
              <a:spLocks noChangeArrowheads="1"/>
            </p:cNvSpPr>
            <p:nvPr/>
          </p:nvSpPr>
          <p:spPr bwMode="auto">
            <a:xfrm>
              <a:off x="7131050" y="43180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8</a:t>
              </a:r>
            </a:p>
          </p:txBody>
        </p:sp>
        <p:sp>
          <p:nvSpPr>
            <p:cNvPr id="62507" name="Text Box 43"/>
            <p:cNvSpPr txBox="1">
              <a:spLocks noChangeArrowheads="1"/>
            </p:cNvSpPr>
            <p:nvPr/>
          </p:nvSpPr>
          <p:spPr bwMode="auto">
            <a:xfrm>
              <a:off x="6826250" y="4622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</a:t>
              </a:r>
            </a:p>
          </p:txBody>
        </p:sp>
        <p:sp>
          <p:nvSpPr>
            <p:cNvPr id="62508" name="Text Box 44"/>
            <p:cNvSpPr txBox="1">
              <a:spLocks noChangeArrowheads="1"/>
            </p:cNvSpPr>
            <p:nvPr/>
          </p:nvSpPr>
          <p:spPr bwMode="auto">
            <a:xfrm>
              <a:off x="6292850" y="4775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10</a:t>
              </a:r>
            </a:p>
          </p:txBody>
        </p:sp>
        <p:sp>
          <p:nvSpPr>
            <p:cNvPr id="62509" name="Text Box 45"/>
            <p:cNvSpPr txBox="1">
              <a:spLocks noChangeArrowheads="1"/>
            </p:cNvSpPr>
            <p:nvPr/>
          </p:nvSpPr>
          <p:spPr bwMode="auto">
            <a:xfrm>
              <a:off x="4845050" y="3479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99</a:t>
              </a:r>
            </a:p>
          </p:txBody>
        </p:sp>
        <p:sp>
          <p:nvSpPr>
            <p:cNvPr id="62510" name="Text Box 46"/>
            <p:cNvSpPr txBox="1">
              <a:spLocks noChangeArrowheads="1"/>
            </p:cNvSpPr>
            <p:nvPr/>
          </p:nvSpPr>
          <p:spPr bwMode="auto">
            <a:xfrm>
              <a:off x="4845050" y="38608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2511" name="Text Box 47"/>
            <p:cNvSpPr txBox="1">
              <a:spLocks noChangeArrowheads="1"/>
            </p:cNvSpPr>
            <p:nvPr/>
          </p:nvSpPr>
          <p:spPr bwMode="auto">
            <a:xfrm>
              <a:off x="5073650" y="4318000"/>
              <a:ext cx="685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97</a:t>
              </a:r>
            </a:p>
          </p:txBody>
        </p:sp>
        <p:sp>
          <p:nvSpPr>
            <p:cNvPr id="62512" name="Text Box 48"/>
            <p:cNvSpPr txBox="1">
              <a:spLocks noChangeArrowheads="1"/>
            </p:cNvSpPr>
            <p:nvPr/>
          </p:nvSpPr>
          <p:spPr bwMode="auto">
            <a:xfrm>
              <a:off x="5073650" y="46228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3" name="Text Box 49"/>
            <p:cNvSpPr txBox="1">
              <a:spLocks noChangeArrowheads="1"/>
            </p:cNvSpPr>
            <p:nvPr/>
          </p:nvSpPr>
          <p:spPr bwMode="auto">
            <a:xfrm>
              <a:off x="5683250" y="48514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4" name="Text Box 50"/>
            <p:cNvSpPr txBox="1">
              <a:spLocks noChangeArrowheads="1"/>
            </p:cNvSpPr>
            <p:nvPr/>
          </p:nvSpPr>
          <p:spPr bwMode="auto">
            <a:xfrm>
              <a:off x="5378450" y="4775200"/>
              <a:ext cx="304800" cy="1006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6000" b="0">
                  <a:solidFill>
                    <a:schemeClr val="accent2"/>
                  </a:solidFill>
                  <a:latin typeface="Times" pitchFamily="18" charset="0"/>
                </a:rPr>
                <a:t>.</a:t>
              </a:r>
            </a:p>
          </p:txBody>
        </p:sp>
        <p:sp>
          <p:nvSpPr>
            <p:cNvPr id="62515" name="Rectangle 51"/>
            <p:cNvSpPr>
              <a:spLocks noChangeArrowheads="1"/>
            </p:cNvSpPr>
            <p:nvPr/>
          </p:nvSpPr>
          <p:spPr bwMode="auto">
            <a:xfrm>
              <a:off x="3397250" y="30988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6" name="Rectangle 52"/>
            <p:cNvSpPr>
              <a:spLocks noChangeArrowheads="1"/>
            </p:cNvSpPr>
            <p:nvPr/>
          </p:nvSpPr>
          <p:spPr bwMode="auto">
            <a:xfrm>
              <a:off x="3321050" y="4241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7" name="Rectangle 53"/>
            <p:cNvSpPr>
              <a:spLocks noChangeArrowheads="1"/>
            </p:cNvSpPr>
            <p:nvPr/>
          </p:nvSpPr>
          <p:spPr bwMode="auto">
            <a:xfrm>
              <a:off x="4692650" y="1422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18" name="Rectangle 54"/>
            <p:cNvSpPr>
              <a:spLocks noChangeArrowheads="1"/>
            </p:cNvSpPr>
            <p:nvPr/>
          </p:nvSpPr>
          <p:spPr bwMode="auto">
            <a:xfrm>
              <a:off x="3778250" y="20320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23" name="Line 59"/>
            <p:cNvSpPr>
              <a:spLocks noChangeShapeType="1"/>
            </p:cNvSpPr>
            <p:nvPr/>
          </p:nvSpPr>
          <p:spPr bwMode="auto">
            <a:xfrm flipH="1">
              <a:off x="3778250" y="4165600"/>
              <a:ext cx="685800" cy="3048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4" name="Line 60"/>
            <p:cNvSpPr>
              <a:spLocks noChangeShapeType="1"/>
            </p:cNvSpPr>
            <p:nvPr/>
          </p:nvSpPr>
          <p:spPr bwMode="auto">
            <a:xfrm flipH="1" flipV="1">
              <a:off x="3854450" y="3327400"/>
              <a:ext cx="533400" cy="152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5" name="Line 61"/>
            <p:cNvSpPr>
              <a:spLocks noChangeShapeType="1"/>
            </p:cNvSpPr>
            <p:nvPr/>
          </p:nvSpPr>
          <p:spPr bwMode="auto">
            <a:xfrm flipH="1" flipV="1">
              <a:off x="4235450" y="2336800"/>
              <a:ext cx="53340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6" name="Line 62"/>
            <p:cNvSpPr>
              <a:spLocks noChangeShapeType="1"/>
            </p:cNvSpPr>
            <p:nvPr/>
          </p:nvSpPr>
          <p:spPr bwMode="auto">
            <a:xfrm flipH="1" flipV="1">
              <a:off x="4921250" y="1879600"/>
              <a:ext cx="30480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2527" name="Text Box 63"/>
            <p:cNvSpPr txBox="1">
              <a:spLocks noChangeArrowheads="1"/>
            </p:cNvSpPr>
            <p:nvPr/>
          </p:nvSpPr>
          <p:spPr bwMode="auto">
            <a:xfrm>
              <a:off x="250825" y="3068638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2528" name="Rectangle 64"/>
            <p:cNvSpPr>
              <a:spLocks noChangeArrowheads="1"/>
            </p:cNvSpPr>
            <p:nvPr/>
          </p:nvSpPr>
          <p:spPr bwMode="auto">
            <a:xfrm>
              <a:off x="755650" y="3068638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2529" name="Line 65"/>
            <p:cNvSpPr>
              <a:spLocks noChangeShapeType="1"/>
            </p:cNvSpPr>
            <p:nvPr/>
          </p:nvSpPr>
          <p:spPr bwMode="auto">
            <a:xfrm>
              <a:off x="971550" y="3284538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Circular Queue Drawn Linearly</a:t>
            </a:r>
          </a:p>
        </p:txBody>
      </p:sp>
      <p:sp>
        <p:nvSpPr>
          <p:cNvPr id="63585" name="Text Box 97"/>
          <p:cNvSpPr txBox="1">
            <a:spLocks noChangeArrowheads="1"/>
          </p:cNvSpPr>
          <p:nvPr/>
        </p:nvSpPr>
        <p:spPr bwMode="auto">
          <a:xfrm>
            <a:off x="2663863" y="1505817"/>
            <a:ext cx="4116487" cy="46166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Queue from previous slide</a:t>
            </a:r>
          </a:p>
        </p:txBody>
      </p:sp>
      <p:grpSp>
        <p:nvGrpSpPr>
          <p:cNvPr id="2" name="Group 1" descr="This is the same circular queue as the previous slide, but drawn as a normal linear array.&#10;It still has spots numbered 0 thru 99 and with spot 99 next to spot 0. It stores four values, red, blue, green, and cream, at spots 98 thru 1.&#10;&#10;Variables:&#10;queue = the array&#10;front = 98&#10;rear = 2 (just after cream element)&#10;count = 4">
            <a:extLst>
              <a:ext uri="{FF2B5EF4-FFF2-40B4-BE49-F238E27FC236}">
                <a16:creationId xmlns:a16="http://schemas.microsoft.com/office/drawing/2014/main" id="{01798224-C831-16C8-22B7-97680C6A13C8}"/>
              </a:ext>
            </a:extLst>
          </p:cNvPr>
          <p:cNvGrpSpPr/>
          <p:nvPr/>
        </p:nvGrpSpPr>
        <p:grpSpPr>
          <a:xfrm>
            <a:off x="325636" y="2476723"/>
            <a:ext cx="8278812" cy="3184525"/>
            <a:chOff x="179388" y="1844675"/>
            <a:chExt cx="8278812" cy="3184525"/>
          </a:xfrm>
        </p:grpSpPr>
        <p:sp>
          <p:nvSpPr>
            <p:cNvPr id="63508" name="Rectangle 20"/>
            <p:cNvSpPr>
              <a:spLocks noChangeArrowheads="1"/>
            </p:cNvSpPr>
            <p:nvPr/>
          </p:nvSpPr>
          <p:spPr bwMode="auto">
            <a:xfrm>
              <a:off x="1403350" y="294005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09" name="Text Box 21"/>
            <p:cNvSpPr txBox="1">
              <a:spLocks noChangeArrowheads="1"/>
            </p:cNvSpPr>
            <p:nvPr/>
          </p:nvSpPr>
          <p:spPr bwMode="auto">
            <a:xfrm>
              <a:off x="1330325" y="337343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3510" name="Text Box 22"/>
            <p:cNvSpPr txBox="1">
              <a:spLocks noChangeArrowheads="1"/>
            </p:cNvSpPr>
            <p:nvPr/>
          </p:nvSpPr>
          <p:spPr bwMode="auto">
            <a:xfrm>
              <a:off x="1330325" y="243681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3511" name="Rectangle 23"/>
            <p:cNvSpPr>
              <a:spLocks noChangeArrowheads="1"/>
            </p:cNvSpPr>
            <p:nvPr/>
          </p:nvSpPr>
          <p:spPr bwMode="auto">
            <a:xfrm>
              <a:off x="1403350" y="200501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2" name="Rectangle 24"/>
            <p:cNvSpPr>
              <a:spLocks noChangeArrowheads="1"/>
            </p:cNvSpPr>
            <p:nvPr/>
          </p:nvSpPr>
          <p:spPr bwMode="auto">
            <a:xfrm>
              <a:off x="1258888" y="1844675"/>
              <a:ext cx="1695450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4" name="Rectangle 26"/>
            <p:cNvSpPr>
              <a:spLocks noChangeArrowheads="1"/>
            </p:cNvSpPr>
            <p:nvPr/>
          </p:nvSpPr>
          <p:spPr bwMode="auto">
            <a:xfrm>
              <a:off x="2192338" y="29114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5" name="Text Box 27"/>
            <p:cNvSpPr txBox="1">
              <a:spLocks noChangeArrowheads="1"/>
            </p:cNvSpPr>
            <p:nvPr/>
          </p:nvSpPr>
          <p:spPr bwMode="auto">
            <a:xfrm>
              <a:off x="2268538" y="2987675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3516" name="Text Box 28"/>
            <p:cNvSpPr txBox="1">
              <a:spLocks noChangeArrowheads="1"/>
            </p:cNvSpPr>
            <p:nvPr/>
          </p:nvSpPr>
          <p:spPr bwMode="auto">
            <a:xfrm>
              <a:off x="2039938" y="2454275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3517" name="Rectangle 29"/>
            <p:cNvSpPr>
              <a:spLocks noChangeArrowheads="1"/>
            </p:cNvSpPr>
            <p:nvPr/>
          </p:nvSpPr>
          <p:spPr bwMode="auto">
            <a:xfrm>
              <a:off x="2192338" y="19970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18" name="Text Box 30"/>
            <p:cNvSpPr txBox="1">
              <a:spLocks noChangeArrowheads="1"/>
            </p:cNvSpPr>
            <p:nvPr/>
          </p:nvSpPr>
          <p:spPr bwMode="auto">
            <a:xfrm>
              <a:off x="2039938" y="3368675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3519" name="Text Box 31"/>
            <p:cNvSpPr txBox="1">
              <a:spLocks noChangeArrowheads="1"/>
            </p:cNvSpPr>
            <p:nvPr/>
          </p:nvSpPr>
          <p:spPr bwMode="auto">
            <a:xfrm>
              <a:off x="1474788" y="3013075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3520" name="Line 32"/>
            <p:cNvSpPr>
              <a:spLocks noChangeShapeType="1"/>
            </p:cNvSpPr>
            <p:nvPr/>
          </p:nvSpPr>
          <p:spPr bwMode="auto">
            <a:xfrm>
              <a:off x="2484438" y="2205038"/>
              <a:ext cx="868362" cy="995362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21" name="Text Box 33"/>
            <p:cNvSpPr txBox="1">
              <a:spLocks noChangeArrowheads="1"/>
            </p:cNvSpPr>
            <p:nvPr/>
          </p:nvSpPr>
          <p:spPr bwMode="auto">
            <a:xfrm>
              <a:off x="1403350" y="207645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3552" name="Text Box 64"/>
            <p:cNvSpPr txBox="1">
              <a:spLocks noChangeArrowheads="1"/>
            </p:cNvSpPr>
            <p:nvPr/>
          </p:nvSpPr>
          <p:spPr bwMode="auto">
            <a:xfrm>
              <a:off x="3352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3553" name="Text Box 65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3554" name="Text Box 66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3555" name="Text Box 67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3556" name="Text Box 68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3560" name="Rectangle 72"/>
            <p:cNvSpPr>
              <a:spLocks noChangeArrowheads="1"/>
            </p:cNvSpPr>
            <p:nvPr/>
          </p:nvSpPr>
          <p:spPr bwMode="auto">
            <a:xfrm>
              <a:off x="3352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1" name="Rectangle 73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2" name="Rectangle 74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3" name="Rectangle 75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4" name="Rectangle 76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5" name="Rectangle 77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6" name="Rectangle 78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7" name="Rectangle 79"/>
            <p:cNvSpPr>
              <a:spLocks noChangeArrowheads="1"/>
            </p:cNvSpPr>
            <p:nvPr/>
          </p:nvSpPr>
          <p:spPr bwMode="auto">
            <a:xfrm>
              <a:off x="7467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8" name="Rectangle 80"/>
            <p:cNvSpPr>
              <a:spLocks noChangeArrowheads="1"/>
            </p:cNvSpPr>
            <p:nvPr/>
          </p:nvSpPr>
          <p:spPr bwMode="auto">
            <a:xfrm>
              <a:off x="7924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69" name="Line 81"/>
            <p:cNvSpPr>
              <a:spLocks noChangeShapeType="1"/>
            </p:cNvSpPr>
            <p:nvPr/>
          </p:nvSpPr>
          <p:spPr bwMode="auto">
            <a:xfrm>
              <a:off x="5638800" y="29718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70" name="Line 82"/>
            <p:cNvSpPr>
              <a:spLocks noChangeShapeType="1"/>
            </p:cNvSpPr>
            <p:nvPr/>
          </p:nvSpPr>
          <p:spPr bwMode="auto">
            <a:xfrm>
              <a:off x="5638800" y="3429000"/>
              <a:ext cx="914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71" name="Text Box 83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96</a:t>
              </a:r>
            </a:p>
          </p:txBody>
        </p:sp>
        <p:sp>
          <p:nvSpPr>
            <p:cNvPr id="63572" name="Text Box 84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97</a:t>
              </a:r>
            </a:p>
          </p:txBody>
        </p:sp>
        <p:sp>
          <p:nvSpPr>
            <p:cNvPr id="63573" name="Text Box 85"/>
            <p:cNvSpPr txBox="1">
              <a:spLocks noChangeArrowheads="1"/>
            </p:cNvSpPr>
            <p:nvPr/>
          </p:nvSpPr>
          <p:spPr bwMode="auto">
            <a:xfrm>
              <a:off x="74676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chemeClr val="accent2"/>
                  </a:solidFill>
                </a:rPr>
                <a:t>98</a:t>
              </a:r>
            </a:p>
          </p:txBody>
        </p:sp>
        <p:sp>
          <p:nvSpPr>
            <p:cNvPr id="63574" name="Text Box 86"/>
            <p:cNvSpPr txBox="1">
              <a:spLocks noChangeArrowheads="1"/>
            </p:cNvSpPr>
            <p:nvPr/>
          </p:nvSpPr>
          <p:spPr bwMode="auto">
            <a:xfrm>
              <a:off x="7924800" y="25908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99</a:t>
              </a:r>
            </a:p>
          </p:txBody>
        </p:sp>
        <p:sp>
          <p:nvSpPr>
            <p:cNvPr id="63575" name="Text Box 87"/>
            <p:cNvSpPr txBox="1">
              <a:spLocks noChangeArrowheads="1"/>
            </p:cNvSpPr>
            <p:nvPr/>
          </p:nvSpPr>
          <p:spPr bwMode="auto">
            <a:xfrm>
              <a:off x="5715000" y="2667000"/>
              <a:ext cx="838200" cy="701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 sz="4000" b="0">
                  <a:solidFill>
                    <a:schemeClr val="accent2"/>
                  </a:solidFill>
                </a:rPr>
                <a:t>…</a:t>
              </a:r>
            </a:p>
          </p:txBody>
        </p:sp>
        <p:sp>
          <p:nvSpPr>
            <p:cNvPr id="63576" name="Rectangle 88"/>
            <p:cNvSpPr>
              <a:spLocks noChangeArrowheads="1"/>
            </p:cNvSpPr>
            <p:nvPr/>
          </p:nvSpPr>
          <p:spPr bwMode="auto">
            <a:xfrm>
              <a:off x="74676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7" name="Rectangle 89"/>
            <p:cNvSpPr>
              <a:spLocks noChangeArrowheads="1"/>
            </p:cNvSpPr>
            <p:nvPr/>
          </p:nvSpPr>
          <p:spPr bwMode="auto">
            <a:xfrm>
              <a:off x="79248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8" name="Rectangle 90"/>
            <p:cNvSpPr>
              <a:spLocks noChangeArrowheads="1"/>
            </p:cNvSpPr>
            <p:nvPr/>
          </p:nvSpPr>
          <p:spPr bwMode="auto">
            <a:xfrm>
              <a:off x="33528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79" name="Rectangle 91"/>
            <p:cNvSpPr>
              <a:spLocks noChangeArrowheads="1"/>
            </p:cNvSpPr>
            <p:nvPr/>
          </p:nvSpPr>
          <p:spPr bwMode="auto">
            <a:xfrm>
              <a:off x="38100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81" name="Line 93"/>
            <p:cNvSpPr>
              <a:spLocks noChangeShapeType="1"/>
            </p:cNvSpPr>
            <p:nvPr/>
          </p:nvSpPr>
          <p:spPr bwMode="auto">
            <a:xfrm>
              <a:off x="35814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2" name="Line 94"/>
            <p:cNvSpPr>
              <a:spLocks noChangeShapeType="1"/>
            </p:cNvSpPr>
            <p:nvPr/>
          </p:nvSpPr>
          <p:spPr bwMode="auto">
            <a:xfrm>
              <a:off x="40386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3" name="Line 95"/>
            <p:cNvSpPr>
              <a:spLocks noChangeShapeType="1"/>
            </p:cNvSpPr>
            <p:nvPr/>
          </p:nvSpPr>
          <p:spPr bwMode="auto">
            <a:xfrm>
              <a:off x="81534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4" name="Line 96"/>
            <p:cNvSpPr>
              <a:spLocks noChangeShapeType="1"/>
            </p:cNvSpPr>
            <p:nvPr/>
          </p:nvSpPr>
          <p:spPr bwMode="auto">
            <a:xfrm>
              <a:off x="76962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3586" name="Text Box 98"/>
            <p:cNvSpPr txBox="1">
              <a:spLocks noChangeArrowheads="1"/>
            </p:cNvSpPr>
            <p:nvPr/>
          </p:nvSpPr>
          <p:spPr bwMode="auto">
            <a:xfrm>
              <a:off x="179388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3587" name="Rectangle 99"/>
            <p:cNvSpPr>
              <a:spLocks noChangeArrowheads="1"/>
            </p:cNvSpPr>
            <p:nvPr/>
          </p:nvSpPr>
          <p:spPr bwMode="auto">
            <a:xfrm>
              <a:off x="611188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3588" name="Line 100"/>
            <p:cNvSpPr>
              <a:spLocks noChangeShapeType="1"/>
            </p:cNvSpPr>
            <p:nvPr/>
          </p:nvSpPr>
          <p:spPr bwMode="auto">
            <a:xfrm>
              <a:off x="827088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Enquing</a:t>
            </a:r>
            <a:r>
              <a:rPr lang="en-US" b="1" dirty="0"/>
              <a:t> an item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4648200"/>
          </a:xfrm>
        </p:spPr>
        <p:txBody>
          <a:bodyPr/>
          <a:lstStyle/>
          <a:p>
            <a:r>
              <a:rPr lang="en-US" dirty="0"/>
              <a:t>Increment the value of </a:t>
            </a:r>
            <a:r>
              <a:rPr lang="en-US" b="1" dirty="0">
                <a:solidFill>
                  <a:schemeClr val="accent2"/>
                </a:solidFill>
              </a:rPr>
              <a:t>rear</a:t>
            </a:r>
            <a:r>
              <a:rPr lang="en-US" dirty="0"/>
              <a:t> </a:t>
            </a:r>
          </a:p>
          <a:p>
            <a:r>
              <a:rPr lang="en-US" dirty="0"/>
              <a:t>But it must take into account the need to loop back to index 0:</a:t>
            </a:r>
          </a:p>
          <a:p>
            <a:pPr algn="ctr">
              <a:spcBef>
                <a:spcPct val="70000"/>
              </a:spcBef>
              <a:spcAft>
                <a:spcPct val="70000"/>
              </a:spcAft>
              <a:buFontTx/>
              <a:buNone/>
            </a:pPr>
            <a:r>
              <a:rPr lang="en-US" b="1" dirty="0">
                <a:solidFill>
                  <a:schemeClr val="accent2"/>
                </a:solidFill>
              </a:rPr>
              <a:t>rear = (rear+1) % </a:t>
            </a:r>
            <a:r>
              <a:rPr lang="en-US" b="1" dirty="0" err="1">
                <a:solidFill>
                  <a:schemeClr val="accent2"/>
                </a:solidFill>
              </a:rPr>
              <a:t>queue.length</a:t>
            </a:r>
            <a:r>
              <a:rPr lang="en-US" b="1" dirty="0">
                <a:solidFill>
                  <a:schemeClr val="accent2"/>
                </a:solidFill>
              </a:rPr>
              <a:t>;</a:t>
            </a:r>
          </a:p>
          <a:p>
            <a:r>
              <a:rPr lang="en-US" dirty="0"/>
              <a:t>Can this array implementation also reach capacity? 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Example: array of length 4</a:t>
            </a:r>
            <a:br>
              <a:rPr lang="en-US" sz="3600"/>
            </a:br>
            <a:r>
              <a:rPr lang="en-US" sz="3600"/>
              <a:t>What  happens?</a:t>
            </a:r>
            <a:r>
              <a:rPr lang="en-US"/>
              <a:t> </a:t>
            </a:r>
          </a:p>
        </p:txBody>
      </p:sp>
      <p:sp>
        <p:nvSpPr>
          <p:cNvPr id="78917" name="Text Box 69"/>
          <p:cNvSpPr txBox="1">
            <a:spLocks noChangeArrowheads="1"/>
          </p:cNvSpPr>
          <p:nvPr/>
        </p:nvSpPr>
        <p:spPr bwMode="auto">
          <a:xfrm>
            <a:off x="5715000" y="2667000"/>
            <a:ext cx="3124200" cy="13112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Suppose we try to add one more item to a queue implemented by an array of length 4</a:t>
            </a:r>
          </a:p>
        </p:txBody>
      </p:sp>
      <p:grpSp>
        <p:nvGrpSpPr>
          <p:cNvPr id="3" name="Group 2" descr="A circular queue of length 4 with four elements at spots 2, 3, 0, and 1.&#10;array = [green, cream, red, blue]&#10;front = 2&#10;rear = 2&#10;count = 4">
            <a:extLst>
              <a:ext uri="{FF2B5EF4-FFF2-40B4-BE49-F238E27FC236}">
                <a16:creationId xmlns:a16="http://schemas.microsoft.com/office/drawing/2014/main" id="{E39C8128-E40D-1085-EFF7-9ADE197F5E67}"/>
              </a:ext>
            </a:extLst>
          </p:cNvPr>
          <p:cNvGrpSpPr/>
          <p:nvPr/>
        </p:nvGrpSpPr>
        <p:grpSpPr>
          <a:xfrm>
            <a:off x="0" y="4267200"/>
            <a:ext cx="5181600" cy="2438400"/>
            <a:chOff x="0" y="4267200"/>
            <a:chExt cx="5181600" cy="2438400"/>
          </a:xfrm>
        </p:grpSpPr>
        <p:sp>
          <p:nvSpPr>
            <p:cNvPr id="78880" name="Rectangle 32"/>
            <p:cNvSpPr>
              <a:spLocks noChangeArrowheads="1"/>
            </p:cNvSpPr>
            <p:nvPr/>
          </p:nvSpPr>
          <p:spPr bwMode="auto">
            <a:xfrm>
              <a:off x="1263650" y="55419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1" name="Text Box 33"/>
            <p:cNvSpPr txBox="1">
              <a:spLocks noChangeArrowheads="1"/>
            </p:cNvSpPr>
            <p:nvPr/>
          </p:nvSpPr>
          <p:spPr bwMode="auto">
            <a:xfrm>
              <a:off x="1187450" y="602138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8882" name="Text Box 34"/>
            <p:cNvSpPr txBox="1">
              <a:spLocks noChangeArrowheads="1"/>
            </p:cNvSpPr>
            <p:nvPr/>
          </p:nvSpPr>
          <p:spPr bwMode="auto">
            <a:xfrm>
              <a:off x="1187450" y="508476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8883" name="Rectangle 35"/>
            <p:cNvSpPr>
              <a:spLocks noChangeArrowheads="1"/>
            </p:cNvSpPr>
            <p:nvPr/>
          </p:nvSpPr>
          <p:spPr bwMode="auto">
            <a:xfrm>
              <a:off x="1263650" y="462756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4" name="Rectangle 36"/>
            <p:cNvSpPr>
              <a:spLocks noChangeArrowheads="1"/>
            </p:cNvSpPr>
            <p:nvPr/>
          </p:nvSpPr>
          <p:spPr bwMode="auto">
            <a:xfrm>
              <a:off x="1116013" y="44958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5" name="Rectangle 37"/>
            <p:cNvSpPr>
              <a:spLocks noChangeArrowheads="1"/>
            </p:cNvSpPr>
            <p:nvPr/>
          </p:nvSpPr>
          <p:spPr bwMode="auto">
            <a:xfrm>
              <a:off x="1981200" y="5562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6" name="Text Box 38"/>
            <p:cNvSpPr txBox="1">
              <a:spLocks noChangeArrowheads="1"/>
            </p:cNvSpPr>
            <p:nvPr/>
          </p:nvSpPr>
          <p:spPr bwMode="auto">
            <a:xfrm>
              <a:off x="2051050" y="5589588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8887" name="Text Box 39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8888" name="Rectangle 40"/>
            <p:cNvSpPr>
              <a:spLocks noChangeArrowheads="1"/>
            </p:cNvSpPr>
            <p:nvPr/>
          </p:nvSpPr>
          <p:spPr bwMode="auto">
            <a:xfrm>
              <a:off x="1981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89" name="Text Box 41"/>
            <p:cNvSpPr txBox="1">
              <a:spLocks noChangeArrowheads="1"/>
            </p:cNvSpPr>
            <p:nvPr/>
          </p:nvSpPr>
          <p:spPr bwMode="auto">
            <a:xfrm>
              <a:off x="1828800" y="60198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8890" name="Text Box 42"/>
            <p:cNvSpPr txBox="1">
              <a:spLocks noChangeArrowheads="1"/>
            </p:cNvSpPr>
            <p:nvPr/>
          </p:nvSpPr>
          <p:spPr bwMode="auto">
            <a:xfrm>
              <a:off x="1339850" y="5618163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1" name="Line 43"/>
            <p:cNvSpPr>
              <a:spLocks noChangeShapeType="1"/>
            </p:cNvSpPr>
            <p:nvPr/>
          </p:nvSpPr>
          <p:spPr bwMode="auto">
            <a:xfrm>
              <a:off x="2209800" y="48768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92" name="Text Box 44"/>
            <p:cNvSpPr txBox="1">
              <a:spLocks noChangeArrowheads="1"/>
            </p:cNvSpPr>
            <p:nvPr/>
          </p:nvSpPr>
          <p:spPr bwMode="auto">
            <a:xfrm>
              <a:off x="1331913" y="465296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3" name="Text Box 45"/>
            <p:cNvSpPr txBox="1">
              <a:spLocks noChangeArrowheads="1"/>
            </p:cNvSpPr>
            <p:nvPr/>
          </p:nvSpPr>
          <p:spPr bwMode="auto">
            <a:xfrm>
              <a:off x="3352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8894" name="Text Box 46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95" name="Text Box 47"/>
            <p:cNvSpPr txBox="1">
              <a:spLocks noChangeArrowheads="1"/>
            </p:cNvSpPr>
            <p:nvPr/>
          </p:nvSpPr>
          <p:spPr bwMode="auto">
            <a:xfrm>
              <a:off x="4267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96" name="Text Box 48"/>
            <p:cNvSpPr txBox="1">
              <a:spLocks noChangeArrowheads="1"/>
            </p:cNvSpPr>
            <p:nvPr/>
          </p:nvSpPr>
          <p:spPr bwMode="auto">
            <a:xfrm>
              <a:off x="3810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97" name="Rectangle 49"/>
            <p:cNvSpPr>
              <a:spLocks noChangeArrowheads="1"/>
            </p:cNvSpPr>
            <p:nvPr/>
          </p:nvSpPr>
          <p:spPr bwMode="auto">
            <a:xfrm>
              <a:off x="3352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98" name="Rectangle 50"/>
            <p:cNvSpPr>
              <a:spLocks noChangeArrowheads="1"/>
            </p:cNvSpPr>
            <p:nvPr/>
          </p:nvSpPr>
          <p:spPr bwMode="auto">
            <a:xfrm>
              <a:off x="38100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99" name="Rectangle 51"/>
            <p:cNvSpPr>
              <a:spLocks noChangeArrowheads="1"/>
            </p:cNvSpPr>
            <p:nvPr/>
          </p:nvSpPr>
          <p:spPr bwMode="auto">
            <a:xfrm>
              <a:off x="3352800" y="54102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0" name="Rectangle 52"/>
            <p:cNvSpPr>
              <a:spLocks noChangeArrowheads="1"/>
            </p:cNvSpPr>
            <p:nvPr/>
          </p:nvSpPr>
          <p:spPr bwMode="auto">
            <a:xfrm>
              <a:off x="3810000" y="6248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1" name="Line 53"/>
            <p:cNvSpPr>
              <a:spLocks noChangeShapeType="1"/>
            </p:cNvSpPr>
            <p:nvPr/>
          </p:nvSpPr>
          <p:spPr bwMode="auto">
            <a:xfrm>
              <a:off x="35814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2" name="Line 54"/>
            <p:cNvSpPr>
              <a:spLocks noChangeShapeType="1"/>
            </p:cNvSpPr>
            <p:nvPr/>
          </p:nvSpPr>
          <p:spPr bwMode="auto">
            <a:xfrm>
              <a:off x="40386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3" name="Rectangle 55"/>
            <p:cNvSpPr>
              <a:spLocks noChangeArrowheads="1"/>
            </p:cNvSpPr>
            <p:nvPr/>
          </p:nvSpPr>
          <p:spPr bwMode="auto">
            <a:xfrm>
              <a:off x="42672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4" name="Rectangle 56"/>
            <p:cNvSpPr>
              <a:spLocks noChangeArrowheads="1"/>
            </p:cNvSpPr>
            <p:nvPr/>
          </p:nvSpPr>
          <p:spPr bwMode="auto">
            <a:xfrm>
              <a:off x="47244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5" name="Rectangle 57"/>
            <p:cNvSpPr>
              <a:spLocks noChangeArrowheads="1"/>
            </p:cNvSpPr>
            <p:nvPr/>
          </p:nvSpPr>
          <p:spPr bwMode="auto">
            <a:xfrm>
              <a:off x="4267200" y="5410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6" name="Rectangle 58"/>
            <p:cNvSpPr>
              <a:spLocks noChangeArrowheads="1"/>
            </p:cNvSpPr>
            <p:nvPr/>
          </p:nvSpPr>
          <p:spPr bwMode="auto">
            <a:xfrm>
              <a:off x="4724400" y="6248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07" name="Line 59"/>
            <p:cNvSpPr>
              <a:spLocks noChangeShapeType="1"/>
            </p:cNvSpPr>
            <p:nvPr/>
          </p:nvSpPr>
          <p:spPr bwMode="auto">
            <a:xfrm>
              <a:off x="49530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08" name="Line 60"/>
            <p:cNvSpPr>
              <a:spLocks noChangeShapeType="1"/>
            </p:cNvSpPr>
            <p:nvPr/>
          </p:nvSpPr>
          <p:spPr bwMode="auto">
            <a:xfrm>
              <a:off x="44958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21" name="Text Box 73"/>
            <p:cNvSpPr txBox="1">
              <a:spLocks noChangeArrowheads="1"/>
            </p:cNvSpPr>
            <p:nvPr/>
          </p:nvSpPr>
          <p:spPr bwMode="auto">
            <a:xfrm>
              <a:off x="0" y="522922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8922" name="Rectangle 74"/>
            <p:cNvSpPr>
              <a:spLocks noChangeArrowheads="1"/>
            </p:cNvSpPr>
            <p:nvPr/>
          </p:nvSpPr>
          <p:spPr bwMode="auto">
            <a:xfrm>
              <a:off x="431800" y="522922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23" name="Line 75"/>
            <p:cNvSpPr>
              <a:spLocks noChangeShapeType="1"/>
            </p:cNvSpPr>
            <p:nvPr/>
          </p:nvSpPr>
          <p:spPr bwMode="auto">
            <a:xfrm>
              <a:off x="647700" y="544512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" name="Group 1" descr="A circular queue of length 4 with three elements at spots 2, 3, and 0.&#10;array = [green, null, red, blue]&#10;front = 2&#10;rear = 1&#10;count = 3">
            <a:extLst>
              <a:ext uri="{FF2B5EF4-FFF2-40B4-BE49-F238E27FC236}">
                <a16:creationId xmlns:a16="http://schemas.microsoft.com/office/drawing/2014/main" id="{473B7D4F-71A7-1A7A-1DF1-FAFF7EACF395}"/>
              </a:ext>
            </a:extLst>
          </p:cNvPr>
          <p:cNvGrpSpPr/>
          <p:nvPr/>
        </p:nvGrpSpPr>
        <p:grpSpPr>
          <a:xfrm>
            <a:off x="0" y="1447800"/>
            <a:ext cx="5181600" cy="2438400"/>
            <a:chOff x="0" y="1447800"/>
            <a:chExt cx="5181600" cy="2438400"/>
          </a:xfrm>
        </p:grpSpPr>
        <p:sp>
          <p:nvSpPr>
            <p:cNvPr id="78851" name="Rectangle 3"/>
            <p:cNvSpPr>
              <a:spLocks noChangeArrowheads="1"/>
            </p:cNvSpPr>
            <p:nvPr/>
          </p:nvSpPr>
          <p:spPr bwMode="auto">
            <a:xfrm>
              <a:off x="1268413" y="27559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2" name="Text Box 4"/>
            <p:cNvSpPr txBox="1">
              <a:spLocks noChangeArrowheads="1"/>
            </p:cNvSpPr>
            <p:nvPr/>
          </p:nvSpPr>
          <p:spPr bwMode="auto">
            <a:xfrm>
              <a:off x="1187450" y="32131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8853" name="Text Box 5"/>
            <p:cNvSpPr txBox="1">
              <a:spLocks noChangeArrowheads="1"/>
            </p:cNvSpPr>
            <p:nvPr/>
          </p:nvSpPr>
          <p:spPr bwMode="auto">
            <a:xfrm>
              <a:off x="1192213" y="22987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8854" name="Rectangle 6"/>
            <p:cNvSpPr>
              <a:spLocks noChangeArrowheads="1"/>
            </p:cNvSpPr>
            <p:nvPr/>
          </p:nvSpPr>
          <p:spPr bwMode="auto">
            <a:xfrm>
              <a:off x="1268413" y="1841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5" name="Rectangle 7"/>
            <p:cNvSpPr>
              <a:spLocks noChangeArrowheads="1"/>
            </p:cNvSpPr>
            <p:nvPr/>
          </p:nvSpPr>
          <p:spPr bwMode="auto">
            <a:xfrm>
              <a:off x="1116013" y="16764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6" name="Rectangle 8"/>
            <p:cNvSpPr>
              <a:spLocks noChangeArrowheads="1"/>
            </p:cNvSpPr>
            <p:nvPr/>
          </p:nvSpPr>
          <p:spPr bwMode="auto">
            <a:xfrm>
              <a:off x="1981200" y="2743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57" name="Text Box 9"/>
            <p:cNvSpPr txBox="1">
              <a:spLocks noChangeArrowheads="1"/>
            </p:cNvSpPr>
            <p:nvPr/>
          </p:nvSpPr>
          <p:spPr bwMode="auto">
            <a:xfrm>
              <a:off x="2057400" y="2819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58" name="Text Box 10"/>
            <p:cNvSpPr txBox="1">
              <a:spLocks noChangeArrowheads="1"/>
            </p:cNvSpPr>
            <p:nvPr/>
          </p:nvSpPr>
          <p:spPr bwMode="auto">
            <a:xfrm>
              <a:off x="1828800" y="2286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8859" name="Rectangle 11"/>
            <p:cNvSpPr>
              <a:spLocks noChangeArrowheads="1"/>
            </p:cNvSpPr>
            <p:nvPr/>
          </p:nvSpPr>
          <p:spPr bwMode="auto">
            <a:xfrm>
              <a:off x="1981200" y="1828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60" name="Text Box 12"/>
            <p:cNvSpPr txBox="1">
              <a:spLocks noChangeArrowheads="1"/>
            </p:cNvSpPr>
            <p:nvPr/>
          </p:nvSpPr>
          <p:spPr bwMode="auto">
            <a:xfrm>
              <a:off x="1828800" y="3200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8861" name="Text Box 13"/>
            <p:cNvSpPr txBox="1">
              <a:spLocks noChangeArrowheads="1"/>
            </p:cNvSpPr>
            <p:nvPr/>
          </p:nvSpPr>
          <p:spPr bwMode="auto">
            <a:xfrm>
              <a:off x="1344613" y="2832100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62" name="Line 14"/>
            <p:cNvSpPr>
              <a:spLocks noChangeShapeType="1"/>
            </p:cNvSpPr>
            <p:nvPr/>
          </p:nvSpPr>
          <p:spPr bwMode="auto">
            <a:xfrm>
              <a:off x="2209800" y="2057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63" name="Text Box 15"/>
            <p:cNvSpPr txBox="1">
              <a:spLocks noChangeArrowheads="1"/>
            </p:cNvSpPr>
            <p:nvPr/>
          </p:nvSpPr>
          <p:spPr bwMode="auto">
            <a:xfrm>
              <a:off x="1331913" y="191611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64" name="Text Box 16"/>
            <p:cNvSpPr txBox="1">
              <a:spLocks noChangeArrowheads="1"/>
            </p:cNvSpPr>
            <p:nvPr/>
          </p:nvSpPr>
          <p:spPr bwMode="auto">
            <a:xfrm>
              <a:off x="33528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8865" name="Text Box 17"/>
            <p:cNvSpPr txBox="1">
              <a:spLocks noChangeArrowheads="1"/>
            </p:cNvSpPr>
            <p:nvPr/>
          </p:nvSpPr>
          <p:spPr bwMode="auto">
            <a:xfrm>
              <a:off x="47244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8866" name="Text Box 18"/>
            <p:cNvSpPr txBox="1">
              <a:spLocks noChangeArrowheads="1"/>
            </p:cNvSpPr>
            <p:nvPr/>
          </p:nvSpPr>
          <p:spPr bwMode="auto">
            <a:xfrm>
              <a:off x="42672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8867" name="Text Box 19"/>
            <p:cNvSpPr txBox="1">
              <a:spLocks noChangeArrowheads="1"/>
            </p:cNvSpPr>
            <p:nvPr/>
          </p:nvSpPr>
          <p:spPr bwMode="auto">
            <a:xfrm>
              <a:off x="38100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8868" name="Rectangle 20"/>
            <p:cNvSpPr>
              <a:spLocks noChangeArrowheads="1"/>
            </p:cNvSpPr>
            <p:nvPr/>
          </p:nvSpPr>
          <p:spPr bwMode="auto">
            <a:xfrm>
              <a:off x="33528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69" name="Rectangle 21"/>
            <p:cNvSpPr>
              <a:spLocks noChangeArrowheads="1"/>
            </p:cNvSpPr>
            <p:nvPr/>
          </p:nvSpPr>
          <p:spPr bwMode="auto">
            <a:xfrm>
              <a:off x="3810000" y="1828800"/>
              <a:ext cx="457200" cy="457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en-US"/>
            </a:p>
          </p:txBody>
        </p:sp>
        <p:sp>
          <p:nvSpPr>
            <p:cNvPr id="78870" name="Rectangle 22"/>
            <p:cNvSpPr>
              <a:spLocks noChangeArrowheads="1"/>
            </p:cNvSpPr>
            <p:nvPr/>
          </p:nvSpPr>
          <p:spPr bwMode="auto">
            <a:xfrm>
              <a:off x="3352800" y="2590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2" name="Line 24"/>
            <p:cNvSpPr>
              <a:spLocks noChangeShapeType="1"/>
            </p:cNvSpPr>
            <p:nvPr/>
          </p:nvSpPr>
          <p:spPr bwMode="auto">
            <a:xfrm>
              <a:off x="35814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74" name="Rectangle 26"/>
            <p:cNvSpPr>
              <a:spLocks noChangeArrowheads="1"/>
            </p:cNvSpPr>
            <p:nvPr/>
          </p:nvSpPr>
          <p:spPr bwMode="auto">
            <a:xfrm>
              <a:off x="42672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5" name="Rectangle 27"/>
            <p:cNvSpPr>
              <a:spLocks noChangeArrowheads="1"/>
            </p:cNvSpPr>
            <p:nvPr/>
          </p:nvSpPr>
          <p:spPr bwMode="auto">
            <a:xfrm>
              <a:off x="47244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6" name="Rectangle 28"/>
            <p:cNvSpPr>
              <a:spLocks noChangeArrowheads="1"/>
            </p:cNvSpPr>
            <p:nvPr/>
          </p:nvSpPr>
          <p:spPr bwMode="auto">
            <a:xfrm>
              <a:off x="4267200" y="2590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7" name="Rectangle 29"/>
            <p:cNvSpPr>
              <a:spLocks noChangeArrowheads="1"/>
            </p:cNvSpPr>
            <p:nvPr/>
          </p:nvSpPr>
          <p:spPr bwMode="auto">
            <a:xfrm>
              <a:off x="4724400" y="3429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878" name="Line 30"/>
            <p:cNvSpPr>
              <a:spLocks noChangeShapeType="1"/>
            </p:cNvSpPr>
            <p:nvPr/>
          </p:nvSpPr>
          <p:spPr bwMode="auto">
            <a:xfrm>
              <a:off x="49530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879" name="Line 31"/>
            <p:cNvSpPr>
              <a:spLocks noChangeShapeType="1"/>
            </p:cNvSpPr>
            <p:nvPr/>
          </p:nvSpPr>
          <p:spPr bwMode="auto">
            <a:xfrm>
              <a:off x="44958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8924" name="Text Box 76"/>
            <p:cNvSpPr txBox="1">
              <a:spLocks noChangeArrowheads="1"/>
            </p:cNvSpPr>
            <p:nvPr/>
          </p:nvSpPr>
          <p:spPr bwMode="auto">
            <a:xfrm>
              <a:off x="0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8925" name="Rectangle 77"/>
            <p:cNvSpPr>
              <a:spLocks noChangeArrowheads="1"/>
            </p:cNvSpPr>
            <p:nvPr/>
          </p:nvSpPr>
          <p:spPr bwMode="auto">
            <a:xfrm>
              <a:off x="431800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8926" name="Line 78"/>
            <p:cNvSpPr>
              <a:spLocks noChangeShapeType="1"/>
            </p:cNvSpPr>
            <p:nvPr/>
          </p:nvSpPr>
          <p:spPr bwMode="auto">
            <a:xfrm>
              <a:off x="647700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sp>
        <p:nvSpPr>
          <p:cNvPr id="78927" name="Text Box 79"/>
          <p:cNvSpPr txBox="1">
            <a:spLocks noChangeArrowheads="1"/>
          </p:cNvSpPr>
          <p:nvPr/>
        </p:nvSpPr>
        <p:spPr bwMode="auto">
          <a:xfrm>
            <a:off x="5791200" y="4581525"/>
            <a:ext cx="3040063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The queue is now full. How can you tell?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4A8B6BB-5373-82CC-FD20-9879DF1B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Circular Array Queue</a:t>
            </a:r>
          </a:p>
        </p:txBody>
      </p:sp>
      <p:grpSp>
        <p:nvGrpSpPr>
          <p:cNvPr id="14340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6773084D-C62C-A26B-90F5-22BF2B1EF02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19200"/>
            <a:ext cx="7772400" cy="1238250"/>
            <a:chOff x="685800" y="1143000"/>
            <a:chExt cx="7772400" cy="123831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C77748-EFE7-06ED-3BAE-41233A58ACBC}"/>
                </a:ext>
              </a:extLst>
            </p:cNvPr>
            <p:cNvSpPr/>
            <p:nvPr/>
          </p:nvSpPr>
          <p:spPr bwMode="auto">
            <a:xfrm>
              <a:off x="685800" y="1143000"/>
              <a:ext cx="7772400" cy="12192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4" name="Rectangle 4">
              <a:extLst>
                <a:ext uri="{FF2B5EF4-FFF2-40B4-BE49-F238E27FC236}">
                  <a16:creationId xmlns:a16="http://schemas.microsoft.com/office/drawing/2014/main" id="{1DAD96CA-5D40-4DF4-4AB9-4E372588990A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5" name="Rectangle 5">
              <a:extLst>
                <a:ext uri="{FF2B5EF4-FFF2-40B4-BE49-F238E27FC236}">
                  <a16:creationId xmlns:a16="http://schemas.microsoft.com/office/drawing/2014/main" id="{50F11A99-049E-779D-B072-8FDECFCCFA8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6" name="Rectangle 6">
              <a:extLst>
                <a:ext uri="{FF2B5EF4-FFF2-40B4-BE49-F238E27FC236}">
                  <a16:creationId xmlns:a16="http://schemas.microsoft.com/office/drawing/2014/main" id="{7FA0F470-6E68-2415-DFDE-DE6072DA7FB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7" name="Rectangle 7">
              <a:extLst>
                <a:ext uri="{FF2B5EF4-FFF2-40B4-BE49-F238E27FC236}">
                  <a16:creationId xmlns:a16="http://schemas.microsoft.com/office/drawing/2014/main" id="{BE6DAD0C-D612-B958-23E7-A9F9DDAF114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8" name="Rectangle 8">
              <a:extLst>
                <a:ext uri="{FF2B5EF4-FFF2-40B4-BE49-F238E27FC236}">
                  <a16:creationId xmlns:a16="http://schemas.microsoft.com/office/drawing/2014/main" id="{A640D426-1617-1551-3A5D-7F003C48D89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9" name="Rectangle 9">
              <a:extLst>
                <a:ext uri="{FF2B5EF4-FFF2-40B4-BE49-F238E27FC236}">
                  <a16:creationId xmlns:a16="http://schemas.microsoft.com/office/drawing/2014/main" id="{12043133-0D08-2AA6-9B66-98F7551D9E4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0" name="Rectangle 10">
              <a:extLst>
                <a:ext uri="{FF2B5EF4-FFF2-40B4-BE49-F238E27FC236}">
                  <a16:creationId xmlns:a16="http://schemas.microsoft.com/office/drawing/2014/main" id="{BB8A6746-BB82-98EB-43B9-21EA380886D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1" name="Rectangle 11">
              <a:extLst>
                <a:ext uri="{FF2B5EF4-FFF2-40B4-BE49-F238E27FC236}">
                  <a16:creationId xmlns:a16="http://schemas.microsoft.com/office/drawing/2014/main" id="{7B3DDB77-24E8-2A74-A596-08DAE7685CD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4352" name="Rectangle 12">
              <a:extLst>
                <a:ext uri="{FF2B5EF4-FFF2-40B4-BE49-F238E27FC236}">
                  <a16:creationId xmlns:a16="http://schemas.microsoft.com/office/drawing/2014/main" id="{F3017DE2-F46F-C221-7516-FCF4DC2C9482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4353" name="Rectangle 13">
              <a:extLst>
                <a:ext uri="{FF2B5EF4-FFF2-40B4-BE49-F238E27FC236}">
                  <a16:creationId xmlns:a16="http://schemas.microsoft.com/office/drawing/2014/main" id="{FFDE52B6-18B9-33CA-F8BC-3E6CE50898E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354" name="Rectangle 14">
              <a:extLst>
                <a:ext uri="{FF2B5EF4-FFF2-40B4-BE49-F238E27FC236}">
                  <a16:creationId xmlns:a16="http://schemas.microsoft.com/office/drawing/2014/main" id="{6D4EACC6-3668-DB79-1472-9B1263340E1A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355" name="Rectangle 15">
              <a:extLst>
                <a:ext uri="{FF2B5EF4-FFF2-40B4-BE49-F238E27FC236}">
                  <a16:creationId xmlns:a16="http://schemas.microsoft.com/office/drawing/2014/main" id="{73BC65E0-B46B-A162-DA60-AA00B5F2EBB1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356" name="Rectangle 16">
              <a:extLst>
                <a:ext uri="{FF2B5EF4-FFF2-40B4-BE49-F238E27FC236}">
                  <a16:creationId xmlns:a16="http://schemas.microsoft.com/office/drawing/2014/main" id="{2D7A2C9F-62BF-99DB-42CD-10C24EEC1B0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7" name="Rectangle 17">
              <a:extLst>
                <a:ext uri="{FF2B5EF4-FFF2-40B4-BE49-F238E27FC236}">
                  <a16:creationId xmlns:a16="http://schemas.microsoft.com/office/drawing/2014/main" id="{4A249008-DA09-134A-6770-46CFD5462D51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8" name="Rectangle 18">
              <a:extLst>
                <a:ext uri="{FF2B5EF4-FFF2-40B4-BE49-F238E27FC236}">
                  <a16:creationId xmlns:a16="http://schemas.microsoft.com/office/drawing/2014/main" id="{1F292238-2033-1CCF-306A-534BC66C17BC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9" name="Rectangle 19">
              <a:extLst>
                <a:ext uri="{FF2B5EF4-FFF2-40B4-BE49-F238E27FC236}">
                  <a16:creationId xmlns:a16="http://schemas.microsoft.com/office/drawing/2014/main" id="{1F167C76-9FF4-B2BE-3914-FDACFB8E17D1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0" name="Rectangle 20">
              <a:extLst>
                <a:ext uri="{FF2B5EF4-FFF2-40B4-BE49-F238E27FC236}">
                  <a16:creationId xmlns:a16="http://schemas.microsoft.com/office/drawing/2014/main" id="{9C9C238D-D5D4-BCBB-8C82-27AB44B81F9F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1" name="Rectangle 21">
              <a:extLst>
                <a:ext uri="{FF2B5EF4-FFF2-40B4-BE49-F238E27FC236}">
                  <a16:creationId xmlns:a16="http://schemas.microsoft.com/office/drawing/2014/main" id="{F19EE75E-2CBA-6628-80DB-E8A89C356030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2" name="Rectangle 22">
              <a:extLst>
                <a:ext uri="{FF2B5EF4-FFF2-40B4-BE49-F238E27FC236}">
                  <a16:creationId xmlns:a16="http://schemas.microsoft.com/office/drawing/2014/main" id="{C45B2190-E4C6-38BF-D593-153BBE0DF3C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3" name="Rectangle 23">
              <a:extLst>
                <a:ext uri="{FF2B5EF4-FFF2-40B4-BE49-F238E27FC236}">
                  <a16:creationId xmlns:a16="http://schemas.microsoft.com/office/drawing/2014/main" id="{15649F39-DCED-1905-173C-C0B642770424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4" name="Text Box 24">
              <a:extLst>
                <a:ext uri="{FF2B5EF4-FFF2-40B4-BE49-F238E27FC236}">
                  <a16:creationId xmlns:a16="http://schemas.microsoft.com/office/drawing/2014/main" id="{DD7FD833-7F6C-2D1A-A45B-6915AFE9685F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4365" name="Text Box 25">
              <a:extLst>
                <a:ext uri="{FF2B5EF4-FFF2-40B4-BE49-F238E27FC236}">
                  <a16:creationId xmlns:a16="http://schemas.microsoft.com/office/drawing/2014/main" id="{90E3F12D-01B8-2E24-5C07-874886C7C9BF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4366" name="Text Box 26">
              <a:extLst>
                <a:ext uri="{FF2B5EF4-FFF2-40B4-BE49-F238E27FC236}">
                  <a16:creationId xmlns:a16="http://schemas.microsoft.com/office/drawing/2014/main" id="{5888D8BC-5081-838A-3E99-EE3B12AF29CD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4367" name="AutoShape 29">
              <a:extLst>
                <a:ext uri="{FF2B5EF4-FFF2-40B4-BE49-F238E27FC236}">
                  <a16:creationId xmlns:a16="http://schemas.microsoft.com/office/drawing/2014/main" id="{15242A6E-391E-4379-AA8D-AA7F98A943E0}"/>
                </a:ext>
              </a:extLst>
            </p:cNvPr>
            <p:cNvCxnSpPr>
              <a:cxnSpLocks noChangeShapeType="1"/>
              <a:endCxn id="14351" idx="2"/>
            </p:cNvCxnSpPr>
            <p:nvPr>
              <p:custDataLst>
                <p:tags r:id="rId25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8" name="AutoShape 30">
              <a:extLst>
                <a:ext uri="{FF2B5EF4-FFF2-40B4-BE49-F238E27FC236}">
                  <a16:creationId xmlns:a16="http://schemas.microsoft.com/office/drawing/2014/main" id="{10293622-38A1-F307-C719-5D45A35A0FD2}"/>
                </a:ext>
              </a:extLst>
            </p:cNvPr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V="1">
              <a:off x="5393606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9" name="Text Box 25">
              <a:extLst>
                <a:ext uri="{FF2B5EF4-FFF2-40B4-BE49-F238E27FC236}">
                  <a16:creationId xmlns:a16="http://schemas.microsoft.com/office/drawing/2014/main" id="{DD159466-E3FC-FA26-F939-47593CE131F0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4370" name="Text Box 25">
              <a:extLst>
                <a:ext uri="{FF2B5EF4-FFF2-40B4-BE49-F238E27FC236}">
                  <a16:creationId xmlns:a16="http://schemas.microsoft.com/office/drawing/2014/main" id="{11116C22-475E-1E2A-8B86-6C5BE0AFA586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15852" y="1977995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  <p:sp>
        <p:nvSpPr>
          <p:cNvPr id="66" name="Rectangle 3">
            <a:extLst>
              <a:ext uri="{FF2B5EF4-FFF2-40B4-BE49-F238E27FC236}">
                <a16:creationId xmlns:a16="http://schemas.microsoft.com/office/drawing/2014/main" id="{831927BC-066C-6A54-286E-D277666F3447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77644" y="3212975"/>
            <a:ext cx="7880555" cy="240046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 marL="37931725" indent="-37474525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73D54"/>
                </a:solidFill>
                <a:effectLst/>
                <a:uLnTx/>
                <a:uFillTx/>
                <a:latin typeface="Courier New" panose="02070309020205020404" pitchFamily="49" charset="0"/>
              </a:rPr>
              <a:t>enqueue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(x) {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Q[back] = x;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back = (back + 1) % size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algn="r">
              <a:lnSpc>
                <a:spcPct val="90000"/>
              </a:lnSpc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32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 another item!</a:t>
            </a:r>
            <a:br>
              <a:rPr lang="en-US"/>
            </a:br>
            <a:r>
              <a:rPr lang="en-US"/>
              <a:t>Need to expand capacity…</a:t>
            </a:r>
          </a:p>
        </p:txBody>
      </p:sp>
      <p:sp>
        <p:nvSpPr>
          <p:cNvPr id="69727" name="Text Box 95"/>
          <p:cNvSpPr txBox="1">
            <a:spLocks noChangeArrowheads="1"/>
          </p:cNvSpPr>
          <p:nvPr/>
        </p:nvSpPr>
        <p:spPr bwMode="auto">
          <a:xfrm>
            <a:off x="5868144" y="1772816"/>
            <a:ext cx="2819400" cy="2246769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We can’t just double the size of the array and copy values to the same positions as before: circular properties of the queue will be lost</a:t>
            </a:r>
          </a:p>
        </p:txBody>
      </p:sp>
      <p:grpSp>
        <p:nvGrpSpPr>
          <p:cNvPr id="3" name="Group 2" descr="A circular queue of length 8 with four elements at spots 2, 3, 0, and 1.&#10;array = [green, cream, red, blue, null, null, null, null]&#10;front = 2&#10;rear = 2&#10;The new spots 4, 5, 6, and 7 are in the middle of the circular queue, &#10;count = 4">
            <a:extLst>
              <a:ext uri="{FF2B5EF4-FFF2-40B4-BE49-F238E27FC236}">
                <a16:creationId xmlns:a16="http://schemas.microsoft.com/office/drawing/2014/main" id="{3F959520-EAEC-1009-8F09-7E965B0B79C0}"/>
              </a:ext>
            </a:extLst>
          </p:cNvPr>
          <p:cNvGrpSpPr/>
          <p:nvPr/>
        </p:nvGrpSpPr>
        <p:grpSpPr>
          <a:xfrm>
            <a:off x="0" y="4267200"/>
            <a:ext cx="8229600" cy="2438400"/>
            <a:chOff x="0" y="4267200"/>
            <a:chExt cx="8229600" cy="2438400"/>
          </a:xfrm>
        </p:grpSpPr>
        <p:sp>
          <p:nvSpPr>
            <p:cNvPr id="69685" name="Rectangle 53"/>
            <p:cNvSpPr>
              <a:spLocks noChangeArrowheads="1"/>
            </p:cNvSpPr>
            <p:nvPr/>
          </p:nvSpPr>
          <p:spPr bwMode="auto">
            <a:xfrm>
              <a:off x="1263650" y="55419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6" name="Text Box 54"/>
            <p:cNvSpPr txBox="1">
              <a:spLocks noChangeArrowheads="1"/>
            </p:cNvSpPr>
            <p:nvPr/>
          </p:nvSpPr>
          <p:spPr bwMode="auto">
            <a:xfrm>
              <a:off x="1187450" y="6021388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9687" name="Text Box 55"/>
            <p:cNvSpPr txBox="1">
              <a:spLocks noChangeArrowheads="1"/>
            </p:cNvSpPr>
            <p:nvPr/>
          </p:nvSpPr>
          <p:spPr bwMode="auto">
            <a:xfrm>
              <a:off x="1187450" y="5084763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9688" name="Rectangle 56"/>
            <p:cNvSpPr>
              <a:spLocks noChangeArrowheads="1"/>
            </p:cNvSpPr>
            <p:nvPr/>
          </p:nvSpPr>
          <p:spPr bwMode="auto">
            <a:xfrm>
              <a:off x="1263650" y="4627563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9" name="Rectangle 57"/>
            <p:cNvSpPr>
              <a:spLocks noChangeArrowheads="1"/>
            </p:cNvSpPr>
            <p:nvPr/>
          </p:nvSpPr>
          <p:spPr bwMode="auto">
            <a:xfrm>
              <a:off x="1116013" y="44958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1" name="Rectangle 59"/>
            <p:cNvSpPr>
              <a:spLocks noChangeArrowheads="1"/>
            </p:cNvSpPr>
            <p:nvPr/>
          </p:nvSpPr>
          <p:spPr bwMode="auto">
            <a:xfrm>
              <a:off x="1981200" y="55626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2" name="Text Box 60"/>
            <p:cNvSpPr txBox="1">
              <a:spLocks noChangeArrowheads="1"/>
            </p:cNvSpPr>
            <p:nvPr/>
          </p:nvSpPr>
          <p:spPr bwMode="auto">
            <a:xfrm>
              <a:off x="2051050" y="5589588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693" name="Text Box 61"/>
            <p:cNvSpPr txBox="1">
              <a:spLocks noChangeArrowheads="1"/>
            </p:cNvSpPr>
            <p:nvPr/>
          </p:nvSpPr>
          <p:spPr bwMode="auto">
            <a:xfrm>
              <a:off x="1828800" y="5105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9694" name="Rectangle 62"/>
            <p:cNvSpPr>
              <a:spLocks noChangeArrowheads="1"/>
            </p:cNvSpPr>
            <p:nvPr/>
          </p:nvSpPr>
          <p:spPr bwMode="auto">
            <a:xfrm>
              <a:off x="1981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95" name="Text Box 63"/>
            <p:cNvSpPr txBox="1">
              <a:spLocks noChangeArrowheads="1"/>
            </p:cNvSpPr>
            <p:nvPr/>
          </p:nvSpPr>
          <p:spPr bwMode="auto">
            <a:xfrm>
              <a:off x="1828800" y="60198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9696" name="Text Box 64"/>
            <p:cNvSpPr txBox="1">
              <a:spLocks noChangeArrowheads="1"/>
            </p:cNvSpPr>
            <p:nvPr/>
          </p:nvSpPr>
          <p:spPr bwMode="auto">
            <a:xfrm>
              <a:off x="1339850" y="5618163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97" name="Line 65"/>
            <p:cNvSpPr>
              <a:spLocks noChangeShapeType="1"/>
            </p:cNvSpPr>
            <p:nvPr/>
          </p:nvSpPr>
          <p:spPr bwMode="auto">
            <a:xfrm>
              <a:off x="2209800" y="48768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98" name="Text Box 66"/>
            <p:cNvSpPr txBox="1">
              <a:spLocks noChangeArrowheads="1"/>
            </p:cNvSpPr>
            <p:nvPr/>
          </p:nvSpPr>
          <p:spPr bwMode="auto">
            <a:xfrm>
              <a:off x="1331913" y="465296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99" name="Text Box 67"/>
            <p:cNvSpPr txBox="1">
              <a:spLocks noChangeArrowheads="1"/>
            </p:cNvSpPr>
            <p:nvPr/>
          </p:nvSpPr>
          <p:spPr bwMode="auto">
            <a:xfrm>
              <a:off x="3352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9700" name="Text Box 68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9701" name="Text Box 69"/>
            <p:cNvSpPr txBox="1">
              <a:spLocks noChangeArrowheads="1"/>
            </p:cNvSpPr>
            <p:nvPr/>
          </p:nvSpPr>
          <p:spPr bwMode="auto">
            <a:xfrm>
              <a:off x="4267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702" name="Text Box 70"/>
            <p:cNvSpPr txBox="1">
              <a:spLocks noChangeArrowheads="1"/>
            </p:cNvSpPr>
            <p:nvPr/>
          </p:nvSpPr>
          <p:spPr bwMode="auto">
            <a:xfrm>
              <a:off x="3810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703" name="Rectangle 71"/>
            <p:cNvSpPr>
              <a:spLocks noChangeArrowheads="1"/>
            </p:cNvSpPr>
            <p:nvPr/>
          </p:nvSpPr>
          <p:spPr bwMode="auto">
            <a:xfrm>
              <a:off x="33528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4" name="Rectangle 72"/>
            <p:cNvSpPr>
              <a:spLocks noChangeArrowheads="1"/>
            </p:cNvSpPr>
            <p:nvPr/>
          </p:nvSpPr>
          <p:spPr bwMode="auto">
            <a:xfrm>
              <a:off x="38100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5" name="Rectangle 73"/>
            <p:cNvSpPr>
              <a:spLocks noChangeArrowheads="1"/>
            </p:cNvSpPr>
            <p:nvPr/>
          </p:nvSpPr>
          <p:spPr bwMode="auto">
            <a:xfrm>
              <a:off x="3352800" y="54102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6" name="Rectangle 74"/>
            <p:cNvSpPr>
              <a:spLocks noChangeArrowheads="1"/>
            </p:cNvSpPr>
            <p:nvPr/>
          </p:nvSpPr>
          <p:spPr bwMode="auto">
            <a:xfrm>
              <a:off x="3810000" y="62484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07" name="Line 75"/>
            <p:cNvSpPr>
              <a:spLocks noChangeShapeType="1"/>
            </p:cNvSpPr>
            <p:nvPr/>
          </p:nvSpPr>
          <p:spPr bwMode="auto">
            <a:xfrm>
              <a:off x="35814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08" name="Line 76"/>
            <p:cNvSpPr>
              <a:spLocks noChangeShapeType="1"/>
            </p:cNvSpPr>
            <p:nvPr/>
          </p:nvSpPr>
          <p:spPr bwMode="auto">
            <a:xfrm>
              <a:off x="40386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09" name="Rectangle 77"/>
            <p:cNvSpPr>
              <a:spLocks noChangeArrowheads="1"/>
            </p:cNvSpPr>
            <p:nvPr/>
          </p:nvSpPr>
          <p:spPr bwMode="auto">
            <a:xfrm>
              <a:off x="42672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0" name="Rectangle 78"/>
            <p:cNvSpPr>
              <a:spLocks noChangeArrowheads="1"/>
            </p:cNvSpPr>
            <p:nvPr/>
          </p:nvSpPr>
          <p:spPr bwMode="auto">
            <a:xfrm>
              <a:off x="4724400" y="46482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1" name="Rectangle 79"/>
            <p:cNvSpPr>
              <a:spLocks noChangeArrowheads="1"/>
            </p:cNvSpPr>
            <p:nvPr/>
          </p:nvSpPr>
          <p:spPr bwMode="auto">
            <a:xfrm>
              <a:off x="4267200" y="54102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2" name="Rectangle 80"/>
            <p:cNvSpPr>
              <a:spLocks noChangeArrowheads="1"/>
            </p:cNvSpPr>
            <p:nvPr/>
          </p:nvSpPr>
          <p:spPr bwMode="auto">
            <a:xfrm>
              <a:off x="4724400" y="62484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3" name="Line 81"/>
            <p:cNvSpPr>
              <a:spLocks noChangeShapeType="1"/>
            </p:cNvSpPr>
            <p:nvPr/>
          </p:nvSpPr>
          <p:spPr bwMode="auto">
            <a:xfrm>
              <a:off x="4953000" y="48768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14" name="Line 82"/>
            <p:cNvSpPr>
              <a:spLocks noChangeShapeType="1"/>
            </p:cNvSpPr>
            <p:nvPr/>
          </p:nvSpPr>
          <p:spPr bwMode="auto">
            <a:xfrm>
              <a:off x="4495800" y="48768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15" name="Rectangle 83"/>
            <p:cNvSpPr>
              <a:spLocks noChangeArrowheads="1"/>
            </p:cNvSpPr>
            <p:nvPr/>
          </p:nvSpPr>
          <p:spPr bwMode="auto">
            <a:xfrm>
              <a:off x="51816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6" name="Rectangle 84"/>
            <p:cNvSpPr>
              <a:spLocks noChangeArrowheads="1"/>
            </p:cNvSpPr>
            <p:nvPr/>
          </p:nvSpPr>
          <p:spPr bwMode="auto">
            <a:xfrm>
              <a:off x="5638800" y="4648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7" name="Rectangle 85"/>
            <p:cNvSpPr>
              <a:spLocks noChangeArrowheads="1"/>
            </p:cNvSpPr>
            <p:nvPr/>
          </p:nvSpPr>
          <p:spPr bwMode="auto">
            <a:xfrm>
              <a:off x="60960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18" name="Rectangle 86"/>
            <p:cNvSpPr>
              <a:spLocks noChangeArrowheads="1"/>
            </p:cNvSpPr>
            <p:nvPr/>
          </p:nvSpPr>
          <p:spPr bwMode="auto">
            <a:xfrm>
              <a:off x="6553200" y="4648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23" name="Text Box 91"/>
            <p:cNvSpPr txBox="1">
              <a:spLocks noChangeArrowheads="1"/>
            </p:cNvSpPr>
            <p:nvPr/>
          </p:nvSpPr>
          <p:spPr bwMode="auto">
            <a:xfrm>
              <a:off x="51816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724" name="Text Box 92"/>
            <p:cNvSpPr txBox="1">
              <a:spLocks noChangeArrowheads="1"/>
            </p:cNvSpPr>
            <p:nvPr/>
          </p:nvSpPr>
          <p:spPr bwMode="auto">
            <a:xfrm>
              <a:off x="65532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69725" name="Text Box 93"/>
            <p:cNvSpPr txBox="1">
              <a:spLocks noChangeArrowheads="1"/>
            </p:cNvSpPr>
            <p:nvPr/>
          </p:nvSpPr>
          <p:spPr bwMode="auto">
            <a:xfrm>
              <a:off x="60960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69726" name="Text Box 94"/>
            <p:cNvSpPr txBox="1">
              <a:spLocks noChangeArrowheads="1"/>
            </p:cNvSpPr>
            <p:nvPr/>
          </p:nvSpPr>
          <p:spPr bwMode="auto">
            <a:xfrm>
              <a:off x="5638800" y="42672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69728" name="Text Box 96"/>
            <p:cNvSpPr txBox="1">
              <a:spLocks noChangeArrowheads="1"/>
            </p:cNvSpPr>
            <p:nvPr/>
          </p:nvSpPr>
          <p:spPr bwMode="auto">
            <a:xfrm>
              <a:off x="5791200" y="5715000"/>
              <a:ext cx="2438400" cy="701675"/>
            </a:xfrm>
            <a:prstGeom prst="rect">
              <a:avLst/>
            </a:prstGeom>
            <a:solidFill>
              <a:schemeClr val="bg2"/>
            </a:solidFill>
            <a:ln w="381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These locations should be in use</a:t>
              </a:r>
            </a:p>
          </p:txBody>
        </p:sp>
        <p:sp>
          <p:nvSpPr>
            <p:cNvPr id="69729" name="Line 97"/>
            <p:cNvSpPr>
              <a:spLocks noChangeShapeType="1"/>
            </p:cNvSpPr>
            <p:nvPr/>
          </p:nvSpPr>
          <p:spPr bwMode="auto">
            <a:xfrm flipH="1" flipV="1">
              <a:off x="5486400" y="5181600"/>
              <a:ext cx="457200" cy="5334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0" name="Line 98"/>
            <p:cNvSpPr>
              <a:spLocks noChangeShapeType="1"/>
            </p:cNvSpPr>
            <p:nvPr/>
          </p:nvSpPr>
          <p:spPr bwMode="auto">
            <a:xfrm flipH="1" flipV="1">
              <a:off x="5943600" y="5181600"/>
              <a:ext cx="457200" cy="53340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1" name="Text Box 99"/>
            <p:cNvSpPr txBox="1">
              <a:spLocks noChangeArrowheads="1"/>
            </p:cNvSpPr>
            <p:nvPr/>
          </p:nvSpPr>
          <p:spPr bwMode="auto">
            <a:xfrm>
              <a:off x="0" y="522922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9732" name="Rectangle 100"/>
            <p:cNvSpPr>
              <a:spLocks noChangeArrowheads="1"/>
            </p:cNvSpPr>
            <p:nvPr/>
          </p:nvSpPr>
          <p:spPr bwMode="auto">
            <a:xfrm>
              <a:off x="431800" y="522922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33" name="Line 101"/>
            <p:cNvSpPr>
              <a:spLocks noChangeShapeType="1"/>
            </p:cNvSpPr>
            <p:nvPr/>
          </p:nvSpPr>
          <p:spPr bwMode="auto">
            <a:xfrm>
              <a:off x="647700" y="544512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  <p:grpSp>
        <p:nvGrpSpPr>
          <p:cNvPr id="2" name="Group 1" descr="The same full circular queue of length 4 with four elements at spots 2, 3, 0, and 1.&#10;array = [green, cream, red, blue]&#10;front = 2&#10;rear = 2&#10;count = 4">
            <a:extLst>
              <a:ext uri="{FF2B5EF4-FFF2-40B4-BE49-F238E27FC236}">
                <a16:creationId xmlns:a16="http://schemas.microsoft.com/office/drawing/2014/main" id="{AD886AED-7026-D8CB-BB38-9C1274B17B5F}"/>
              </a:ext>
            </a:extLst>
          </p:cNvPr>
          <p:cNvGrpSpPr/>
          <p:nvPr/>
        </p:nvGrpSpPr>
        <p:grpSpPr>
          <a:xfrm>
            <a:off x="0" y="1447800"/>
            <a:ext cx="5181600" cy="2438400"/>
            <a:chOff x="0" y="1447800"/>
            <a:chExt cx="5181600" cy="2438400"/>
          </a:xfrm>
        </p:grpSpPr>
        <p:sp>
          <p:nvSpPr>
            <p:cNvPr id="69635" name="Rectangle 3"/>
            <p:cNvSpPr>
              <a:spLocks noChangeArrowheads="1"/>
            </p:cNvSpPr>
            <p:nvPr/>
          </p:nvSpPr>
          <p:spPr bwMode="auto">
            <a:xfrm>
              <a:off x="1268413" y="27559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36" name="Text Box 4"/>
            <p:cNvSpPr txBox="1">
              <a:spLocks noChangeArrowheads="1"/>
            </p:cNvSpPr>
            <p:nvPr/>
          </p:nvSpPr>
          <p:spPr bwMode="auto">
            <a:xfrm>
              <a:off x="1187450" y="32131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69637" name="Text Box 5"/>
            <p:cNvSpPr txBox="1">
              <a:spLocks noChangeArrowheads="1"/>
            </p:cNvSpPr>
            <p:nvPr/>
          </p:nvSpPr>
          <p:spPr bwMode="auto">
            <a:xfrm>
              <a:off x="1192213" y="22987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69638" name="Rectangle 6"/>
            <p:cNvSpPr>
              <a:spLocks noChangeArrowheads="1"/>
            </p:cNvSpPr>
            <p:nvPr/>
          </p:nvSpPr>
          <p:spPr bwMode="auto">
            <a:xfrm>
              <a:off x="1268413" y="18415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39" name="Rectangle 7"/>
            <p:cNvSpPr>
              <a:spLocks noChangeArrowheads="1"/>
            </p:cNvSpPr>
            <p:nvPr/>
          </p:nvSpPr>
          <p:spPr bwMode="auto">
            <a:xfrm>
              <a:off x="1116013" y="1676400"/>
              <a:ext cx="16271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1" name="Rectangle 9"/>
            <p:cNvSpPr>
              <a:spLocks noChangeArrowheads="1"/>
            </p:cNvSpPr>
            <p:nvPr/>
          </p:nvSpPr>
          <p:spPr bwMode="auto">
            <a:xfrm>
              <a:off x="1981200" y="2743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2" name="Text Box 10"/>
            <p:cNvSpPr txBox="1">
              <a:spLocks noChangeArrowheads="1"/>
            </p:cNvSpPr>
            <p:nvPr/>
          </p:nvSpPr>
          <p:spPr bwMode="auto">
            <a:xfrm>
              <a:off x="2057400" y="2819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69643" name="Text Box 11"/>
            <p:cNvSpPr txBox="1">
              <a:spLocks noChangeArrowheads="1"/>
            </p:cNvSpPr>
            <p:nvPr/>
          </p:nvSpPr>
          <p:spPr bwMode="auto">
            <a:xfrm>
              <a:off x="1828800" y="2286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69644" name="Rectangle 12"/>
            <p:cNvSpPr>
              <a:spLocks noChangeArrowheads="1"/>
            </p:cNvSpPr>
            <p:nvPr/>
          </p:nvSpPr>
          <p:spPr bwMode="auto">
            <a:xfrm>
              <a:off x="1981200" y="1828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45" name="Text Box 13"/>
            <p:cNvSpPr txBox="1">
              <a:spLocks noChangeArrowheads="1"/>
            </p:cNvSpPr>
            <p:nvPr/>
          </p:nvSpPr>
          <p:spPr bwMode="auto">
            <a:xfrm>
              <a:off x="1828800" y="3200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69646" name="Text Box 14"/>
            <p:cNvSpPr txBox="1">
              <a:spLocks noChangeArrowheads="1"/>
            </p:cNvSpPr>
            <p:nvPr/>
          </p:nvSpPr>
          <p:spPr bwMode="auto">
            <a:xfrm>
              <a:off x="1344613" y="2832100"/>
              <a:ext cx="360362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47" name="Line 15"/>
            <p:cNvSpPr>
              <a:spLocks noChangeShapeType="1"/>
            </p:cNvSpPr>
            <p:nvPr/>
          </p:nvSpPr>
          <p:spPr bwMode="auto">
            <a:xfrm>
              <a:off x="2209800" y="2057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48" name="Text Box 16"/>
            <p:cNvSpPr txBox="1">
              <a:spLocks noChangeArrowheads="1"/>
            </p:cNvSpPr>
            <p:nvPr/>
          </p:nvSpPr>
          <p:spPr bwMode="auto">
            <a:xfrm>
              <a:off x="1331913" y="1916113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49" name="Text Box 17"/>
            <p:cNvSpPr txBox="1">
              <a:spLocks noChangeArrowheads="1"/>
            </p:cNvSpPr>
            <p:nvPr/>
          </p:nvSpPr>
          <p:spPr bwMode="auto">
            <a:xfrm>
              <a:off x="33528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69651" name="Text Box 19"/>
            <p:cNvSpPr txBox="1">
              <a:spLocks noChangeArrowheads="1"/>
            </p:cNvSpPr>
            <p:nvPr/>
          </p:nvSpPr>
          <p:spPr bwMode="auto">
            <a:xfrm>
              <a:off x="47244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69652" name="Text Box 20"/>
            <p:cNvSpPr txBox="1">
              <a:spLocks noChangeArrowheads="1"/>
            </p:cNvSpPr>
            <p:nvPr/>
          </p:nvSpPr>
          <p:spPr bwMode="auto">
            <a:xfrm>
              <a:off x="42672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69653" name="Text Box 21"/>
            <p:cNvSpPr txBox="1">
              <a:spLocks noChangeArrowheads="1"/>
            </p:cNvSpPr>
            <p:nvPr/>
          </p:nvSpPr>
          <p:spPr bwMode="auto">
            <a:xfrm>
              <a:off x="3810000" y="1447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69654" name="Rectangle 22"/>
            <p:cNvSpPr>
              <a:spLocks noChangeArrowheads="1"/>
            </p:cNvSpPr>
            <p:nvPr/>
          </p:nvSpPr>
          <p:spPr bwMode="auto">
            <a:xfrm>
              <a:off x="33528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55" name="Rectangle 23"/>
            <p:cNvSpPr>
              <a:spLocks noChangeArrowheads="1"/>
            </p:cNvSpPr>
            <p:nvPr/>
          </p:nvSpPr>
          <p:spPr bwMode="auto">
            <a:xfrm>
              <a:off x="38100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2" name="Rectangle 40"/>
            <p:cNvSpPr>
              <a:spLocks noChangeArrowheads="1"/>
            </p:cNvSpPr>
            <p:nvPr/>
          </p:nvSpPr>
          <p:spPr bwMode="auto">
            <a:xfrm>
              <a:off x="3352800" y="2590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3" name="Rectangle 41"/>
            <p:cNvSpPr>
              <a:spLocks noChangeArrowheads="1"/>
            </p:cNvSpPr>
            <p:nvPr/>
          </p:nvSpPr>
          <p:spPr bwMode="auto">
            <a:xfrm>
              <a:off x="3810000" y="3429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74" name="Line 42"/>
            <p:cNvSpPr>
              <a:spLocks noChangeShapeType="1"/>
            </p:cNvSpPr>
            <p:nvPr/>
          </p:nvSpPr>
          <p:spPr bwMode="auto">
            <a:xfrm>
              <a:off x="35814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75" name="Line 43"/>
            <p:cNvSpPr>
              <a:spLocks noChangeShapeType="1"/>
            </p:cNvSpPr>
            <p:nvPr/>
          </p:nvSpPr>
          <p:spPr bwMode="auto">
            <a:xfrm>
              <a:off x="40386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79" name="Rectangle 47"/>
            <p:cNvSpPr>
              <a:spLocks noChangeArrowheads="1"/>
            </p:cNvSpPr>
            <p:nvPr/>
          </p:nvSpPr>
          <p:spPr bwMode="auto">
            <a:xfrm>
              <a:off x="42672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0" name="Rectangle 48"/>
            <p:cNvSpPr>
              <a:spLocks noChangeArrowheads="1"/>
            </p:cNvSpPr>
            <p:nvPr/>
          </p:nvSpPr>
          <p:spPr bwMode="auto">
            <a:xfrm>
              <a:off x="4724400" y="1828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1" name="Rectangle 49"/>
            <p:cNvSpPr>
              <a:spLocks noChangeArrowheads="1"/>
            </p:cNvSpPr>
            <p:nvPr/>
          </p:nvSpPr>
          <p:spPr bwMode="auto">
            <a:xfrm>
              <a:off x="4267200" y="2590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2" name="Rectangle 50"/>
            <p:cNvSpPr>
              <a:spLocks noChangeArrowheads="1"/>
            </p:cNvSpPr>
            <p:nvPr/>
          </p:nvSpPr>
          <p:spPr bwMode="auto">
            <a:xfrm>
              <a:off x="4724400" y="3429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683" name="Line 51"/>
            <p:cNvSpPr>
              <a:spLocks noChangeShapeType="1"/>
            </p:cNvSpPr>
            <p:nvPr/>
          </p:nvSpPr>
          <p:spPr bwMode="auto">
            <a:xfrm>
              <a:off x="4953000" y="2057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684" name="Line 52"/>
            <p:cNvSpPr>
              <a:spLocks noChangeShapeType="1"/>
            </p:cNvSpPr>
            <p:nvPr/>
          </p:nvSpPr>
          <p:spPr bwMode="auto">
            <a:xfrm>
              <a:off x="4495800" y="2057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69734" name="Text Box 102"/>
            <p:cNvSpPr txBox="1">
              <a:spLocks noChangeArrowheads="1"/>
            </p:cNvSpPr>
            <p:nvPr/>
          </p:nvSpPr>
          <p:spPr bwMode="auto">
            <a:xfrm>
              <a:off x="0" y="2492375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69735" name="Rectangle 103"/>
            <p:cNvSpPr>
              <a:spLocks noChangeArrowheads="1"/>
            </p:cNvSpPr>
            <p:nvPr/>
          </p:nvSpPr>
          <p:spPr bwMode="auto">
            <a:xfrm>
              <a:off x="431800" y="2492375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69736" name="Line 104"/>
            <p:cNvSpPr>
              <a:spLocks noChangeShapeType="1"/>
            </p:cNvSpPr>
            <p:nvPr/>
          </p:nvSpPr>
          <p:spPr bwMode="auto">
            <a:xfrm>
              <a:off x="647700" y="2708275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8" name="Text Box 38"/>
          <p:cNvSpPr txBox="1">
            <a:spLocks noChangeArrowheads="1"/>
          </p:cNvSpPr>
          <p:nvPr/>
        </p:nvSpPr>
        <p:spPr bwMode="auto">
          <a:xfrm>
            <a:off x="685800" y="1143000"/>
            <a:ext cx="7543800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We </a:t>
            </a:r>
            <a:r>
              <a:rPr lang="en-US" i="1"/>
              <a:t>could</a:t>
            </a:r>
            <a:r>
              <a:rPr lang="en-US"/>
              <a:t> build the new array, and copy the queue elements into contiguous locations beginning at location </a:t>
            </a:r>
            <a:r>
              <a:rPr lang="en-US">
                <a:solidFill>
                  <a:schemeClr val="accent2"/>
                </a:solidFill>
              </a:rPr>
              <a:t>front</a:t>
            </a:r>
            <a:r>
              <a:rPr lang="en-US"/>
              <a:t>:</a:t>
            </a:r>
          </a:p>
        </p:txBody>
      </p:sp>
      <p:grpSp>
        <p:nvGrpSpPr>
          <p:cNvPr id="2" name="Group 1" descr="A circular queue of length 8 with four elements at spots 2, 3, 4, and 5.&#10;array = [null, null, red, blue, green, cream, null, null]&#10;front = 2&#10;rear = 6&#10;count = 4">
            <a:extLst>
              <a:ext uri="{FF2B5EF4-FFF2-40B4-BE49-F238E27FC236}">
                <a16:creationId xmlns:a16="http://schemas.microsoft.com/office/drawing/2014/main" id="{D627EE71-FE02-BAC6-44E4-E054E4D7929E}"/>
              </a:ext>
            </a:extLst>
          </p:cNvPr>
          <p:cNvGrpSpPr/>
          <p:nvPr/>
        </p:nvGrpSpPr>
        <p:grpSpPr>
          <a:xfrm>
            <a:off x="811609" y="2590800"/>
            <a:ext cx="7216775" cy="2438400"/>
            <a:chOff x="250825" y="2590800"/>
            <a:chExt cx="7216775" cy="2438400"/>
          </a:xfrm>
        </p:grpSpPr>
        <p:sp>
          <p:nvSpPr>
            <p:cNvPr id="71682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3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1684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1685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6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8" name="Rectangle 8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89" name="Text Box 9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1690" name="Text Box 10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1691" name="Rectangle 11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692" name="Text Box 12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1693" name="Text Box 13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1694" name="Line 14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695" name="Text Box 15"/>
            <p:cNvSpPr txBox="1">
              <a:spLocks noChangeArrowheads="1"/>
            </p:cNvSpPr>
            <p:nvPr/>
          </p:nvSpPr>
          <p:spPr bwMode="auto">
            <a:xfrm>
              <a:off x="1524000" y="30480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1696" name="Text Box 16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1697" name="Text Box 17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1698" name="Text Box 18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1699" name="Text Box 19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1700" name="Rectangle 20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1" name="Rectangle 21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2" name="Rectangle 22"/>
            <p:cNvSpPr>
              <a:spLocks noChangeArrowheads="1"/>
            </p:cNvSpPr>
            <p:nvPr/>
          </p:nvSpPr>
          <p:spPr bwMode="auto">
            <a:xfrm>
              <a:off x="56388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3" name="Rectangle 23"/>
            <p:cNvSpPr>
              <a:spLocks noChangeArrowheads="1"/>
            </p:cNvSpPr>
            <p:nvPr/>
          </p:nvSpPr>
          <p:spPr bwMode="auto">
            <a:xfrm>
              <a:off x="60960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4" name="Rectangle 24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5" name="Rectangle 25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6" name="Rectangle 26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7" name="Rectangle 27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08" name="Line 28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09" name="Line 29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10" name="Rectangle 30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1" name="Rectangle 31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2" name="Rectangle 32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3" name="Rectangle 33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14" name="Text Box 34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1715" name="Text Box 35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1716" name="Text Box 36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1717" name="Text Box 37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1719" name="Line 39"/>
            <p:cNvSpPr>
              <a:spLocks noChangeShapeType="1"/>
            </p:cNvSpPr>
            <p:nvPr/>
          </p:nvSpPr>
          <p:spPr bwMode="auto">
            <a:xfrm>
              <a:off x="58674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20" name="Line 40"/>
            <p:cNvSpPr>
              <a:spLocks noChangeShapeType="1"/>
            </p:cNvSpPr>
            <p:nvPr/>
          </p:nvSpPr>
          <p:spPr bwMode="auto">
            <a:xfrm>
              <a:off x="63246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1721" name="Text Box 41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1722" name="Rectangle 42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1723" name="Line 43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96" name="Text Box 40"/>
          <p:cNvSpPr txBox="1">
            <a:spLocks noChangeArrowheads="1"/>
          </p:cNvSpPr>
          <p:nvPr/>
        </p:nvSpPr>
        <p:spPr bwMode="auto">
          <a:xfrm>
            <a:off x="685800" y="1143000"/>
            <a:ext cx="7239000" cy="7016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Better: copy the queue elements in order to the </a:t>
            </a:r>
            <a:r>
              <a:rPr lang="en-US" i="1"/>
              <a:t>beginning</a:t>
            </a:r>
            <a:r>
              <a:rPr lang="en-US"/>
              <a:t> of the new array</a:t>
            </a:r>
          </a:p>
        </p:txBody>
      </p:sp>
      <p:grpSp>
        <p:nvGrpSpPr>
          <p:cNvPr id="2" name="Group 1" descr="A circular queue of length 8 with four elements at spots 0, 1, 2, and 3.&#10;array = [red, blue, green, cream, null, null, null, null]&#10;front = 0&#10;rear = 4&#10;count = 4">
            <a:extLst>
              <a:ext uri="{FF2B5EF4-FFF2-40B4-BE49-F238E27FC236}">
                <a16:creationId xmlns:a16="http://schemas.microsoft.com/office/drawing/2014/main" id="{0BAE1DA6-BA8A-B027-F52B-75E0B520C75D}"/>
              </a:ext>
            </a:extLst>
          </p:cNvPr>
          <p:cNvGrpSpPr/>
          <p:nvPr/>
        </p:nvGrpSpPr>
        <p:grpSpPr>
          <a:xfrm>
            <a:off x="811609" y="2590800"/>
            <a:ext cx="7216775" cy="2438400"/>
            <a:chOff x="250825" y="2590800"/>
            <a:chExt cx="7216775" cy="2438400"/>
          </a:xfrm>
        </p:grpSpPr>
        <p:sp>
          <p:nvSpPr>
            <p:cNvPr id="70658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59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0660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0661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2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4" name="Rectangle 8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5" name="Text Box 9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66" name="Text Box 10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0667" name="Rectangle 11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68" name="Text Box 12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0669" name="Text Box 13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70" name="Line 14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71" name="Text Box 15"/>
            <p:cNvSpPr txBox="1">
              <a:spLocks noChangeArrowheads="1"/>
            </p:cNvSpPr>
            <p:nvPr/>
          </p:nvSpPr>
          <p:spPr bwMode="auto">
            <a:xfrm>
              <a:off x="1619250" y="2997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0672" name="Text Box 16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0673" name="Text Box 17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0674" name="Text Box 18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0675" name="Text Box 19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0676" name="Rectangle 20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7" name="Rectangle 21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8" name="Rectangle 22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79" name="Rectangle 23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2" name="Rectangle 26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3" name="Rectangle 27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4" name="Rectangle 28"/>
            <p:cNvSpPr>
              <a:spLocks noChangeArrowheads="1"/>
            </p:cNvSpPr>
            <p:nvPr/>
          </p:nvSpPr>
          <p:spPr bwMode="auto">
            <a:xfrm>
              <a:off x="38100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5" name="Rectangle 29"/>
            <p:cNvSpPr>
              <a:spLocks noChangeArrowheads="1"/>
            </p:cNvSpPr>
            <p:nvPr/>
          </p:nvSpPr>
          <p:spPr bwMode="auto">
            <a:xfrm>
              <a:off x="42672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6" name="Line 30"/>
            <p:cNvSpPr>
              <a:spLocks noChangeShapeType="1"/>
            </p:cNvSpPr>
            <p:nvPr/>
          </p:nvSpPr>
          <p:spPr bwMode="auto">
            <a:xfrm>
              <a:off x="44958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87" name="Line 31"/>
            <p:cNvSpPr>
              <a:spLocks noChangeShapeType="1"/>
            </p:cNvSpPr>
            <p:nvPr/>
          </p:nvSpPr>
          <p:spPr bwMode="auto">
            <a:xfrm>
              <a:off x="40386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88" name="Rectangle 32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89" name="Rectangle 33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0" name="Rectangle 34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1" name="Rectangle 35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692" name="Text Box 36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0693" name="Text Box 37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0694" name="Text Box 38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0695" name="Text Box 39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0697" name="Line 41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98" name="Line 42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0699" name="Text Box 43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0700" name="Rectangle 44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0701" name="Line 45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09" name="Text Box 37"/>
          <p:cNvSpPr txBox="1">
            <a:spLocks noChangeArrowheads="1"/>
          </p:cNvSpPr>
          <p:nvPr/>
        </p:nvSpPr>
        <p:spPr bwMode="auto">
          <a:xfrm>
            <a:off x="685800" y="1143000"/>
            <a:ext cx="7558088" cy="854075"/>
          </a:xfrm>
          <a:prstGeom prst="rect">
            <a:avLst/>
          </a:prstGeom>
          <a:solidFill>
            <a:schemeClr val="bg2"/>
          </a:solidFill>
          <a:ln w="381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New element is added at </a:t>
            </a:r>
            <a:r>
              <a:rPr lang="en-US">
                <a:solidFill>
                  <a:schemeClr val="accent2"/>
                </a:solidFill>
              </a:rPr>
              <a:t>rear = (rear+1) % queue.length</a:t>
            </a:r>
            <a:endParaRPr lang="en-US"/>
          </a:p>
          <a:p>
            <a:pPr>
              <a:spcBef>
                <a:spcPct val="50000"/>
              </a:spcBef>
            </a:pPr>
            <a:r>
              <a:rPr lang="en-US"/>
              <a:t>See </a:t>
            </a:r>
            <a:r>
              <a:rPr lang="en-US" i="1">
                <a:solidFill>
                  <a:schemeClr val="hlink"/>
                </a:solidFill>
              </a:rPr>
              <a:t>expandCapacity()</a:t>
            </a:r>
            <a:r>
              <a:rPr lang="en-US"/>
              <a:t> in </a:t>
            </a:r>
            <a:r>
              <a:rPr lang="en-US" i="1">
                <a:solidFill>
                  <a:schemeClr val="hlink"/>
                </a:solidFill>
              </a:rPr>
              <a:t>CircularArrayQueue.java</a:t>
            </a:r>
          </a:p>
        </p:txBody>
      </p:sp>
      <p:grpSp>
        <p:nvGrpSpPr>
          <p:cNvPr id="2" name="Group 1" descr="A circular queue of length 8 with four elements at spots 0, 1, 2, and 3.&#10;array = [red, blue, green, cream, null, null, null, null]&#10;front = 0&#10;rear = 4&#10;count = 4">
            <a:extLst>
              <a:ext uri="{FF2B5EF4-FFF2-40B4-BE49-F238E27FC236}">
                <a16:creationId xmlns:a16="http://schemas.microsoft.com/office/drawing/2014/main" id="{0DA447CA-EA2B-C6F2-2DB6-A1A9997A937D}"/>
              </a:ext>
            </a:extLst>
          </p:cNvPr>
          <p:cNvGrpSpPr/>
          <p:nvPr/>
        </p:nvGrpSpPr>
        <p:grpSpPr>
          <a:xfrm>
            <a:off x="822325" y="2564904"/>
            <a:ext cx="7216775" cy="2438400"/>
            <a:chOff x="250825" y="2590800"/>
            <a:chExt cx="7216775" cy="2438400"/>
          </a:xfrm>
        </p:grpSpPr>
        <p:sp>
          <p:nvSpPr>
            <p:cNvPr id="79874" name="Rectangle 2"/>
            <p:cNvSpPr>
              <a:spLocks noChangeArrowheads="1"/>
            </p:cNvSpPr>
            <p:nvPr/>
          </p:nvSpPr>
          <p:spPr bwMode="auto">
            <a:xfrm>
              <a:off x="1524000" y="38862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5" name="Text Box 3"/>
            <p:cNvSpPr txBox="1">
              <a:spLocks noChangeArrowheads="1"/>
            </p:cNvSpPr>
            <p:nvPr/>
          </p:nvSpPr>
          <p:spPr bwMode="auto">
            <a:xfrm>
              <a:off x="1371600" y="4343400"/>
              <a:ext cx="838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rear</a:t>
              </a:r>
            </a:p>
          </p:txBody>
        </p:sp>
        <p:sp>
          <p:nvSpPr>
            <p:cNvPr id="79876" name="Text Box 4"/>
            <p:cNvSpPr txBox="1">
              <a:spLocks noChangeArrowheads="1"/>
            </p:cNvSpPr>
            <p:nvPr/>
          </p:nvSpPr>
          <p:spPr bwMode="auto">
            <a:xfrm>
              <a:off x="1447800" y="3429000"/>
              <a:ext cx="7620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front</a:t>
              </a:r>
            </a:p>
          </p:txBody>
        </p:sp>
        <p:sp>
          <p:nvSpPr>
            <p:cNvPr id="79877" name="Rectangle 5"/>
            <p:cNvSpPr>
              <a:spLocks noChangeArrowheads="1"/>
            </p:cNvSpPr>
            <p:nvPr/>
          </p:nvSpPr>
          <p:spPr bwMode="auto">
            <a:xfrm>
              <a:off x="1524000" y="29718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8" name="Rectangle 6"/>
            <p:cNvSpPr>
              <a:spLocks noChangeArrowheads="1"/>
            </p:cNvSpPr>
            <p:nvPr/>
          </p:nvSpPr>
          <p:spPr bwMode="auto">
            <a:xfrm>
              <a:off x="1331913" y="2819400"/>
              <a:ext cx="1868487" cy="1905000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79" name="Rectangle 7"/>
            <p:cNvSpPr>
              <a:spLocks noChangeArrowheads="1"/>
            </p:cNvSpPr>
            <p:nvPr/>
          </p:nvSpPr>
          <p:spPr bwMode="auto">
            <a:xfrm>
              <a:off x="2438400" y="38862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80" name="Text Box 8"/>
            <p:cNvSpPr txBox="1">
              <a:spLocks noChangeArrowheads="1"/>
            </p:cNvSpPr>
            <p:nvPr/>
          </p:nvSpPr>
          <p:spPr bwMode="auto">
            <a:xfrm>
              <a:off x="25146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881" name="Text Box 9"/>
            <p:cNvSpPr txBox="1">
              <a:spLocks noChangeArrowheads="1"/>
            </p:cNvSpPr>
            <p:nvPr/>
          </p:nvSpPr>
          <p:spPr bwMode="auto">
            <a:xfrm>
              <a:off x="2286000" y="34290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queue</a:t>
              </a:r>
            </a:p>
          </p:txBody>
        </p:sp>
        <p:sp>
          <p:nvSpPr>
            <p:cNvPr id="79882" name="Rectangle 10"/>
            <p:cNvSpPr>
              <a:spLocks noChangeArrowheads="1"/>
            </p:cNvSpPr>
            <p:nvPr/>
          </p:nvSpPr>
          <p:spPr bwMode="auto">
            <a:xfrm>
              <a:off x="2438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83" name="Text Box 11"/>
            <p:cNvSpPr txBox="1">
              <a:spLocks noChangeArrowheads="1"/>
            </p:cNvSpPr>
            <p:nvPr/>
          </p:nvSpPr>
          <p:spPr bwMode="auto">
            <a:xfrm>
              <a:off x="2286000" y="4343400"/>
              <a:ext cx="914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0"/>
                <a:t>count</a:t>
              </a:r>
            </a:p>
          </p:txBody>
        </p:sp>
        <p:sp>
          <p:nvSpPr>
            <p:cNvPr id="79884" name="Text Box 12"/>
            <p:cNvSpPr txBox="1">
              <a:spLocks noChangeArrowheads="1"/>
            </p:cNvSpPr>
            <p:nvPr/>
          </p:nvSpPr>
          <p:spPr bwMode="auto">
            <a:xfrm>
              <a:off x="1600200" y="39624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885" name="Line 13"/>
            <p:cNvSpPr>
              <a:spLocks noChangeShapeType="1"/>
            </p:cNvSpPr>
            <p:nvPr/>
          </p:nvSpPr>
          <p:spPr bwMode="auto">
            <a:xfrm>
              <a:off x="2667000" y="3200400"/>
              <a:ext cx="11430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886" name="Text Box 14"/>
            <p:cNvSpPr txBox="1">
              <a:spLocks noChangeArrowheads="1"/>
            </p:cNvSpPr>
            <p:nvPr/>
          </p:nvSpPr>
          <p:spPr bwMode="auto">
            <a:xfrm>
              <a:off x="1619250" y="2997200"/>
              <a:ext cx="5334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9887" name="Text Box 15"/>
            <p:cNvSpPr txBox="1">
              <a:spLocks noChangeArrowheads="1"/>
            </p:cNvSpPr>
            <p:nvPr/>
          </p:nvSpPr>
          <p:spPr bwMode="auto">
            <a:xfrm>
              <a:off x="3810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0</a:t>
              </a:r>
            </a:p>
          </p:txBody>
        </p:sp>
        <p:sp>
          <p:nvSpPr>
            <p:cNvPr id="79888" name="Text Box 16"/>
            <p:cNvSpPr txBox="1">
              <a:spLocks noChangeArrowheads="1"/>
            </p:cNvSpPr>
            <p:nvPr/>
          </p:nvSpPr>
          <p:spPr bwMode="auto">
            <a:xfrm>
              <a:off x="51816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3</a:t>
              </a:r>
            </a:p>
          </p:txBody>
        </p:sp>
        <p:sp>
          <p:nvSpPr>
            <p:cNvPr id="79889" name="Text Box 17"/>
            <p:cNvSpPr txBox="1">
              <a:spLocks noChangeArrowheads="1"/>
            </p:cNvSpPr>
            <p:nvPr/>
          </p:nvSpPr>
          <p:spPr bwMode="auto">
            <a:xfrm>
              <a:off x="4724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2</a:t>
              </a:r>
            </a:p>
          </p:txBody>
        </p:sp>
        <p:sp>
          <p:nvSpPr>
            <p:cNvPr id="79890" name="Text Box 18"/>
            <p:cNvSpPr txBox="1">
              <a:spLocks noChangeArrowheads="1"/>
            </p:cNvSpPr>
            <p:nvPr/>
          </p:nvSpPr>
          <p:spPr bwMode="auto">
            <a:xfrm>
              <a:off x="4267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1</a:t>
              </a:r>
            </a:p>
          </p:txBody>
        </p:sp>
        <p:sp>
          <p:nvSpPr>
            <p:cNvPr id="79891" name="Rectangle 19"/>
            <p:cNvSpPr>
              <a:spLocks noChangeArrowheads="1"/>
            </p:cNvSpPr>
            <p:nvPr/>
          </p:nvSpPr>
          <p:spPr bwMode="auto">
            <a:xfrm>
              <a:off x="38100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2" name="Rectangle 20"/>
            <p:cNvSpPr>
              <a:spLocks noChangeArrowheads="1"/>
            </p:cNvSpPr>
            <p:nvPr/>
          </p:nvSpPr>
          <p:spPr bwMode="auto">
            <a:xfrm>
              <a:off x="42672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3" name="Rectangle 21"/>
            <p:cNvSpPr>
              <a:spLocks noChangeArrowheads="1"/>
            </p:cNvSpPr>
            <p:nvPr/>
          </p:nvSpPr>
          <p:spPr bwMode="auto">
            <a:xfrm>
              <a:off x="4724400" y="3733800"/>
              <a:ext cx="457200" cy="45720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4" name="Rectangle 22"/>
            <p:cNvSpPr>
              <a:spLocks noChangeArrowheads="1"/>
            </p:cNvSpPr>
            <p:nvPr/>
          </p:nvSpPr>
          <p:spPr bwMode="auto">
            <a:xfrm>
              <a:off x="5181600" y="4572000"/>
              <a:ext cx="457200" cy="4572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5" name="Rectangle 23"/>
            <p:cNvSpPr>
              <a:spLocks noChangeArrowheads="1"/>
            </p:cNvSpPr>
            <p:nvPr/>
          </p:nvSpPr>
          <p:spPr bwMode="auto">
            <a:xfrm>
              <a:off x="47244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6" name="Rectangle 24"/>
            <p:cNvSpPr>
              <a:spLocks noChangeArrowheads="1"/>
            </p:cNvSpPr>
            <p:nvPr/>
          </p:nvSpPr>
          <p:spPr bwMode="auto">
            <a:xfrm>
              <a:off x="51816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7" name="Rectangle 25"/>
            <p:cNvSpPr>
              <a:spLocks noChangeArrowheads="1"/>
            </p:cNvSpPr>
            <p:nvPr/>
          </p:nvSpPr>
          <p:spPr bwMode="auto">
            <a:xfrm>
              <a:off x="3810000" y="3733800"/>
              <a:ext cx="457200" cy="4572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8" name="Rectangle 26"/>
            <p:cNvSpPr>
              <a:spLocks noChangeArrowheads="1"/>
            </p:cNvSpPr>
            <p:nvPr/>
          </p:nvSpPr>
          <p:spPr bwMode="auto">
            <a:xfrm>
              <a:off x="4267200" y="4572000"/>
              <a:ext cx="457200" cy="45720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>
              <a:off x="44958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00" name="Line 28"/>
            <p:cNvSpPr>
              <a:spLocks noChangeShapeType="1"/>
            </p:cNvSpPr>
            <p:nvPr/>
          </p:nvSpPr>
          <p:spPr bwMode="auto">
            <a:xfrm>
              <a:off x="40386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01" name="Rectangle 29"/>
            <p:cNvSpPr>
              <a:spLocks noChangeArrowheads="1"/>
            </p:cNvSpPr>
            <p:nvPr/>
          </p:nvSpPr>
          <p:spPr bwMode="auto">
            <a:xfrm>
              <a:off x="5638800" y="2971800"/>
              <a:ext cx="457200" cy="457200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2" name="Rectangle 30"/>
            <p:cNvSpPr>
              <a:spLocks noChangeArrowheads="1"/>
            </p:cNvSpPr>
            <p:nvPr/>
          </p:nvSpPr>
          <p:spPr bwMode="auto">
            <a:xfrm>
              <a:off x="60960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3" name="Rectangle 31"/>
            <p:cNvSpPr>
              <a:spLocks noChangeArrowheads="1"/>
            </p:cNvSpPr>
            <p:nvPr/>
          </p:nvSpPr>
          <p:spPr bwMode="auto">
            <a:xfrm>
              <a:off x="65532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4" name="Rectangle 32"/>
            <p:cNvSpPr>
              <a:spLocks noChangeArrowheads="1"/>
            </p:cNvSpPr>
            <p:nvPr/>
          </p:nvSpPr>
          <p:spPr bwMode="auto">
            <a:xfrm>
              <a:off x="7010400" y="2971800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05" name="Text Box 33"/>
            <p:cNvSpPr txBox="1">
              <a:spLocks noChangeArrowheads="1"/>
            </p:cNvSpPr>
            <p:nvPr/>
          </p:nvSpPr>
          <p:spPr bwMode="auto">
            <a:xfrm>
              <a:off x="56388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4</a:t>
              </a:r>
            </a:p>
          </p:txBody>
        </p:sp>
        <p:sp>
          <p:nvSpPr>
            <p:cNvPr id="79906" name="Text Box 34"/>
            <p:cNvSpPr txBox="1">
              <a:spLocks noChangeArrowheads="1"/>
            </p:cNvSpPr>
            <p:nvPr/>
          </p:nvSpPr>
          <p:spPr bwMode="auto">
            <a:xfrm>
              <a:off x="70104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7</a:t>
              </a:r>
            </a:p>
          </p:txBody>
        </p:sp>
        <p:sp>
          <p:nvSpPr>
            <p:cNvPr id="79907" name="Text Box 35"/>
            <p:cNvSpPr txBox="1">
              <a:spLocks noChangeArrowheads="1"/>
            </p:cNvSpPr>
            <p:nvPr/>
          </p:nvSpPr>
          <p:spPr bwMode="auto">
            <a:xfrm>
              <a:off x="65532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6</a:t>
              </a:r>
            </a:p>
          </p:txBody>
        </p:sp>
        <p:sp>
          <p:nvSpPr>
            <p:cNvPr id="79908" name="Text Box 36"/>
            <p:cNvSpPr txBox="1">
              <a:spLocks noChangeArrowheads="1"/>
            </p:cNvSpPr>
            <p:nvPr/>
          </p:nvSpPr>
          <p:spPr bwMode="auto">
            <a:xfrm>
              <a:off x="6096000" y="2590800"/>
              <a:ext cx="360363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5</a:t>
              </a:r>
            </a:p>
          </p:txBody>
        </p:sp>
        <p:sp>
          <p:nvSpPr>
            <p:cNvPr id="79910" name="Line 38"/>
            <p:cNvSpPr>
              <a:spLocks noChangeShapeType="1"/>
            </p:cNvSpPr>
            <p:nvPr/>
          </p:nvSpPr>
          <p:spPr bwMode="auto">
            <a:xfrm>
              <a:off x="4953000" y="3200400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1" name="Line 39"/>
            <p:cNvSpPr>
              <a:spLocks noChangeShapeType="1"/>
            </p:cNvSpPr>
            <p:nvPr/>
          </p:nvSpPr>
          <p:spPr bwMode="auto">
            <a:xfrm>
              <a:off x="5410200" y="3200400"/>
              <a:ext cx="0" cy="13716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2" name="Text Box 40"/>
            <p:cNvSpPr txBox="1">
              <a:spLocks noChangeArrowheads="1"/>
            </p:cNvSpPr>
            <p:nvPr/>
          </p:nvSpPr>
          <p:spPr bwMode="auto">
            <a:xfrm>
              <a:off x="250825" y="3573463"/>
              <a:ext cx="8636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lang="en-US">
                  <a:solidFill>
                    <a:schemeClr val="accent2"/>
                  </a:solidFill>
                </a:rPr>
                <a:t>cq</a:t>
              </a:r>
            </a:p>
          </p:txBody>
        </p:sp>
        <p:sp>
          <p:nvSpPr>
            <p:cNvPr id="79913" name="Rectangle 41"/>
            <p:cNvSpPr>
              <a:spLocks noChangeArrowheads="1"/>
            </p:cNvSpPr>
            <p:nvPr/>
          </p:nvSpPr>
          <p:spPr bwMode="auto">
            <a:xfrm>
              <a:off x="682625" y="3573463"/>
              <a:ext cx="457200" cy="4572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14" name="Line 42"/>
            <p:cNvSpPr>
              <a:spLocks noChangeShapeType="1"/>
            </p:cNvSpPr>
            <p:nvPr/>
          </p:nvSpPr>
          <p:spPr bwMode="auto">
            <a:xfrm>
              <a:off x="898525" y="3789363"/>
              <a:ext cx="431800" cy="0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  <p:sp>
          <p:nvSpPr>
            <p:cNvPr id="79915" name="Rectangle 43"/>
            <p:cNvSpPr>
              <a:spLocks noChangeArrowheads="1"/>
            </p:cNvSpPr>
            <p:nvPr/>
          </p:nvSpPr>
          <p:spPr bwMode="auto">
            <a:xfrm>
              <a:off x="5651500" y="3716338"/>
              <a:ext cx="457200" cy="457200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CA"/>
            </a:p>
          </p:txBody>
        </p:sp>
        <p:sp>
          <p:nvSpPr>
            <p:cNvPr id="79916" name="Line 44"/>
            <p:cNvSpPr>
              <a:spLocks noChangeShapeType="1"/>
            </p:cNvSpPr>
            <p:nvPr/>
          </p:nvSpPr>
          <p:spPr bwMode="auto">
            <a:xfrm>
              <a:off x="5880100" y="3182938"/>
              <a:ext cx="0" cy="5334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CA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4A8B6BB-5373-82CC-FD20-9879DF1BE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Circular Array Queue</a:t>
            </a:r>
          </a:p>
        </p:txBody>
      </p:sp>
      <p:grpSp>
        <p:nvGrpSpPr>
          <p:cNvPr id="14340" name="Group 38" descr="An array with the first and last entries blank:&#10;&#10;[null, null, ... null, b, c, d, e, f, null, ... , null]&#10;&#10;There are three instance variables:&#10;&#10;q - stores a reference to the array&#10;front = 7 (the location of the first element, b)&#10;back = 12 (the location right after the last element, f)">
            <a:extLst>
              <a:ext uri="{FF2B5EF4-FFF2-40B4-BE49-F238E27FC236}">
                <a16:creationId xmlns:a16="http://schemas.microsoft.com/office/drawing/2014/main" id="{6773084D-C62C-A26B-90F5-22BF2B1EF028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219200"/>
            <a:ext cx="7772400" cy="1238250"/>
            <a:chOff x="685800" y="1143000"/>
            <a:chExt cx="7772400" cy="123831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4EC77748-EFE7-06ED-3BAE-41233A58ACBC}"/>
                </a:ext>
              </a:extLst>
            </p:cNvPr>
            <p:cNvSpPr/>
            <p:nvPr/>
          </p:nvSpPr>
          <p:spPr bwMode="auto">
            <a:xfrm>
              <a:off x="685800" y="1143000"/>
              <a:ext cx="7772400" cy="12192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4" name="Rectangle 4">
              <a:extLst>
                <a:ext uri="{FF2B5EF4-FFF2-40B4-BE49-F238E27FC236}">
                  <a16:creationId xmlns:a16="http://schemas.microsoft.com/office/drawing/2014/main" id="{1DAD96CA-5D40-4DF4-4AB9-4E372588990A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600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5" name="Rectangle 5">
              <a:extLst>
                <a:ext uri="{FF2B5EF4-FFF2-40B4-BE49-F238E27FC236}">
                  <a16:creationId xmlns:a16="http://schemas.microsoft.com/office/drawing/2014/main" id="{50F11A99-049E-779D-B072-8FDECFCCFA87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05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6" name="Rectangle 6">
              <a:extLst>
                <a:ext uri="{FF2B5EF4-FFF2-40B4-BE49-F238E27FC236}">
                  <a16:creationId xmlns:a16="http://schemas.microsoft.com/office/drawing/2014/main" id="{7FA0F470-6E68-2415-DFDE-DE6072DA7FB9}"/>
                </a:ext>
              </a:extLst>
            </p:cNvPr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209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7" name="Rectangle 7">
              <a:extLst>
                <a:ext uri="{FF2B5EF4-FFF2-40B4-BE49-F238E27FC236}">
                  <a16:creationId xmlns:a16="http://schemas.microsoft.com/office/drawing/2014/main" id="{BE6DAD0C-D612-B958-23E7-A9F9DDAF114F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514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8" name="Rectangle 8">
              <a:extLst>
                <a:ext uri="{FF2B5EF4-FFF2-40B4-BE49-F238E27FC236}">
                  <a16:creationId xmlns:a16="http://schemas.microsoft.com/office/drawing/2014/main" id="{A640D426-1617-1551-3A5D-7F003C48D899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819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49" name="Rectangle 9">
              <a:extLst>
                <a:ext uri="{FF2B5EF4-FFF2-40B4-BE49-F238E27FC236}">
                  <a16:creationId xmlns:a16="http://schemas.microsoft.com/office/drawing/2014/main" id="{12043133-0D08-2AA6-9B66-98F7551D9E4E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124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0" name="Rectangle 10">
              <a:extLst>
                <a:ext uri="{FF2B5EF4-FFF2-40B4-BE49-F238E27FC236}">
                  <a16:creationId xmlns:a16="http://schemas.microsoft.com/office/drawing/2014/main" id="{BB8A6746-BB82-98EB-43B9-21EA380886D9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29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1" name="Rectangle 11">
              <a:extLst>
                <a:ext uri="{FF2B5EF4-FFF2-40B4-BE49-F238E27FC236}">
                  <a16:creationId xmlns:a16="http://schemas.microsoft.com/office/drawing/2014/main" id="{7B3DDB77-24E8-2A74-A596-08DAE7685CD7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733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</a:t>
              </a:r>
            </a:p>
          </p:txBody>
        </p:sp>
        <p:sp>
          <p:nvSpPr>
            <p:cNvPr id="14352" name="Rectangle 12">
              <a:extLst>
                <a:ext uri="{FF2B5EF4-FFF2-40B4-BE49-F238E27FC236}">
                  <a16:creationId xmlns:a16="http://schemas.microsoft.com/office/drawing/2014/main" id="{F3017DE2-F46F-C221-7516-FCF4DC2C9482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4038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c</a:t>
              </a:r>
            </a:p>
          </p:txBody>
        </p:sp>
        <p:sp>
          <p:nvSpPr>
            <p:cNvPr id="14353" name="Rectangle 13">
              <a:extLst>
                <a:ext uri="{FF2B5EF4-FFF2-40B4-BE49-F238E27FC236}">
                  <a16:creationId xmlns:a16="http://schemas.microsoft.com/office/drawing/2014/main" id="{FFDE52B6-18B9-33CA-F8BC-3E6CE50898E0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4343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d</a:t>
              </a:r>
            </a:p>
          </p:txBody>
        </p:sp>
        <p:sp>
          <p:nvSpPr>
            <p:cNvPr id="14354" name="Rectangle 14">
              <a:extLst>
                <a:ext uri="{FF2B5EF4-FFF2-40B4-BE49-F238E27FC236}">
                  <a16:creationId xmlns:a16="http://schemas.microsoft.com/office/drawing/2014/main" id="{6D4EACC6-3668-DB79-1472-9B1263340E1A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648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e</a:t>
              </a:r>
            </a:p>
          </p:txBody>
        </p:sp>
        <p:sp>
          <p:nvSpPr>
            <p:cNvPr id="14355" name="Rectangle 15">
              <a:extLst>
                <a:ext uri="{FF2B5EF4-FFF2-40B4-BE49-F238E27FC236}">
                  <a16:creationId xmlns:a16="http://schemas.microsoft.com/office/drawing/2014/main" id="{73BC65E0-B46B-A162-DA60-AA00B5F2EBB1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4953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ct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</a:t>
              </a:r>
            </a:p>
          </p:txBody>
        </p:sp>
        <p:sp>
          <p:nvSpPr>
            <p:cNvPr id="14356" name="Rectangle 16">
              <a:extLst>
                <a:ext uri="{FF2B5EF4-FFF2-40B4-BE49-F238E27FC236}">
                  <a16:creationId xmlns:a16="http://schemas.microsoft.com/office/drawing/2014/main" id="{2D7A2C9F-62BF-99DB-42CD-10C24EEC1B02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257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7" name="Rectangle 17">
              <a:extLst>
                <a:ext uri="{FF2B5EF4-FFF2-40B4-BE49-F238E27FC236}">
                  <a16:creationId xmlns:a16="http://schemas.microsoft.com/office/drawing/2014/main" id="{4A249008-DA09-134A-6770-46CFD5462D51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562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8" name="Rectangle 18">
              <a:extLst>
                <a:ext uri="{FF2B5EF4-FFF2-40B4-BE49-F238E27FC236}">
                  <a16:creationId xmlns:a16="http://schemas.microsoft.com/office/drawing/2014/main" id="{1F292238-2033-1CCF-306A-534BC66C17BC}"/>
                </a:ext>
              </a:extLst>
            </p:cNvPr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5867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59" name="Rectangle 19">
              <a:extLst>
                <a:ext uri="{FF2B5EF4-FFF2-40B4-BE49-F238E27FC236}">
                  <a16:creationId xmlns:a16="http://schemas.microsoft.com/office/drawing/2014/main" id="{1F167C76-9FF4-B2BE-3914-FDACFB8E17D1}"/>
                </a:ext>
              </a:extLst>
            </p:cNvPr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1722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0" name="Rectangle 20">
              <a:extLst>
                <a:ext uri="{FF2B5EF4-FFF2-40B4-BE49-F238E27FC236}">
                  <a16:creationId xmlns:a16="http://schemas.microsoft.com/office/drawing/2014/main" id="{9C9C238D-D5D4-BCBB-8C82-27AB44B81F9F}"/>
                </a:ext>
              </a:extLst>
            </p:cNvPr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64770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1" name="Rectangle 21">
              <a:extLst>
                <a:ext uri="{FF2B5EF4-FFF2-40B4-BE49-F238E27FC236}">
                  <a16:creationId xmlns:a16="http://schemas.microsoft.com/office/drawing/2014/main" id="{F19EE75E-2CBA-6628-80DB-E8A89C356030}"/>
                </a:ext>
              </a:extLst>
            </p:cNvPr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7818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2" name="Rectangle 22">
              <a:extLst>
                <a:ext uri="{FF2B5EF4-FFF2-40B4-BE49-F238E27FC236}">
                  <a16:creationId xmlns:a16="http://schemas.microsoft.com/office/drawing/2014/main" id="{C45B2190-E4C6-38BF-D593-153BBE0DF3C1}"/>
                </a:ext>
              </a:extLst>
            </p:cNvPr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0866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3" name="Rectangle 23">
              <a:extLst>
                <a:ext uri="{FF2B5EF4-FFF2-40B4-BE49-F238E27FC236}">
                  <a16:creationId xmlns:a16="http://schemas.microsoft.com/office/drawing/2014/main" id="{15649F39-DCED-1905-173C-C0B642770424}"/>
                </a:ext>
              </a:extLst>
            </p:cNvPr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391400" y="1600200"/>
              <a:ext cx="304800" cy="304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4364" name="Text Box 24">
              <a:extLst>
                <a:ext uri="{FF2B5EF4-FFF2-40B4-BE49-F238E27FC236}">
                  <a16:creationId xmlns:a16="http://schemas.microsoft.com/office/drawing/2014/main" id="{DD7FD833-7F6C-2D1A-A45B-6915AFE9685F}"/>
                </a:ext>
              </a:extLst>
            </p:cNvPr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38200" y="1219200"/>
              <a:ext cx="52610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Q:</a:t>
              </a:r>
            </a:p>
          </p:txBody>
        </p:sp>
        <p:sp>
          <p:nvSpPr>
            <p:cNvPr id="14365" name="Text Box 25">
              <a:extLst>
                <a:ext uri="{FF2B5EF4-FFF2-40B4-BE49-F238E27FC236}">
                  <a16:creationId xmlns:a16="http://schemas.microsoft.com/office/drawing/2014/main" id="{90E3F12D-01B8-2E24-5C07-874886C7C9BF}"/>
                </a:ext>
              </a:extLst>
            </p:cNvPr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592094" y="1219200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0</a:t>
              </a:r>
            </a:p>
          </p:txBody>
        </p:sp>
        <p:sp>
          <p:nvSpPr>
            <p:cNvPr id="14366" name="Text Box 26">
              <a:extLst>
                <a:ext uri="{FF2B5EF4-FFF2-40B4-BE49-F238E27FC236}">
                  <a16:creationId xmlns:a16="http://schemas.microsoft.com/office/drawing/2014/main" id="{5888D8BC-5081-838A-3E99-EE3B12AF29CD}"/>
                </a:ext>
              </a:extLst>
            </p:cNvPr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315200" y="1219200"/>
              <a:ext cx="103746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size - 1</a:t>
              </a:r>
            </a:p>
          </p:txBody>
        </p:sp>
        <p:cxnSp>
          <p:nvCxnSpPr>
            <p:cNvPr id="14367" name="AutoShape 29">
              <a:extLst>
                <a:ext uri="{FF2B5EF4-FFF2-40B4-BE49-F238E27FC236}">
                  <a16:creationId xmlns:a16="http://schemas.microsoft.com/office/drawing/2014/main" id="{15242A6E-391E-4379-AA8D-AA7F98A943E0}"/>
                </a:ext>
              </a:extLst>
            </p:cNvPr>
            <p:cNvCxnSpPr>
              <a:cxnSpLocks noChangeShapeType="1"/>
              <a:endCxn id="14351" idx="2"/>
            </p:cNvCxnSpPr>
            <p:nvPr>
              <p:custDataLst>
                <p:tags r:id="rId25"/>
              </p:custDataLst>
            </p:nvPr>
          </p:nvCxnSpPr>
          <p:spPr bwMode="auto">
            <a:xfrm flipH="1" flipV="1">
              <a:off x="3886200" y="1905000"/>
              <a:ext cx="1588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68" name="AutoShape 30">
              <a:extLst>
                <a:ext uri="{FF2B5EF4-FFF2-40B4-BE49-F238E27FC236}">
                  <a16:creationId xmlns:a16="http://schemas.microsoft.com/office/drawing/2014/main" id="{10293622-38A1-F307-C719-5D45A35A0FD2}"/>
                </a:ext>
              </a:extLst>
            </p:cNvPr>
            <p:cNvCxnSpPr>
              <a:cxnSpLocks noChangeShapeType="1"/>
            </p:cNvCxnSpPr>
            <p:nvPr>
              <p:custDataLst>
                <p:tags r:id="rId26"/>
              </p:custDataLst>
            </p:nvPr>
          </p:nvCxnSpPr>
          <p:spPr bwMode="auto">
            <a:xfrm flipV="1">
              <a:off x="5393606" y="1905000"/>
              <a:ext cx="6350" cy="27305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69" name="Text Box 25">
              <a:extLst>
                <a:ext uri="{FF2B5EF4-FFF2-40B4-BE49-F238E27FC236}">
                  <a16:creationId xmlns:a16="http://schemas.microsoft.com/office/drawing/2014/main" id="{DD159466-E3FC-FA26-F939-47593CE131F0}"/>
                </a:ext>
              </a:extLst>
            </p:cNvPr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76600" y="1981200"/>
              <a:ext cx="69602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front</a:t>
              </a:r>
            </a:p>
          </p:txBody>
        </p:sp>
        <p:sp>
          <p:nvSpPr>
            <p:cNvPr id="14370" name="Text Box 25">
              <a:extLst>
                <a:ext uri="{FF2B5EF4-FFF2-40B4-BE49-F238E27FC236}">
                  <a16:creationId xmlns:a16="http://schemas.microsoft.com/office/drawing/2014/main" id="{11116C22-475E-1E2A-8B86-6C5BE0AFA586}"/>
                </a:ext>
              </a:extLst>
            </p:cNvPr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315852" y="1977995"/>
              <a:ext cx="72648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6000"/>
                <a:buFont typeface="Wingdings 3" panose="05040102010807070707" pitchFamily="18" charset="2"/>
                <a:buChar char=""/>
                <a:defRPr sz="2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1pPr>
              <a:lvl2pPr marL="37931725" indent="-37474525">
                <a:spcBef>
                  <a:spcPts val="500"/>
                </a:spcBef>
                <a:buClr>
                  <a:schemeClr val="accent2"/>
                </a:buClr>
                <a:buSzPct val="76000"/>
                <a:buFont typeface="Wingdings 3" panose="05040102010807070707" pitchFamily="18" charset="2"/>
                <a:buChar char=""/>
                <a:defRPr sz="2300">
                  <a:solidFill>
                    <a:schemeClr val="tx2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2pPr>
              <a:lvl3pPr marL="822325" indent="-228600">
                <a:spcBef>
                  <a:spcPts val="500"/>
                </a:spcBef>
                <a:buClr>
                  <a:srgbClr val="BCBCBC"/>
                </a:buClr>
                <a:buSzPct val="76000"/>
                <a:buFont typeface="Wingdings 3" panose="05040102010807070707" pitchFamily="18" charset="2"/>
                <a:buChar char=""/>
                <a:defRPr sz="20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3pPr>
              <a:lvl4pPr marL="1096963" indent="-228600">
                <a:spcBef>
                  <a:spcPts val="400"/>
                </a:spcBef>
                <a:buClr>
                  <a:srgbClr val="8BA2B4"/>
                </a:buClr>
                <a:buSzPct val="70000"/>
                <a:buFont typeface="Wingdings" panose="05000000000000000000" pitchFamily="2" charset="2"/>
                <a:buChar char=""/>
                <a:defRPr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4pPr>
              <a:lvl5pPr marL="1371600" indent="-228600">
                <a:spcBef>
                  <a:spcPts val="3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5pPr>
              <a:lvl6pPr marL="18288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6pPr>
              <a:lvl7pPr marL="22860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7pPr>
              <a:lvl8pPr marL="27432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8pPr>
              <a:lvl9pPr marL="3200400" indent="-228600" defTabSz="457200" eaLnBrk="0" fontAlgn="base" hangingPunct="0">
                <a:spcBef>
                  <a:spcPts val="3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"/>
                <a:defRPr sz="16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MS PGothic" panose="020B0600070205080204" pitchFamily="34" charset="-128"/>
                  <a:cs typeface="+mn-cs"/>
                </a:rPr>
                <a:t>back</a:t>
              </a:r>
            </a:p>
          </p:txBody>
        </p:sp>
      </p:grpSp>
      <p:sp>
        <p:nvSpPr>
          <p:cNvPr id="23558" name="Text Box 32">
            <a:extLst>
              <a:ext uri="{FF2B5EF4-FFF2-40B4-BE49-F238E27FC236}">
                <a16:creationId xmlns:a16="http://schemas.microsoft.com/office/drawing/2014/main" id="{EE7B1F4C-7BB1-1D4C-B984-8AE8313D479F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47700" y="2895578"/>
            <a:ext cx="7810500" cy="280589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1pPr>
            <a:lvl2pPr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3pPr>
            <a:lvl4pPr marL="1096963" indent="-228600">
              <a:spcBef>
                <a:spcPts val="400"/>
              </a:spcBef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5pPr>
            <a:lvl6pPr marL="18288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6pPr>
            <a:lvl7pPr marL="22860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7pPr>
            <a:lvl8pPr marL="27432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8pPr>
            <a:lvl9pPr marL="3200400" indent="-228600" defTabSz="4572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254061"/>
                </a:solidFill>
                <a:effectLst/>
                <a:uLnTx/>
                <a:uFillTx/>
                <a:latin typeface="Courier New" panose="02070309020205020404" pitchFamily="49" charset="0"/>
              </a:rPr>
              <a:t>dequeue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() {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x = Q[front];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front = (front + 1) % size;</a:t>
            </a: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urier New" panose="02070309020205020404" pitchFamily="49" charset="0"/>
              </a:rPr>
              <a:t>return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 x;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</a:endParaRPr>
          </a:p>
          <a:p>
            <a:pPr marL="0" marR="0" lvl="1" indent="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</a:rPr>
              <a:t>}</a:t>
            </a:r>
          </a:p>
          <a:p>
            <a:pPr marL="0" lvl="1" algn="r" defTabSz="457200">
              <a:spcBef>
                <a:spcPts val="200"/>
              </a:spcBef>
              <a:buClrTx/>
              <a:buSzTx/>
              <a:buNone/>
              <a:defRPr/>
            </a:pPr>
            <a:r>
              <a:rPr lang="en-US" altLang="en-US" sz="2800" dirty="0">
                <a:solidFill>
                  <a:srgbClr val="339933"/>
                </a:solidFill>
                <a:latin typeface="Courier New" panose="02070309020205020404" pitchFamily="49" charset="0"/>
              </a:rPr>
              <a:t>// Basic idea only!</a:t>
            </a:r>
          </a:p>
        </p:txBody>
      </p:sp>
    </p:spTree>
    <p:extLst>
      <p:ext uri="{BB962C8B-B14F-4D97-AF65-F5344CB8AC3E}">
        <p14:creationId xmlns:p14="http://schemas.microsoft.com/office/powerpoint/2010/main" val="70530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image represents a deque (double-ended queue) data structure. The deque is depicted as a horizontal arrangement of rectangular cells, each labeled as &quot;Element,&quot; indicating the storage of individual elements in the structure.&#10;&#10;Key features highlighted in the diagram:&#10;1. **Insertion and Deletion at Both Ends**:&#10;   - The left and right ends of the deque are connected to arrows labeled &quot;Insert&quot; and &quot;Delete,&quot; illustrating that elements can be added or removed from both the front and the back.&#10;   &#10;2. **Structure**:&#10;   - The deque is shown as a contiguous sequence of elements, emphasizing its linear nature.&#10;&#10;This diagram demonstrates the fundamental operations supported by a deque: insertion and deletion from both the front and rear ends.">
            <a:extLst>
              <a:ext uri="{FF2B5EF4-FFF2-40B4-BE49-F238E27FC236}">
                <a16:creationId xmlns:a16="http://schemas.microsoft.com/office/drawing/2014/main" id="{3083E8C0-F4BE-01D3-4B7D-BF532AB65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" y="1014958"/>
            <a:ext cx="881062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85268F-F383-DA21-8746-795BD15EA22D}"/>
              </a:ext>
            </a:extLst>
          </p:cNvPr>
          <p:cNvSpPr txBox="1"/>
          <p:nvPr/>
        </p:nvSpPr>
        <p:spPr>
          <a:xfrm>
            <a:off x="5908843" y="193253"/>
            <a:ext cx="30556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accent2">
                    <a:lumMod val="50000"/>
                  </a:schemeClr>
                </a:solidFill>
              </a:rPr>
              <a:t>pronounced “deck”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611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208451C-E866-0E18-081B-56CA58BC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7770"/>
            <a:ext cx="8229600" cy="914400"/>
          </a:xfrm>
        </p:spPr>
        <p:txBody>
          <a:bodyPr/>
          <a:lstStyle/>
          <a:p>
            <a:pPr algn="ctr" eaLnBrk="1" hangingPunct="1"/>
            <a:r>
              <a:rPr lang="en-US" altLang="en-US" sz="3600" b="1" dirty="0"/>
              <a:t>Circular Array vs. Linked List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82B858A-388C-A77F-C8B6-A66689B8E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13319"/>
              </p:ext>
            </p:extLst>
          </p:nvPr>
        </p:nvGraphicFramePr>
        <p:xfrm>
          <a:off x="328539" y="1124744"/>
          <a:ext cx="8424936" cy="551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468">
                  <a:extLst>
                    <a:ext uri="{9D8B030D-6E8A-4147-A177-3AD203B41FA5}">
                      <a16:colId xmlns:a16="http://schemas.microsoft.com/office/drawing/2014/main" val="1256492045"/>
                    </a:ext>
                  </a:extLst>
                </a:gridCol>
                <a:gridCol w="4212468">
                  <a:extLst>
                    <a:ext uri="{9D8B030D-6E8A-4147-A177-3AD203B41FA5}">
                      <a16:colId xmlns:a16="http://schemas.microsoft.com/office/drawing/2014/main" val="3473941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 err="1"/>
                        <a:t>ArrayDeque</a:t>
                      </a:r>
                      <a:endParaRPr 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2800" dirty="0"/>
                        <a:t>LinkedList</a:t>
                      </a:r>
                      <a:endParaRPr 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2609879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/>
                        <a:t>No capacity restrictions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629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/>
                        <a:t>Can only be used </a:t>
                      </a:r>
                      <a:br>
                        <a:rPr lang="en-US" altLang="en-US" sz="2800" dirty="0"/>
                      </a:br>
                      <a:r>
                        <a:rPr lang="en-US" altLang="en-US" sz="2800" dirty="0"/>
                        <a:t>as a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/>
                        <a:t>Can be used as a queue </a:t>
                      </a:r>
                      <a:br>
                        <a:rPr lang="en-US" altLang="en-US" sz="2800" dirty="0"/>
                      </a:br>
                      <a:r>
                        <a:rPr lang="en-US" altLang="en-US" sz="2800" dirty="0"/>
                        <a:t>or a list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60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Can’t access </a:t>
                      </a:r>
                      <a:r>
                        <a:rPr lang="en-US" altLang="en-US" sz="2800" i="1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en-US" sz="2800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 element*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Can access </a:t>
                      </a:r>
                      <a:r>
                        <a:rPr lang="en-US" altLang="en-US" sz="2800" i="1" dirty="0">
                          <a:solidFill>
                            <a:schemeClr val="tx1"/>
                          </a:solidFill>
                        </a:rPr>
                        <a:t>k</a:t>
                      </a:r>
                      <a:r>
                        <a:rPr lang="en-US" altLang="en-US" sz="2800" baseline="30000" dirty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 element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0776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/>
                        <a:t>No values can be </a:t>
                      </a:r>
                      <a:r>
                        <a:rPr lang="en-US" altLang="en-US" sz="2800" i="1" dirty="0"/>
                        <a:t>null</a:t>
                      </a:r>
                      <a:endParaRPr lang="en-US" altLang="en-US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/>
                        <a:t>Allows storing </a:t>
                      </a:r>
                      <a:r>
                        <a:rPr lang="en-US" altLang="en-US" sz="2800" i="1" dirty="0"/>
                        <a:t>null</a:t>
                      </a:r>
                      <a:r>
                        <a:rPr lang="en-US" altLang="en-US" sz="2800" i="0" dirty="0"/>
                        <a:t> values</a:t>
                      </a:r>
                      <a:endParaRPr lang="en-US" altLang="en-US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9174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Faster ops at 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Faster ops in the middle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619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Faster iteration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Slower iteration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54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May use unneeded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Always just enough space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364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No extra space </a:t>
                      </a:r>
                      <a:br>
                        <a:rPr lang="en-US" altLang="en-US" sz="28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per element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Stores element </a:t>
                      </a:r>
                      <a:r>
                        <a:rPr lang="en-US" altLang="en-US" sz="2800" u="sng" dirty="0">
                          <a:solidFill>
                            <a:schemeClr val="tx1"/>
                          </a:solidFill>
                        </a:rPr>
                        <a:t>and</a:t>
                      </a:r>
                      <a:br>
                        <a:rPr lang="en-US" altLang="en-US" sz="2800" u="sng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en-US" sz="2800" dirty="0">
                          <a:solidFill>
                            <a:schemeClr val="tx1"/>
                          </a:solidFill>
                        </a:rPr>
                        <a:t>links to neighbors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6135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oteTemplate04">
  <a:themeElements>
    <a:clrScheme name="noteTemplate04 8">
      <a:dk1>
        <a:srgbClr val="000000"/>
      </a:dk1>
      <a:lt1>
        <a:srgbClr val="FFFFFF"/>
      </a:lt1>
      <a:dk2>
        <a:srgbClr val="000099"/>
      </a:dk2>
      <a:lt2>
        <a:srgbClr val="FFFFDF"/>
      </a:lt2>
      <a:accent1>
        <a:srgbClr val="FFFF99"/>
      </a:accent1>
      <a:accent2>
        <a:srgbClr val="CC3300"/>
      </a:accent2>
      <a:accent3>
        <a:srgbClr val="FFFFFF"/>
      </a:accent3>
      <a:accent4>
        <a:srgbClr val="000000"/>
      </a:accent4>
      <a:accent5>
        <a:srgbClr val="FFFFCA"/>
      </a:accent5>
      <a:accent6>
        <a:srgbClr val="B92D00"/>
      </a:accent6>
      <a:hlink>
        <a:srgbClr val="339966"/>
      </a:hlink>
      <a:folHlink>
        <a:srgbClr val="B2B2B2"/>
      </a:folHlink>
    </a:clrScheme>
    <a:fontScheme name="noteTemplate0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chemeClr val="hlink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oteTemplate04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teTemplate04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teTemplate04 8">
        <a:dk1>
          <a:srgbClr val="000000"/>
        </a:dk1>
        <a:lt1>
          <a:srgbClr val="FFFFFF"/>
        </a:lt1>
        <a:dk2>
          <a:srgbClr val="000099"/>
        </a:dk2>
        <a:lt2>
          <a:srgbClr val="FFFFDF"/>
        </a:lt2>
        <a:accent1>
          <a:srgbClr val="FFFF99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FFFFCA"/>
        </a:accent5>
        <a:accent6>
          <a:srgbClr val="B92D00"/>
        </a:accent6>
        <a:hlink>
          <a:srgbClr val="3399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ＭＳ 明朝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ppt/theme/themeOverride2.xml><?xml version="1.0" encoding="utf-8"?>
<a:themeOverride xmlns:a="http://schemas.openxmlformats.org/drawingml/2006/main">
  <a:clrScheme name="Origin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X:\27b07\notes\noteTemplate04.pot</Template>
  <TotalTime>6610</TotalTime>
  <Words>1706</Words>
  <Application>Microsoft Office PowerPoint</Application>
  <PresentationFormat>On-screen Show (4:3)</PresentationFormat>
  <Paragraphs>499</Paragraphs>
  <Slides>33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Arial Unicode MS</vt:lpstr>
      <vt:lpstr>Bookman Old Style</vt:lpstr>
      <vt:lpstr>Calibri</vt:lpstr>
      <vt:lpstr>Courier New</vt:lpstr>
      <vt:lpstr>Gill Sans MT</vt:lpstr>
      <vt:lpstr>Times</vt:lpstr>
      <vt:lpstr>Times New Roman</vt:lpstr>
      <vt:lpstr>Wingdings</vt:lpstr>
      <vt:lpstr>Wingdings 3</vt:lpstr>
      <vt:lpstr>noteTemplate04</vt:lpstr>
      <vt:lpstr>Origin</vt:lpstr>
      <vt:lpstr>Queue Implementation Issues</vt:lpstr>
      <vt:lpstr>Linked Implementation of a Queue</vt:lpstr>
      <vt:lpstr>PowerPoint Presentation</vt:lpstr>
      <vt:lpstr>Linked List Queue</vt:lpstr>
      <vt:lpstr>Queue After Adding Green Element</vt:lpstr>
      <vt:lpstr>Linked List Queue</vt:lpstr>
      <vt:lpstr>Queue After a dequeue Operation</vt:lpstr>
      <vt:lpstr>Java Implementation</vt:lpstr>
      <vt:lpstr>PowerPoint Presentation</vt:lpstr>
      <vt:lpstr>PowerPoint Presentation</vt:lpstr>
      <vt:lpstr>PowerPoint Presentation</vt:lpstr>
      <vt:lpstr>Array Implementation of  a Queue</vt:lpstr>
      <vt:lpstr>An Array Implementation of a Queue</vt:lpstr>
      <vt:lpstr>Queue After Adding a Green Element</vt:lpstr>
      <vt:lpstr>Queue After Removing an Element</vt:lpstr>
      <vt:lpstr>PowerPoint Presentation</vt:lpstr>
      <vt:lpstr>PowerPoint Presentation</vt:lpstr>
      <vt:lpstr>PowerPoint Presentation</vt:lpstr>
      <vt:lpstr>PowerPoint Presentation</vt:lpstr>
      <vt:lpstr>Conceptual Example of a Circular Queue</vt:lpstr>
      <vt:lpstr>Circular Array Implementation of a Queue</vt:lpstr>
      <vt:lpstr>A Queue Straddling the End of a Circular Array</vt:lpstr>
      <vt:lpstr>Circular Queue Drawn Linearly</vt:lpstr>
      <vt:lpstr>Enquing an item</vt:lpstr>
      <vt:lpstr>Example: array of length 4 What  happens? </vt:lpstr>
      <vt:lpstr>Circular Array Queue</vt:lpstr>
      <vt:lpstr>Add another item! Need to expand capacity…</vt:lpstr>
      <vt:lpstr>PowerPoint Presentation</vt:lpstr>
      <vt:lpstr>PowerPoint Presentation</vt:lpstr>
      <vt:lpstr>PowerPoint Presentation</vt:lpstr>
      <vt:lpstr>Circular Array Queue</vt:lpstr>
      <vt:lpstr>PowerPoint Presentation</vt:lpstr>
      <vt:lpstr>Circular Array vs. Linked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solis</dc:creator>
  <cp:lastModifiedBy>Weldon Jasik</cp:lastModifiedBy>
  <cp:revision>119</cp:revision>
  <dcterms:created xsi:type="dcterms:W3CDTF">1601-01-01T00:00:00Z</dcterms:created>
  <dcterms:modified xsi:type="dcterms:W3CDTF">2024-12-05T16:26:21Z</dcterms:modified>
</cp:coreProperties>
</file>