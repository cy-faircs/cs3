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64" r:id="rId2"/>
    <p:sldId id="365" r:id="rId3"/>
    <p:sldId id="40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415" r:id="rId12"/>
    <p:sldId id="373" r:id="rId13"/>
    <p:sldId id="374" r:id="rId14"/>
    <p:sldId id="376" r:id="rId15"/>
    <p:sldId id="377" r:id="rId16"/>
    <p:sldId id="378" r:id="rId17"/>
    <p:sldId id="381" r:id="rId18"/>
    <p:sldId id="382" r:id="rId19"/>
    <p:sldId id="383" r:id="rId20"/>
    <p:sldId id="384" r:id="rId21"/>
    <p:sldId id="410" r:id="rId22"/>
    <p:sldId id="412" r:id="rId23"/>
    <p:sldId id="411" r:id="rId24"/>
    <p:sldId id="385" r:id="rId25"/>
    <p:sldId id="386" r:id="rId26"/>
    <p:sldId id="387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FF"/>
    <a:srgbClr val="009900"/>
    <a:srgbClr val="FFFF00"/>
    <a:srgbClr val="000099"/>
    <a:srgbClr val="FF6600"/>
    <a:srgbClr val="CCECFF"/>
    <a:srgbClr val="00FF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7F0023C-DD17-43BC-A537-C45C5C8F78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7585E47-D52F-4C2C-A970-A4A930F738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266F075-3AF8-4D8B-9835-6BD8F62056F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7CFB4E2-3347-4CA5-B69E-CB077DDCEAB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648B7F2C-8AF7-4CB3-A348-BE942545A9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364EB4-7341-477E-9A32-63DB49AEDD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F99A1AC-51C8-44EF-B5C0-0DB09EF4B3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F3D2AC9-18A8-4214-989C-245A809A040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8159DF8-9B83-42D9-964A-F0D4D0ECBE7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A0DE462-A38B-4495-A46E-0A0368AEF2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97D81B5-896C-4B2C-A6D5-67CA1D58E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F5888543-F783-4CDD-8E9B-E513FF49708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1A350529-E36F-4889-B163-18B3FE6D9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068287B-7129-4C36-ADCF-96C1F7C09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EC3EE18-88C6-433D-BB6D-188C19768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5814832-7AD3-4C5E-ABEB-536F3923124F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E8EDCA-78F9-405D-814F-ED7AD4715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9C76663-FBE6-4268-8F9E-3B9B9FEF0B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CE2305-2473-4D44-BC7A-DC8E2267CF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0F0EF47-8830-4A23-810A-5F463C6C01A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1752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61EC45-6F81-489A-884F-81F6F15EEE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002DF1-649C-4AF9-A0E8-99E82BB14D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E996E2-DA97-4790-AAEF-94085BB434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93E6F90-A979-4BB9-B78C-D9EF2946C5B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141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86952F-06F2-4739-8C27-2098F2A42B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95B228-EED5-4F46-98F4-9F7BD62FFE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0859C8-CBCF-4A57-8010-CE7AC0A4980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751163D-1CEE-48A2-BA58-086B3715793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0944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7195F8-A4B8-4FFD-8579-E14A306016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EA7300-3BFD-4239-A15A-6417B35F2A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C444EA-7AC1-4C76-8ADD-0537E2AD2EE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6B596A2-70F0-4DD9-BD33-C4C32314A7B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6229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39F307-FAB5-47EC-9148-FC8C284398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0621FFA-81D8-492F-A0ED-F9413C54B4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6A5197-7D62-4E6A-8B6E-57E32E64F66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05BD67D-26A0-4843-8457-F450A04A30E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8113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3333CB0-E587-4F4B-96E9-72B5767BF9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7E69E1-A4B3-4656-B5C5-51CCDB07C9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0830ED-D44D-4796-BF36-CAF1670B0D5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C4EB65E-DCFA-43C3-A67E-9D84AD22C03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8352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1D8887B-8326-43E2-9945-B46F21086C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1687200-764B-40B2-8210-A91A8433B6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F9CBE0-C2D4-4BFC-A642-AC59504831F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38AEE51-0C61-498C-9D14-C63E029090B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672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6A972-15B3-4DD1-BD13-1B9D1AD1CF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7CBBF-94D3-4BBC-B71F-51C9777B40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5676A1-E3F1-4AF5-84AB-9A16D0C09C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41F24CB-8943-4E18-8EBB-7E7C1AAB078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2378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3413D-00FD-49C8-AF66-2A25B03988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A8D843-C0CB-4FE8-8802-796EC2803F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3A97D4-980D-421D-A46A-805AD22EADA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EA94D61-1066-4036-A4F8-4BC619D21C4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9273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279E1F-EA29-462A-902A-A22D9DFD30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5CEA71-5720-4ADE-BC34-B8B79C4EF9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699C1A-9276-42E3-A8B6-657C4F78701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5B2595C-BB50-47A6-8C40-49F19C0B45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023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0F2B1B-AC9E-493C-BE72-C3CEC7D0C7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42B409-1851-4EF4-9D1B-253B225021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2FD969-704C-434E-A078-97B418F1D4C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BDE1442-A7B1-4636-B6B1-5FF84084144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405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3EB82A-6DC2-4827-B743-AA386BDA4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51452A0-70F4-47B4-BE7B-D574B0A80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C60A7E-6CEE-48B9-9786-D727999634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AEF19E-37F5-4800-AB42-6E6744AFF7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D2A36EDD-B2A2-426B-8D93-27441939471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7CF6C42-FFB0-412D-BE59-82F06AA83A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60E3A6B3-55FA-4893-BF76-EA5A6D9543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9" name="WordArt 2">
            <a:extLst>
              <a:ext uri="{FF2B5EF4-FFF2-40B4-BE49-F238E27FC236}">
                <a16:creationId xmlns:a16="http://schemas.microsoft.com/office/drawing/2014/main" id="{59D1E48C-C9FD-4E34-A6A8-A001B755EEE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1600200"/>
            <a:ext cx="8229600" cy="2286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06704D29-96FB-4BCE-9F82-624D3CC371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1DFA4F11-AAAF-4408-95C0-C20D58B37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667000"/>
            <a:ext cx="77724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These common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abstract data types </a:t>
            </a:r>
            <a:r>
              <a:rPr lang="en-US" altLang="en-US">
                <a:latin typeface="Tahoma" panose="020B0604030504040204" pitchFamily="34" charset="0"/>
              </a:rPr>
              <a:t>allow insertion and removal at the ends only, not in the middle.</a:t>
            </a:r>
          </a:p>
        </p:txBody>
      </p:sp>
      <p:sp>
        <p:nvSpPr>
          <p:cNvPr id="5124" name="WordArt 3">
            <a:extLst>
              <a:ext uri="{FF2B5EF4-FFF2-40B4-BE49-F238E27FC236}">
                <a16:creationId xmlns:a16="http://schemas.microsoft.com/office/drawing/2014/main" id="{48DAC24B-7406-4981-AD4B-F1BE0032D1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533400"/>
            <a:ext cx="65532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99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Stacks &amp; Queues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CAA7A9E6-B6F9-4AF6-AA49-7765CCFCE4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WordArt 3">
            <a:extLst>
              <a:ext uri="{FF2B5EF4-FFF2-40B4-BE49-F238E27FC236}">
                <a16:creationId xmlns:a16="http://schemas.microsoft.com/office/drawing/2014/main" id="{E1C1DA02-57DB-4CEE-90E5-278C730697E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533400"/>
            <a:ext cx="65532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A910672C-370F-4361-B227-C3E61C1ED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667000"/>
            <a:ext cx="7772400" cy="224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en-US" dirty="0"/>
              <a:t>A stack is a group of items all of the same type where items are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added to the top </a:t>
            </a:r>
            <a:r>
              <a:rPr lang="en-US" altLang="en-US" dirty="0"/>
              <a:t>of the stack and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removed from the top</a:t>
            </a:r>
            <a:r>
              <a:rPr lang="en-US" altLang="en-US" dirty="0"/>
              <a:t>. 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Stacks work in a LIFO manner.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D572AE44-DDC5-44C1-9DDC-0F1B4B7AA7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09C9FC7F-0D9B-4367-8903-1815D78A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057400"/>
            <a:ext cx="65532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Stack&lt;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>
                <a:latin typeface="Tahoma" panose="020B0604030504040204" pitchFamily="34" charset="0"/>
              </a:rPr>
              <a:t>&gt; stack;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 = new Stack&lt;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>
                <a:latin typeface="Tahoma" panose="020B0604030504040204" pitchFamily="34" charset="0"/>
              </a:rPr>
              <a:t>&gt;();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D7F167D0-5C75-495C-9FEB-9BB73D2F3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953000"/>
            <a:ext cx="14478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3" name="WordArt 4">
            <a:extLst>
              <a:ext uri="{FF2B5EF4-FFF2-40B4-BE49-F238E27FC236}">
                <a16:creationId xmlns:a16="http://schemas.microsoft.com/office/drawing/2014/main" id="{B2B98D60-1C5C-46EC-A6AE-20D8FEB107F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  <p:sp>
        <p:nvSpPr>
          <p:cNvPr id="7174" name="Text Box 5">
            <a:extLst>
              <a:ext uri="{FF2B5EF4-FFF2-40B4-BE49-F238E27FC236}">
                <a16:creationId xmlns:a16="http://schemas.microsoft.com/office/drawing/2014/main" id="{E435BFA3-0A32-4BF0-AC78-07E39BAEA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429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stack will only store</a:t>
            </a:r>
            <a:b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Integer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0F57A7F8-A826-4304-A8B7-AAA0686D035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58201FFD-E26E-4C35-BBD4-1630A5951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43200"/>
            <a:ext cx="3006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stack.push(15);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A0994F46-2C65-4701-82CF-D2955C2E7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push adds an item</a:t>
            </a:r>
            <a:b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to the stack.</a:t>
            </a:r>
          </a:p>
        </p:txBody>
      </p:sp>
      <p:graphicFrame>
        <p:nvGraphicFramePr>
          <p:cNvPr id="139268" name="Group 4">
            <a:extLst>
              <a:ext uri="{FF2B5EF4-FFF2-40B4-BE49-F238E27FC236}">
                <a16:creationId xmlns:a16="http://schemas.microsoft.com/office/drawing/2014/main" id="{1CE7CEEA-178D-480C-9137-97BEDC342A85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4343400"/>
          <a:ext cx="1905000" cy="11303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03" name="WordArt 10">
            <a:extLst>
              <a:ext uri="{FF2B5EF4-FFF2-40B4-BE49-F238E27FC236}">
                <a16:creationId xmlns:a16="http://schemas.microsoft.com/office/drawing/2014/main" id="{3C26903F-BF6C-4B24-9F72-35C0B618170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1E39EF93-EF65-44DA-9888-45201844B1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1442CB8F-FD96-403A-89AD-33ECF5A90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3006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stack.push(47);</a:t>
            </a:r>
          </a:p>
        </p:txBody>
      </p:sp>
      <p:sp>
        <p:nvSpPr>
          <p:cNvPr id="9220" name="Text Box 3">
            <a:extLst>
              <a:ext uri="{FF2B5EF4-FFF2-40B4-BE49-F238E27FC236}">
                <a16:creationId xmlns:a16="http://schemas.microsoft.com/office/drawing/2014/main" id="{7EFA22F7-508B-4078-A9D7-879F7A7FA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push adds an item</a:t>
            </a:r>
            <a:b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to the stack.</a:t>
            </a:r>
          </a:p>
        </p:txBody>
      </p:sp>
      <p:graphicFrame>
        <p:nvGraphicFramePr>
          <p:cNvPr id="140292" name="Group 4">
            <a:extLst>
              <a:ext uri="{FF2B5EF4-FFF2-40B4-BE49-F238E27FC236}">
                <a16:creationId xmlns:a16="http://schemas.microsoft.com/office/drawing/2014/main" id="{F6E189B6-73E3-4F32-BC5F-B5BC4A4D0995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3200400"/>
          <a:ext cx="1905000" cy="22637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29" name="WordArt 12">
            <a:extLst>
              <a:ext uri="{FF2B5EF4-FFF2-40B4-BE49-F238E27FC236}">
                <a16:creationId xmlns:a16="http://schemas.microsoft.com/office/drawing/2014/main" id="{1FDE3F0B-C291-420F-BC22-AD1C87802C3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0CC29B82-4B52-4E0E-B38A-59C78860C8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0CAB3E0E-BB64-46C3-B7C9-286396C6A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30067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stack.push(11);</a:t>
            </a:r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9E72D19B-C780-4DFE-B851-94F5ECBE5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831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push adds an item</a:t>
            </a:r>
            <a:b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to the stack.</a:t>
            </a:r>
          </a:p>
        </p:txBody>
      </p:sp>
      <p:graphicFrame>
        <p:nvGraphicFramePr>
          <p:cNvPr id="141316" name="Group 4">
            <a:extLst>
              <a:ext uri="{FF2B5EF4-FFF2-40B4-BE49-F238E27FC236}">
                <a16:creationId xmlns:a16="http://schemas.microsoft.com/office/drawing/2014/main" id="{E3EA0E67-C330-4273-96CB-48D664956D80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2133600"/>
          <a:ext cx="1905000" cy="33274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63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55" name="WordArt 14">
            <a:extLst>
              <a:ext uri="{FF2B5EF4-FFF2-40B4-BE49-F238E27FC236}">
                <a16:creationId xmlns:a16="http://schemas.microsoft.com/office/drawing/2014/main" id="{9B9EBF3D-43DC-4C2F-B840-25A90B4E93D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27D24B4F-751E-4DC5-BC71-5BAAD6119C7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5284FB4D-2321-4256-BC4E-679A9D940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23590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stack.pop();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506A1289-CED8-41F8-A9E5-98460392F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1196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pop removes an item from the stack.</a:t>
            </a:r>
          </a:p>
        </p:txBody>
      </p:sp>
      <p:graphicFrame>
        <p:nvGraphicFramePr>
          <p:cNvPr id="142340" name="Group 4">
            <a:extLst>
              <a:ext uri="{FF2B5EF4-FFF2-40B4-BE49-F238E27FC236}">
                <a16:creationId xmlns:a16="http://schemas.microsoft.com/office/drawing/2014/main" id="{A08A5E8E-30A4-4520-88F9-413493C045F5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3200400"/>
          <a:ext cx="1905000" cy="22637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277" name="WordArt 12">
            <a:extLst>
              <a:ext uri="{FF2B5EF4-FFF2-40B4-BE49-F238E27FC236}">
                <a16:creationId xmlns:a16="http://schemas.microsoft.com/office/drawing/2014/main" id="{AD28769B-C92F-4429-A42E-5A4D218997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136C3C54-91F7-4335-A21C-71C13068E6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DB477874-A6DB-4826-8A10-55A80C744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23590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stack.pop();</a:t>
            </a:r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4F2E58D4-6A68-4584-8205-097A5F221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43400"/>
            <a:ext cx="3048000" cy="11969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pop removes an item from the stack.</a:t>
            </a:r>
          </a:p>
        </p:txBody>
      </p:sp>
      <p:graphicFrame>
        <p:nvGraphicFramePr>
          <p:cNvPr id="143364" name="Group 4">
            <a:extLst>
              <a:ext uri="{FF2B5EF4-FFF2-40B4-BE49-F238E27FC236}">
                <a16:creationId xmlns:a16="http://schemas.microsoft.com/office/drawing/2014/main" id="{B4FB6CAB-D4BD-4AC1-8AD2-ADB745CFF592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4343400"/>
          <a:ext cx="1905000" cy="11303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99" name="WordArt 10">
            <a:extLst>
              <a:ext uri="{FF2B5EF4-FFF2-40B4-BE49-F238E27FC236}">
                <a16:creationId xmlns:a16="http://schemas.microsoft.com/office/drawing/2014/main" id="{3CAF414C-E041-476A-90A7-24657F1DA8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553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What is a Stack?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F008A4C7-C9D3-4408-8016-739CD44D7D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3315" name="WordArt 2">
            <a:extLst>
              <a:ext uri="{FF2B5EF4-FFF2-40B4-BE49-F238E27FC236}">
                <a16:creationId xmlns:a16="http://schemas.microsoft.com/office/drawing/2014/main" id="{3C595269-60BE-44AC-AC07-4645D1C566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1066800"/>
            <a:ext cx="6553200" cy="3733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Stack</a:t>
            </a:r>
          </a:p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 Vector class extends AbstractList and implements the RandomAccess interface just like ArrayList does. &#10;The Stack class extends the Vector class.">
            <a:extLst>
              <a:ext uri="{FF2B5EF4-FFF2-40B4-BE49-F238E27FC236}">
                <a16:creationId xmlns:a16="http://schemas.microsoft.com/office/drawing/2014/main" id="{118B60EC-9170-493B-A82C-DA3E296E2D6A}"/>
              </a:ext>
            </a:extLst>
          </p:cNvPr>
          <p:cNvGrpSpPr/>
          <p:nvPr/>
        </p:nvGrpSpPr>
        <p:grpSpPr>
          <a:xfrm>
            <a:off x="76200" y="304800"/>
            <a:ext cx="8979294" cy="6400800"/>
            <a:chOff x="76200" y="304800"/>
            <a:chExt cx="8979294" cy="6400800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2EEEA872-1AD6-4D8A-BA9E-56215F411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" y="304800"/>
              <a:ext cx="8979294" cy="6400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BD94DB-AF8C-4271-8AAF-5FEBE64545F0}"/>
                </a:ext>
              </a:extLst>
            </p:cNvPr>
            <p:cNvSpPr txBox="1"/>
            <p:nvPr/>
          </p:nvSpPr>
          <p:spPr>
            <a:xfrm>
              <a:off x="1828800" y="838200"/>
              <a:ext cx="9906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 err="1">
                  <a:latin typeface="Trebuchet MS" panose="020B0603020202020204" pitchFamily="34" charset="0"/>
                </a:rPr>
                <a:t>Iterable</a:t>
              </a:r>
              <a:endParaRPr lang="en-US" sz="1800" b="0" dirty="0">
                <a:latin typeface="Trebuchet MS" panose="020B0603020202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93A14E-A7F9-4DAE-9F96-047493831E96}"/>
                </a:ext>
              </a:extLst>
            </p:cNvPr>
            <p:cNvCxnSpPr/>
            <p:nvPr/>
          </p:nvCxnSpPr>
          <p:spPr bwMode="auto">
            <a:xfrm flipV="1">
              <a:off x="2362200" y="1115199"/>
              <a:ext cx="0" cy="40880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1E45EF-741A-4360-9E9B-907DFDA7AB3B}"/>
                </a:ext>
              </a:extLst>
            </p:cNvPr>
            <p:cNvSpPr txBox="1"/>
            <p:nvPr/>
          </p:nvSpPr>
          <p:spPr>
            <a:xfrm>
              <a:off x="990600" y="5562600"/>
              <a:ext cx="990600" cy="276999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Vector</a:t>
              </a:r>
              <a:endParaRPr lang="en-US" sz="1800" b="0" dirty="0">
                <a:solidFill>
                  <a:srgbClr val="7030A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D4EC805-A914-4D32-9271-9732374B1E35}"/>
                </a:ext>
              </a:extLst>
            </p:cNvPr>
            <p:cNvCxnSpPr/>
            <p:nvPr/>
          </p:nvCxnSpPr>
          <p:spPr bwMode="auto">
            <a:xfrm flipV="1">
              <a:off x="1514797" y="5137219"/>
              <a:ext cx="588323" cy="438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BB8A78-8837-49C7-BC04-01670246786D}"/>
                </a:ext>
              </a:extLst>
            </p:cNvPr>
            <p:cNvSpPr txBox="1"/>
            <p:nvPr/>
          </p:nvSpPr>
          <p:spPr>
            <a:xfrm>
              <a:off x="990600" y="6259286"/>
              <a:ext cx="990600" cy="276999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Stack</a:t>
              </a:r>
              <a:endParaRPr lang="en-US" sz="1800" dirty="0">
                <a:solidFill>
                  <a:srgbClr val="7030A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FA7A10-55D4-4623-8384-D4ED774C0CF7}"/>
                </a:ext>
              </a:extLst>
            </p:cNvPr>
            <p:cNvCxnSpPr/>
            <p:nvPr/>
          </p:nvCxnSpPr>
          <p:spPr bwMode="auto">
            <a:xfrm flipH="1">
              <a:off x="336550" y="5701100"/>
              <a:ext cx="65405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F84C63-F68E-4853-B548-037FE5987323}"/>
                </a:ext>
              </a:extLst>
            </p:cNvPr>
            <p:cNvSpPr/>
            <p:nvPr/>
          </p:nvSpPr>
          <p:spPr bwMode="auto">
            <a:xfrm>
              <a:off x="1460665" y="5854535"/>
              <a:ext cx="88425" cy="391886"/>
            </a:xfrm>
            <a:custGeom>
              <a:avLst/>
              <a:gdLst>
                <a:gd name="connsiteX0" fmla="*/ 0 w 88425"/>
                <a:gd name="connsiteY0" fmla="*/ 391886 h 391886"/>
                <a:gd name="connsiteX1" fmla="*/ 71252 w 88425"/>
                <a:gd name="connsiteY1" fmla="*/ 308759 h 391886"/>
                <a:gd name="connsiteX2" fmla="*/ 83127 w 88425"/>
                <a:gd name="connsiteY2" fmla="*/ 142504 h 391886"/>
                <a:gd name="connsiteX3" fmla="*/ 0 w 88425"/>
                <a:gd name="connsiteY3" fmla="*/ 0 h 391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25" h="391886">
                  <a:moveTo>
                    <a:pt x="0" y="391886"/>
                  </a:moveTo>
                  <a:cubicBezTo>
                    <a:pt x="28699" y="371104"/>
                    <a:pt x="57398" y="350323"/>
                    <a:pt x="71252" y="308759"/>
                  </a:cubicBezTo>
                  <a:cubicBezTo>
                    <a:pt x="85107" y="267195"/>
                    <a:pt x="95002" y="193964"/>
                    <a:pt x="83127" y="142504"/>
                  </a:cubicBezTo>
                  <a:cubicBezTo>
                    <a:pt x="71252" y="91044"/>
                    <a:pt x="35626" y="45522"/>
                    <a:pt x="0" y="0"/>
                  </a:cubicBezTo>
                </a:path>
              </a:pathLst>
            </a:custGeom>
            <a:noFill/>
            <a:ln w="285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1962F6F-D33F-49C8-907E-FA6EC295A0C6}"/>
                </a:ext>
              </a:extLst>
            </p:cNvPr>
            <p:cNvSpPr/>
            <p:nvPr/>
          </p:nvSpPr>
          <p:spPr bwMode="auto">
            <a:xfrm>
              <a:off x="1514065" y="3213463"/>
              <a:ext cx="1473075" cy="2351314"/>
            </a:xfrm>
            <a:custGeom>
              <a:avLst/>
              <a:gdLst>
                <a:gd name="connsiteX0" fmla="*/ 14289 w 1473075"/>
                <a:gd name="connsiteY0" fmla="*/ 2351314 h 2351314"/>
                <a:gd name="connsiteX1" fmla="*/ 27352 w 1473075"/>
                <a:gd name="connsiteY1" fmla="*/ 2090057 h 2351314"/>
                <a:gd name="connsiteX2" fmla="*/ 262484 w 1473075"/>
                <a:gd name="connsiteY2" fmla="*/ 1867988 h 2351314"/>
                <a:gd name="connsiteX3" fmla="*/ 484552 w 1473075"/>
                <a:gd name="connsiteY3" fmla="*/ 1685108 h 2351314"/>
                <a:gd name="connsiteX4" fmla="*/ 628244 w 1473075"/>
                <a:gd name="connsiteY4" fmla="*/ 1371600 h 2351314"/>
                <a:gd name="connsiteX5" fmla="*/ 1046255 w 1473075"/>
                <a:gd name="connsiteY5" fmla="*/ 1240971 h 2351314"/>
                <a:gd name="connsiteX6" fmla="*/ 1398952 w 1473075"/>
                <a:gd name="connsiteY6" fmla="*/ 1018903 h 2351314"/>
                <a:gd name="connsiteX7" fmla="*/ 1464266 w 1473075"/>
                <a:gd name="connsiteY7" fmla="*/ 535577 h 2351314"/>
                <a:gd name="connsiteX8" fmla="*/ 1268324 w 1473075"/>
                <a:gd name="connsiteY8" fmla="*/ 261257 h 2351314"/>
                <a:gd name="connsiteX9" fmla="*/ 863375 w 1473075"/>
                <a:gd name="connsiteY9" fmla="*/ 0 h 235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3075" h="2351314">
                  <a:moveTo>
                    <a:pt x="14289" y="2351314"/>
                  </a:moveTo>
                  <a:cubicBezTo>
                    <a:pt x="137" y="2260962"/>
                    <a:pt x="-14014" y="2170611"/>
                    <a:pt x="27352" y="2090057"/>
                  </a:cubicBezTo>
                  <a:cubicBezTo>
                    <a:pt x="68718" y="2009503"/>
                    <a:pt x="186284" y="1935480"/>
                    <a:pt x="262484" y="1867988"/>
                  </a:cubicBezTo>
                  <a:cubicBezTo>
                    <a:pt x="338684" y="1800496"/>
                    <a:pt x="423592" y="1767839"/>
                    <a:pt x="484552" y="1685108"/>
                  </a:cubicBezTo>
                  <a:cubicBezTo>
                    <a:pt x="545512" y="1602377"/>
                    <a:pt x="534627" y="1445623"/>
                    <a:pt x="628244" y="1371600"/>
                  </a:cubicBezTo>
                  <a:cubicBezTo>
                    <a:pt x="721861" y="1297577"/>
                    <a:pt x="917804" y="1299754"/>
                    <a:pt x="1046255" y="1240971"/>
                  </a:cubicBezTo>
                  <a:cubicBezTo>
                    <a:pt x="1174706" y="1182188"/>
                    <a:pt x="1329284" y="1136469"/>
                    <a:pt x="1398952" y="1018903"/>
                  </a:cubicBezTo>
                  <a:cubicBezTo>
                    <a:pt x="1468621" y="901337"/>
                    <a:pt x="1486037" y="661851"/>
                    <a:pt x="1464266" y="535577"/>
                  </a:cubicBezTo>
                  <a:cubicBezTo>
                    <a:pt x="1442495" y="409303"/>
                    <a:pt x="1368472" y="350520"/>
                    <a:pt x="1268324" y="261257"/>
                  </a:cubicBezTo>
                  <a:cubicBezTo>
                    <a:pt x="1168176" y="171994"/>
                    <a:pt x="1015775" y="85997"/>
                    <a:pt x="863375" y="0"/>
                  </a:cubicBezTo>
                </a:path>
              </a:pathLst>
            </a:cu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6991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DB2DA0C3-933E-474A-A4CD-5446A926FB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145410" name="Group 2">
            <a:extLst>
              <a:ext uri="{FF2B5EF4-FFF2-40B4-BE49-F238E27FC236}">
                <a16:creationId xmlns:a16="http://schemas.microsoft.com/office/drawing/2014/main" id="{96691509-27D6-47C0-A3B2-417AB0D52BE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533400"/>
          <a:ext cx="8077200" cy="5121276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55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Stack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frequently used methods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Use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push(x)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adds item x to the stack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1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add(x)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add() is inherited from the Vector class.  Use push() instead.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pop()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and returns an item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peek()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top item with no remove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size()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# of items in the stack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2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isEmpty()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checks to see if the stack is empty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367" name="Text Box 30">
            <a:extLst>
              <a:ext uri="{FF2B5EF4-FFF2-40B4-BE49-F238E27FC236}">
                <a16:creationId xmlns:a16="http://schemas.microsoft.com/office/drawing/2014/main" id="{26D96A34-8FE1-4401-97C4-C817333F5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715000"/>
            <a:ext cx="449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import  java.util.Stack;</a:t>
            </a:r>
            <a:endParaRPr lang="en-US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BBB943C8-523D-4EAC-952D-6E75C1F04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85933626-B210-4A03-A924-118DA2F80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Stack&lt;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>
                <a:latin typeface="Tahoma" panose="020B0604030504040204" pitchFamily="34" charset="0"/>
              </a:rPr>
              <a:t>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 = new Stack&lt;</a:t>
            </a:r>
            <a:r>
              <a:rPr lang="en-US" altLang="en-US" sz="280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>
                <a:latin typeface="Tahoma" panose="020B0604030504040204" pitchFamily="34" charset="0"/>
              </a:rPr>
              <a:t>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out.println(s);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6388" name="WordArt 3">
            <a:extLst>
              <a:ext uri="{FF2B5EF4-FFF2-40B4-BE49-F238E27FC236}">
                <a16:creationId xmlns:a16="http://schemas.microsoft.com/office/drawing/2014/main" id="{C8C69C8A-E150-4C25-908F-C1C3BCF78EA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400800" cy="1028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push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18FBA09D-5CE7-4909-962D-0D18E3C1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429000"/>
            <a:ext cx="26670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[88, 23, 11]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8CF2C05E-1AA3-48EA-9ADA-00ABBBCBDA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7411" name="WordArt 2">
            <a:extLst>
              <a:ext uri="{FF2B5EF4-FFF2-40B4-BE49-F238E27FC236}">
                <a16:creationId xmlns:a16="http://schemas.microsoft.com/office/drawing/2014/main" id="{2FAEA240-1C4D-4C16-9BE9-8FC51B6D6BC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762000"/>
            <a:ext cx="7620000" cy="502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   stackpush.java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85CEB825-FD4F-423B-9EA4-B03FA48D05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B53FE5A7-D877-4DE2-8C83-A07B6B82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Stack&lt;Integer&gt;();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</p:txBody>
      </p:sp>
      <p:sp>
        <p:nvSpPr>
          <p:cNvPr id="18436" name="WordArt 3">
            <a:extLst>
              <a:ext uri="{FF2B5EF4-FFF2-40B4-BE49-F238E27FC236}">
                <a16:creationId xmlns:a16="http://schemas.microsoft.com/office/drawing/2014/main" id="{3DC5C8F3-52D0-40A0-8FB2-50EFF3F864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400800" cy="1028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pop</a:t>
            </a:r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6133EBDA-34A5-4956-B05F-CB7E8F0B9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352800"/>
            <a:ext cx="2057400" cy="2800767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[88, 23]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23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[88]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F83B6A9F-516C-42E0-B6AC-36A4930628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9459" name="WordArt 2">
            <a:extLst>
              <a:ext uri="{FF2B5EF4-FFF2-40B4-BE49-F238E27FC236}">
                <a16:creationId xmlns:a16="http://schemas.microsoft.com/office/drawing/2014/main" id="{ACAFCDF3-D9D7-46E7-9E58-F28CA723C3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7200" y="1371600"/>
            <a:ext cx="7696200" cy="3505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   stackpop.java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E27C4120-4CFB-4175-AB30-53DBDCD5FB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D941F008-E326-4D86-9F50-D4A6DB8B1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 = new Stack&lt;Integer&gt;();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out.println(s.peek());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out.println(s);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2532" name="WordArt 3">
            <a:extLst>
              <a:ext uri="{FF2B5EF4-FFF2-40B4-BE49-F238E27FC236}">
                <a16:creationId xmlns:a16="http://schemas.microsoft.com/office/drawing/2014/main" id="{D40FD359-E163-4D86-A17D-7F0772E4A13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400800" cy="952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peek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A0052C96-0491-4107-A4A2-A2337A9F7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429000"/>
            <a:ext cx="2743200" cy="181133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11</a:t>
            </a:r>
            <a:br>
              <a:rPr lang="en-US" altLang="en-US">
                <a:latin typeface="Tahoma" panose="020B0604030504040204" pitchFamily="34" charset="0"/>
              </a:rPr>
            </a:br>
            <a:r>
              <a:rPr lang="en-US" altLang="en-US">
                <a:latin typeface="Tahoma" panose="020B0604030504040204" pitchFamily="34" charset="0"/>
              </a:rPr>
              <a:t>[88, 23, 11]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69091321-4F68-4E88-9F40-E18792DB25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3555" name="WordArt 2">
            <a:extLst>
              <a:ext uri="{FF2B5EF4-FFF2-40B4-BE49-F238E27FC236}">
                <a16:creationId xmlns:a16="http://schemas.microsoft.com/office/drawing/2014/main" id="{4B0822B2-7230-432C-8D75-5DFAB1B8BD1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1219200"/>
            <a:ext cx="7772400" cy="3733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   stackpeek.java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1B5074CA-1752-418C-BDBD-5DAC7B3631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B7DA6ECB-1CE2-4557-B4AC-D645B8B3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Stack&lt;Integer&gt;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 = new Stack&lt;Integer&gt;();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s.push(11);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while(!s.isEmpty())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   out.println(s.pop());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4580" name="WordArt 3">
            <a:extLst>
              <a:ext uri="{FF2B5EF4-FFF2-40B4-BE49-F238E27FC236}">
                <a16:creationId xmlns:a16="http://schemas.microsoft.com/office/drawing/2014/main" id="{BC5A2D5A-5923-4BBA-8C4D-34424391AB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609600"/>
            <a:ext cx="6400800" cy="952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isEmpty</a:t>
            </a:r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FCADF05D-749E-436C-B406-E02014164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048000"/>
            <a:ext cx="1981200" cy="229870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11</a:t>
            </a:r>
            <a:br>
              <a:rPr lang="en-US" altLang="en-US">
                <a:latin typeface="Tahoma" panose="020B0604030504040204" pitchFamily="34" charset="0"/>
              </a:rPr>
            </a:br>
            <a:r>
              <a:rPr lang="en-US" altLang="en-US">
                <a:latin typeface="Tahoma" panose="020B0604030504040204" pitchFamily="34" charset="0"/>
              </a:rPr>
              <a:t>23</a:t>
            </a:r>
            <a:br>
              <a:rPr lang="en-US" altLang="en-US">
                <a:latin typeface="Tahoma" panose="020B0604030504040204" pitchFamily="34" charset="0"/>
              </a:rPr>
            </a:br>
            <a:r>
              <a:rPr lang="en-US" altLang="en-US">
                <a:latin typeface="Tahoma" panose="020B0604030504040204" pitchFamily="34" charset="0"/>
              </a:rPr>
              <a:t>88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45C9F722-CE63-4217-B572-C0F3403B6D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5603" name="WordArt 2">
            <a:extLst>
              <a:ext uri="{FF2B5EF4-FFF2-40B4-BE49-F238E27FC236}">
                <a16:creationId xmlns:a16="http://schemas.microsoft.com/office/drawing/2014/main" id="{F9B3CA34-4AC3-4ED3-B8C5-46D6B5451F4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143000"/>
            <a:ext cx="7543800" cy="419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stackisempty.java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The Vector class extends AbstractList and implements the RandomAccess interface just like ArrayList does. &#10;The Stack class extends the Vector class.">
            <a:extLst>
              <a:ext uri="{FF2B5EF4-FFF2-40B4-BE49-F238E27FC236}">
                <a16:creationId xmlns:a16="http://schemas.microsoft.com/office/drawing/2014/main" id="{118B60EC-9170-493B-A82C-DA3E296E2D6A}"/>
              </a:ext>
            </a:extLst>
          </p:cNvPr>
          <p:cNvGrpSpPr/>
          <p:nvPr/>
        </p:nvGrpSpPr>
        <p:grpSpPr>
          <a:xfrm>
            <a:off x="76200" y="304800"/>
            <a:ext cx="8979294" cy="6400800"/>
            <a:chOff x="76200" y="304800"/>
            <a:chExt cx="8979294" cy="6400800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2EEEA872-1AD6-4D8A-BA9E-56215F411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" y="304800"/>
              <a:ext cx="8979294" cy="6400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BD94DB-AF8C-4271-8AAF-5FEBE64545F0}"/>
                </a:ext>
              </a:extLst>
            </p:cNvPr>
            <p:cNvSpPr txBox="1"/>
            <p:nvPr/>
          </p:nvSpPr>
          <p:spPr>
            <a:xfrm>
              <a:off x="1828800" y="838200"/>
              <a:ext cx="9906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 err="1">
                  <a:latin typeface="Trebuchet MS" panose="020B0603020202020204" pitchFamily="34" charset="0"/>
                </a:rPr>
                <a:t>Iterable</a:t>
              </a:r>
              <a:endParaRPr lang="en-US" sz="1800" b="0" dirty="0">
                <a:latin typeface="Trebuchet MS" panose="020B0603020202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93A14E-A7F9-4DAE-9F96-047493831E96}"/>
                </a:ext>
              </a:extLst>
            </p:cNvPr>
            <p:cNvCxnSpPr/>
            <p:nvPr/>
          </p:nvCxnSpPr>
          <p:spPr bwMode="auto">
            <a:xfrm flipV="1">
              <a:off x="2362200" y="1115199"/>
              <a:ext cx="0" cy="40880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1E45EF-741A-4360-9E9B-907DFDA7AB3B}"/>
                </a:ext>
              </a:extLst>
            </p:cNvPr>
            <p:cNvSpPr txBox="1"/>
            <p:nvPr/>
          </p:nvSpPr>
          <p:spPr>
            <a:xfrm>
              <a:off x="990600" y="5562600"/>
              <a:ext cx="990600" cy="276999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Vector</a:t>
              </a:r>
              <a:endParaRPr lang="en-US" sz="1800" b="0" dirty="0">
                <a:solidFill>
                  <a:srgbClr val="7030A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D4EC805-A914-4D32-9271-9732374B1E35}"/>
                </a:ext>
              </a:extLst>
            </p:cNvPr>
            <p:cNvCxnSpPr/>
            <p:nvPr/>
          </p:nvCxnSpPr>
          <p:spPr bwMode="auto">
            <a:xfrm flipV="1">
              <a:off x="1514797" y="5137219"/>
              <a:ext cx="588323" cy="43844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BB8A78-8837-49C7-BC04-01670246786D}"/>
                </a:ext>
              </a:extLst>
            </p:cNvPr>
            <p:cNvSpPr txBox="1"/>
            <p:nvPr/>
          </p:nvSpPr>
          <p:spPr>
            <a:xfrm>
              <a:off x="990600" y="6259286"/>
              <a:ext cx="990600" cy="276999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Stack</a:t>
              </a:r>
              <a:endParaRPr lang="en-US" sz="1800" dirty="0">
                <a:solidFill>
                  <a:srgbClr val="7030A0"/>
                </a:solidFill>
                <a:latin typeface="Trebuchet MS" panose="020B0603020202020204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FA7A10-55D4-4623-8384-D4ED774C0CF7}"/>
                </a:ext>
              </a:extLst>
            </p:cNvPr>
            <p:cNvCxnSpPr/>
            <p:nvPr/>
          </p:nvCxnSpPr>
          <p:spPr bwMode="auto">
            <a:xfrm flipH="1">
              <a:off x="336550" y="5701100"/>
              <a:ext cx="65405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F84C63-F68E-4853-B548-037FE5987323}"/>
                </a:ext>
              </a:extLst>
            </p:cNvPr>
            <p:cNvSpPr/>
            <p:nvPr/>
          </p:nvSpPr>
          <p:spPr bwMode="auto">
            <a:xfrm>
              <a:off x="1460665" y="5854535"/>
              <a:ext cx="88425" cy="391886"/>
            </a:xfrm>
            <a:custGeom>
              <a:avLst/>
              <a:gdLst>
                <a:gd name="connsiteX0" fmla="*/ 0 w 88425"/>
                <a:gd name="connsiteY0" fmla="*/ 391886 h 391886"/>
                <a:gd name="connsiteX1" fmla="*/ 71252 w 88425"/>
                <a:gd name="connsiteY1" fmla="*/ 308759 h 391886"/>
                <a:gd name="connsiteX2" fmla="*/ 83127 w 88425"/>
                <a:gd name="connsiteY2" fmla="*/ 142504 h 391886"/>
                <a:gd name="connsiteX3" fmla="*/ 0 w 88425"/>
                <a:gd name="connsiteY3" fmla="*/ 0 h 391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25" h="391886">
                  <a:moveTo>
                    <a:pt x="0" y="391886"/>
                  </a:moveTo>
                  <a:cubicBezTo>
                    <a:pt x="28699" y="371104"/>
                    <a:pt x="57398" y="350323"/>
                    <a:pt x="71252" y="308759"/>
                  </a:cubicBezTo>
                  <a:cubicBezTo>
                    <a:pt x="85107" y="267195"/>
                    <a:pt x="95002" y="193964"/>
                    <a:pt x="83127" y="142504"/>
                  </a:cubicBezTo>
                  <a:cubicBezTo>
                    <a:pt x="71252" y="91044"/>
                    <a:pt x="35626" y="45522"/>
                    <a:pt x="0" y="0"/>
                  </a:cubicBezTo>
                </a:path>
              </a:pathLst>
            </a:custGeom>
            <a:noFill/>
            <a:ln w="2857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1962F6F-D33F-49C8-907E-FA6EC295A0C6}"/>
                </a:ext>
              </a:extLst>
            </p:cNvPr>
            <p:cNvSpPr/>
            <p:nvPr/>
          </p:nvSpPr>
          <p:spPr bwMode="auto">
            <a:xfrm>
              <a:off x="1514065" y="3213463"/>
              <a:ext cx="1473075" cy="2351314"/>
            </a:xfrm>
            <a:custGeom>
              <a:avLst/>
              <a:gdLst>
                <a:gd name="connsiteX0" fmla="*/ 14289 w 1473075"/>
                <a:gd name="connsiteY0" fmla="*/ 2351314 h 2351314"/>
                <a:gd name="connsiteX1" fmla="*/ 27352 w 1473075"/>
                <a:gd name="connsiteY1" fmla="*/ 2090057 h 2351314"/>
                <a:gd name="connsiteX2" fmla="*/ 262484 w 1473075"/>
                <a:gd name="connsiteY2" fmla="*/ 1867988 h 2351314"/>
                <a:gd name="connsiteX3" fmla="*/ 484552 w 1473075"/>
                <a:gd name="connsiteY3" fmla="*/ 1685108 h 2351314"/>
                <a:gd name="connsiteX4" fmla="*/ 628244 w 1473075"/>
                <a:gd name="connsiteY4" fmla="*/ 1371600 h 2351314"/>
                <a:gd name="connsiteX5" fmla="*/ 1046255 w 1473075"/>
                <a:gd name="connsiteY5" fmla="*/ 1240971 h 2351314"/>
                <a:gd name="connsiteX6" fmla="*/ 1398952 w 1473075"/>
                <a:gd name="connsiteY6" fmla="*/ 1018903 h 2351314"/>
                <a:gd name="connsiteX7" fmla="*/ 1464266 w 1473075"/>
                <a:gd name="connsiteY7" fmla="*/ 535577 h 2351314"/>
                <a:gd name="connsiteX8" fmla="*/ 1268324 w 1473075"/>
                <a:gd name="connsiteY8" fmla="*/ 261257 h 2351314"/>
                <a:gd name="connsiteX9" fmla="*/ 863375 w 1473075"/>
                <a:gd name="connsiteY9" fmla="*/ 0 h 235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3075" h="2351314">
                  <a:moveTo>
                    <a:pt x="14289" y="2351314"/>
                  </a:moveTo>
                  <a:cubicBezTo>
                    <a:pt x="137" y="2260962"/>
                    <a:pt x="-14014" y="2170611"/>
                    <a:pt x="27352" y="2090057"/>
                  </a:cubicBezTo>
                  <a:cubicBezTo>
                    <a:pt x="68718" y="2009503"/>
                    <a:pt x="186284" y="1935480"/>
                    <a:pt x="262484" y="1867988"/>
                  </a:cubicBezTo>
                  <a:cubicBezTo>
                    <a:pt x="338684" y="1800496"/>
                    <a:pt x="423592" y="1767839"/>
                    <a:pt x="484552" y="1685108"/>
                  </a:cubicBezTo>
                  <a:cubicBezTo>
                    <a:pt x="545512" y="1602377"/>
                    <a:pt x="534627" y="1445623"/>
                    <a:pt x="628244" y="1371600"/>
                  </a:cubicBezTo>
                  <a:cubicBezTo>
                    <a:pt x="721861" y="1297577"/>
                    <a:pt x="917804" y="1299754"/>
                    <a:pt x="1046255" y="1240971"/>
                  </a:cubicBezTo>
                  <a:cubicBezTo>
                    <a:pt x="1174706" y="1182188"/>
                    <a:pt x="1329284" y="1136469"/>
                    <a:pt x="1398952" y="1018903"/>
                  </a:cubicBezTo>
                  <a:cubicBezTo>
                    <a:pt x="1468621" y="901337"/>
                    <a:pt x="1486037" y="661851"/>
                    <a:pt x="1464266" y="535577"/>
                  </a:cubicBezTo>
                  <a:cubicBezTo>
                    <a:pt x="1442495" y="409303"/>
                    <a:pt x="1368472" y="350520"/>
                    <a:pt x="1268324" y="261257"/>
                  </a:cubicBezTo>
                  <a:cubicBezTo>
                    <a:pt x="1168176" y="171994"/>
                    <a:pt x="1015775" y="85997"/>
                    <a:pt x="863375" y="0"/>
                  </a:cubicBezTo>
                </a:path>
              </a:pathLst>
            </a:cu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331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BBB943C8-523D-4EAC-952D-6E75C1F04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85933626-B210-4A03-A924-118DA2F80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Stack&lt;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 dirty="0">
                <a:latin typeface="Tahoma" panose="020B0604030504040204" pitchFamily="34" charset="0"/>
              </a:rPr>
              <a:t>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Stack&lt;</a:t>
            </a:r>
            <a:r>
              <a:rPr lang="en-US" altLang="en-US" sz="2800" dirty="0">
                <a:solidFill>
                  <a:srgbClr val="009900"/>
                </a:solidFill>
                <a:latin typeface="Tahoma" panose="020B0604030504040204" pitchFamily="34" charset="0"/>
              </a:rPr>
              <a:t>Integer</a:t>
            </a:r>
            <a:r>
              <a:rPr lang="en-US" altLang="en-US" sz="2800" dirty="0">
                <a:latin typeface="Tahoma" panose="020B0604030504040204" pitchFamily="34" charset="0"/>
              </a:rPr>
              <a:t>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(11);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</p:txBody>
      </p:sp>
      <p:sp>
        <p:nvSpPr>
          <p:cNvPr id="16388" name="WordArt 3">
            <a:extLst>
              <a:ext uri="{FF2B5EF4-FFF2-40B4-BE49-F238E27FC236}">
                <a16:creationId xmlns:a16="http://schemas.microsoft.com/office/drawing/2014/main" id="{C8C69C8A-E150-4C25-908F-C1C3BCF78EA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60444" y="457200"/>
            <a:ext cx="6400800" cy="1028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 Stack class Stack again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18FBA09D-5CE7-4909-962D-0D18E3C1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429000"/>
            <a:ext cx="2667000" cy="2308324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[88, 23, 11]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[88, 23]</a:t>
            </a:r>
          </a:p>
        </p:txBody>
      </p:sp>
    </p:spTree>
    <p:extLst>
      <p:ext uri="{BB962C8B-B14F-4D97-AF65-F5344CB8AC3E}">
        <p14:creationId xmlns:p14="http://schemas.microsoft.com/office/powerpoint/2010/main" val="4155548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2">
            <a:extLst>
              <a:ext uri="{FF2B5EF4-FFF2-40B4-BE49-F238E27FC236}">
                <a16:creationId xmlns:a16="http://schemas.microsoft.com/office/drawing/2014/main" id="{85933626-B210-4A03-A924-118DA2F80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64770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LinkedList</a:t>
            </a:r>
            <a:r>
              <a:rPr lang="en-US" altLang="en-US" sz="2800" dirty="0">
                <a:latin typeface="Tahoma" panose="020B0604030504040204" pitchFamily="34" charset="0"/>
              </a:rPr>
              <a:t>&lt;Integer&gt; s;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s = new </a:t>
            </a:r>
            <a:r>
              <a:rPr lang="en-US" altLang="en-US" sz="2800" dirty="0">
                <a:solidFill>
                  <a:srgbClr val="0070C0"/>
                </a:solidFill>
                <a:latin typeface="Tahoma" panose="020B0604030504040204" pitchFamily="34" charset="0"/>
              </a:rPr>
              <a:t>LinkedList</a:t>
            </a:r>
            <a:r>
              <a:rPr lang="en-US" altLang="en-US" sz="2800" dirty="0">
                <a:latin typeface="Tahoma" panose="020B0604030504040204" pitchFamily="34" charset="0"/>
              </a:rPr>
              <a:t>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(88);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(23);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s.push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>
                <a:highlight>
                  <a:srgbClr val="FFFF00"/>
                </a:highlight>
                <a:latin typeface="Tahoma" panose="020B0604030504040204" pitchFamily="34" charset="0"/>
              </a:rPr>
              <a:t>11</a:t>
            </a:r>
            <a:r>
              <a:rPr lang="en-US" altLang="en-US" sz="2800" dirty="0">
                <a:latin typeface="Tahoma" panose="020B0604030504040204" pitchFamily="34" charset="0"/>
              </a:rPr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(s);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dirty="0">
                <a:latin typeface="Tahoma" panose="020B0604030504040204" pitchFamily="34" charset="0"/>
              </a:rPr>
              <a:t>(</a:t>
            </a:r>
            <a:r>
              <a:rPr lang="en-US" altLang="en-US" sz="2800" dirty="0" err="1">
                <a:latin typeface="Tahoma" panose="020B0604030504040204" pitchFamily="34" charset="0"/>
              </a:rPr>
              <a:t>s.pop</a:t>
            </a:r>
            <a:r>
              <a:rPr lang="en-US" altLang="en-US" sz="2800" dirty="0">
                <a:latin typeface="Tahoma" panose="020B0604030504040204" pitchFamily="34" charset="0"/>
              </a:rPr>
              <a:t>());</a:t>
            </a:r>
          </a:p>
        </p:txBody>
      </p:sp>
      <p:sp>
        <p:nvSpPr>
          <p:cNvPr id="16388" name="WordArt 3">
            <a:extLst>
              <a:ext uri="{FF2B5EF4-FFF2-40B4-BE49-F238E27FC236}">
                <a16:creationId xmlns:a16="http://schemas.microsoft.com/office/drawing/2014/main" id="{C8C69C8A-E150-4C25-908F-C1C3BCF78EA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400800" cy="1028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 LinkedList Stack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18FBA09D-5CE7-4909-962D-0D18E3C1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429000"/>
            <a:ext cx="2667000" cy="2308324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</a:t>
            </a:r>
            <a:r>
              <a:rPr lang="en-US" altLang="en-US" dirty="0">
                <a:highlight>
                  <a:srgbClr val="FFFF00"/>
                </a:highlight>
                <a:latin typeface="Tahoma" panose="020B0604030504040204" pitchFamily="34" charset="0"/>
              </a:rPr>
              <a:t>11</a:t>
            </a:r>
            <a:r>
              <a:rPr lang="en-US" altLang="en-US" dirty="0">
                <a:latin typeface="Tahoma" panose="020B0604030504040204" pitchFamily="34" charset="0"/>
              </a:rPr>
              <a:t>, 23, 88]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11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[23, 88]</a:t>
            </a:r>
          </a:p>
        </p:txBody>
      </p:sp>
    </p:spTree>
    <p:extLst>
      <p:ext uri="{BB962C8B-B14F-4D97-AF65-F5344CB8AC3E}">
        <p14:creationId xmlns:p14="http://schemas.microsoft.com/office/powerpoint/2010/main" val="494396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AFBD0E33-C581-45AF-9086-3C8C97A13D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9" name="WordArt 2">
            <a:extLst>
              <a:ext uri="{FF2B5EF4-FFF2-40B4-BE49-F238E27FC236}">
                <a16:creationId xmlns:a16="http://schemas.microsoft.com/office/drawing/2014/main" id="{2B79640A-4FE7-489A-AA6D-626F8ECF289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1600200"/>
            <a:ext cx="72390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Testing Expressions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With a Stack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951D7F2C-190A-4A98-AA51-2922698D19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E284C3B2-E03B-411E-B485-482C388C7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524000"/>
            <a:ext cx="6351588" cy="491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Expressions are made up of values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and symbols.  Many symbols come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in pairs.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Tahoma" panose="020B0604030504040204" pitchFamily="34" charset="0"/>
              </a:rPr>
              <a:t>(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accent2"/>
                </a:solidFill>
                <a:latin typeface="Tahoma" panose="020B0604030504040204" pitchFamily="34" charset="0"/>
              </a:rPr>
              <a:t>{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400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stack can be used to match up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opening and closing symbols.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124" name="WordArt 3">
            <a:extLst>
              <a:ext uri="{FF2B5EF4-FFF2-40B4-BE49-F238E27FC236}">
                <a16:creationId xmlns:a16="http://schemas.microsoft.com/office/drawing/2014/main" id="{7000B803-0C8E-40CF-BC0E-C6321F5CD60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B3AE48E7-E90B-4E59-8B41-2FFC94D3D0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9D560BE2-3E90-49B1-9650-3C6CEC652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76400"/>
            <a:ext cx="6977063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{ ( [ ] ) }</a:t>
            </a:r>
            <a:r>
              <a:rPr lang="en-US" altLang="en-US" sz="2800">
                <a:latin typeface="Tahoma" panose="020B0604030504040204" pitchFamily="34" charset="0"/>
              </a:rPr>
              <a:t>     is a 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C0000"/>
                </a:solidFill>
                <a:latin typeface="Tahoma" panose="020B0604030504040204" pitchFamily="34" charset="0"/>
              </a:rPr>
              <a:t>{ ( } )</a:t>
            </a:r>
            <a:r>
              <a:rPr lang="en-US" altLang="en-US" sz="2800">
                <a:latin typeface="Tahoma" panose="020B0604030504040204" pitchFamily="34" charset="0"/>
              </a:rPr>
              <a:t>    is an invalid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C0000"/>
                </a:solidFill>
                <a:latin typeface="Tahoma" panose="020B0604030504040204" pitchFamily="34" charset="0"/>
              </a:rPr>
              <a:t>{ ( ] ) </a:t>
            </a:r>
            <a:r>
              <a:rPr lang="en-US" altLang="en-US" sz="2800">
                <a:latin typeface="Tahoma" panose="020B0604030504040204" pitchFamily="34" charset="0"/>
              </a:rPr>
              <a:t>    is an invalid expression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Open and closing symbol pairs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have to occur in the proper sequence.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148" name="WordArt 3">
            <a:extLst>
              <a:ext uri="{FF2B5EF4-FFF2-40B4-BE49-F238E27FC236}">
                <a16:creationId xmlns:a16="http://schemas.microsoft.com/office/drawing/2014/main" id="{67826DCD-3108-4F72-95EE-DB64F05D9D4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57200"/>
            <a:ext cx="65532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FFFF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Expression Tester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1817</TotalTime>
  <Words>990</Words>
  <Application>Microsoft Office PowerPoint</Application>
  <PresentationFormat>On-screen Show (4:3)</PresentationFormat>
  <Paragraphs>259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 Black</vt:lpstr>
      <vt:lpstr>Impact</vt:lpstr>
      <vt:lpstr>Tahoma</vt:lpstr>
      <vt:lpstr>Times New Roman</vt:lpstr>
      <vt:lpstr>Trebuchet MS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subject>Stacks</dc:subject>
  <dc:creator>A+ Computer Science</dc:creator>
  <cp:keywords>www.apluscompsci.com</cp:keywords>
  <dc:description>Stacks_x000d_
©A+ Computer Science_x000d_
www.apluscompsci.com</dc:description>
  <cp:lastModifiedBy>Weldon Jasik</cp:lastModifiedBy>
  <cp:revision>254</cp:revision>
  <cp:lastPrinted>1999-11-08T17:20:25Z</cp:lastPrinted>
  <dcterms:created xsi:type="dcterms:W3CDTF">1997-11-03T14:43:20Z</dcterms:created>
  <dcterms:modified xsi:type="dcterms:W3CDTF">2024-10-22T20:27:11Z</dcterms:modified>
  <cp:category>www.apluscompsci.com</cp:category>
</cp:coreProperties>
</file>