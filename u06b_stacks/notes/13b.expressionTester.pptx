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85" r:id="rId2"/>
    <p:sldId id="386" r:id="rId3"/>
    <p:sldId id="387" r:id="rId4"/>
    <p:sldId id="388" r:id="rId5"/>
    <p:sldId id="389" r:id="rId6"/>
    <p:sldId id="390" r:id="rId7"/>
    <p:sldId id="391" r:id="rId8"/>
    <p:sldId id="392" r:id="rId9"/>
    <p:sldId id="406" r:id="rId10"/>
    <p:sldId id="407" r:id="rId11"/>
    <p:sldId id="408" r:id="rId12"/>
    <p:sldId id="409" r:id="rId13"/>
    <p:sldId id="410" r:id="rId14"/>
    <p:sldId id="411" r:id="rId15"/>
    <p:sldId id="412" r:id="rId16"/>
    <p:sldId id="413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5FF"/>
    <a:srgbClr val="009900"/>
    <a:srgbClr val="FFFF00"/>
    <a:srgbClr val="000099"/>
    <a:srgbClr val="FF6600"/>
    <a:srgbClr val="CCECFF"/>
    <a:srgbClr val="00FF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965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7F0023C-DD17-43BC-A537-C45C5C8F78D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7585E47-D52F-4C2C-A970-A4A930F7386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266F075-3AF8-4D8B-9835-6BD8F62056F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7CFB4E2-3347-4CA5-B69E-CB077DDCEAB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fld id="{82B6E389-7DD8-4707-8244-6B2FD458FFA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9364EB4-7341-477E-9A32-63DB49AEDDA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F99A1AC-51C8-44EF-B5C0-0DB09EF4B33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10D5AEBB-C3B1-4B3B-9B89-795CA661156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88159DF8-9B83-42D9-964A-F0D4D0ECBE7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0A0DE462-A38B-4495-A46E-0A0368AEF24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497D81B5-896C-4B2C-A6D5-67CA1D58EF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fld id="{CCCC051F-2421-4554-AF7B-BA4F8850B3C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0CC70D-E69D-40E4-A9E0-DB18DEF41D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1B0593A-E6FA-4AD0-AB0E-983F52BF89C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A23A2C-3F17-4227-9B86-F5FE8AAC3ED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FFBEFC3-62BD-4C86-B083-F9CFF2B7C64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056194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3242244-1BE3-4D2A-838A-83F2AD8A43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1324C1E-A8C6-4E42-9A1A-6629DEC28F2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CA0A66-996C-47A2-8A05-C2421AD0CBC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F2613B4-2EFE-4AD2-A014-C976CB45A4E2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569190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2B995F-5E61-4E86-9891-856892B552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D2D1BE7-C64D-4718-BF97-E631212BAAD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E1DF74-0902-4A4B-9EB9-AD38309E09F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C9A5D0B-27CB-4F6C-BB86-2CB736B25D40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813358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DECB33-2481-408E-BDC8-A025F23610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F693B2F-A4B5-48BC-820D-68F420F879E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2D0EA4-E891-4AA6-BB9B-1645883AD60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D7CBBDA-CCDA-4672-A3C3-3AC3A25DEDD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579278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8132DC7-AEA1-451A-85A5-262C8879D7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DCDB7EA3-F6C6-4AAC-8CBD-60C83314B3F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11CCAB-991E-4789-9AB7-E5B53707A93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D8BEA7B-3ED2-4B2C-ACE6-83EB4E65D8F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502278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88D02C8-BFB5-4802-986B-C0EAADFDE6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16A6005-C5B7-4D63-8506-93F9F6245EF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14D700-7DB8-4160-9F93-F4C77F0BA86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C13919B-AFD5-4539-9410-A603AFDFAE8E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981649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EF3C669-15B4-4F3C-A68C-9179426BC2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759EAAE-CD14-420C-A756-068E24230E4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7204A7-9ACE-4EA9-9A8F-14E40010D8C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87A6AF29-0078-495D-8AC1-265048B7B2AE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964853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D6D78C-83EF-407C-A049-9553CF8332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BA2E948-FA7D-4EA0-818C-E3FECA003A5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E5FBC9-CCB5-4F3D-BFD9-CECED318DA9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FAF8447-571A-4BF9-B06B-BFC833F0E4C6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66256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686422-518C-4D18-A063-30FB564EA0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C28367F-4D0D-4C10-A68F-BEA16F84999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261A4F-9843-4E2F-9F8B-7E2ADA32DB3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342433E-9461-4829-B783-DC0A2760710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79888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752EB5-F649-4EFF-B2E3-B9DEBA389B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4EDAD0B-15F8-40E9-9DD6-1D1998A27C6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9AF0B8-4897-40A7-A8DC-DC8AE5DF7DE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D0C3812-8CB0-4E3E-B925-9EA463B66C10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517940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EB6168-89A2-4688-B566-675141D82C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459C08A-AA2A-4831-8F6B-CE0B5B7B7A0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20E80C-0613-47C0-9611-C56A8CCAE4E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B07E26C-0419-40B4-987D-35B828A044E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143503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CBF3B4D-ADEC-43C1-8904-D39FCF048C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770D6FA-5DFD-4751-BE08-AF5425EF3E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2C60A7E-6CEE-48B9-9786-D727999634C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2AEF19E-37F5-4800-AB42-6E6744AFF7A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fld id="{1173D14C-068C-4DA2-9A67-365202B8DB2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A7CF6C42-FFB0-412D-BE59-82F06AA83AD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800"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3">
            <a:extLst>
              <a:ext uri="{FF2B5EF4-FFF2-40B4-BE49-F238E27FC236}">
                <a16:creationId xmlns:a16="http://schemas.microsoft.com/office/drawing/2014/main" id="{AFBD0E33-C581-45AF-9086-3C8C97A13DD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099" name="WordArt 2">
            <a:extLst>
              <a:ext uri="{FF2B5EF4-FFF2-40B4-BE49-F238E27FC236}">
                <a16:creationId xmlns:a16="http://schemas.microsoft.com/office/drawing/2014/main" id="{2B79640A-4FE7-489A-AA6D-626F8ECF289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1600200"/>
            <a:ext cx="7239000" cy="320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 panose="020B0A04020102020204" pitchFamily="34" charset="0"/>
              </a:rPr>
              <a:t>Testing Expressions</a:t>
            </a:r>
          </a:p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 panose="020B0A04020102020204" pitchFamily="34" charset="0"/>
              </a:rPr>
              <a:t>With a Stack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>
            <a:extLst>
              <a:ext uri="{FF2B5EF4-FFF2-40B4-BE49-F238E27FC236}">
                <a16:creationId xmlns:a16="http://schemas.microsoft.com/office/drawing/2014/main" id="{951D7F2C-190A-4A98-AA51-2922698D19E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123" name="Text Box 2">
            <a:extLst>
              <a:ext uri="{FF2B5EF4-FFF2-40B4-BE49-F238E27FC236}">
                <a16:creationId xmlns:a16="http://schemas.microsoft.com/office/drawing/2014/main" id="{E284C3B2-E03B-411E-B485-482C388C7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524000"/>
            <a:ext cx="6351588" cy="4910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Expressions are made up of values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and symbols.  Many symbols come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in pairs.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accent2"/>
                </a:solidFill>
                <a:latin typeface="Tahoma" panose="020B0604030504040204" pitchFamily="34" charset="0"/>
              </a:rPr>
              <a:t>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accent2"/>
                </a:solidFill>
                <a:latin typeface="Tahoma" panose="020B0604030504040204" pitchFamily="34" charset="0"/>
              </a:rPr>
              <a:t>{ 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400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A stack can be used to match up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opening and closing symbols.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5124" name="WordArt 3">
            <a:extLst>
              <a:ext uri="{FF2B5EF4-FFF2-40B4-BE49-F238E27FC236}">
                <a16:creationId xmlns:a16="http://schemas.microsoft.com/office/drawing/2014/main" id="{7000B803-0C8E-40CF-BC0E-C6321F5CD60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Expression Tester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>
            <a:extLst>
              <a:ext uri="{FF2B5EF4-FFF2-40B4-BE49-F238E27FC236}">
                <a16:creationId xmlns:a16="http://schemas.microsoft.com/office/drawing/2014/main" id="{B3AE48E7-E90B-4E59-8B41-2FFC94D3D0E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147" name="Text Box 2">
            <a:extLst>
              <a:ext uri="{FF2B5EF4-FFF2-40B4-BE49-F238E27FC236}">
                <a16:creationId xmlns:a16="http://schemas.microsoft.com/office/drawing/2014/main" id="{9D560BE2-3E90-49B1-9650-3C6CEC652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676400"/>
            <a:ext cx="6977063" cy="397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{ ( [ ] ) }</a:t>
            </a:r>
            <a:r>
              <a:rPr lang="en-US" altLang="en-US" sz="2800">
                <a:latin typeface="Tahoma" panose="020B0604030504040204" pitchFamily="34" charset="0"/>
              </a:rPr>
              <a:t>     is a valid expression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C0000"/>
                </a:solidFill>
                <a:latin typeface="Tahoma" panose="020B0604030504040204" pitchFamily="34" charset="0"/>
              </a:rPr>
              <a:t>{ ( } )</a:t>
            </a:r>
            <a:r>
              <a:rPr lang="en-US" altLang="en-US" sz="2800">
                <a:latin typeface="Tahoma" panose="020B0604030504040204" pitchFamily="34" charset="0"/>
              </a:rPr>
              <a:t>    is an invalid expression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C0000"/>
                </a:solidFill>
                <a:latin typeface="Tahoma" panose="020B0604030504040204" pitchFamily="34" charset="0"/>
              </a:rPr>
              <a:t>{ ( ] ) </a:t>
            </a:r>
            <a:r>
              <a:rPr lang="en-US" altLang="en-US" sz="2800">
                <a:latin typeface="Tahoma" panose="020B0604030504040204" pitchFamily="34" charset="0"/>
              </a:rPr>
              <a:t>    is an invalid expression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Open and closing symbol pairs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have to occur in the proper sequence.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6148" name="WordArt 3">
            <a:extLst>
              <a:ext uri="{FF2B5EF4-FFF2-40B4-BE49-F238E27FC236}">
                <a16:creationId xmlns:a16="http://schemas.microsoft.com/office/drawing/2014/main" id="{67826DCD-3108-4F72-95EE-DB64F05D9D4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Expression Tester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>
            <a:extLst>
              <a:ext uri="{FF2B5EF4-FFF2-40B4-BE49-F238E27FC236}">
                <a16:creationId xmlns:a16="http://schemas.microsoft.com/office/drawing/2014/main" id="{7E94578A-0378-42F9-9797-D6154B41B01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74BDAC71-9A09-491B-B4B0-40FF92781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667000"/>
            <a:ext cx="12668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{ ( ) 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7172" name="Text Box 5">
            <a:extLst>
              <a:ext uri="{FF2B5EF4-FFF2-40B4-BE49-F238E27FC236}">
                <a16:creationId xmlns:a16="http://schemas.microsoft.com/office/drawing/2014/main" id="{40C89263-C1C3-487E-BF4A-1231EDBD5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9530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Push { onto the stack.</a:t>
            </a:r>
          </a:p>
        </p:txBody>
      </p:sp>
      <p:sp>
        <p:nvSpPr>
          <p:cNvPr id="7173" name="Text Box 6">
            <a:extLst>
              <a:ext uri="{FF2B5EF4-FFF2-40B4-BE49-F238E27FC236}">
                <a16:creationId xmlns:a16="http://schemas.microsoft.com/office/drawing/2014/main" id="{309C1357-61D2-49B2-A671-8CBDD65E4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8925" y="46815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7174" name="WordArt 8">
            <a:extLst>
              <a:ext uri="{FF2B5EF4-FFF2-40B4-BE49-F238E27FC236}">
                <a16:creationId xmlns:a16="http://schemas.microsoft.com/office/drawing/2014/main" id="{9B34D09B-2001-4FBD-8053-75029D958FA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Expression Tester</a:t>
            </a:r>
          </a:p>
        </p:txBody>
      </p:sp>
      <p:sp>
        <p:nvSpPr>
          <p:cNvPr id="7175" name="Rectangle 9">
            <a:extLst>
              <a:ext uri="{FF2B5EF4-FFF2-40B4-BE49-F238E27FC236}">
                <a16:creationId xmlns:a16="http://schemas.microsoft.com/office/drawing/2014/main" id="{CFDD5ED5-9439-4790-AC86-47BA95E22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667000"/>
            <a:ext cx="381000" cy="609600"/>
          </a:xfrm>
          <a:prstGeom prst="rect">
            <a:avLst/>
          </a:prstGeom>
          <a:solidFill>
            <a:srgbClr val="CCFFCC">
              <a:alpha val="4196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graphicFrame>
        <p:nvGraphicFramePr>
          <p:cNvPr id="160797" name="Group 29">
            <a:extLst>
              <a:ext uri="{FF2B5EF4-FFF2-40B4-BE49-F238E27FC236}">
                <a16:creationId xmlns:a16="http://schemas.microsoft.com/office/drawing/2014/main" id="{E4808800-3BD6-4B1D-A7D7-E9A167643EFF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3352800"/>
          <a:ext cx="1524000" cy="9493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49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>
            <a:extLst>
              <a:ext uri="{FF2B5EF4-FFF2-40B4-BE49-F238E27FC236}">
                <a16:creationId xmlns:a16="http://schemas.microsoft.com/office/drawing/2014/main" id="{0C5D4AAD-6775-4ECC-89CC-0788F3A9B97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195" name="Text Box 2">
            <a:extLst>
              <a:ext uri="{FF2B5EF4-FFF2-40B4-BE49-F238E27FC236}">
                <a16:creationId xmlns:a16="http://schemas.microsoft.com/office/drawing/2014/main" id="{889FFA79-AEDB-429F-8342-1F45815BA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667000"/>
            <a:ext cx="12668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{ ( ) 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</p:txBody>
      </p:sp>
      <p:sp>
        <p:nvSpPr>
          <p:cNvPr id="8196" name="Text Box 5">
            <a:extLst>
              <a:ext uri="{FF2B5EF4-FFF2-40B4-BE49-F238E27FC236}">
                <a16:creationId xmlns:a16="http://schemas.microsoft.com/office/drawing/2014/main" id="{E1BCFE8A-0A21-4304-9779-9DE82E1B9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9530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Push ( onto the stack.</a:t>
            </a:r>
          </a:p>
        </p:txBody>
      </p:sp>
      <p:sp>
        <p:nvSpPr>
          <p:cNvPr id="8197" name="Text Box 6">
            <a:extLst>
              <a:ext uri="{FF2B5EF4-FFF2-40B4-BE49-F238E27FC236}">
                <a16:creationId xmlns:a16="http://schemas.microsoft.com/office/drawing/2014/main" id="{11E474DC-3D25-46A1-AA07-FC8BAEE19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8925" y="46815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8198" name="WordArt 9">
            <a:extLst>
              <a:ext uri="{FF2B5EF4-FFF2-40B4-BE49-F238E27FC236}">
                <a16:creationId xmlns:a16="http://schemas.microsoft.com/office/drawing/2014/main" id="{DFA0D4CA-7126-4128-A331-52FFD199062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Expression Tester</a:t>
            </a:r>
          </a:p>
        </p:txBody>
      </p:sp>
      <p:sp>
        <p:nvSpPr>
          <p:cNvPr id="8199" name="Rectangle 10">
            <a:extLst>
              <a:ext uri="{FF2B5EF4-FFF2-40B4-BE49-F238E27FC236}">
                <a16:creationId xmlns:a16="http://schemas.microsoft.com/office/drawing/2014/main" id="{3A1A6A49-FDF4-4272-A60C-CA941945D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667000"/>
            <a:ext cx="609600" cy="609600"/>
          </a:xfrm>
          <a:prstGeom prst="rect">
            <a:avLst/>
          </a:prstGeom>
          <a:solidFill>
            <a:srgbClr val="CCFFCC">
              <a:alpha val="4196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graphicFrame>
        <p:nvGraphicFramePr>
          <p:cNvPr id="161827" name="Group 35">
            <a:extLst>
              <a:ext uri="{FF2B5EF4-FFF2-40B4-BE49-F238E27FC236}">
                <a16:creationId xmlns:a16="http://schemas.microsoft.com/office/drawing/2014/main" id="{0298C3F9-7C0F-4FF1-A11C-0F23529B4D13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2438400"/>
          <a:ext cx="1524000" cy="1900238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0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9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>
            <a:extLst>
              <a:ext uri="{FF2B5EF4-FFF2-40B4-BE49-F238E27FC236}">
                <a16:creationId xmlns:a16="http://schemas.microsoft.com/office/drawing/2014/main" id="{A322EB79-20B1-4815-BB20-6326F671992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219" name="Text Box 2">
            <a:extLst>
              <a:ext uri="{FF2B5EF4-FFF2-40B4-BE49-F238E27FC236}">
                <a16:creationId xmlns:a16="http://schemas.microsoft.com/office/drawing/2014/main" id="{EE2BADCB-7A37-4787-8BCE-63E05A2DF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667000"/>
            <a:ext cx="12668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{ ( ) 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9220" name="Text Box 5">
            <a:extLst>
              <a:ext uri="{FF2B5EF4-FFF2-40B4-BE49-F238E27FC236}">
                <a16:creationId xmlns:a16="http://schemas.microsoft.com/office/drawing/2014/main" id="{9F7AB654-EC99-41B2-859C-33C4F2067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953000"/>
            <a:ext cx="6705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A close ) was encountered.  Pop the top</a:t>
            </a:r>
            <a:br>
              <a:rPr lang="en-US" altLang="en-US" sz="2400">
                <a:latin typeface="Tahoma" panose="020B0604030504040204" pitchFamily="34" charset="0"/>
              </a:rPr>
            </a:br>
            <a:r>
              <a:rPr lang="en-US" altLang="en-US" sz="2400">
                <a:latin typeface="Tahoma" panose="020B0604030504040204" pitchFamily="34" charset="0"/>
              </a:rPr>
              <a:t>symbol off the stack and see if it matches.</a:t>
            </a:r>
          </a:p>
        </p:txBody>
      </p:sp>
      <p:sp>
        <p:nvSpPr>
          <p:cNvPr id="9221" name="Text Box 6">
            <a:extLst>
              <a:ext uri="{FF2B5EF4-FFF2-40B4-BE49-F238E27FC236}">
                <a16:creationId xmlns:a16="http://schemas.microsoft.com/office/drawing/2014/main" id="{446E9129-0E91-4B32-A4B8-E9A84AAA2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8925" y="46815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9222" name="WordArt 8">
            <a:extLst>
              <a:ext uri="{FF2B5EF4-FFF2-40B4-BE49-F238E27FC236}">
                <a16:creationId xmlns:a16="http://schemas.microsoft.com/office/drawing/2014/main" id="{D3C24219-22B8-4B2A-9B94-FEE2F417DBE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Expression Tester</a:t>
            </a:r>
          </a:p>
        </p:txBody>
      </p:sp>
      <p:sp>
        <p:nvSpPr>
          <p:cNvPr id="9223" name="Rectangle 9">
            <a:extLst>
              <a:ext uri="{FF2B5EF4-FFF2-40B4-BE49-F238E27FC236}">
                <a16:creationId xmlns:a16="http://schemas.microsoft.com/office/drawing/2014/main" id="{FF7259E8-65DB-4035-8D5E-069B17E7F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667000"/>
            <a:ext cx="914400" cy="609600"/>
          </a:xfrm>
          <a:prstGeom prst="rect">
            <a:avLst/>
          </a:prstGeom>
          <a:solidFill>
            <a:srgbClr val="CCFFCC">
              <a:alpha val="4196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graphicFrame>
        <p:nvGraphicFramePr>
          <p:cNvPr id="162842" name="Group 26">
            <a:extLst>
              <a:ext uri="{FF2B5EF4-FFF2-40B4-BE49-F238E27FC236}">
                <a16:creationId xmlns:a16="http://schemas.microsoft.com/office/drawing/2014/main" id="{A70B36E7-0214-4826-A277-9DEDC5BA772C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3352800"/>
          <a:ext cx="1524000" cy="9493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49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>
            <a:extLst>
              <a:ext uri="{FF2B5EF4-FFF2-40B4-BE49-F238E27FC236}">
                <a16:creationId xmlns:a16="http://schemas.microsoft.com/office/drawing/2014/main" id="{CF37574A-C176-4954-B7BE-C06F8FD071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243" name="Text Box 2">
            <a:extLst>
              <a:ext uri="{FF2B5EF4-FFF2-40B4-BE49-F238E27FC236}">
                <a16:creationId xmlns:a16="http://schemas.microsoft.com/office/drawing/2014/main" id="{CC5A1A1F-6456-4513-893E-A15B96EE8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667000"/>
            <a:ext cx="12668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{ ( ) 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10244" name="Text Box 5">
            <a:extLst>
              <a:ext uri="{FF2B5EF4-FFF2-40B4-BE49-F238E27FC236}">
                <a16:creationId xmlns:a16="http://schemas.microsoft.com/office/drawing/2014/main" id="{26822C00-23DC-4580-8E7D-0BBEE933A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953000"/>
            <a:ext cx="6705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A close } was encountered.  Pop the top</a:t>
            </a:r>
            <a:br>
              <a:rPr lang="en-US" altLang="en-US" sz="2400">
                <a:latin typeface="Tahoma" panose="020B0604030504040204" pitchFamily="34" charset="0"/>
              </a:rPr>
            </a:br>
            <a:r>
              <a:rPr lang="en-US" altLang="en-US" sz="2400">
                <a:latin typeface="Tahoma" panose="020B0604030504040204" pitchFamily="34" charset="0"/>
              </a:rPr>
              <a:t>symbol off the stack and see if it matches.</a:t>
            </a:r>
          </a:p>
        </p:txBody>
      </p:sp>
      <p:sp>
        <p:nvSpPr>
          <p:cNvPr id="10245" name="Text Box 6">
            <a:extLst>
              <a:ext uri="{FF2B5EF4-FFF2-40B4-BE49-F238E27FC236}">
                <a16:creationId xmlns:a16="http://schemas.microsoft.com/office/drawing/2014/main" id="{5BD70D6F-E5B4-4F68-9625-36B5C0721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8925" y="46815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0246" name="WordArt 8">
            <a:extLst>
              <a:ext uri="{FF2B5EF4-FFF2-40B4-BE49-F238E27FC236}">
                <a16:creationId xmlns:a16="http://schemas.microsoft.com/office/drawing/2014/main" id="{0659F560-C215-4AC2-A987-3D1C4EB65F0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Expression Tester</a:t>
            </a:r>
          </a:p>
        </p:txBody>
      </p:sp>
      <p:sp>
        <p:nvSpPr>
          <p:cNvPr id="10247" name="Rectangle 9">
            <a:extLst>
              <a:ext uri="{FF2B5EF4-FFF2-40B4-BE49-F238E27FC236}">
                <a16:creationId xmlns:a16="http://schemas.microsoft.com/office/drawing/2014/main" id="{1106DB53-EB15-4A31-9C33-15BFF6AAB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667000"/>
            <a:ext cx="1295400" cy="609600"/>
          </a:xfrm>
          <a:prstGeom prst="rect">
            <a:avLst/>
          </a:prstGeom>
          <a:solidFill>
            <a:srgbClr val="CCFFCC">
              <a:alpha val="4196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graphicFrame>
        <p:nvGraphicFramePr>
          <p:cNvPr id="163856" name="Group 16">
            <a:extLst>
              <a:ext uri="{FF2B5EF4-FFF2-40B4-BE49-F238E27FC236}">
                <a16:creationId xmlns:a16="http://schemas.microsoft.com/office/drawing/2014/main" id="{9EA02B09-7A84-4E4D-84C9-059D393C69DB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3352800"/>
          <a:ext cx="1524000" cy="9493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49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>
            <a:extLst>
              <a:ext uri="{FF2B5EF4-FFF2-40B4-BE49-F238E27FC236}">
                <a16:creationId xmlns:a16="http://schemas.microsoft.com/office/drawing/2014/main" id="{D1574D1D-EFF8-4143-8A50-5723E20FD93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267" name="Text Box 2">
            <a:extLst>
              <a:ext uri="{FF2B5EF4-FFF2-40B4-BE49-F238E27FC236}">
                <a16:creationId xmlns:a16="http://schemas.microsoft.com/office/drawing/2014/main" id="{46F9177C-5A51-48E0-BE88-9C8B134EA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667000"/>
            <a:ext cx="12668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{ ( ) 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11268" name="Text Box 5">
            <a:extLst>
              <a:ext uri="{FF2B5EF4-FFF2-40B4-BE49-F238E27FC236}">
                <a16:creationId xmlns:a16="http://schemas.microsoft.com/office/drawing/2014/main" id="{246DDEED-8D1E-402A-A4C5-863CECEAD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657600"/>
            <a:ext cx="6705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All symbols have been processed.  All symbols matched up and the stack is empty.   The expression is valid.</a:t>
            </a:r>
          </a:p>
        </p:txBody>
      </p:sp>
      <p:sp>
        <p:nvSpPr>
          <p:cNvPr id="11269" name="Text Box 6">
            <a:extLst>
              <a:ext uri="{FF2B5EF4-FFF2-40B4-BE49-F238E27FC236}">
                <a16:creationId xmlns:a16="http://schemas.microsoft.com/office/drawing/2014/main" id="{AF34B02F-3F58-4A84-8167-B52340E97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8925" y="46815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1270" name="WordArt 7">
            <a:extLst>
              <a:ext uri="{FF2B5EF4-FFF2-40B4-BE49-F238E27FC236}">
                <a16:creationId xmlns:a16="http://schemas.microsoft.com/office/drawing/2014/main" id="{39C0D516-0022-47C8-9169-19C97898B95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Expression Tester</a:t>
            </a:r>
          </a:p>
        </p:txBody>
      </p:sp>
      <p:sp>
        <p:nvSpPr>
          <p:cNvPr id="11271" name="Rectangle 8">
            <a:extLst>
              <a:ext uri="{FF2B5EF4-FFF2-40B4-BE49-F238E27FC236}">
                <a16:creationId xmlns:a16="http://schemas.microsoft.com/office/drawing/2014/main" id="{E0ED6B58-8D4B-4F7D-BF37-96111B4DD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667000"/>
            <a:ext cx="1295400" cy="609600"/>
          </a:xfrm>
          <a:prstGeom prst="rect">
            <a:avLst/>
          </a:prstGeom>
          <a:solidFill>
            <a:srgbClr val="CCFFCC">
              <a:alpha val="4196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>
            <a:extLst>
              <a:ext uri="{FF2B5EF4-FFF2-40B4-BE49-F238E27FC236}">
                <a16:creationId xmlns:a16="http://schemas.microsoft.com/office/drawing/2014/main" id="{4BF73720-F9C4-4C70-A5C5-1C7FDA984B1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2291" name="Text Box 2">
            <a:extLst>
              <a:ext uri="{FF2B5EF4-FFF2-40B4-BE49-F238E27FC236}">
                <a16:creationId xmlns:a16="http://schemas.microsoft.com/office/drawing/2014/main" id="{222B1101-DDB8-4B9B-926C-A9028D870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667000"/>
            <a:ext cx="1277938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{ ( ] 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12292" name="Text Box 5">
            <a:extLst>
              <a:ext uri="{FF2B5EF4-FFF2-40B4-BE49-F238E27FC236}">
                <a16:creationId xmlns:a16="http://schemas.microsoft.com/office/drawing/2014/main" id="{A7199E12-ED6C-4D5A-A62C-9AC92C20C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9530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Push { onto the stack.</a:t>
            </a:r>
          </a:p>
        </p:txBody>
      </p:sp>
      <p:sp>
        <p:nvSpPr>
          <p:cNvPr id="12293" name="Text Box 6">
            <a:extLst>
              <a:ext uri="{FF2B5EF4-FFF2-40B4-BE49-F238E27FC236}">
                <a16:creationId xmlns:a16="http://schemas.microsoft.com/office/drawing/2014/main" id="{D79FB790-3B34-4A7A-A1CE-A734D2E37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8925" y="46815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2294" name="WordArt 8">
            <a:extLst>
              <a:ext uri="{FF2B5EF4-FFF2-40B4-BE49-F238E27FC236}">
                <a16:creationId xmlns:a16="http://schemas.microsoft.com/office/drawing/2014/main" id="{F55E5229-B413-4D82-A434-6B190B74D51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Expression Tester</a:t>
            </a:r>
          </a:p>
        </p:txBody>
      </p:sp>
      <p:sp>
        <p:nvSpPr>
          <p:cNvPr id="12295" name="Rectangle 9">
            <a:extLst>
              <a:ext uri="{FF2B5EF4-FFF2-40B4-BE49-F238E27FC236}">
                <a16:creationId xmlns:a16="http://schemas.microsoft.com/office/drawing/2014/main" id="{CD95232F-5463-4D3D-BCD2-3F30B59DC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667000"/>
            <a:ext cx="381000" cy="609600"/>
          </a:xfrm>
          <a:prstGeom prst="rect">
            <a:avLst/>
          </a:prstGeom>
          <a:solidFill>
            <a:srgbClr val="CCFFCC">
              <a:alpha val="4196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graphicFrame>
        <p:nvGraphicFramePr>
          <p:cNvPr id="160797" name="Group 29">
            <a:extLst>
              <a:ext uri="{FF2B5EF4-FFF2-40B4-BE49-F238E27FC236}">
                <a16:creationId xmlns:a16="http://schemas.microsoft.com/office/drawing/2014/main" id="{E4808800-3BD6-4B1D-A7D7-E9A167643EFF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3352800"/>
          <a:ext cx="1524000" cy="9493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49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>
            <a:extLst>
              <a:ext uri="{FF2B5EF4-FFF2-40B4-BE49-F238E27FC236}">
                <a16:creationId xmlns:a16="http://schemas.microsoft.com/office/drawing/2014/main" id="{8B34EEEA-0E82-4290-AA02-200AF621AE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3315" name="Text Box 2">
            <a:extLst>
              <a:ext uri="{FF2B5EF4-FFF2-40B4-BE49-F238E27FC236}">
                <a16:creationId xmlns:a16="http://schemas.microsoft.com/office/drawing/2014/main" id="{2C9F0D34-846D-4ED8-9201-37921663C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667000"/>
            <a:ext cx="1277938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{ ( ] 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13316" name="Text Box 5">
            <a:extLst>
              <a:ext uri="{FF2B5EF4-FFF2-40B4-BE49-F238E27FC236}">
                <a16:creationId xmlns:a16="http://schemas.microsoft.com/office/drawing/2014/main" id="{19ADE077-B6FB-4D10-9D71-B80456580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9530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Push ( onto the stack.</a:t>
            </a:r>
          </a:p>
        </p:txBody>
      </p:sp>
      <p:sp>
        <p:nvSpPr>
          <p:cNvPr id="13317" name="Text Box 6">
            <a:extLst>
              <a:ext uri="{FF2B5EF4-FFF2-40B4-BE49-F238E27FC236}">
                <a16:creationId xmlns:a16="http://schemas.microsoft.com/office/drawing/2014/main" id="{3868F47A-DC22-488C-9157-4B6926161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8925" y="46815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3318" name="WordArt 9">
            <a:extLst>
              <a:ext uri="{FF2B5EF4-FFF2-40B4-BE49-F238E27FC236}">
                <a16:creationId xmlns:a16="http://schemas.microsoft.com/office/drawing/2014/main" id="{E66A3783-3546-4B01-A65E-33212349CB4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Expression Tester</a:t>
            </a:r>
          </a:p>
        </p:txBody>
      </p:sp>
      <p:sp>
        <p:nvSpPr>
          <p:cNvPr id="13319" name="Rectangle 10">
            <a:extLst>
              <a:ext uri="{FF2B5EF4-FFF2-40B4-BE49-F238E27FC236}">
                <a16:creationId xmlns:a16="http://schemas.microsoft.com/office/drawing/2014/main" id="{4F4B53BB-EA12-43FA-A1FC-57BE5DF19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667000"/>
            <a:ext cx="609600" cy="609600"/>
          </a:xfrm>
          <a:prstGeom prst="rect">
            <a:avLst/>
          </a:prstGeom>
          <a:solidFill>
            <a:srgbClr val="CCFFCC">
              <a:alpha val="4196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graphicFrame>
        <p:nvGraphicFramePr>
          <p:cNvPr id="161827" name="Group 35">
            <a:extLst>
              <a:ext uri="{FF2B5EF4-FFF2-40B4-BE49-F238E27FC236}">
                <a16:creationId xmlns:a16="http://schemas.microsoft.com/office/drawing/2014/main" id="{0298C3F9-7C0F-4FF1-A11C-0F23529B4D13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2438400"/>
          <a:ext cx="1524000" cy="1900238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0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9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>
            <a:extLst>
              <a:ext uri="{FF2B5EF4-FFF2-40B4-BE49-F238E27FC236}">
                <a16:creationId xmlns:a16="http://schemas.microsoft.com/office/drawing/2014/main" id="{A863D8D7-95E0-4B56-902D-8723DA96470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4339" name="Text Box 2">
            <a:extLst>
              <a:ext uri="{FF2B5EF4-FFF2-40B4-BE49-F238E27FC236}">
                <a16:creationId xmlns:a16="http://schemas.microsoft.com/office/drawing/2014/main" id="{287C6C29-F8ED-44EA-B9A9-58F18BCB7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828800"/>
            <a:ext cx="1277938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{ ( ] 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14340" name="Text Box 5">
            <a:extLst>
              <a:ext uri="{FF2B5EF4-FFF2-40B4-BE49-F238E27FC236}">
                <a16:creationId xmlns:a16="http://schemas.microsoft.com/office/drawing/2014/main" id="{789A6F2A-126E-4167-9BD1-091286BDE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114800"/>
            <a:ext cx="73152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A close ] was encountered.  The open ( that is popped off the top doesn’t match, so return false.</a:t>
            </a:r>
          </a:p>
        </p:txBody>
      </p:sp>
      <p:sp>
        <p:nvSpPr>
          <p:cNvPr id="14341" name="Text Box 6">
            <a:extLst>
              <a:ext uri="{FF2B5EF4-FFF2-40B4-BE49-F238E27FC236}">
                <a16:creationId xmlns:a16="http://schemas.microsoft.com/office/drawing/2014/main" id="{DE7740FF-0CA9-4F47-A0F8-60A46CA08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6525" y="38433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4342" name="WordArt 8">
            <a:extLst>
              <a:ext uri="{FF2B5EF4-FFF2-40B4-BE49-F238E27FC236}">
                <a16:creationId xmlns:a16="http://schemas.microsoft.com/office/drawing/2014/main" id="{9AB512AA-6387-4B68-AA1A-AE298855520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Expression Tester</a:t>
            </a:r>
          </a:p>
        </p:txBody>
      </p:sp>
      <p:sp>
        <p:nvSpPr>
          <p:cNvPr id="14343" name="Rectangle 9">
            <a:extLst>
              <a:ext uri="{FF2B5EF4-FFF2-40B4-BE49-F238E27FC236}">
                <a16:creationId xmlns:a16="http://schemas.microsoft.com/office/drawing/2014/main" id="{F56AE93D-F353-43F1-9F96-9F3EA9A28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828800"/>
            <a:ext cx="914400" cy="609600"/>
          </a:xfrm>
          <a:prstGeom prst="rect">
            <a:avLst/>
          </a:prstGeom>
          <a:solidFill>
            <a:srgbClr val="CCFFCC">
              <a:alpha val="4196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graphicFrame>
        <p:nvGraphicFramePr>
          <p:cNvPr id="162842" name="Group 26">
            <a:extLst>
              <a:ext uri="{FF2B5EF4-FFF2-40B4-BE49-F238E27FC236}">
                <a16:creationId xmlns:a16="http://schemas.microsoft.com/office/drawing/2014/main" id="{A70B36E7-0214-4826-A277-9DEDC5BA772C}"/>
              </a:ext>
            </a:extLst>
          </p:cNvPr>
          <p:cNvGraphicFramePr>
            <a:graphicFrameLocks noGrp="1"/>
          </p:cNvGraphicFramePr>
          <p:nvPr/>
        </p:nvGraphicFramePr>
        <p:xfrm>
          <a:off x="4419600" y="2514600"/>
          <a:ext cx="1524000" cy="9493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49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3">
            <a:extLst>
              <a:ext uri="{FF2B5EF4-FFF2-40B4-BE49-F238E27FC236}">
                <a16:creationId xmlns:a16="http://schemas.microsoft.com/office/drawing/2014/main" id="{79E73E8A-442B-463F-921C-C099F1D4996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243" name="Text Box 2">
            <a:extLst>
              <a:ext uri="{FF2B5EF4-FFF2-40B4-BE49-F238E27FC236}">
                <a16:creationId xmlns:a16="http://schemas.microsoft.com/office/drawing/2014/main" id="{FC579E0E-0680-49FA-9FD0-EDC3329B5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827338"/>
            <a:ext cx="16002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800" dirty="0">
                <a:latin typeface="Tahoma" panose="020B0604030504040204" pitchFamily="34" charset="0"/>
              </a:rPr>
              <a:t>{ ( ) }][</a:t>
            </a:r>
          </a:p>
        </p:txBody>
      </p:sp>
      <p:sp>
        <p:nvSpPr>
          <p:cNvPr id="15364" name="Text Box 5">
            <a:extLst>
              <a:ext uri="{FF2B5EF4-FFF2-40B4-BE49-F238E27FC236}">
                <a16:creationId xmlns:a16="http://schemas.microsoft.com/office/drawing/2014/main" id="{73E4B163-E00B-4D0A-862B-B21AE34EE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538288"/>
            <a:ext cx="7848600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For each example below, determine at what point you’ll know it’s invalid and how you’ll know:</a:t>
            </a:r>
          </a:p>
        </p:txBody>
      </p:sp>
      <p:sp>
        <p:nvSpPr>
          <p:cNvPr id="15365" name="Text Box 6">
            <a:extLst>
              <a:ext uri="{FF2B5EF4-FFF2-40B4-BE49-F238E27FC236}">
                <a16:creationId xmlns:a16="http://schemas.microsoft.com/office/drawing/2014/main" id="{1971AB44-A844-4C09-AAE0-174CD6310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8925" y="46815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5366" name="WordArt 8">
            <a:extLst>
              <a:ext uri="{FF2B5EF4-FFF2-40B4-BE49-F238E27FC236}">
                <a16:creationId xmlns:a16="http://schemas.microsoft.com/office/drawing/2014/main" id="{81BA2677-B901-4E9C-9734-170C4F97101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Expression Tester</a:t>
            </a: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573BCA3B-4200-438B-B056-2A83E82CE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3629025"/>
            <a:ext cx="78486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When you get to the ] and the stack is empty.</a:t>
            </a:r>
          </a:p>
        </p:txBody>
      </p:sp>
      <p:sp>
        <p:nvSpPr>
          <p:cNvPr id="11" name="Text Box 2">
            <a:extLst>
              <a:ext uri="{FF2B5EF4-FFF2-40B4-BE49-F238E27FC236}">
                <a16:creationId xmlns:a16="http://schemas.microsoft.com/office/drawing/2014/main" id="{72CE949C-1CEA-43BB-AE18-074B3F5B8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429125"/>
            <a:ext cx="1111250" cy="522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800" dirty="0">
                <a:latin typeface="Tahoma" panose="020B0604030504040204" pitchFamily="34" charset="0"/>
              </a:rPr>
              <a:t>{ ( )[</a:t>
            </a: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93E13AA3-ED4B-43D4-B4A8-CDBF4AB6A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5138738"/>
            <a:ext cx="7848600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When you’ve gone through the whole expression and the stack is NOT empty.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1CE6D-D06C-A957-1305-FF216CDEE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2401"/>
            <a:ext cx="8077200" cy="685800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Abadi" panose="020B0604020104020204" pitchFamily="34" charset="0"/>
              </a:rPr>
              <a:t>Matching Symbols using </a:t>
            </a:r>
            <a:r>
              <a:rPr lang="en-US" dirty="0">
                <a:solidFill>
                  <a:srgbClr val="00B050"/>
                </a:solidFill>
                <a:latin typeface="Abadi" panose="020B0604020104020204" pitchFamily="34" charset="0"/>
              </a:rPr>
              <a:t>Strings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1E40F0-3C9D-A940-543D-BFD9510EAF93}"/>
              </a:ext>
            </a:extLst>
          </p:cNvPr>
          <p:cNvSpPr txBox="1"/>
          <p:nvPr/>
        </p:nvSpPr>
        <p:spPr>
          <a:xfrm>
            <a:off x="266700" y="1828800"/>
            <a:ext cx="86106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941EDF"/>
                </a:solidFill>
                <a:latin typeface="Courier New" panose="020703090202050204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200" dirty="0" err="1">
                <a:solidFill>
                  <a:srgbClr val="941EDF"/>
                </a:solidFill>
                <a:latin typeface="Courier New" panose="02070309020205020404" pitchFamily="49" charset="0"/>
              </a:rPr>
              <a:t>boolean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checkExpression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() {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Stack&lt;String&gt; symbols;</a:t>
            </a:r>
          </a:p>
          <a:p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symbols = </a:t>
            </a:r>
            <a:r>
              <a:rPr lang="en-US" sz="2200" dirty="0">
                <a:solidFill>
                  <a:srgbClr val="941EDF"/>
                </a:solidFill>
                <a:latin typeface="Courier New" panose="02070309020205020404" pitchFamily="49" charset="0"/>
              </a:rPr>
              <a:t>new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Stack&lt;String&gt;();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String  open = 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"{(&lt;["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String close = 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"})&gt;]"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200" dirty="0">
                <a:solidFill>
                  <a:srgbClr val="941EDF"/>
                </a:solidFill>
                <a:latin typeface="Courier New" panose="02070309020205020404" pitchFamily="49" charset="0"/>
              </a:rPr>
              <a:t>for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i=0; i &lt;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expression.length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();  i++) </a:t>
            </a:r>
          </a:p>
          <a:p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{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   String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curr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expression.substring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(i,i+1);</a:t>
            </a:r>
          </a:p>
          <a:p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161564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1E40F0-3C9D-A940-543D-BFD9510EAF93}"/>
              </a:ext>
            </a:extLst>
          </p:cNvPr>
          <p:cNvSpPr txBox="1"/>
          <p:nvPr/>
        </p:nvSpPr>
        <p:spPr>
          <a:xfrm>
            <a:off x="266700" y="1398925"/>
            <a:ext cx="86106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941EDF"/>
                </a:solidFill>
                <a:latin typeface="Courier New" panose="020703090202050204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200" dirty="0" err="1">
                <a:solidFill>
                  <a:srgbClr val="941EDF"/>
                </a:solidFill>
                <a:latin typeface="Courier New" panose="02070309020205020404" pitchFamily="49" charset="0"/>
              </a:rPr>
              <a:t>boolean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checkExpression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() {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Stack&lt;String&gt; symbols;</a:t>
            </a:r>
          </a:p>
          <a:p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symbols = </a:t>
            </a:r>
            <a:r>
              <a:rPr lang="en-US" sz="2200" dirty="0">
                <a:solidFill>
                  <a:srgbClr val="941EDF"/>
                </a:solidFill>
                <a:latin typeface="Courier New" panose="02070309020205020404" pitchFamily="49" charset="0"/>
              </a:rPr>
              <a:t>new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Stack&lt;String&gt;();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String[]  open = {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"{"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"("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"&lt;"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"["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};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String[] close = {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"}"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")"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"&gt;"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"]"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};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200" dirty="0">
                <a:solidFill>
                  <a:srgbClr val="941EDF"/>
                </a:solidFill>
                <a:latin typeface="Courier New" panose="02070309020205020404" pitchFamily="49" charset="0"/>
              </a:rPr>
              <a:t>for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i=0; i &lt;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expression.length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();  i++) </a:t>
            </a:r>
          </a:p>
          <a:p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{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   String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curr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expression.substring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(i,i+1);</a:t>
            </a:r>
          </a:p>
          <a:p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endParaRPr lang="en-US" sz="22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4D2BB99-46C3-E2E0-94F2-33D0334E8407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1"/>
            <a:ext cx="8077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b="0" kern="0" dirty="0">
                <a:solidFill>
                  <a:srgbClr val="7030A0"/>
                </a:solidFill>
                <a:latin typeface="Abadi" panose="020B0604020104020204" pitchFamily="34" charset="0"/>
              </a:rPr>
              <a:t>Matching Symbols using </a:t>
            </a:r>
            <a:r>
              <a:rPr lang="en-US" b="0" kern="0" dirty="0">
                <a:solidFill>
                  <a:srgbClr val="00B050"/>
                </a:solidFill>
                <a:latin typeface="Abadi" panose="020B0604020104020204" pitchFamily="34" charset="0"/>
              </a:rPr>
              <a:t>Arrays</a:t>
            </a:r>
          </a:p>
        </p:txBody>
      </p:sp>
    </p:spTree>
    <p:extLst>
      <p:ext uri="{BB962C8B-B14F-4D97-AF65-F5344CB8AC3E}">
        <p14:creationId xmlns:p14="http://schemas.microsoft.com/office/powerpoint/2010/main" val="4165791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1E40F0-3C9D-A940-543D-BFD9510EAF93}"/>
              </a:ext>
            </a:extLst>
          </p:cNvPr>
          <p:cNvSpPr txBox="1"/>
          <p:nvPr/>
        </p:nvSpPr>
        <p:spPr>
          <a:xfrm>
            <a:off x="266700" y="1373862"/>
            <a:ext cx="86106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941EDF"/>
                </a:solidFill>
                <a:latin typeface="Courier New" panose="020703090202050204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200" dirty="0" err="1">
                <a:solidFill>
                  <a:srgbClr val="941EDF"/>
                </a:solidFill>
                <a:latin typeface="Courier New" panose="02070309020205020404" pitchFamily="49" charset="0"/>
              </a:rPr>
              <a:t>boolean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checkExpression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() {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Stack&lt;String&gt; symbols;</a:t>
            </a:r>
          </a:p>
          <a:p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symbols = </a:t>
            </a:r>
            <a:r>
              <a:rPr lang="en-US" sz="2200" dirty="0">
                <a:solidFill>
                  <a:srgbClr val="941EDF"/>
                </a:solidFill>
                <a:latin typeface="Courier New" panose="02070309020205020404" pitchFamily="49" charset="0"/>
              </a:rPr>
              <a:t>new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Stack&lt;String&gt;();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ArrayList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&lt;String&gt; open = </a:t>
            </a:r>
            <a:r>
              <a:rPr lang="en-US" sz="2200" dirty="0">
                <a:solidFill>
                  <a:srgbClr val="941EDF"/>
                </a:solidFill>
                <a:latin typeface="Courier New" panose="02070309020205020404" pitchFamily="49" charset="0"/>
              </a:rPr>
              <a:t>new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ArrayList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&lt;&gt;();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Collections.addAll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(open, 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"{"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"("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"&lt;"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"["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ArrayList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&lt;String&gt; close = </a:t>
            </a:r>
            <a:r>
              <a:rPr lang="en-US" sz="2200" dirty="0">
                <a:solidFill>
                  <a:srgbClr val="941EDF"/>
                </a:solidFill>
                <a:latin typeface="Courier New" panose="02070309020205020404" pitchFamily="49" charset="0"/>
              </a:rPr>
              <a:t>new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ArrayList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&lt;&gt;();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Collections.addAll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(close, 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"}"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")"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"&gt;"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"]"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200" dirty="0">
                <a:solidFill>
                  <a:srgbClr val="941EDF"/>
                </a:solidFill>
                <a:latin typeface="Courier New" panose="02070309020205020404" pitchFamily="49" charset="0"/>
              </a:rPr>
              <a:t>for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i=0; i &lt;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expression.length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();  i++) 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{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   String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curr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expression.substring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(i,i+1);</a:t>
            </a:r>
          </a:p>
          <a:p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endParaRPr lang="en-US" sz="22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4D2BB99-46C3-E2E0-94F2-33D0334E8407}"/>
              </a:ext>
            </a:extLst>
          </p:cNvPr>
          <p:cNvSpPr txBox="1">
            <a:spLocks/>
          </p:cNvSpPr>
          <p:nvPr/>
        </p:nvSpPr>
        <p:spPr bwMode="auto">
          <a:xfrm>
            <a:off x="76200" y="152401"/>
            <a:ext cx="8915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b="0" kern="0" dirty="0">
                <a:solidFill>
                  <a:srgbClr val="7030A0"/>
                </a:solidFill>
                <a:latin typeface="Abadi" panose="020B0604020104020204" pitchFamily="34" charset="0"/>
              </a:rPr>
              <a:t>Matching Symbols using </a:t>
            </a:r>
            <a:r>
              <a:rPr lang="en-US" b="0" kern="0" dirty="0" err="1">
                <a:solidFill>
                  <a:srgbClr val="00B050"/>
                </a:solidFill>
                <a:latin typeface="Abadi" panose="020B0604020104020204" pitchFamily="34" charset="0"/>
              </a:rPr>
              <a:t>ArrayLists</a:t>
            </a:r>
            <a:endParaRPr lang="en-US" b="0" kern="0" dirty="0">
              <a:solidFill>
                <a:srgbClr val="00B050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427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1E40F0-3C9D-A940-543D-BFD9510EAF93}"/>
              </a:ext>
            </a:extLst>
          </p:cNvPr>
          <p:cNvSpPr txBox="1"/>
          <p:nvPr/>
        </p:nvSpPr>
        <p:spPr>
          <a:xfrm>
            <a:off x="266700" y="1373862"/>
            <a:ext cx="86106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941EDF"/>
                </a:solidFill>
                <a:latin typeface="Courier New" panose="020703090202050204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200" dirty="0" err="1">
                <a:solidFill>
                  <a:srgbClr val="941EDF"/>
                </a:solidFill>
                <a:latin typeface="Courier New" panose="02070309020205020404" pitchFamily="49" charset="0"/>
              </a:rPr>
              <a:t>boolean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checkExpression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() {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Stack&lt;String&gt; symbols;</a:t>
            </a:r>
          </a:p>
          <a:p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symbols = </a:t>
            </a:r>
            <a:r>
              <a:rPr lang="en-US" sz="2200" dirty="0">
                <a:solidFill>
                  <a:srgbClr val="941EDF"/>
                </a:solidFill>
                <a:latin typeface="Courier New" panose="02070309020205020404" pitchFamily="49" charset="0"/>
              </a:rPr>
              <a:t>new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Stack&lt;String&gt;();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Map&lt;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String,String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&gt; pairs;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pairs = </a:t>
            </a:r>
            <a:r>
              <a:rPr lang="en-US" sz="2200" dirty="0">
                <a:solidFill>
                  <a:srgbClr val="941EDF"/>
                </a:solidFill>
                <a:latin typeface="Courier New" panose="02070309020205020404" pitchFamily="49" charset="0"/>
              </a:rPr>
              <a:t>new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HashMap&lt;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String,String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&gt;();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pairs.put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"{"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"}"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pairs.put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"("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")"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pairs.put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"&lt;"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"&gt;"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pairs.put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"["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sz="2200" dirty="0">
                <a:solidFill>
                  <a:srgbClr val="00A000"/>
                </a:solidFill>
                <a:latin typeface="Courier New" panose="02070309020205020404" pitchFamily="49" charset="0"/>
              </a:rPr>
              <a:t>"]"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200" dirty="0">
                <a:solidFill>
                  <a:srgbClr val="941EDF"/>
                </a:solidFill>
                <a:latin typeface="Courier New" panose="02070309020205020404" pitchFamily="49" charset="0"/>
              </a:rPr>
              <a:t>for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200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i=0; i &lt;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expression.length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();  i++) 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{</a:t>
            </a:r>
            <a:b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   String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curr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2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expression.substring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(i,i+1);</a:t>
            </a:r>
          </a:p>
          <a:p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endParaRPr lang="en-US" sz="22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4D2BB99-46C3-E2E0-94F2-33D0334E8407}"/>
              </a:ext>
            </a:extLst>
          </p:cNvPr>
          <p:cNvSpPr txBox="1">
            <a:spLocks/>
          </p:cNvSpPr>
          <p:nvPr/>
        </p:nvSpPr>
        <p:spPr bwMode="auto">
          <a:xfrm>
            <a:off x="76200" y="152401"/>
            <a:ext cx="8915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b="0" kern="0" dirty="0">
                <a:solidFill>
                  <a:srgbClr val="7030A0"/>
                </a:solidFill>
                <a:latin typeface="Abadi" panose="020B0604020104020204" pitchFamily="34" charset="0"/>
              </a:rPr>
              <a:t>Matching Symbols using </a:t>
            </a:r>
            <a:r>
              <a:rPr lang="en-US" b="0" kern="0" dirty="0">
                <a:solidFill>
                  <a:srgbClr val="00B050"/>
                </a:solidFill>
                <a:latin typeface="Abadi" panose="020B0604020104020204" pitchFamily="34" charset="0"/>
              </a:rPr>
              <a:t>a Map</a:t>
            </a:r>
          </a:p>
        </p:txBody>
      </p:sp>
    </p:spTree>
    <p:extLst>
      <p:ext uri="{BB962C8B-B14F-4D97-AF65-F5344CB8AC3E}">
        <p14:creationId xmlns:p14="http://schemas.microsoft.com/office/powerpoint/2010/main" val="1062535857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1670</TotalTime>
  <Words>801</Words>
  <Application>Microsoft Office PowerPoint</Application>
  <PresentationFormat>On-screen Show (4:3)</PresentationFormat>
  <Paragraphs>126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Abadi</vt:lpstr>
      <vt:lpstr>Arial Black</vt:lpstr>
      <vt:lpstr>Courier New</vt:lpstr>
      <vt:lpstr>Impact</vt:lpstr>
      <vt:lpstr>Tahoma</vt:lpstr>
      <vt:lpstr>Times New Roman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Matching Symbols using Strings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</dc:title>
  <dc:subject>Stacks</dc:subject>
  <dc:creator>A+ Computer Science</dc:creator>
  <cp:keywords>www.apluscompsci.com</cp:keywords>
  <dc:description>Stacks_x000d_
©A+ Computer Science_x000d_
www.apluscompsci.com</dc:description>
  <cp:lastModifiedBy>Weldon Jasik</cp:lastModifiedBy>
  <cp:revision>246</cp:revision>
  <cp:lastPrinted>1999-11-08T17:20:25Z</cp:lastPrinted>
  <dcterms:created xsi:type="dcterms:W3CDTF">1997-11-03T14:43:20Z</dcterms:created>
  <dcterms:modified xsi:type="dcterms:W3CDTF">2024-11-15T19:01:25Z</dcterms:modified>
  <cp:category>www.apluscompsci.com</cp:category>
</cp:coreProperties>
</file>