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48" r:id="rId1"/>
  </p:sldMasterIdLst>
  <p:notesMasterIdLst>
    <p:notesMasterId r:id="rId18"/>
  </p:notesMasterIdLst>
  <p:handoutMasterIdLst>
    <p:handoutMasterId r:id="rId19"/>
  </p:handoutMasterIdLst>
  <p:sldIdLst>
    <p:sldId id="385" r:id="rId2"/>
    <p:sldId id="386" r:id="rId3"/>
    <p:sldId id="387" r:id="rId4"/>
    <p:sldId id="388" r:id="rId5"/>
    <p:sldId id="389" r:id="rId6"/>
    <p:sldId id="390" r:id="rId7"/>
    <p:sldId id="391" r:id="rId8"/>
    <p:sldId id="392" r:id="rId9"/>
    <p:sldId id="406" r:id="rId10"/>
    <p:sldId id="407" r:id="rId11"/>
    <p:sldId id="408" r:id="rId12"/>
    <p:sldId id="409" r:id="rId13"/>
    <p:sldId id="410" r:id="rId14"/>
    <p:sldId id="411" r:id="rId15"/>
    <p:sldId id="412" r:id="rId16"/>
    <p:sldId id="413" r:id="rId17"/>
  </p:sldIdLst>
  <p:sldSz cx="9144000" cy="6858000" type="screen4x3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2800" b="1" kern="1200">
        <a:solidFill>
          <a:schemeClr val="tx1"/>
        </a:solidFill>
        <a:latin typeface="Tahoma" panose="020B060403050404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2800" b="1" kern="1200">
        <a:solidFill>
          <a:schemeClr val="tx1"/>
        </a:solidFill>
        <a:latin typeface="Tahoma" panose="020B060403050404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2800" b="1" kern="1200">
        <a:solidFill>
          <a:schemeClr val="tx1"/>
        </a:solidFill>
        <a:latin typeface="Tahoma" panose="020B060403050404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2800" b="1" kern="1200">
        <a:solidFill>
          <a:schemeClr val="tx1"/>
        </a:solidFill>
        <a:latin typeface="Tahoma" panose="020B060403050404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2800" b="1" kern="1200">
        <a:solidFill>
          <a:schemeClr val="tx1"/>
        </a:solidFill>
        <a:latin typeface="Tahoma" panose="020B0604030504040204" pitchFamily="34" charset="0"/>
        <a:ea typeface="+mn-ea"/>
        <a:cs typeface="+mn-cs"/>
      </a:defRPr>
    </a:lvl5pPr>
    <a:lvl6pPr marL="2286000" algn="l" defTabSz="914400" rtl="0" eaLnBrk="1" latinLnBrk="0" hangingPunct="1">
      <a:defRPr sz="2800" b="1" kern="1200">
        <a:solidFill>
          <a:schemeClr val="tx1"/>
        </a:solidFill>
        <a:latin typeface="Tahoma" panose="020B0604030504040204" pitchFamily="34" charset="0"/>
        <a:ea typeface="+mn-ea"/>
        <a:cs typeface="+mn-cs"/>
      </a:defRPr>
    </a:lvl6pPr>
    <a:lvl7pPr marL="2743200" algn="l" defTabSz="914400" rtl="0" eaLnBrk="1" latinLnBrk="0" hangingPunct="1">
      <a:defRPr sz="2800" b="1" kern="1200">
        <a:solidFill>
          <a:schemeClr val="tx1"/>
        </a:solidFill>
        <a:latin typeface="Tahoma" panose="020B0604030504040204" pitchFamily="34" charset="0"/>
        <a:ea typeface="+mn-ea"/>
        <a:cs typeface="+mn-cs"/>
      </a:defRPr>
    </a:lvl7pPr>
    <a:lvl8pPr marL="3200400" algn="l" defTabSz="914400" rtl="0" eaLnBrk="1" latinLnBrk="0" hangingPunct="1">
      <a:defRPr sz="2800" b="1" kern="1200">
        <a:solidFill>
          <a:schemeClr val="tx1"/>
        </a:solidFill>
        <a:latin typeface="Tahoma" panose="020B0604030504040204" pitchFamily="34" charset="0"/>
        <a:ea typeface="+mn-ea"/>
        <a:cs typeface="+mn-cs"/>
      </a:defRPr>
    </a:lvl8pPr>
    <a:lvl9pPr marL="3657600" algn="l" defTabSz="914400" rtl="0" eaLnBrk="1" latinLnBrk="0" hangingPunct="1">
      <a:defRPr sz="2800" b="1" kern="1200">
        <a:solidFill>
          <a:schemeClr val="tx1"/>
        </a:solidFill>
        <a:latin typeface="Tahoma" panose="020B060403050404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E5FF"/>
    <a:srgbClr val="009900"/>
    <a:srgbClr val="FFFF00"/>
    <a:srgbClr val="000099"/>
    <a:srgbClr val="FF6600"/>
    <a:srgbClr val="CCECFF"/>
    <a:srgbClr val="00FF00"/>
    <a:srgbClr val="FF505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115" d="100"/>
          <a:sy n="115" d="100"/>
        </p:scale>
        <p:origin x="1738" y="67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>
            <a:extLst>
              <a:ext uri="{FF2B5EF4-FFF2-40B4-BE49-F238E27FC236}">
                <a16:creationId xmlns:a16="http://schemas.microsoft.com/office/drawing/2014/main" id="{77F0023C-DD17-43BC-A537-C45C5C8F78DD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>
            <a:lvl1pPr eaLnBrk="0" hangingPunct="0">
              <a:defRPr sz="1200" b="0">
                <a:latin typeface="Times New Roman" pitchFamily="18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075" name="Rectangle 3">
            <a:extLst>
              <a:ext uri="{FF2B5EF4-FFF2-40B4-BE49-F238E27FC236}">
                <a16:creationId xmlns:a16="http://schemas.microsoft.com/office/drawing/2014/main" id="{B7585E47-D52F-4C2C-A970-A4A930F73867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>
            <a:lvl1pPr algn="r" eaLnBrk="0" hangingPunct="0">
              <a:defRPr sz="1200" b="0">
                <a:latin typeface="Times New Roman" pitchFamily="18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076" name="Rectangle 4">
            <a:extLst>
              <a:ext uri="{FF2B5EF4-FFF2-40B4-BE49-F238E27FC236}">
                <a16:creationId xmlns:a16="http://schemas.microsoft.com/office/drawing/2014/main" id="{9266F075-3AF8-4D8B-9835-6BD8F62056F8}"/>
              </a:ext>
            </a:extLst>
          </p:cNvPr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075" tIns="46038" rIns="92075" bIns="46038" numCol="1" anchor="b" anchorCtr="0" compatLnSpc="1">
            <a:prstTxWarp prst="textNoShape">
              <a:avLst/>
            </a:prstTxWarp>
          </a:bodyPr>
          <a:lstStyle>
            <a:lvl1pPr eaLnBrk="0" hangingPunct="0">
              <a:defRPr sz="1200" b="0">
                <a:latin typeface="Times New Roman" pitchFamily="18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077" name="Rectangle 5">
            <a:extLst>
              <a:ext uri="{FF2B5EF4-FFF2-40B4-BE49-F238E27FC236}">
                <a16:creationId xmlns:a16="http://schemas.microsoft.com/office/drawing/2014/main" id="{07CFB4E2-3347-4CA5-B69E-CB077DDCEABD}"/>
              </a:ext>
            </a:extLst>
          </p:cNvPr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075" tIns="46038" rIns="92075" bIns="46038" numCol="1" anchor="b" anchorCtr="0" compatLnSpc="1">
            <a:prstTxWarp prst="textNoShape">
              <a:avLst/>
            </a:prstTxWarp>
          </a:bodyPr>
          <a:lstStyle>
            <a:lvl1pPr algn="r">
              <a:defRPr sz="1200" b="0">
                <a:latin typeface="Times New Roman" panose="02020603050405020304" pitchFamily="18" charset="0"/>
              </a:defRPr>
            </a:lvl1pPr>
          </a:lstStyle>
          <a:p>
            <a:fld id="{82B6E389-7DD8-4707-8244-6B2FD458FFAB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>
            <a:extLst>
              <a:ext uri="{FF2B5EF4-FFF2-40B4-BE49-F238E27FC236}">
                <a16:creationId xmlns:a16="http://schemas.microsoft.com/office/drawing/2014/main" id="{19364EB4-7341-477E-9A32-63DB49AEDDAC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>
            <a:lvl1pPr eaLnBrk="0" hangingPunct="0">
              <a:defRPr sz="1200" b="0">
                <a:latin typeface="Times New Roman" pitchFamily="18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051" name="Rectangle 3">
            <a:extLst>
              <a:ext uri="{FF2B5EF4-FFF2-40B4-BE49-F238E27FC236}">
                <a16:creationId xmlns:a16="http://schemas.microsoft.com/office/drawing/2014/main" id="{8F99A1AC-51C8-44EF-B5C0-0DB09EF4B334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>
            <a:lvl1pPr algn="r" eaLnBrk="0" hangingPunct="0">
              <a:defRPr sz="1200" b="0">
                <a:latin typeface="Times New Roman" pitchFamily="18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052" name="Rectangle 4">
            <a:extLst>
              <a:ext uri="{FF2B5EF4-FFF2-40B4-BE49-F238E27FC236}">
                <a16:creationId xmlns:a16="http://schemas.microsoft.com/office/drawing/2014/main" id="{10D5AEBB-C3B1-4B3B-9B89-795CA6611564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4588" y="687388"/>
            <a:ext cx="4568825" cy="3425825"/>
          </a:xfrm>
          <a:prstGeom prst="rect">
            <a:avLst/>
          </a:prstGeom>
          <a:noFill/>
          <a:ln w="12700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2053" name="Rectangle 5">
            <a:extLst>
              <a:ext uri="{FF2B5EF4-FFF2-40B4-BE49-F238E27FC236}">
                <a16:creationId xmlns:a16="http://schemas.microsoft.com/office/drawing/2014/main" id="{88159DF8-9B83-42D9-964A-F0D4D0ECBE7C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054" name="Rectangle 6">
            <a:extLst>
              <a:ext uri="{FF2B5EF4-FFF2-40B4-BE49-F238E27FC236}">
                <a16:creationId xmlns:a16="http://schemas.microsoft.com/office/drawing/2014/main" id="{0A0DE462-A38B-4495-A46E-0A0368AEF243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075" tIns="46038" rIns="92075" bIns="46038" numCol="1" anchor="b" anchorCtr="0" compatLnSpc="1">
            <a:prstTxWarp prst="textNoShape">
              <a:avLst/>
            </a:prstTxWarp>
          </a:bodyPr>
          <a:lstStyle>
            <a:lvl1pPr eaLnBrk="0" hangingPunct="0">
              <a:defRPr sz="1200" b="0">
                <a:latin typeface="Times New Roman" pitchFamily="18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055" name="Rectangle 7">
            <a:extLst>
              <a:ext uri="{FF2B5EF4-FFF2-40B4-BE49-F238E27FC236}">
                <a16:creationId xmlns:a16="http://schemas.microsoft.com/office/drawing/2014/main" id="{497D81B5-896C-4B2C-A6D5-67CA1D58EF4E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075" tIns="46038" rIns="92075" bIns="46038" numCol="1" anchor="b" anchorCtr="0" compatLnSpc="1">
            <a:prstTxWarp prst="textNoShape">
              <a:avLst/>
            </a:prstTxWarp>
          </a:bodyPr>
          <a:lstStyle>
            <a:lvl1pPr algn="r">
              <a:defRPr sz="1200" b="0">
                <a:latin typeface="Times New Roman" panose="02020603050405020304" pitchFamily="18" charset="0"/>
              </a:defRPr>
            </a:lvl1pPr>
          </a:lstStyle>
          <a:p>
            <a:fld id="{CCCC051F-2421-4554-AF7B-BA4F8850B3C7}" type="slidenum">
              <a:rPr lang="en-US" altLang="en-US"/>
              <a:pPr/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B20CC70D-E69D-40E4-A9E0-DB18DEF41D12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11B0593A-E6FA-4AD0-AB0E-983F52BF89C8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6BA23A2C-3F17-4227-9B86-F5FE8AAC3ED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6" name="Rectangle 7">
            <a:extLst>
              <a:ext uri="{FF2B5EF4-FFF2-40B4-BE49-F238E27FC236}">
                <a16:creationId xmlns:a16="http://schemas.microsoft.com/office/drawing/2014/main" id="{9FFBEFC3-62BD-4C86-B083-F9CFF2B7C64B}"/>
              </a:ext>
            </a:extLst>
          </p:cNvPr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 b="1">
                <a:latin typeface="Tahoma" pitchFamily="34" charset="0"/>
              </a:defRPr>
            </a:lvl1pPr>
          </a:lstStyle>
          <a:p>
            <a:pPr>
              <a:defRPr/>
            </a:pPr>
            <a:endParaRPr lang="en-US">
              <a:latin typeface="+mn-lt"/>
            </a:endParaRPr>
          </a:p>
          <a:p>
            <a:pPr>
              <a:defRPr/>
            </a:pPr>
            <a:endParaRPr lang="en-US" b="0"/>
          </a:p>
          <a:p>
            <a:pPr>
              <a:defRPr/>
            </a:pPr>
            <a:endParaRPr lang="en-US"/>
          </a:p>
          <a:p>
            <a:pPr>
              <a:defRPr/>
            </a:pPr>
            <a:r>
              <a:rPr lang="en-US"/>
              <a:t>© A+ Computer Science  -  www.apluscompsci.com</a:t>
            </a:r>
          </a:p>
        </p:txBody>
      </p:sp>
    </p:spTree>
    <p:extLst>
      <p:ext uri="{BB962C8B-B14F-4D97-AF65-F5344CB8AC3E}">
        <p14:creationId xmlns:p14="http://schemas.microsoft.com/office/powerpoint/2010/main" val="30561946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53242244-1BE3-4D2A-838A-83F2AD8A438B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21324C1E-A8C6-4E42-9A1A-6629DEC28F21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37CA0A66-996C-47A2-8A05-C2421AD0CBC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6" name="Rectangle 7">
            <a:extLst>
              <a:ext uri="{FF2B5EF4-FFF2-40B4-BE49-F238E27FC236}">
                <a16:creationId xmlns:a16="http://schemas.microsoft.com/office/drawing/2014/main" id="{9F2613B4-2EFE-4AD2-A014-C976CB45A4E2}"/>
              </a:ext>
            </a:extLst>
          </p:cNvPr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 b="1">
                <a:latin typeface="Tahoma" pitchFamily="34" charset="0"/>
              </a:defRPr>
            </a:lvl1pPr>
          </a:lstStyle>
          <a:p>
            <a:pPr>
              <a:defRPr/>
            </a:pPr>
            <a:endParaRPr lang="en-US">
              <a:latin typeface="+mn-lt"/>
            </a:endParaRPr>
          </a:p>
          <a:p>
            <a:pPr>
              <a:defRPr/>
            </a:pPr>
            <a:endParaRPr lang="en-US" b="0"/>
          </a:p>
          <a:p>
            <a:pPr>
              <a:defRPr/>
            </a:pPr>
            <a:endParaRPr lang="en-US"/>
          </a:p>
          <a:p>
            <a:pPr>
              <a:defRPr/>
            </a:pPr>
            <a:r>
              <a:rPr lang="en-US"/>
              <a:t>© A+ Computer Science  -  www.apluscompsci.com</a:t>
            </a:r>
          </a:p>
        </p:txBody>
      </p:sp>
    </p:spTree>
    <p:extLst>
      <p:ext uri="{BB962C8B-B14F-4D97-AF65-F5344CB8AC3E}">
        <p14:creationId xmlns:p14="http://schemas.microsoft.com/office/powerpoint/2010/main" val="5691905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C22B995F-5E61-4E86-9891-856892B55237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FD2D1BE7-C64D-4718-BF97-E631212BAADB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2BE1DF74-0902-4A4B-9EB9-AD38309E09F4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6" name="Rectangle 7">
            <a:extLst>
              <a:ext uri="{FF2B5EF4-FFF2-40B4-BE49-F238E27FC236}">
                <a16:creationId xmlns:a16="http://schemas.microsoft.com/office/drawing/2014/main" id="{BC9A5D0B-27CB-4F6C-BB86-2CB736B25D40}"/>
              </a:ext>
            </a:extLst>
          </p:cNvPr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 b="1">
                <a:latin typeface="Tahoma" pitchFamily="34" charset="0"/>
              </a:defRPr>
            </a:lvl1pPr>
          </a:lstStyle>
          <a:p>
            <a:pPr>
              <a:defRPr/>
            </a:pPr>
            <a:endParaRPr lang="en-US">
              <a:latin typeface="+mn-lt"/>
            </a:endParaRPr>
          </a:p>
          <a:p>
            <a:pPr>
              <a:defRPr/>
            </a:pPr>
            <a:endParaRPr lang="en-US" b="0"/>
          </a:p>
          <a:p>
            <a:pPr>
              <a:defRPr/>
            </a:pPr>
            <a:endParaRPr lang="en-US"/>
          </a:p>
          <a:p>
            <a:pPr>
              <a:defRPr/>
            </a:pPr>
            <a:r>
              <a:rPr lang="en-US"/>
              <a:t>© A+ Computer Science  -  www.apluscompsci.com</a:t>
            </a:r>
          </a:p>
        </p:txBody>
      </p:sp>
    </p:spTree>
    <p:extLst>
      <p:ext uri="{BB962C8B-B14F-4D97-AF65-F5344CB8AC3E}">
        <p14:creationId xmlns:p14="http://schemas.microsoft.com/office/powerpoint/2010/main" val="38133588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4DECB33-2481-408E-BDC8-A025F2361049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CF693B2F-A4B5-48BC-820D-68F420F879EE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F2D0EA4-E891-4AA6-BB9B-1645883AD60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7" name="Rectangle 7">
            <a:extLst>
              <a:ext uri="{FF2B5EF4-FFF2-40B4-BE49-F238E27FC236}">
                <a16:creationId xmlns:a16="http://schemas.microsoft.com/office/drawing/2014/main" id="{CD7CBBDA-CCDA-4672-A3C3-3AC3A25DEDD3}"/>
              </a:ext>
            </a:extLst>
          </p:cNvPr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 b="1">
                <a:latin typeface="Tahoma" pitchFamily="34" charset="0"/>
              </a:defRPr>
            </a:lvl1pPr>
          </a:lstStyle>
          <a:p>
            <a:pPr>
              <a:defRPr/>
            </a:pPr>
            <a:endParaRPr lang="en-US">
              <a:latin typeface="+mn-lt"/>
            </a:endParaRPr>
          </a:p>
          <a:p>
            <a:pPr>
              <a:defRPr/>
            </a:pPr>
            <a:endParaRPr lang="en-US" b="0"/>
          </a:p>
          <a:p>
            <a:pPr>
              <a:defRPr/>
            </a:pPr>
            <a:endParaRPr lang="en-US"/>
          </a:p>
          <a:p>
            <a:pPr>
              <a:defRPr/>
            </a:pPr>
            <a:r>
              <a:rPr lang="en-US"/>
              <a:t>© A+ Computer Science  -  www.apluscompsci.com</a:t>
            </a:r>
          </a:p>
        </p:txBody>
      </p:sp>
    </p:spTree>
    <p:extLst>
      <p:ext uri="{BB962C8B-B14F-4D97-AF65-F5344CB8AC3E}">
        <p14:creationId xmlns:p14="http://schemas.microsoft.com/office/powerpoint/2010/main" val="35792781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78132DC7-AEA1-451A-85A5-262C8879D77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DCDB7EA3-F6C6-4AAC-8CBD-60C83314B3FD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6C11CCAB-991E-4789-9AB7-E5B53707A932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9" name="Rectangle 7">
            <a:extLst>
              <a:ext uri="{FF2B5EF4-FFF2-40B4-BE49-F238E27FC236}">
                <a16:creationId xmlns:a16="http://schemas.microsoft.com/office/drawing/2014/main" id="{AD8BEA7B-3ED2-4B2C-ACE6-83EB4E65D8FA}"/>
              </a:ext>
            </a:extLst>
          </p:cNvPr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 b="1">
                <a:latin typeface="Tahoma" pitchFamily="34" charset="0"/>
              </a:defRPr>
            </a:lvl1pPr>
          </a:lstStyle>
          <a:p>
            <a:pPr>
              <a:defRPr/>
            </a:pPr>
            <a:endParaRPr lang="en-US">
              <a:latin typeface="+mn-lt"/>
            </a:endParaRPr>
          </a:p>
          <a:p>
            <a:pPr>
              <a:defRPr/>
            </a:pPr>
            <a:endParaRPr lang="en-US" b="0"/>
          </a:p>
          <a:p>
            <a:pPr>
              <a:defRPr/>
            </a:pPr>
            <a:endParaRPr lang="en-US"/>
          </a:p>
          <a:p>
            <a:pPr>
              <a:defRPr/>
            </a:pPr>
            <a:r>
              <a:rPr lang="en-US"/>
              <a:t>© A+ Computer Science  -  www.apluscompsci.com</a:t>
            </a:r>
          </a:p>
        </p:txBody>
      </p:sp>
    </p:spTree>
    <p:extLst>
      <p:ext uri="{BB962C8B-B14F-4D97-AF65-F5344CB8AC3E}">
        <p14:creationId xmlns:p14="http://schemas.microsoft.com/office/powerpoint/2010/main" val="15022787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888D02C8-BFB5-4802-986B-C0EAADFDE62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716A6005-C5B7-4D63-8506-93F9F6245EFA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C14D700-7DB8-4160-9F93-F4C77F0BA868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EC13919B-AFD5-4539-9410-A603AFDFAE8E}"/>
              </a:ext>
            </a:extLst>
          </p:cNvPr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 b="1">
                <a:latin typeface="Tahoma" pitchFamily="34" charset="0"/>
              </a:defRPr>
            </a:lvl1pPr>
          </a:lstStyle>
          <a:p>
            <a:pPr>
              <a:defRPr/>
            </a:pPr>
            <a:endParaRPr lang="en-US">
              <a:latin typeface="+mn-lt"/>
            </a:endParaRPr>
          </a:p>
          <a:p>
            <a:pPr>
              <a:defRPr/>
            </a:pPr>
            <a:endParaRPr lang="en-US" b="0"/>
          </a:p>
          <a:p>
            <a:pPr>
              <a:defRPr/>
            </a:pPr>
            <a:endParaRPr lang="en-US"/>
          </a:p>
          <a:p>
            <a:pPr>
              <a:defRPr/>
            </a:pPr>
            <a:r>
              <a:rPr lang="en-US"/>
              <a:t>© A+ Computer Science  -  www.apluscompsci.com</a:t>
            </a:r>
          </a:p>
        </p:txBody>
      </p:sp>
    </p:spTree>
    <p:extLst>
      <p:ext uri="{BB962C8B-B14F-4D97-AF65-F5344CB8AC3E}">
        <p14:creationId xmlns:p14="http://schemas.microsoft.com/office/powerpoint/2010/main" val="29816495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7EF3C669-15B4-4F3C-A68C-9179426BC23F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Rectangle 6">
            <a:extLst>
              <a:ext uri="{FF2B5EF4-FFF2-40B4-BE49-F238E27FC236}">
                <a16:creationId xmlns:a16="http://schemas.microsoft.com/office/drawing/2014/main" id="{9759EAAE-CD14-420C-A756-068E24230E42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B7204A7-9ACE-4EA9-9A8F-14E40010D8CC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87A6AF29-0078-495D-8AC1-265048B7B2AE}"/>
              </a:ext>
            </a:extLst>
          </p:cNvPr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 b="1">
                <a:latin typeface="Tahoma" pitchFamily="34" charset="0"/>
              </a:defRPr>
            </a:lvl1pPr>
          </a:lstStyle>
          <a:p>
            <a:pPr>
              <a:defRPr/>
            </a:pPr>
            <a:endParaRPr lang="en-US">
              <a:latin typeface="+mn-lt"/>
            </a:endParaRPr>
          </a:p>
          <a:p>
            <a:pPr>
              <a:defRPr/>
            </a:pPr>
            <a:endParaRPr lang="en-US" b="0"/>
          </a:p>
          <a:p>
            <a:pPr>
              <a:defRPr/>
            </a:pPr>
            <a:endParaRPr lang="en-US"/>
          </a:p>
          <a:p>
            <a:pPr>
              <a:defRPr/>
            </a:pPr>
            <a:r>
              <a:rPr lang="en-US"/>
              <a:t>© A+ Computer Science  -  www.apluscompsci.com</a:t>
            </a:r>
          </a:p>
        </p:txBody>
      </p:sp>
    </p:spTree>
    <p:extLst>
      <p:ext uri="{BB962C8B-B14F-4D97-AF65-F5344CB8AC3E}">
        <p14:creationId xmlns:p14="http://schemas.microsoft.com/office/powerpoint/2010/main" val="39648537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9D6D78C-83EF-407C-A049-9553CF83320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0BA2E948-FA7D-4EA0-818C-E3FECA003A53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35E5FBC9-CCB5-4F3D-BFD9-CECED318DA91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7" name="Rectangle 7">
            <a:extLst>
              <a:ext uri="{FF2B5EF4-FFF2-40B4-BE49-F238E27FC236}">
                <a16:creationId xmlns:a16="http://schemas.microsoft.com/office/drawing/2014/main" id="{BFAF8447-571A-4BF9-B06B-BFC833F0E4C6}"/>
              </a:ext>
            </a:extLst>
          </p:cNvPr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 b="1">
                <a:latin typeface="Tahoma" pitchFamily="34" charset="0"/>
              </a:defRPr>
            </a:lvl1pPr>
          </a:lstStyle>
          <a:p>
            <a:pPr>
              <a:defRPr/>
            </a:pPr>
            <a:endParaRPr lang="en-US">
              <a:latin typeface="+mn-lt"/>
            </a:endParaRPr>
          </a:p>
          <a:p>
            <a:pPr>
              <a:defRPr/>
            </a:pPr>
            <a:endParaRPr lang="en-US" b="0"/>
          </a:p>
          <a:p>
            <a:pPr>
              <a:defRPr/>
            </a:pPr>
            <a:endParaRPr lang="en-US"/>
          </a:p>
          <a:p>
            <a:pPr>
              <a:defRPr/>
            </a:pPr>
            <a:r>
              <a:rPr lang="en-US"/>
              <a:t>© A+ Computer Science  -  www.apluscompsci.com</a:t>
            </a:r>
          </a:p>
        </p:txBody>
      </p:sp>
    </p:spTree>
    <p:extLst>
      <p:ext uri="{BB962C8B-B14F-4D97-AF65-F5344CB8AC3E}">
        <p14:creationId xmlns:p14="http://schemas.microsoft.com/office/powerpoint/2010/main" val="26625666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D686422-518C-4D18-A063-30FB564EA037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1C28367F-4D0D-4C10-A68F-BEA16F84999E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C261A4F-9843-4E2F-9F8B-7E2ADA32DB3B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7" name="Rectangle 7">
            <a:extLst>
              <a:ext uri="{FF2B5EF4-FFF2-40B4-BE49-F238E27FC236}">
                <a16:creationId xmlns:a16="http://schemas.microsoft.com/office/drawing/2014/main" id="{C342433E-9461-4829-B783-DC0A27607109}"/>
              </a:ext>
            </a:extLst>
          </p:cNvPr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 b="1">
                <a:latin typeface="Tahoma" pitchFamily="34" charset="0"/>
              </a:defRPr>
            </a:lvl1pPr>
          </a:lstStyle>
          <a:p>
            <a:pPr>
              <a:defRPr/>
            </a:pPr>
            <a:endParaRPr lang="en-US">
              <a:latin typeface="+mn-lt"/>
            </a:endParaRPr>
          </a:p>
          <a:p>
            <a:pPr>
              <a:defRPr/>
            </a:pPr>
            <a:endParaRPr lang="en-US" b="0"/>
          </a:p>
          <a:p>
            <a:pPr>
              <a:defRPr/>
            </a:pPr>
            <a:endParaRPr lang="en-US"/>
          </a:p>
          <a:p>
            <a:pPr>
              <a:defRPr/>
            </a:pPr>
            <a:r>
              <a:rPr lang="en-US"/>
              <a:t>© A+ Computer Science  -  www.apluscompsci.com</a:t>
            </a:r>
          </a:p>
        </p:txBody>
      </p:sp>
    </p:spTree>
    <p:extLst>
      <p:ext uri="{BB962C8B-B14F-4D97-AF65-F5344CB8AC3E}">
        <p14:creationId xmlns:p14="http://schemas.microsoft.com/office/powerpoint/2010/main" val="798889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2B752EB5-F649-4EFF-B2E3-B9DEBA389BC5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E4EDAD0B-15F8-40E9-9DD6-1D1998A27C62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F9AF0B8-4897-40A7-A8DC-DC8AE5DF7DE9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6" name="Rectangle 7">
            <a:extLst>
              <a:ext uri="{FF2B5EF4-FFF2-40B4-BE49-F238E27FC236}">
                <a16:creationId xmlns:a16="http://schemas.microsoft.com/office/drawing/2014/main" id="{1D0C3812-8CB0-4E3E-B925-9EA463B66C10}"/>
              </a:ext>
            </a:extLst>
          </p:cNvPr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 b="1">
                <a:latin typeface="Tahoma" pitchFamily="34" charset="0"/>
              </a:defRPr>
            </a:lvl1pPr>
          </a:lstStyle>
          <a:p>
            <a:pPr>
              <a:defRPr/>
            </a:pPr>
            <a:endParaRPr lang="en-US">
              <a:latin typeface="+mn-lt"/>
            </a:endParaRPr>
          </a:p>
          <a:p>
            <a:pPr>
              <a:defRPr/>
            </a:pPr>
            <a:endParaRPr lang="en-US" b="0"/>
          </a:p>
          <a:p>
            <a:pPr>
              <a:defRPr/>
            </a:pPr>
            <a:endParaRPr lang="en-US"/>
          </a:p>
          <a:p>
            <a:pPr>
              <a:defRPr/>
            </a:pPr>
            <a:r>
              <a:rPr lang="en-US"/>
              <a:t>© A+ Computer Science  -  www.apluscompsci.com</a:t>
            </a:r>
          </a:p>
        </p:txBody>
      </p:sp>
    </p:spTree>
    <p:extLst>
      <p:ext uri="{BB962C8B-B14F-4D97-AF65-F5344CB8AC3E}">
        <p14:creationId xmlns:p14="http://schemas.microsoft.com/office/powerpoint/2010/main" val="15179401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15100" y="609600"/>
            <a:ext cx="1943100" cy="54864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09600"/>
            <a:ext cx="5676900" cy="54864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4FEB6168-89A2-4688-B566-675141D82CBD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5459C08A-AA2A-4831-8F6B-CE0B5B7B7A01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520E80C-0613-47C0-9611-C56A8CCAE4EA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6" name="Rectangle 7">
            <a:extLst>
              <a:ext uri="{FF2B5EF4-FFF2-40B4-BE49-F238E27FC236}">
                <a16:creationId xmlns:a16="http://schemas.microsoft.com/office/drawing/2014/main" id="{8B07E26C-0419-40B4-987D-35B828A044E9}"/>
              </a:ext>
            </a:extLst>
          </p:cNvPr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 b="1">
                <a:latin typeface="Tahoma" pitchFamily="34" charset="0"/>
              </a:defRPr>
            </a:lvl1pPr>
          </a:lstStyle>
          <a:p>
            <a:pPr>
              <a:defRPr/>
            </a:pPr>
            <a:endParaRPr lang="en-US">
              <a:latin typeface="+mn-lt"/>
            </a:endParaRPr>
          </a:p>
          <a:p>
            <a:pPr>
              <a:defRPr/>
            </a:pPr>
            <a:endParaRPr lang="en-US" b="0"/>
          </a:p>
          <a:p>
            <a:pPr>
              <a:defRPr/>
            </a:pPr>
            <a:endParaRPr lang="en-US"/>
          </a:p>
          <a:p>
            <a:pPr>
              <a:defRPr/>
            </a:pPr>
            <a:r>
              <a:rPr lang="en-US"/>
              <a:t>© A+ Computer Science  -  www.apluscompsci.com</a:t>
            </a:r>
          </a:p>
        </p:txBody>
      </p:sp>
    </p:spTree>
    <p:extLst>
      <p:ext uri="{BB962C8B-B14F-4D97-AF65-F5344CB8AC3E}">
        <p14:creationId xmlns:p14="http://schemas.microsoft.com/office/powerpoint/2010/main" val="11435032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9CBF3B4D-ADEC-43C1-8904-D39FCF048C4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685800" y="609600"/>
            <a:ext cx="7772400" cy="114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075" tIns="46038" rIns="92075" bIns="46038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F770D6FA-5DFD-4751-BE08-AF5425EF3EF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1981200"/>
            <a:ext cx="77724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1028" name="Rectangle 4">
            <a:extLst>
              <a:ext uri="{FF2B5EF4-FFF2-40B4-BE49-F238E27FC236}">
                <a16:creationId xmlns:a16="http://schemas.microsoft.com/office/drawing/2014/main" id="{C2C60A7E-6CEE-48B9-9786-D727999634C7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85800" y="6248400"/>
            <a:ext cx="1905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>
            <a:lvl1pPr eaLnBrk="0" hangingPunct="0">
              <a:defRPr sz="1400" b="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30" name="Rectangle 6">
            <a:extLst>
              <a:ext uri="{FF2B5EF4-FFF2-40B4-BE49-F238E27FC236}">
                <a16:creationId xmlns:a16="http://schemas.microsoft.com/office/drawing/2014/main" id="{92AEF19E-37F5-4800-AB42-6E6744AFF7AC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8400"/>
            <a:ext cx="1905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>
            <a:lvl1pPr algn="r">
              <a:defRPr sz="1400" b="0">
                <a:latin typeface="Times New Roman" panose="02020603050405020304" pitchFamily="18" charset="0"/>
              </a:defRPr>
            </a:lvl1pPr>
          </a:lstStyle>
          <a:p>
            <a:fld id="{1173D14C-068C-4DA2-9A67-365202B8DB2E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031" name="Rectangle 7">
            <a:extLst>
              <a:ext uri="{FF2B5EF4-FFF2-40B4-BE49-F238E27FC236}">
                <a16:creationId xmlns:a16="http://schemas.microsoft.com/office/drawing/2014/main" id="{A7CF6C42-FFB0-412D-BE59-82F06AA83AD8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8400"/>
            <a:ext cx="28956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2075" tIns="46038" rIns="92075" bIns="46038" numCol="1" anchor="ctr" anchorCtr="0" compatLnSpc="1">
            <a:prstTxWarp prst="textNoShape">
              <a:avLst/>
            </a:prstTxWarp>
          </a:bodyPr>
          <a:lstStyle>
            <a:lvl1pPr algn="ctr" eaLnBrk="1" hangingPunct="1">
              <a:defRPr sz="800" b="0">
                <a:latin typeface="+mn-lt"/>
              </a:defRPr>
            </a:lvl1pPr>
          </a:lstStyle>
          <a:p>
            <a:pPr>
              <a:defRPr/>
            </a:pPr>
            <a:endParaRPr lang="en-US" b="1"/>
          </a:p>
          <a:p>
            <a:pPr>
              <a:defRPr/>
            </a:pPr>
            <a:endParaRPr lang="en-US">
              <a:latin typeface="Tahoma" pitchFamily="34" charset="0"/>
            </a:endParaRPr>
          </a:p>
          <a:p>
            <a:pPr>
              <a:defRPr/>
            </a:pPr>
            <a:endParaRPr lang="en-US" b="1">
              <a:latin typeface="Tahoma" pitchFamily="34" charset="0"/>
            </a:endParaRPr>
          </a:p>
          <a:p>
            <a:pPr>
              <a:defRPr/>
            </a:pPr>
            <a:r>
              <a:rPr lang="en-US" b="1">
                <a:latin typeface="Tahoma" pitchFamily="34" charset="0"/>
              </a:rPr>
              <a:t>© A+ Computer Science  -  www.apluscompsci.com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itchFamily="18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itchFamily="18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itchFamily="18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itchFamily="18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itchFamily="18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itchFamily="18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itchFamily="18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itchFamily="18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8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Footer Placeholder 3">
            <a:extLst>
              <a:ext uri="{FF2B5EF4-FFF2-40B4-BE49-F238E27FC236}">
                <a16:creationId xmlns:a16="http://schemas.microsoft.com/office/drawing/2014/main" id="{AFBD0E33-C581-45AF-9086-3C8C97A13DDB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4099" name="WordArt 2">
            <a:extLst>
              <a:ext uri="{FF2B5EF4-FFF2-40B4-BE49-F238E27FC236}">
                <a16:creationId xmlns:a16="http://schemas.microsoft.com/office/drawing/2014/main" id="{2B79640A-4FE7-489A-AA6D-626F8ECF289D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838200" y="1600200"/>
            <a:ext cx="7239000" cy="32004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>
                <a:ln w="12700">
                  <a:solidFill>
                    <a:srgbClr val="EAEAEA"/>
                  </a:solidFill>
                  <a:round/>
                  <a:headEnd/>
                  <a:tailEnd/>
                </a:ln>
                <a:gradFill rotWithShape="1">
                  <a:gsLst>
                    <a:gs pos="0">
                      <a:srgbClr val="A603AB"/>
                    </a:gs>
                    <a:gs pos="12000">
                      <a:srgbClr val="E81766"/>
                    </a:gs>
                    <a:gs pos="27000">
                      <a:srgbClr val="EE3F17"/>
                    </a:gs>
                    <a:gs pos="48000">
                      <a:srgbClr val="FFFF00"/>
                    </a:gs>
                    <a:gs pos="64999">
                      <a:srgbClr val="1A8D48"/>
                    </a:gs>
                    <a:gs pos="78999">
                      <a:srgbClr val="0819FB"/>
                    </a:gs>
                    <a:gs pos="100000">
                      <a:srgbClr val="A603AB"/>
                    </a:gs>
                  </a:gsLst>
                  <a:lin ang="0" scaled="1"/>
                </a:gradFill>
                <a:effectLst>
                  <a:outerShdw dist="35921" dir="2700000" sy="50000" kx="2115830" algn="bl" rotWithShape="0">
                    <a:srgbClr val="C0C0C0"/>
                  </a:outerShdw>
                </a:effectLst>
                <a:latin typeface="Arial Black" panose="020B0A04020102020204" pitchFamily="34" charset="0"/>
              </a:rPr>
              <a:t>Testing Expressions</a:t>
            </a:r>
          </a:p>
          <a:p>
            <a:pPr algn="ctr"/>
            <a:r>
              <a:rPr lang="en-US" sz="3600" kern="10">
                <a:ln w="12700">
                  <a:solidFill>
                    <a:srgbClr val="EAEAEA"/>
                  </a:solidFill>
                  <a:round/>
                  <a:headEnd/>
                  <a:tailEnd/>
                </a:ln>
                <a:gradFill rotWithShape="1">
                  <a:gsLst>
                    <a:gs pos="0">
                      <a:srgbClr val="A603AB"/>
                    </a:gs>
                    <a:gs pos="12000">
                      <a:srgbClr val="E81766"/>
                    </a:gs>
                    <a:gs pos="27000">
                      <a:srgbClr val="EE3F17"/>
                    </a:gs>
                    <a:gs pos="48000">
                      <a:srgbClr val="FFFF00"/>
                    </a:gs>
                    <a:gs pos="64999">
                      <a:srgbClr val="1A8D48"/>
                    </a:gs>
                    <a:gs pos="78999">
                      <a:srgbClr val="0819FB"/>
                    </a:gs>
                    <a:gs pos="100000">
                      <a:srgbClr val="A603AB"/>
                    </a:gs>
                  </a:gsLst>
                  <a:lin ang="0" scaled="1"/>
                </a:gradFill>
                <a:effectLst>
                  <a:outerShdw dist="35921" dir="2700000" sy="50000" kx="2115830" algn="bl" rotWithShape="0">
                    <a:srgbClr val="C0C0C0"/>
                  </a:outerShdw>
                </a:effectLst>
                <a:latin typeface="Arial Black" panose="020B0A04020102020204" pitchFamily="34" charset="0"/>
              </a:rPr>
              <a:t>With a Stack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Footer Placeholder 3">
            <a:extLst>
              <a:ext uri="{FF2B5EF4-FFF2-40B4-BE49-F238E27FC236}">
                <a16:creationId xmlns:a16="http://schemas.microsoft.com/office/drawing/2014/main" id="{951D7F2C-190A-4A98-AA51-2922698D19E1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5123" name="Text Box 2">
            <a:extLst>
              <a:ext uri="{FF2B5EF4-FFF2-40B4-BE49-F238E27FC236}">
                <a16:creationId xmlns:a16="http://schemas.microsoft.com/office/drawing/2014/main" id="{E284C3B2-E03B-411E-B485-482C388C733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1524000"/>
            <a:ext cx="6351588" cy="49101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800">
                <a:latin typeface="Tahoma" panose="020B0604030504040204" pitchFamily="34" charset="0"/>
              </a:rPr>
              <a:t>Expressions are made up of values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>
                <a:latin typeface="Tahoma" panose="020B0604030504040204" pitchFamily="34" charset="0"/>
              </a:rPr>
              <a:t>and symbols.  Many symbols come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>
                <a:latin typeface="Tahoma" panose="020B0604030504040204" pitchFamily="34" charset="0"/>
              </a:rPr>
              <a:t>in pairs.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altLang="en-US" sz="2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4000">
                <a:solidFill>
                  <a:schemeClr val="accent2"/>
                </a:solidFill>
                <a:latin typeface="Tahoma" panose="020B0604030504040204" pitchFamily="34" charset="0"/>
              </a:rPr>
              <a:t>( )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4000">
                <a:solidFill>
                  <a:schemeClr val="accent2"/>
                </a:solidFill>
                <a:latin typeface="Tahoma" panose="020B0604030504040204" pitchFamily="34" charset="0"/>
              </a:rPr>
              <a:t>{ }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altLang="en-US" sz="4000">
              <a:solidFill>
                <a:schemeClr val="accent2"/>
              </a:solidFill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>
                <a:latin typeface="Tahoma" panose="020B0604030504040204" pitchFamily="34" charset="0"/>
              </a:rPr>
              <a:t>A stack can be used to match up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>
                <a:latin typeface="Tahoma" panose="020B0604030504040204" pitchFamily="34" charset="0"/>
              </a:rPr>
              <a:t>opening and closing symbols.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altLang="en-US" sz="2800">
              <a:latin typeface="Tahoma" panose="020B0604030504040204" pitchFamily="34" charset="0"/>
            </a:endParaRPr>
          </a:p>
        </p:txBody>
      </p:sp>
      <p:sp>
        <p:nvSpPr>
          <p:cNvPr id="5124" name="WordArt 3">
            <a:extLst>
              <a:ext uri="{FF2B5EF4-FFF2-40B4-BE49-F238E27FC236}">
                <a16:creationId xmlns:a16="http://schemas.microsoft.com/office/drawing/2014/main" id="{7000B803-0C8E-40CF-BC0E-C6321F5CD604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1143000" y="457200"/>
            <a:ext cx="6553200" cy="7620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>
                <a:ln w="9525">
                  <a:solidFill>
                    <a:srgbClr val="CCFFFF"/>
                  </a:solidFill>
                  <a:round/>
                  <a:headEnd/>
                  <a:tailEnd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/>
                  </a:outerShdw>
                </a:effectLst>
                <a:latin typeface="Impact" panose="020B0806030902050204" pitchFamily="34" charset="0"/>
              </a:rPr>
              <a:t>Expression Tester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Footer Placeholder 3">
            <a:extLst>
              <a:ext uri="{FF2B5EF4-FFF2-40B4-BE49-F238E27FC236}">
                <a16:creationId xmlns:a16="http://schemas.microsoft.com/office/drawing/2014/main" id="{B3AE48E7-E90B-4E59-8B41-2FFC94D3D0E0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6147" name="Text Box 2">
            <a:extLst>
              <a:ext uri="{FF2B5EF4-FFF2-40B4-BE49-F238E27FC236}">
                <a16:creationId xmlns:a16="http://schemas.microsoft.com/office/drawing/2014/main" id="{9D560BE2-3E90-49B1-9650-3C6CEC65262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1676400"/>
            <a:ext cx="6977063" cy="39703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800">
                <a:solidFill>
                  <a:schemeClr val="accent2"/>
                </a:solidFill>
                <a:latin typeface="Tahoma" panose="020B0604030504040204" pitchFamily="34" charset="0"/>
              </a:rPr>
              <a:t>{ ( [ ] ) }</a:t>
            </a:r>
            <a:r>
              <a:rPr lang="en-US" altLang="en-US" sz="2800">
                <a:latin typeface="Tahoma" panose="020B0604030504040204" pitchFamily="34" charset="0"/>
              </a:rPr>
              <a:t>     is a valid expression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altLang="en-US" sz="2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>
                <a:solidFill>
                  <a:srgbClr val="CC0000"/>
                </a:solidFill>
                <a:latin typeface="Tahoma" panose="020B0604030504040204" pitchFamily="34" charset="0"/>
              </a:rPr>
              <a:t>{ ( } )</a:t>
            </a:r>
            <a:r>
              <a:rPr lang="en-US" altLang="en-US" sz="2800">
                <a:latin typeface="Tahoma" panose="020B0604030504040204" pitchFamily="34" charset="0"/>
              </a:rPr>
              <a:t>    is an invalid expression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altLang="en-US" sz="2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>
                <a:solidFill>
                  <a:srgbClr val="CC0000"/>
                </a:solidFill>
                <a:latin typeface="Tahoma" panose="020B0604030504040204" pitchFamily="34" charset="0"/>
              </a:rPr>
              <a:t>{ ( ] ) </a:t>
            </a:r>
            <a:r>
              <a:rPr lang="en-US" altLang="en-US" sz="2800">
                <a:latin typeface="Tahoma" panose="020B0604030504040204" pitchFamily="34" charset="0"/>
              </a:rPr>
              <a:t>    is an invalid expression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altLang="en-US" sz="2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>
                <a:latin typeface="Tahoma" panose="020B0604030504040204" pitchFamily="34" charset="0"/>
              </a:rPr>
              <a:t>Open and closing symbol pairs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>
                <a:latin typeface="Tahoma" panose="020B0604030504040204" pitchFamily="34" charset="0"/>
              </a:rPr>
              <a:t>have to occur in the proper sequence.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altLang="en-US" sz="2800">
              <a:latin typeface="Tahoma" panose="020B0604030504040204" pitchFamily="34" charset="0"/>
            </a:endParaRPr>
          </a:p>
        </p:txBody>
      </p:sp>
      <p:sp>
        <p:nvSpPr>
          <p:cNvPr id="6148" name="WordArt 3">
            <a:extLst>
              <a:ext uri="{FF2B5EF4-FFF2-40B4-BE49-F238E27FC236}">
                <a16:creationId xmlns:a16="http://schemas.microsoft.com/office/drawing/2014/main" id="{67826DCD-3108-4F72-95EE-DB64F05D9D4F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1143000" y="457200"/>
            <a:ext cx="6553200" cy="7620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>
                <a:ln w="9525">
                  <a:solidFill>
                    <a:srgbClr val="CCFFFF"/>
                  </a:solidFill>
                  <a:round/>
                  <a:headEnd/>
                  <a:tailEnd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/>
                  </a:outerShdw>
                </a:effectLst>
                <a:latin typeface="Impact" panose="020B0806030902050204" pitchFamily="34" charset="0"/>
              </a:rPr>
              <a:t>Expression Tester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9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Footer Placeholder 3">
            <a:extLst>
              <a:ext uri="{FF2B5EF4-FFF2-40B4-BE49-F238E27FC236}">
                <a16:creationId xmlns:a16="http://schemas.microsoft.com/office/drawing/2014/main" id="{7E94578A-0378-42F9-9797-D6154B41B01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7171" name="Text Box 2">
            <a:extLst>
              <a:ext uri="{FF2B5EF4-FFF2-40B4-BE49-F238E27FC236}">
                <a16:creationId xmlns:a16="http://schemas.microsoft.com/office/drawing/2014/main" id="{74BDAC71-9A09-491B-B4B0-40FF9278150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47800" y="2667000"/>
            <a:ext cx="1266825" cy="9461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800">
                <a:latin typeface="Tahoma" panose="020B0604030504040204" pitchFamily="34" charset="0"/>
              </a:rPr>
              <a:t>{ ( ) }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altLang="en-US" sz="2800">
              <a:latin typeface="Tahoma" panose="020B0604030504040204" pitchFamily="34" charset="0"/>
            </a:endParaRPr>
          </a:p>
        </p:txBody>
      </p:sp>
      <p:sp>
        <p:nvSpPr>
          <p:cNvPr id="7172" name="Text Box 5">
            <a:extLst>
              <a:ext uri="{FF2B5EF4-FFF2-40B4-BE49-F238E27FC236}">
                <a16:creationId xmlns:a16="http://schemas.microsoft.com/office/drawing/2014/main" id="{40C89263-C1C3-487E-BF4A-1231EDBD579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38400" y="4953000"/>
            <a:ext cx="3733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  <a:buFontTx/>
              <a:buNone/>
            </a:pPr>
            <a:r>
              <a:rPr lang="en-US" altLang="en-US" sz="2400">
                <a:latin typeface="Tahoma" panose="020B0604030504040204" pitchFamily="34" charset="0"/>
              </a:rPr>
              <a:t>Push { onto the stack.</a:t>
            </a:r>
          </a:p>
        </p:txBody>
      </p:sp>
      <p:sp>
        <p:nvSpPr>
          <p:cNvPr id="7173" name="Text Box 6">
            <a:extLst>
              <a:ext uri="{FF2B5EF4-FFF2-40B4-BE49-F238E27FC236}">
                <a16:creationId xmlns:a16="http://schemas.microsoft.com/office/drawing/2014/main" id="{309C1357-61D2-49B2-A671-8CBDD65E404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08925" y="4681538"/>
            <a:ext cx="1841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2400">
              <a:latin typeface="Tahoma" panose="020B0604030504040204" pitchFamily="34" charset="0"/>
            </a:endParaRPr>
          </a:p>
        </p:txBody>
      </p:sp>
      <p:sp>
        <p:nvSpPr>
          <p:cNvPr id="7174" name="WordArt 8">
            <a:extLst>
              <a:ext uri="{FF2B5EF4-FFF2-40B4-BE49-F238E27FC236}">
                <a16:creationId xmlns:a16="http://schemas.microsoft.com/office/drawing/2014/main" id="{9B34D09B-2001-4FBD-8053-75029D958FA5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1143000" y="457200"/>
            <a:ext cx="6553200" cy="7620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>
                <a:ln w="9525">
                  <a:solidFill>
                    <a:srgbClr val="CCFFFF"/>
                  </a:solidFill>
                  <a:round/>
                  <a:headEnd/>
                  <a:tailEnd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/>
                  </a:outerShdw>
                </a:effectLst>
                <a:latin typeface="Impact" panose="020B0806030902050204" pitchFamily="34" charset="0"/>
              </a:rPr>
              <a:t>Expression Tester</a:t>
            </a:r>
          </a:p>
        </p:txBody>
      </p:sp>
      <p:sp>
        <p:nvSpPr>
          <p:cNvPr id="7175" name="Rectangle 9">
            <a:extLst>
              <a:ext uri="{FF2B5EF4-FFF2-40B4-BE49-F238E27FC236}">
                <a16:creationId xmlns:a16="http://schemas.microsoft.com/office/drawing/2014/main" id="{CFDD5ED5-9439-4790-AC86-47BA95E22BE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47800" y="2667000"/>
            <a:ext cx="381000" cy="609600"/>
          </a:xfrm>
          <a:prstGeom prst="rect">
            <a:avLst/>
          </a:prstGeom>
          <a:solidFill>
            <a:srgbClr val="CCFFCC">
              <a:alpha val="41960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en-US" altLang="en-US" sz="2800">
              <a:latin typeface="Tahoma" panose="020B0604030504040204" pitchFamily="34" charset="0"/>
            </a:endParaRPr>
          </a:p>
        </p:txBody>
      </p:sp>
      <p:graphicFrame>
        <p:nvGraphicFramePr>
          <p:cNvPr id="160797" name="Group 29">
            <a:extLst>
              <a:ext uri="{FF2B5EF4-FFF2-40B4-BE49-F238E27FC236}">
                <a16:creationId xmlns:a16="http://schemas.microsoft.com/office/drawing/2014/main" id="{E4808800-3BD6-4B1D-A7D7-E9A167643EFF}"/>
              </a:ext>
            </a:extLst>
          </p:cNvPr>
          <p:cNvGraphicFramePr>
            <a:graphicFrameLocks noGrp="1"/>
          </p:cNvGraphicFramePr>
          <p:nvPr/>
        </p:nvGraphicFramePr>
        <p:xfrm>
          <a:off x="4572000" y="3352800"/>
          <a:ext cx="1524000" cy="949325"/>
        </p:xfrm>
        <a:graphic>
          <a:graphicData uri="http://schemas.openxmlformats.org/drawingml/2006/table">
            <a:tbl>
              <a:tblPr/>
              <a:tblGrid>
                <a:gridCol w="152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94932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4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{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9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Footer Placeholder 3">
            <a:extLst>
              <a:ext uri="{FF2B5EF4-FFF2-40B4-BE49-F238E27FC236}">
                <a16:creationId xmlns:a16="http://schemas.microsoft.com/office/drawing/2014/main" id="{0C5D4AAD-6775-4ECC-89CC-0788F3A9B97B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8195" name="Text Box 2">
            <a:extLst>
              <a:ext uri="{FF2B5EF4-FFF2-40B4-BE49-F238E27FC236}">
                <a16:creationId xmlns:a16="http://schemas.microsoft.com/office/drawing/2014/main" id="{889FFA79-AEDB-429F-8342-1F45815BA67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47800" y="2667000"/>
            <a:ext cx="1266825" cy="9461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800">
                <a:latin typeface="Tahoma" panose="020B0604030504040204" pitchFamily="34" charset="0"/>
              </a:rPr>
              <a:t>{ ( ) }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altLang="en-US" sz="2800">
              <a:latin typeface="Tahoma" panose="020B0604030504040204" pitchFamily="34" charset="0"/>
            </a:endParaRPr>
          </a:p>
        </p:txBody>
      </p:sp>
      <p:sp>
        <p:nvSpPr>
          <p:cNvPr id="8196" name="Text Box 5">
            <a:extLst>
              <a:ext uri="{FF2B5EF4-FFF2-40B4-BE49-F238E27FC236}">
                <a16:creationId xmlns:a16="http://schemas.microsoft.com/office/drawing/2014/main" id="{E1BCFE8A-0A21-4304-9779-9DE82E1B944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38400" y="4953000"/>
            <a:ext cx="3733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  <a:buFontTx/>
              <a:buNone/>
            </a:pPr>
            <a:r>
              <a:rPr lang="en-US" altLang="en-US" sz="2400">
                <a:latin typeface="Tahoma" panose="020B0604030504040204" pitchFamily="34" charset="0"/>
              </a:rPr>
              <a:t>Push ( onto the stack.</a:t>
            </a:r>
          </a:p>
        </p:txBody>
      </p:sp>
      <p:sp>
        <p:nvSpPr>
          <p:cNvPr id="8197" name="Text Box 6">
            <a:extLst>
              <a:ext uri="{FF2B5EF4-FFF2-40B4-BE49-F238E27FC236}">
                <a16:creationId xmlns:a16="http://schemas.microsoft.com/office/drawing/2014/main" id="{11E474DC-3D25-46A1-AA07-FC8BAEE197B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08925" y="4681538"/>
            <a:ext cx="1841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2400">
              <a:latin typeface="Tahoma" panose="020B0604030504040204" pitchFamily="34" charset="0"/>
            </a:endParaRPr>
          </a:p>
        </p:txBody>
      </p:sp>
      <p:sp>
        <p:nvSpPr>
          <p:cNvPr id="8198" name="WordArt 9">
            <a:extLst>
              <a:ext uri="{FF2B5EF4-FFF2-40B4-BE49-F238E27FC236}">
                <a16:creationId xmlns:a16="http://schemas.microsoft.com/office/drawing/2014/main" id="{DFA0D4CA-7126-4128-A331-52FFD1990623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1143000" y="457200"/>
            <a:ext cx="6553200" cy="7620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>
                <a:ln w="9525">
                  <a:solidFill>
                    <a:srgbClr val="CCFFFF"/>
                  </a:solidFill>
                  <a:round/>
                  <a:headEnd/>
                  <a:tailEnd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/>
                  </a:outerShdw>
                </a:effectLst>
                <a:latin typeface="Impact" panose="020B0806030902050204" pitchFamily="34" charset="0"/>
              </a:rPr>
              <a:t>Expression Tester</a:t>
            </a:r>
          </a:p>
        </p:txBody>
      </p:sp>
      <p:sp>
        <p:nvSpPr>
          <p:cNvPr id="8199" name="Rectangle 10">
            <a:extLst>
              <a:ext uri="{FF2B5EF4-FFF2-40B4-BE49-F238E27FC236}">
                <a16:creationId xmlns:a16="http://schemas.microsoft.com/office/drawing/2014/main" id="{3A1A6A49-FDF4-4272-A60C-CA941945D67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47800" y="2667000"/>
            <a:ext cx="609600" cy="609600"/>
          </a:xfrm>
          <a:prstGeom prst="rect">
            <a:avLst/>
          </a:prstGeom>
          <a:solidFill>
            <a:srgbClr val="CCFFCC">
              <a:alpha val="41960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en-US" altLang="en-US" sz="2800">
              <a:latin typeface="Tahoma" panose="020B0604030504040204" pitchFamily="34" charset="0"/>
            </a:endParaRPr>
          </a:p>
        </p:txBody>
      </p:sp>
      <p:graphicFrame>
        <p:nvGraphicFramePr>
          <p:cNvPr id="161827" name="Group 35">
            <a:extLst>
              <a:ext uri="{FF2B5EF4-FFF2-40B4-BE49-F238E27FC236}">
                <a16:creationId xmlns:a16="http://schemas.microsoft.com/office/drawing/2014/main" id="{0298C3F9-7C0F-4FF1-A11C-0F23529B4D13}"/>
              </a:ext>
            </a:extLst>
          </p:cNvPr>
          <p:cNvGraphicFramePr>
            <a:graphicFrameLocks noGrp="1"/>
          </p:cNvGraphicFramePr>
          <p:nvPr/>
        </p:nvGraphicFramePr>
        <p:xfrm>
          <a:off x="4572000" y="2438400"/>
          <a:ext cx="1524000" cy="1900238"/>
        </p:xfrm>
        <a:graphic>
          <a:graphicData uri="http://schemas.openxmlformats.org/drawingml/2006/table">
            <a:tbl>
              <a:tblPr/>
              <a:tblGrid>
                <a:gridCol w="152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95091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4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(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4932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4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{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9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Footer Placeholder 3">
            <a:extLst>
              <a:ext uri="{FF2B5EF4-FFF2-40B4-BE49-F238E27FC236}">
                <a16:creationId xmlns:a16="http://schemas.microsoft.com/office/drawing/2014/main" id="{A322EB79-20B1-4815-BB20-6326F671992B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9219" name="Text Box 2">
            <a:extLst>
              <a:ext uri="{FF2B5EF4-FFF2-40B4-BE49-F238E27FC236}">
                <a16:creationId xmlns:a16="http://schemas.microsoft.com/office/drawing/2014/main" id="{EE2BADCB-7A37-4787-8BCE-63E05A2DF38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47800" y="2667000"/>
            <a:ext cx="1266825" cy="9461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800">
                <a:latin typeface="Tahoma" panose="020B0604030504040204" pitchFamily="34" charset="0"/>
              </a:rPr>
              <a:t>{ ( ) }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altLang="en-US" sz="2800">
              <a:latin typeface="Tahoma" panose="020B0604030504040204" pitchFamily="34" charset="0"/>
            </a:endParaRPr>
          </a:p>
        </p:txBody>
      </p:sp>
      <p:sp>
        <p:nvSpPr>
          <p:cNvPr id="9220" name="Text Box 5">
            <a:extLst>
              <a:ext uri="{FF2B5EF4-FFF2-40B4-BE49-F238E27FC236}">
                <a16:creationId xmlns:a16="http://schemas.microsoft.com/office/drawing/2014/main" id="{9F7AB654-EC99-41B2-859C-33C4F206721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00200" y="4953000"/>
            <a:ext cx="6705600" cy="8223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  <a:buFontTx/>
              <a:buNone/>
            </a:pPr>
            <a:r>
              <a:rPr lang="en-US" altLang="en-US" sz="2400">
                <a:latin typeface="Tahoma" panose="020B0604030504040204" pitchFamily="34" charset="0"/>
              </a:rPr>
              <a:t>A close ) was encountered.  Pop the top</a:t>
            </a:r>
            <a:br>
              <a:rPr lang="en-US" altLang="en-US" sz="2400">
                <a:latin typeface="Tahoma" panose="020B0604030504040204" pitchFamily="34" charset="0"/>
              </a:rPr>
            </a:br>
            <a:r>
              <a:rPr lang="en-US" altLang="en-US" sz="2400">
                <a:latin typeface="Tahoma" panose="020B0604030504040204" pitchFamily="34" charset="0"/>
              </a:rPr>
              <a:t>symbol off the stack and see if it matches.</a:t>
            </a:r>
          </a:p>
        </p:txBody>
      </p:sp>
      <p:sp>
        <p:nvSpPr>
          <p:cNvPr id="9221" name="Text Box 6">
            <a:extLst>
              <a:ext uri="{FF2B5EF4-FFF2-40B4-BE49-F238E27FC236}">
                <a16:creationId xmlns:a16="http://schemas.microsoft.com/office/drawing/2014/main" id="{446E9129-0E91-4B32-A4B8-E9A84AAA29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08925" y="4681538"/>
            <a:ext cx="1841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2400">
              <a:latin typeface="Tahoma" panose="020B0604030504040204" pitchFamily="34" charset="0"/>
            </a:endParaRPr>
          </a:p>
        </p:txBody>
      </p:sp>
      <p:sp>
        <p:nvSpPr>
          <p:cNvPr id="9222" name="WordArt 8">
            <a:extLst>
              <a:ext uri="{FF2B5EF4-FFF2-40B4-BE49-F238E27FC236}">
                <a16:creationId xmlns:a16="http://schemas.microsoft.com/office/drawing/2014/main" id="{D3C24219-22B8-4B2A-9B94-FEE2F417DBE1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1143000" y="457200"/>
            <a:ext cx="6553200" cy="7620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>
                <a:ln w="9525">
                  <a:solidFill>
                    <a:srgbClr val="CCFFFF"/>
                  </a:solidFill>
                  <a:round/>
                  <a:headEnd/>
                  <a:tailEnd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/>
                  </a:outerShdw>
                </a:effectLst>
                <a:latin typeface="Impact" panose="020B0806030902050204" pitchFamily="34" charset="0"/>
              </a:rPr>
              <a:t>Expression Tester</a:t>
            </a:r>
          </a:p>
        </p:txBody>
      </p:sp>
      <p:sp>
        <p:nvSpPr>
          <p:cNvPr id="9223" name="Rectangle 9">
            <a:extLst>
              <a:ext uri="{FF2B5EF4-FFF2-40B4-BE49-F238E27FC236}">
                <a16:creationId xmlns:a16="http://schemas.microsoft.com/office/drawing/2014/main" id="{FF7259E8-65DB-4035-8D5E-069B17E7F8B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47800" y="2667000"/>
            <a:ext cx="914400" cy="609600"/>
          </a:xfrm>
          <a:prstGeom prst="rect">
            <a:avLst/>
          </a:prstGeom>
          <a:solidFill>
            <a:srgbClr val="CCFFCC">
              <a:alpha val="41960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en-US" altLang="en-US" sz="2800">
              <a:latin typeface="Tahoma" panose="020B0604030504040204" pitchFamily="34" charset="0"/>
            </a:endParaRPr>
          </a:p>
        </p:txBody>
      </p:sp>
      <p:graphicFrame>
        <p:nvGraphicFramePr>
          <p:cNvPr id="162842" name="Group 26">
            <a:extLst>
              <a:ext uri="{FF2B5EF4-FFF2-40B4-BE49-F238E27FC236}">
                <a16:creationId xmlns:a16="http://schemas.microsoft.com/office/drawing/2014/main" id="{A70B36E7-0214-4826-A277-9DEDC5BA772C}"/>
              </a:ext>
            </a:extLst>
          </p:cNvPr>
          <p:cNvGraphicFramePr>
            <a:graphicFrameLocks noGrp="1"/>
          </p:cNvGraphicFramePr>
          <p:nvPr/>
        </p:nvGraphicFramePr>
        <p:xfrm>
          <a:off x="4572000" y="3352800"/>
          <a:ext cx="1524000" cy="949325"/>
        </p:xfrm>
        <a:graphic>
          <a:graphicData uri="http://schemas.openxmlformats.org/drawingml/2006/table">
            <a:tbl>
              <a:tblPr/>
              <a:tblGrid>
                <a:gridCol w="152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94932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4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{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9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Footer Placeholder 3">
            <a:extLst>
              <a:ext uri="{FF2B5EF4-FFF2-40B4-BE49-F238E27FC236}">
                <a16:creationId xmlns:a16="http://schemas.microsoft.com/office/drawing/2014/main" id="{CF37574A-C176-4954-B7BE-C06F8FD071A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10243" name="Text Box 2">
            <a:extLst>
              <a:ext uri="{FF2B5EF4-FFF2-40B4-BE49-F238E27FC236}">
                <a16:creationId xmlns:a16="http://schemas.microsoft.com/office/drawing/2014/main" id="{CC5A1A1F-6456-4513-893E-A15B96EE837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47800" y="2667000"/>
            <a:ext cx="1266825" cy="9461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800">
                <a:latin typeface="Tahoma" panose="020B0604030504040204" pitchFamily="34" charset="0"/>
              </a:rPr>
              <a:t>{ ( ) }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altLang="en-US" sz="2800">
              <a:latin typeface="Tahoma" panose="020B0604030504040204" pitchFamily="34" charset="0"/>
            </a:endParaRPr>
          </a:p>
        </p:txBody>
      </p:sp>
      <p:sp>
        <p:nvSpPr>
          <p:cNvPr id="10244" name="Text Box 5">
            <a:extLst>
              <a:ext uri="{FF2B5EF4-FFF2-40B4-BE49-F238E27FC236}">
                <a16:creationId xmlns:a16="http://schemas.microsoft.com/office/drawing/2014/main" id="{26822C00-23DC-4580-8E7D-0BBEE933A17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00200" y="4953000"/>
            <a:ext cx="6705600" cy="8223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  <a:buFontTx/>
              <a:buNone/>
            </a:pPr>
            <a:r>
              <a:rPr lang="en-US" altLang="en-US" sz="2400">
                <a:latin typeface="Tahoma" panose="020B0604030504040204" pitchFamily="34" charset="0"/>
              </a:rPr>
              <a:t>A close } was encountered.  Pop the top</a:t>
            </a:r>
            <a:br>
              <a:rPr lang="en-US" altLang="en-US" sz="2400">
                <a:latin typeface="Tahoma" panose="020B0604030504040204" pitchFamily="34" charset="0"/>
              </a:rPr>
            </a:br>
            <a:r>
              <a:rPr lang="en-US" altLang="en-US" sz="2400">
                <a:latin typeface="Tahoma" panose="020B0604030504040204" pitchFamily="34" charset="0"/>
              </a:rPr>
              <a:t>symbol off the stack and see if it matches.</a:t>
            </a:r>
          </a:p>
        </p:txBody>
      </p:sp>
      <p:sp>
        <p:nvSpPr>
          <p:cNvPr id="10245" name="Text Box 6">
            <a:extLst>
              <a:ext uri="{FF2B5EF4-FFF2-40B4-BE49-F238E27FC236}">
                <a16:creationId xmlns:a16="http://schemas.microsoft.com/office/drawing/2014/main" id="{5BD70D6F-E5B4-4F68-9625-36B5C072143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08925" y="4681538"/>
            <a:ext cx="1841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2400">
              <a:latin typeface="Tahoma" panose="020B0604030504040204" pitchFamily="34" charset="0"/>
            </a:endParaRPr>
          </a:p>
        </p:txBody>
      </p:sp>
      <p:sp>
        <p:nvSpPr>
          <p:cNvPr id="10246" name="WordArt 8">
            <a:extLst>
              <a:ext uri="{FF2B5EF4-FFF2-40B4-BE49-F238E27FC236}">
                <a16:creationId xmlns:a16="http://schemas.microsoft.com/office/drawing/2014/main" id="{0659F560-C215-4AC2-A987-3D1C4EB65F05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1143000" y="457200"/>
            <a:ext cx="6553200" cy="7620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>
                <a:ln w="9525">
                  <a:solidFill>
                    <a:srgbClr val="CCFFFF"/>
                  </a:solidFill>
                  <a:round/>
                  <a:headEnd/>
                  <a:tailEnd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/>
                  </a:outerShdw>
                </a:effectLst>
                <a:latin typeface="Impact" panose="020B0806030902050204" pitchFamily="34" charset="0"/>
              </a:rPr>
              <a:t>Expression Tester</a:t>
            </a:r>
          </a:p>
        </p:txBody>
      </p:sp>
      <p:sp>
        <p:nvSpPr>
          <p:cNvPr id="10247" name="Rectangle 9">
            <a:extLst>
              <a:ext uri="{FF2B5EF4-FFF2-40B4-BE49-F238E27FC236}">
                <a16:creationId xmlns:a16="http://schemas.microsoft.com/office/drawing/2014/main" id="{1106DB53-EB15-4A31-9C33-15BFF6AABA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47800" y="2667000"/>
            <a:ext cx="1295400" cy="609600"/>
          </a:xfrm>
          <a:prstGeom prst="rect">
            <a:avLst/>
          </a:prstGeom>
          <a:solidFill>
            <a:srgbClr val="CCFFCC">
              <a:alpha val="41960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en-US" altLang="en-US" sz="2800">
              <a:latin typeface="Tahoma" panose="020B0604030504040204" pitchFamily="34" charset="0"/>
            </a:endParaRPr>
          </a:p>
        </p:txBody>
      </p:sp>
      <p:graphicFrame>
        <p:nvGraphicFramePr>
          <p:cNvPr id="163856" name="Group 16">
            <a:extLst>
              <a:ext uri="{FF2B5EF4-FFF2-40B4-BE49-F238E27FC236}">
                <a16:creationId xmlns:a16="http://schemas.microsoft.com/office/drawing/2014/main" id="{9EA02B09-7A84-4E4D-84C9-059D393C69DB}"/>
              </a:ext>
            </a:extLst>
          </p:cNvPr>
          <p:cNvGraphicFramePr>
            <a:graphicFrameLocks noGrp="1"/>
          </p:cNvGraphicFramePr>
          <p:nvPr/>
        </p:nvGraphicFramePr>
        <p:xfrm>
          <a:off x="4572000" y="3352800"/>
          <a:ext cx="1524000" cy="949325"/>
        </p:xfrm>
        <a:graphic>
          <a:graphicData uri="http://schemas.openxmlformats.org/drawingml/2006/table">
            <a:tbl>
              <a:tblPr/>
              <a:tblGrid>
                <a:gridCol w="152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94932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4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{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9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Footer Placeholder 3">
            <a:extLst>
              <a:ext uri="{FF2B5EF4-FFF2-40B4-BE49-F238E27FC236}">
                <a16:creationId xmlns:a16="http://schemas.microsoft.com/office/drawing/2014/main" id="{D1574D1D-EFF8-4143-8A50-5723E20FD933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11267" name="Text Box 2">
            <a:extLst>
              <a:ext uri="{FF2B5EF4-FFF2-40B4-BE49-F238E27FC236}">
                <a16:creationId xmlns:a16="http://schemas.microsoft.com/office/drawing/2014/main" id="{46F9177C-5A51-48E0-BE88-9C8B134EAA8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47800" y="2667000"/>
            <a:ext cx="1266825" cy="9461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800">
                <a:latin typeface="Tahoma" panose="020B0604030504040204" pitchFamily="34" charset="0"/>
              </a:rPr>
              <a:t>{ ( ) }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altLang="en-US" sz="2800">
              <a:latin typeface="Tahoma" panose="020B0604030504040204" pitchFamily="34" charset="0"/>
            </a:endParaRPr>
          </a:p>
        </p:txBody>
      </p:sp>
      <p:sp>
        <p:nvSpPr>
          <p:cNvPr id="11268" name="Text Box 5">
            <a:extLst>
              <a:ext uri="{FF2B5EF4-FFF2-40B4-BE49-F238E27FC236}">
                <a16:creationId xmlns:a16="http://schemas.microsoft.com/office/drawing/2014/main" id="{246DDEED-8D1E-402A-A4C5-863CECEAD3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24000" y="3657600"/>
            <a:ext cx="6705600" cy="11874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  <a:buFontTx/>
              <a:buNone/>
            </a:pPr>
            <a:r>
              <a:rPr lang="en-US" altLang="en-US" sz="2400">
                <a:latin typeface="Tahoma" panose="020B0604030504040204" pitchFamily="34" charset="0"/>
              </a:rPr>
              <a:t>All symbols have been processed.  All symbols matched up and the stack is empty.   The expression is valid.</a:t>
            </a:r>
          </a:p>
        </p:txBody>
      </p:sp>
      <p:sp>
        <p:nvSpPr>
          <p:cNvPr id="11269" name="Text Box 6">
            <a:extLst>
              <a:ext uri="{FF2B5EF4-FFF2-40B4-BE49-F238E27FC236}">
                <a16:creationId xmlns:a16="http://schemas.microsoft.com/office/drawing/2014/main" id="{AF34B02F-3F58-4A84-8167-B52340E97E1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08925" y="4681538"/>
            <a:ext cx="1841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2400">
              <a:latin typeface="Tahoma" panose="020B0604030504040204" pitchFamily="34" charset="0"/>
            </a:endParaRPr>
          </a:p>
        </p:txBody>
      </p:sp>
      <p:sp>
        <p:nvSpPr>
          <p:cNvPr id="11270" name="WordArt 7">
            <a:extLst>
              <a:ext uri="{FF2B5EF4-FFF2-40B4-BE49-F238E27FC236}">
                <a16:creationId xmlns:a16="http://schemas.microsoft.com/office/drawing/2014/main" id="{39C0D516-0022-47C8-9169-19C97898B952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1143000" y="457200"/>
            <a:ext cx="6553200" cy="7620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>
                <a:ln w="9525">
                  <a:solidFill>
                    <a:srgbClr val="CCFFFF"/>
                  </a:solidFill>
                  <a:round/>
                  <a:headEnd/>
                  <a:tailEnd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/>
                  </a:outerShdw>
                </a:effectLst>
                <a:latin typeface="Impact" panose="020B0806030902050204" pitchFamily="34" charset="0"/>
              </a:rPr>
              <a:t>Expression Tester</a:t>
            </a:r>
          </a:p>
        </p:txBody>
      </p:sp>
      <p:sp>
        <p:nvSpPr>
          <p:cNvPr id="11271" name="Rectangle 8">
            <a:extLst>
              <a:ext uri="{FF2B5EF4-FFF2-40B4-BE49-F238E27FC236}">
                <a16:creationId xmlns:a16="http://schemas.microsoft.com/office/drawing/2014/main" id="{E0ED6B58-8D4B-4F7D-BF37-96111B4DDA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47800" y="2667000"/>
            <a:ext cx="1295400" cy="609600"/>
          </a:xfrm>
          <a:prstGeom prst="rect">
            <a:avLst/>
          </a:prstGeom>
          <a:solidFill>
            <a:srgbClr val="CCFFCC">
              <a:alpha val="41960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en-US" altLang="en-US" sz="2800">
              <a:latin typeface="Tahoma" panose="020B0604030504040204" pitchFamily="34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E5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Footer Placeholder 3">
            <a:extLst>
              <a:ext uri="{FF2B5EF4-FFF2-40B4-BE49-F238E27FC236}">
                <a16:creationId xmlns:a16="http://schemas.microsoft.com/office/drawing/2014/main" id="{4BF73720-F9C4-4C70-A5C5-1C7FDA984B18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12291" name="Text Box 2">
            <a:extLst>
              <a:ext uri="{FF2B5EF4-FFF2-40B4-BE49-F238E27FC236}">
                <a16:creationId xmlns:a16="http://schemas.microsoft.com/office/drawing/2014/main" id="{222B1101-DDB8-4B9B-926C-A9028D87025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47800" y="2667000"/>
            <a:ext cx="1277938" cy="9540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800">
                <a:latin typeface="Tahoma" panose="020B0604030504040204" pitchFamily="34" charset="0"/>
              </a:rPr>
              <a:t>{ ( ] }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altLang="en-US" sz="2800">
              <a:latin typeface="Tahoma" panose="020B0604030504040204" pitchFamily="34" charset="0"/>
            </a:endParaRPr>
          </a:p>
        </p:txBody>
      </p:sp>
      <p:sp>
        <p:nvSpPr>
          <p:cNvPr id="12292" name="Text Box 5">
            <a:extLst>
              <a:ext uri="{FF2B5EF4-FFF2-40B4-BE49-F238E27FC236}">
                <a16:creationId xmlns:a16="http://schemas.microsoft.com/office/drawing/2014/main" id="{A7199E12-ED6C-4D5A-A62C-9AC92C20CFC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38400" y="4953000"/>
            <a:ext cx="3733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  <a:buFontTx/>
              <a:buNone/>
            </a:pPr>
            <a:r>
              <a:rPr lang="en-US" altLang="en-US" sz="2400">
                <a:latin typeface="Tahoma" panose="020B0604030504040204" pitchFamily="34" charset="0"/>
              </a:rPr>
              <a:t>Push { onto the stack.</a:t>
            </a:r>
          </a:p>
        </p:txBody>
      </p:sp>
      <p:sp>
        <p:nvSpPr>
          <p:cNvPr id="12293" name="Text Box 6">
            <a:extLst>
              <a:ext uri="{FF2B5EF4-FFF2-40B4-BE49-F238E27FC236}">
                <a16:creationId xmlns:a16="http://schemas.microsoft.com/office/drawing/2014/main" id="{D79FB790-3B34-4A7A-A1CE-A734D2E376F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08925" y="4681538"/>
            <a:ext cx="1841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2400">
              <a:latin typeface="Tahoma" panose="020B0604030504040204" pitchFamily="34" charset="0"/>
            </a:endParaRPr>
          </a:p>
        </p:txBody>
      </p:sp>
      <p:sp>
        <p:nvSpPr>
          <p:cNvPr id="12294" name="WordArt 8">
            <a:extLst>
              <a:ext uri="{FF2B5EF4-FFF2-40B4-BE49-F238E27FC236}">
                <a16:creationId xmlns:a16="http://schemas.microsoft.com/office/drawing/2014/main" id="{F55E5229-B413-4D82-A434-6B190B74D515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1143000" y="457200"/>
            <a:ext cx="6553200" cy="7620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>
                <a:ln w="9525">
                  <a:solidFill>
                    <a:srgbClr val="CCFFFF"/>
                  </a:solidFill>
                  <a:round/>
                  <a:headEnd/>
                  <a:tailEnd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/>
                  </a:outerShdw>
                </a:effectLst>
                <a:latin typeface="Impact" panose="020B0806030902050204" pitchFamily="34" charset="0"/>
              </a:rPr>
              <a:t>Expression Tester</a:t>
            </a:r>
          </a:p>
        </p:txBody>
      </p:sp>
      <p:sp>
        <p:nvSpPr>
          <p:cNvPr id="12295" name="Rectangle 9">
            <a:extLst>
              <a:ext uri="{FF2B5EF4-FFF2-40B4-BE49-F238E27FC236}">
                <a16:creationId xmlns:a16="http://schemas.microsoft.com/office/drawing/2014/main" id="{CD95232F-5463-4D3D-BCD2-3F30B59DCE3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47800" y="2667000"/>
            <a:ext cx="381000" cy="609600"/>
          </a:xfrm>
          <a:prstGeom prst="rect">
            <a:avLst/>
          </a:prstGeom>
          <a:solidFill>
            <a:srgbClr val="CCFFCC">
              <a:alpha val="41960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en-US" altLang="en-US" sz="2800">
              <a:latin typeface="Tahoma" panose="020B0604030504040204" pitchFamily="34" charset="0"/>
            </a:endParaRPr>
          </a:p>
        </p:txBody>
      </p:sp>
      <p:graphicFrame>
        <p:nvGraphicFramePr>
          <p:cNvPr id="160797" name="Group 29">
            <a:extLst>
              <a:ext uri="{FF2B5EF4-FFF2-40B4-BE49-F238E27FC236}">
                <a16:creationId xmlns:a16="http://schemas.microsoft.com/office/drawing/2014/main" id="{E4808800-3BD6-4B1D-A7D7-E9A167643EFF}"/>
              </a:ext>
            </a:extLst>
          </p:cNvPr>
          <p:cNvGraphicFramePr>
            <a:graphicFrameLocks noGrp="1"/>
          </p:cNvGraphicFramePr>
          <p:nvPr/>
        </p:nvGraphicFramePr>
        <p:xfrm>
          <a:off x="4572000" y="3352800"/>
          <a:ext cx="1524000" cy="949325"/>
        </p:xfrm>
        <a:graphic>
          <a:graphicData uri="http://schemas.openxmlformats.org/drawingml/2006/table">
            <a:tbl>
              <a:tblPr/>
              <a:tblGrid>
                <a:gridCol w="152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94932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4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{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E5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Footer Placeholder 3">
            <a:extLst>
              <a:ext uri="{FF2B5EF4-FFF2-40B4-BE49-F238E27FC236}">
                <a16:creationId xmlns:a16="http://schemas.microsoft.com/office/drawing/2014/main" id="{8B34EEEA-0E82-4290-AA02-200AF621AE92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13315" name="Text Box 2">
            <a:extLst>
              <a:ext uri="{FF2B5EF4-FFF2-40B4-BE49-F238E27FC236}">
                <a16:creationId xmlns:a16="http://schemas.microsoft.com/office/drawing/2014/main" id="{2C9F0D34-846D-4ED8-9201-37921663C44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47800" y="2667000"/>
            <a:ext cx="1277938" cy="9540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800">
                <a:latin typeface="Tahoma" panose="020B0604030504040204" pitchFamily="34" charset="0"/>
              </a:rPr>
              <a:t>{ ( ] }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altLang="en-US" sz="2800">
              <a:latin typeface="Tahoma" panose="020B0604030504040204" pitchFamily="34" charset="0"/>
            </a:endParaRPr>
          </a:p>
        </p:txBody>
      </p:sp>
      <p:sp>
        <p:nvSpPr>
          <p:cNvPr id="13316" name="Text Box 5">
            <a:extLst>
              <a:ext uri="{FF2B5EF4-FFF2-40B4-BE49-F238E27FC236}">
                <a16:creationId xmlns:a16="http://schemas.microsoft.com/office/drawing/2014/main" id="{19ADE077-B6FB-4D10-9D71-B8045658080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38400" y="4953000"/>
            <a:ext cx="3733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  <a:buFontTx/>
              <a:buNone/>
            </a:pPr>
            <a:r>
              <a:rPr lang="en-US" altLang="en-US" sz="2400">
                <a:latin typeface="Tahoma" panose="020B0604030504040204" pitchFamily="34" charset="0"/>
              </a:rPr>
              <a:t>Push ( onto the stack.</a:t>
            </a:r>
          </a:p>
        </p:txBody>
      </p:sp>
      <p:sp>
        <p:nvSpPr>
          <p:cNvPr id="13317" name="Text Box 6">
            <a:extLst>
              <a:ext uri="{FF2B5EF4-FFF2-40B4-BE49-F238E27FC236}">
                <a16:creationId xmlns:a16="http://schemas.microsoft.com/office/drawing/2014/main" id="{3868F47A-DC22-488C-9157-4B692616182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08925" y="4681538"/>
            <a:ext cx="1841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2400">
              <a:latin typeface="Tahoma" panose="020B0604030504040204" pitchFamily="34" charset="0"/>
            </a:endParaRPr>
          </a:p>
        </p:txBody>
      </p:sp>
      <p:sp>
        <p:nvSpPr>
          <p:cNvPr id="13318" name="WordArt 9">
            <a:extLst>
              <a:ext uri="{FF2B5EF4-FFF2-40B4-BE49-F238E27FC236}">
                <a16:creationId xmlns:a16="http://schemas.microsoft.com/office/drawing/2014/main" id="{E66A3783-3546-4B01-A65E-33212349CB46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1143000" y="457200"/>
            <a:ext cx="6553200" cy="7620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>
                <a:ln w="9525">
                  <a:solidFill>
                    <a:srgbClr val="CCFFFF"/>
                  </a:solidFill>
                  <a:round/>
                  <a:headEnd/>
                  <a:tailEnd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/>
                  </a:outerShdw>
                </a:effectLst>
                <a:latin typeface="Impact" panose="020B0806030902050204" pitchFamily="34" charset="0"/>
              </a:rPr>
              <a:t>Expression Tester</a:t>
            </a:r>
          </a:p>
        </p:txBody>
      </p:sp>
      <p:sp>
        <p:nvSpPr>
          <p:cNvPr id="13319" name="Rectangle 10">
            <a:extLst>
              <a:ext uri="{FF2B5EF4-FFF2-40B4-BE49-F238E27FC236}">
                <a16:creationId xmlns:a16="http://schemas.microsoft.com/office/drawing/2014/main" id="{4F4B53BB-EA12-43FA-A1FC-57BE5DF194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47800" y="2667000"/>
            <a:ext cx="609600" cy="609600"/>
          </a:xfrm>
          <a:prstGeom prst="rect">
            <a:avLst/>
          </a:prstGeom>
          <a:solidFill>
            <a:srgbClr val="CCFFCC">
              <a:alpha val="41960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en-US" altLang="en-US" sz="2800">
              <a:latin typeface="Tahoma" panose="020B0604030504040204" pitchFamily="34" charset="0"/>
            </a:endParaRPr>
          </a:p>
        </p:txBody>
      </p:sp>
      <p:graphicFrame>
        <p:nvGraphicFramePr>
          <p:cNvPr id="161827" name="Group 35">
            <a:extLst>
              <a:ext uri="{FF2B5EF4-FFF2-40B4-BE49-F238E27FC236}">
                <a16:creationId xmlns:a16="http://schemas.microsoft.com/office/drawing/2014/main" id="{0298C3F9-7C0F-4FF1-A11C-0F23529B4D13}"/>
              </a:ext>
            </a:extLst>
          </p:cNvPr>
          <p:cNvGraphicFramePr>
            <a:graphicFrameLocks noGrp="1"/>
          </p:cNvGraphicFramePr>
          <p:nvPr/>
        </p:nvGraphicFramePr>
        <p:xfrm>
          <a:off x="4572000" y="2438400"/>
          <a:ext cx="1524000" cy="1900238"/>
        </p:xfrm>
        <a:graphic>
          <a:graphicData uri="http://schemas.openxmlformats.org/drawingml/2006/table">
            <a:tbl>
              <a:tblPr/>
              <a:tblGrid>
                <a:gridCol w="152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95091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4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(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4932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4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{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E5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Footer Placeholder 3">
            <a:extLst>
              <a:ext uri="{FF2B5EF4-FFF2-40B4-BE49-F238E27FC236}">
                <a16:creationId xmlns:a16="http://schemas.microsoft.com/office/drawing/2014/main" id="{A863D8D7-95E0-4B56-902D-8723DA96470B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14339" name="Text Box 2">
            <a:extLst>
              <a:ext uri="{FF2B5EF4-FFF2-40B4-BE49-F238E27FC236}">
                <a16:creationId xmlns:a16="http://schemas.microsoft.com/office/drawing/2014/main" id="{287C6C29-F8ED-44EA-B9A9-58F18BCB7B5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1828800"/>
            <a:ext cx="1277938" cy="9540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800">
                <a:latin typeface="Tahoma" panose="020B0604030504040204" pitchFamily="34" charset="0"/>
              </a:rPr>
              <a:t>{ ( ] }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altLang="en-US" sz="2800">
              <a:latin typeface="Tahoma" panose="020B0604030504040204" pitchFamily="34" charset="0"/>
            </a:endParaRPr>
          </a:p>
        </p:txBody>
      </p:sp>
      <p:sp>
        <p:nvSpPr>
          <p:cNvPr id="14340" name="Text Box 5">
            <a:extLst>
              <a:ext uri="{FF2B5EF4-FFF2-40B4-BE49-F238E27FC236}">
                <a16:creationId xmlns:a16="http://schemas.microsoft.com/office/drawing/2014/main" id="{789A6F2A-126E-4167-9BD1-091286BDE8A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8200" y="4114800"/>
            <a:ext cx="7315200" cy="13843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  <a:buFontTx/>
              <a:buNone/>
            </a:pPr>
            <a:r>
              <a:rPr lang="en-US" altLang="en-US" sz="2800">
                <a:latin typeface="Tahoma" panose="020B0604030504040204" pitchFamily="34" charset="0"/>
              </a:rPr>
              <a:t>A close ] was encountered.  The open ( that is popped off the top doesn’t match, so return false.</a:t>
            </a:r>
          </a:p>
        </p:txBody>
      </p:sp>
      <p:sp>
        <p:nvSpPr>
          <p:cNvPr id="14341" name="Text Box 6">
            <a:extLst>
              <a:ext uri="{FF2B5EF4-FFF2-40B4-BE49-F238E27FC236}">
                <a16:creationId xmlns:a16="http://schemas.microsoft.com/office/drawing/2014/main" id="{DE7740FF-0CA9-4F47-A0F8-60A46CA0855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56525" y="3843338"/>
            <a:ext cx="1841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2400">
              <a:latin typeface="Tahoma" panose="020B0604030504040204" pitchFamily="34" charset="0"/>
            </a:endParaRPr>
          </a:p>
        </p:txBody>
      </p:sp>
      <p:sp>
        <p:nvSpPr>
          <p:cNvPr id="14342" name="WordArt 8">
            <a:extLst>
              <a:ext uri="{FF2B5EF4-FFF2-40B4-BE49-F238E27FC236}">
                <a16:creationId xmlns:a16="http://schemas.microsoft.com/office/drawing/2014/main" id="{9AB512AA-6387-4B68-AA1A-AE298855520F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1143000" y="457200"/>
            <a:ext cx="6553200" cy="7620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>
                <a:ln w="9525">
                  <a:solidFill>
                    <a:srgbClr val="CCFFFF"/>
                  </a:solidFill>
                  <a:round/>
                  <a:headEnd/>
                  <a:tailEnd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/>
                  </a:outerShdw>
                </a:effectLst>
                <a:latin typeface="Impact" panose="020B0806030902050204" pitchFamily="34" charset="0"/>
              </a:rPr>
              <a:t>Expression Tester</a:t>
            </a:r>
          </a:p>
        </p:txBody>
      </p:sp>
      <p:sp>
        <p:nvSpPr>
          <p:cNvPr id="14343" name="Rectangle 9">
            <a:extLst>
              <a:ext uri="{FF2B5EF4-FFF2-40B4-BE49-F238E27FC236}">
                <a16:creationId xmlns:a16="http://schemas.microsoft.com/office/drawing/2014/main" id="{F56AE93D-F353-43F1-9F96-9F3EA9A288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95400" y="1828800"/>
            <a:ext cx="914400" cy="609600"/>
          </a:xfrm>
          <a:prstGeom prst="rect">
            <a:avLst/>
          </a:prstGeom>
          <a:solidFill>
            <a:srgbClr val="CCFFCC">
              <a:alpha val="41960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en-US" altLang="en-US" sz="2800">
              <a:latin typeface="Tahoma" panose="020B0604030504040204" pitchFamily="34" charset="0"/>
            </a:endParaRPr>
          </a:p>
        </p:txBody>
      </p:sp>
      <p:graphicFrame>
        <p:nvGraphicFramePr>
          <p:cNvPr id="162842" name="Group 26">
            <a:extLst>
              <a:ext uri="{FF2B5EF4-FFF2-40B4-BE49-F238E27FC236}">
                <a16:creationId xmlns:a16="http://schemas.microsoft.com/office/drawing/2014/main" id="{A70B36E7-0214-4826-A277-9DEDC5BA772C}"/>
              </a:ext>
            </a:extLst>
          </p:cNvPr>
          <p:cNvGraphicFramePr>
            <a:graphicFrameLocks noGrp="1"/>
          </p:cNvGraphicFramePr>
          <p:nvPr/>
        </p:nvGraphicFramePr>
        <p:xfrm>
          <a:off x="4419600" y="2514600"/>
          <a:ext cx="1524000" cy="949325"/>
        </p:xfrm>
        <a:graphic>
          <a:graphicData uri="http://schemas.openxmlformats.org/drawingml/2006/table">
            <a:tbl>
              <a:tblPr/>
              <a:tblGrid>
                <a:gridCol w="152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94932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4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{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9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Footer Placeholder 3">
            <a:extLst>
              <a:ext uri="{FF2B5EF4-FFF2-40B4-BE49-F238E27FC236}">
                <a16:creationId xmlns:a16="http://schemas.microsoft.com/office/drawing/2014/main" id="{79E73E8A-442B-463F-921C-C099F1D49962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10243" name="Text Box 2">
            <a:extLst>
              <a:ext uri="{FF2B5EF4-FFF2-40B4-BE49-F238E27FC236}">
                <a16:creationId xmlns:a16="http://schemas.microsoft.com/office/drawing/2014/main" id="{FC579E0E-0680-49FA-9FD0-EDC3329B5F2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3400" y="2827338"/>
            <a:ext cx="1441450" cy="52387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  <a:defRPr/>
            </a:pPr>
            <a:r>
              <a:rPr lang="en-US" altLang="en-US" sz="2800" dirty="0">
                <a:latin typeface="Tahoma" panose="020B0604030504040204" pitchFamily="34" charset="0"/>
              </a:rPr>
              <a:t>{ ( ) }]</a:t>
            </a:r>
          </a:p>
        </p:txBody>
      </p:sp>
      <p:sp>
        <p:nvSpPr>
          <p:cNvPr id="15364" name="Text Box 5">
            <a:extLst>
              <a:ext uri="{FF2B5EF4-FFF2-40B4-BE49-F238E27FC236}">
                <a16:creationId xmlns:a16="http://schemas.microsoft.com/office/drawing/2014/main" id="{73E4B163-E00B-4D0A-862B-B21AE34EE5C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3400" y="1538288"/>
            <a:ext cx="7848600" cy="8318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  <a:buFontTx/>
              <a:buNone/>
            </a:pPr>
            <a:r>
              <a:rPr lang="en-US" altLang="en-US" sz="2400">
                <a:latin typeface="Tahoma" panose="020B0604030504040204" pitchFamily="34" charset="0"/>
              </a:rPr>
              <a:t>For each example below, determine at what point you’ll know it’s invalid and how you’ll know:</a:t>
            </a:r>
          </a:p>
        </p:txBody>
      </p:sp>
      <p:sp>
        <p:nvSpPr>
          <p:cNvPr id="15365" name="Text Box 6">
            <a:extLst>
              <a:ext uri="{FF2B5EF4-FFF2-40B4-BE49-F238E27FC236}">
                <a16:creationId xmlns:a16="http://schemas.microsoft.com/office/drawing/2014/main" id="{1971AB44-A844-4C09-AAE0-174CD6310C9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08925" y="4681538"/>
            <a:ext cx="1841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2400">
              <a:latin typeface="Tahoma" panose="020B0604030504040204" pitchFamily="34" charset="0"/>
            </a:endParaRPr>
          </a:p>
        </p:txBody>
      </p:sp>
      <p:sp>
        <p:nvSpPr>
          <p:cNvPr id="15366" name="WordArt 8">
            <a:extLst>
              <a:ext uri="{FF2B5EF4-FFF2-40B4-BE49-F238E27FC236}">
                <a16:creationId xmlns:a16="http://schemas.microsoft.com/office/drawing/2014/main" id="{81BA2677-B901-4E9C-9734-170C4F97101F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1143000" y="457200"/>
            <a:ext cx="6553200" cy="7620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>
                <a:ln w="9525">
                  <a:solidFill>
                    <a:srgbClr val="CCFFFF"/>
                  </a:solidFill>
                  <a:round/>
                  <a:headEnd/>
                  <a:tailEnd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/>
                  </a:outerShdw>
                </a:effectLst>
                <a:latin typeface="Impact" panose="020B0806030902050204" pitchFamily="34" charset="0"/>
              </a:rPr>
              <a:t>Expression Tester</a:t>
            </a:r>
          </a:p>
        </p:txBody>
      </p:sp>
      <p:sp>
        <p:nvSpPr>
          <p:cNvPr id="10" name="Text Box 5">
            <a:extLst>
              <a:ext uri="{FF2B5EF4-FFF2-40B4-BE49-F238E27FC236}">
                <a16:creationId xmlns:a16="http://schemas.microsoft.com/office/drawing/2014/main" id="{573BCA3B-4200-438B-B056-2A83E82CE6B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95300" y="3629025"/>
            <a:ext cx="7848600" cy="4603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  <a:buFontTx/>
              <a:buNone/>
            </a:pPr>
            <a:r>
              <a:rPr lang="en-US" altLang="en-US" sz="2400">
                <a:latin typeface="Tahoma" panose="020B0604030504040204" pitchFamily="34" charset="0"/>
              </a:rPr>
              <a:t>When you get to the ] and the stack is empty.</a:t>
            </a:r>
          </a:p>
        </p:txBody>
      </p:sp>
      <p:sp>
        <p:nvSpPr>
          <p:cNvPr id="11" name="Text Box 2">
            <a:extLst>
              <a:ext uri="{FF2B5EF4-FFF2-40B4-BE49-F238E27FC236}">
                <a16:creationId xmlns:a16="http://schemas.microsoft.com/office/drawing/2014/main" id="{72CE949C-1CEA-43BB-AE18-074B3F5B821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3400" y="4429125"/>
            <a:ext cx="1111250" cy="52228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  <a:defRPr/>
            </a:pPr>
            <a:r>
              <a:rPr lang="en-US" altLang="en-US" sz="2800" dirty="0">
                <a:latin typeface="Tahoma" panose="020B0604030504040204" pitchFamily="34" charset="0"/>
              </a:rPr>
              <a:t>{ ( )[</a:t>
            </a:r>
          </a:p>
        </p:txBody>
      </p:sp>
      <p:sp>
        <p:nvSpPr>
          <p:cNvPr id="12" name="Text Box 5">
            <a:extLst>
              <a:ext uri="{FF2B5EF4-FFF2-40B4-BE49-F238E27FC236}">
                <a16:creationId xmlns:a16="http://schemas.microsoft.com/office/drawing/2014/main" id="{93E13AA3-ED4B-43D4-B4A8-CDBF4AB6A4F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95300" y="5138738"/>
            <a:ext cx="7848600" cy="8302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  <a:buFontTx/>
              <a:buNone/>
            </a:pPr>
            <a:r>
              <a:rPr lang="en-US" altLang="en-US" sz="2400">
                <a:latin typeface="Tahoma" panose="020B0604030504040204" pitchFamily="34" charset="0"/>
              </a:rPr>
              <a:t>When you’ve gone through the whole expression and the stack is NOT empty.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 nodeType="clickPar">
                      <p:stCondLst>
                        <p:cond delay="indefinite"/>
                      </p:stCondLst>
                      <p:childTnLst>
                        <p:par>
                          <p:cTn id="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2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51CE6D-D06C-A957-1305-FF216CDEE92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7200" y="152401"/>
            <a:ext cx="8077200" cy="685800"/>
          </a:xfrm>
        </p:spPr>
        <p:txBody>
          <a:bodyPr/>
          <a:lstStyle/>
          <a:p>
            <a:r>
              <a:rPr lang="en-US" dirty="0">
                <a:solidFill>
                  <a:srgbClr val="7030A0"/>
                </a:solidFill>
                <a:latin typeface="Abadi" panose="020B0604020104020204" pitchFamily="34" charset="0"/>
              </a:rPr>
              <a:t>Matching Symbols using </a:t>
            </a:r>
            <a:r>
              <a:rPr lang="en-US" dirty="0">
                <a:solidFill>
                  <a:srgbClr val="00B050"/>
                </a:solidFill>
                <a:latin typeface="Abadi" panose="020B0604020104020204" pitchFamily="34" charset="0"/>
              </a:rPr>
              <a:t>Strings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B1E40F0-3C9D-A940-543D-BFD9510EAF93}"/>
              </a:ext>
            </a:extLst>
          </p:cNvPr>
          <p:cNvSpPr txBox="1"/>
          <p:nvPr/>
        </p:nvSpPr>
        <p:spPr>
          <a:xfrm>
            <a:off x="266700" y="1828800"/>
            <a:ext cx="8610600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00" dirty="0">
                <a:solidFill>
                  <a:srgbClr val="941EDF"/>
                </a:solidFill>
                <a:latin typeface="Courier New" panose="02070309020205020404" pitchFamily="49" charset="0"/>
              </a:rPr>
              <a:t>public</a:t>
            </a:r>
            <a: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2200" dirty="0" err="1">
                <a:solidFill>
                  <a:srgbClr val="941EDF"/>
                </a:solidFill>
                <a:latin typeface="Courier New" panose="02070309020205020404" pitchFamily="49" charset="0"/>
              </a:rPr>
              <a:t>boolean</a:t>
            </a:r>
            <a: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2200" dirty="0" err="1">
                <a:solidFill>
                  <a:srgbClr val="000000"/>
                </a:solidFill>
                <a:latin typeface="Courier New" panose="02070309020205020404" pitchFamily="49" charset="0"/>
              </a:rPr>
              <a:t>checkExpression</a:t>
            </a:r>
            <a: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  <a:t>() {</a:t>
            </a:r>
            <a:b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</a:br>
            <a: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  <a:t>   Stack&lt;String&gt; symbols;</a:t>
            </a:r>
          </a:p>
          <a:p>
            <a: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  <a:t>   symbols = </a:t>
            </a:r>
            <a:r>
              <a:rPr lang="en-US" sz="2200" dirty="0">
                <a:solidFill>
                  <a:srgbClr val="941EDF"/>
                </a:solidFill>
                <a:latin typeface="Courier New" panose="02070309020205020404" pitchFamily="49" charset="0"/>
              </a:rPr>
              <a:t>new</a:t>
            </a:r>
            <a: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  <a:t> Stack&lt;String&gt;();</a:t>
            </a:r>
            <a:b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</a:br>
            <a: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  <a:t>   String  open = </a:t>
            </a:r>
            <a:r>
              <a:rPr lang="en-US" sz="2200" dirty="0">
                <a:solidFill>
                  <a:srgbClr val="00A000"/>
                </a:solidFill>
                <a:latin typeface="Courier New" panose="02070309020205020404" pitchFamily="49" charset="0"/>
              </a:rPr>
              <a:t>"{(&lt;["</a:t>
            </a:r>
            <a: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  <a:t>;</a:t>
            </a:r>
            <a:b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</a:br>
            <a: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  <a:t>   String close = </a:t>
            </a:r>
            <a:r>
              <a:rPr lang="en-US" sz="2200" dirty="0">
                <a:solidFill>
                  <a:srgbClr val="00A000"/>
                </a:solidFill>
                <a:latin typeface="Courier New" panose="02070309020205020404" pitchFamily="49" charset="0"/>
              </a:rPr>
              <a:t>"})&gt;]"</a:t>
            </a:r>
            <a: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  <a:t>;</a:t>
            </a:r>
            <a:b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</a:br>
            <a:b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</a:br>
            <a: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  <a:t>   </a:t>
            </a:r>
            <a:r>
              <a:rPr lang="en-US" sz="2200" dirty="0">
                <a:solidFill>
                  <a:srgbClr val="941EDF"/>
                </a:solidFill>
                <a:latin typeface="Courier New" panose="02070309020205020404" pitchFamily="49" charset="0"/>
              </a:rPr>
              <a:t>for</a:t>
            </a:r>
            <a: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  <a:t>(</a:t>
            </a:r>
            <a:r>
              <a:rPr lang="en-US" sz="2200" dirty="0">
                <a:solidFill>
                  <a:srgbClr val="941EDF"/>
                </a:solidFill>
                <a:latin typeface="Courier New" panose="02070309020205020404" pitchFamily="49" charset="0"/>
              </a:rPr>
              <a:t>int</a:t>
            </a:r>
            <a: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  <a:t> i=0; i &lt; </a:t>
            </a:r>
            <a:r>
              <a:rPr lang="en-US" sz="2200" dirty="0" err="1">
                <a:solidFill>
                  <a:srgbClr val="000000"/>
                </a:solidFill>
                <a:latin typeface="Courier New" panose="02070309020205020404" pitchFamily="49" charset="0"/>
              </a:rPr>
              <a:t>expression.length</a:t>
            </a:r>
            <a: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  <a:t>();  i++) </a:t>
            </a:r>
          </a:p>
          <a:p>
            <a: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  <a:t>   {</a:t>
            </a:r>
            <a:b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</a:br>
            <a: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  <a:t>      String </a:t>
            </a:r>
            <a:r>
              <a:rPr lang="en-US" sz="2200" dirty="0" err="1">
                <a:solidFill>
                  <a:srgbClr val="000000"/>
                </a:solidFill>
                <a:latin typeface="Courier New" panose="02070309020205020404" pitchFamily="49" charset="0"/>
              </a:rPr>
              <a:t>curr</a:t>
            </a:r>
            <a: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  <a:t> = </a:t>
            </a:r>
            <a:r>
              <a:rPr lang="en-US" sz="2200" dirty="0" err="1">
                <a:solidFill>
                  <a:srgbClr val="000000"/>
                </a:solidFill>
                <a:latin typeface="Courier New" panose="02070309020205020404" pitchFamily="49" charset="0"/>
              </a:rPr>
              <a:t>expression.substring</a:t>
            </a:r>
            <a: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  <a:t>(i,i+1);</a:t>
            </a:r>
          </a:p>
          <a:p>
            <a: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  <a:t>      </a:t>
            </a: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116156448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8B1E40F0-3C9D-A940-543D-BFD9510EAF93}"/>
              </a:ext>
            </a:extLst>
          </p:cNvPr>
          <p:cNvSpPr txBox="1"/>
          <p:nvPr/>
        </p:nvSpPr>
        <p:spPr>
          <a:xfrm>
            <a:off x="266700" y="1398925"/>
            <a:ext cx="8610600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00" dirty="0">
                <a:solidFill>
                  <a:srgbClr val="941EDF"/>
                </a:solidFill>
                <a:latin typeface="Courier New" panose="02070309020205020404" pitchFamily="49" charset="0"/>
              </a:rPr>
              <a:t>public</a:t>
            </a:r>
            <a: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2200" dirty="0" err="1">
                <a:solidFill>
                  <a:srgbClr val="941EDF"/>
                </a:solidFill>
                <a:latin typeface="Courier New" panose="02070309020205020404" pitchFamily="49" charset="0"/>
              </a:rPr>
              <a:t>boolean</a:t>
            </a:r>
            <a: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2200" dirty="0" err="1">
                <a:solidFill>
                  <a:srgbClr val="000000"/>
                </a:solidFill>
                <a:latin typeface="Courier New" panose="02070309020205020404" pitchFamily="49" charset="0"/>
              </a:rPr>
              <a:t>checkExpression</a:t>
            </a:r>
            <a: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  <a:t>() {</a:t>
            </a:r>
            <a:b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</a:br>
            <a: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  <a:t>   Stack&lt;String&gt; symbols;</a:t>
            </a:r>
          </a:p>
          <a:p>
            <a: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  <a:t>   symbols = </a:t>
            </a:r>
            <a:r>
              <a:rPr lang="en-US" sz="2200" dirty="0">
                <a:solidFill>
                  <a:srgbClr val="941EDF"/>
                </a:solidFill>
                <a:latin typeface="Courier New" panose="02070309020205020404" pitchFamily="49" charset="0"/>
              </a:rPr>
              <a:t>new</a:t>
            </a:r>
            <a: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  <a:t> Stack&lt;String&gt;();</a:t>
            </a:r>
            <a:b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</a:br>
            <a: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  <a:t>   String[]  open = {</a:t>
            </a:r>
            <a:r>
              <a:rPr lang="en-US" sz="2200" dirty="0">
                <a:solidFill>
                  <a:srgbClr val="00A000"/>
                </a:solidFill>
                <a:latin typeface="Courier New" panose="02070309020205020404" pitchFamily="49" charset="0"/>
              </a:rPr>
              <a:t>"{"</a:t>
            </a:r>
            <a: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  <a:t>, </a:t>
            </a:r>
            <a:r>
              <a:rPr lang="en-US" sz="2200" dirty="0">
                <a:solidFill>
                  <a:srgbClr val="00A000"/>
                </a:solidFill>
                <a:latin typeface="Courier New" panose="02070309020205020404" pitchFamily="49" charset="0"/>
              </a:rPr>
              <a:t>"("</a:t>
            </a:r>
            <a: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  <a:t>, </a:t>
            </a:r>
            <a:r>
              <a:rPr lang="en-US" sz="2200" dirty="0">
                <a:solidFill>
                  <a:srgbClr val="00A000"/>
                </a:solidFill>
                <a:latin typeface="Courier New" panose="02070309020205020404" pitchFamily="49" charset="0"/>
              </a:rPr>
              <a:t>"&lt;"</a:t>
            </a:r>
            <a: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  <a:t>, </a:t>
            </a:r>
            <a:r>
              <a:rPr lang="en-US" sz="2200" dirty="0">
                <a:solidFill>
                  <a:srgbClr val="00A000"/>
                </a:solidFill>
                <a:latin typeface="Courier New" panose="02070309020205020404" pitchFamily="49" charset="0"/>
              </a:rPr>
              <a:t>"["</a:t>
            </a:r>
            <a: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  <a:t>};</a:t>
            </a:r>
            <a:b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</a:br>
            <a: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  <a:t>   String[] close = {</a:t>
            </a:r>
            <a:r>
              <a:rPr lang="en-US" sz="2200" dirty="0">
                <a:solidFill>
                  <a:srgbClr val="00A000"/>
                </a:solidFill>
                <a:latin typeface="Courier New" panose="02070309020205020404" pitchFamily="49" charset="0"/>
              </a:rPr>
              <a:t>"}"</a:t>
            </a:r>
            <a: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  <a:t>, </a:t>
            </a:r>
            <a:r>
              <a:rPr lang="en-US" sz="2200" dirty="0">
                <a:solidFill>
                  <a:srgbClr val="00A000"/>
                </a:solidFill>
                <a:latin typeface="Courier New" panose="02070309020205020404" pitchFamily="49" charset="0"/>
              </a:rPr>
              <a:t>")"</a:t>
            </a:r>
            <a: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  <a:t>, </a:t>
            </a:r>
            <a:r>
              <a:rPr lang="en-US" sz="2200" dirty="0">
                <a:solidFill>
                  <a:srgbClr val="00A000"/>
                </a:solidFill>
                <a:latin typeface="Courier New" panose="02070309020205020404" pitchFamily="49" charset="0"/>
              </a:rPr>
              <a:t>"&gt;"</a:t>
            </a:r>
            <a: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  <a:t>, </a:t>
            </a:r>
            <a:r>
              <a:rPr lang="en-US" sz="2200" dirty="0">
                <a:solidFill>
                  <a:srgbClr val="00A000"/>
                </a:solidFill>
                <a:latin typeface="Courier New" panose="02070309020205020404" pitchFamily="49" charset="0"/>
              </a:rPr>
              <a:t>"]"</a:t>
            </a:r>
            <a: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  <a:t>};</a:t>
            </a:r>
            <a:b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</a:br>
            <a:b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</a:br>
            <a: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  <a:t>   </a:t>
            </a:r>
            <a:r>
              <a:rPr lang="en-US" sz="2200" dirty="0">
                <a:solidFill>
                  <a:srgbClr val="941EDF"/>
                </a:solidFill>
                <a:latin typeface="Courier New" panose="02070309020205020404" pitchFamily="49" charset="0"/>
              </a:rPr>
              <a:t>for</a:t>
            </a:r>
            <a: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  <a:t>(</a:t>
            </a:r>
            <a:r>
              <a:rPr lang="en-US" sz="2200" dirty="0">
                <a:solidFill>
                  <a:srgbClr val="941EDF"/>
                </a:solidFill>
                <a:latin typeface="Courier New" panose="02070309020205020404" pitchFamily="49" charset="0"/>
              </a:rPr>
              <a:t>int</a:t>
            </a:r>
            <a: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  <a:t> i=0; i &lt; </a:t>
            </a:r>
            <a:r>
              <a:rPr lang="en-US" sz="2200" dirty="0" err="1">
                <a:solidFill>
                  <a:srgbClr val="000000"/>
                </a:solidFill>
                <a:latin typeface="Courier New" panose="02070309020205020404" pitchFamily="49" charset="0"/>
              </a:rPr>
              <a:t>expression.length</a:t>
            </a:r>
            <a: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  <a:t>();  i++) </a:t>
            </a:r>
          </a:p>
          <a:p>
            <a: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  <a:t>   {</a:t>
            </a:r>
            <a:b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</a:br>
            <a: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  <a:t>      String </a:t>
            </a:r>
            <a:r>
              <a:rPr lang="en-US" sz="2200" dirty="0" err="1">
                <a:solidFill>
                  <a:srgbClr val="000000"/>
                </a:solidFill>
                <a:latin typeface="Courier New" panose="02070309020205020404" pitchFamily="49" charset="0"/>
              </a:rPr>
              <a:t>curr</a:t>
            </a:r>
            <a: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  <a:t> = </a:t>
            </a:r>
            <a:r>
              <a:rPr lang="en-US" sz="2200" dirty="0" err="1">
                <a:solidFill>
                  <a:srgbClr val="000000"/>
                </a:solidFill>
                <a:latin typeface="Courier New" panose="02070309020205020404" pitchFamily="49" charset="0"/>
              </a:rPr>
              <a:t>expression.substring</a:t>
            </a:r>
            <a: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  <a:t>(i,i+1);</a:t>
            </a:r>
          </a:p>
          <a:p>
            <a: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  <a:t>      </a:t>
            </a:r>
            <a:endParaRPr lang="en-US" sz="2200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04D2BB99-46C3-E2E0-94F2-33D0334E8407}"/>
              </a:ext>
            </a:extLst>
          </p:cNvPr>
          <p:cNvSpPr txBox="1">
            <a:spLocks/>
          </p:cNvSpPr>
          <p:nvPr/>
        </p:nvSpPr>
        <p:spPr bwMode="auto">
          <a:xfrm>
            <a:off x="457200" y="152401"/>
            <a:ext cx="8077200" cy="685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075" tIns="46038" rIns="92075" bIns="46038" numCol="1" anchor="ctr" anchorCtr="0" compatLnSpc="1">
            <a:prstTxWarp prst="textNoShape">
              <a:avLst/>
            </a:prstTxWarp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itchFamily="18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itchFamily="18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itchFamily="18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itchFamily="18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itchFamily="18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itchFamily="18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itchFamily="18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itchFamily="18" charset="0"/>
              </a:defRPr>
            </a:lvl9pPr>
          </a:lstStyle>
          <a:p>
            <a:r>
              <a:rPr lang="en-US" b="0" kern="0" dirty="0">
                <a:solidFill>
                  <a:srgbClr val="7030A0"/>
                </a:solidFill>
                <a:latin typeface="Abadi" panose="020B0604020104020204" pitchFamily="34" charset="0"/>
              </a:rPr>
              <a:t>Matching Symbols using </a:t>
            </a:r>
            <a:r>
              <a:rPr lang="en-US" b="0" kern="0" dirty="0">
                <a:solidFill>
                  <a:srgbClr val="00B050"/>
                </a:solidFill>
                <a:latin typeface="Abadi" panose="020B0604020104020204" pitchFamily="34" charset="0"/>
              </a:rPr>
              <a:t>Arrays</a:t>
            </a:r>
          </a:p>
        </p:txBody>
      </p:sp>
    </p:spTree>
    <p:extLst>
      <p:ext uri="{BB962C8B-B14F-4D97-AF65-F5344CB8AC3E}">
        <p14:creationId xmlns:p14="http://schemas.microsoft.com/office/powerpoint/2010/main" val="416579159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8B1E40F0-3C9D-A940-543D-BFD9510EAF93}"/>
              </a:ext>
            </a:extLst>
          </p:cNvPr>
          <p:cNvSpPr txBox="1"/>
          <p:nvPr/>
        </p:nvSpPr>
        <p:spPr>
          <a:xfrm>
            <a:off x="266700" y="1373862"/>
            <a:ext cx="8610600" cy="44935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00" dirty="0">
                <a:solidFill>
                  <a:srgbClr val="941EDF"/>
                </a:solidFill>
                <a:latin typeface="Courier New" panose="02070309020205020404" pitchFamily="49" charset="0"/>
              </a:rPr>
              <a:t>public</a:t>
            </a:r>
            <a: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2200" dirty="0" err="1">
                <a:solidFill>
                  <a:srgbClr val="941EDF"/>
                </a:solidFill>
                <a:latin typeface="Courier New" panose="02070309020205020404" pitchFamily="49" charset="0"/>
              </a:rPr>
              <a:t>boolean</a:t>
            </a:r>
            <a: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2200" dirty="0" err="1">
                <a:solidFill>
                  <a:srgbClr val="000000"/>
                </a:solidFill>
                <a:latin typeface="Courier New" panose="02070309020205020404" pitchFamily="49" charset="0"/>
              </a:rPr>
              <a:t>checkExpression</a:t>
            </a:r>
            <a: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  <a:t>() {</a:t>
            </a:r>
            <a:b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</a:br>
            <a: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  <a:t>   Stack&lt;String&gt; symbols;</a:t>
            </a:r>
          </a:p>
          <a:p>
            <a: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  <a:t>   symbols = </a:t>
            </a:r>
            <a:r>
              <a:rPr lang="en-US" sz="2200" dirty="0">
                <a:solidFill>
                  <a:srgbClr val="941EDF"/>
                </a:solidFill>
                <a:latin typeface="Courier New" panose="02070309020205020404" pitchFamily="49" charset="0"/>
              </a:rPr>
              <a:t>new</a:t>
            </a:r>
            <a: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  <a:t> Stack&lt;String&gt;();</a:t>
            </a:r>
            <a:b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</a:br>
            <a: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  <a:t>   </a:t>
            </a:r>
            <a:r>
              <a:rPr lang="en-US" sz="2200" dirty="0" err="1">
                <a:solidFill>
                  <a:srgbClr val="000000"/>
                </a:solidFill>
                <a:latin typeface="Courier New" panose="02070309020205020404" pitchFamily="49" charset="0"/>
              </a:rPr>
              <a:t>ArrayList</a:t>
            </a:r>
            <a: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  <a:t>&lt;String&gt; open = </a:t>
            </a:r>
            <a:r>
              <a:rPr lang="en-US" sz="2200" dirty="0">
                <a:solidFill>
                  <a:srgbClr val="941EDF"/>
                </a:solidFill>
                <a:latin typeface="Courier New" panose="02070309020205020404" pitchFamily="49" charset="0"/>
              </a:rPr>
              <a:t>new</a:t>
            </a:r>
            <a: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2200" dirty="0" err="1">
                <a:solidFill>
                  <a:srgbClr val="000000"/>
                </a:solidFill>
                <a:latin typeface="Courier New" panose="02070309020205020404" pitchFamily="49" charset="0"/>
              </a:rPr>
              <a:t>ArrayList</a:t>
            </a:r>
            <a: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  <a:t>&lt;&gt;();</a:t>
            </a:r>
            <a:b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</a:br>
            <a: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  <a:t>   </a:t>
            </a:r>
            <a:r>
              <a:rPr lang="en-US" sz="2200" dirty="0" err="1">
                <a:solidFill>
                  <a:srgbClr val="000000"/>
                </a:solidFill>
                <a:latin typeface="Courier New" panose="02070309020205020404" pitchFamily="49" charset="0"/>
              </a:rPr>
              <a:t>Collections.addAll</a:t>
            </a:r>
            <a: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  <a:t>(open, </a:t>
            </a:r>
            <a:r>
              <a:rPr lang="en-US" sz="2200" dirty="0">
                <a:solidFill>
                  <a:srgbClr val="00A000"/>
                </a:solidFill>
                <a:latin typeface="Courier New" panose="02070309020205020404" pitchFamily="49" charset="0"/>
              </a:rPr>
              <a:t>"{"</a:t>
            </a:r>
            <a: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  <a:t>, </a:t>
            </a:r>
            <a:r>
              <a:rPr lang="en-US" sz="2200" dirty="0">
                <a:solidFill>
                  <a:srgbClr val="00A000"/>
                </a:solidFill>
                <a:latin typeface="Courier New" panose="02070309020205020404" pitchFamily="49" charset="0"/>
              </a:rPr>
              <a:t>"("</a:t>
            </a:r>
            <a: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  <a:t>, </a:t>
            </a:r>
            <a:r>
              <a:rPr lang="en-US" sz="2200" dirty="0">
                <a:solidFill>
                  <a:srgbClr val="00A000"/>
                </a:solidFill>
                <a:latin typeface="Courier New" panose="02070309020205020404" pitchFamily="49" charset="0"/>
              </a:rPr>
              <a:t>"&lt;"</a:t>
            </a:r>
            <a: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  <a:t>, </a:t>
            </a:r>
            <a:r>
              <a:rPr lang="en-US" sz="2200" dirty="0">
                <a:solidFill>
                  <a:srgbClr val="00A000"/>
                </a:solidFill>
                <a:latin typeface="Courier New" panose="02070309020205020404" pitchFamily="49" charset="0"/>
              </a:rPr>
              <a:t>"["</a:t>
            </a:r>
            <a: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  <a:t>);</a:t>
            </a:r>
            <a:b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</a:br>
            <a: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  <a:t>      </a:t>
            </a:r>
            <a:b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</a:br>
            <a: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  <a:t>   </a:t>
            </a:r>
            <a:r>
              <a:rPr lang="en-US" sz="2200" dirty="0" err="1">
                <a:solidFill>
                  <a:srgbClr val="000000"/>
                </a:solidFill>
                <a:latin typeface="Courier New" panose="02070309020205020404" pitchFamily="49" charset="0"/>
              </a:rPr>
              <a:t>ArrayList</a:t>
            </a:r>
            <a: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  <a:t>&lt;String&gt; close = </a:t>
            </a:r>
            <a:r>
              <a:rPr lang="en-US" sz="2200" dirty="0">
                <a:solidFill>
                  <a:srgbClr val="941EDF"/>
                </a:solidFill>
                <a:latin typeface="Courier New" panose="02070309020205020404" pitchFamily="49" charset="0"/>
              </a:rPr>
              <a:t>new</a:t>
            </a:r>
            <a: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2200" dirty="0" err="1">
                <a:solidFill>
                  <a:srgbClr val="000000"/>
                </a:solidFill>
                <a:latin typeface="Courier New" panose="02070309020205020404" pitchFamily="49" charset="0"/>
              </a:rPr>
              <a:t>ArrayList</a:t>
            </a:r>
            <a: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  <a:t>&lt;&gt;();</a:t>
            </a:r>
            <a:b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</a:br>
            <a: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  <a:t>   </a:t>
            </a:r>
            <a:r>
              <a:rPr lang="en-US" sz="2200" dirty="0" err="1">
                <a:solidFill>
                  <a:srgbClr val="000000"/>
                </a:solidFill>
                <a:latin typeface="Courier New" panose="02070309020205020404" pitchFamily="49" charset="0"/>
              </a:rPr>
              <a:t>Collections.addAll</a:t>
            </a:r>
            <a: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  <a:t>(close, </a:t>
            </a:r>
            <a:r>
              <a:rPr lang="en-US" sz="2200" dirty="0">
                <a:solidFill>
                  <a:srgbClr val="00A000"/>
                </a:solidFill>
                <a:latin typeface="Courier New" panose="02070309020205020404" pitchFamily="49" charset="0"/>
              </a:rPr>
              <a:t>"}"</a:t>
            </a:r>
            <a: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  <a:t>, </a:t>
            </a:r>
            <a:r>
              <a:rPr lang="en-US" sz="2200" dirty="0">
                <a:solidFill>
                  <a:srgbClr val="00A000"/>
                </a:solidFill>
                <a:latin typeface="Courier New" panose="02070309020205020404" pitchFamily="49" charset="0"/>
              </a:rPr>
              <a:t>")"</a:t>
            </a:r>
            <a: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  <a:t>, </a:t>
            </a:r>
            <a:r>
              <a:rPr lang="en-US" sz="2200" dirty="0">
                <a:solidFill>
                  <a:srgbClr val="00A000"/>
                </a:solidFill>
                <a:latin typeface="Courier New" panose="02070309020205020404" pitchFamily="49" charset="0"/>
              </a:rPr>
              <a:t>"&gt;"</a:t>
            </a:r>
            <a: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  <a:t>, </a:t>
            </a:r>
            <a:r>
              <a:rPr lang="en-US" sz="2200" dirty="0">
                <a:solidFill>
                  <a:srgbClr val="00A000"/>
                </a:solidFill>
                <a:latin typeface="Courier New" panose="02070309020205020404" pitchFamily="49" charset="0"/>
              </a:rPr>
              <a:t>"]"</a:t>
            </a:r>
            <a: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  <a:t>);</a:t>
            </a:r>
            <a:b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</a:br>
            <a:b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</a:br>
            <a: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  <a:t>   </a:t>
            </a:r>
            <a:r>
              <a:rPr lang="en-US" sz="2200" dirty="0">
                <a:solidFill>
                  <a:srgbClr val="941EDF"/>
                </a:solidFill>
                <a:latin typeface="Courier New" panose="02070309020205020404" pitchFamily="49" charset="0"/>
              </a:rPr>
              <a:t>for</a:t>
            </a:r>
            <a: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  <a:t>(</a:t>
            </a:r>
            <a:r>
              <a:rPr lang="en-US" sz="2200" dirty="0">
                <a:solidFill>
                  <a:srgbClr val="941EDF"/>
                </a:solidFill>
                <a:latin typeface="Courier New" panose="02070309020205020404" pitchFamily="49" charset="0"/>
              </a:rPr>
              <a:t>int</a:t>
            </a:r>
            <a: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  <a:t> i=0; i &lt; </a:t>
            </a:r>
            <a:r>
              <a:rPr lang="en-US" sz="2200" dirty="0" err="1">
                <a:solidFill>
                  <a:srgbClr val="000000"/>
                </a:solidFill>
                <a:latin typeface="Courier New" panose="02070309020205020404" pitchFamily="49" charset="0"/>
              </a:rPr>
              <a:t>expression.length</a:t>
            </a:r>
            <a: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  <a:t>();  i++) </a:t>
            </a:r>
            <a:b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</a:br>
            <a: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  <a:t>   {</a:t>
            </a:r>
            <a:b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</a:br>
            <a: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  <a:t>      String </a:t>
            </a:r>
            <a:r>
              <a:rPr lang="en-US" sz="2200" dirty="0" err="1">
                <a:solidFill>
                  <a:srgbClr val="000000"/>
                </a:solidFill>
                <a:latin typeface="Courier New" panose="02070309020205020404" pitchFamily="49" charset="0"/>
              </a:rPr>
              <a:t>curr</a:t>
            </a:r>
            <a: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  <a:t> = </a:t>
            </a:r>
            <a:r>
              <a:rPr lang="en-US" sz="2200" dirty="0" err="1">
                <a:solidFill>
                  <a:srgbClr val="000000"/>
                </a:solidFill>
                <a:latin typeface="Courier New" panose="02070309020205020404" pitchFamily="49" charset="0"/>
              </a:rPr>
              <a:t>expression.substring</a:t>
            </a:r>
            <a: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  <a:t>(i,i+1);</a:t>
            </a:r>
          </a:p>
          <a:p>
            <a: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  <a:t>      </a:t>
            </a:r>
            <a:endParaRPr lang="en-US" sz="2200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04D2BB99-46C3-E2E0-94F2-33D0334E8407}"/>
              </a:ext>
            </a:extLst>
          </p:cNvPr>
          <p:cNvSpPr txBox="1">
            <a:spLocks/>
          </p:cNvSpPr>
          <p:nvPr/>
        </p:nvSpPr>
        <p:spPr bwMode="auto">
          <a:xfrm>
            <a:off x="76200" y="152401"/>
            <a:ext cx="8915400" cy="685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075" tIns="46038" rIns="92075" bIns="46038" numCol="1" anchor="ctr" anchorCtr="0" compatLnSpc="1">
            <a:prstTxWarp prst="textNoShape">
              <a:avLst/>
            </a:prstTxWarp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itchFamily="18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itchFamily="18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itchFamily="18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itchFamily="18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itchFamily="18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itchFamily="18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itchFamily="18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itchFamily="18" charset="0"/>
              </a:defRPr>
            </a:lvl9pPr>
          </a:lstStyle>
          <a:p>
            <a:r>
              <a:rPr lang="en-US" b="0" kern="0" dirty="0">
                <a:solidFill>
                  <a:srgbClr val="7030A0"/>
                </a:solidFill>
                <a:latin typeface="Abadi" panose="020B0604020104020204" pitchFamily="34" charset="0"/>
              </a:rPr>
              <a:t>Matching Symbols using </a:t>
            </a:r>
            <a:r>
              <a:rPr lang="en-US" b="0" kern="0" dirty="0" err="1">
                <a:solidFill>
                  <a:srgbClr val="00B050"/>
                </a:solidFill>
                <a:latin typeface="Abadi" panose="020B0604020104020204" pitchFamily="34" charset="0"/>
              </a:rPr>
              <a:t>ArrayLists</a:t>
            </a:r>
            <a:endParaRPr lang="en-US" b="0" kern="0" dirty="0">
              <a:solidFill>
                <a:srgbClr val="00B050"/>
              </a:solidFill>
              <a:latin typeface="Abadi" panose="020B06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0742756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8B1E40F0-3C9D-A940-543D-BFD9510EAF93}"/>
              </a:ext>
            </a:extLst>
          </p:cNvPr>
          <p:cNvSpPr txBox="1"/>
          <p:nvPr/>
        </p:nvSpPr>
        <p:spPr>
          <a:xfrm>
            <a:off x="266700" y="1373862"/>
            <a:ext cx="8610600" cy="48320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00" dirty="0">
                <a:solidFill>
                  <a:srgbClr val="941EDF"/>
                </a:solidFill>
                <a:latin typeface="Courier New" panose="02070309020205020404" pitchFamily="49" charset="0"/>
              </a:rPr>
              <a:t>public</a:t>
            </a:r>
            <a: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2200" dirty="0" err="1">
                <a:solidFill>
                  <a:srgbClr val="941EDF"/>
                </a:solidFill>
                <a:latin typeface="Courier New" panose="02070309020205020404" pitchFamily="49" charset="0"/>
              </a:rPr>
              <a:t>boolean</a:t>
            </a:r>
            <a: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2200" dirty="0" err="1">
                <a:solidFill>
                  <a:srgbClr val="000000"/>
                </a:solidFill>
                <a:latin typeface="Courier New" panose="02070309020205020404" pitchFamily="49" charset="0"/>
              </a:rPr>
              <a:t>checkExpression</a:t>
            </a:r>
            <a: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  <a:t>() {</a:t>
            </a:r>
            <a:b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</a:br>
            <a: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  <a:t>   Stack&lt;String&gt; symbols;</a:t>
            </a:r>
          </a:p>
          <a:p>
            <a: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  <a:t>   symbols = </a:t>
            </a:r>
            <a:r>
              <a:rPr lang="en-US" sz="2200" dirty="0">
                <a:solidFill>
                  <a:srgbClr val="941EDF"/>
                </a:solidFill>
                <a:latin typeface="Courier New" panose="02070309020205020404" pitchFamily="49" charset="0"/>
              </a:rPr>
              <a:t>new</a:t>
            </a:r>
            <a: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  <a:t> Stack&lt;String&gt;();</a:t>
            </a:r>
            <a:b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</a:br>
            <a: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  <a:t>   Map&lt;</a:t>
            </a:r>
            <a:r>
              <a:rPr lang="en-US" sz="2200" dirty="0" err="1">
                <a:solidFill>
                  <a:srgbClr val="000000"/>
                </a:solidFill>
                <a:latin typeface="Courier New" panose="02070309020205020404" pitchFamily="49" charset="0"/>
              </a:rPr>
              <a:t>String,String</a:t>
            </a:r>
            <a: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  <a:t>&gt; pairs;</a:t>
            </a:r>
            <a:b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</a:br>
            <a: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  <a:t>   pairs = </a:t>
            </a:r>
            <a:r>
              <a:rPr lang="en-US" sz="2200" dirty="0">
                <a:solidFill>
                  <a:srgbClr val="941EDF"/>
                </a:solidFill>
                <a:latin typeface="Courier New" panose="02070309020205020404" pitchFamily="49" charset="0"/>
              </a:rPr>
              <a:t>new</a:t>
            </a:r>
            <a: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  <a:t> HashMap&lt;</a:t>
            </a:r>
            <a:r>
              <a:rPr lang="en-US" sz="2200" dirty="0" err="1">
                <a:solidFill>
                  <a:srgbClr val="000000"/>
                </a:solidFill>
                <a:latin typeface="Courier New" panose="02070309020205020404" pitchFamily="49" charset="0"/>
              </a:rPr>
              <a:t>String,String</a:t>
            </a:r>
            <a: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  <a:t>&gt;();</a:t>
            </a:r>
            <a:b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</a:br>
            <a: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  <a:t>   </a:t>
            </a:r>
            <a:r>
              <a:rPr lang="en-US" sz="2200" dirty="0" err="1">
                <a:solidFill>
                  <a:srgbClr val="000000"/>
                </a:solidFill>
                <a:latin typeface="Courier New" panose="02070309020205020404" pitchFamily="49" charset="0"/>
              </a:rPr>
              <a:t>pairs.put</a:t>
            </a:r>
            <a: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  <a:t>(</a:t>
            </a:r>
            <a:r>
              <a:rPr lang="en-US" sz="2200" dirty="0">
                <a:solidFill>
                  <a:srgbClr val="00A000"/>
                </a:solidFill>
                <a:latin typeface="Courier New" panose="02070309020205020404" pitchFamily="49" charset="0"/>
              </a:rPr>
              <a:t>"{"</a:t>
            </a:r>
            <a: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  <a:t>,</a:t>
            </a:r>
            <a:r>
              <a:rPr lang="en-US" sz="2200" dirty="0">
                <a:solidFill>
                  <a:srgbClr val="00A000"/>
                </a:solidFill>
                <a:latin typeface="Courier New" panose="02070309020205020404" pitchFamily="49" charset="0"/>
              </a:rPr>
              <a:t>"}"</a:t>
            </a:r>
            <a: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  <a:t>);</a:t>
            </a:r>
            <a:b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</a:br>
            <a: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  <a:t>   </a:t>
            </a:r>
            <a:r>
              <a:rPr lang="en-US" sz="2200" dirty="0" err="1">
                <a:solidFill>
                  <a:srgbClr val="000000"/>
                </a:solidFill>
                <a:latin typeface="Courier New" panose="02070309020205020404" pitchFamily="49" charset="0"/>
              </a:rPr>
              <a:t>pairs.put</a:t>
            </a:r>
            <a: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  <a:t>(</a:t>
            </a:r>
            <a:r>
              <a:rPr lang="en-US" sz="2200" dirty="0">
                <a:solidFill>
                  <a:srgbClr val="00A000"/>
                </a:solidFill>
                <a:latin typeface="Courier New" panose="02070309020205020404" pitchFamily="49" charset="0"/>
              </a:rPr>
              <a:t>"("</a:t>
            </a:r>
            <a: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  <a:t>,</a:t>
            </a:r>
            <a:r>
              <a:rPr lang="en-US" sz="2200" dirty="0">
                <a:solidFill>
                  <a:srgbClr val="00A000"/>
                </a:solidFill>
                <a:latin typeface="Courier New" panose="02070309020205020404" pitchFamily="49" charset="0"/>
              </a:rPr>
              <a:t>")"</a:t>
            </a:r>
            <a: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  <a:t>);</a:t>
            </a:r>
            <a:b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</a:br>
            <a: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  <a:t>   </a:t>
            </a:r>
            <a:r>
              <a:rPr lang="en-US" sz="2200" dirty="0" err="1">
                <a:solidFill>
                  <a:srgbClr val="000000"/>
                </a:solidFill>
                <a:latin typeface="Courier New" panose="02070309020205020404" pitchFamily="49" charset="0"/>
              </a:rPr>
              <a:t>pairs.put</a:t>
            </a:r>
            <a: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  <a:t>(</a:t>
            </a:r>
            <a:r>
              <a:rPr lang="en-US" sz="2200" dirty="0">
                <a:solidFill>
                  <a:srgbClr val="00A000"/>
                </a:solidFill>
                <a:latin typeface="Courier New" panose="02070309020205020404" pitchFamily="49" charset="0"/>
              </a:rPr>
              <a:t>"&lt;"</a:t>
            </a:r>
            <a: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  <a:t>,</a:t>
            </a:r>
            <a:r>
              <a:rPr lang="en-US" sz="2200" dirty="0">
                <a:solidFill>
                  <a:srgbClr val="00A000"/>
                </a:solidFill>
                <a:latin typeface="Courier New" panose="02070309020205020404" pitchFamily="49" charset="0"/>
              </a:rPr>
              <a:t>"&gt;"</a:t>
            </a:r>
            <a: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  <a:t>);</a:t>
            </a:r>
            <a:b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</a:br>
            <a: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  <a:t>   </a:t>
            </a:r>
            <a:r>
              <a:rPr lang="en-US" sz="2200" dirty="0" err="1">
                <a:solidFill>
                  <a:srgbClr val="000000"/>
                </a:solidFill>
                <a:latin typeface="Courier New" panose="02070309020205020404" pitchFamily="49" charset="0"/>
              </a:rPr>
              <a:t>pairs.put</a:t>
            </a:r>
            <a: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  <a:t>(</a:t>
            </a:r>
            <a:r>
              <a:rPr lang="en-US" sz="2200" dirty="0">
                <a:solidFill>
                  <a:srgbClr val="00A000"/>
                </a:solidFill>
                <a:latin typeface="Courier New" panose="02070309020205020404" pitchFamily="49" charset="0"/>
              </a:rPr>
              <a:t>"["</a:t>
            </a:r>
            <a: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  <a:t>,</a:t>
            </a:r>
            <a:r>
              <a:rPr lang="en-US" sz="2200" dirty="0">
                <a:solidFill>
                  <a:srgbClr val="00A000"/>
                </a:solidFill>
                <a:latin typeface="Courier New" panose="02070309020205020404" pitchFamily="49" charset="0"/>
              </a:rPr>
              <a:t>"]"</a:t>
            </a:r>
            <a: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  <a:t>);</a:t>
            </a:r>
            <a:b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</a:br>
            <a:b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</a:br>
            <a: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  <a:t>   </a:t>
            </a:r>
            <a:r>
              <a:rPr lang="en-US" sz="2200" dirty="0">
                <a:solidFill>
                  <a:srgbClr val="941EDF"/>
                </a:solidFill>
                <a:latin typeface="Courier New" panose="02070309020205020404" pitchFamily="49" charset="0"/>
              </a:rPr>
              <a:t>for</a:t>
            </a:r>
            <a: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  <a:t>(</a:t>
            </a:r>
            <a:r>
              <a:rPr lang="en-US" sz="2200" dirty="0">
                <a:solidFill>
                  <a:srgbClr val="941EDF"/>
                </a:solidFill>
                <a:latin typeface="Courier New" panose="02070309020205020404" pitchFamily="49" charset="0"/>
              </a:rPr>
              <a:t>int</a:t>
            </a:r>
            <a: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  <a:t> i=0; i &lt; </a:t>
            </a:r>
            <a:r>
              <a:rPr lang="en-US" sz="2200" dirty="0" err="1">
                <a:solidFill>
                  <a:srgbClr val="000000"/>
                </a:solidFill>
                <a:latin typeface="Courier New" panose="02070309020205020404" pitchFamily="49" charset="0"/>
              </a:rPr>
              <a:t>expression.length</a:t>
            </a:r>
            <a: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  <a:t>();  i++) </a:t>
            </a:r>
            <a:b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</a:br>
            <a: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  <a:t>   {</a:t>
            </a:r>
            <a:b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</a:br>
            <a: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  <a:t>      String </a:t>
            </a:r>
            <a:r>
              <a:rPr lang="en-US" sz="2200" dirty="0" err="1">
                <a:solidFill>
                  <a:srgbClr val="000000"/>
                </a:solidFill>
                <a:latin typeface="Courier New" panose="02070309020205020404" pitchFamily="49" charset="0"/>
              </a:rPr>
              <a:t>curr</a:t>
            </a:r>
            <a: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  <a:t> = </a:t>
            </a:r>
            <a:r>
              <a:rPr lang="en-US" sz="2200" dirty="0" err="1">
                <a:solidFill>
                  <a:srgbClr val="000000"/>
                </a:solidFill>
                <a:latin typeface="Courier New" panose="02070309020205020404" pitchFamily="49" charset="0"/>
              </a:rPr>
              <a:t>expression.substring</a:t>
            </a:r>
            <a: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  <a:t>(i,i+1);</a:t>
            </a:r>
          </a:p>
          <a:p>
            <a:r>
              <a:rPr lang="en-US" sz="2200" dirty="0">
                <a:solidFill>
                  <a:srgbClr val="000000"/>
                </a:solidFill>
                <a:latin typeface="Courier New" panose="02070309020205020404" pitchFamily="49" charset="0"/>
              </a:rPr>
              <a:t>      </a:t>
            </a:r>
            <a:endParaRPr lang="en-US" sz="2200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04D2BB99-46C3-E2E0-94F2-33D0334E8407}"/>
              </a:ext>
            </a:extLst>
          </p:cNvPr>
          <p:cNvSpPr txBox="1">
            <a:spLocks/>
          </p:cNvSpPr>
          <p:nvPr/>
        </p:nvSpPr>
        <p:spPr bwMode="auto">
          <a:xfrm>
            <a:off x="76200" y="152401"/>
            <a:ext cx="8915400" cy="685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075" tIns="46038" rIns="92075" bIns="46038" numCol="1" anchor="ctr" anchorCtr="0" compatLnSpc="1">
            <a:prstTxWarp prst="textNoShape">
              <a:avLst/>
            </a:prstTxWarp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itchFamily="18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itchFamily="18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itchFamily="18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itchFamily="18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itchFamily="18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itchFamily="18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itchFamily="18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imes New Roman" pitchFamily="18" charset="0"/>
              </a:defRPr>
            </a:lvl9pPr>
          </a:lstStyle>
          <a:p>
            <a:r>
              <a:rPr lang="en-US" b="0" kern="0" dirty="0">
                <a:solidFill>
                  <a:srgbClr val="7030A0"/>
                </a:solidFill>
                <a:latin typeface="Abadi" panose="020B0604020104020204" pitchFamily="34" charset="0"/>
              </a:rPr>
              <a:t>Matching Symbols using </a:t>
            </a:r>
            <a:r>
              <a:rPr lang="en-US" b="0" kern="0" dirty="0">
                <a:solidFill>
                  <a:srgbClr val="00B050"/>
                </a:solidFill>
                <a:latin typeface="Abadi" panose="020B0604020104020204" pitchFamily="34" charset="0"/>
              </a:rPr>
              <a:t>a Map</a:t>
            </a:r>
          </a:p>
        </p:txBody>
      </p:sp>
    </p:spTree>
    <p:extLst>
      <p:ext uri="{BB962C8B-B14F-4D97-AF65-F5344CB8AC3E}">
        <p14:creationId xmlns:p14="http://schemas.microsoft.com/office/powerpoint/2010/main" val="1062535857"/>
      </p:ext>
    </p:extLst>
  </p:cSld>
  <p:clrMapOvr>
    <a:masterClrMapping/>
  </p:clrMapOvr>
</p:sld>
</file>

<file path=ppt/theme/theme1.xml><?xml version="1.0" encoding="utf-8"?>
<a:theme xmlns:a="http://schemas.openxmlformats.org/drawingml/2006/main" name="Blank Presentation">
  <a:themeElements>
    <a:clrScheme name="Blank Presentatio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Blank Presentation">
      <a:majorFont>
        <a:latin typeface="Times New Roman"/>
        <a:ea typeface=""/>
        <a:cs typeface=""/>
      </a:majorFont>
      <a:minorFont>
        <a:latin typeface="Times New Roman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sm" len="sm"/>
          <a:tailEnd type="none" w="sm" len="sm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ahoma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sm" len="sm"/>
          <a:tailEnd type="none" w="sm" len="sm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ahoma" pitchFamily="34" charset="0"/>
          </a:defRPr>
        </a:defPPr>
      </a:lstStyle>
    </a:lnDef>
  </a:objectDefaults>
  <a:extraClrSchemeLst>
    <a:extraClrScheme>
      <a:clrScheme name="Blank Presentatio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Presentation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C:\Program Files\Microsoft Office\Templates\Blank Presentation.pot</Template>
  <TotalTime>1554</TotalTime>
  <Words>801</Words>
  <Application>Microsoft Office PowerPoint</Application>
  <PresentationFormat>On-screen Show (4:3)</PresentationFormat>
  <Paragraphs>126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3" baseType="lpstr">
      <vt:lpstr>Abadi</vt:lpstr>
      <vt:lpstr>Arial Black</vt:lpstr>
      <vt:lpstr>Courier New</vt:lpstr>
      <vt:lpstr>Impact</vt:lpstr>
      <vt:lpstr>Tahoma</vt:lpstr>
      <vt:lpstr>Times New Roman</vt:lpstr>
      <vt:lpstr>Blank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Matching Symbols using Strings</vt:lpstr>
      <vt:lpstr>PowerPoint Presentation</vt:lpstr>
      <vt:lpstr>PowerPoint Presentation</vt:lpstr>
      <vt:lpstr>PowerPoint Presentation</vt:lpstr>
    </vt:vector>
  </TitlesOfParts>
  <Manager>www.apluscompsci.com</Manager>
  <Company>A+ Computer Science</Company>
  <LinksUpToDate>false</LinksUpToDate>
  <SharedDoc>false</SharedDoc>
  <HyperlinkBase>www.apluscompsci.com</HyperlinkBase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stacks</dc:title>
  <dc:subject>Stacks</dc:subject>
  <dc:creator>A+ Computer Science</dc:creator>
  <cp:keywords>www.apluscompsci.com</cp:keywords>
  <dc:description>Stacks_x000d_
©A+ Computer Science_x000d_
www.apluscompsci.com</dc:description>
  <cp:lastModifiedBy>Weldon Jasik</cp:lastModifiedBy>
  <cp:revision>245</cp:revision>
  <cp:lastPrinted>1999-11-08T17:20:25Z</cp:lastPrinted>
  <dcterms:created xsi:type="dcterms:W3CDTF">1997-11-03T14:43:20Z</dcterms:created>
  <dcterms:modified xsi:type="dcterms:W3CDTF">2023-11-28T19:11:12Z</dcterms:modified>
  <cp:category>www.apluscompsci.com</cp:category>
</cp:coreProperties>
</file>