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5.xml" ContentType="application/vnd.openxmlformats-officedocument.themeOverride+xml"/>
  <Override PartName="/ppt/notesSlides/notesSlide9.xml" ContentType="application/vnd.openxmlformats-officedocument.presentationml.notesSlide+xml"/>
  <Override PartName="/ppt/theme/themeOverride6.xml" ContentType="application/vnd.openxmlformats-officedocument.themeOverride+xml"/>
  <Override PartName="/ppt/notesSlides/notesSlide10.xml" ContentType="application/vnd.openxmlformats-officedocument.presentationml.notesSlide+xml"/>
  <Override PartName="/ppt/theme/themeOverride7.xml" ContentType="application/vnd.openxmlformats-officedocument.themeOverride+xml"/>
  <Override PartName="/ppt/notesSlides/notesSlide11.xml" ContentType="application/vnd.openxmlformats-officedocument.presentationml.notesSlide+xml"/>
  <Override PartName="/ppt/theme/themeOverride8.xml" ContentType="application/vnd.openxmlformats-officedocument.themeOverride+xml"/>
  <Override PartName="/ppt/notesSlides/notesSlide12.xml" ContentType="application/vnd.openxmlformats-officedocument.presentationml.notesSlide+xml"/>
  <Override PartName="/ppt/theme/themeOverride9.xml" ContentType="application/vnd.openxmlformats-officedocument.themeOverride+xml"/>
  <Override PartName="/ppt/notesSlides/notesSlide13.xml" ContentType="application/vnd.openxmlformats-officedocument.presentationml.notesSlide+xml"/>
  <Override PartName="/ppt/theme/themeOverride10.xml" ContentType="application/vnd.openxmlformats-officedocument.themeOverride+xml"/>
  <Override PartName="/ppt/notesSlides/notesSlide14.xml" ContentType="application/vnd.openxmlformats-officedocument.presentationml.notesSlide+xml"/>
  <Override PartName="/ppt/theme/themeOverride11.xml" ContentType="application/vnd.openxmlformats-officedocument.themeOverride+xml"/>
  <Override PartName="/ppt/notesSlides/notesSlide15.xml" ContentType="application/vnd.openxmlformats-officedocument.presentationml.notesSlide+xml"/>
  <Override PartName="/ppt/theme/themeOverride12.xml" ContentType="application/vnd.openxmlformats-officedocument.themeOverride+xml"/>
  <Override PartName="/ppt/notesSlides/notesSlide16.xml" ContentType="application/vnd.openxmlformats-officedocument.presentationml.notesSlide+xml"/>
  <Override PartName="/ppt/theme/themeOverride13.xml" ContentType="application/vnd.openxmlformats-officedocument.themeOverride+xml"/>
  <Override PartName="/ppt/notesSlides/notesSlide17.xml" ContentType="application/vnd.openxmlformats-officedocument.presentationml.notesSlide+xml"/>
  <Override PartName="/ppt/theme/themeOverride14.xml" ContentType="application/vnd.openxmlformats-officedocument.themeOverride+xml"/>
  <Override PartName="/ppt/notesSlides/notesSlide18.xml" ContentType="application/vnd.openxmlformats-officedocument.presentationml.notesSlide+xml"/>
  <Override PartName="/ppt/theme/themeOverride15.xml" ContentType="application/vnd.openxmlformats-officedocument.themeOverride+xml"/>
  <Override PartName="/ppt/notesSlides/notesSlide19.xml" ContentType="application/vnd.openxmlformats-officedocument.presentationml.notesSlide+xml"/>
  <Override PartName="/ppt/theme/themeOverride16.xml" ContentType="application/vnd.openxmlformats-officedocument.themeOverride+xml"/>
  <Override PartName="/ppt/notesSlides/notesSlide20.xml" ContentType="application/vnd.openxmlformats-officedocument.presentationml.notesSlide+xml"/>
  <Override PartName="/ppt/theme/themeOverride17.xml" ContentType="application/vnd.openxmlformats-officedocument.themeOverride+xml"/>
  <Override PartName="/ppt/notesSlides/notesSlide21.xml" ContentType="application/vnd.openxmlformats-officedocument.presentationml.notesSlide+xml"/>
  <Override PartName="/ppt/theme/themeOverride18.xml" ContentType="application/vnd.openxmlformats-officedocument.themeOverride+xml"/>
  <Override PartName="/ppt/notesSlides/notesSlide22.xml" ContentType="application/vnd.openxmlformats-officedocument.presentationml.notesSlide+xml"/>
  <Override PartName="/ppt/theme/themeOverride19.xml" ContentType="application/vnd.openxmlformats-officedocument.themeOverride+xml"/>
  <Override PartName="/ppt/notesSlides/notesSlide23.xml" ContentType="application/vnd.openxmlformats-officedocument.presentationml.notesSlide+xml"/>
  <Override PartName="/ppt/theme/themeOverride20.xml" ContentType="application/vnd.openxmlformats-officedocument.themeOverride+xml"/>
  <Override PartName="/ppt/notesSlides/notesSlide24.xml" ContentType="application/vnd.openxmlformats-officedocument.presentationml.notesSlide+xml"/>
  <Override PartName="/ppt/theme/themeOverride21.xml" ContentType="application/vnd.openxmlformats-officedocument.themeOverride+xml"/>
  <Override PartName="/ppt/notesSlides/notesSlide25.xml" ContentType="application/vnd.openxmlformats-officedocument.presentationml.notesSlide+xml"/>
  <Override PartName="/ppt/theme/themeOverride22.xml" ContentType="application/vnd.openxmlformats-officedocument.themeOverride+xml"/>
  <Override PartName="/ppt/notesSlides/notesSlide26.xml" ContentType="application/vnd.openxmlformats-officedocument.presentationml.notesSlide+xml"/>
  <Override PartName="/ppt/theme/themeOverride2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4056" r:id="rId2"/>
    <p:sldMasterId id="2147484057" r:id="rId3"/>
    <p:sldMasterId id="2147484058" r:id="rId4"/>
    <p:sldMasterId id="2147484059" r:id="rId5"/>
    <p:sldMasterId id="2147484060" r:id="rId6"/>
    <p:sldMasterId id="2147484061" r:id="rId7"/>
    <p:sldMasterId id="2147484062" r:id="rId8"/>
    <p:sldMasterId id="2147484063" r:id="rId9"/>
    <p:sldMasterId id="2147484064" r:id="rId10"/>
    <p:sldMasterId id="2147484065" r:id="rId11"/>
    <p:sldMasterId id="2147484066" r:id="rId12"/>
  </p:sldMasterIdLst>
  <p:notesMasterIdLst>
    <p:notesMasterId r:id="rId55"/>
  </p:notesMasterIdLst>
  <p:sldIdLst>
    <p:sldId id="529" r:id="rId13"/>
    <p:sldId id="530" r:id="rId14"/>
    <p:sldId id="656" r:id="rId15"/>
    <p:sldId id="532" r:id="rId16"/>
    <p:sldId id="552" r:id="rId17"/>
    <p:sldId id="554" r:id="rId18"/>
    <p:sldId id="633" r:id="rId19"/>
    <p:sldId id="553" r:id="rId20"/>
    <p:sldId id="624" r:id="rId21"/>
    <p:sldId id="625" r:id="rId22"/>
    <p:sldId id="626" r:id="rId23"/>
    <p:sldId id="627" r:id="rId24"/>
    <p:sldId id="556" r:id="rId25"/>
    <p:sldId id="608" r:id="rId26"/>
    <p:sldId id="609" r:id="rId27"/>
    <p:sldId id="648" r:id="rId28"/>
    <p:sldId id="659" r:id="rId29"/>
    <p:sldId id="660" r:id="rId30"/>
    <p:sldId id="661" r:id="rId31"/>
    <p:sldId id="541" r:id="rId32"/>
    <p:sldId id="542" r:id="rId33"/>
    <p:sldId id="543" r:id="rId34"/>
    <p:sldId id="540" r:id="rId35"/>
    <p:sldId id="632" r:id="rId36"/>
    <p:sldId id="636" r:id="rId37"/>
    <p:sldId id="641" r:id="rId38"/>
    <p:sldId id="642" r:id="rId39"/>
    <p:sldId id="646" r:id="rId40"/>
    <p:sldId id="647" r:id="rId41"/>
    <p:sldId id="657" r:id="rId42"/>
    <p:sldId id="640" r:id="rId43"/>
    <p:sldId id="639" r:id="rId44"/>
    <p:sldId id="658" r:id="rId45"/>
    <p:sldId id="637" r:id="rId46"/>
    <p:sldId id="638" r:id="rId47"/>
    <p:sldId id="644" r:id="rId48"/>
    <p:sldId id="663" r:id="rId49"/>
    <p:sldId id="650" r:id="rId50"/>
    <p:sldId id="652" r:id="rId51"/>
    <p:sldId id="654" r:id="rId52"/>
    <p:sldId id="651" r:id="rId53"/>
    <p:sldId id="655" r:id="rId54"/>
  </p:sldIdLst>
  <p:sldSz cx="9144000" cy="6858000" type="screen4x3"/>
  <p:notesSz cx="6781800" cy="9067800"/>
  <p:custDataLst>
    <p:tags r:id="rId56"/>
  </p:custDataLst>
  <p:defaultTextStyle>
    <a:defPPr>
      <a:defRPr lang="en-US"/>
    </a:defPPr>
    <a:lvl1pPr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5pPr>
    <a:lvl6pPr marL="2286000" algn="l" defTabSz="914400" rtl="0" eaLnBrk="1" latinLnBrk="0" hangingPunct="1">
      <a:defRPr sz="2000" b="1" kern="1200">
        <a:solidFill>
          <a:schemeClr val="tx1"/>
        </a:solidFill>
        <a:latin typeface="Arial" panose="020B0604020202020204" pitchFamily="34" charset="0"/>
        <a:ea typeface="+mn-ea"/>
        <a:cs typeface="+mn-cs"/>
      </a:defRPr>
    </a:lvl6pPr>
    <a:lvl7pPr marL="2743200" algn="l" defTabSz="914400" rtl="0" eaLnBrk="1" latinLnBrk="0" hangingPunct="1">
      <a:defRPr sz="2000" b="1" kern="1200">
        <a:solidFill>
          <a:schemeClr val="tx1"/>
        </a:solidFill>
        <a:latin typeface="Arial" panose="020B0604020202020204" pitchFamily="34" charset="0"/>
        <a:ea typeface="+mn-ea"/>
        <a:cs typeface="+mn-cs"/>
      </a:defRPr>
    </a:lvl7pPr>
    <a:lvl8pPr marL="3200400" algn="l" defTabSz="914400" rtl="0" eaLnBrk="1" latinLnBrk="0" hangingPunct="1">
      <a:defRPr sz="2000" b="1" kern="1200">
        <a:solidFill>
          <a:schemeClr val="tx1"/>
        </a:solidFill>
        <a:latin typeface="Arial" panose="020B0604020202020204" pitchFamily="34" charset="0"/>
        <a:ea typeface="+mn-ea"/>
        <a:cs typeface="+mn-cs"/>
      </a:defRPr>
    </a:lvl8pPr>
    <a:lvl9pPr marL="3657600" algn="l" defTabSz="914400" rtl="0" eaLnBrk="1" latinLnBrk="0" hangingPunct="1">
      <a:defRPr sz="20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176B25"/>
    <a:srgbClr val="612A8A"/>
    <a:srgbClr val="85FFE0"/>
    <a:srgbClr val="E0FFA3"/>
    <a:srgbClr val="CCFF66"/>
    <a:srgbClr val="DED4F0"/>
    <a:srgbClr val="E6E6FA"/>
    <a:srgbClr val="E8FF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03" autoAdjust="0"/>
    <p:restoredTop sz="94660"/>
  </p:normalViewPr>
  <p:slideViewPr>
    <p:cSldViewPr>
      <p:cViewPr varScale="1">
        <p:scale>
          <a:sx n="78" d="100"/>
          <a:sy n="78" d="100"/>
        </p:scale>
        <p:origin x="1382" y="43"/>
      </p:cViewPr>
      <p:guideLst>
        <p:guide orient="horz" pos="2160"/>
        <p:guide pos="288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notesMaster" Target="notesMasters/notes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viewProps" Target="viewProps.xml"/><Relationship Id="rId5" Type="http://schemas.openxmlformats.org/officeDocument/2006/relationships/slideMaster" Target="slideMasters/slideMaster5.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tags" Target="tags/tag1.xml"/><Relationship Id="rId8" Type="http://schemas.openxmlformats.org/officeDocument/2006/relationships/slideMaster" Target="slideMasters/slideMaster8.xml"/><Relationship Id="rId51" Type="http://schemas.openxmlformats.org/officeDocument/2006/relationships/slide" Target="slides/slide39.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theme" Target="theme/theme1.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presProps" Target="presProps.xml"/><Relationship Id="rId10" Type="http://schemas.openxmlformats.org/officeDocument/2006/relationships/slideMaster" Target="slideMasters/slideMaster10.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1355725" y="8613775"/>
            <a:ext cx="54260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191" tIns="45596" rIns="91191" bIns="45596"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buFont typeface="Arial" panose="020B0604020202020204" pitchFamily="34" charset="0"/>
              <a:buNone/>
              <a:defRPr/>
            </a:pPr>
            <a:r>
              <a:rPr lang="en-US" altLang="en-US" sz="1200">
                <a:latin typeface="Tahoma" panose="020B0604030504040204" pitchFamily="34" charset="0"/>
              </a:rPr>
              <a:t>©A+ Computer Science     www.apluscompsci.com                 </a:t>
            </a:r>
            <a:fld id="{77B7E586-1463-4EF8-8F26-543236E3D625}" type="slidenum">
              <a:rPr lang="en-US" altLang="en-US" sz="1200" smtClean="0">
                <a:latin typeface="Tahoma" panose="020B0604030504040204" pitchFamily="34" charset="0"/>
              </a:rPr>
              <a:pPr algn="r">
                <a:buFont typeface="Arial" panose="020B0604020202020204" pitchFamily="34" charset="0"/>
                <a:buNone/>
                <a:defRPr/>
              </a:pPr>
              <a:t>‹#›</a:t>
            </a:fld>
            <a:endParaRPr lang="en-US" altLang="en-US"/>
          </a:p>
        </p:txBody>
      </p:sp>
    </p:spTree>
    <p:extLst>
      <p:ext uri="{BB962C8B-B14F-4D97-AF65-F5344CB8AC3E}">
        <p14:creationId xmlns:p14="http://schemas.microsoft.com/office/powerpoint/2010/main" val="27887004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hemeOverride" Target="../theme/themeOverride15.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hemeOverride" Target="../theme/themeOverride16.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hemeOverride" Target="../theme/themeOverride17.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notesMaster" Target="../notesMasters/notesMaster1.xml"/><Relationship Id="rId1" Type="http://schemas.openxmlformats.org/officeDocument/2006/relationships/themeOverride" Target="../theme/themeOverride18.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38.xml"/><Relationship Id="rId2" Type="http://schemas.openxmlformats.org/officeDocument/2006/relationships/notesMaster" Target="../notesMasters/notesMaster1.xml"/><Relationship Id="rId1" Type="http://schemas.openxmlformats.org/officeDocument/2006/relationships/themeOverride" Target="../theme/themeOverride19.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39.xml"/><Relationship Id="rId2" Type="http://schemas.openxmlformats.org/officeDocument/2006/relationships/notesMaster" Target="../notesMasters/notesMaster1.xml"/><Relationship Id="rId1" Type="http://schemas.openxmlformats.org/officeDocument/2006/relationships/themeOverride" Target="../theme/themeOverride20.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40.xml"/><Relationship Id="rId2" Type="http://schemas.openxmlformats.org/officeDocument/2006/relationships/notesMaster" Target="../notesMasters/notesMaster1.xml"/><Relationship Id="rId1" Type="http://schemas.openxmlformats.org/officeDocument/2006/relationships/themeOverride" Target="../theme/themeOverride21.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41.xml"/><Relationship Id="rId2" Type="http://schemas.openxmlformats.org/officeDocument/2006/relationships/notesMaster" Target="../notesMasters/notesMaster1.xml"/><Relationship Id="rId1" Type="http://schemas.openxmlformats.org/officeDocument/2006/relationships/themeOverride" Target="../theme/themeOverride22.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42.xml"/><Relationship Id="rId2" Type="http://schemas.openxmlformats.org/officeDocument/2006/relationships/notesMaster" Target="../notesMasters/notesMaster1.xml"/><Relationship Id="rId1" Type="http://schemas.openxmlformats.org/officeDocument/2006/relationships/themeOverride" Target="../theme/themeOverr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a:t>Instance initializers are executed in the order defined when the class is instantiated, immediately before the constructor code is executed, immediately after the invocation of the super constructor.</a:t>
            </a:r>
          </a:p>
          <a:p>
            <a:endParaRPr lang="en-US" altLang="en-US"/>
          </a:p>
        </p:txBody>
      </p:sp>
    </p:spTree>
    <p:extLst>
      <p:ext uri="{BB962C8B-B14F-4D97-AF65-F5344CB8AC3E}">
        <p14:creationId xmlns:p14="http://schemas.microsoft.com/office/powerpoint/2010/main" val="3070355304"/>
      </p:ext>
    </p:extLst>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a:t>Static initializers are executed in the order they are defined (top down, just like simple variable initializers) when the class is loaded (actually, when it's resolved, but that's a technicality).</a:t>
            </a:r>
          </a:p>
          <a:p>
            <a:endParaRPr lang="en-US" altLang="en-US"/>
          </a:p>
        </p:txBody>
      </p:sp>
    </p:spTree>
    <p:extLst>
      <p:ext uri="{BB962C8B-B14F-4D97-AF65-F5344CB8AC3E}">
        <p14:creationId xmlns:p14="http://schemas.microsoft.com/office/powerpoint/2010/main" val="407775149"/>
      </p:ext>
    </p:extLst>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a:t>Static initializers are executed in the order they are defined (top down, just like simple variable initializers) when the class is loaded (actually, when it's resolved, but that's a technicality).</a:t>
            </a:r>
          </a:p>
          <a:p>
            <a:endParaRPr lang="en-US" altLang="en-US"/>
          </a:p>
        </p:txBody>
      </p:sp>
    </p:spTree>
    <p:extLst>
      <p:ext uri="{BB962C8B-B14F-4D97-AF65-F5344CB8AC3E}">
        <p14:creationId xmlns:p14="http://schemas.microsoft.com/office/powerpoint/2010/main" val="866520456"/>
      </p:ext>
    </p:extLst>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a:t>Static initializers are executed in the order they are defined (top down, just like simple variable initializers) when the class is loaded (actually, when it's resolved, but that's a technicality).</a:t>
            </a:r>
          </a:p>
          <a:p>
            <a:endParaRPr lang="en-US" altLang="en-US"/>
          </a:p>
        </p:txBody>
      </p:sp>
    </p:spTree>
    <p:extLst>
      <p:ext uri="{BB962C8B-B14F-4D97-AF65-F5344CB8AC3E}">
        <p14:creationId xmlns:p14="http://schemas.microsoft.com/office/powerpoint/2010/main" val="556824089"/>
      </p:ext>
    </p:extLst>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p:cNvSpPr>
            <a:spLocks noGrp="1"/>
          </p:cNvSpPr>
          <p:nvPr>
            <p:ph type="body" idx="1"/>
          </p:nvPr>
        </p:nvSpPr>
        <p:spPr>
          <a:xfrm>
            <a:off x="677863" y="4364038"/>
            <a:ext cx="5426075" cy="3570287"/>
          </a:xfrm>
          <a:prstGeom prst="rect">
            <a:avLst/>
          </a:prstGeom>
        </p:spPr>
        <p:txBody>
          <a:bodyPr/>
          <a:lstStyle/>
          <a:p>
            <a:r>
              <a:rPr lang="en-US" b="0" i="0" dirty="0">
                <a:solidFill>
                  <a:srgbClr val="000000"/>
                </a:solidFill>
                <a:effectLst/>
                <a:latin typeface="Droid Sans"/>
              </a:rPr>
              <a:t>when you </a:t>
            </a:r>
            <a:r>
              <a:rPr lang="en-US" b="0" i="1" dirty="0">
                <a:solidFill>
                  <a:srgbClr val="000000"/>
                </a:solidFill>
                <a:effectLst/>
                <a:latin typeface="Droid Sans"/>
              </a:rPr>
              <a:t>override</a:t>
            </a:r>
            <a:r>
              <a:rPr lang="en-US" b="0" i="0" dirty="0">
                <a:solidFill>
                  <a:srgbClr val="000000"/>
                </a:solidFill>
                <a:effectLst/>
                <a:latin typeface="Droid Sans"/>
              </a:rPr>
              <a:t> a method, you still get the benefits of </a:t>
            </a:r>
            <a:r>
              <a:rPr lang="en-US" sz="1200" b="0" i="0" kern="1200" dirty="0">
                <a:solidFill>
                  <a:srgbClr val="000000"/>
                </a:solidFill>
                <a:effectLst/>
                <a:latin typeface="Droid Sans"/>
                <a:ea typeface="+mn-ea"/>
                <a:cs typeface="+mn-cs"/>
              </a:rPr>
              <a:t>run-time polymorphism, and </a:t>
            </a:r>
            <a:r>
              <a:rPr lang="en-US" b="0" i="0" dirty="0">
                <a:solidFill>
                  <a:srgbClr val="000000"/>
                </a:solidFill>
                <a:effectLst/>
                <a:latin typeface="Droid Sans"/>
              </a:rPr>
              <a:t>when you </a:t>
            </a:r>
            <a:r>
              <a:rPr lang="en-US" b="0" i="1" dirty="0">
                <a:solidFill>
                  <a:srgbClr val="000000"/>
                </a:solidFill>
                <a:effectLst/>
                <a:latin typeface="Droid Sans"/>
              </a:rPr>
              <a:t>hide</a:t>
            </a:r>
            <a:r>
              <a:rPr lang="en-US" b="0" i="0" dirty="0">
                <a:solidFill>
                  <a:srgbClr val="000000"/>
                </a:solidFill>
                <a:effectLst/>
                <a:latin typeface="Droid Sans"/>
              </a:rPr>
              <a:t>, you don't.</a:t>
            </a:r>
            <a:endParaRPr lang="en-US" dirty="0"/>
          </a:p>
        </p:txBody>
      </p:sp>
    </p:spTree>
    <p:extLst>
      <p:ext uri="{BB962C8B-B14F-4D97-AF65-F5344CB8AC3E}">
        <p14:creationId xmlns:p14="http://schemas.microsoft.com/office/powerpoint/2010/main" val="3703310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p:cNvSpPr>
          <p:nvPr>
            <p:ph type="sldImg"/>
          </p:nvPr>
        </p:nvSpPr>
        <p:spPr bwMode="auto">
          <a:xfrm>
            <a:off x="1350963" y="1133475"/>
            <a:ext cx="4079875" cy="30607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p:cNvSpPr>
            <a:spLocks noGrp="1"/>
          </p:cNvSpPr>
          <p:nvPr>
            <p:ph type="body" idx="1"/>
          </p:nvPr>
        </p:nvSpPr>
        <p:spPr bwMode="auto">
          <a:xfrm>
            <a:off x="677863" y="4364038"/>
            <a:ext cx="5426075" cy="35702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Try new B().write()</a:t>
            </a:r>
          </a:p>
        </p:txBody>
      </p:sp>
    </p:spTree>
    <p:extLst>
      <p:ext uri="{BB962C8B-B14F-4D97-AF65-F5344CB8AC3E}">
        <p14:creationId xmlns:p14="http://schemas.microsoft.com/office/powerpoint/2010/main" val="1396061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p:cNvSpPr>
            <a:spLocks noGrp="1"/>
          </p:cNvSpPr>
          <p:nvPr>
            <p:ph type="body" idx="1"/>
          </p:nvPr>
        </p:nvSpPr>
        <p:spPr>
          <a:xfrm>
            <a:off x="677863" y="4364038"/>
            <a:ext cx="5426075" cy="3570287"/>
          </a:xfrm>
          <a:prstGeom prst="rect">
            <a:avLst/>
          </a:prstGeom>
        </p:spPr>
        <p:txBody>
          <a:bodyPr/>
          <a:lstStyle/>
          <a:p>
            <a:r>
              <a:rPr lang="en-US" dirty="0"/>
              <a:t>This is because they’re not overridden, but rather hidden. The A class’s write() method isn’t given in the B class like it would if it was an instance method. An abstract static method can never be given implementation in a subclass, so it’s </a:t>
            </a:r>
            <a:r>
              <a:rPr lang="en-US"/>
              <a:t>not allowed. </a:t>
            </a:r>
            <a:endParaRPr lang="en-US" dirty="0"/>
          </a:p>
        </p:txBody>
      </p:sp>
    </p:spTree>
    <p:extLst>
      <p:ext uri="{BB962C8B-B14F-4D97-AF65-F5344CB8AC3E}">
        <p14:creationId xmlns:p14="http://schemas.microsoft.com/office/powerpoint/2010/main" val="484731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In this section of code, random Monsters are loaded into the monsters array.   Monsters is an array of Monster references.  Monsters can refer to any type of Monster.   Vampire, Witch, and Ghost extend Monster; thus, they are Monster Objects.</a:t>
            </a:r>
          </a:p>
        </p:txBody>
      </p:sp>
    </p:spTree>
    <p:extLst>
      <p:ext uri="{BB962C8B-B14F-4D97-AF65-F5344CB8AC3E}">
        <p14:creationId xmlns:p14="http://schemas.microsoft.com/office/powerpoint/2010/main" val="2446564121"/>
      </p:ext>
    </p:extLst>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1880068139"/>
      </p:ext>
    </p:extLst>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2994888197"/>
      </p:ext>
    </p:extLst>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2371178071"/>
      </p:ext>
    </p:extLst>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2358070676"/>
      </p:ext>
    </p:extLst>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372729899"/>
      </p:ext>
    </p:extLst>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1967995850"/>
      </p:ext>
    </p:extLst>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1913889514"/>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This is weird because the parameter is not used in the methods.</a:t>
            </a:r>
          </a:p>
        </p:txBody>
      </p:sp>
    </p:spTree>
    <p:extLst>
      <p:ext uri="{BB962C8B-B14F-4D97-AF65-F5344CB8AC3E}">
        <p14:creationId xmlns:p14="http://schemas.microsoft.com/office/powerpoint/2010/main" val="1311081938"/>
      </p:ext>
    </p:extLst>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Comparable and </a:t>
            </a:r>
            <a:r>
              <a:rPr lang="en-US" altLang="en-US" sz="1600" dirty="0" err="1"/>
              <a:t>CharSequence</a:t>
            </a:r>
            <a:r>
              <a:rPr lang="en-US" altLang="en-US" sz="1600" dirty="0"/>
              <a:t> are different branches of the hierarchy tree.</a:t>
            </a:r>
          </a:p>
        </p:txBody>
      </p:sp>
    </p:spTree>
    <p:extLst>
      <p:ext uri="{BB962C8B-B14F-4D97-AF65-F5344CB8AC3E}">
        <p14:creationId xmlns:p14="http://schemas.microsoft.com/office/powerpoint/2010/main" val="2503892463"/>
      </p:ext>
    </p:extLst>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145962326"/>
      </p:ext>
    </p:extLst>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 and StringBuilder are on different branches of the tree:</a:t>
            </a:r>
          </a:p>
          <a:p>
            <a:r>
              <a:rPr lang="en-US" altLang="en-US" sz="1600" dirty="0"/>
              <a:t>Comparable </a:t>
            </a:r>
            <a:r>
              <a:rPr lang="en-US" altLang="en-US" sz="1600" dirty="0">
                <a:sym typeface="Wingdings" panose="05000000000000000000" pitchFamily="2" charset="2"/>
              </a:rPr>
              <a:t> String</a:t>
            </a:r>
          </a:p>
          <a:p>
            <a:r>
              <a:rPr lang="en-US" altLang="en-US" sz="1600" dirty="0" err="1">
                <a:sym typeface="Wingdings" panose="05000000000000000000" pitchFamily="2" charset="2"/>
              </a:rPr>
              <a:t>CharSequence</a:t>
            </a:r>
            <a:r>
              <a:rPr lang="en-US" altLang="en-US" sz="1600" dirty="0">
                <a:sym typeface="Wingdings" panose="05000000000000000000" pitchFamily="2" charset="2"/>
              </a:rPr>
              <a:t>  StringBuilder</a:t>
            </a:r>
            <a:endParaRPr lang="en-US" altLang="en-US" sz="1600" dirty="0"/>
          </a:p>
          <a:p>
            <a:endParaRPr lang="en-US" altLang="en-US" sz="1600" dirty="0"/>
          </a:p>
          <a:p>
            <a:endParaRPr lang="en-US" altLang="en-US" sz="1600" dirty="0"/>
          </a:p>
        </p:txBody>
      </p:sp>
    </p:spTree>
    <p:extLst>
      <p:ext uri="{BB962C8B-B14F-4D97-AF65-F5344CB8AC3E}">
        <p14:creationId xmlns:p14="http://schemas.microsoft.com/office/powerpoint/2010/main" val="2125544155"/>
      </p:ext>
    </p:extLst>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StringBuilder implements </a:t>
            </a:r>
            <a:r>
              <a:rPr lang="en-US" altLang="en-US" sz="1600" dirty="0" err="1"/>
              <a:t>CharSequence</a:t>
            </a:r>
            <a:r>
              <a:rPr lang="en-US" altLang="en-US" sz="1600" dirty="0"/>
              <a:t>, but not Comparable.</a:t>
            </a:r>
          </a:p>
        </p:txBody>
      </p:sp>
    </p:spTree>
    <p:extLst>
      <p:ext uri="{BB962C8B-B14F-4D97-AF65-F5344CB8AC3E}">
        <p14:creationId xmlns:p14="http://schemas.microsoft.com/office/powerpoint/2010/main" val="690579636"/>
      </p:ext>
    </p:extLst>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 implements both </a:t>
            </a:r>
            <a:r>
              <a:rPr lang="en-US" altLang="en-US" sz="1600" dirty="0" err="1"/>
              <a:t>CharSequence</a:t>
            </a:r>
            <a:r>
              <a:rPr lang="en-US" altLang="en-US" sz="1600" dirty="0"/>
              <a:t> and Comparable.</a:t>
            </a:r>
          </a:p>
        </p:txBody>
      </p:sp>
    </p:spTree>
    <p:extLst>
      <p:ext uri="{BB962C8B-B14F-4D97-AF65-F5344CB8AC3E}">
        <p14:creationId xmlns:p14="http://schemas.microsoft.com/office/powerpoint/2010/main" val="3281712335"/>
      </p:ext>
    </p:extLst>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 implements both </a:t>
            </a:r>
            <a:r>
              <a:rPr lang="en-US" altLang="en-US" sz="1600" dirty="0" err="1"/>
              <a:t>CharSequence</a:t>
            </a:r>
            <a:r>
              <a:rPr lang="en-US" altLang="en-US" sz="1600" dirty="0"/>
              <a:t> and Comparable.</a:t>
            </a:r>
          </a:p>
        </p:txBody>
      </p:sp>
    </p:spTree>
    <p:extLst>
      <p:ext uri="{BB962C8B-B14F-4D97-AF65-F5344CB8AC3E}">
        <p14:creationId xmlns:p14="http://schemas.microsoft.com/office/powerpoint/2010/main" val="3013097774"/>
      </p:ext>
    </p:extLst>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 implements both </a:t>
            </a:r>
            <a:r>
              <a:rPr lang="en-US" altLang="en-US" sz="1600" dirty="0" err="1"/>
              <a:t>CharSequence</a:t>
            </a:r>
            <a:r>
              <a:rPr lang="en-US" altLang="en-US" sz="1600" dirty="0"/>
              <a:t> and Comparable.</a:t>
            </a:r>
          </a:p>
        </p:txBody>
      </p:sp>
    </p:spTree>
    <p:extLst>
      <p:ext uri="{BB962C8B-B14F-4D97-AF65-F5344CB8AC3E}">
        <p14:creationId xmlns:p14="http://schemas.microsoft.com/office/powerpoint/2010/main" val="1488526966"/>
      </p:ext>
    </p:extLst>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 implements both </a:t>
            </a:r>
            <a:r>
              <a:rPr lang="en-US" altLang="en-US" sz="1600" dirty="0" err="1"/>
              <a:t>CharSequence</a:t>
            </a:r>
            <a:r>
              <a:rPr lang="en-US" altLang="en-US" sz="1600" dirty="0"/>
              <a:t> and Comparable.</a:t>
            </a:r>
          </a:p>
        </p:txBody>
      </p:sp>
    </p:spTree>
    <p:extLst>
      <p:ext uri="{BB962C8B-B14F-4D97-AF65-F5344CB8AC3E}">
        <p14:creationId xmlns:p14="http://schemas.microsoft.com/office/powerpoint/2010/main" val="2169497840"/>
      </p:ext>
    </p:extLst>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 implements both </a:t>
            </a:r>
            <a:r>
              <a:rPr lang="en-US" altLang="en-US" sz="1600" dirty="0" err="1"/>
              <a:t>CharSequence</a:t>
            </a:r>
            <a:r>
              <a:rPr lang="en-US" altLang="en-US" sz="1600" dirty="0"/>
              <a:t> and Comparable.</a:t>
            </a:r>
          </a:p>
        </p:txBody>
      </p:sp>
    </p:spTree>
    <p:extLst>
      <p:ext uri="{BB962C8B-B14F-4D97-AF65-F5344CB8AC3E}">
        <p14:creationId xmlns:p14="http://schemas.microsoft.com/office/powerpoint/2010/main" val="1338890613"/>
      </p:ext>
    </p:extLst>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1474155371"/>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9ADC5FA8-C370-424E-A8B4-D43D735C8C0F}"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138265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41F77CA3-9BF6-445F-9289-19F3FDE7A770}"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46945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CC461D0B-CAE4-4634-B87C-E9BE2FEE57B3}"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67574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70E3F603-019E-4E1E-BA4F-B95A1645CB6B}" type="slidenum">
              <a:rPr lang="en-US" altLang="en-US"/>
              <a:pPr>
                <a:defRPr/>
              </a:pPr>
              <a:t>‹#›</a:t>
            </a:fld>
            <a:endParaRPr lang="en-US" altLang="en-US"/>
          </a:p>
        </p:txBody>
      </p:sp>
      <p:sp>
        <p:nvSpPr>
          <p:cNvPr id="7"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93381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p:cNvSpPr>
            <a:spLocks noGrp="1" noChangeArrowheads="1"/>
          </p:cNvSpPr>
          <p:nvPr>
            <p:ph type="sldNum" sz="quarter" idx="11"/>
          </p:nvPr>
        </p:nvSpPr>
        <p:spPr>
          <a:ln/>
        </p:spPr>
        <p:txBody>
          <a:bodyPr/>
          <a:lstStyle>
            <a:lvl1pPr>
              <a:defRPr/>
            </a:lvl1pPr>
          </a:lstStyle>
          <a:p>
            <a:pPr>
              <a:defRPr/>
            </a:pPr>
            <a:fld id="{7F3D9637-DF2A-4782-A2E2-F007EC1952F7}" type="slidenum">
              <a:rPr lang="en-US" altLang="en-US"/>
              <a:pPr>
                <a:defRPr/>
              </a:pPr>
              <a:t>‹#›</a:t>
            </a:fld>
            <a:endParaRPr lang="en-US" altLang="en-US"/>
          </a:p>
        </p:txBody>
      </p:sp>
      <p:sp>
        <p:nvSpPr>
          <p:cNvPr id="9"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333826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1"/>
          </p:nvPr>
        </p:nvSpPr>
        <p:spPr>
          <a:ln/>
        </p:spPr>
        <p:txBody>
          <a:bodyPr/>
          <a:lstStyle>
            <a:lvl1pPr>
              <a:defRPr/>
            </a:lvl1pPr>
          </a:lstStyle>
          <a:p>
            <a:pPr>
              <a:defRPr/>
            </a:pPr>
            <a:fld id="{24EAB6D4-AB6F-4FA1-9E7B-40962469D65B}" type="slidenum">
              <a:rPr lang="en-US" altLang="en-US"/>
              <a:pPr>
                <a:defRPr/>
              </a:pPr>
              <a:t>‹#›</a:t>
            </a:fld>
            <a:endParaRPr lang="en-US" altLang="en-US"/>
          </a:p>
        </p:txBody>
      </p:sp>
      <p:sp>
        <p:nvSpPr>
          <p:cNvPr id="5"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21171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p:cNvSpPr>
            <a:spLocks noGrp="1" noChangeArrowheads="1"/>
          </p:cNvSpPr>
          <p:nvPr>
            <p:ph type="sldNum" sz="quarter" idx="11"/>
          </p:nvPr>
        </p:nvSpPr>
        <p:spPr>
          <a:ln/>
        </p:spPr>
        <p:txBody>
          <a:bodyPr/>
          <a:lstStyle>
            <a:lvl1pPr>
              <a:defRPr/>
            </a:lvl1pPr>
          </a:lstStyle>
          <a:p>
            <a:pPr>
              <a:defRPr/>
            </a:pPr>
            <a:fld id="{E9AEF6E1-39D0-4D60-9B29-5A6FC36EBE14}" type="slidenum">
              <a:rPr lang="en-US" altLang="en-US"/>
              <a:pPr>
                <a:defRPr/>
              </a:pPr>
              <a:t>‹#›</a:t>
            </a:fld>
            <a:endParaRPr lang="en-US" altLang="en-US"/>
          </a:p>
        </p:txBody>
      </p:sp>
      <p:sp>
        <p:nvSpPr>
          <p:cNvPr id="4"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85649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931E5A9F-81C1-4BF2-8633-21FEF327667B}" type="slidenum">
              <a:rPr lang="en-US" altLang="en-US"/>
              <a:pPr>
                <a:defRPr/>
              </a:pPr>
              <a:t>‹#›</a:t>
            </a:fld>
            <a:endParaRPr lang="en-US" altLang="en-US"/>
          </a:p>
        </p:txBody>
      </p:sp>
      <p:sp>
        <p:nvSpPr>
          <p:cNvPr id="7"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44339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2AF2A8D0-9739-4656-AEB3-A01AE03BDDA7}" type="slidenum">
              <a:rPr lang="en-US" altLang="en-US"/>
              <a:pPr>
                <a:defRPr/>
              </a:pPr>
              <a:t>‹#›</a:t>
            </a:fld>
            <a:endParaRPr lang="en-US" altLang="en-US"/>
          </a:p>
        </p:txBody>
      </p:sp>
      <p:sp>
        <p:nvSpPr>
          <p:cNvPr id="7"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61695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A9971D4C-366A-45D9-96EC-25C7D40EB640}"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92417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0EC4CB99-451D-4679-8871-51DC7392039F}"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84279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CC79B792-B7B5-4700-950D-AD044E3A1B92}"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74206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6B95F4B1-F05C-4E03-B56F-E24E038148F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510570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05F7EECD-7253-4DAF-ACB2-4C3E2F111A6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995656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588D33E7-4EE3-4FE7-8787-DC4740A1ABF3}"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558732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6BC5FB5F-7883-42CF-B88D-FB34EAEE36A7}"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316044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BC9D030C-6B50-4549-A747-CBCC28EB0021}"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235957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851E6AF2-BCE6-40BE-A3A1-EF5A153B0628}"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357658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98B03902-10E7-493A-BC50-F2DE6CEB9B25}"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452698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A9CB28AB-E4B6-4221-A475-9B8056CA5485}"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9119491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52E1FC80-DE79-479F-A471-C9975695589B}"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5946408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F5548B48-0E00-4A58-BECD-563BE1558A0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308330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7F6AEFC0-842D-43A4-B6FC-1713D89CB703}"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906384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5C42829C-1BA6-41A4-9983-4CD415D2FB12}"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359881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4CD661FA-2DFC-4847-8CE6-347EFCD7647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1057542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74553B4C-55EE-44A1-B46B-033F697BC6A5}"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129789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7D371D0F-EF7E-4F86-A143-8AC6D4C44BB0}"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9078902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0D87D990-FBAE-412B-91AF-3A62BA8468E4}"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070577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6395D9F4-52BA-49F5-BE3E-3E8358A59C3D}"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2440247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79C731CE-C56E-44EF-8FA8-5B57C9387DC2}"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6741606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F93010C1-3040-4677-B6FE-429DA93E3A16}"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74321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CC72C9F7-BC98-41C8-9AE2-4FB6C76A50C9}"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733297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D3050A8E-4EB9-4382-A706-A712933E597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1726147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63FDB985-4E13-45A0-80BD-6156CADF0CD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775061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F1B50271-BD60-45BB-9309-C1751F15E41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79172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48A014CD-7BC8-49DD-AF28-2D44B7AC9A9D}"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021781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E70AC9E4-4D5B-4486-AD04-64B1E7B83597}"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0772542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E437B79C-22E7-4B4A-968B-04649900D463}"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9658201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649E93DF-3CBC-46D1-9AD2-0E6E183D2840}"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613524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51D00532-049D-4324-B262-2B41E1C57DBC}"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344976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A9A055BD-6210-4F27-8352-D9C1E9A4AE1C}"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9876329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89B7DA1C-4115-483C-B184-24E0F462F02F}"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6774774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07BF0AF3-DF95-4ECF-A328-E076119A9C7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8870318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B733F2CE-BD94-4C9D-BCAC-840E64346199}"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855887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468F5E5A-548B-4A1B-A350-CF5BAB6A60C8}"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3734807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B1F18FDD-536D-42DD-AAB9-38E0C061B0F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1341610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CE2B566D-D608-48C4-BF47-C6A530C9E62C}"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505533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F5A191E7-3506-47CD-933A-29E8B0A621B2}"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5257759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5"/>
          <p:cNvSpPr>
            <a:spLocks noGrp="1" noChangeArrowheads="1"/>
          </p:cNvSpPr>
          <p:nvPr>
            <p:ph type="sldNum" sz="quarter" idx="11"/>
          </p:nvPr>
        </p:nvSpPr>
        <p:spPr>
          <a:ln/>
        </p:spPr>
        <p:txBody>
          <a:bodyPr/>
          <a:lstStyle>
            <a:lvl1pPr>
              <a:defRPr/>
            </a:lvl1pPr>
          </a:lstStyle>
          <a:p>
            <a:pPr>
              <a:defRPr/>
            </a:pPr>
            <a:fld id="{333E29F6-780D-466E-914E-FE467DC9B965}" type="slidenum">
              <a:rPr lang="en-US" altLang="en-US"/>
              <a:pPr>
                <a:defRPr/>
              </a:pPr>
              <a:t>‹#›</a:t>
            </a:fld>
            <a:endParaRPr lang="en-US" altLang="en-US"/>
          </a:p>
        </p:txBody>
      </p:sp>
      <p:sp>
        <p:nvSpPr>
          <p:cNvPr id="9"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6076301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5"/>
          <p:cNvSpPr>
            <a:spLocks noGrp="1" noChangeArrowheads="1"/>
          </p:cNvSpPr>
          <p:nvPr>
            <p:ph type="sldNum" sz="quarter" idx="11"/>
          </p:nvPr>
        </p:nvSpPr>
        <p:spPr>
          <a:ln/>
        </p:spPr>
        <p:txBody>
          <a:bodyPr/>
          <a:lstStyle>
            <a:lvl1pPr>
              <a:defRPr/>
            </a:lvl1pPr>
          </a:lstStyle>
          <a:p>
            <a:pPr>
              <a:defRPr/>
            </a:pPr>
            <a:fld id="{0C309E8C-9B46-4F7A-A66F-ADF8175F8F86}" type="slidenum">
              <a:rPr lang="en-US" altLang="en-US"/>
              <a:pPr>
                <a:defRPr/>
              </a:pPr>
              <a:t>‹#›</a:t>
            </a:fld>
            <a:endParaRPr lang="en-US" altLang="en-US"/>
          </a:p>
        </p:txBody>
      </p:sp>
      <p:sp>
        <p:nvSpPr>
          <p:cNvPr id="5"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80848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5"/>
          <p:cNvSpPr>
            <a:spLocks noGrp="1" noChangeArrowheads="1"/>
          </p:cNvSpPr>
          <p:nvPr>
            <p:ph type="sldNum" sz="quarter" idx="11"/>
          </p:nvPr>
        </p:nvSpPr>
        <p:spPr>
          <a:ln/>
        </p:spPr>
        <p:txBody>
          <a:bodyPr/>
          <a:lstStyle>
            <a:lvl1pPr>
              <a:defRPr/>
            </a:lvl1pPr>
          </a:lstStyle>
          <a:p>
            <a:pPr>
              <a:defRPr/>
            </a:pPr>
            <a:fld id="{73E0FC03-B032-4B10-A3B4-01A83FD95C50}" type="slidenum">
              <a:rPr lang="en-US" altLang="en-US"/>
              <a:pPr>
                <a:defRPr/>
              </a:pPr>
              <a:t>‹#›</a:t>
            </a:fld>
            <a:endParaRPr lang="en-US" altLang="en-US"/>
          </a:p>
        </p:txBody>
      </p:sp>
      <p:sp>
        <p:nvSpPr>
          <p:cNvPr id="4"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400751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3E65580C-D68B-4561-8796-79BD12E6BB21}"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619800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561EF5C0-2698-4545-8310-29BE88EBF9F2}"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004428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532D20B6-4999-4D7E-AEA0-E803DDEB2AB8}"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6782633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C1B45943-44CA-45B2-8467-07AB381823B8}"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0844587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EA857C9C-A449-4AD7-B375-09A6D80167D2}"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9951672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525B4AE2-43E1-4550-B2CB-E5398BD292F2}"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991894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C210246C-10A8-4BF5-91C2-78D882699030}"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53998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7"/>
          <p:cNvSpPr>
            <a:spLocks noGrp="1" noChangeArrowheads="1"/>
          </p:cNvSpPr>
          <p:nvPr>
            <p:ph type="sldNum" sz="quarter" idx="11"/>
          </p:nvPr>
        </p:nvSpPr>
        <p:spPr>
          <a:ln/>
        </p:spPr>
        <p:txBody>
          <a:bodyPr/>
          <a:lstStyle>
            <a:lvl1pPr>
              <a:defRPr/>
            </a:lvl1pPr>
          </a:lstStyle>
          <a:p>
            <a:pPr>
              <a:defRPr/>
            </a:pPr>
            <a:fld id="{27C1B3AF-AA14-4001-B428-51471F9205EE}" type="slidenum">
              <a:rPr lang="en-US" altLang="en-US"/>
              <a:pPr>
                <a:defRPr/>
              </a:pPr>
              <a:t>‹#›</a:t>
            </a:fld>
            <a:endParaRPr lang="en-US" altLang="en-US"/>
          </a:p>
        </p:txBody>
      </p:sp>
      <p:sp>
        <p:nvSpPr>
          <p:cNvPr id="7"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4918827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7"/>
          <p:cNvSpPr>
            <a:spLocks noGrp="1" noChangeArrowheads="1"/>
          </p:cNvSpPr>
          <p:nvPr>
            <p:ph type="sldNum" sz="quarter" idx="11"/>
          </p:nvPr>
        </p:nvSpPr>
        <p:spPr>
          <a:ln/>
        </p:spPr>
        <p:txBody>
          <a:bodyPr/>
          <a:lstStyle>
            <a:lvl1pPr>
              <a:defRPr/>
            </a:lvl1pPr>
          </a:lstStyle>
          <a:p>
            <a:pPr>
              <a:defRPr/>
            </a:pPr>
            <a:fld id="{EB9D66E1-08CD-464F-B6C1-1D838D4D67AC}" type="slidenum">
              <a:rPr lang="en-US" altLang="en-US"/>
              <a:pPr>
                <a:defRPr/>
              </a:pPr>
              <a:t>‹#›</a:t>
            </a:fld>
            <a:endParaRPr lang="en-US" altLang="en-US"/>
          </a:p>
        </p:txBody>
      </p:sp>
      <p:sp>
        <p:nvSpPr>
          <p:cNvPr id="9"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66303153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7"/>
          <p:cNvSpPr>
            <a:spLocks noGrp="1" noChangeArrowheads="1"/>
          </p:cNvSpPr>
          <p:nvPr>
            <p:ph type="sldNum" sz="quarter" idx="11"/>
          </p:nvPr>
        </p:nvSpPr>
        <p:spPr>
          <a:ln/>
        </p:spPr>
        <p:txBody>
          <a:bodyPr/>
          <a:lstStyle>
            <a:lvl1pPr>
              <a:defRPr/>
            </a:lvl1pPr>
          </a:lstStyle>
          <a:p>
            <a:pPr>
              <a:defRPr/>
            </a:pPr>
            <a:fld id="{796F1C04-8083-4F62-89EF-2521ECB43EDC}" type="slidenum">
              <a:rPr lang="en-US" altLang="en-US"/>
              <a:pPr>
                <a:defRPr/>
              </a:pPr>
              <a:t>‹#›</a:t>
            </a:fld>
            <a:endParaRPr lang="en-US" altLang="en-US"/>
          </a:p>
        </p:txBody>
      </p:sp>
      <p:sp>
        <p:nvSpPr>
          <p:cNvPr id="5"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5810943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7"/>
          <p:cNvSpPr>
            <a:spLocks noGrp="1" noChangeArrowheads="1"/>
          </p:cNvSpPr>
          <p:nvPr>
            <p:ph type="sldNum" sz="quarter" idx="11"/>
          </p:nvPr>
        </p:nvSpPr>
        <p:spPr>
          <a:ln/>
        </p:spPr>
        <p:txBody>
          <a:bodyPr/>
          <a:lstStyle>
            <a:lvl1pPr>
              <a:defRPr/>
            </a:lvl1pPr>
          </a:lstStyle>
          <a:p>
            <a:pPr>
              <a:defRPr/>
            </a:pPr>
            <a:fld id="{3628440D-71B4-48A1-B8AA-2A4A930E295F}" type="slidenum">
              <a:rPr lang="en-US" altLang="en-US"/>
              <a:pPr>
                <a:defRPr/>
              </a:pPr>
              <a:t>‹#›</a:t>
            </a:fld>
            <a:endParaRPr lang="en-US" altLang="en-US"/>
          </a:p>
        </p:txBody>
      </p:sp>
      <p:sp>
        <p:nvSpPr>
          <p:cNvPr id="4"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4792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7"/>
          <p:cNvSpPr>
            <a:spLocks noGrp="1" noChangeArrowheads="1"/>
          </p:cNvSpPr>
          <p:nvPr>
            <p:ph type="sldNum" sz="quarter" idx="11"/>
          </p:nvPr>
        </p:nvSpPr>
        <p:spPr>
          <a:ln/>
        </p:spPr>
        <p:txBody>
          <a:bodyPr/>
          <a:lstStyle>
            <a:lvl1pPr>
              <a:defRPr/>
            </a:lvl1pPr>
          </a:lstStyle>
          <a:p>
            <a:pPr>
              <a:defRPr/>
            </a:pPr>
            <a:fld id="{146B0C9E-CD73-480B-91B7-2340640834E6}" type="slidenum">
              <a:rPr lang="en-US" altLang="en-US"/>
              <a:pPr>
                <a:defRPr/>
              </a:pPr>
              <a:t>‹#›</a:t>
            </a:fld>
            <a:endParaRPr lang="en-US" altLang="en-US"/>
          </a:p>
        </p:txBody>
      </p:sp>
      <p:sp>
        <p:nvSpPr>
          <p:cNvPr id="7"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9170419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7"/>
          <p:cNvSpPr>
            <a:spLocks noGrp="1" noChangeArrowheads="1"/>
          </p:cNvSpPr>
          <p:nvPr>
            <p:ph type="sldNum" sz="quarter" idx="11"/>
          </p:nvPr>
        </p:nvSpPr>
        <p:spPr>
          <a:ln/>
        </p:spPr>
        <p:txBody>
          <a:bodyPr/>
          <a:lstStyle>
            <a:lvl1pPr>
              <a:defRPr/>
            </a:lvl1pPr>
          </a:lstStyle>
          <a:p>
            <a:pPr>
              <a:defRPr/>
            </a:pPr>
            <a:fld id="{E61AE376-A336-407F-B408-1BB80E189B8A}" type="slidenum">
              <a:rPr lang="en-US" altLang="en-US"/>
              <a:pPr>
                <a:defRPr/>
              </a:pPr>
              <a:t>‹#›</a:t>
            </a:fld>
            <a:endParaRPr lang="en-US" altLang="en-US"/>
          </a:p>
        </p:txBody>
      </p:sp>
      <p:sp>
        <p:nvSpPr>
          <p:cNvPr id="7"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2649340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4B6DB145-DFF4-474F-9D8C-46E311E21EDA}"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365094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E9DBE2B3-6239-4831-B5B5-F6329CF37225}"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194250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DD66BBBB-9CD4-4A02-84DD-31E464516816}"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5561220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848E82DD-DA66-4C0D-B251-067C06043FA5}"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53594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4AD3FDD2-9B1E-4908-8736-35A723E4EE82}"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747221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3"/>
          <p:cNvSpPr>
            <a:spLocks noGrp="1" noChangeArrowheads="1"/>
          </p:cNvSpPr>
          <p:nvPr>
            <p:ph type="sldNum" sz="quarter" idx="11"/>
          </p:nvPr>
        </p:nvSpPr>
        <p:spPr>
          <a:ln/>
        </p:spPr>
        <p:txBody>
          <a:bodyPr/>
          <a:lstStyle>
            <a:lvl1pPr>
              <a:defRPr/>
            </a:lvl1pPr>
          </a:lstStyle>
          <a:p>
            <a:pPr>
              <a:defRPr/>
            </a:pPr>
            <a:fld id="{86CD41E1-F0F9-47CF-94FB-5712B4BF9FD0}" type="slidenum">
              <a:rPr lang="en-US" altLang="en-US"/>
              <a:pPr>
                <a:defRPr/>
              </a:pPr>
              <a:t>‹#›</a:t>
            </a:fld>
            <a:endParaRPr lang="en-US" altLang="en-US"/>
          </a:p>
        </p:txBody>
      </p:sp>
      <p:sp>
        <p:nvSpPr>
          <p:cNvPr id="7"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0876429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3"/>
          <p:cNvSpPr>
            <a:spLocks noGrp="1" noChangeArrowheads="1"/>
          </p:cNvSpPr>
          <p:nvPr>
            <p:ph type="sldNum" sz="quarter" idx="11"/>
          </p:nvPr>
        </p:nvSpPr>
        <p:spPr>
          <a:ln/>
        </p:spPr>
        <p:txBody>
          <a:bodyPr/>
          <a:lstStyle>
            <a:lvl1pPr>
              <a:defRPr/>
            </a:lvl1pPr>
          </a:lstStyle>
          <a:p>
            <a:pPr>
              <a:defRPr/>
            </a:pPr>
            <a:fld id="{3AD5BB0E-7CF2-45BF-B01F-2509A2050AD3}" type="slidenum">
              <a:rPr lang="en-US" altLang="en-US"/>
              <a:pPr>
                <a:defRPr/>
              </a:pPr>
              <a:t>‹#›</a:t>
            </a:fld>
            <a:endParaRPr lang="en-US" altLang="en-US"/>
          </a:p>
        </p:txBody>
      </p:sp>
      <p:sp>
        <p:nvSpPr>
          <p:cNvPr id="9"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1740982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3"/>
          <p:cNvSpPr>
            <a:spLocks noGrp="1" noChangeArrowheads="1"/>
          </p:cNvSpPr>
          <p:nvPr>
            <p:ph type="sldNum" sz="quarter" idx="11"/>
          </p:nvPr>
        </p:nvSpPr>
        <p:spPr>
          <a:ln/>
        </p:spPr>
        <p:txBody>
          <a:bodyPr/>
          <a:lstStyle>
            <a:lvl1pPr>
              <a:defRPr/>
            </a:lvl1pPr>
          </a:lstStyle>
          <a:p>
            <a:pPr>
              <a:defRPr/>
            </a:pPr>
            <a:fld id="{28FCBD54-07C8-4B98-8564-BC0D22F3E073}" type="slidenum">
              <a:rPr lang="en-US" altLang="en-US"/>
              <a:pPr>
                <a:defRPr/>
              </a:pPr>
              <a:t>‹#›</a:t>
            </a:fld>
            <a:endParaRPr lang="en-US" altLang="en-US"/>
          </a:p>
        </p:txBody>
      </p:sp>
      <p:sp>
        <p:nvSpPr>
          <p:cNvPr id="5"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7047005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3"/>
          <p:cNvSpPr>
            <a:spLocks noGrp="1" noChangeArrowheads="1"/>
          </p:cNvSpPr>
          <p:nvPr>
            <p:ph type="sldNum" sz="quarter" idx="11"/>
          </p:nvPr>
        </p:nvSpPr>
        <p:spPr>
          <a:ln/>
        </p:spPr>
        <p:txBody>
          <a:bodyPr/>
          <a:lstStyle>
            <a:lvl1pPr>
              <a:defRPr/>
            </a:lvl1pPr>
          </a:lstStyle>
          <a:p>
            <a:pPr>
              <a:defRPr/>
            </a:pPr>
            <a:fld id="{F2D1D33E-507B-43F8-96F5-BDCD2808CBDB}" type="slidenum">
              <a:rPr lang="en-US" altLang="en-US"/>
              <a:pPr>
                <a:defRPr/>
              </a:pPr>
              <a:t>‹#›</a:t>
            </a:fld>
            <a:endParaRPr lang="en-US" altLang="en-US"/>
          </a:p>
        </p:txBody>
      </p:sp>
      <p:sp>
        <p:nvSpPr>
          <p:cNvPr id="4"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562542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3"/>
          <p:cNvSpPr>
            <a:spLocks noGrp="1" noChangeArrowheads="1"/>
          </p:cNvSpPr>
          <p:nvPr>
            <p:ph type="sldNum" sz="quarter" idx="11"/>
          </p:nvPr>
        </p:nvSpPr>
        <p:spPr>
          <a:ln/>
        </p:spPr>
        <p:txBody>
          <a:bodyPr/>
          <a:lstStyle>
            <a:lvl1pPr>
              <a:defRPr/>
            </a:lvl1pPr>
          </a:lstStyle>
          <a:p>
            <a:pPr>
              <a:defRPr/>
            </a:pPr>
            <a:fld id="{C32EC66B-41BC-4E6F-98AA-7F3AD673AE78}" type="slidenum">
              <a:rPr lang="en-US" altLang="en-US"/>
              <a:pPr>
                <a:defRPr/>
              </a:pPr>
              <a:t>‹#›</a:t>
            </a:fld>
            <a:endParaRPr lang="en-US" altLang="en-US"/>
          </a:p>
        </p:txBody>
      </p:sp>
      <p:sp>
        <p:nvSpPr>
          <p:cNvPr id="7"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81769644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3"/>
          <p:cNvSpPr>
            <a:spLocks noGrp="1" noChangeArrowheads="1"/>
          </p:cNvSpPr>
          <p:nvPr>
            <p:ph type="sldNum" sz="quarter" idx="11"/>
          </p:nvPr>
        </p:nvSpPr>
        <p:spPr>
          <a:ln/>
        </p:spPr>
        <p:txBody>
          <a:bodyPr/>
          <a:lstStyle>
            <a:lvl1pPr>
              <a:defRPr/>
            </a:lvl1pPr>
          </a:lstStyle>
          <a:p>
            <a:pPr>
              <a:defRPr/>
            </a:pPr>
            <a:fld id="{F860B58D-9D44-4E31-9A12-153E7FCCBB2D}" type="slidenum">
              <a:rPr lang="en-US" altLang="en-US"/>
              <a:pPr>
                <a:defRPr/>
              </a:pPr>
              <a:t>‹#›</a:t>
            </a:fld>
            <a:endParaRPr lang="en-US" altLang="en-US"/>
          </a:p>
        </p:txBody>
      </p:sp>
      <p:sp>
        <p:nvSpPr>
          <p:cNvPr id="7"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3259621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A047D58D-F2F4-442D-AFA2-7876C6361890}"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5936815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6BB6F1D7-6DF9-4D14-BF3C-9537034128D8}"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0373968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25AE6384-7356-4155-AEC3-56D3561EF0AB}"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9657073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116E700E-CE38-41D6-9EAF-5841CDAA91D4}"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6913789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CAAA09A3-E3D5-43DE-B80C-2817E1C91332}"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8352853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2"/>
          <p:cNvSpPr>
            <a:spLocks noGrp="1" noChangeArrowheads="1"/>
          </p:cNvSpPr>
          <p:nvPr>
            <p:ph type="sldNum" sz="quarter" idx="11"/>
          </p:nvPr>
        </p:nvSpPr>
        <p:spPr>
          <a:ln/>
        </p:spPr>
        <p:txBody>
          <a:bodyPr/>
          <a:lstStyle>
            <a:lvl1pPr>
              <a:defRPr/>
            </a:lvl1pPr>
          </a:lstStyle>
          <a:p>
            <a:pPr>
              <a:defRPr/>
            </a:pPr>
            <a:fld id="{AD66B65E-C1BF-478B-8CA5-3B4E3D1FE004}" type="slidenum">
              <a:rPr lang="en-US" altLang="en-US"/>
              <a:pPr>
                <a:defRPr/>
              </a:pPr>
              <a:t>‹#›</a:t>
            </a:fld>
            <a:endParaRPr lang="en-US" altLang="en-US"/>
          </a:p>
        </p:txBody>
      </p:sp>
      <p:sp>
        <p:nvSpPr>
          <p:cNvPr id="7"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4795946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2"/>
          <p:cNvSpPr>
            <a:spLocks noGrp="1" noChangeArrowheads="1"/>
          </p:cNvSpPr>
          <p:nvPr>
            <p:ph type="sldNum" sz="quarter" idx="11"/>
          </p:nvPr>
        </p:nvSpPr>
        <p:spPr>
          <a:ln/>
        </p:spPr>
        <p:txBody>
          <a:bodyPr/>
          <a:lstStyle>
            <a:lvl1pPr>
              <a:defRPr/>
            </a:lvl1pPr>
          </a:lstStyle>
          <a:p>
            <a:pPr>
              <a:defRPr/>
            </a:pPr>
            <a:fld id="{22CEC328-1180-4C75-A08F-D9D2D78508B9}" type="slidenum">
              <a:rPr lang="en-US" altLang="en-US"/>
              <a:pPr>
                <a:defRPr/>
              </a:pPr>
              <a:t>‹#›</a:t>
            </a:fld>
            <a:endParaRPr lang="en-US" altLang="en-US"/>
          </a:p>
        </p:txBody>
      </p:sp>
      <p:sp>
        <p:nvSpPr>
          <p:cNvPr id="9"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62465387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2"/>
          <p:cNvSpPr>
            <a:spLocks noGrp="1" noChangeArrowheads="1"/>
          </p:cNvSpPr>
          <p:nvPr>
            <p:ph type="sldNum" sz="quarter" idx="11"/>
          </p:nvPr>
        </p:nvSpPr>
        <p:spPr>
          <a:ln/>
        </p:spPr>
        <p:txBody>
          <a:bodyPr/>
          <a:lstStyle>
            <a:lvl1pPr>
              <a:defRPr/>
            </a:lvl1pPr>
          </a:lstStyle>
          <a:p>
            <a:pPr>
              <a:defRPr/>
            </a:pPr>
            <a:fld id="{125299AA-3D69-4909-84AD-EDC544CD6657}" type="slidenum">
              <a:rPr lang="en-US" altLang="en-US"/>
              <a:pPr>
                <a:defRPr/>
              </a:pPr>
              <a:t>‹#›</a:t>
            </a:fld>
            <a:endParaRPr lang="en-US" altLang="en-US"/>
          </a:p>
        </p:txBody>
      </p:sp>
      <p:sp>
        <p:nvSpPr>
          <p:cNvPr id="5"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994785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2"/>
          <p:cNvSpPr>
            <a:spLocks noGrp="1" noChangeArrowheads="1"/>
          </p:cNvSpPr>
          <p:nvPr>
            <p:ph type="sldNum" sz="quarter" idx="11"/>
          </p:nvPr>
        </p:nvSpPr>
        <p:spPr>
          <a:ln/>
        </p:spPr>
        <p:txBody>
          <a:bodyPr/>
          <a:lstStyle>
            <a:lvl1pPr>
              <a:defRPr/>
            </a:lvl1pPr>
          </a:lstStyle>
          <a:p>
            <a:pPr>
              <a:defRPr/>
            </a:pPr>
            <a:fld id="{8CFC3AF5-0017-4CEC-AB1B-6A0A12B49859}" type="slidenum">
              <a:rPr lang="en-US" altLang="en-US"/>
              <a:pPr>
                <a:defRPr/>
              </a:pPr>
              <a:t>‹#›</a:t>
            </a:fld>
            <a:endParaRPr lang="en-US" altLang="en-US"/>
          </a:p>
        </p:txBody>
      </p:sp>
      <p:sp>
        <p:nvSpPr>
          <p:cNvPr id="4"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7122301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2"/>
          <p:cNvSpPr>
            <a:spLocks noGrp="1" noChangeArrowheads="1"/>
          </p:cNvSpPr>
          <p:nvPr>
            <p:ph type="sldNum" sz="quarter" idx="11"/>
          </p:nvPr>
        </p:nvSpPr>
        <p:spPr>
          <a:ln/>
        </p:spPr>
        <p:txBody>
          <a:bodyPr/>
          <a:lstStyle>
            <a:lvl1pPr>
              <a:defRPr/>
            </a:lvl1pPr>
          </a:lstStyle>
          <a:p>
            <a:pPr>
              <a:defRPr/>
            </a:pPr>
            <a:fld id="{D0A05B03-D322-4884-A55B-3D8A27DA0578}" type="slidenum">
              <a:rPr lang="en-US" altLang="en-US"/>
              <a:pPr>
                <a:defRPr/>
              </a:pPr>
              <a:t>‹#›</a:t>
            </a:fld>
            <a:endParaRPr lang="en-US" altLang="en-US"/>
          </a:p>
        </p:txBody>
      </p:sp>
      <p:sp>
        <p:nvSpPr>
          <p:cNvPr id="7"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73320052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2"/>
          <p:cNvSpPr>
            <a:spLocks noGrp="1" noChangeArrowheads="1"/>
          </p:cNvSpPr>
          <p:nvPr>
            <p:ph type="sldNum" sz="quarter" idx="11"/>
          </p:nvPr>
        </p:nvSpPr>
        <p:spPr>
          <a:ln/>
        </p:spPr>
        <p:txBody>
          <a:bodyPr/>
          <a:lstStyle>
            <a:lvl1pPr>
              <a:defRPr/>
            </a:lvl1pPr>
          </a:lstStyle>
          <a:p>
            <a:pPr>
              <a:defRPr/>
            </a:pPr>
            <a:fld id="{1CD50709-4A2F-440C-8A90-05A6A0A60839}" type="slidenum">
              <a:rPr lang="en-US" altLang="en-US"/>
              <a:pPr>
                <a:defRPr/>
              </a:pPr>
              <a:t>‹#›</a:t>
            </a:fld>
            <a:endParaRPr lang="en-US" altLang="en-US"/>
          </a:p>
        </p:txBody>
      </p:sp>
      <p:sp>
        <p:nvSpPr>
          <p:cNvPr id="7"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5471446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C4CAC8CF-E168-407F-B7AC-942D61CF5C08}"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6013494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C30D44E1-24D9-4C3A-9C70-6C4AA1EAE863}"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1513719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BDFB6D2C-C1CC-46F4-9923-04762D91629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05999657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D8C789B2-8535-4931-A8AB-3AB0187D1BF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4028259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7F825A39-3063-4B2D-80BE-D2BF1B562F4A}"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439635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1BC1F51F-7361-418E-B19B-B49478CF3CA8}"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69732086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5"/>
          <p:cNvSpPr>
            <a:spLocks noGrp="1" noChangeArrowheads="1"/>
          </p:cNvSpPr>
          <p:nvPr>
            <p:ph type="sldNum" sz="quarter" idx="11"/>
          </p:nvPr>
        </p:nvSpPr>
        <p:spPr>
          <a:ln/>
        </p:spPr>
        <p:txBody>
          <a:bodyPr/>
          <a:lstStyle>
            <a:lvl1pPr>
              <a:defRPr/>
            </a:lvl1pPr>
          </a:lstStyle>
          <a:p>
            <a:pPr>
              <a:defRPr/>
            </a:pPr>
            <a:fld id="{FD1A76C0-3667-46D1-A477-0138073865BA}" type="slidenum">
              <a:rPr lang="en-US" altLang="en-US"/>
              <a:pPr>
                <a:defRPr/>
              </a:pPr>
              <a:t>‹#›</a:t>
            </a:fld>
            <a:endParaRPr lang="en-US" altLang="en-US"/>
          </a:p>
        </p:txBody>
      </p:sp>
      <p:sp>
        <p:nvSpPr>
          <p:cNvPr id="9"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7426173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5"/>
          <p:cNvSpPr>
            <a:spLocks noGrp="1" noChangeArrowheads="1"/>
          </p:cNvSpPr>
          <p:nvPr>
            <p:ph type="sldNum" sz="quarter" idx="11"/>
          </p:nvPr>
        </p:nvSpPr>
        <p:spPr>
          <a:ln/>
        </p:spPr>
        <p:txBody>
          <a:bodyPr/>
          <a:lstStyle>
            <a:lvl1pPr>
              <a:defRPr/>
            </a:lvl1pPr>
          </a:lstStyle>
          <a:p>
            <a:pPr>
              <a:defRPr/>
            </a:pPr>
            <a:fld id="{FFEE81EF-C2A8-4B25-93A2-7E2008415AA4}" type="slidenum">
              <a:rPr lang="en-US" altLang="en-US"/>
              <a:pPr>
                <a:defRPr/>
              </a:pPr>
              <a:t>‹#›</a:t>
            </a:fld>
            <a:endParaRPr lang="en-US" altLang="en-US"/>
          </a:p>
        </p:txBody>
      </p:sp>
      <p:sp>
        <p:nvSpPr>
          <p:cNvPr id="5"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9430294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5"/>
          <p:cNvSpPr>
            <a:spLocks noGrp="1" noChangeArrowheads="1"/>
          </p:cNvSpPr>
          <p:nvPr>
            <p:ph type="sldNum" sz="quarter" idx="11"/>
          </p:nvPr>
        </p:nvSpPr>
        <p:spPr>
          <a:ln/>
        </p:spPr>
        <p:txBody>
          <a:bodyPr/>
          <a:lstStyle>
            <a:lvl1pPr>
              <a:defRPr/>
            </a:lvl1pPr>
          </a:lstStyle>
          <a:p>
            <a:pPr>
              <a:defRPr/>
            </a:pPr>
            <a:fld id="{571CA3A7-5960-484A-B371-95B261D5C327}" type="slidenum">
              <a:rPr lang="en-US" altLang="en-US"/>
              <a:pPr>
                <a:defRPr/>
              </a:pPr>
              <a:t>‹#›</a:t>
            </a:fld>
            <a:endParaRPr lang="en-US" altLang="en-US"/>
          </a:p>
        </p:txBody>
      </p:sp>
      <p:sp>
        <p:nvSpPr>
          <p:cNvPr id="4"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3129548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8DA4DA74-AAE1-40B0-90C3-273D1DD3D05C}"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2315826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A387A65D-E40F-423C-B022-33542D947C29}"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28833958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8CC54853-07A5-4506-A75B-0AAC48203051}"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6603523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FA653E93-7DF4-4373-929A-40EF8EC3478B}"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2718122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24941772-8D82-404B-9371-D9640828CCDB}"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6695313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668B2539-1108-4A0F-B33F-C317DD07B514}"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9289060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0D7ACC9C-3570-4175-BE2C-25B05C0DE6A3}"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57870805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02CADFDD-A964-49A7-96DC-8B1211A35A8A}"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8091629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5"/>
          <p:cNvSpPr>
            <a:spLocks noGrp="1" noChangeArrowheads="1"/>
          </p:cNvSpPr>
          <p:nvPr>
            <p:ph type="sldNum" sz="quarter" idx="11"/>
          </p:nvPr>
        </p:nvSpPr>
        <p:spPr>
          <a:ln/>
        </p:spPr>
        <p:txBody>
          <a:bodyPr/>
          <a:lstStyle>
            <a:lvl1pPr>
              <a:defRPr/>
            </a:lvl1pPr>
          </a:lstStyle>
          <a:p>
            <a:pPr>
              <a:defRPr/>
            </a:pPr>
            <a:fld id="{25067C78-5618-44FD-80BB-F879BF0B22A2}" type="slidenum">
              <a:rPr lang="en-US" altLang="en-US"/>
              <a:pPr>
                <a:defRPr/>
              </a:pPr>
              <a:t>‹#›</a:t>
            </a:fld>
            <a:endParaRPr lang="en-US" altLang="en-US"/>
          </a:p>
        </p:txBody>
      </p:sp>
      <p:sp>
        <p:nvSpPr>
          <p:cNvPr id="9"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5369294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5"/>
          <p:cNvSpPr>
            <a:spLocks noGrp="1" noChangeArrowheads="1"/>
          </p:cNvSpPr>
          <p:nvPr>
            <p:ph type="sldNum" sz="quarter" idx="11"/>
          </p:nvPr>
        </p:nvSpPr>
        <p:spPr>
          <a:ln/>
        </p:spPr>
        <p:txBody>
          <a:bodyPr/>
          <a:lstStyle>
            <a:lvl1pPr>
              <a:defRPr/>
            </a:lvl1pPr>
          </a:lstStyle>
          <a:p>
            <a:pPr>
              <a:defRPr/>
            </a:pPr>
            <a:fld id="{7346613E-509A-4EA9-9808-5B57B9244EC4}" type="slidenum">
              <a:rPr lang="en-US" altLang="en-US"/>
              <a:pPr>
                <a:defRPr/>
              </a:pPr>
              <a:t>‹#›</a:t>
            </a:fld>
            <a:endParaRPr lang="en-US" altLang="en-US"/>
          </a:p>
        </p:txBody>
      </p:sp>
      <p:sp>
        <p:nvSpPr>
          <p:cNvPr id="5"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4673123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5"/>
          <p:cNvSpPr>
            <a:spLocks noGrp="1" noChangeArrowheads="1"/>
          </p:cNvSpPr>
          <p:nvPr>
            <p:ph type="sldNum" sz="quarter" idx="11"/>
          </p:nvPr>
        </p:nvSpPr>
        <p:spPr>
          <a:ln/>
        </p:spPr>
        <p:txBody>
          <a:bodyPr/>
          <a:lstStyle>
            <a:lvl1pPr>
              <a:defRPr/>
            </a:lvl1pPr>
          </a:lstStyle>
          <a:p>
            <a:pPr>
              <a:defRPr/>
            </a:pPr>
            <a:fld id="{00BEC586-0982-4FAC-BA0C-BDD079535880}" type="slidenum">
              <a:rPr lang="en-US" altLang="en-US"/>
              <a:pPr>
                <a:defRPr/>
              </a:pPr>
              <a:t>‹#›</a:t>
            </a:fld>
            <a:endParaRPr lang="en-US" altLang="en-US"/>
          </a:p>
        </p:txBody>
      </p:sp>
      <p:sp>
        <p:nvSpPr>
          <p:cNvPr id="4"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57634001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C64EB8B1-EDE2-4501-B8F6-C5790BC92D54}"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48440064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579DD588-F37B-4821-8157-AABD8886C75C}"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2956671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30FE8753-5ECF-40A9-9042-2CCDFBBAC69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4396906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E82B245B-6ECA-4C0C-984C-1604DD00A362}"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90482344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B022D1AD-F44C-43EE-B943-88120ABD0BC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97042826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D614D8B5-A87E-4D86-9683-66D6AD7FD2AF}"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8456217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2D7BA20D-AF83-4D4F-AB18-9228F7A6DC15}"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8860048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375CBC6F-450A-49D5-B54D-A537D2DB30ED}"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4342224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F9AB5460-05DC-4CF7-AE29-94AA49FFD818}"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0137357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1C789927-64D9-4D48-A995-5925A89B22DC}"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1325072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6356D945-19C4-440D-B9FE-EFC867DCDE31}"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6738613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23437BB6-C493-4796-914C-507EC820CBAF}"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3012878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84BF7E57-4067-4A24-BA5F-86A4248300BD}"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6547527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1BE3FB7C-9066-4C22-9222-534A8F5FDF6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0224709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501E643A-5D32-43E3-B0A9-673CFA901A09}"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1737483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A17E3908-127A-4778-9F5A-C4D252F0E93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4552118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3F9E37A8-5627-4635-BC67-597A743F8FFE}"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6317460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1513C53B-0596-4671-A687-5F60BA8DEED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2407618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85CFD44F-DE07-4A54-A051-4F80167C0079}"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1454427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75202EA6-07FF-4A4F-94BE-6257B9399811}"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7562641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03B4505E-1620-49C6-94D9-A0A60FDE39E7}"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8415902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40B840CE-ECC8-40F2-9DD1-E840F2F0415E}"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05028865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104A06F8-E996-41DB-8E0E-5F6719CA0053}"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0778712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74080C96-D592-4B59-9F9C-6FD98B7CB074}"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0103339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CDE40936-8C14-4638-B2ED-EE5C6EADA7A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9741884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E8913691-8238-43D4-A449-5430EF4AA440}"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111081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029"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BA1EDF82-E643-468E-A63F-24FB4B01481D}" type="slidenum">
              <a:rPr lang="en-US" altLang="en-US"/>
              <a:pPr>
                <a:defRPr/>
              </a:pPr>
              <a:t>‹#›</a:t>
            </a:fld>
            <a:endParaRPr lang="en-US" altLang="en-US"/>
          </a:p>
        </p:txBody>
      </p:sp>
      <p:sp>
        <p:nvSpPr>
          <p:cNvPr id="1030" name="Rectangle 7"/>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b="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2"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2053"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01CF4C48-5A59-4222-8EF1-E39FEDFDF640}" type="slidenum">
              <a:rPr lang="en-US" altLang="en-US"/>
              <a:pPr>
                <a:defRPr/>
              </a:pPr>
              <a:t>‹#›</a:t>
            </a:fld>
            <a:endParaRPr lang="en-US" altLang="en-US"/>
          </a:p>
        </p:txBody>
      </p:sp>
      <p:sp>
        <p:nvSpPr>
          <p:cNvPr id="2054"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3075"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6"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3077"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57C30F5C-EEEE-4875-8747-91BC06EDA252}" type="slidenum">
              <a:rPr lang="en-US" altLang="en-US"/>
              <a:pPr>
                <a:defRPr/>
              </a:pPr>
              <a:t>‹#›</a:t>
            </a:fld>
            <a:endParaRPr lang="en-US" altLang="en-US"/>
          </a:p>
        </p:txBody>
      </p:sp>
      <p:sp>
        <p:nvSpPr>
          <p:cNvPr id="3078"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4099"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4101"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03158BFB-CF9E-415D-BE1F-20AAFE51ACFE}" type="slidenum">
              <a:rPr lang="en-US" altLang="en-US"/>
              <a:pPr>
                <a:defRPr/>
              </a:pPr>
              <a:t>‹#›</a:t>
            </a:fld>
            <a:endParaRPr lang="en-US" altLang="en-US"/>
          </a:p>
        </p:txBody>
      </p:sp>
      <p:sp>
        <p:nvSpPr>
          <p:cNvPr id="4102"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00" r:id="rId1"/>
    <p:sldLayoutId id="2147484101" r:id="rId2"/>
    <p:sldLayoutId id="2147484102" r:id="rId3"/>
    <p:sldLayoutId id="2147484103" r:id="rId4"/>
    <p:sldLayoutId id="2147484104" r:id="rId5"/>
    <p:sldLayoutId id="2147484105" r:id="rId6"/>
    <p:sldLayoutId id="2147484106" r:id="rId7"/>
    <p:sldLayoutId id="2147484107" r:id="rId8"/>
    <p:sldLayoutId id="2147484108" r:id="rId9"/>
    <p:sldLayoutId id="2147484109" r:id="rId10"/>
    <p:sldLayoutId id="2147484110"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5123"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4" name="Date Placeholder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5125" name="Slide Number Placeholder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BFC029CD-02C7-4AA6-B32D-4488CA413E85}" type="slidenum">
              <a:rPr lang="en-US" altLang="en-US"/>
              <a:pPr>
                <a:defRPr/>
              </a:pPr>
              <a:t>‹#›</a:t>
            </a:fld>
            <a:endParaRPr lang="en-US" altLang="en-US"/>
          </a:p>
        </p:txBody>
      </p:sp>
      <p:sp>
        <p:nvSpPr>
          <p:cNvPr id="5126" name="Footer Placeholder 6"/>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614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148" name="Date Placeholder 6"/>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6149" name="Slide Number Placeholder 7"/>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883EBEBC-EFFB-4463-84CC-23C547C30AE8}" type="slidenum">
              <a:rPr lang="en-US" altLang="en-US"/>
              <a:pPr>
                <a:defRPr/>
              </a:pPr>
              <a:t>‹#›</a:t>
            </a:fld>
            <a:endParaRPr lang="en-US" altLang="en-US"/>
          </a:p>
        </p:txBody>
      </p:sp>
      <p:sp>
        <p:nvSpPr>
          <p:cNvPr id="6150" name="Footer Placeholder 8"/>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22" r:id="rId1"/>
    <p:sldLayoutId id="2147484123" r:id="rId2"/>
    <p:sldLayoutId id="2147484124" r:id="rId3"/>
    <p:sldLayoutId id="2147484125" r:id="rId4"/>
    <p:sldLayoutId id="2147484126" r:id="rId5"/>
    <p:sldLayoutId id="2147484127" r:id="rId6"/>
    <p:sldLayoutId id="2147484128" r:id="rId7"/>
    <p:sldLayoutId id="2147484129" r:id="rId8"/>
    <p:sldLayoutId id="2147484130" r:id="rId9"/>
    <p:sldLayoutId id="2147484131" r:id="rId10"/>
    <p:sldLayoutId id="2147484132"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717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2" name="Date Placeholder 2"/>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7173" name="Slide Number Placeholder 3"/>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21623472-6604-46A2-87E9-1C433E4C05C4}" type="slidenum">
              <a:rPr lang="en-US" altLang="en-US"/>
              <a:pPr>
                <a:defRPr/>
              </a:pPr>
              <a:t>‹#›</a:t>
            </a:fld>
            <a:endParaRPr lang="en-US" altLang="en-US"/>
          </a:p>
        </p:txBody>
      </p:sp>
      <p:sp>
        <p:nvSpPr>
          <p:cNvPr id="7174" name="Footer Placeholder 4"/>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8195"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196" name="Date Placeholder 1"/>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8197" name="Slide Number Placeholder 2"/>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2ABF8081-4AED-4AB7-B706-3D2845F801CA}" type="slidenum">
              <a:rPr lang="en-US" altLang="en-US"/>
              <a:pPr>
                <a:defRPr/>
              </a:pPr>
              <a:t>‹#›</a:t>
            </a:fld>
            <a:endParaRPr lang="en-US" altLang="en-US"/>
          </a:p>
        </p:txBody>
      </p:sp>
      <p:sp>
        <p:nvSpPr>
          <p:cNvPr id="8198" name="Footer Placeholder 3"/>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44" r:id="rId1"/>
    <p:sldLayoutId id="2147484145" r:id="rId2"/>
    <p:sldLayoutId id="2147484146" r:id="rId3"/>
    <p:sldLayoutId id="2147484147" r:id="rId4"/>
    <p:sldLayoutId id="2147484148" r:id="rId5"/>
    <p:sldLayoutId id="2147484149" r:id="rId6"/>
    <p:sldLayoutId id="2147484150" r:id="rId7"/>
    <p:sldLayoutId id="2147484151" r:id="rId8"/>
    <p:sldLayoutId id="2147484152" r:id="rId9"/>
    <p:sldLayoutId id="2147484153" r:id="rId10"/>
    <p:sldLayoutId id="2147484154"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9219"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220" name="Date Placeholder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9221" name="Slide Number Placeholder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619D895B-E38E-43EA-8B0D-8FF383CF324E}" type="slidenum">
              <a:rPr lang="en-US" altLang="en-US"/>
              <a:pPr>
                <a:defRPr/>
              </a:pPr>
              <a:t>‹#›</a:t>
            </a:fld>
            <a:endParaRPr lang="en-US" altLang="en-US"/>
          </a:p>
        </p:txBody>
      </p:sp>
      <p:sp>
        <p:nvSpPr>
          <p:cNvPr id="9222" name="Footer Placeholder 6"/>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43"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44" name="Date Placeholder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0245" name="Slide Number Placeholder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089499C4-01F8-4E0F-9A25-906300722027}" type="slidenum">
              <a:rPr lang="en-US" altLang="en-US"/>
              <a:pPr>
                <a:defRPr/>
              </a:pPr>
              <a:t>‹#›</a:t>
            </a:fld>
            <a:endParaRPr lang="en-US" altLang="en-US"/>
          </a:p>
        </p:txBody>
      </p:sp>
      <p:sp>
        <p:nvSpPr>
          <p:cNvPr id="10246" name="Footer Placeholder 6"/>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66" r:id="rId1"/>
    <p:sldLayoutId id="2147484167" r:id="rId2"/>
    <p:sldLayoutId id="2147484168" r:id="rId3"/>
    <p:sldLayoutId id="2147484169" r:id="rId4"/>
    <p:sldLayoutId id="2147484170" r:id="rId5"/>
    <p:sldLayoutId id="2147484171" r:id="rId6"/>
    <p:sldLayoutId id="2147484172" r:id="rId7"/>
    <p:sldLayoutId id="2147484173" r:id="rId8"/>
    <p:sldLayoutId id="2147484174" r:id="rId9"/>
    <p:sldLayoutId id="2147484175" r:id="rId10"/>
    <p:sldLayoutId id="2147484176"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126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268"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1269"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8CFCF6E3-9898-4460-8DE8-58A5E694AB08}" type="slidenum">
              <a:rPr lang="en-US" altLang="en-US"/>
              <a:pPr>
                <a:defRPr/>
              </a:pPr>
              <a:t>‹#›</a:t>
            </a:fld>
            <a:endParaRPr lang="en-US" altLang="en-US"/>
          </a:p>
        </p:txBody>
      </p:sp>
      <p:sp>
        <p:nvSpPr>
          <p:cNvPr id="11270"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229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2292"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2293"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F804A79C-3B67-4512-A4B8-EAA275E02982}" type="slidenum">
              <a:rPr lang="en-US" altLang="en-US"/>
              <a:pPr>
                <a:defRPr/>
              </a:pPr>
              <a:t>‹#›</a:t>
            </a:fld>
            <a:endParaRPr lang="en-US" altLang="en-US"/>
          </a:p>
        </p:txBody>
      </p:sp>
      <p:sp>
        <p:nvSpPr>
          <p:cNvPr id="12294"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88" r:id="rId1"/>
    <p:sldLayoutId id="2147484189" r:id="rId2"/>
    <p:sldLayoutId id="2147484190" r:id="rId3"/>
    <p:sldLayoutId id="2147484191" r:id="rId4"/>
    <p:sldLayoutId id="2147484192" r:id="rId5"/>
    <p:sldLayoutId id="2147484193" r:id="rId6"/>
    <p:sldLayoutId id="2147484194" r:id="rId7"/>
    <p:sldLayoutId id="2147484195" r:id="rId8"/>
    <p:sldLayoutId id="2147484196" r:id="rId9"/>
    <p:sldLayoutId id="2147484197" r:id="rId10"/>
    <p:sldLayoutId id="2147484198"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92163" name="WordArt 2"/>
          <p:cNvSpPr>
            <a:spLocks noChangeArrowheads="1" noChangeShapeType="1" noTextEdit="1"/>
          </p:cNvSpPr>
          <p:nvPr/>
        </p:nvSpPr>
        <p:spPr bwMode="auto">
          <a:xfrm>
            <a:off x="1219200" y="2286000"/>
            <a:ext cx="6248400" cy="1828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What is static?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bwMode="auto">
      <p:bgPr>
        <a:gradFill rotWithShape="0">
          <a:gsLst>
            <a:gs pos="0">
              <a:srgbClr val="8AF3C7"/>
            </a:gs>
            <a:gs pos="50000">
              <a:srgbClr val="B9F5DB"/>
            </a:gs>
            <a:gs pos="100000">
              <a:srgbClr val="DDFAED"/>
            </a:gs>
          </a:gsLst>
          <a:lin ang="5400000"/>
        </a:gradFill>
        <a:effectLst/>
      </p:bgPr>
    </p:bg>
    <p:spTree>
      <p:nvGrpSpPr>
        <p:cNvPr id="1" name=""/>
        <p:cNvGrpSpPr/>
        <p:nvPr/>
      </p:nvGrpSpPr>
      <p:grpSpPr>
        <a:xfrm>
          <a:off x="0" y="0"/>
          <a:ext cx="0" cy="0"/>
          <a:chOff x="0" y="0"/>
          <a:chExt cx="0" cy="0"/>
        </a:xfrm>
      </p:grpSpPr>
      <p:sp>
        <p:nvSpPr>
          <p:cNvPr id="9318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93187" name="Text Box 2"/>
          <p:cNvSpPr txBox="1">
            <a:spLocks noChangeArrowheads="1"/>
          </p:cNvSpPr>
          <p:nvPr/>
        </p:nvSpPr>
        <p:spPr bwMode="auto">
          <a:xfrm>
            <a:off x="533506" y="1416392"/>
            <a:ext cx="7815293"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Static is a reserved word use to designate</a:t>
            </a:r>
          </a:p>
          <a:p>
            <a:pPr>
              <a:spcBef>
                <a:spcPct val="0"/>
              </a:spcBef>
              <a:buFontTx/>
              <a:buNone/>
            </a:pPr>
            <a:r>
              <a:rPr lang="en-US" altLang="en-US" sz="2800" dirty="0">
                <a:latin typeface="Arial" panose="020B0604020202020204" pitchFamily="34" charset="0"/>
              </a:rPr>
              <a:t>something that exists as part of a class, </a:t>
            </a:r>
          </a:p>
          <a:p>
            <a:pPr>
              <a:spcBef>
                <a:spcPct val="0"/>
              </a:spcBef>
              <a:buFontTx/>
              <a:buNone/>
            </a:pPr>
            <a:r>
              <a:rPr lang="en-US" altLang="en-US" sz="2800" dirty="0">
                <a:latin typeface="Arial" panose="020B0604020202020204" pitchFamily="34" charset="0"/>
              </a:rPr>
              <a:t>but not part of a specific object.</a:t>
            </a:r>
          </a:p>
          <a:p>
            <a:pPr>
              <a:spcBef>
                <a:spcPct val="0"/>
              </a:spcBef>
              <a:buFontTx/>
              <a:buNone/>
            </a:pPr>
            <a:endParaRPr lang="en-US" altLang="en-US" sz="2800" dirty="0">
              <a:latin typeface="Arial" panose="020B0604020202020204" pitchFamily="34" charset="0"/>
            </a:endParaRPr>
          </a:p>
          <a:p>
            <a:pPr>
              <a:spcBef>
                <a:spcPct val="0"/>
              </a:spcBef>
              <a:buFontTx/>
              <a:buNone/>
            </a:pPr>
            <a:r>
              <a:rPr lang="en-US" altLang="en-US" sz="2800" dirty="0">
                <a:latin typeface="Arial" panose="020B0604020202020204" pitchFamily="34" charset="0"/>
              </a:rPr>
              <a:t>Static means one!   </a:t>
            </a:r>
          </a:p>
          <a:p>
            <a:pPr>
              <a:spcBef>
                <a:spcPct val="0"/>
              </a:spcBef>
              <a:buFontTx/>
              <a:buNone/>
            </a:pPr>
            <a:endParaRPr lang="en-US" altLang="en-US" sz="2800" dirty="0">
              <a:latin typeface="Arial" panose="020B0604020202020204" pitchFamily="34" charset="0"/>
            </a:endParaRPr>
          </a:p>
          <a:p>
            <a:pPr>
              <a:spcBef>
                <a:spcPct val="0"/>
              </a:spcBef>
              <a:buFontTx/>
              <a:buNone/>
            </a:pPr>
            <a:r>
              <a:rPr lang="en-US" altLang="en-US" sz="2800" dirty="0">
                <a:latin typeface="Arial" panose="020B0604020202020204" pitchFamily="34" charset="0"/>
              </a:rPr>
              <a:t>All Objects will share the same </a:t>
            </a:r>
            <a:br>
              <a:rPr lang="en-US" altLang="en-US" sz="2800" dirty="0">
                <a:latin typeface="Arial" panose="020B0604020202020204" pitchFamily="34" charset="0"/>
              </a:rPr>
            </a:br>
            <a:r>
              <a:rPr lang="en-US" altLang="en-US" sz="2800" dirty="0">
                <a:latin typeface="Arial" panose="020B0604020202020204" pitchFamily="34" charset="0"/>
              </a:rPr>
              <a:t>static variables and methods.</a:t>
            </a:r>
          </a:p>
          <a:p>
            <a:pPr>
              <a:spcBef>
                <a:spcPct val="0"/>
              </a:spcBef>
              <a:buFontTx/>
              <a:buNone/>
            </a:pPr>
            <a:endParaRPr lang="en-US" altLang="en-US" sz="2800" dirty="0">
              <a:latin typeface="Arial" panose="020B0604020202020204" pitchFamily="34" charset="0"/>
            </a:endParaRPr>
          </a:p>
          <a:p>
            <a:pPr>
              <a:spcBef>
                <a:spcPct val="0"/>
              </a:spcBef>
              <a:buFontTx/>
              <a:buNone/>
            </a:pPr>
            <a:r>
              <a:rPr lang="en-US" altLang="en-US" sz="2800" dirty="0">
                <a:solidFill>
                  <a:srgbClr val="FF0000"/>
                </a:solidFill>
                <a:latin typeface="Arial" panose="020B0604020202020204" pitchFamily="34" charset="0"/>
              </a:rPr>
              <a:t>Run “</a:t>
            </a:r>
            <a:r>
              <a:rPr lang="en-US" altLang="en-US" sz="2800" dirty="0" err="1">
                <a:solidFill>
                  <a:srgbClr val="FF0000"/>
                </a:solidFill>
                <a:latin typeface="Arial" panose="020B0604020202020204" pitchFamily="34" charset="0"/>
              </a:rPr>
              <a:t>StaticDraw</a:t>
            </a:r>
            <a:r>
              <a:rPr lang="en-US" altLang="en-US" sz="2800" dirty="0">
                <a:solidFill>
                  <a:srgbClr val="FF0000"/>
                </a:solidFill>
                <a:latin typeface="Arial" panose="020B0604020202020204" pitchFamily="34" charset="0"/>
              </a:rPr>
              <a:t>” and see</a:t>
            </a:r>
          </a:p>
          <a:p>
            <a:pPr>
              <a:spcBef>
                <a:spcPct val="0"/>
              </a:spcBef>
              <a:buFontTx/>
              <a:buNone/>
            </a:pPr>
            <a:r>
              <a:rPr lang="en-US" altLang="en-US" sz="2800" dirty="0">
                <a:solidFill>
                  <a:srgbClr val="FF0000"/>
                </a:solidFill>
                <a:latin typeface="Arial" panose="020B0604020202020204" pitchFamily="34" charset="0"/>
              </a:rPr>
              <a:t>the difference static makes!!!</a:t>
            </a:r>
            <a:endParaRPr lang="en-US" altLang="en-US" sz="2800" dirty="0">
              <a:latin typeface="Arial" panose="020B0604020202020204" pitchFamily="34" charset="0"/>
            </a:endParaRPr>
          </a:p>
        </p:txBody>
      </p:sp>
      <p:sp>
        <p:nvSpPr>
          <p:cNvPr id="93188" name="WordArt 3"/>
          <p:cNvSpPr>
            <a:spLocks noChangeArrowheads="1" noChangeShapeType="1" noTextEdit="1"/>
          </p:cNvSpPr>
          <p:nvPr/>
        </p:nvSpPr>
        <p:spPr bwMode="auto">
          <a:xfrm>
            <a:off x="2286000" y="228684"/>
            <a:ext cx="39624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static</a:t>
            </a:r>
          </a:p>
        </p:txBody>
      </p:sp>
      <p:sp>
        <p:nvSpPr>
          <p:cNvPr id="2" name="WordArt 4">
            <a:extLst>
              <a:ext uri="{FF2B5EF4-FFF2-40B4-BE49-F238E27FC236}">
                <a16:creationId xmlns:a16="http://schemas.microsoft.com/office/drawing/2014/main" id="{F01C085C-C168-A37E-CB1F-555CD1232F7B}"/>
              </a:ext>
            </a:extLst>
          </p:cNvPr>
          <p:cNvSpPr>
            <a:spLocks noChangeArrowheads="1" noChangeShapeType="1" noTextEdit="1"/>
          </p:cNvSpPr>
          <p:nvPr/>
        </p:nvSpPr>
        <p:spPr bwMode="auto">
          <a:xfrm>
            <a:off x="7010294" y="3733792"/>
            <a:ext cx="1600200" cy="230505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8998"/>
                    </a:srgbClr>
                  </a:outerShdw>
                </a:effectLst>
                <a:latin typeface="Arial Black" panose="020B0A04020102020204" pitchFamily="34" charset="0"/>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bwMode="auto">
      <p:bgPr>
        <a:gradFill rotWithShape="0">
          <a:gsLst>
            <a:gs pos="0">
              <a:srgbClr val="8AF3C7"/>
            </a:gs>
            <a:gs pos="50000">
              <a:srgbClr val="B9F5DB"/>
            </a:gs>
            <a:gs pos="100000">
              <a:srgbClr val="DDFAED"/>
            </a:gs>
          </a:gsLst>
          <a:lin ang="5400000"/>
        </a:gradFill>
        <a:effectLst/>
      </p:bgPr>
    </p:bg>
    <p:spTree>
      <p:nvGrpSpPr>
        <p:cNvPr id="1" name=""/>
        <p:cNvGrpSpPr/>
        <p:nvPr/>
      </p:nvGrpSpPr>
      <p:grpSpPr>
        <a:xfrm>
          <a:off x="0" y="0"/>
          <a:ext cx="0" cy="0"/>
          <a:chOff x="0" y="0"/>
          <a:chExt cx="0" cy="0"/>
        </a:xfrm>
      </p:grpSpPr>
      <p:sp>
        <p:nvSpPr>
          <p:cNvPr id="9318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93187" name="Text Box 2"/>
          <p:cNvSpPr txBox="1">
            <a:spLocks noChangeArrowheads="1"/>
          </p:cNvSpPr>
          <p:nvPr/>
        </p:nvSpPr>
        <p:spPr bwMode="auto">
          <a:xfrm>
            <a:off x="762100" y="2286030"/>
            <a:ext cx="8063591"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dirty="0">
                <a:latin typeface="Arial" panose="020B0604020202020204" pitchFamily="34" charset="0"/>
              </a:rPr>
              <a:t>Static variables and methods exist even if no object of that class has been instantiated.</a:t>
            </a:r>
          </a:p>
          <a:p>
            <a:pPr>
              <a:spcBef>
                <a:spcPct val="0"/>
              </a:spcBef>
              <a:buFontTx/>
              <a:buNone/>
            </a:pPr>
            <a:endParaRPr lang="en-US" altLang="en-US" sz="3600" dirty="0">
              <a:latin typeface="Arial" panose="020B0604020202020204" pitchFamily="34" charset="0"/>
            </a:endParaRPr>
          </a:p>
        </p:txBody>
      </p:sp>
      <p:sp>
        <p:nvSpPr>
          <p:cNvPr id="93188" name="WordArt 3"/>
          <p:cNvSpPr>
            <a:spLocks noChangeArrowheads="1" noChangeShapeType="1" noTextEdit="1"/>
          </p:cNvSpPr>
          <p:nvPr/>
        </p:nvSpPr>
        <p:spPr bwMode="auto">
          <a:xfrm>
            <a:off x="2286000" y="457200"/>
            <a:ext cx="39624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static</a:t>
            </a:r>
          </a:p>
        </p:txBody>
      </p:sp>
    </p:spTree>
    <p:extLst>
      <p:ext uri="{BB962C8B-B14F-4D97-AF65-F5344CB8AC3E}">
        <p14:creationId xmlns:p14="http://schemas.microsoft.com/office/powerpoint/2010/main" val="641059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95235" name="Rectangle 2"/>
          <p:cNvSpPr>
            <a:spLocks noChangeArrowheads="1"/>
          </p:cNvSpPr>
          <p:nvPr/>
        </p:nvSpPr>
        <p:spPr bwMode="auto">
          <a:xfrm>
            <a:off x="304800" y="344488"/>
            <a:ext cx="6827838" cy="600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class Monster</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private String </a:t>
            </a:r>
            <a:r>
              <a:rPr lang="en-US" altLang="en-US" sz="2400" dirty="0" err="1">
                <a:latin typeface="Arial" panose="020B0604020202020204" pitchFamily="34" charset="0"/>
              </a:rPr>
              <a:t>myName</a:t>
            </a:r>
            <a:r>
              <a:rPr lang="en-US" altLang="en-US" sz="2400" dirty="0">
                <a:latin typeface="Arial" panose="020B0604020202020204" pitchFamily="34" charset="0"/>
              </a:rPr>
              <a:t>;</a:t>
            </a:r>
          </a:p>
          <a:p>
            <a:pPr>
              <a:spcBef>
                <a:spcPct val="0"/>
              </a:spcBef>
              <a:buFontTx/>
              <a:buNone/>
            </a:pPr>
            <a:r>
              <a:rPr lang="en-US" altLang="en-US" sz="2400" dirty="0">
                <a:solidFill>
                  <a:srgbClr val="7030A0"/>
                </a:solidFill>
                <a:latin typeface="Arial" panose="020B0604020202020204" pitchFamily="34" charset="0"/>
              </a:rPr>
              <a:t>   private static int count = 0;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Arial" panose="020B0604020202020204" pitchFamily="34" charset="0"/>
              </a:rPr>
              <a:t>   public Monster()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myName</a:t>
            </a:r>
            <a:r>
              <a:rPr lang="en-US" altLang="en-US" sz="2400" dirty="0">
                <a:latin typeface="Arial" panose="020B0604020202020204" pitchFamily="34" charset="0"/>
              </a:rPr>
              <a:t> ="";</a:t>
            </a:r>
          </a:p>
          <a:p>
            <a:pPr>
              <a:spcBef>
                <a:spcPct val="0"/>
              </a:spcBef>
              <a:buFontTx/>
              <a:buNone/>
            </a:pPr>
            <a:r>
              <a:rPr lang="en-US" altLang="en-US" sz="2400" dirty="0">
                <a:solidFill>
                  <a:srgbClr val="7030A0"/>
                </a:solidFill>
                <a:latin typeface="Arial" panose="020B0604020202020204" pitchFamily="34" charset="0"/>
              </a:rPr>
              <a:t>     count++;</a:t>
            </a:r>
          </a:p>
          <a:p>
            <a:pPr>
              <a:spcBef>
                <a:spcPct val="0"/>
              </a:spcBef>
              <a:buFontTx/>
              <a:buNone/>
            </a:pP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public Monster( String name )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myName</a:t>
            </a:r>
            <a:r>
              <a:rPr lang="en-US" altLang="en-US" sz="2400" dirty="0">
                <a:latin typeface="Arial" panose="020B0604020202020204" pitchFamily="34" charset="0"/>
              </a:rPr>
              <a:t> = name;</a:t>
            </a:r>
          </a:p>
          <a:p>
            <a:pPr>
              <a:spcBef>
                <a:spcPct val="0"/>
              </a:spcBef>
              <a:buFontTx/>
              <a:buNone/>
            </a:pPr>
            <a:r>
              <a:rPr lang="en-US" altLang="en-US" sz="2400" dirty="0">
                <a:solidFill>
                  <a:srgbClr val="7030A0"/>
                </a:solidFill>
                <a:latin typeface="Arial" panose="020B0604020202020204" pitchFamily="34" charset="0"/>
              </a:rPr>
              <a:t>     count++;</a:t>
            </a:r>
          </a:p>
          <a:p>
            <a:pPr>
              <a:spcBef>
                <a:spcPct val="0"/>
              </a:spcBef>
              <a:buFontTx/>
              <a:buNone/>
            </a:pPr>
            <a:r>
              <a:rPr lang="en-US" altLang="en-US" sz="2400" dirty="0">
                <a:latin typeface="Arial" panose="020B0604020202020204" pitchFamily="34" charset="0"/>
              </a:rPr>
              <a: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solidFill>
                  <a:srgbClr val="7030A0"/>
                </a:solidFill>
                <a:latin typeface="Arial" panose="020B0604020202020204" pitchFamily="34" charset="0"/>
              </a:rPr>
              <a:t>   public static int </a:t>
            </a:r>
            <a:r>
              <a:rPr lang="en-US" altLang="en-US" sz="2400" dirty="0" err="1">
                <a:solidFill>
                  <a:srgbClr val="7030A0"/>
                </a:solidFill>
                <a:latin typeface="Arial" panose="020B0604020202020204" pitchFamily="34" charset="0"/>
              </a:rPr>
              <a:t>getCount</a:t>
            </a:r>
            <a:r>
              <a:rPr lang="en-US" altLang="en-US" sz="2400" dirty="0">
                <a:solidFill>
                  <a:srgbClr val="7030A0"/>
                </a:solidFill>
                <a:latin typeface="Arial" panose="020B0604020202020204" pitchFamily="34" charset="0"/>
              </a:rPr>
              <a:t>() {  return count; }</a:t>
            </a:r>
          </a:p>
          <a:p>
            <a:pPr>
              <a:spcBef>
                <a:spcPct val="0"/>
              </a:spcBef>
              <a:buFontTx/>
              <a:buNone/>
            </a:pPr>
            <a:r>
              <a:rPr lang="en-US" altLang="en-US" sz="2400" dirty="0">
                <a:latin typeface="Arial" panose="020B0604020202020204" pitchFamily="34" charset="0"/>
              </a:rPr>
              <a:t>}</a:t>
            </a:r>
          </a:p>
        </p:txBody>
      </p:sp>
      <p:sp>
        <p:nvSpPr>
          <p:cNvPr id="95236" name="WordArt 3"/>
          <p:cNvSpPr>
            <a:spLocks noChangeArrowheads="1" noChangeShapeType="1" noTextEdit="1"/>
          </p:cNvSpPr>
          <p:nvPr/>
        </p:nvSpPr>
        <p:spPr bwMode="auto">
          <a:xfrm>
            <a:off x="4419600" y="533400"/>
            <a:ext cx="39624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static</a:t>
            </a:r>
          </a:p>
        </p:txBody>
      </p:sp>
      <p:sp>
        <p:nvSpPr>
          <p:cNvPr id="95237" name="Text Box 4"/>
          <p:cNvSpPr txBox="1">
            <a:spLocks noChangeArrowheads="1"/>
          </p:cNvSpPr>
          <p:nvPr/>
        </p:nvSpPr>
        <p:spPr bwMode="auto">
          <a:xfrm>
            <a:off x="5105400" y="2133600"/>
            <a:ext cx="3124200" cy="409575"/>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solidFill>
                  <a:srgbClr val="000099"/>
                </a:solidFill>
                <a:latin typeface="Arial" panose="020B0604020202020204" pitchFamily="34" charset="0"/>
              </a:rPr>
              <a:t>all Monster share count</a:t>
            </a:r>
          </a:p>
        </p:txBody>
      </p:sp>
      <p:sp>
        <p:nvSpPr>
          <p:cNvPr id="95238" name="Text Box 4"/>
          <p:cNvSpPr txBox="1">
            <a:spLocks noChangeArrowheads="1"/>
          </p:cNvSpPr>
          <p:nvPr/>
        </p:nvSpPr>
        <p:spPr bwMode="auto">
          <a:xfrm>
            <a:off x="5307013" y="3160713"/>
            <a:ext cx="3124200" cy="1016000"/>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rgbClr val="000099"/>
                </a:solidFill>
                <a:latin typeface="Arial" panose="020B0604020202020204" pitchFamily="34" charset="0"/>
              </a:rPr>
              <a:t>count is incremented every time a Monster is constructed.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bwMode="auto">
      <p:bgPr>
        <a:solidFill>
          <a:srgbClr val="E0FFA3"/>
        </a:solidFill>
        <a:effectLst/>
      </p:bgPr>
    </p:bg>
    <p:spTree>
      <p:nvGrpSpPr>
        <p:cNvPr id="1" name=""/>
        <p:cNvGrpSpPr/>
        <p:nvPr/>
      </p:nvGrpSpPr>
      <p:grpSpPr>
        <a:xfrm>
          <a:off x="0" y="0"/>
          <a:ext cx="0" cy="0"/>
          <a:chOff x="0" y="0"/>
          <a:chExt cx="0" cy="0"/>
        </a:xfrm>
      </p:grpSpPr>
      <p:sp>
        <p:nvSpPr>
          <p:cNvPr id="10035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100355" name="Rectangle 2"/>
          <p:cNvSpPr>
            <a:spLocks noChangeArrowheads="1"/>
          </p:cNvSpPr>
          <p:nvPr/>
        </p:nvSpPr>
        <p:spPr bwMode="auto">
          <a:xfrm>
            <a:off x="381000" y="544513"/>
            <a:ext cx="498475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class Monster</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private String </a:t>
            </a:r>
            <a:r>
              <a:rPr lang="en-US" altLang="en-US" sz="2400" dirty="0" err="1">
                <a:latin typeface="Arial" panose="020B0604020202020204" pitchFamily="34" charset="0"/>
              </a:rPr>
              <a:t>myName</a:t>
            </a:r>
            <a:r>
              <a:rPr lang="en-US" altLang="en-US" sz="2400" dirty="0">
                <a:latin typeface="Arial" panose="020B0604020202020204" pitchFamily="34" charset="0"/>
              </a:rPr>
              <a:t>;</a:t>
            </a:r>
          </a:p>
          <a:p>
            <a:pPr>
              <a:spcBef>
                <a:spcPct val="0"/>
              </a:spcBef>
              <a:buFontTx/>
              <a:buNone/>
            </a:pPr>
            <a:r>
              <a:rPr lang="en-US" altLang="en-US" sz="2400" dirty="0">
                <a:solidFill>
                  <a:srgbClr val="7030A0"/>
                </a:solidFill>
                <a:latin typeface="Arial" panose="020B0604020202020204" pitchFamily="34" charset="0"/>
              </a:rPr>
              <a:t>   private static int count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solidFill>
                  <a:srgbClr val="7030A0"/>
                </a:solidFill>
                <a:latin typeface="Arial" panose="020B0604020202020204" pitchFamily="34" charset="0"/>
              </a:rPr>
              <a:t>   {  count++;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Arial" panose="020B0604020202020204" pitchFamily="34" charset="0"/>
              </a:rPr>
              <a:t>   public Monster()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myName</a:t>
            </a: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Arial" panose="020B0604020202020204" pitchFamily="34" charset="0"/>
              </a:rPr>
              <a:t>   public Monster( String name )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myName</a:t>
            </a:r>
            <a:r>
              <a:rPr lang="en-US" altLang="en-US" sz="2400" dirty="0">
                <a:latin typeface="Arial" panose="020B0604020202020204" pitchFamily="34" charset="0"/>
              </a:rPr>
              <a:t> = name;</a:t>
            </a:r>
          </a:p>
          <a:p>
            <a:pPr>
              <a:spcBef>
                <a:spcPct val="0"/>
              </a:spcBef>
              <a:buFontTx/>
              <a:buNone/>
            </a:pP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a:t>
            </a:r>
          </a:p>
        </p:txBody>
      </p:sp>
      <p:sp>
        <p:nvSpPr>
          <p:cNvPr id="100356" name="WordArt 3"/>
          <p:cNvSpPr>
            <a:spLocks noChangeArrowheads="1" noChangeShapeType="1" noTextEdit="1"/>
          </p:cNvSpPr>
          <p:nvPr/>
        </p:nvSpPr>
        <p:spPr bwMode="auto">
          <a:xfrm>
            <a:off x="4419600" y="533400"/>
            <a:ext cx="3962400" cy="8382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Initialization Blocks</a:t>
            </a:r>
          </a:p>
        </p:txBody>
      </p:sp>
      <p:sp>
        <p:nvSpPr>
          <p:cNvPr id="100357" name="Text Box 4"/>
          <p:cNvSpPr txBox="1">
            <a:spLocks noChangeArrowheads="1"/>
          </p:cNvSpPr>
          <p:nvPr/>
        </p:nvSpPr>
        <p:spPr bwMode="auto">
          <a:xfrm>
            <a:off x="5562600" y="3733800"/>
            <a:ext cx="3124200" cy="2678113"/>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solidFill>
                  <a:srgbClr val="000099"/>
                </a:solidFill>
                <a:latin typeface="Arial" panose="020B0604020202020204" pitchFamily="34" charset="0"/>
              </a:rPr>
              <a:t>By putting the code to increment count in an initialization block, it doesn’t have to be replicated in each constructor.</a:t>
            </a:r>
          </a:p>
        </p:txBody>
      </p:sp>
      <p:sp>
        <p:nvSpPr>
          <p:cNvPr id="100358" name="Text Box 4"/>
          <p:cNvSpPr txBox="1">
            <a:spLocks noChangeArrowheads="1"/>
          </p:cNvSpPr>
          <p:nvPr/>
        </p:nvSpPr>
        <p:spPr bwMode="auto">
          <a:xfrm>
            <a:off x="3657600" y="2119313"/>
            <a:ext cx="5029200" cy="1277937"/>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ts val="600"/>
              </a:spcAft>
              <a:buFontTx/>
              <a:buNone/>
            </a:pPr>
            <a:r>
              <a:rPr lang="en-US" altLang="en-US" sz="2400" dirty="0">
                <a:solidFill>
                  <a:srgbClr val="000099"/>
                </a:solidFill>
                <a:latin typeface="Arial" panose="020B0604020202020204" pitchFamily="34" charset="0"/>
              </a:rPr>
              <a:t>Instance initializer block</a:t>
            </a:r>
          </a:p>
          <a:p>
            <a:pPr algn="ctr">
              <a:spcBef>
                <a:spcPct val="0"/>
              </a:spcBef>
              <a:spcAft>
                <a:spcPts val="600"/>
              </a:spcAft>
              <a:buFontTx/>
              <a:buNone/>
            </a:pPr>
            <a:r>
              <a:rPr lang="en-US" altLang="en-US" sz="2400" dirty="0">
                <a:solidFill>
                  <a:srgbClr val="000099"/>
                </a:solidFill>
                <a:latin typeface="Arial" panose="020B0604020202020204" pitchFamily="34" charset="0"/>
              </a:rPr>
              <a:t>  It’s as if this code is copied into every constructor.</a:t>
            </a:r>
          </a:p>
        </p:txBody>
      </p:sp>
      <p:cxnSp>
        <p:nvCxnSpPr>
          <p:cNvPr id="100359" name="Straight Arrow Connector 2"/>
          <p:cNvCxnSpPr>
            <a:cxnSpLocks noChangeShapeType="1"/>
          </p:cNvCxnSpPr>
          <p:nvPr/>
        </p:nvCxnSpPr>
        <p:spPr bwMode="auto">
          <a:xfrm flipH="1" flipV="1">
            <a:off x="2743200" y="2674938"/>
            <a:ext cx="914400" cy="85725"/>
          </a:xfrm>
          <a:prstGeom prst="straightConnector1">
            <a:avLst/>
          </a:prstGeom>
          <a:noFill/>
          <a:ln w="28575">
            <a:solidFill>
              <a:srgbClr val="262699"/>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bwMode="auto">
      <p:bgPr>
        <a:solidFill>
          <a:srgbClr val="E0FFA3"/>
        </a:solidFill>
        <a:effectLst/>
      </p:bgPr>
    </p:bg>
    <p:spTree>
      <p:nvGrpSpPr>
        <p:cNvPr id="1" name=""/>
        <p:cNvGrpSpPr/>
        <p:nvPr/>
      </p:nvGrpSpPr>
      <p:grpSpPr>
        <a:xfrm>
          <a:off x="0" y="0"/>
          <a:ext cx="0" cy="0"/>
          <a:chOff x="0" y="0"/>
          <a:chExt cx="0" cy="0"/>
        </a:xfrm>
      </p:grpSpPr>
      <p:sp>
        <p:nvSpPr>
          <p:cNvPr id="102402"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102403" name="Rectangle 2"/>
          <p:cNvSpPr>
            <a:spLocks noChangeArrowheads="1"/>
          </p:cNvSpPr>
          <p:nvPr/>
        </p:nvSpPr>
        <p:spPr bwMode="auto">
          <a:xfrm>
            <a:off x="381000" y="544513"/>
            <a:ext cx="498475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Arial" panose="020B0604020202020204" pitchFamily="34" charset="0"/>
              </a:rPr>
              <a:t>class Monster</a:t>
            </a:r>
          </a:p>
          <a:p>
            <a:pPr>
              <a:spcBef>
                <a:spcPct val="0"/>
              </a:spcBef>
              <a:buFontTx/>
              <a:buNone/>
            </a:pPr>
            <a:r>
              <a:rPr lang="en-US" altLang="en-US" sz="2400">
                <a:latin typeface="Arial" panose="020B0604020202020204" pitchFamily="34" charset="0"/>
              </a:rPr>
              <a:t>{</a:t>
            </a:r>
          </a:p>
          <a:p>
            <a:pPr>
              <a:spcBef>
                <a:spcPct val="0"/>
              </a:spcBef>
              <a:buFontTx/>
              <a:buNone/>
            </a:pPr>
            <a:r>
              <a:rPr lang="en-US" altLang="en-US" sz="2400">
                <a:latin typeface="Arial" panose="020B0604020202020204" pitchFamily="34" charset="0"/>
              </a:rPr>
              <a:t>   private String myName;</a:t>
            </a:r>
          </a:p>
          <a:p>
            <a:pPr>
              <a:spcBef>
                <a:spcPct val="0"/>
              </a:spcBef>
              <a:buFontTx/>
              <a:buNone/>
            </a:pPr>
            <a:r>
              <a:rPr lang="en-US" altLang="en-US" sz="2400">
                <a:latin typeface="Arial" panose="020B0604020202020204" pitchFamily="34" charset="0"/>
              </a:rPr>
              <a:t>   private static int count ;</a:t>
            </a:r>
          </a:p>
          <a:p>
            <a:pPr>
              <a:spcBef>
                <a:spcPct val="0"/>
              </a:spcBef>
              <a:buFontTx/>
              <a:buNone/>
            </a:pPr>
            <a:endParaRPr lang="en-US" altLang="en-US" sz="2400">
              <a:latin typeface="Arial" panose="020B0604020202020204" pitchFamily="34" charset="0"/>
            </a:endParaRPr>
          </a:p>
          <a:p>
            <a:pPr>
              <a:spcBef>
                <a:spcPct val="0"/>
              </a:spcBef>
              <a:buFontTx/>
              <a:buNone/>
            </a:pPr>
            <a:r>
              <a:rPr lang="en-US" altLang="en-US" sz="2400">
                <a:solidFill>
                  <a:srgbClr val="7878DE"/>
                </a:solidFill>
                <a:latin typeface="Arial" panose="020B0604020202020204" pitchFamily="34" charset="0"/>
              </a:rPr>
              <a:t>   </a:t>
            </a:r>
            <a:r>
              <a:rPr lang="en-US" altLang="en-US" sz="2400">
                <a:solidFill>
                  <a:srgbClr val="FF0000"/>
                </a:solidFill>
                <a:latin typeface="Arial" panose="020B0604020202020204" pitchFamily="34" charset="0"/>
              </a:rPr>
              <a:t>static{  count++;   }</a:t>
            </a:r>
          </a:p>
          <a:p>
            <a:pPr>
              <a:spcBef>
                <a:spcPct val="0"/>
              </a:spcBef>
              <a:buFontTx/>
              <a:buNone/>
            </a:pPr>
            <a:endParaRPr lang="en-US" altLang="en-US" sz="2400">
              <a:latin typeface="Arial" panose="020B0604020202020204" pitchFamily="34" charset="0"/>
            </a:endParaRPr>
          </a:p>
          <a:p>
            <a:pPr>
              <a:spcBef>
                <a:spcPct val="0"/>
              </a:spcBef>
              <a:buFontTx/>
              <a:buNone/>
            </a:pPr>
            <a:r>
              <a:rPr lang="en-US" altLang="en-US" sz="2400">
                <a:latin typeface="Arial" panose="020B0604020202020204" pitchFamily="34" charset="0"/>
              </a:rPr>
              <a:t>   public Monster() {</a:t>
            </a:r>
          </a:p>
          <a:p>
            <a:pPr>
              <a:spcBef>
                <a:spcPct val="0"/>
              </a:spcBef>
              <a:buFontTx/>
              <a:buNone/>
            </a:pPr>
            <a:r>
              <a:rPr lang="en-US" altLang="en-US" sz="2400">
                <a:latin typeface="Arial" panose="020B0604020202020204" pitchFamily="34" charset="0"/>
              </a:rPr>
              <a:t>     myName ="";</a:t>
            </a:r>
          </a:p>
          <a:p>
            <a:pPr>
              <a:spcBef>
                <a:spcPct val="0"/>
              </a:spcBef>
              <a:buFontTx/>
              <a:buNone/>
            </a:pPr>
            <a:r>
              <a:rPr lang="en-US" altLang="en-US" sz="2400">
                <a:latin typeface="Arial" panose="020B0604020202020204" pitchFamily="34" charset="0"/>
              </a:rPr>
              <a:t>   }</a:t>
            </a:r>
          </a:p>
          <a:p>
            <a:pPr>
              <a:spcBef>
                <a:spcPct val="0"/>
              </a:spcBef>
              <a:buFontTx/>
              <a:buNone/>
            </a:pPr>
            <a:endParaRPr lang="en-US" altLang="en-US" sz="2400">
              <a:latin typeface="Arial" panose="020B0604020202020204" pitchFamily="34" charset="0"/>
            </a:endParaRPr>
          </a:p>
          <a:p>
            <a:pPr>
              <a:spcBef>
                <a:spcPct val="0"/>
              </a:spcBef>
              <a:buFontTx/>
              <a:buNone/>
            </a:pPr>
            <a:r>
              <a:rPr lang="en-US" altLang="en-US" sz="2400">
                <a:latin typeface="Arial" panose="020B0604020202020204" pitchFamily="34" charset="0"/>
              </a:rPr>
              <a:t>   public Monster( String name ) {</a:t>
            </a:r>
          </a:p>
          <a:p>
            <a:pPr>
              <a:spcBef>
                <a:spcPct val="0"/>
              </a:spcBef>
              <a:buFontTx/>
              <a:buNone/>
            </a:pPr>
            <a:r>
              <a:rPr lang="en-US" altLang="en-US" sz="2400">
                <a:latin typeface="Arial" panose="020B0604020202020204" pitchFamily="34" charset="0"/>
              </a:rPr>
              <a:t>     myName = name;</a:t>
            </a:r>
          </a:p>
          <a:p>
            <a:pPr>
              <a:spcBef>
                <a:spcPct val="0"/>
              </a:spcBef>
              <a:buFontTx/>
              <a:buNone/>
            </a:pPr>
            <a:r>
              <a:rPr lang="en-US" altLang="en-US" sz="2400">
                <a:latin typeface="Arial" panose="020B0604020202020204" pitchFamily="34" charset="0"/>
              </a:rPr>
              <a:t>   }</a:t>
            </a:r>
          </a:p>
          <a:p>
            <a:pPr>
              <a:spcBef>
                <a:spcPct val="0"/>
              </a:spcBef>
              <a:buFontTx/>
              <a:buNone/>
            </a:pPr>
            <a:r>
              <a:rPr lang="en-US" altLang="en-US" sz="2400">
                <a:latin typeface="Arial" panose="020B0604020202020204" pitchFamily="34" charset="0"/>
              </a:rPr>
              <a:t>}</a:t>
            </a:r>
          </a:p>
        </p:txBody>
      </p:sp>
      <p:sp>
        <p:nvSpPr>
          <p:cNvPr id="102404" name="WordArt 3"/>
          <p:cNvSpPr>
            <a:spLocks noChangeArrowheads="1" noChangeShapeType="1" noTextEdit="1"/>
          </p:cNvSpPr>
          <p:nvPr/>
        </p:nvSpPr>
        <p:spPr bwMode="auto">
          <a:xfrm>
            <a:off x="4419600" y="533400"/>
            <a:ext cx="39624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Initialization Blocks</a:t>
            </a:r>
          </a:p>
        </p:txBody>
      </p:sp>
      <p:sp>
        <p:nvSpPr>
          <p:cNvPr id="102405" name="Text Box 4"/>
          <p:cNvSpPr txBox="1">
            <a:spLocks noChangeArrowheads="1"/>
          </p:cNvSpPr>
          <p:nvPr/>
        </p:nvSpPr>
        <p:spPr bwMode="auto">
          <a:xfrm>
            <a:off x="5541962" y="3810000"/>
            <a:ext cx="3525719" cy="2308324"/>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rgbClr val="FF0000"/>
                </a:solidFill>
                <a:latin typeface="Arial" panose="020B0604020202020204" pitchFamily="34" charset="0"/>
              </a:rPr>
              <a:t>This compiles, but is a mistake for this class, since you don’t want this called just once, but every time an object is constructed.</a:t>
            </a:r>
          </a:p>
        </p:txBody>
      </p:sp>
      <p:sp>
        <p:nvSpPr>
          <p:cNvPr id="102406" name="Text Box 4"/>
          <p:cNvSpPr txBox="1">
            <a:spLocks noChangeArrowheads="1"/>
          </p:cNvSpPr>
          <p:nvPr/>
        </p:nvSpPr>
        <p:spPr bwMode="auto">
          <a:xfrm>
            <a:off x="3886200" y="2057400"/>
            <a:ext cx="4800600" cy="1462088"/>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ts val="600"/>
              </a:spcAft>
              <a:buFontTx/>
              <a:buNone/>
            </a:pPr>
            <a:r>
              <a:rPr lang="en-US" altLang="en-US" sz="2800">
                <a:solidFill>
                  <a:srgbClr val="000099"/>
                </a:solidFill>
                <a:latin typeface="Arial" panose="020B0604020202020204" pitchFamily="34" charset="0"/>
              </a:rPr>
              <a:t>Static initialization block</a:t>
            </a:r>
          </a:p>
          <a:p>
            <a:pPr algn="ctr">
              <a:spcBef>
                <a:spcPct val="0"/>
              </a:spcBef>
              <a:buFontTx/>
              <a:buNone/>
            </a:pPr>
            <a:r>
              <a:rPr lang="en-US" altLang="en-US" sz="2800">
                <a:solidFill>
                  <a:srgbClr val="000099"/>
                </a:solidFill>
                <a:latin typeface="Arial" panose="020B0604020202020204" pitchFamily="34" charset="0"/>
              </a:rPr>
              <a:t> The code it contains is run when the class is loaded.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bwMode="auto">
      <p:bgPr>
        <a:solidFill>
          <a:srgbClr val="E0FFA3"/>
        </a:solidFill>
        <a:effectLst/>
      </p:bgPr>
    </p:bg>
    <p:spTree>
      <p:nvGrpSpPr>
        <p:cNvPr id="1" name=""/>
        <p:cNvGrpSpPr/>
        <p:nvPr/>
      </p:nvGrpSpPr>
      <p:grpSpPr>
        <a:xfrm>
          <a:off x="0" y="0"/>
          <a:ext cx="0" cy="0"/>
          <a:chOff x="0" y="0"/>
          <a:chExt cx="0" cy="0"/>
        </a:xfrm>
      </p:grpSpPr>
      <p:sp>
        <p:nvSpPr>
          <p:cNvPr id="102402"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102403" name="Rectangle 2"/>
          <p:cNvSpPr>
            <a:spLocks noChangeArrowheads="1"/>
          </p:cNvSpPr>
          <p:nvPr/>
        </p:nvSpPr>
        <p:spPr bwMode="auto">
          <a:xfrm>
            <a:off x="304912" y="366580"/>
            <a:ext cx="4984057"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class Monster</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private String </a:t>
            </a:r>
            <a:r>
              <a:rPr lang="en-US" altLang="en-US" sz="2400" dirty="0" err="1">
                <a:latin typeface="Arial" panose="020B0604020202020204" pitchFamily="34" charset="0"/>
              </a:rPr>
              <a:t>myName</a:t>
            </a: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private static int count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solidFill>
                  <a:srgbClr val="7878DE"/>
                </a:solidFill>
                <a:latin typeface="Arial" panose="020B0604020202020204" pitchFamily="34" charset="0"/>
              </a:rPr>
              <a:t>   </a:t>
            </a:r>
            <a:r>
              <a:rPr lang="en-US" altLang="en-US" sz="2400" dirty="0">
                <a:solidFill>
                  <a:srgbClr val="FF0000"/>
                </a:solidFill>
                <a:latin typeface="Arial" panose="020B0604020202020204" pitchFamily="34" charset="0"/>
              </a:rPr>
              <a:t>static {  </a:t>
            </a:r>
          </a:p>
          <a:p>
            <a:pPr>
              <a:spcBef>
                <a:spcPct val="0"/>
              </a:spcBef>
              <a:buFontTx/>
              <a:buNone/>
            </a:pPr>
            <a:r>
              <a:rPr lang="en-US" altLang="en-US" sz="2400" dirty="0">
                <a:solidFill>
                  <a:srgbClr val="FF0000"/>
                </a:solidFill>
                <a:latin typeface="Arial" panose="020B0604020202020204" pitchFamily="34" charset="0"/>
              </a:rPr>
              <a:t>      </a:t>
            </a:r>
            <a:r>
              <a:rPr lang="en-US" altLang="en-US" sz="2400" dirty="0" err="1">
                <a:solidFill>
                  <a:srgbClr val="FF0000"/>
                </a:solidFill>
                <a:latin typeface="Arial" panose="020B0604020202020204" pitchFamily="34" charset="0"/>
              </a:rPr>
              <a:t>myName</a:t>
            </a:r>
            <a:r>
              <a:rPr lang="en-US" altLang="en-US" sz="2400" dirty="0">
                <a:solidFill>
                  <a:srgbClr val="FF0000"/>
                </a:solidFill>
                <a:latin typeface="Arial" panose="020B0604020202020204" pitchFamily="34" charset="0"/>
              </a:rPr>
              <a:t> = …</a:t>
            </a:r>
          </a:p>
          <a:p>
            <a:pPr>
              <a:spcBef>
                <a:spcPct val="0"/>
              </a:spcBef>
              <a:buFontTx/>
              <a:buNone/>
            </a:pPr>
            <a:r>
              <a:rPr lang="en-US" altLang="en-US" sz="2400" dirty="0">
                <a:solidFill>
                  <a:srgbClr val="FF0000"/>
                </a:solidFill>
                <a:latin typeface="Arial" panose="020B0604020202020204" pitchFamily="34" charset="0"/>
              </a:rPr>
              <a: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Arial" panose="020B0604020202020204" pitchFamily="34" charset="0"/>
              </a:rPr>
              <a:t>   public Monster()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myName</a:t>
            </a: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Arial" panose="020B0604020202020204" pitchFamily="34" charset="0"/>
              </a:rPr>
              <a:t>   public Monster( String name )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myName</a:t>
            </a:r>
            <a:r>
              <a:rPr lang="en-US" altLang="en-US" sz="2400" dirty="0">
                <a:latin typeface="Arial" panose="020B0604020202020204" pitchFamily="34" charset="0"/>
              </a:rPr>
              <a:t> = name;</a:t>
            </a:r>
          </a:p>
          <a:p>
            <a:pPr>
              <a:spcBef>
                <a:spcPct val="0"/>
              </a:spcBef>
              <a:buFontTx/>
              <a:buNone/>
            </a:pP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a:t>
            </a:r>
          </a:p>
        </p:txBody>
      </p:sp>
      <p:sp>
        <p:nvSpPr>
          <p:cNvPr id="102404" name="WordArt 3"/>
          <p:cNvSpPr>
            <a:spLocks noChangeArrowheads="1" noChangeShapeType="1" noTextEdit="1"/>
          </p:cNvSpPr>
          <p:nvPr/>
        </p:nvSpPr>
        <p:spPr bwMode="auto">
          <a:xfrm>
            <a:off x="4419600" y="533400"/>
            <a:ext cx="39624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Initialization Blocks</a:t>
            </a:r>
          </a:p>
        </p:txBody>
      </p:sp>
      <p:sp>
        <p:nvSpPr>
          <p:cNvPr id="102406" name="Text Box 4"/>
          <p:cNvSpPr txBox="1">
            <a:spLocks noChangeArrowheads="1"/>
          </p:cNvSpPr>
          <p:nvPr/>
        </p:nvSpPr>
        <p:spPr bwMode="auto">
          <a:xfrm>
            <a:off x="4572000" y="2044005"/>
            <a:ext cx="4114792" cy="1384995"/>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ts val="600"/>
              </a:spcAft>
              <a:buFontTx/>
              <a:buNone/>
            </a:pPr>
            <a:r>
              <a:rPr lang="en-US" altLang="en-US" sz="2800" dirty="0">
                <a:solidFill>
                  <a:srgbClr val="FF0000"/>
                </a:solidFill>
                <a:latin typeface="Arial" panose="020B0604020202020204" pitchFamily="34" charset="0"/>
              </a:rPr>
              <a:t>You can’t access instance variables from a static context!</a:t>
            </a:r>
          </a:p>
        </p:txBody>
      </p:sp>
    </p:spTree>
    <p:extLst>
      <p:ext uri="{BB962C8B-B14F-4D97-AF65-F5344CB8AC3E}">
        <p14:creationId xmlns:p14="http://schemas.microsoft.com/office/powerpoint/2010/main" val="660230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bwMode="auto">
      <p:bgPr>
        <a:solidFill>
          <a:srgbClr val="E0FFA3"/>
        </a:solidFill>
        <a:effectLst/>
      </p:bgPr>
    </p:bg>
    <p:spTree>
      <p:nvGrpSpPr>
        <p:cNvPr id="1" name=""/>
        <p:cNvGrpSpPr/>
        <p:nvPr/>
      </p:nvGrpSpPr>
      <p:grpSpPr>
        <a:xfrm>
          <a:off x="0" y="0"/>
          <a:ext cx="0" cy="0"/>
          <a:chOff x="0" y="0"/>
          <a:chExt cx="0" cy="0"/>
        </a:xfrm>
      </p:grpSpPr>
      <p:sp>
        <p:nvSpPr>
          <p:cNvPr id="104450"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104451" name="Rectangle 2"/>
          <p:cNvSpPr>
            <a:spLocks noChangeArrowheads="1"/>
          </p:cNvSpPr>
          <p:nvPr/>
        </p:nvSpPr>
        <p:spPr bwMode="auto">
          <a:xfrm>
            <a:off x="315913" y="152486"/>
            <a:ext cx="8961107" cy="674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class </a:t>
            </a:r>
            <a:r>
              <a:rPr lang="en-US" altLang="en-US" sz="2400" dirty="0" err="1">
                <a:latin typeface="Arial" panose="020B0604020202020204" pitchFamily="34" charset="0"/>
              </a:rPr>
              <a:t>ArrayMan</a:t>
            </a:r>
            <a:r>
              <a:rPr lang="en-US" altLang="en-US" sz="2400" dirty="0">
                <a:latin typeface="Arial" panose="020B0604020202020204" pitchFamily="34" charset="0"/>
              </a:rPr>
              <a:t> { </a:t>
            </a:r>
          </a:p>
          <a:p>
            <a:pPr>
              <a:spcBef>
                <a:spcPct val="0"/>
              </a:spcBef>
              <a:buFontTx/>
              <a:buNone/>
            </a:pPr>
            <a:r>
              <a:rPr lang="en-US" altLang="en-US" sz="2400" dirty="0">
                <a:solidFill>
                  <a:srgbClr val="7030A0"/>
                </a:solidFill>
                <a:latin typeface="Arial" panose="020B0604020202020204" pitchFamily="34" charset="0"/>
              </a:rPr>
              <a:t>   static int[] </a:t>
            </a:r>
            <a:r>
              <a:rPr lang="en-US" altLang="en-US" sz="2400" dirty="0" err="1">
                <a:solidFill>
                  <a:srgbClr val="7030A0"/>
                </a:solidFill>
                <a:latin typeface="Arial" panose="020B0604020202020204" pitchFamily="34" charset="0"/>
              </a:rPr>
              <a:t>numArray</a:t>
            </a:r>
            <a:r>
              <a:rPr lang="en-US" altLang="en-US" sz="2400" dirty="0">
                <a:solidFill>
                  <a:srgbClr val="7030A0"/>
                </a:solidFill>
                <a:latin typeface="Arial" panose="020B0604020202020204" pitchFamily="34" charset="0"/>
              </a:rPr>
              <a:t> = new int[10];</a:t>
            </a:r>
          </a:p>
          <a:p>
            <a:pPr>
              <a:spcBef>
                <a:spcPct val="0"/>
              </a:spcBef>
              <a:buFontTx/>
              <a:buNone/>
            </a:pPr>
            <a:endParaRPr lang="en-US" altLang="en-US" sz="2400" dirty="0">
              <a:solidFill>
                <a:srgbClr val="7030A0"/>
              </a:solidFill>
              <a:latin typeface="Arial" panose="020B0604020202020204" pitchFamily="34" charset="0"/>
            </a:endParaRPr>
          </a:p>
          <a:p>
            <a:pPr>
              <a:spcBef>
                <a:spcPct val="0"/>
              </a:spcBef>
              <a:buFontTx/>
              <a:buNone/>
            </a:pPr>
            <a:r>
              <a:rPr lang="en-US" altLang="en-US" sz="2400" dirty="0">
                <a:solidFill>
                  <a:srgbClr val="7030A0"/>
                </a:solidFill>
                <a:latin typeface="Arial" panose="020B0604020202020204" pitchFamily="34" charset="0"/>
              </a:rPr>
              <a:t>   static {</a:t>
            </a:r>
          </a:p>
          <a:p>
            <a:pPr>
              <a:spcBef>
                <a:spcPct val="0"/>
              </a:spcBef>
              <a:buFontTx/>
              <a:buNone/>
            </a:pPr>
            <a:r>
              <a:rPr lang="en-US" altLang="en-US" sz="2400" dirty="0">
                <a:solidFill>
                  <a:srgbClr val="7030A0"/>
                </a:solidFill>
                <a:latin typeface="Arial" panose="020B0604020202020204" pitchFamily="34" charset="0"/>
              </a:rPr>
              <a:t>      </a:t>
            </a:r>
            <a:r>
              <a:rPr lang="en-US" altLang="en-US" sz="2400" dirty="0" err="1">
                <a:solidFill>
                  <a:srgbClr val="7030A0"/>
                </a:solidFill>
                <a:latin typeface="Arial" panose="020B0604020202020204" pitchFamily="34" charset="0"/>
              </a:rPr>
              <a:t>System.out.println</a:t>
            </a:r>
            <a:r>
              <a:rPr lang="en-US" altLang="en-US" sz="2400" dirty="0">
                <a:solidFill>
                  <a:srgbClr val="7030A0"/>
                </a:solidFill>
                <a:latin typeface="Arial" panose="020B0604020202020204" pitchFamily="34" charset="0"/>
              </a:rPr>
              <a:t>("Running static initialization block.");</a:t>
            </a:r>
          </a:p>
          <a:p>
            <a:pPr>
              <a:spcBef>
                <a:spcPct val="0"/>
              </a:spcBef>
              <a:buFontTx/>
              <a:buNone/>
            </a:pPr>
            <a:r>
              <a:rPr lang="en-US" altLang="en-US" sz="2400" dirty="0">
                <a:solidFill>
                  <a:srgbClr val="7030A0"/>
                </a:solidFill>
                <a:latin typeface="Arial" panose="020B0604020202020204" pitchFamily="34" charset="0"/>
              </a:rPr>
              <a:t>      for (int </a:t>
            </a:r>
            <a:r>
              <a:rPr lang="en-US" altLang="en-US" sz="2400" dirty="0" err="1">
                <a:solidFill>
                  <a:srgbClr val="7030A0"/>
                </a:solidFill>
                <a:latin typeface="Arial" panose="020B0604020202020204" pitchFamily="34" charset="0"/>
              </a:rPr>
              <a:t>i</a:t>
            </a:r>
            <a:r>
              <a:rPr lang="en-US" altLang="en-US" sz="2400" dirty="0">
                <a:solidFill>
                  <a:srgbClr val="7030A0"/>
                </a:solidFill>
                <a:latin typeface="Arial" panose="020B0604020202020204" pitchFamily="34" charset="0"/>
              </a:rPr>
              <a:t> = 0; </a:t>
            </a:r>
            <a:r>
              <a:rPr lang="en-US" altLang="en-US" sz="2400" dirty="0" err="1">
                <a:solidFill>
                  <a:srgbClr val="7030A0"/>
                </a:solidFill>
                <a:latin typeface="Arial" panose="020B0604020202020204" pitchFamily="34" charset="0"/>
              </a:rPr>
              <a:t>i</a:t>
            </a:r>
            <a:r>
              <a:rPr lang="en-US" altLang="en-US" sz="2400" dirty="0">
                <a:solidFill>
                  <a:srgbClr val="7030A0"/>
                </a:solidFill>
                <a:latin typeface="Arial" panose="020B0604020202020204" pitchFamily="34" charset="0"/>
              </a:rPr>
              <a:t> &lt; </a:t>
            </a:r>
            <a:r>
              <a:rPr lang="en-US" altLang="en-US" sz="2400" dirty="0" err="1">
                <a:solidFill>
                  <a:srgbClr val="7030A0"/>
                </a:solidFill>
                <a:latin typeface="Arial" panose="020B0604020202020204" pitchFamily="34" charset="0"/>
              </a:rPr>
              <a:t>numArray.length</a:t>
            </a:r>
            <a:r>
              <a:rPr lang="en-US" altLang="en-US" sz="2400" dirty="0">
                <a:solidFill>
                  <a:srgbClr val="7030A0"/>
                </a:solidFill>
                <a:latin typeface="Arial" panose="020B0604020202020204" pitchFamily="34" charset="0"/>
              </a:rPr>
              <a:t>; </a:t>
            </a:r>
            <a:r>
              <a:rPr lang="en-US" altLang="en-US" sz="2400" dirty="0" err="1">
                <a:solidFill>
                  <a:srgbClr val="7030A0"/>
                </a:solidFill>
                <a:latin typeface="Arial" panose="020B0604020202020204" pitchFamily="34" charset="0"/>
              </a:rPr>
              <a:t>i</a:t>
            </a:r>
            <a:r>
              <a:rPr lang="en-US" altLang="en-US" sz="2400" dirty="0">
                <a:solidFill>
                  <a:srgbClr val="7030A0"/>
                </a:solidFill>
                <a:latin typeface="Arial" panose="020B0604020202020204" pitchFamily="34" charset="0"/>
              </a:rPr>
              <a:t>++) {</a:t>
            </a:r>
          </a:p>
          <a:p>
            <a:pPr>
              <a:spcBef>
                <a:spcPct val="0"/>
              </a:spcBef>
              <a:buFontTx/>
              <a:buNone/>
            </a:pPr>
            <a:r>
              <a:rPr lang="en-US" altLang="en-US" sz="2400" dirty="0">
                <a:solidFill>
                  <a:srgbClr val="7030A0"/>
                </a:solidFill>
                <a:latin typeface="Arial" panose="020B0604020202020204" pitchFamily="34" charset="0"/>
              </a:rPr>
              <a:t>         </a:t>
            </a:r>
            <a:r>
              <a:rPr lang="en-US" altLang="en-US" sz="2400" dirty="0" err="1">
                <a:solidFill>
                  <a:srgbClr val="7030A0"/>
                </a:solidFill>
                <a:latin typeface="Arial" panose="020B0604020202020204" pitchFamily="34" charset="0"/>
              </a:rPr>
              <a:t>numArray</a:t>
            </a:r>
            <a:r>
              <a:rPr lang="en-US" altLang="en-US" sz="2400" dirty="0">
                <a:solidFill>
                  <a:srgbClr val="7030A0"/>
                </a:solidFill>
                <a:latin typeface="Arial" panose="020B0604020202020204" pitchFamily="34" charset="0"/>
              </a:rPr>
              <a:t>[</a:t>
            </a:r>
            <a:r>
              <a:rPr lang="en-US" altLang="en-US" sz="2400" dirty="0" err="1">
                <a:solidFill>
                  <a:srgbClr val="7030A0"/>
                </a:solidFill>
                <a:latin typeface="Arial" panose="020B0604020202020204" pitchFamily="34" charset="0"/>
              </a:rPr>
              <a:t>i</a:t>
            </a:r>
            <a:r>
              <a:rPr lang="en-US" altLang="en-US" sz="2400" dirty="0">
                <a:solidFill>
                  <a:srgbClr val="7030A0"/>
                </a:solidFill>
                <a:latin typeface="Arial" panose="020B0604020202020204" pitchFamily="34" charset="0"/>
              </a:rPr>
              <a:t>] = (int) (100.0 * </a:t>
            </a:r>
            <a:r>
              <a:rPr lang="en-US" altLang="en-US" sz="2400" dirty="0" err="1">
                <a:solidFill>
                  <a:srgbClr val="7030A0"/>
                </a:solidFill>
                <a:latin typeface="Arial" panose="020B0604020202020204" pitchFamily="34" charset="0"/>
              </a:rPr>
              <a:t>Math.random</a:t>
            </a:r>
            <a:r>
              <a:rPr lang="en-US" altLang="en-US" sz="2400" dirty="0">
                <a:solidFill>
                  <a:srgbClr val="7030A0"/>
                </a:solidFill>
                <a:latin typeface="Arial" panose="020B0604020202020204" pitchFamily="34" charset="0"/>
              </a:rPr>
              <a:t>());</a:t>
            </a:r>
          </a:p>
          <a:p>
            <a:pPr>
              <a:spcBef>
                <a:spcPct val="0"/>
              </a:spcBef>
              <a:buFontTx/>
              <a:buNone/>
            </a:pPr>
            <a:r>
              <a:rPr lang="en-US" altLang="en-US" sz="2400" dirty="0">
                <a:solidFill>
                  <a:srgbClr val="7030A0"/>
                </a:solidFill>
                <a:latin typeface="Arial" panose="020B0604020202020204" pitchFamily="34" charset="0"/>
              </a:rPr>
              <a:t>      }</a:t>
            </a:r>
          </a:p>
          <a:p>
            <a:pPr>
              <a:spcBef>
                <a:spcPct val="0"/>
              </a:spcBef>
              <a:buFontTx/>
              <a:buNone/>
            </a:pPr>
            <a:r>
              <a:rPr lang="en-US" altLang="en-US" sz="2400" dirty="0">
                <a:solidFill>
                  <a:srgbClr val="7030A0"/>
                </a:solidFill>
                <a:latin typeface="Arial" panose="020B0604020202020204" pitchFamily="34" charset="0"/>
              </a:rPr>
              <a:t>   }</a:t>
            </a:r>
          </a:p>
          <a:p>
            <a:pPr>
              <a:spcBef>
                <a:spcPct val="0"/>
              </a:spcBef>
              <a:buFontTx/>
              <a:buNone/>
            </a:pP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void </a:t>
            </a:r>
            <a:r>
              <a:rPr lang="en-US" altLang="en-US" sz="2400" dirty="0" err="1">
                <a:latin typeface="Arial" panose="020B0604020202020204" pitchFamily="34" charset="0"/>
              </a:rPr>
              <a:t>printArray</a:t>
            </a: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("The initialized values are:");</a:t>
            </a:r>
          </a:p>
          <a:p>
            <a:pPr>
              <a:spcBef>
                <a:spcPct val="0"/>
              </a:spcBef>
              <a:buFontTx/>
              <a:buNone/>
            </a:pPr>
            <a:r>
              <a:rPr lang="en-US" altLang="en-US" sz="2400" dirty="0">
                <a:latin typeface="Arial" panose="020B0604020202020204" pitchFamily="34" charset="0"/>
              </a:rPr>
              <a:t>      for (int </a:t>
            </a:r>
            <a:r>
              <a:rPr lang="en-US" altLang="en-US" sz="2400" dirty="0" err="1">
                <a:latin typeface="Arial" panose="020B0604020202020204" pitchFamily="34" charset="0"/>
              </a:rPr>
              <a:t>i</a:t>
            </a:r>
            <a:r>
              <a:rPr lang="en-US" altLang="en-US" sz="2400" dirty="0">
                <a:latin typeface="Arial" panose="020B0604020202020204" pitchFamily="34" charset="0"/>
              </a:rPr>
              <a:t> = 0; </a:t>
            </a:r>
            <a:r>
              <a:rPr lang="en-US" altLang="en-US" sz="2400" dirty="0" err="1">
                <a:latin typeface="Arial" panose="020B0604020202020204" pitchFamily="34" charset="0"/>
              </a:rPr>
              <a:t>i</a:t>
            </a:r>
            <a:r>
              <a:rPr lang="en-US" altLang="en-US" sz="2400" dirty="0">
                <a:latin typeface="Arial" panose="020B0604020202020204" pitchFamily="34" charset="0"/>
              </a:rPr>
              <a:t> &lt; </a:t>
            </a:r>
            <a:r>
              <a:rPr lang="en-US" altLang="en-US" sz="2400" dirty="0" err="1">
                <a:latin typeface="Arial" panose="020B0604020202020204" pitchFamily="34" charset="0"/>
              </a:rPr>
              <a:t>numArray.length</a:t>
            </a:r>
            <a:r>
              <a:rPr lang="en-US" altLang="en-US" sz="2400" dirty="0">
                <a:latin typeface="Arial" panose="020B0604020202020204" pitchFamily="34" charset="0"/>
              </a:rPr>
              <a:t>; </a:t>
            </a:r>
            <a:r>
              <a:rPr lang="en-US" altLang="en-US" sz="2400" dirty="0" err="1">
                <a:latin typeface="Arial" panose="020B0604020202020204" pitchFamily="34" charset="0"/>
              </a:rPr>
              <a:t>i</a:t>
            </a: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a:t>
            </a:r>
            <a:r>
              <a:rPr lang="en-US" altLang="en-US" sz="2400" dirty="0">
                <a:latin typeface="Arial" panose="020B0604020202020204" pitchFamily="34" charset="0"/>
              </a:rPr>
              <a:t>(</a:t>
            </a:r>
            <a:r>
              <a:rPr lang="en-US" altLang="en-US" sz="2400" dirty="0" err="1">
                <a:latin typeface="Arial" panose="020B0604020202020204" pitchFamily="34" charset="0"/>
              </a:rPr>
              <a:t>numArray</a:t>
            </a:r>
            <a:r>
              <a:rPr lang="en-US" altLang="en-US" sz="2400" dirty="0">
                <a:latin typeface="Arial" panose="020B0604020202020204" pitchFamily="34" charset="0"/>
              </a:rPr>
              <a:t>[</a:t>
            </a:r>
            <a:r>
              <a:rPr lang="en-US" altLang="en-US" sz="2400" dirty="0" err="1">
                <a:latin typeface="Arial" panose="020B0604020202020204" pitchFamily="34" charset="0"/>
              </a:rPr>
              <a:t>i</a:t>
            </a:r>
            <a:r>
              <a:rPr lang="en-US" altLang="en-US" sz="2400" dirty="0">
                <a:latin typeface="Arial" panose="020B0604020202020204" pitchFamily="34" charset="0"/>
              </a:rPr>
              <a:t>] + " ");</a:t>
            </a:r>
          </a:p>
          <a:p>
            <a:pPr>
              <a:spcBef>
                <a:spcPct val="0"/>
              </a:spcBef>
              <a:buFontTx/>
              <a:buNone/>
            </a:pP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a:t>
            </a:r>
          </a:p>
        </p:txBody>
      </p:sp>
      <p:sp>
        <p:nvSpPr>
          <p:cNvPr id="2" name="Rectangle 1">
            <a:extLst>
              <a:ext uri="{FF2B5EF4-FFF2-40B4-BE49-F238E27FC236}">
                <a16:creationId xmlns:a16="http://schemas.microsoft.com/office/drawing/2014/main" id="{60D9B1E3-32BC-1AEF-7B51-EB4FAF202833}"/>
              </a:ext>
            </a:extLst>
          </p:cNvPr>
          <p:cNvSpPr/>
          <p:nvPr/>
        </p:nvSpPr>
        <p:spPr>
          <a:xfrm>
            <a:off x="6212670" y="22135"/>
            <a:ext cx="2685351" cy="1569660"/>
          </a:xfrm>
          <a:prstGeom prst="rect">
            <a:avLst/>
          </a:prstGeom>
          <a:noFill/>
        </p:spPr>
        <p:txBody>
          <a:bodyPr wrap="none" lIns="91440" tIns="45720" rIns="91440" bIns="45720">
            <a:spAutoFit/>
          </a:bodyPr>
          <a:lstStyle/>
          <a:p>
            <a:pPr algn="ctr"/>
            <a:r>
              <a:rPr lang="en-US" sz="4800" dirty="0" err="1">
                <a:ln w="22225">
                  <a:solidFill>
                    <a:schemeClr val="accent2"/>
                  </a:solidFill>
                  <a:prstDash val="solid"/>
                </a:ln>
                <a:solidFill>
                  <a:schemeClr val="accent2">
                    <a:lumMod val="40000"/>
                    <a:lumOff val="60000"/>
                  </a:schemeClr>
                </a:solidFill>
              </a:rPr>
              <a:t>Intializer</a:t>
            </a:r>
            <a:endParaRPr lang="en-US" sz="4800" dirty="0">
              <a:ln w="22225">
                <a:solidFill>
                  <a:schemeClr val="accent2"/>
                </a:solidFill>
                <a:prstDash val="solid"/>
              </a:ln>
              <a:solidFill>
                <a:schemeClr val="accent2">
                  <a:lumMod val="40000"/>
                  <a:lumOff val="60000"/>
                </a:schemeClr>
              </a:solidFill>
            </a:endParaRPr>
          </a:p>
          <a:p>
            <a:pPr algn="ctr"/>
            <a:r>
              <a:rPr lang="en-US" sz="4800" dirty="0">
                <a:ln w="22225">
                  <a:solidFill>
                    <a:schemeClr val="accent2"/>
                  </a:solidFill>
                  <a:prstDash val="solid"/>
                </a:ln>
                <a:solidFill>
                  <a:schemeClr val="accent2">
                    <a:lumMod val="40000"/>
                    <a:lumOff val="60000"/>
                  </a:schemeClr>
                </a:solidFill>
              </a:rPr>
              <a:t>Blocks</a:t>
            </a:r>
          </a:p>
        </p:txBody>
      </p:sp>
      <p:sp>
        <p:nvSpPr>
          <p:cNvPr id="3" name="Text Box 4">
            <a:extLst>
              <a:ext uri="{FF2B5EF4-FFF2-40B4-BE49-F238E27FC236}">
                <a16:creationId xmlns:a16="http://schemas.microsoft.com/office/drawing/2014/main" id="{921F39E1-E9F3-8CB2-644A-96A9093C2821}"/>
              </a:ext>
            </a:extLst>
          </p:cNvPr>
          <p:cNvSpPr txBox="1">
            <a:spLocks noChangeArrowheads="1"/>
          </p:cNvSpPr>
          <p:nvPr/>
        </p:nvSpPr>
        <p:spPr bwMode="auto">
          <a:xfrm>
            <a:off x="3581426" y="3045585"/>
            <a:ext cx="5486256" cy="954107"/>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ts val="600"/>
              </a:spcAft>
              <a:buFontTx/>
              <a:buNone/>
            </a:pPr>
            <a:r>
              <a:rPr lang="en-US" altLang="en-US" sz="2800" dirty="0">
                <a:solidFill>
                  <a:srgbClr val="7030A0"/>
                </a:solidFill>
                <a:latin typeface="Arial" panose="020B0604020202020204" pitchFamily="34" charset="0"/>
              </a:rPr>
              <a:t>Use a static block to run code before any objects are created.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5235" name="Rectangle 2"/>
          <p:cNvSpPr>
            <a:spLocks noChangeArrowheads="1"/>
          </p:cNvSpPr>
          <p:nvPr/>
        </p:nvSpPr>
        <p:spPr bwMode="auto">
          <a:xfrm>
            <a:off x="609705" y="1804491"/>
            <a:ext cx="7848394"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latin typeface="Arial" panose="020B0604020202020204" pitchFamily="34" charset="0"/>
              </a:rPr>
              <a:t>While static methods can be inherited, class methods have nothing to do with polymorphism.</a:t>
            </a:r>
          </a:p>
          <a:p>
            <a:pPr>
              <a:spcBef>
                <a:spcPct val="0"/>
              </a:spcBef>
              <a:buFontTx/>
              <a:buNone/>
            </a:pPr>
            <a:endParaRPr lang="en-US" altLang="en-US" dirty="0">
              <a:latin typeface="Arial" panose="020B0604020202020204" pitchFamily="34" charset="0"/>
            </a:endParaRPr>
          </a:p>
          <a:p>
            <a:pPr>
              <a:spcBef>
                <a:spcPct val="0"/>
              </a:spcBef>
              <a:buFontTx/>
              <a:buNone/>
            </a:pPr>
            <a:r>
              <a:rPr lang="en-US" altLang="en-US" dirty="0">
                <a:latin typeface="Arial" panose="020B0604020202020204" pitchFamily="34" charset="0"/>
              </a:rPr>
              <a:t>Polymorphism is based on the run-time type, but with static methods the compiler will choose method to call based on the reference type instead.</a:t>
            </a:r>
          </a:p>
        </p:txBody>
      </p:sp>
      <p:sp>
        <p:nvSpPr>
          <p:cNvPr id="95236" name="WordArt 3"/>
          <p:cNvSpPr>
            <a:spLocks noChangeArrowheads="1" noChangeShapeType="1" noTextEdit="1"/>
          </p:cNvSpPr>
          <p:nvPr/>
        </p:nvSpPr>
        <p:spPr bwMode="auto">
          <a:xfrm>
            <a:off x="1371684" y="457279"/>
            <a:ext cx="5867246" cy="685782"/>
          </a:xfrm>
          <a:prstGeom prst="rect">
            <a:avLst/>
          </a:prstGeom>
        </p:spPr>
        <p:txBody>
          <a:bodyPr wrap="none" fromWordArt="1">
            <a:prstTxWarp prst="textPlain">
              <a:avLst>
                <a:gd name="adj" fmla="val 50000"/>
              </a:avLst>
            </a:prstTxWarp>
          </a:bodyPr>
          <a:lstStyle/>
          <a:p>
            <a:pPr algn="ctr"/>
            <a:r>
              <a:rPr lang="en-US" sz="3600" kern="10" dirty="0">
                <a:ln w="9525">
                  <a:solidFill>
                    <a:schemeClr val="accent3">
                      <a:lumMod val="95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Static methods</a:t>
            </a:r>
          </a:p>
        </p:txBody>
      </p:sp>
    </p:spTree>
    <p:extLst>
      <p:ext uri="{BB962C8B-B14F-4D97-AF65-F5344CB8AC3E}">
        <p14:creationId xmlns:p14="http://schemas.microsoft.com/office/powerpoint/2010/main" val="3273601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5235" name="Rectangle 2"/>
          <p:cNvSpPr>
            <a:spLocks noChangeArrowheads="1"/>
          </p:cNvSpPr>
          <p:nvPr/>
        </p:nvSpPr>
        <p:spPr bwMode="auto">
          <a:xfrm>
            <a:off x="647842" y="2438426"/>
            <a:ext cx="7848394"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457200" indent="-457200">
              <a:spcBef>
                <a:spcPct val="0"/>
              </a:spcBef>
              <a:spcAft>
                <a:spcPts val="1200"/>
              </a:spcAft>
            </a:pPr>
            <a:r>
              <a:rPr lang="en-US" altLang="en-US" dirty="0">
                <a:solidFill>
                  <a:schemeClr val="accent1">
                    <a:lumMod val="50000"/>
                  </a:schemeClr>
                </a:solidFill>
                <a:latin typeface="Arial" panose="020B0604020202020204" pitchFamily="34" charset="0"/>
              </a:rPr>
              <a:t>Instance methods </a:t>
            </a:r>
            <a:r>
              <a:rPr lang="en-US" altLang="en-US" dirty="0">
                <a:latin typeface="Arial" panose="020B0604020202020204" pitchFamily="34" charset="0"/>
              </a:rPr>
              <a:t>can be </a:t>
            </a:r>
            <a:r>
              <a:rPr lang="en-US" altLang="en-US" i="1" dirty="0">
                <a:solidFill>
                  <a:schemeClr val="accent1">
                    <a:lumMod val="50000"/>
                  </a:schemeClr>
                </a:solidFill>
                <a:latin typeface="Arial" panose="020B0604020202020204" pitchFamily="34" charset="0"/>
              </a:rPr>
              <a:t>overridden</a:t>
            </a:r>
            <a:r>
              <a:rPr lang="en-US" altLang="en-US" dirty="0">
                <a:latin typeface="Arial" panose="020B0604020202020204" pitchFamily="34" charset="0"/>
              </a:rPr>
              <a:t>.</a:t>
            </a:r>
          </a:p>
          <a:p>
            <a:pPr marL="457200" indent="-457200">
              <a:spcBef>
                <a:spcPct val="0"/>
              </a:spcBef>
              <a:spcAft>
                <a:spcPts val="1200"/>
              </a:spcAft>
            </a:pPr>
            <a:r>
              <a:rPr lang="en-US" altLang="en-US" dirty="0">
                <a:latin typeface="Arial" panose="020B0604020202020204" pitchFamily="34" charset="0"/>
              </a:rPr>
              <a:t>Method version is decided </a:t>
            </a:r>
            <a:br>
              <a:rPr lang="en-US" altLang="en-US" dirty="0">
                <a:latin typeface="Arial" panose="020B0604020202020204" pitchFamily="34" charset="0"/>
              </a:rPr>
            </a:br>
            <a:r>
              <a:rPr lang="en-US" altLang="en-US" dirty="0">
                <a:latin typeface="Arial" panose="020B0604020202020204" pitchFamily="34" charset="0"/>
              </a:rPr>
              <a:t>at </a:t>
            </a:r>
            <a:r>
              <a:rPr lang="en-US" altLang="en-US" dirty="0">
                <a:solidFill>
                  <a:schemeClr val="accent1">
                    <a:lumMod val="50000"/>
                  </a:schemeClr>
                </a:solidFill>
                <a:latin typeface="Arial" panose="020B0604020202020204" pitchFamily="34" charset="0"/>
              </a:rPr>
              <a:t>run-time.</a:t>
            </a:r>
          </a:p>
          <a:p>
            <a:pPr marL="457200" indent="-457200">
              <a:spcBef>
                <a:spcPct val="0"/>
              </a:spcBef>
              <a:spcAft>
                <a:spcPts val="1200"/>
              </a:spcAft>
            </a:pPr>
            <a:r>
              <a:rPr lang="en-US" altLang="en-US" dirty="0">
                <a:latin typeface="Arial" panose="020B0604020202020204" pitchFamily="34" charset="0"/>
              </a:rPr>
              <a:t>This is called </a:t>
            </a:r>
            <a:r>
              <a:rPr lang="en-US" altLang="en-US" dirty="0">
                <a:solidFill>
                  <a:schemeClr val="accent1">
                    <a:lumMod val="50000"/>
                  </a:schemeClr>
                </a:solidFill>
                <a:latin typeface="Arial" panose="020B0604020202020204" pitchFamily="34" charset="0"/>
              </a:rPr>
              <a:t>late binding</a:t>
            </a:r>
            <a:r>
              <a:rPr lang="en-US" altLang="en-US" dirty="0">
                <a:latin typeface="Arial" panose="020B0604020202020204" pitchFamily="34" charset="0"/>
              </a:rPr>
              <a:t>.</a:t>
            </a:r>
          </a:p>
        </p:txBody>
      </p:sp>
      <p:sp>
        <p:nvSpPr>
          <p:cNvPr id="5" name="WordArt 3"/>
          <p:cNvSpPr>
            <a:spLocks noChangeArrowheads="1" noChangeShapeType="1" noTextEdit="1"/>
          </p:cNvSpPr>
          <p:nvPr/>
        </p:nvSpPr>
        <p:spPr bwMode="auto">
          <a:xfrm>
            <a:off x="838298" y="457278"/>
            <a:ext cx="7695998" cy="1142970"/>
          </a:xfrm>
          <a:prstGeom prst="rect">
            <a:avLst/>
          </a:prstGeom>
        </p:spPr>
        <p:txBody>
          <a:bodyPr wrap="none" fromWordArt="1">
            <a:prstTxWarp prst="textPlain">
              <a:avLst>
                <a:gd name="adj" fmla="val 50000"/>
              </a:avLst>
            </a:prstTxWarp>
          </a:bodyPr>
          <a:lstStyle/>
          <a:p>
            <a:pPr algn="ctr"/>
            <a:r>
              <a:rPr lang="en-US" sz="3600" b="0" kern="10" dirty="0">
                <a:ln w="9525">
                  <a:solidFill>
                    <a:schemeClr val="accent3">
                      <a:lumMod val="95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Instance methods</a:t>
            </a:r>
          </a:p>
          <a:p>
            <a:pPr algn="ctr"/>
            <a:r>
              <a:rPr lang="en-US" sz="3600" b="0" kern="10" dirty="0">
                <a:ln w="9525">
                  <a:solidFill>
                    <a:schemeClr val="accent3">
                      <a:lumMod val="95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can be Overridden</a:t>
            </a:r>
          </a:p>
        </p:txBody>
      </p:sp>
    </p:spTree>
    <p:extLst>
      <p:ext uri="{BB962C8B-B14F-4D97-AF65-F5344CB8AC3E}">
        <p14:creationId xmlns:p14="http://schemas.microsoft.com/office/powerpoint/2010/main" val="76938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5" name="WordArt 3"/>
          <p:cNvSpPr>
            <a:spLocks noChangeArrowheads="1" noChangeShapeType="1" noTextEdit="1"/>
          </p:cNvSpPr>
          <p:nvPr/>
        </p:nvSpPr>
        <p:spPr bwMode="auto">
          <a:xfrm>
            <a:off x="1524080" y="457278"/>
            <a:ext cx="6019642" cy="1219168"/>
          </a:xfrm>
          <a:prstGeom prst="rect">
            <a:avLst/>
          </a:prstGeom>
        </p:spPr>
        <p:txBody>
          <a:bodyPr wrap="none" fromWordArt="1">
            <a:prstTxWarp prst="textPlain">
              <a:avLst>
                <a:gd name="adj" fmla="val 50000"/>
              </a:avLst>
            </a:prstTxWarp>
          </a:bodyPr>
          <a:lstStyle/>
          <a:p>
            <a:pPr algn="ctr"/>
            <a:r>
              <a:rPr lang="en-US" sz="3600" b="0" kern="10" dirty="0">
                <a:ln w="9525">
                  <a:solidFill>
                    <a:schemeClr val="accent5">
                      <a:lumMod val="20000"/>
                      <a:lumOff val="80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Static methods</a:t>
            </a:r>
          </a:p>
          <a:p>
            <a:pPr algn="ctr"/>
            <a:r>
              <a:rPr lang="en-US" sz="3600" b="0" kern="10" dirty="0">
                <a:ln w="9525">
                  <a:solidFill>
                    <a:schemeClr val="accent5">
                      <a:lumMod val="20000"/>
                      <a:lumOff val="80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can be Hidden</a:t>
            </a:r>
          </a:p>
        </p:txBody>
      </p:sp>
      <p:sp>
        <p:nvSpPr>
          <p:cNvPr id="4" name="Rectangle 2"/>
          <p:cNvSpPr>
            <a:spLocks noChangeArrowheads="1"/>
          </p:cNvSpPr>
          <p:nvPr/>
        </p:nvSpPr>
        <p:spPr bwMode="auto">
          <a:xfrm>
            <a:off x="647842" y="2438426"/>
            <a:ext cx="803885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457200" indent="-457200">
              <a:spcBef>
                <a:spcPct val="0"/>
              </a:spcBef>
              <a:spcAft>
                <a:spcPts val="1200"/>
              </a:spcAft>
            </a:pPr>
            <a:r>
              <a:rPr lang="en-US" altLang="en-US" dirty="0">
                <a:solidFill>
                  <a:srgbClr val="0070C0"/>
                </a:solidFill>
                <a:latin typeface="Arial" panose="020B0604020202020204" pitchFamily="34" charset="0"/>
              </a:rPr>
              <a:t>Static methods </a:t>
            </a:r>
            <a:r>
              <a:rPr lang="en-US" altLang="en-US" dirty="0">
                <a:latin typeface="Arial" panose="020B0604020202020204" pitchFamily="34" charset="0"/>
              </a:rPr>
              <a:t>cannot be overridden. They </a:t>
            </a:r>
            <a:r>
              <a:rPr lang="en-US" altLang="en-US" u="sng" dirty="0">
                <a:latin typeface="Arial" panose="020B0604020202020204" pitchFamily="34" charset="0"/>
              </a:rPr>
              <a:t>can</a:t>
            </a:r>
            <a:r>
              <a:rPr lang="en-US" altLang="en-US" dirty="0">
                <a:latin typeface="Arial" panose="020B0604020202020204" pitchFamily="34" charset="0"/>
              </a:rPr>
              <a:t> be </a:t>
            </a:r>
            <a:r>
              <a:rPr lang="en-US" altLang="en-US" i="1" dirty="0">
                <a:solidFill>
                  <a:srgbClr val="0070C0"/>
                </a:solidFill>
                <a:latin typeface="Arial" panose="020B0604020202020204" pitchFamily="34" charset="0"/>
              </a:rPr>
              <a:t>hidden</a:t>
            </a:r>
            <a:r>
              <a:rPr lang="en-US" altLang="en-US" dirty="0">
                <a:latin typeface="Arial" panose="020B0604020202020204" pitchFamily="34" charset="0"/>
              </a:rPr>
              <a:t> in a subclass.</a:t>
            </a:r>
          </a:p>
          <a:p>
            <a:pPr marL="457200" indent="-457200">
              <a:spcBef>
                <a:spcPct val="0"/>
              </a:spcBef>
              <a:spcAft>
                <a:spcPts val="1200"/>
              </a:spcAft>
            </a:pPr>
            <a:r>
              <a:rPr lang="en-US" altLang="en-US" dirty="0">
                <a:latin typeface="Arial" panose="020B0604020202020204" pitchFamily="34" charset="0"/>
              </a:rPr>
              <a:t>Method version is decided at </a:t>
            </a:r>
            <a:r>
              <a:rPr lang="en-US" altLang="en-US" dirty="0">
                <a:solidFill>
                  <a:srgbClr val="0070C0"/>
                </a:solidFill>
                <a:latin typeface="Arial" panose="020B0604020202020204" pitchFamily="34" charset="0"/>
              </a:rPr>
              <a:t>compile time</a:t>
            </a:r>
            <a:r>
              <a:rPr lang="en-US" altLang="en-US" dirty="0">
                <a:latin typeface="Arial" panose="020B0604020202020204" pitchFamily="34" charset="0"/>
              </a:rPr>
              <a:t>.</a:t>
            </a:r>
          </a:p>
          <a:p>
            <a:pPr marL="457200" indent="-457200">
              <a:spcBef>
                <a:spcPct val="0"/>
              </a:spcBef>
              <a:spcAft>
                <a:spcPts val="1200"/>
              </a:spcAft>
            </a:pPr>
            <a:r>
              <a:rPr lang="en-US" altLang="en-US" dirty="0">
                <a:latin typeface="Arial" panose="020B0604020202020204" pitchFamily="34" charset="0"/>
              </a:rPr>
              <a:t>This is called </a:t>
            </a:r>
            <a:r>
              <a:rPr lang="en-US" altLang="en-US" dirty="0">
                <a:solidFill>
                  <a:srgbClr val="0070C0"/>
                </a:solidFill>
                <a:latin typeface="Arial" panose="020B0604020202020204" pitchFamily="34" charset="0"/>
              </a:rPr>
              <a:t>early binding</a:t>
            </a:r>
            <a:r>
              <a:rPr lang="en-US" altLang="en-US" dirty="0">
                <a:latin typeface="Arial" panose="020B0604020202020204" pitchFamily="34" charset="0"/>
              </a:rPr>
              <a:t>.</a:t>
            </a:r>
          </a:p>
        </p:txBody>
      </p:sp>
    </p:spTree>
    <p:extLst>
      <p:ext uri="{BB962C8B-B14F-4D97-AF65-F5344CB8AC3E}">
        <p14:creationId xmlns:p14="http://schemas.microsoft.com/office/powerpoint/2010/main" val="3559800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5235" name="Rectangle 2"/>
          <p:cNvSpPr>
            <a:spLocks noChangeArrowheads="1"/>
          </p:cNvSpPr>
          <p:nvPr/>
        </p:nvSpPr>
        <p:spPr bwMode="auto">
          <a:xfrm>
            <a:off x="1009763" y="2133634"/>
            <a:ext cx="7353068"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None/>
            </a:pPr>
            <a:r>
              <a:rPr lang="en-US" sz="4400" dirty="0">
                <a:solidFill>
                  <a:srgbClr val="000000"/>
                </a:solidFill>
                <a:latin typeface="Droid Sans"/>
              </a:rPr>
              <a:t>When you </a:t>
            </a:r>
            <a:r>
              <a:rPr lang="en-US" sz="4400" i="1" dirty="0">
                <a:solidFill>
                  <a:srgbClr val="000000"/>
                </a:solidFill>
                <a:latin typeface="Droid Sans"/>
              </a:rPr>
              <a:t>override</a:t>
            </a:r>
            <a:r>
              <a:rPr lang="en-US" sz="4400" dirty="0">
                <a:solidFill>
                  <a:srgbClr val="000000"/>
                </a:solidFill>
                <a:latin typeface="Droid Sans"/>
              </a:rPr>
              <a:t> an instance method you get the benefits of run-time polymorphism, but when you </a:t>
            </a:r>
            <a:r>
              <a:rPr lang="en-US" sz="4400" i="1" dirty="0">
                <a:solidFill>
                  <a:srgbClr val="000000"/>
                </a:solidFill>
                <a:latin typeface="Droid Sans"/>
              </a:rPr>
              <a:t>hide</a:t>
            </a:r>
            <a:r>
              <a:rPr lang="en-US" sz="4400" dirty="0">
                <a:solidFill>
                  <a:srgbClr val="000000"/>
                </a:solidFill>
                <a:latin typeface="Droid Sans"/>
              </a:rPr>
              <a:t> a static method you don't.</a:t>
            </a:r>
            <a:endParaRPr lang="en-US" sz="4400" dirty="0"/>
          </a:p>
        </p:txBody>
      </p:sp>
      <p:sp>
        <p:nvSpPr>
          <p:cNvPr id="5" name="WordArt 3"/>
          <p:cNvSpPr>
            <a:spLocks noChangeArrowheads="1" noChangeShapeType="1" noTextEdit="1"/>
          </p:cNvSpPr>
          <p:nvPr/>
        </p:nvSpPr>
        <p:spPr bwMode="auto">
          <a:xfrm>
            <a:off x="838298" y="457278"/>
            <a:ext cx="7695998" cy="1142970"/>
          </a:xfrm>
          <a:prstGeom prst="rect">
            <a:avLst/>
          </a:prstGeom>
        </p:spPr>
        <p:txBody>
          <a:bodyPr wrap="none" fromWordArt="1">
            <a:prstTxWarp prst="textPlain">
              <a:avLst>
                <a:gd name="adj" fmla="val 50000"/>
              </a:avLst>
            </a:prstTxWarp>
          </a:bodyPr>
          <a:lstStyle/>
          <a:p>
            <a:pPr algn="ctr"/>
            <a:r>
              <a:rPr lang="en-US" sz="3600" b="0" kern="10" dirty="0">
                <a:ln w="9525">
                  <a:solidFill>
                    <a:schemeClr val="accent3">
                      <a:lumMod val="95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Instance methods</a:t>
            </a:r>
          </a:p>
          <a:p>
            <a:pPr algn="ctr"/>
            <a:r>
              <a:rPr lang="en-US" sz="3600" b="0" kern="10" dirty="0">
                <a:ln w="9525">
                  <a:solidFill>
                    <a:schemeClr val="accent3">
                      <a:lumMod val="95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can be Overridden</a:t>
            </a:r>
          </a:p>
        </p:txBody>
      </p:sp>
    </p:spTree>
    <p:extLst>
      <p:ext uri="{BB962C8B-B14F-4D97-AF65-F5344CB8AC3E}">
        <p14:creationId xmlns:p14="http://schemas.microsoft.com/office/powerpoint/2010/main" val="3974372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bwMode="auto">
      <p:bgPr>
        <a:solidFill>
          <a:srgbClr val="DED4F0"/>
        </a:solidFill>
        <a:effectLst/>
      </p:bgPr>
    </p:bg>
    <p:spTree>
      <p:nvGrpSpPr>
        <p:cNvPr id="1" name=""/>
        <p:cNvGrpSpPr/>
        <p:nvPr/>
      </p:nvGrpSpPr>
      <p:grpSpPr>
        <a:xfrm>
          <a:off x="0" y="0"/>
          <a:ext cx="0" cy="0"/>
          <a:chOff x="0" y="0"/>
          <a:chExt cx="0" cy="0"/>
        </a:xfrm>
      </p:grpSpPr>
      <p:sp>
        <p:nvSpPr>
          <p:cNvPr id="96258" name="Footer Placeholder 1"/>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p>
          <a:p>
            <a:pPr algn="ctr">
              <a:spcBef>
                <a:spcPct val="0"/>
              </a:spcBef>
              <a:buFontTx/>
              <a:buNone/>
            </a:pPr>
            <a:endParaRPr lang="en-US" altLang="en-US" sz="800"/>
          </a:p>
          <a:p>
            <a:pPr algn="ctr">
              <a:spcBef>
                <a:spcPct val="0"/>
              </a:spcBef>
              <a:buFontTx/>
              <a:buNone/>
            </a:pPr>
            <a:r>
              <a:rPr lang="en-US" altLang="en-US" sz="800"/>
              <a:t>© A+ Computer Science  -  www.apluscompsci.com</a:t>
            </a:r>
          </a:p>
        </p:txBody>
      </p:sp>
      <p:sp>
        <p:nvSpPr>
          <p:cNvPr id="96259" name="Footer Placeholder 3"/>
          <p:cNvSpPr txBox="1">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96260" name="Rectangle 2"/>
          <p:cNvSpPr>
            <a:spLocks noChangeArrowheads="1"/>
          </p:cNvSpPr>
          <p:nvPr/>
        </p:nvSpPr>
        <p:spPr bwMode="auto">
          <a:xfrm>
            <a:off x="452438" y="1981200"/>
            <a:ext cx="8386762"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Courier New" panose="02070309020205020404" pitchFamily="49" charset="0"/>
                <a:cs typeface="Courier New" panose="02070309020205020404" pitchFamily="49" charset="0"/>
              </a:rPr>
              <a:t>class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00B050"/>
                </a:solidFill>
                <a:latin typeface="Courier New" panose="02070309020205020404" pitchFamily="49" charset="0"/>
                <a:cs typeface="Courier New" panose="02070309020205020404" pitchFamily="49" charset="0"/>
              </a:rPr>
              <a:t>static</a:t>
            </a:r>
            <a:r>
              <a:rPr lang="en-US" altLang="en-US" sz="2400" dirty="0">
                <a:solidFill>
                  <a:srgbClr val="C00000"/>
                </a:solidFill>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(“Eh?”);  }</a:t>
            </a:r>
          </a:p>
          <a:p>
            <a:pPr>
              <a:spcBef>
                <a:spcPct val="0"/>
              </a:spcBef>
              <a:buFontTx/>
              <a:buNone/>
            </a:pPr>
            <a:endParaRPr lang="en-US" altLang="en-US" sz="2400" dirty="0">
              <a:latin typeface="Courier New" panose="02070309020205020404" pitchFamily="49" charset="0"/>
              <a:cs typeface="Courier New" panose="02070309020205020404" pitchFamily="49" charset="0"/>
            </a:endParaRPr>
          </a:p>
          <a:p>
            <a:pPr>
              <a:spcBef>
                <a:spcPct val="0"/>
              </a:spcBef>
              <a:buFontTx/>
              <a:buNone/>
            </a:pPr>
            <a:r>
              <a:rPr lang="en-US" altLang="en-US" sz="2400" dirty="0">
                <a:latin typeface="Courier New" panose="02070309020205020404" pitchFamily="49" charset="0"/>
                <a:cs typeface="Courier New" panose="02070309020205020404" pitchFamily="49" charset="0"/>
              </a:rPr>
              <a:t>class B extends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00B050"/>
                </a:solidFill>
                <a:latin typeface="Courier New" panose="02070309020205020404" pitchFamily="49" charset="0"/>
                <a:cs typeface="Courier New" panose="02070309020205020404" pitchFamily="49" charset="0"/>
              </a:rPr>
              <a:t>static</a:t>
            </a:r>
            <a:r>
              <a:rPr lang="en-US" altLang="en-US" sz="2400" dirty="0">
                <a:latin typeface="Courier New" panose="02070309020205020404" pitchFamily="49" charset="0"/>
                <a:cs typeface="Courier New" panose="02070309020205020404" pitchFamily="49" charset="0"/>
              </a:rPr>
              <a:t> 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(“Bee!!!”);  }</a:t>
            </a:r>
          </a:p>
          <a:p>
            <a:pPr>
              <a:spcBef>
                <a:spcPct val="0"/>
              </a:spcBef>
              <a:buFontTx/>
              <a:buNone/>
            </a:pPr>
            <a:r>
              <a:rPr lang="en-US" altLang="en-US" sz="2400" dirty="0">
                <a:latin typeface="Courier New" panose="02070309020205020404" pitchFamily="49" charset="0"/>
                <a:cs typeface="Courier New" panose="02070309020205020404" pitchFamily="49" charset="0"/>
              </a:rPr>
              <a:t>  </a:t>
            </a:r>
          </a:p>
          <a:p>
            <a:pPr>
              <a:spcBef>
                <a:spcPct val="0"/>
              </a:spcBef>
              <a:buFontTx/>
              <a:buNone/>
            </a:pPr>
            <a:r>
              <a:rPr lang="en-US" altLang="en-US" sz="2400" dirty="0">
                <a:latin typeface="Courier New" panose="02070309020205020404" pitchFamily="49" charset="0"/>
                <a:cs typeface="Courier New" panose="02070309020205020404" pitchFamily="49" charset="0"/>
              </a:rPr>
              <a:t>// In the main method:</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0000FF"/>
                </a:solidFill>
                <a:latin typeface="Courier New" panose="02070309020205020404" pitchFamily="49" charset="0"/>
                <a:cs typeface="Courier New" panose="02070309020205020404" pitchFamily="49" charset="0"/>
              </a:rPr>
              <a:t>A.write</a:t>
            </a:r>
            <a:r>
              <a:rPr lang="en-US" altLang="en-US" sz="2400" dirty="0">
                <a:solidFill>
                  <a:srgbClr val="0000FF"/>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0000FF"/>
                </a:solidFill>
                <a:latin typeface="Courier New" panose="02070309020205020404" pitchFamily="49" charset="0"/>
                <a:cs typeface="Courier New" panose="02070309020205020404" pitchFamily="49" charset="0"/>
              </a:rPr>
              <a:t>B.write</a:t>
            </a:r>
            <a:r>
              <a:rPr lang="en-US" altLang="en-US" sz="2400" dirty="0">
                <a:solidFill>
                  <a:srgbClr val="0000FF"/>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p:txBody>
      </p:sp>
      <p:sp>
        <p:nvSpPr>
          <p:cNvPr id="96261" name="WordArt 3"/>
          <p:cNvSpPr>
            <a:spLocks noChangeArrowheads="1" noChangeShapeType="1" noTextEdit="1"/>
          </p:cNvSpPr>
          <p:nvPr/>
        </p:nvSpPr>
        <p:spPr bwMode="auto">
          <a:xfrm>
            <a:off x="452438" y="381000"/>
            <a:ext cx="8386762"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Choosing when the methods are CLASS METHODS</a:t>
            </a:r>
          </a:p>
        </p:txBody>
      </p:sp>
      <p:sp>
        <p:nvSpPr>
          <p:cNvPr id="96262" name="Rectangle 1"/>
          <p:cNvSpPr>
            <a:spLocks noChangeArrowheads="1"/>
          </p:cNvSpPr>
          <p:nvPr/>
        </p:nvSpPr>
        <p:spPr bwMode="auto">
          <a:xfrm>
            <a:off x="434975" y="1219200"/>
            <a:ext cx="81534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a:solidFill>
                  <a:srgbClr val="0000FF"/>
                </a:solidFill>
                <a:latin typeface="Tahoma" panose="020B0604030504040204" pitchFamily="34" charset="0"/>
              </a:rPr>
              <a:t>Static Binding </a:t>
            </a:r>
            <a:r>
              <a:rPr lang="en-US" altLang="en-US" sz="1800">
                <a:latin typeface="Tahoma" panose="020B0604030504040204" pitchFamily="34" charset="0"/>
              </a:rPr>
              <a:t>-  method calls that are locked down at compile time.</a:t>
            </a:r>
          </a:p>
          <a:p>
            <a:pPr>
              <a:spcBef>
                <a:spcPct val="50000"/>
              </a:spcBef>
              <a:buFontTx/>
              <a:buNone/>
            </a:pPr>
            <a:endParaRPr lang="en-US" altLang="en-US" sz="1800">
              <a:latin typeface="Tahoma" panose="020B0604030504040204" pitchFamily="34" charset="0"/>
            </a:endParaRPr>
          </a:p>
        </p:txBody>
      </p:sp>
      <p:sp>
        <p:nvSpPr>
          <p:cNvPr id="96263" name="TextBox 1"/>
          <p:cNvSpPr txBox="1">
            <a:spLocks noChangeArrowheads="1"/>
          </p:cNvSpPr>
          <p:nvPr/>
        </p:nvSpPr>
        <p:spPr bwMode="auto">
          <a:xfrm>
            <a:off x="5410200" y="4953000"/>
            <a:ext cx="1296988"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solidFill>
                  <a:srgbClr val="0000FF"/>
                </a:solidFill>
                <a:latin typeface="Arial" panose="020B0604020202020204" pitchFamily="34" charset="0"/>
              </a:rPr>
              <a:t>OUTPUT:</a:t>
            </a:r>
          </a:p>
          <a:p>
            <a:pPr>
              <a:spcBef>
                <a:spcPct val="0"/>
              </a:spcBef>
              <a:buFontTx/>
              <a:buNone/>
            </a:pPr>
            <a:r>
              <a:rPr lang="en-US" altLang="en-US" sz="2400">
                <a:solidFill>
                  <a:srgbClr val="0000FF"/>
                </a:solidFill>
                <a:latin typeface="Courier New" panose="02070309020205020404" pitchFamily="49" charset="0"/>
                <a:cs typeface="Courier New" panose="02070309020205020404" pitchFamily="49" charset="0"/>
              </a:rPr>
              <a:t>Eh?</a:t>
            </a:r>
          </a:p>
          <a:p>
            <a:pPr>
              <a:spcBef>
                <a:spcPct val="0"/>
              </a:spcBef>
              <a:buFontTx/>
              <a:buNone/>
            </a:pPr>
            <a:r>
              <a:rPr lang="en-US" altLang="en-US" sz="2400">
                <a:solidFill>
                  <a:srgbClr val="0000FF"/>
                </a:solidFill>
                <a:latin typeface="Courier New" panose="02070309020205020404" pitchFamily="49" charset="0"/>
                <a:cs typeface="Courier New" panose="02070309020205020404" pitchFamily="49" charset="0"/>
              </a:rPr>
              <a:t>Bee!!!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bwMode="auto">
      <p:bgPr>
        <a:solidFill>
          <a:srgbClr val="DED4F0"/>
        </a:solidFill>
        <a:effectLst/>
      </p:bgPr>
    </p:bg>
    <p:spTree>
      <p:nvGrpSpPr>
        <p:cNvPr id="1" name=""/>
        <p:cNvGrpSpPr/>
        <p:nvPr/>
      </p:nvGrpSpPr>
      <p:grpSpPr>
        <a:xfrm>
          <a:off x="0" y="0"/>
          <a:ext cx="0" cy="0"/>
          <a:chOff x="0" y="0"/>
          <a:chExt cx="0" cy="0"/>
        </a:xfrm>
      </p:grpSpPr>
      <p:sp>
        <p:nvSpPr>
          <p:cNvPr id="97282" name="Rectangle 2"/>
          <p:cNvSpPr>
            <a:spLocks noChangeArrowheads="1"/>
          </p:cNvSpPr>
          <p:nvPr/>
        </p:nvSpPr>
        <p:spPr bwMode="auto">
          <a:xfrm>
            <a:off x="434975" y="1611313"/>
            <a:ext cx="8386763"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Courier New" panose="02070309020205020404" pitchFamily="49" charset="0"/>
                <a:cs typeface="Courier New" panose="02070309020205020404" pitchFamily="49" charset="0"/>
              </a:rPr>
              <a:t>class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00B050"/>
                </a:solidFill>
                <a:latin typeface="Courier New" panose="02070309020205020404" pitchFamily="49" charset="0"/>
                <a:cs typeface="Courier New" panose="02070309020205020404" pitchFamily="49" charset="0"/>
              </a:rPr>
              <a:t>static</a:t>
            </a:r>
            <a:r>
              <a:rPr lang="en-US" altLang="en-US" sz="2400" dirty="0">
                <a:solidFill>
                  <a:srgbClr val="C00000"/>
                </a:solidFill>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(“Eh?”);  }</a:t>
            </a:r>
          </a:p>
          <a:p>
            <a:pPr>
              <a:spcBef>
                <a:spcPct val="0"/>
              </a:spcBef>
              <a:buFontTx/>
              <a:buNone/>
            </a:pPr>
            <a:endParaRPr lang="en-US" altLang="en-US" sz="2400" dirty="0">
              <a:latin typeface="Courier New" panose="02070309020205020404" pitchFamily="49" charset="0"/>
              <a:cs typeface="Courier New" panose="02070309020205020404" pitchFamily="49" charset="0"/>
            </a:endParaRPr>
          </a:p>
          <a:p>
            <a:pPr>
              <a:spcBef>
                <a:spcPct val="0"/>
              </a:spcBef>
              <a:buFontTx/>
              <a:buNone/>
            </a:pPr>
            <a:r>
              <a:rPr lang="en-US" altLang="en-US" sz="2400" dirty="0">
                <a:latin typeface="Courier New" panose="02070309020205020404" pitchFamily="49" charset="0"/>
                <a:cs typeface="Courier New" panose="02070309020205020404" pitchFamily="49" charset="0"/>
              </a:rPr>
              <a:t>class B extends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00B050"/>
                </a:solidFill>
                <a:latin typeface="Courier New" panose="02070309020205020404" pitchFamily="49" charset="0"/>
                <a:cs typeface="Courier New" panose="02070309020205020404" pitchFamily="49" charset="0"/>
              </a:rPr>
              <a:t>static</a:t>
            </a:r>
            <a:r>
              <a:rPr lang="en-US" altLang="en-US" sz="2400" dirty="0">
                <a:latin typeface="Courier New" panose="02070309020205020404" pitchFamily="49" charset="0"/>
                <a:cs typeface="Courier New" panose="02070309020205020404" pitchFamily="49" charset="0"/>
              </a:rPr>
              <a:t> 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(“Bee!!!”);  }</a:t>
            </a:r>
          </a:p>
          <a:p>
            <a:pPr>
              <a:spcBef>
                <a:spcPct val="0"/>
              </a:spcBef>
              <a:buFontTx/>
              <a:buNone/>
            </a:pPr>
            <a:r>
              <a:rPr lang="en-US" altLang="en-US" sz="4000" dirty="0">
                <a:latin typeface="Courier New" panose="02070309020205020404" pitchFamily="49" charset="0"/>
                <a:cs typeface="Courier New" panose="02070309020205020404" pitchFamily="49" charset="0"/>
              </a:rPr>
              <a:t>  </a:t>
            </a:r>
          </a:p>
          <a:p>
            <a:pPr>
              <a:spcBef>
                <a:spcPct val="0"/>
              </a:spcBef>
              <a:buFontTx/>
              <a:buNone/>
            </a:pPr>
            <a:r>
              <a:rPr lang="en-US" altLang="en-US" sz="2400" dirty="0">
                <a:latin typeface="Courier New" panose="02070309020205020404" pitchFamily="49" charset="0"/>
                <a:cs typeface="Courier New" panose="02070309020205020404" pitchFamily="49" charset="0"/>
              </a:rPr>
              <a:t>// In the main method:</a:t>
            </a:r>
          </a:p>
          <a:p>
            <a:pPr>
              <a:spcBef>
                <a:spcPct val="0"/>
              </a:spcBef>
              <a:buFontTx/>
              <a:buNone/>
            </a:pPr>
            <a:r>
              <a:rPr lang="en-US" altLang="en-US" sz="2400" dirty="0">
                <a:solidFill>
                  <a:srgbClr val="612A8A"/>
                </a:solidFill>
                <a:latin typeface="Courier New" panose="02070309020205020404" pitchFamily="49" charset="0"/>
                <a:cs typeface="Courier New" panose="02070309020205020404" pitchFamily="49" charset="0"/>
              </a:rPr>
              <a:t>A </a:t>
            </a:r>
            <a:r>
              <a:rPr lang="en-US" altLang="en-US" sz="2400" dirty="0" err="1">
                <a:solidFill>
                  <a:srgbClr val="612A8A"/>
                </a:solidFill>
                <a:latin typeface="Courier New" panose="02070309020205020404" pitchFamily="49" charset="0"/>
                <a:cs typeface="Courier New" panose="02070309020205020404" pitchFamily="49" charset="0"/>
              </a:rPr>
              <a:t>obj</a:t>
            </a:r>
            <a:r>
              <a:rPr lang="en-US" altLang="en-US" sz="2400" dirty="0">
                <a:solidFill>
                  <a:srgbClr val="612A8A"/>
                </a:solidFill>
                <a:latin typeface="Courier New" panose="02070309020205020404" pitchFamily="49" charset="0"/>
                <a:cs typeface="Courier New" panose="02070309020205020404" pitchFamily="49" charset="0"/>
              </a:rPr>
              <a:t> = new A();</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7030A0"/>
                </a:solidFill>
                <a:latin typeface="Courier New" panose="02070309020205020404" pitchFamily="49" charset="0"/>
                <a:cs typeface="Courier New" panose="02070309020205020404" pitchFamily="49" charset="0"/>
              </a:rPr>
              <a:t>obj.write</a:t>
            </a:r>
            <a:r>
              <a:rPr lang="en-US" altLang="en-US" sz="2400" dirty="0">
                <a:solidFill>
                  <a:srgbClr val="7030A0"/>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a:p>
            <a:pPr>
              <a:spcBef>
                <a:spcPct val="0"/>
              </a:spcBef>
              <a:buFontTx/>
              <a:buNone/>
            </a:pPr>
            <a:r>
              <a:rPr lang="en-US" altLang="en-US" sz="2400" dirty="0" err="1">
                <a:solidFill>
                  <a:srgbClr val="612A8A"/>
                </a:solidFill>
                <a:latin typeface="Courier New" panose="02070309020205020404" pitchFamily="49" charset="0"/>
                <a:cs typeface="Courier New" panose="02070309020205020404" pitchFamily="49" charset="0"/>
              </a:rPr>
              <a:t>obj</a:t>
            </a:r>
            <a:r>
              <a:rPr lang="en-US" altLang="en-US" sz="2400" dirty="0">
                <a:solidFill>
                  <a:srgbClr val="612A8A"/>
                </a:solidFill>
                <a:latin typeface="Courier New" panose="02070309020205020404" pitchFamily="49" charset="0"/>
                <a:cs typeface="Courier New" panose="02070309020205020404" pitchFamily="49" charset="0"/>
              </a:rPr>
              <a:t> = new B();</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7030A0"/>
                </a:solidFill>
                <a:latin typeface="Courier New" panose="02070309020205020404" pitchFamily="49" charset="0"/>
                <a:cs typeface="Courier New" panose="02070309020205020404" pitchFamily="49" charset="0"/>
              </a:rPr>
              <a:t>obj.write</a:t>
            </a:r>
            <a:r>
              <a:rPr lang="en-US" altLang="en-US" sz="2400" dirty="0">
                <a:solidFill>
                  <a:srgbClr val="7030A0"/>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p:txBody>
      </p:sp>
      <p:sp>
        <p:nvSpPr>
          <p:cNvPr id="97283" name="WordArt 3"/>
          <p:cNvSpPr>
            <a:spLocks noChangeArrowheads="1" noChangeShapeType="1" noTextEdit="1"/>
          </p:cNvSpPr>
          <p:nvPr/>
        </p:nvSpPr>
        <p:spPr bwMode="auto">
          <a:xfrm>
            <a:off x="452438" y="381000"/>
            <a:ext cx="8386762"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Choosing when the methods are CLASS METHODS</a:t>
            </a:r>
          </a:p>
        </p:txBody>
      </p:sp>
      <p:sp>
        <p:nvSpPr>
          <p:cNvPr id="97284" name="Rectangle 1"/>
          <p:cNvSpPr>
            <a:spLocks noChangeArrowheads="1"/>
          </p:cNvSpPr>
          <p:nvPr/>
        </p:nvSpPr>
        <p:spPr bwMode="auto">
          <a:xfrm>
            <a:off x="434975" y="1219200"/>
            <a:ext cx="81534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a:solidFill>
                  <a:srgbClr val="0000FF"/>
                </a:solidFill>
                <a:latin typeface="Tahoma" panose="020B0604030504040204" pitchFamily="34" charset="0"/>
              </a:rPr>
              <a:t>Static Binding </a:t>
            </a:r>
            <a:r>
              <a:rPr lang="en-US" altLang="en-US" sz="1800">
                <a:latin typeface="Tahoma" panose="020B0604030504040204" pitchFamily="34" charset="0"/>
              </a:rPr>
              <a:t>-  method calls that are locked down at compile time.</a:t>
            </a:r>
          </a:p>
          <a:p>
            <a:pPr>
              <a:spcBef>
                <a:spcPct val="50000"/>
              </a:spcBef>
              <a:buFontTx/>
              <a:buNone/>
            </a:pPr>
            <a:endParaRPr lang="en-US" altLang="en-US" sz="1800">
              <a:latin typeface="Tahoma" panose="020B0604030504040204" pitchFamily="34" charset="0"/>
            </a:endParaRPr>
          </a:p>
        </p:txBody>
      </p:sp>
      <p:sp>
        <p:nvSpPr>
          <p:cNvPr id="97285" name="TextBox 1"/>
          <p:cNvSpPr txBox="1">
            <a:spLocks noChangeArrowheads="1"/>
          </p:cNvSpPr>
          <p:nvPr/>
        </p:nvSpPr>
        <p:spPr bwMode="auto">
          <a:xfrm>
            <a:off x="5410200" y="5197389"/>
            <a:ext cx="1296988"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rgbClr val="0000FF"/>
                </a:solidFill>
                <a:latin typeface="Arial" panose="020B0604020202020204" pitchFamily="34" charset="0"/>
              </a:rPr>
              <a:t>OUTPUT:</a:t>
            </a:r>
          </a:p>
          <a:p>
            <a:pPr>
              <a:spcBef>
                <a:spcPct val="0"/>
              </a:spcBef>
              <a:buFontTx/>
              <a:buNone/>
            </a:pPr>
            <a:r>
              <a:rPr lang="en-US" altLang="en-US" sz="2400" dirty="0">
                <a:solidFill>
                  <a:srgbClr val="7030A0"/>
                </a:solidFill>
                <a:latin typeface="Courier New" panose="02070309020205020404" pitchFamily="49" charset="0"/>
                <a:cs typeface="Courier New" panose="02070309020205020404" pitchFamily="49" charset="0"/>
              </a:rPr>
              <a:t>Eh?</a:t>
            </a:r>
          </a:p>
          <a:p>
            <a:pPr>
              <a:spcBef>
                <a:spcPct val="0"/>
              </a:spcBef>
              <a:buFontTx/>
              <a:buNone/>
            </a:pPr>
            <a:endParaRPr lang="en-US" altLang="en-US" sz="2400" dirty="0">
              <a:solidFill>
                <a:srgbClr val="7030A0"/>
              </a:solidFill>
              <a:latin typeface="Courier New" panose="02070309020205020404" pitchFamily="49" charset="0"/>
              <a:cs typeface="Courier New" panose="02070309020205020404" pitchFamily="49" charset="0"/>
            </a:endParaRPr>
          </a:p>
          <a:p>
            <a:pPr>
              <a:spcBef>
                <a:spcPct val="0"/>
              </a:spcBef>
              <a:buFontTx/>
              <a:buNone/>
            </a:pPr>
            <a:r>
              <a:rPr lang="en-US" altLang="en-US" sz="2400" dirty="0">
                <a:solidFill>
                  <a:srgbClr val="7030A0"/>
                </a:solidFill>
                <a:latin typeface="Courier New" panose="02070309020205020404" pitchFamily="49" charset="0"/>
                <a:cs typeface="Courier New" panose="02070309020205020404" pitchFamily="49" charset="0"/>
              </a:rPr>
              <a:t>Eh?</a:t>
            </a:r>
          </a:p>
        </p:txBody>
      </p:sp>
      <p:sp>
        <p:nvSpPr>
          <p:cNvPr id="6" name="Rectangle 2"/>
          <p:cNvSpPr>
            <a:spLocks noChangeArrowheads="1"/>
          </p:cNvSpPr>
          <p:nvPr/>
        </p:nvSpPr>
        <p:spPr bwMode="auto">
          <a:xfrm>
            <a:off x="5464047" y="4226899"/>
            <a:ext cx="352743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rgbClr val="FF0000"/>
                </a:solidFill>
                <a:latin typeface="Arial" panose="020B0604020202020204" pitchFamily="34" charset="0"/>
                <a:cs typeface="Arial" panose="020B0604020202020204" pitchFamily="34" charset="0"/>
              </a:rPr>
              <a:t>Note:  It is considered poor form to call a static method using an object reference!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bwMode="auto">
      <p:bgPr>
        <a:solidFill>
          <a:srgbClr val="DED4F0"/>
        </a:solidFill>
        <a:effectLst/>
      </p:bgPr>
    </p:bg>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434975" y="1611313"/>
            <a:ext cx="8386763" cy="520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Courier New" panose="02070309020205020404" pitchFamily="49" charset="0"/>
                <a:cs typeface="Courier New" panose="02070309020205020404" pitchFamily="49" charset="0"/>
              </a:rPr>
              <a:t>class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00B050"/>
                </a:solidFill>
                <a:latin typeface="Courier New" panose="02070309020205020404" pitchFamily="49" charset="0"/>
                <a:cs typeface="Courier New" panose="02070309020205020404" pitchFamily="49" charset="0"/>
              </a:rPr>
              <a:t>static</a:t>
            </a:r>
            <a:r>
              <a:rPr lang="en-US" altLang="en-US" sz="2400" dirty="0">
                <a:solidFill>
                  <a:srgbClr val="C00000"/>
                </a:solidFill>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(“Eh?”);  }</a:t>
            </a:r>
          </a:p>
          <a:p>
            <a:pPr>
              <a:spcBef>
                <a:spcPct val="0"/>
              </a:spcBef>
              <a:buFontTx/>
              <a:buNone/>
            </a:pPr>
            <a:endParaRPr lang="en-US" altLang="en-US" sz="2400" dirty="0">
              <a:latin typeface="Courier New" panose="02070309020205020404" pitchFamily="49" charset="0"/>
              <a:cs typeface="Courier New" panose="02070309020205020404" pitchFamily="49" charset="0"/>
            </a:endParaRPr>
          </a:p>
          <a:p>
            <a:pPr>
              <a:spcBef>
                <a:spcPct val="0"/>
              </a:spcBef>
              <a:buFontTx/>
              <a:buNone/>
            </a:pPr>
            <a:r>
              <a:rPr lang="en-US" altLang="en-US" sz="2400" dirty="0">
                <a:latin typeface="Courier New" panose="02070309020205020404" pitchFamily="49" charset="0"/>
                <a:cs typeface="Courier New" panose="02070309020205020404" pitchFamily="49" charset="0"/>
              </a:rPr>
              <a:t>class B extends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00B050"/>
                </a:solidFill>
                <a:latin typeface="Courier New" panose="02070309020205020404" pitchFamily="49" charset="0"/>
                <a:cs typeface="Courier New" panose="02070309020205020404" pitchFamily="49" charset="0"/>
              </a:rPr>
              <a:t>static</a:t>
            </a:r>
            <a:r>
              <a:rPr lang="en-US" altLang="en-US" sz="2400" dirty="0">
                <a:latin typeface="Courier New" panose="02070309020205020404" pitchFamily="49" charset="0"/>
                <a:cs typeface="Courier New" panose="02070309020205020404" pitchFamily="49" charset="0"/>
              </a:rPr>
              <a:t> 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(“Bee!!!”);  }</a:t>
            </a:r>
          </a:p>
          <a:p>
            <a:pPr>
              <a:spcBef>
                <a:spcPct val="0"/>
              </a:spcBef>
              <a:buFontTx/>
              <a:buNone/>
            </a:pPr>
            <a:r>
              <a:rPr lang="en-US" altLang="en-US" sz="4400" dirty="0">
                <a:latin typeface="Courier New" panose="02070309020205020404" pitchFamily="49" charset="0"/>
                <a:cs typeface="Courier New" panose="02070309020205020404" pitchFamily="49" charset="0"/>
              </a:rPr>
              <a:t>  </a:t>
            </a:r>
          </a:p>
          <a:p>
            <a:pPr>
              <a:spcBef>
                <a:spcPct val="0"/>
              </a:spcBef>
              <a:buFontTx/>
              <a:buNone/>
            </a:pPr>
            <a:r>
              <a:rPr lang="en-US" altLang="en-US" sz="2400" dirty="0">
                <a:latin typeface="Courier New" panose="02070309020205020404" pitchFamily="49" charset="0"/>
                <a:cs typeface="Courier New" panose="02070309020205020404" pitchFamily="49" charset="0"/>
              </a:rPr>
              <a:t>// In the main method:</a:t>
            </a:r>
          </a:p>
          <a:p>
            <a:pPr>
              <a:spcBef>
                <a:spcPct val="0"/>
              </a:spcBef>
              <a:buFontTx/>
              <a:buNone/>
            </a:pPr>
            <a:r>
              <a:rPr lang="en-US" altLang="en-US" sz="2400" dirty="0">
                <a:solidFill>
                  <a:srgbClr val="612A8A"/>
                </a:solidFill>
                <a:latin typeface="Courier New" panose="02070309020205020404" pitchFamily="49" charset="0"/>
                <a:cs typeface="Courier New" panose="02070309020205020404" pitchFamily="49" charset="0"/>
              </a:rPr>
              <a:t>A obj1 = new B();</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a:solidFill>
                  <a:srgbClr val="7030A0"/>
                </a:solidFill>
                <a:latin typeface="Courier New" panose="02070309020205020404" pitchFamily="49" charset="0"/>
                <a:cs typeface="Courier New" panose="02070309020205020404" pitchFamily="49" charset="0"/>
              </a:rPr>
              <a:t>obj1.write()</a:t>
            </a:r>
            <a:r>
              <a:rPr lang="en-US" altLang="en-US" sz="2400" dirty="0">
                <a:latin typeface="Courier New" panose="02070309020205020404" pitchFamily="49" charset="0"/>
                <a:cs typeface="Courier New" panose="02070309020205020404" pitchFamily="49" charset="0"/>
              </a:rPr>
              <a:t>);</a:t>
            </a:r>
          </a:p>
          <a:p>
            <a:pPr>
              <a:spcBef>
                <a:spcPct val="0"/>
              </a:spcBef>
              <a:buFontTx/>
              <a:buNone/>
            </a:pPr>
            <a:r>
              <a:rPr lang="en-US" altLang="en-US" sz="2400" dirty="0">
                <a:solidFill>
                  <a:srgbClr val="612A8A"/>
                </a:solidFill>
                <a:latin typeface="Courier New" panose="02070309020205020404" pitchFamily="49" charset="0"/>
                <a:cs typeface="Courier New" panose="02070309020205020404" pitchFamily="49" charset="0"/>
              </a:rPr>
              <a:t>B obj2 = new B();</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a:solidFill>
                  <a:srgbClr val="7030A0"/>
                </a:solidFill>
                <a:latin typeface="Courier New" panose="02070309020205020404" pitchFamily="49" charset="0"/>
                <a:cs typeface="Courier New" panose="02070309020205020404" pitchFamily="49" charset="0"/>
              </a:rPr>
              <a:t>obj2.write()</a:t>
            </a:r>
            <a:r>
              <a:rPr lang="en-US" altLang="en-US" sz="2400" dirty="0">
                <a:latin typeface="Courier New" panose="02070309020205020404" pitchFamily="49" charset="0"/>
                <a:cs typeface="Courier New" panose="02070309020205020404" pitchFamily="49" charset="0"/>
              </a:rPr>
              <a:t>);</a:t>
            </a:r>
          </a:p>
        </p:txBody>
      </p:sp>
      <p:sp>
        <p:nvSpPr>
          <p:cNvPr id="99331" name="WordArt 3"/>
          <p:cNvSpPr>
            <a:spLocks noChangeArrowheads="1" noChangeShapeType="1" noTextEdit="1"/>
          </p:cNvSpPr>
          <p:nvPr/>
        </p:nvSpPr>
        <p:spPr bwMode="auto">
          <a:xfrm>
            <a:off x="452438" y="381000"/>
            <a:ext cx="8386762"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Choosing when the methods are CLASS METHODS</a:t>
            </a:r>
          </a:p>
        </p:txBody>
      </p:sp>
      <p:sp>
        <p:nvSpPr>
          <p:cNvPr id="99332" name="Rectangle 1"/>
          <p:cNvSpPr>
            <a:spLocks noChangeArrowheads="1"/>
          </p:cNvSpPr>
          <p:nvPr/>
        </p:nvSpPr>
        <p:spPr bwMode="auto">
          <a:xfrm>
            <a:off x="434975" y="1219200"/>
            <a:ext cx="81534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dirty="0">
                <a:solidFill>
                  <a:srgbClr val="0000FF"/>
                </a:solidFill>
                <a:latin typeface="Tahoma" panose="020B0604030504040204" pitchFamily="34" charset="0"/>
              </a:rPr>
              <a:t>Static Binding </a:t>
            </a:r>
            <a:r>
              <a:rPr lang="en-US" altLang="en-US" sz="1800" dirty="0">
                <a:latin typeface="Tahoma" panose="020B0604030504040204" pitchFamily="34" charset="0"/>
              </a:rPr>
              <a:t>-  method calls that are locked down at compile time.</a:t>
            </a:r>
          </a:p>
          <a:p>
            <a:pPr>
              <a:spcBef>
                <a:spcPct val="50000"/>
              </a:spcBef>
              <a:buFontTx/>
              <a:buNone/>
            </a:pPr>
            <a:endParaRPr lang="en-US" altLang="en-US" sz="1800" dirty="0">
              <a:latin typeface="Tahoma" panose="020B0604030504040204" pitchFamily="34" charset="0"/>
            </a:endParaRPr>
          </a:p>
        </p:txBody>
      </p:sp>
      <p:sp>
        <p:nvSpPr>
          <p:cNvPr id="99333" name="TextBox 1"/>
          <p:cNvSpPr txBox="1">
            <a:spLocks noChangeArrowheads="1"/>
          </p:cNvSpPr>
          <p:nvPr/>
        </p:nvSpPr>
        <p:spPr bwMode="auto">
          <a:xfrm>
            <a:off x="5410200" y="5273587"/>
            <a:ext cx="1296988"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latin typeface="Arial" panose="020B0604020202020204" pitchFamily="34" charset="0"/>
              </a:rPr>
              <a:t>OUTPUT:</a:t>
            </a:r>
          </a:p>
          <a:p>
            <a:pPr>
              <a:spcBef>
                <a:spcPct val="0"/>
              </a:spcBef>
              <a:buFontTx/>
              <a:buNone/>
            </a:pPr>
            <a:r>
              <a:rPr lang="en-US" altLang="en-US" sz="2400" dirty="0">
                <a:solidFill>
                  <a:srgbClr val="7030A0"/>
                </a:solidFill>
                <a:latin typeface="Courier New" panose="02070309020205020404" pitchFamily="49" charset="0"/>
                <a:cs typeface="Courier New" panose="02070309020205020404" pitchFamily="49" charset="0"/>
              </a:rPr>
              <a:t>Eh?</a:t>
            </a:r>
          </a:p>
          <a:p>
            <a:pPr>
              <a:spcBef>
                <a:spcPct val="0"/>
              </a:spcBef>
              <a:buFontTx/>
              <a:buNone/>
            </a:pPr>
            <a:endParaRPr lang="en-US" altLang="en-US" sz="2400" dirty="0">
              <a:solidFill>
                <a:srgbClr val="7030A0"/>
              </a:solidFill>
              <a:latin typeface="Courier New" panose="02070309020205020404" pitchFamily="49" charset="0"/>
              <a:cs typeface="Courier New" panose="02070309020205020404" pitchFamily="49" charset="0"/>
            </a:endParaRPr>
          </a:p>
          <a:p>
            <a:pPr>
              <a:spcBef>
                <a:spcPct val="0"/>
              </a:spcBef>
              <a:buFontTx/>
              <a:buNone/>
            </a:pPr>
            <a:r>
              <a:rPr lang="en-US" altLang="en-US" sz="2400" dirty="0">
                <a:solidFill>
                  <a:srgbClr val="7030A0"/>
                </a:solidFill>
                <a:latin typeface="Courier New" panose="02070309020205020404" pitchFamily="49" charset="0"/>
                <a:cs typeface="Courier New" panose="02070309020205020404" pitchFamily="49" charset="0"/>
              </a:rPr>
              <a:t>Bee!!!</a:t>
            </a:r>
          </a:p>
        </p:txBody>
      </p:sp>
      <p:sp>
        <p:nvSpPr>
          <p:cNvPr id="6" name="Rectangle 2"/>
          <p:cNvSpPr>
            <a:spLocks noChangeArrowheads="1"/>
          </p:cNvSpPr>
          <p:nvPr/>
        </p:nvSpPr>
        <p:spPr bwMode="auto">
          <a:xfrm>
            <a:off x="5294301" y="4226899"/>
            <a:ext cx="352743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rgbClr val="FF0000"/>
                </a:solidFill>
                <a:latin typeface="Arial" panose="020B0604020202020204" pitchFamily="34" charset="0"/>
                <a:cs typeface="Arial" panose="020B0604020202020204" pitchFamily="34" charset="0"/>
              </a:rPr>
              <a:t>Note:  It is considered poor form to call a static method using an object reference!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bwMode="auto">
      <p:bgPr>
        <a:solidFill>
          <a:srgbClr val="DED4F0"/>
        </a:solidFill>
        <a:effectLst/>
      </p:bgPr>
    </p:bg>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434975" y="1611313"/>
            <a:ext cx="838676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Courier New" panose="02070309020205020404" pitchFamily="49" charset="0"/>
                <a:cs typeface="Courier New" panose="02070309020205020404" pitchFamily="49" charset="0"/>
              </a:rPr>
              <a:t>class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C00000"/>
                </a:solidFill>
                <a:latin typeface="Courier New" panose="02070309020205020404" pitchFamily="49" charset="0"/>
                <a:cs typeface="Courier New" panose="02070309020205020404" pitchFamily="49" charset="0"/>
              </a:rPr>
              <a:t>static abstract </a:t>
            </a:r>
            <a:r>
              <a:rPr lang="en-US" altLang="en-US" sz="2400" dirty="0">
                <a:latin typeface="Courier New" panose="02070309020205020404" pitchFamily="49" charset="0"/>
                <a:cs typeface="Courier New" panose="02070309020205020404" pitchFamily="49" charset="0"/>
              </a:rPr>
              <a:t>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a:t>
            </a:r>
          </a:p>
          <a:p>
            <a:pPr>
              <a:spcBef>
                <a:spcPct val="0"/>
              </a:spcBef>
              <a:buFontTx/>
              <a:buNone/>
            </a:pPr>
            <a:r>
              <a:rPr lang="en-US" altLang="en-US" sz="2400" dirty="0">
                <a:latin typeface="Courier New" panose="02070309020205020404" pitchFamily="49" charset="0"/>
                <a:cs typeface="Courier New" panose="02070309020205020404" pitchFamily="49" charset="0"/>
              </a:rPr>
              <a:t>class B extends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C00000"/>
                </a:solidFill>
                <a:latin typeface="Courier New" panose="02070309020205020404" pitchFamily="49" charset="0"/>
                <a:cs typeface="Courier New" panose="02070309020205020404" pitchFamily="49" charset="0"/>
              </a:rPr>
              <a:t>static</a:t>
            </a:r>
            <a:r>
              <a:rPr lang="en-US" altLang="en-US" sz="2400" dirty="0">
                <a:latin typeface="Courier New" panose="02070309020205020404" pitchFamily="49" charset="0"/>
                <a:cs typeface="Courier New" panose="02070309020205020404" pitchFamily="49" charset="0"/>
              </a:rPr>
              <a:t> 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(“Bee!!!”);  }</a:t>
            </a:r>
          </a:p>
        </p:txBody>
      </p:sp>
      <p:sp>
        <p:nvSpPr>
          <p:cNvPr id="99331" name="WordArt 3"/>
          <p:cNvSpPr>
            <a:spLocks noChangeArrowheads="1" noChangeShapeType="1" noTextEdit="1"/>
          </p:cNvSpPr>
          <p:nvPr/>
        </p:nvSpPr>
        <p:spPr bwMode="auto">
          <a:xfrm>
            <a:off x="452438" y="381000"/>
            <a:ext cx="8386762"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Choosing when the methods are CLASS METHODS</a:t>
            </a:r>
          </a:p>
        </p:txBody>
      </p:sp>
      <p:sp>
        <p:nvSpPr>
          <p:cNvPr id="99332" name="Rectangle 1"/>
          <p:cNvSpPr>
            <a:spLocks noChangeArrowheads="1"/>
          </p:cNvSpPr>
          <p:nvPr/>
        </p:nvSpPr>
        <p:spPr bwMode="auto">
          <a:xfrm>
            <a:off x="434975" y="1219200"/>
            <a:ext cx="81534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dirty="0">
                <a:solidFill>
                  <a:srgbClr val="0000FF"/>
                </a:solidFill>
                <a:latin typeface="Tahoma" panose="020B0604030504040204" pitchFamily="34" charset="0"/>
              </a:rPr>
              <a:t>Static Binding </a:t>
            </a:r>
            <a:r>
              <a:rPr lang="en-US" altLang="en-US" sz="1800" dirty="0">
                <a:latin typeface="Tahoma" panose="020B0604030504040204" pitchFamily="34" charset="0"/>
              </a:rPr>
              <a:t>-  method calls that are locked down at compile time.</a:t>
            </a:r>
          </a:p>
          <a:p>
            <a:pPr>
              <a:spcBef>
                <a:spcPct val="50000"/>
              </a:spcBef>
              <a:buFontTx/>
              <a:buNone/>
            </a:pPr>
            <a:endParaRPr lang="en-US" altLang="en-US" sz="1800" dirty="0">
              <a:latin typeface="Tahoma" panose="020B0604030504040204" pitchFamily="34" charset="0"/>
            </a:endParaRPr>
          </a:p>
        </p:txBody>
      </p:sp>
      <p:sp>
        <p:nvSpPr>
          <p:cNvPr id="6" name="Rectangle 2"/>
          <p:cNvSpPr>
            <a:spLocks noChangeArrowheads="1"/>
          </p:cNvSpPr>
          <p:nvPr/>
        </p:nvSpPr>
        <p:spPr bwMode="auto">
          <a:xfrm>
            <a:off x="304912" y="4876762"/>
            <a:ext cx="83867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dirty="0">
                <a:solidFill>
                  <a:srgbClr val="FF0000"/>
                </a:solidFill>
                <a:latin typeface="Arial" panose="020B0604020202020204" pitchFamily="34" charset="0"/>
                <a:cs typeface="Arial" panose="020B0604020202020204" pitchFamily="34" charset="0"/>
              </a:rPr>
              <a:t>Abstract methods can’t be static!</a:t>
            </a:r>
          </a:p>
        </p:txBody>
      </p:sp>
    </p:spTree>
    <p:extLst>
      <p:ext uri="{BB962C8B-B14F-4D97-AF65-F5344CB8AC3E}">
        <p14:creationId xmlns:p14="http://schemas.microsoft.com/office/powerpoint/2010/main" val="1406389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4BAB-7585-F35F-70BD-8A64A900C715}"/>
              </a:ext>
            </a:extLst>
          </p:cNvPr>
          <p:cNvSpPr>
            <a:spLocks noGrp="1"/>
          </p:cNvSpPr>
          <p:nvPr>
            <p:ph type="ctrTitle"/>
          </p:nvPr>
        </p:nvSpPr>
        <p:spPr>
          <a:xfrm>
            <a:off x="1160196" y="2133634"/>
            <a:ext cx="6858000" cy="2387600"/>
          </a:xfrm>
        </p:spPr>
        <p:txBody>
          <a:bodyPr/>
          <a:lstStyle/>
          <a:p>
            <a:r>
              <a:rPr lang="en-US" sz="7200" dirty="0">
                <a:latin typeface="Abadi" panose="020B0604020104020204" pitchFamily="34" charset="0"/>
              </a:rPr>
              <a:t>Modifiers combinable with abstract</a:t>
            </a:r>
          </a:p>
        </p:txBody>
      </p:sp>
    </p:spTree>
    <p:extLst>
      <p:ext uri="{BB962C8B-B14F-4D97-AF65-F5344CB8AC3E}">
        <p14:creationId xmlns:p14="http://schemas.microsoft.com/office/powerpoint/2010/main" val="2514836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4BAB-7585-F35F-70BD-8A64A900C715}"/>
              </a:ext>
            </a:extLst>
          </p:cNvPr>
          <p:cNvSpPr>
            <a:spLocks noGrp="1"/>
          </p:cNvSpPr>
          <p:nvPr>
            <p:ph type="ctrTitle"/>
          </p:nvPr>
        </p:nvSpPr>
        <p:spPr>
          <a:xfrm>
            <a:off x="0" y="263150"/>
            <a:ext cx="9144000" cy="838179"/>
          </a:xfrm>
        </p:spPr>
        <p:txBody>
          <a:bodyPr/>
          <a:lstStyle/>
          <a:p>
            <a:pPr>
              <a:tabLst>
                <a:tab pos="1258888" algn="ctr"/>
                <a:tab pos="6862763" algn="ctr"/>
              </a:tabLst>
            </a:pPr>
            <a:r>
              <a:rPr lang="en-US" sz="5400" b="1" dirty="0">
                <a:latin typeface="Abadi" panose="020B0604020104020204" pitchFamily="34" charset="0"/>
              </a:rPr>
              <a:t>Which are allowed?</a:t>
            </a:r>
          </a:p>
        </p:txBody>
      </p:sp>
      <p:sp>
        <p:nvSpPr>
          <p:cNvPr id="3" name="Subtitle 2">
            <a:extLst>
              <a:ext uri="{FF2B5EF4-FFF2-40B4-BE49-F238E27FC236}">
                <a16:creationId xmlns:a16="http://schemas.microsoft.com/office/drawing/2014/main" id="{5C2FC2FF-8BA1-0442-C53E-B537BBAAF9FA}"/>
              </a:ext>
            </a:extLst>
          </p:cNvPr>
          <p:cNvSpPr>
            <a:spLocks noGrp="1"/>
          </p:cNvSpPr>
          <p:nvPr>
            <p:ph type="subTitle" idx="1"/>
          </p:nvPr>
        </p:nvSpPr>
        <p:spPr>
          <a:xfrm>
            <a:off x="2666975" y="2039445"/>
            <a:ext cx="3581396" cy="838178"/>
          </a:xfrm>
        </p:spPr>
        <p:txBody>
          <a:bodyPr/>
          <a:lstStyle/>
          <a:p>
            <a:r>
              <a:rPr lang="en-US" sz="4000" dirty="0">
                <a:latin typeface="Abadi" panose="020B0604020104020204" pitchFamily="34" charset="0"/>
              </a:rPr>
              <a:t>private abstract</a:t>
            </a:r>
          </a:p>
        </p:txBody>
      </p:sp>
      <p:sp>
        <p:nvSpPr>
          <p:cNvPr id="7" name="TextBox 6">
            <a:extLst>
              <a:ext uri="{FF2B5EF4-FFF2-40B4-BE49-F238E27FC236}">
                <a16:creationId xmlns:a16="http://schemas.microsoft.com/office/drawing/2014/main" id="{F1A2AF72-1E4D-0C96-7102-7205C8BF6B2F}"/>
              </a:ext>
            </a:extLst>
          </p:cNvPr>
          <p:cNvSpPr txBox="1"/>
          <p:nvPr/>
        </p:nvSpPr>
        <p:spPr>
          <a:xfrm>
            <a:off x="2781287" y="5410148"/>
            <a:ext cx="3352772" cy="707886"/>
          </a:xfrm>
          <a:prstGeom prst="rect">
            <a:avLst/>
          </a:prstGeom>
          <a:noFill/>
        </p:spPr>
        <p:txBody>
          <a:bodyPr wrap="square">
            <a:spAutoFit/>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abstract static</a:t>
            </a:r>
          </a:p>
        </p:txBody>
      </p:sp>
      <p:sp>
        <p:nvSpPr>
          <p:cNvPr id="11" name="TextBox 10">
            <a:extLst>
              <a:ext uri="{FF2B5EF4-FFF2-40B4-BE49-F238E27FC236}">
                <a16:creationId xmlns:a16="http://schemas.microsoft.com/office/drawing/2014/main" id="{D85845A5-218F-549E-7129-331B247373DB}"/>
              </a:ext>
            </a:extLst>
          </p:cNvPr>
          <p:cNvSpPr txBox="1"/>
          <p:nvPr/>
        </p:nvSpPr>
        <p:spPr>
          <a:xfrm>
            <a:off x="2895629" y="4495772"/>
            <a:ext cx="3124088" cy="707886"/>
          </a:xfrm>
          <a:prstGeom prst="rect">
            <a:avLst/>
          </a:prstGeom>
          <a:noFill/>
        </p:spPr>
        <p:txBody>
          <a:bodyPr wrap="square">
            <a:spAutoFit/>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abstract final</a:t>
            </a:r>
          </a:p>
        </p:txBody>
      </p:sp>
      <p:sp>
        <p:nvSpPr>
          <p:cNvPr id="15" name="TextBox 14">
            <a:extLst>
              <a:ext uri="{FF2B5EF4-FFF2-40B4-BE49-F238E27FC236}">
                <a16:creationId xmlns:a16="http://schemas.microsoft.com/office/drawing/2014/main" id="{7B632209-EB69-6001-C232-14C5EBF2C8FC}"/>
              </a:ext>
            </a:extLst>
          </p:cNvPr>
          <p:cNvSpPr txBox="1"/>
          <p:nvPr/>
        </p:nvSpPr>
        <p:spPr>
          <a:xfrm>
            <a:off x="2666990" y="3712443"/>
            <a:ext cx="3581366" cy="707886"/>
          </a:xfrm>
          <a:prstGeom prst="rect">
            <a:avLst/>
          </a:prstGeom>
          <a:noFill/>
        </p:spPr>
        <p:txBody>
          <a:bodyPr wrap="square">
            <a:spAutoFit/>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public abstract</a:t>
            </a:r>
          </a:p>
        </p:txBody>
      </p:sp>
      <p:sp>
        <p:nvSpPr>
          <p:cNvPr id="19" name="TextBox 18">
            <a:extLst>
              <a:ext uri="{FF2B5EF4-FFF2-40B4-BE49-F238E27FC236}">
                <a16:creationId xmlns:a16="http://schemas.microsoft.com/office/drawing/2014/main" id="{248A1F96-2D48-B92D-0705-10F375105ACB}"/>
              </a:ext>
            </a:extLst>
          </p:cNvPr>
          <p:cNvSpPr txBox="1"/>
          <p:nvPr/>
        </p:nvSpPr>
        <p:spPr>
          <a:xfrm>
            <a:off x="2324144" y="2819416"/>
            <a:ext cx="4267058" cy="707886"/>
          </a:xfrm>
          <a:prstGeom prst="rect">
            <a:avLst/>
          </a:prstGeom>
          <a:noFill/>
        </p:spPr>
        <p:txBody>
          <a:bodyPr wrap="square">
            <a:spAutoFit/>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protected abstract</a:t>
            </a:r>
          </a:p>
        </p:txBody>
      </p:sp>
      <p:sp>
        <p:nvSpPr>
          <p:cNvPr id="23" name="TextBox 22">
            <a:extLst>
              <a:ext uri="{FF2B5EF4-FFF2-40B4-BE49-F238E27FC236}">
                <a16:creationId xmlns:a16="http://schemas.microsoft.com/office/drawing/2014/main" id="{45E31523-15E5-424E-1461-2EE289F1DBCB}"/>
              </a:ext>
            </a:extLst>
          </p:cNvPr>
          <p:cNvSpPr txBox="1"/>
          <p:nvPr/>
        </p:nvSpPr>
        <p:spPr>
          <a:xfrm>
            <a:off x="0" y="991419"/>
            <a:ext cx="9144000" cy="923330"/>
          </a:xfrm>
          <a:prstGeom prst="rect">
            <a:avLst/>
          </a:prstGeom>
          <a:noFill/>
        </p:spPr>
        <p:txBody>
          <a:bodyPr wrap="square">
            <a:spAutoFit/>
          </a:bodyPr>
          <a:lstStyle/>
          <a:p>
            <a:pPr>
              <a:tabLst>
                <a:tab pos="1770063" algn="ctr"/>
                <a:tab pos="6862763" algn="ctr"/>
              </a:tabLst>
            </a:pPr>
            <a:r>
              <a:rPr kumimoji="0" lang="en-US" sz="5400" b="1" i="0" u="none" strike="noStrike" kern="1200" cap="none" spc="0" normalizeH="0" baseline="0" noProof="0" dirty="0">
                <a:ln>
                  <a:noFill/>
                </a:ln>
                <a:solidFill>
                  <a:srgbClr val="000000"/>
                </a:solidFill>
                <a:effectLst/>
                <a:uLnTx/>
                <a:uFillTx/>
                <a:latin typeface="Abadi" panose="020B0604020104020204" pitchFamily="34" charset="0"/>
                <a:ea typeface="+mj-ea"/>
                <a:cs typeface="+mj-cs"/>
              </a:rPr>
              <a:t>	</a:t>
            </a:r>
            <a:r>
              <a:rPr lang="en-US" sz="5400" dirty="0">
                <a:solidFill>
                  <a:srgbClr val="176B25"/>
                </a:solidFill>
                <a:latin typeface="Abadi" panose="020B0604020104020204" pitchFamily="34" charset="0"/>
                <a:ea typeface="+mj-ea"/>
                <a:cs typeface="+mj-cs"/>
              </a:rPr>
              <a:t>a</a:t>
            </a:r>
            <a:r>
              <a:rPr kumimoji="0" lang="en-US" sz="5400" b="1" i="0" u="none" strike="noStrike" kern="1200" cap="none" spc="0" normalizeH="0" baseline="0" noProof="0" dirty="0" err="1">
                <a:ln>
                  <a:noFill/>
                </a:ln>
                <a:solidFill>
                  <a:srgbClr val="176B25"/>
                </a:solidFill>
                <a:effectLst/>
                <a:uLnTx/>
                <a:uFillTx/>
                <a:latin typeface="Abadi" panose="020B0604020104020204" pitchFamily="34" charset="0"/>
                <a:ea typeface="+mj-ea"/>
                <a:cs typeface="+mj-cs"/>
              </a:rPr>
              <a:t>llowed</a:t>
            </a:r>
            <a:r>
              <a:rPr kumimoji="0" lang="en-US" sz="5400" b="1" i="0" u="none" strike="noStrike" kern="1200" cap="none" spc="0" normalizeH="0" baseline="0" noProof="0" dirty="0">
                <a:ln>
                  <a:noFill/>
                </a:ln>
                <a:solidFill>
                  <a:srgbClr val="000000"/>
                </a:solidFill>
                <a:effectLst/>
                <a:uLnTx/>
                <a:uFillTx/>
                <a:latin typeface="Abadi" panose="020B0604020104020204" pitchFamily="34" charset="0"/>
                <a:ea typeface="+mj-ea"/>
                <a:cs typeface="+mj-cs"/>
              </a:rPr>
              <a:t>	</a:t>
            </a:r>
            <a:r>
              <a:rPr kumimoji="0" lang="en-US" sz="5400" b="1" i="0" u="none" strike="noStrike" kern="1200" cap="none" spc="0" normalizeH="0" baseline="0" noProof="0" dirty="0">
                <a:ln>
                  <a:noFill/>
                </a:ln>
                <a:solidFill>
                  <a:srgbClr val="C00000"/>
                </a:solidFill>
                <a:effectLst/>
                <a:uLnTx/>
                <a:uFillTx/>
                <a:latin typeface="Abadi" panose="020B0604020104020204" pitchFamily="34" charset="0"/>
                <a:ea typeface="+mj-ea"/>
                <a:cs typeface="+mj-cs"/>
              </a:rPr>
              <a:t>not</a:t>
            </a:r>
            <a:endParaRPr lang="en-US" dirty="0">
              <a:solidFill>
                <a:srgbClr val="C00000"/>
              </a:solidFill>
            </a:endParaRPr>
          </a:p>
        </p:txBody>
      </p:sp>
    </p:spTree>
    <p:extLst>
      <p:ext uri="{BB962C8B-B14F-4D97-AF65-F5344CB8AC3E}">
        <p14:creationId xmlns:p14="http://schemas.microsoft.com/office/powerpoint/2010/main" val="3961653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1.11111E-6 L 0.26667 -0.00417 " pathEditMode="relative" rAng="0" ptsTypes="AA">
                                      <p:cBhvr>
                                        <p:cTn id="6" dur="2000" fill="hold"/>
                                        <p:tgtEl>
                                          <p:spTgt spid="3">
                                            <p:txEl>
                                              <p:pRg st="0" end="0"/>
                                            </p:txEl>
                                          </p:spTgt>
                                        </p:tgtEl>
                                        <p:attrNameLst>
                                          <p:attrName>ppt_x</p:attrName>
                                          <p:attrName>ppt_y</p:attrName>
                                        </p:attrNameLst>
                                      </p:cBhvr>
                                      <p:rCtr x="13333" y="-208"/>
                                    </p:animMotion>
                                  </p:childTnLst>
                                </p:cTn>
                              </p:par>
                              <p:par>
                                <p:cTn id="7" presetID="19" presetClass="emph" presetSubtype="0" fill="hold" grpId="1" nodeType="withEffect">
                                  <p:stCondLst>
                                    <p:cond delay="0"/>
                                  </p:stCondLst>
                                  <p:childTnLst>
                                    <p:animClr clrSpc="rgb" dir="cw">
                                      <p:cBhvr override="childStyle">
                                        <p:cTn id="8" dur="500" fill="hold"/>
                                        <p:tgtEl>
                                          <p:spTgt spid="3">
                                            <p:txEl>
                                              <p:pRg st="0" end="0"/>
                                            </p:txEl>
                                          </p:spTgt>
                                        </p:tgtEl>
                                        <p:attrNameLst>
                                          <p:attrName>style.color</p:attrName>
                                        </p:attrNameLst>
                                      </p:cBhvr>
                                      <p:to>
                                        <a:srgbClr val="C00000"/>
                                      </p:to>
                                    </p:animClr>
                                    <p:animClr clrSpc="rgb" dir="cw">
                                      <p:cBhvr>
                                        <p:cTn id="9" dur="500" fill="hold"/>
                                        <p:tgtEl>
                                          <p:spTgt spid="3">
                                            <p:txEl>
                                              <p:pRg st="0" end="0"/>
                                            </p:txEl>
                                          </p:spTgt>
                                        </p:tgtEl>
                                        <p:attrNameLst>
                                          <p:attrName>fillcolor</p:attrName>
                                        </p:attrNameLst>
                                      </p:cBhvr>
                                      <p:to>
                                        <a:srgbClr val="C00000"/>
                                      </p:to>
                                    </p:animClr>
                                    <p:set>
                                      <p:cBhvr>
                                        <p:cTn id="10" dur="500" fill="hold"/>
                                        <p:tgtEl>
                                          <p:spTgt spid="3">
                                            <p:txEl>
                                              <p:pRg st="0" end="0"/>
                                            </p:txEl>
                                          </p:spTgt>
                                        </p:tgtEl>
                                        <p:attrNameLst>
                                          <p:attrName>fill.type</p:attrName>
                                        </p:attrNameLst>
                                      </p:cBhvr>
                                      <p:to>
                                        <p:strVal val="solid"/>
                                      </p:to>
                                    </p:set>
                                    <p:set>
                                      <p:cBhvr>
                                        <p:cTn id="11" dur="500" fill="hold"/>
                                        <p:tgtEl>
                                          <p:spTgt spid="3">
                                            <p:txEl>
                                              <p:pRg st="0" end="0"/>
                                            </p:txEl>
                                          </p:spTgt>
                                        </p:tgtEl>
                                        <p:attrNameLst>
                                          <p:attrName>fill.on</p:attrName>
                                        </p:attrNameLst>
                                      </p:cBhvr>
                                      <p:to>
                                        <p:strVal val="true"/>
                                      </p:to>
                                    </p:se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grpId="0" nodeType="clickEffect">
                                  <p:stCondLst>
                                    <p:cond delay="0"/>
                                  </p:stCondLst>
                                  <p:childTnLst>
                                    <p:animMotion origin="layout" path="M 0 -1.48148E-6 L -0.25 -0.01296 " pathEditMode="relative" rAng="0" ptsTypes="AA">
                                      <p:cBhvr>
                                        <p:cTn id="15" dur="2000" fill="hold"/>
                                        <p:tgtEl>
                                          <p:spTgt spid="19"/>
                                        </p:tgtEl>
                                        <p:attrNameLst>
                                          <p:attrName>ppt_x</p:attrName>
                                          <p:attrName>ppt_y</p:attrName>
                                        </p:attrNameLst>
                                      </p:cBhvr>
                                      <p:rCtr x="-12500" y="-648"/>
                                    </p:animMotion>
                                  </p:childTnLst>
                                </p:cTn>
                              </p:par>
                              <p:par>
                                <p:cTn id="16" presetID="19" presetClass="emph" presetSubtype="0" fill="hold" nodeType="withEffect">
                                  <p:stCondLst>
                                    <p:cond delay="0"/>
                                  </p:stCondLst>
                                  <p:childTnLst>
                                    <p:animClr clrSpc="rgb" dir="cw">
                                      <p:cBhvr override="childStyle">
                                        <p:cTn id="17" dur="500" fill="hold"/>
                                        <p:tgtEl>
                                          <p:spTgt spid="19">
                                            <p:txEl>
                                              <p:pRg st="0" end="0"/>
                                            </p:txEl>
                                          </p:spTgt>
                                        </p:tgtEl>
                                        <p:attrNameLst>
                                          <p:attrName>style.color</p:attrName>
                                        </p:attrNameLst>
                                      </p:cBhvr>
                                      <p:to>
                                        <a:srgbClr val="176B25"/>
                                      </p:to>
                                    </p:animClr>
                                    <p:animClr clrSpc="rgb" dir="cw">
                                      <p:cBhvr>
                                        <p:cTn id="18" dur="500" fill="hold"/>
                                        <p:tgtEl>
                                          <p:spTgt spid="19">
                                            <p:txEl>
                                              <p:pRg st="0" end="0"/>
                                            </p:txEl>
                                          </p:spTgt>
                                        </p:tgtEl>
                                        <p:attrNameLst>
                                          <p:attrName>fillcolor</p:attrName>
                                        </p:attrNameLst>
                                      </p:cBhvr>
                                      <p:to>
                                        <a:srgbClr val="176B25"/>
                                      </p:to>
                                    </p:animClr>
                                    <p:set>
                                      <p:cBhvr>
                                        <p:cTn id="19" dur="500" fill="hold"/>
                                        <p:tgtEl>
                                          <p:spTgt spid="19">
                                            <p:txEl>
                                              <p:pRg st="0" end="0"/>
                                            </p:txEl>
                                          </p:spTgt>
                                        </p:tgtEl>
                                        <p:attrNameLst>
                                          <p:attrName>fill.type</p:attrName>
                                        </p:attrNameLst>
                                      </p:cBhvr>
                                      <p:to>
                                        <p:strVal val="solid"/>
                                      </p:to>
                                    </p:set>
                                    <p:set>
                                      <p:cBhvr>
                                        <p:cTn id="20" dur="500" fill="hold"/>
                                        <p:tgtEl>
                                          <p:spTgt spid="19">
                                            <p:txEl>
                                              <p:pRg st="0" end="0"/>
                                            </p:txEl>
                                          </p:spTgt>
                                        </p:tgtEl>
                                        <p:attrNameLst>
                                          <p:attrName>fill.on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grpId="0" nodeType="clickEffect">
                                  <p:stCondLst>
                                    <p:cond delay="0"/>
                                  </p:stCondLst>
                                  <p:childTnLst>
                                    <p:animMotion origin="layout" path="M 0.03333 0.01112 L -0.25417 0.00718 " pathEditMode="relative" rAng="0" ptsTypes="AA">
                                      <p:cBhvr>
                                        <p:cTn id="24" dur="2000" fill="hold"/>
                                        <p:tgtEl>
                                          <p:spTgt spid="15"/>
                                        </p:tgtEl>
                                        <p:attrNameLst>
                                          <p:attrName>ppt_x</p:attrName>
                                          <p:attrName>ppt_y</p:attrName>
                                        </p:attrNameLst>
                                      </p:cBhvr>
                                      <p:rCtr x="-14375" y="-208"/>
                                    </p:animMotion>
                                  </p:childTnLst>
                                </p:cTn>
                              </p:par>
                              <p:par>
                                <p:cTn id="25" presetID="19" presetClass="emph" presetSubtype="0" fill="hold" nodeType="withEffect">
                                  <p:stCondLst>
                                    <p:cond delay="0"/>
                                  </p:stCondLst>
                                  <p:childTnLst>
                                    <p:animClr clrSpc="rgb" dir="cw">
                                      <p:cBhvr override="childStyle">
                                        <p:cTn id="26" dur="500" fill="hold"/>
                                        <p:tgtEl>
                                          <p:spTgt spid="15">
                                            <p:txEl>
                                              <p:pRg st="0" end="0"/>
                                            </p:txEl>
                                          </p:spTgt>
                                        </p:tgtEl>
                                        <p:attrNameLst>
                                          <p:attrName>style.color</p:attrName>
                                        </p:attrNameLst>
                                      </p:cBhvr>
                                      <p:to>
                                        <a:srgbClr val="176B25"/>
                                      </p:to>
                                    </p:animClr>
                                    <p:animClr clrSpc="rgb" dir="cw">
                                      <p:cBhvr>
                                        <p:cTn id="27" dur="500" fill="hold"/>
                                        <p:tgtEl>
                                          <p:spTgt spid="15">
                                            <p:txEl>
                                              <p:pRg st="0" end="0"/>
                                            </p:txEl>
                                          </p:spTgt>
                                        </p:tgtEl>
                                        <p:attrNameLst>
                                          <p:attrName>fillcolor</p:attrName>
                                        </p:attrNameLst>
                                      </p:cBhvr>
                                      <p:to>
                                        <a:srgbClr val="176B25"/>
                                      </p:to>
                                    </p:animClr>
                                    <p:set>
                                      <p:cBhvr>
                                        <p:cTn id="28" dur="500" fill="hold"/>
                                        <p:tgtEl>
                                          <p:spTgt spid="15">
                                            <p:txEl>
                                              <p:pRg st="0" end="0"/>
                                            </p:txEl>
                                          </p:spTgt>
                                        </p:tgtEl>
                                        <p:attrNameLst>
                                          <p:attrName>fill.type</p:attrName>
                                        </p:attrNameLst>
                                      </p:cBhvr>
                                      <p:to>
                                        <p:strVal val="solid"/>
                                      </p:to>
                                    </p:set>
                                    <p:set>
                                      <p:cBhvr>
                                        <p:cTn id="29" dur="500" fill="hold"/>
                                        <p:tgtEl>
                                          <p:spTgt spid="15">
                                            <p:txEl>
                                              <p:pRg st="0" end="0"/>
                                            </p:txEl>
                                          </p:spTgt>
                                        </p:tgtEl>
                                        <p:attrNameLst>
                                          <p:attrName>fill.on</p:attrName>
                                        </p:attrNameLst>
                                      </p:cBhvr>
                                      <p:to>
                                        <p:strVal val="true"/>
                                      </p:to>
                                    </p:set>
                                  </p:childTnLst>
                                </p:cTn>
                              </p:par>
                            </p:childTnLst>
                          </p:cTn>
                        </p:par>
                      </p:childTnLst>
                    </p:cTn>
                  </p:par>
                  <p:par>
                    <p:cTn id="30" fill="hold">
                      <p:stCondLst>
                        <p:cond delay="indefinite"/>
                      </p:stCondLst>
                      <p:childTnLst>
                        <p:par>
                          <p:cTn id="31" fill="hold">
                            <p:stCondLst>
                              <p:cond delay="0"/>
                            </p:stCondLst>
                            <p:childTnLst>
                              <p:par>
                                <p:cTn id="32" presetID="42" presetClass="path" presetSubtype="0" accel="50000" decel="50000" fill="hold" grpId="0" nodeType="clickEffect">
                                  <p:stCondLst>
                                    <p:cond delay="0"/>
                                  </p:stCondLst>
                                  <p:childTnLst>
                                    <p:animMotion origin="layout" path="M -0.07083 0.00601 L 0.26667 -0.00116 " pathEditMode="relative" rAng="0" ptsTypes="AA">
                                      <p:cBhvr>
                                        <p:cTn id="33" dur="2000" fill="hold"/>
                                        <p:tgtEl>
                                          <p:spTgt spid="11"/>
                                        </p:tgtEl>
                                        <p:attrNameLst>
                                          <p:attrName>ppt_x</p:attrName>
                                          <p:attrName>ppt_y</p:attrName>
                                        </p:attrNameLst>
                                      </p:cBhvr>
                                      <p:rCtr x="16875" y="-370"/>
                                    </p:animMotion>
                                  </p:childTnLst>
                                </p:cTn>
                              </p:par>
                            </p:childTnLst>
                          </p:cTn>
                        </p:par>
                      </p:childTnLst>
                    </p:cTn>
                  </p:par>
                  <p:par>
                    <p:cTn id="34" fill="hold">
                      <p:stCondLst>
                        <p:cond delay="indefinite"/>
                      </p:stCondLst>
                      <p:childTnLst>
                        <p:par>
                          <p:cTn id="35" fill="hold">
                            <p:stCondLst>
                              <p:cond delay="0"/>
                            </p:stCondLst>
                            <p:childTnLst>
                              <p:par>
                                <p:cTn id="36" presetID="42" presetClass="path" presetSubtype="0" accel="50000" decel="50000" fill="hold" grpId="0" nodeType="clickEffect">
                                  <p:stCondLst>
                                    <p:cond delay="0"/>
                                  </p:stCondLst>
                                  <p:childTnLst>
                                    <p:animMotion origin="layout" path="M -0.04583 0.00393 L 0.275 0.00787 " pathEditMode="relative" rAng="0" ptsTypes="AA">
                                      <p:cBhvr>
                                        <p:cTn id="37" dur="2000" fill="hold"/>
                                        <p:tgtEl>
                                          <p:spTgt spid="7"/>
                                        </p:tgtEl>
                                        <p:attrNameLst>
                                          <p:attrName>ppt_x</p:attrName>
                                          <p:attrName>ppt_y</p:attrName>
                                        </p:attrNameLst>
                                      </p:cBhvr>
                                      <p:rCtr x="16042" y="185"/>
                                    </p:animMotion>
                                  </p:childTnLst>
                                </p:cTn>
                              </p:par>
                            </p:childTnLst>
                          </p:cTn>
                        </p:par>
                      </p:childTnLst>
                    </p:cTn>
                  </p:par>
                  <p:par>
                    <p:cTn id="38" fill="hold">
                      <p:stCondLst>
                        <p:cond delay="indefinite"/>
                      </p:stCondLst>
                      <p:childTnLst>
                        <p:par>
                          <p:cTn id="39" fill="hold">
                            <p:stCondLst>
                              <p:cond delay="0"/>
                            </p:stCondLst>
                            <p:childTnLst>
                              <p:par>
                                <p:cTn id="40" presetID="19" presetClass="emph" presetSubtype="0" fill="hold" nodeType="clickEffect">
                                  <p:stCondLst>
                                    <p:cond delay="0"/>
                                  </p:stCondLst>
                                  <p:childTnLst>
                                    <p:animClr clrSpc="rgb" dir="cw">
                                      <p:cBhvr override="childStyle">
                                        <p:cTn id="41" dur="500" fill="hold"/>
                                        <p:tgtEl>
                                          <p:spTgt spid="11">
                                            <p:txEl>
                                              <p:pRg st="0" end="0"/>
                                            </p:txEl>
                                          </p:spTgt>
                                        </p:tgtEl>
                                        <p:attrNameLst>
                                          <p:attrName>style.color</p:attrName>
                                        </p:attrNameLst>
                                      </p:cBhvr>
                                      <p:to>
                                        <a:srgbClr val="C00000"/>
                                      </p:to>
                                    </p:animClr>
                                    <p:animClr clrSpc="rgb" dir="cw">
                                      <p:cBhvr>
                                        <p:cTn id="42" dur="500" fill="hold"/>
                                        <p:tgtEl>
                                          <p:spTgt spid="11">
                                            <p:txEl>
                                              <p:pRg st="0" end="0"/>
                                            </p:txEl>
                                          </p:spTgt>
                                        </p:tgtEl>
                                        <p:attrNameLst>
                                          <p:attrName>fillcolor</p:attrName>
                                        </p:attrNameLst>
                                      </p:cBhvr>
                                      <p:to>
                                        <a:srgbClr val="C00000"/>
                                      </p:to>
                                    </p:animClr>
                                    <p:set>
                                      <p:cBhvr>
                                        <p:cTn id="43" dur="500" fill="hold"/>
                                        <p:tgtEl>
                                          <p:spTgt spid="11">
                                            <p:txEl>
                                              <p:pRg st="0" end="0"/>
                                            </p:txEl>
                                          </p:spTgt>
                                        </p:tgtEl>
                                        <p:attrNameLst>
                                          <p:attrName>fill.type</p:attrName>
                                        </p:attrNameLst>
                                      </p:cBhvr>
                                      <p:to>
                                        <p:strVal val="solid"/>
                                      </p:to>
                                    </p:set>
                                    <p:set>
                                      <p:cBhvr>
                                        <p:cTn id="44" dur="500" fill="hold"/>
                                        <p:tgtEl>
                                          <p:spTgt spid="11">
                                            <p:txEl>
                                              <p:pRg st="0" end="0"/>
                                            </p:txEl>
                                          </p:spTgt>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9" presetClass="emph" presetSubtype="0" fill="hold" nodeType="clickEffect">
                                  <p:stCondLst>
                                    <p:cond delay="0"/>
                                  </p:stCondLst>
                                  <p:childTnLst>
                                    <p:animClr clrSpc="rgb" dir="cw">
                                      <p:cBhvr override="childStyle">
                                        <p:cTn id="48" dur="500" fill="hold"/>
                                        <p:tgtEl>
                                          <p:spTgt spid="7">
                                            <p:txEl>
                                              <p:pRg st="0" end="0"/>
                                            </p:txEl>
                                          </p:spTgt>
                                        </p:tgtEl>
                                        <p:attrNameLst>
                                          <p:attrName>style.color</p:attrName>
                                        </p:attrNameLst>
                                      </p:cBhvr>
                                      <p:to>
                                        <a:srgbClr val="C00000"/>
                                      </p:to>
                                    </p:animClr>
                                    <p:animClr clrSpc="rgb" dir="cw">
                                      <p:cBhvr>
                                        <p:cTn id="49" dur="500" fill="hold"/>
                                        <p:tgtEl>
                                          <p:spTgt spid="7">
                                            <p:txEl>
                                              <p:pRg st="0" end="0"/>
                                            </p:txEl>
                                          </p:spTgt>
                                        </p:tgtEl>
                                        <p:attrNameLst>
                                          <p:attrName>fillcolor</p:attrName>
                                        </p:attrNameLst>
                                      </p:cBhvr>
                                      <p:to>
                                        <a:srgbClr val="C00000"/>
                                      </p:to>
                                    </p:animClr>
                                    <p:set>
                                      <p:cBhvr>
                                        <p:cTn id="50" dur="500" fill="hold"/>
                                        <p:tgtEl>
                                          <p:spTgt spid="7">
                                            <p:txEl>
                                              <p:pRg st="0" end="0"/>
                                            </p:txEl>
                                          </p:spTgt>
                                        </p:tgtEl>
                                        <p:attrNameLst>
                                          <p:attrName>fill.type</p:attrName>
                                        </p:attrNameLst>
                                      </p:cBhvr>
                                      <p:to>
                                        <p:strVal val="solid"/>
                                      </p:to>
                                    </p:set>
                                    <p:set>
                                      <p:cBhvr>
                                        <p:cTn id="51" dur="500" fill="hold"/>
                                        <p:tgtEl>
                                          <p:spTgt spid="7">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7" grpId="0"/>
      <p:bldP spid="11" grpId="0"/>
      <p:bldP spid="15" grpId="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4BAB-7585-F35F-70BD-8A64A900C715}"/>
              </a:ext>
            </a:extLst>
          </p:cNvPr>
          <p:cNvSpPr>
            <a:spLocks noGrp="1"/>
          </p:cNvSpPr>
          <p:nvPr>
            <p:ph type="ctrTitle"/>
          </p:nvPr>
        </p:nvSpPr>
        <p:spPr>
          <a:xfrm>
            <a:off x="0" y="263150"/>
            <a:ext cx="9144000" cy="838179"/>
          </a:xfrm>
        </p:spPr>
        <p:txBody>
          <a:bodyPr/>
          <a:lstStyle/>
          <a:p>
            <a:pPr>
              <a:tabLst>
                <a:tab pos="1258888" algn="ctr"/>
                <a:tab pos="6862763" algn="ctr"/>
              </a:tabLst>
            </a:pPr>
            <a:r>
              <a:rPr lang="en-US" sz="5400" b="1" dirty="0">
                <a:latin typeface="Abadi" panose="020B0604020104020204" pitchFamily="34" charset="0"/>
              </a:rPr>
              <a:t>Which are allowed?</a:t>
            </a:r>
          </a:p>
        </p:txBody>
      </p:sp>
      <p:sp>
        <p:nvSpPr>
          <p:cNvPr id="23" name="TextBox 22">
            <a:extLst>
              <a:ext uri="{FF2B5EF4-FFF2-40B4-BE49-F238E27FC236}">
                <a16:creationId xmlns:a16="http://schemas.microsoft.com/office/drawing/2014/main" id="{45E31523-15E5-424E-1461-2EE289F1DBCB}"/>
              </a:ext>
            </a:extLst>
          </p:cNvPr>
          <p:cNvSpPr txBox="1"/>
          <p:nvPr/>
        </p:nvSpPr>
        <p:spPr>
          <a:xfrm>
            <a:off x="120" y="1508847"/>
            <a:ext cx="4419604" cy="2400657"/>
          </a:xfrm>
          <a:prstGeom prst="rect">
            <a:avLst/>
          </a:prstGeom>
          <a:noFill/>
        </p:spPr>
        <p:txBody>
          <a:bodyPr wrap="square">
            <a:spAutoFit/>
          </a:bodyPr>
          <a:lstStyle/>
          <a:p>
            <a:pPr algn="ctr">
              <a:tabLst>
                <a:tab pos="1770063" algn="ctr"/>
                <a:tab pos="6862763" algn="ctr"/>
              </a:tabLst>
            </a:pPr>
            <a:r>
              <a:rPr lang="en-US" sz="5400" dirty="0">
                <a:solidFill>
                  <a:srgbClr val="176B25"/>
                </a:solidFill>
                <a:latin typeface="Abadi" panose="020B0604020104020204" pitchFamily="34" charset="0"/>
                <a:ea typeface="+mj-ea"/>
                <a:cs typeface="+mj-cs"/>
              </a:rPr>
              <a:t>A</a:t>
            </a:r>
            <a:r>
              <a:rPr kumimoji="0" lang="en-US" sz="5400" b="1" i="0" u="none" strike="noStrike" kern="1200" cap="none" spc="0" normalizeH="0" baseline="0" noProof="0" dirty="0" err="1">
                <a:ln>
                  <a:noFill/>
                </a:ln>
                <a:solidFill>
                  <a:srgbClr val="176B25"/>
                </a:solidFill>
                <a:effectLst/>
                <a:uLnTx/>
                <a:uFillTx/>
                <a:latin typeface="Abadi" panose="020B0604020104020204" pitchFamily="34" charset="0"/>
                <a:ea typeface="+mj-ea"/>
                <a:cs typeface="+mj-cs"/>
              </a:rPr>
              <a:t>llowed</a:t>
            </a:r>
            <a:endParaRPr kumimoji="0" lang="en-US" sz="5400" b="1" i="0" u="none" strike="noStrike" kern="1200" cap="none" spc="0" normalizeH="0" baseline="0" noProof="0" dirty="0">
              <a:ln>
                <a:noFill/>
              </a:ln>
              <a:solidFill>
                <a:srgbClr val="176B25"/>
              </a:solidFill>
              <a:effectLst/>
              <a:uLnTx/>
              <a:uFillTx/>
              <a:latin typeface="Abadi" panose="020B0604020104020204" pitchFamily="34" charset="0"/>
              <a:ea typeface="+mj-ea"/>
              <a:cs typeface="+mj-cs"/>
            </a:endParaRPr>
          </a:p>
          <a:p>
            <a:pPr lvl="0" algn="ctr">
              <a:spcBef>
                <a:spcPct val="20000"/>
              </a:spcBef>
              <a:defRPr/>
            </a:pPr>
            <a:r>
              <a:rPr lang="en-US" sz="4000" b="0" dirty="0">
                <a:solidFill>
                  <a:srgbClr val="000000"/>
                </a:solidFill>
                <a:latin typeface="Abadi" panose="020B0604020104020204" pitchFamily="34" charset="0"/>
              </a:rPr>
              <a:t>protected abstract</a:t>
            </a:r>
          </a:p>
          <a:p>
            <a:pPr algn="ctr">
              <a:spcBef>
                <a:spcPct val="20000"/>
              </a:spcBef>
              <a:defRPr/>
            </a:pPr>
            <a:r>
              <a:rPr lang="en-US" sz="4000" b="0" dirty="0">
                <a:solidFill>
                  <a:srgbClr val="000000"/>
                </a:solidFill>
                <a:latin typeface="Abadi" panose="020B0604020104020204" pitchFamily="34" charset="0"/>
              </a:rPr>
              <a:t>public abstract</a:t>
            </a:r>
            <a:endParaRPr lang="en-US" dirty="0">
              <a:solidFill>
                <a:srgbClr val="C00000"/>
              </a:solidFill>
            </a:endParaRPr>
          </a:p>
        </p:txBody>
      </p:sp>
      <p:sp>
        <p:nvSpPr>
          <p:cNvPr id="4" name="TextBox 3">
            <a:extLst>
              <a:ext uri="{FF2B5EF4-FFF2-40B4-BE49-F238E27FC236}">
                <a16:creationId xmlns:a16="http://schemas.microsoft.com/office/drawing/2014/main" id="{2015624F-A124-636D-FA36-D0B606A927C7}"/>
              </a:ext>
            </a:extLst>
          </p:cNvPr>
          <p:cNvSpPr txBox="1"/>
          <p:nvPr/>
        </p:nvSpPr>
        <p:spPr>
          <a:xfrm>
            <a:off x="4877066" y="1508847"/>
            <a:ext cx="4267058" cy="3139321"/>
          </a:xfrm>
          <a:prstGeom prst="rect">
            <a:avLst/>
          </a:prstGeom>
          <a:noFill/>
        </p:spPr>
        <p:txBody>
          <a:bodyPr wrap="square">
            <a:spAutoFit/>
          </a:bodyPr>
          <a:lstStyle/>
          <a:p>
            <a:pPr algn="ctr">
              <a:tabLst>
                <a:tab pos="1770063" algn="ctr"/>
                <a:tab pos="6862763" algn="ctr"/>
              </a:tabLst>
            </a:pPr>
            <a:r>
              <a:rPr kumimoji="0" lang="en-US" sz="5400" b="1" i="0" u="none" strike="noStrike" kern="1200" cap="none" spc="0" normalizeH="0" baseline="0" noProof="0" dirty="0">
                <a:ln>
                  <a:noFill/>
                </a:ln>
                <a:solidFill>
                  <a:srgbClr val="C00000"/>
                </a:solidFill>
                <a:effectLst/>
                <a:uLnTx/>
                <a:uFillTx/>
                <a:latin typeface="Abadi" panose="020B0604020104020204" pitchFamily="34" charset="0"/>
                <a:ea typeface="+mj-ea"/>
                <a:cs typeface="+mj-cs"/>
              </a:rPr>
              <a:t>not</a:t>
            </a:r>
          </a:p>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private abstract</a:t>
            </a:r>
          </a:p>
          <a:p>
            <a:pPr algn="ctr">
              <a:spcBef>
                <a:spcPct val="20000"/>
              </a:spcBef>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abstract final</a:t>
            </a:r>
          </a:p>
          <a:p>
            <a:pPr algn="ctr">
              <a:spcBef>
                <a:spcPct val="20000"/>
              </a:spcBef>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abstract static</a:t>
            </a:r>
          </a:p>
        </p:txBody>
      </p:sp>
    </p:spTree>
    <p:extLst>
      <p:ext uri="{BB962C8B-B14F-4D97-AF65-F5344CB8AC3E}">
        <p14:creationId xmlns:p14="http://schemas.microsoft.com/office/powerpoint/2010/main" val="830725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bwMode="auto">
      <p:bgPr>
        <a:solidFill>
          <a:srgbClr val="AAE2CA"/>
        </a:solidFill>
        <a:effectLst/>
      </p:bgPr>
    </p:bg>
    <p:spTree>
      <p:nvGrpSpPr>
        <p:cNvPr id="1" name=""/>
        <p:cNvGrpSpPr/>
        <p:nvPr/>
      </p:nvGrpSpPr>
      <p:grpSpPr>
        <a:xfrm>
          <a:off x="0" y="0"/>
          <a:ext cx="0" cy="0"/>
          <a:chOff x="0" y="0"/>
          <a:chExt cx="0" cy="0"/>
        </a:xfrm>
      </p:grpSpPr>
      <p:sp>
        <p:nvSpPr>
          <p:cNvPr id="10854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graphicFrame>
        <p:nvGraphicFramePr>
          <p:cNvPr id="94211" name="Group 3"/>
          <p:cNvGraphicFramePr>
            <a:graphicFrameLocks noGrp="1"/>
          </p:cNvGraphicFramePr>
          <p:nvPr>
            <p:extLst>
              <p:ext uri="{D42A27DB-BD31-4B8C-83A1-F6EECF244321}">
                <p14:modId xmlns:p14="http://schemas.microsoft.com/office/powerpoint/2010/main" val="2491423827"/>
              </p:ext>
            </p:extLst>
          </p:nvPr>
        </p:nvGraphicFramePr>
        <p:xfrm>
          <a:off x="533400" y="1266825"/>
          <a:ext cx="8229600" cy="4829177"/>
        </p:xfrm>
        <a:graphic>
          <a:graphicData uri="http://schemas.openxmlformats.org/drawingml/2006/table">
            <a:tbl>
              <a:tblPr/>
              <a:tblGrid>
                <a:gridCol w="44196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1066784">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dirty="0">
                          <a:ln>
                            <a:noFill/>
                          </a:ln>
                          <a:solidFill>
                            <a:srgbClr val="336600"/>
                          </a:solidFill>
                          <a:effectLst/>
                          <a:latin typeface="Arial" panose="020B0604020202020204" pitchFamily="34" charset="0"/>
                          <a:cs typeface="Arial" panose="020B0604020202020204" pitchFamily="34" charset="0"/>
                        </a:rPr>
                        <a:t>Description</a:t>
                      </a:r>
                      <a:endParaRPr kumimoji="0" lang="en-US" altLang="en-US" sz="3200" b="0" i="0" u="none" strike="noStrike" cap="none" normalizeH="0" baseline="0" dirty="0">
                        <a:ln>
                          <a:noFill/>
                        </a:ln>
                        <a:solidFill>
                          <a:srgbClr val="336600"/>
                        </a:solidFill>
                        <a:effectLst/>
                        <a:latin typeface="Times New Roman" panose="02020603050405020304" pitchFamily="18" charset="0"/>
                        <a:cs typeface="Arial" panose="020B0604020202020204" pitchFamily="34" charset="0"/>
                      </a:endParaRPr>
                    </a:p>
                  </a:txBody>
                  <a:tcPr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a:ln>
                            <a:noFill/>
                          </a:ln>
                          <a:solidFill>
                            <a:srgbClr val="CC3300"/>
                          </a:solidFill>
                          <a:effectLst/>
                          <a:latin typeface="Arial" panose="020B0604020202020204" pitchFamily="34" charset="0"/>
                          <a:cs typeface="Arial" panose="020B0604020202020204" pitchFamily="34" charset="0"/>
                        </a:rPr>
                        <a:t>Interface</a:t>
                      </a:r>
                      <a:endParaRPr kumimoji="0" lang="en-US" altLang="en-US" sz="3200" b="0" i="0" u="none" strike="noStrike" cap="none" normalizeH="0" baseline="0">
                        <a:ln>
                          <a:noFill/>
                        </a:ln>
                        <a:solidFill>
                          <a:srgbClr val="CC3300"/>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a:ln>
                            <a:noFill/>
                          </a:ln>
                          <a:solidFill>
                            <a:srgbClr val="993366"/>
                          </a:solidFill>
                          <a:effectLst/>
                          <a:latin typeface="Arial" panose="020B0604020202020204" pitchFamily="34" charset="0"/>
                          <a:cs typeface="Arial" panose="020B0604020202020204" pitchFamily="34" charset="0"/>
                        </a:rPr>
                        <a:t>Abstract Class</a:t>
                      </a:r>
                      <a:endParaRPr kumimoji="0" lang="en-US" altLang="en-US" sz="3200" b="0" i="0" u="none" strike="noStrike" cap="none" normalizeH="0" baseline="0">
                        <a:ln>
                          <a:noFill/>
                        </a:ln>
                        <a:solidFill>
                          <a:srgbClr val="993366"/>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4864">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contain abstract methods?</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585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contain non-abstract methods?</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4864">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contain constructors?</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2681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be instantiated?</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8573" name="TextBox 3"/>
          <p:cNvSpPr txBox="1">
            <a:spLocks noChangeArrowheads="1"/>
          </p:cNvSpPr>
          <p:nvPr/>
        </p:nvSpPr>
        <p:spPr bwMode="auto">
          <a:xfrm>
            <a:off x="846138" y="304800"/>
            <a:ext cx="78105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dirty="0">
                <a:latin typeface="Arial" panose="020B0604020202020204" pitchFamily="34" charset="0"/>
              </a:rPr>
              <a:t>Methods in interfaces are  </a:t>
            </a:r>
            <a:r>
              <a:rPr lang="en-US" altLang="en-US" sz="2200" dirty="0">
                <a:solidFill>
                  <a:srgbClr val="0066FF"/>
                </a:solidFill>
                <a:latin typeface="Courier New" panose="02070309020205020404" pitchFamily="49" charset="0"/>
                <a:cs typeface="Courier New" panose="02070309020205020404" pitchFamily="49" charset="0"/>
              </a:rPr>
              <a:t>public abstract </a:t>
            </a:r>
            <a:r>
              <a:rPr lang="en-US" altLang="en-US" sz="2200" dirty="0">
                <a:latin typeface="Arial" panose="020B0604020202020204" pitchFamily="34" charset="0"/>
              </a:rPr>
              <a:t>by default.</a:t>
            </a:r>
          </a:p>
          <a:p>
            <a:pPr>
              <a:spcBef>
                <a:spcPct val="0"/>
              </a:spcBef>
              <a:buFontTx/>
              <a:buNone/>
            </a:pPr>
            <a:r>
              <a:rPr lang="en-US" altLang="en-US" sz="2200" dirty="0">
                <a:latin typeface="Arial" panose="020B0604020202020204" pitchFamily="34" charset="0"/>
              </a:rPr>
              <a:t>Methods in abstract classes can have any visibility.</a:t>
            </a:r>
          </a:p>
        </p:txBody>
      </p:sp>
      <p:sp>
        <p:nvSpPr>
          <p:cNvPr id="2" name="TextBox 1">
            <a:extLst>
              <a:ext uri="{FF2B5EF4-FFF2-40B4-BE49-F238E27FC236}">
                <a16:creationId xmlns:a16="http://schemas.microsoft.com/office/drawing/2014/main" id="{5DC4C34C-9E81-4BDD-5B6B-1D8EBCECC1C6}"/>
              </a:ext>
            </a:extLst>
          </p:cNvPr>
          <p:cNvSpPr txBox="1"/>
          <p:nvPr/>
        </p:nvSpPr>
        <p:spPr>
          <a:xfrm>
            <a:off x="4952990" y="2362228"/>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Yes	Yes</a:t>
            </a:r>
            <a:endParaRPr lang="en-US" sz="2800" b="0" i="0" u="none" strike="noStrike" dirty="0">
              <a:effectLst/>
              <a:latin typeface="Arial" panose="020B0604020202020204" pitchFamily="34" charset="0"/>
            </a:endParaRPr>
          </a:p>
        </p:txBody>
      </p:sp>
      <p:sp>
        <p:nvSpPr>
          <p:cNvPr id="3" name="TextBox 2">
            <a:extLst>
              <a:ext uri="{FF2B5EF4-FFF2-40B4-BE49-F238E27FC236}">
                <a16:creationId xmlns:a16="http://schemas.microsoft.com/office/drawing/2014/main" id="{37F3DE5C-9037-5D65-7592-ED0D4D8FB9A8}"/>
              </a:ext>
            </a:extLst>
          </p:cNvPr>
          <p:cNvSpPr txBox="1"/>
          <p:nvPr/>
        </p:nvSpPr>
        <p:spPr>
          <a:xfrm>
            <a:off x="4856412" y="3327470"/>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Yes</a:t>
            </a:r>
            <a:endParaRPr lang="en-US" sz="2800" b="0" i="0" u="none" strike="noStrike" dirty="0">
              <a:effectLst/>
              <a:latin typeface="Arial" panose="020B0604020202020204" pitchFamily="34" charset="0"/>
            </a:endParaRPr>
          </a:p>
        </p:txBody>
      </p:sp>
      <p:sp>
        <p:nvSpPr>
          <p:cNvPr id="4" name="TextBox 3">
            <a:extLst>
              <a:ext uri="{FF2B5EF4-FFF2-40B4-BE49-F238E27FC236}">
                <a16:creationId xmlns:a16="http://schemas.microsoft.com/office/drawing/2014/main" id="{2133727C-F156-236E-EDBD-E6F4932CFEEF}"/>
              </a:ext>
            </a:extLst>
          </p:cNvPr>
          <p:cNvSpPr txBox="1"/>
          <p:nvPr/>
        </p:nvSpPr>
        <p:spPr>
          <a:xfrm>
            <a:off x="4858824" y="4245074"/>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Yes</a:t>
            </a:r>
            <a:endParaRPr lang="en-US" sz="2800" b="0" i="0" u="none" strike="noStrike" dirty="0">
              <a:effectLst/>
              <a:latin typeface="Arial" panose="020B0604020202020204" pitchFamily="34" charset="0"/>
            </a:endParaRPr>
          </a:p>
        </p:txBody>
      </p:sp>
      <p:sp>
        <p:nvSpPr>
          <p:cNvPr id="5" name="TextBox 4">
            <a:extLst>
              <a:ext uri="{FF2B5EF4-FFF2-40B4-BE49-F238E27FC236}">
                <a16:creationId xmlns:a16="http://schemas.microsoft.com/office/drawing/2014/main" id="{EFABE051-A988-F572-A842-B67C3082E6E2}"/>
              </a:ext>
            </a:extLst>
          </p:cNvPr>
          <p:cNvSpPr txBox="1"/>
          <p:nvPr/>
        </p:nvSpPr>
        <p:spPr>
          <a:xfrm>
            <a:off x="4861236" y="5162678"/>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No</a:t>
            </a:r>
            <a:endParaRPr lang="en-US" sz="2800" b="0" i="0" u="none" strike="noStrike" dirty="0">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bwMode="auto">
      <p:bgPr>
        <a:solidFill>
          <a:srgbClr val="AAE2CA"/>
        </a:solidFill>
        <a:effectLst/>
      </p:bgPr>
    </p:bg>
    <p:spTree>
      <p:nvGrpSpPr>
        <p:cNvPr id="1" name=""/>
        <p:cNvGrpSpPr/>
        <p:nvPr/>
      </p:nvGrpSpPr>
      <p:grpSpPr>
        <a:xfrm>
          <a:off x="0" y="0"/>
          <a:ext cx="0" cy="0"/>
          <a:chOff x="0" y="0"/>
          <a:chExt cx="0" cy="0"/>
        </a:xfrm>
      </p:grpSpPr>
      <p:sp>
        <p:nvSpPr>
          <p:cNvPr id="109570"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700"/>
          </a:p>
          <a:p>
            <a:pPr algn="ctr">
              <a:spcBef>
                <a:spcPct val="0"/>
              </a:spcBef>
              <a:buFontTx/>
              <a:buNone/>
            </a:pPr>
            <a:endParaRPr lang="en-US" altLang="en-US" sz="700">
              <a:latin typeface="Tahoma" panose="020B0604030504040204" pitchFamily="34" charset="0"/>
            </a:endParaRPr>
          </a:p>
          <a:p>
            <a:pPr algn="ctr">
              <a:spcBef>
                <a:spcPct val="0"/>
              </a:spcBef>
              <a:buFontTx/>
              <a:buNone/>
            </a:pPr>
            <a:endParaRPr lang="en-US" altLang="en-US" sz="700">
              <a:latin typeface="Tahoma" panose="020B0604030504040204" pitchFamily="34" charset="0"/>
            </a:endParaRPr>
          </a:p>
          <a:p>
            <a:pPr algn="ctr">
              <a:spcBef>
                <a:spcPct val="0"/>
              </a:spcBef>
              <a:buFontTx/>
              <a:buNone/>
            </a:pPr>
            <a:r>
              <a:rPr lang="en-US" altLang="en-US" sz="700">
                <a:latin typeface="Tahoma" panose="020B0604030504040204" pitchFamily="34" charset="0"/>
              </a:rPr>
              <a:t>© A+ Computer Science  -  www.apluscompsci.com</a:t>
            </a:r>
          </a:p>
        </p:txBody>
      </p:sp>
      <p:graphicFrame>
        <p:nvGraphicFramePr>
          <p:cNvPr id="95235" name="Group 3"/>
          <p:cNvGraphicFramePr>
            <a:graphicFrameLocks noGrp="1"/>
          </p:cNvGraphicFramePr>
          <p:nvPr/>
        </p:nvGraphicFramePr>
        <p:xfrm>
          <a:off x="533400" y="1325563"/>
          <a:ext cx="8229600" cy="4848226"/>
        </p:xfrm>
        <a:graphic>
          <a:graphicData uri="http://schemas.openxmlformats.org/drawingml/2006/table">
            <a:tbl>
              <a:tblPr/>
              <a:tblGrid>
                <a:gridCol w="44196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106678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dirty="0">
                          <a:ln>
                            <a:noFill/>
                          </a:ln>
                          <a:solidFill>
                            <a:srgbClr val="336600"/>
                          </a:solidFill>
                          <a:effectLst/>
                          <a:latin typeface="Arial" panose="020B0604020202020204" pitchFamily="34" charset="0"/>
                          <a:cs typeface="Arial" panose="020B0604020202020204" pitchFamily="34" charset="0"/>
                        </a:rPr>
                        <a:t>Description</a:t>
                      </a:r>
                      <a:endParaRPr kumimoji="0" lang="en-US" altLang="en-US" sz="3200" b="0" i="0" u="none" strike="noStrike" cap="none" normalizeH="0" baseline="0" dirty="0">
                        <a:ln>
                          <a:noFill/>
                        </a:ln>
                        <a:solidFill>
                          <a:srgbClr val="336600"/>
                        </a:solidFill>
                        <a:effectLst/>
                        <a:latin typeface="Times New Roman" panose="02020603050405020304" pitchFamily="18" charset="0"/>
                        <a:cs typeface="Arial" panose="020B0604020202020204" pitchFamily="34" charset="0"/>
                      </a:endParaRPr>
                    </a:p>
                  </a:txBody>
                  <a:tcPr marT="45710" marB="4571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dirty="0">
                          <a:ln>
                            <a:noFill/>
                          </a:ln>
                          <a:solidFill>
                            <a:srgbClr val="CC3300"/>
                          </a:solidFill>
                          <a:effectLst/>
                          <a:latin typeface="Arial" panose="020B0604020202020204" pitchFamily="34" charset="0"/>
                          <a:cs typeface="Arial" panose="020B0604020202020204" pitchFamily="34" charset="0"/>
                        </a:rPr>
                        <a:t>Interface</a:t>
                      </a:r>
                      <a:endParaRPr kumimoji="0" lang="en-US" altLang="en-US" sz="3200" b="0" i="0" u="none" strike="noStrike" cap="none" normalizeH="0" baseline="0" dirty="0">
                        <a:ln>
                          <a:noFill/>
                        </a:ln>
                        <a:solidFill>
                          <a:srgbClr val="CC3300"/>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dirty="0">
                          <a:ln>
                            <a:noFill/>
                          </a:ln>
                          <a:solidFill>
                            <a:srgbClr val="993366"/>
                          </a:solidFill>
                          <a:effectLst/>
                          <a:latin typeface="Arial" panose="020B0604020202020204" pitchFamily="34" charset="0"/>
                          <a:cs typeface="Arial" panose="020B0604020202020204" pitchFamily="34" charset="0"/>
                        </a:rPr>
                        <a:t>Abstract Class</a:t>
                      </a:r>
                      <a:endParaRPr kumimoji="0" lang="en-US" altLang="en-US" sz="3200" b="0" i="0" u="none" strike="noStrike" cap="none" normalizeH="0" baseline="0" dirty="0">
                        <a:ln>
                          <a:noFill/>
                        </a:ln>
                        <a:solidFill>
                          <a:srgbClr val="993366"/>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486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Can contain instance variables?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No</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586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Can contain final instance variables?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No</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486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Can contain final class variables?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4586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Can contain non-final class variables?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No</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9597" name="TextBox 3"/>
          <p:cNvSpPr txBox="1">
            <a:spLocks noChangeArrowheads="1"/>
          </p:cNvSpPr>
          <p:nvPr/>
        </p:nvSpPr>
        <p:spPr bwMode="auto">
          <a:xfrm>
            <a:off x="533400" y="304800"/>
            <a:ext cx="81407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latin typeface="Arial" panose="020B0604020202020204" pitchFamily="34" charset="0"/>
              </a:rPr>
              <a:t>Fields in interfaces are </a:t>
            </a:r>
            <a:r>
              <a:rPr lang="en-US" altLang="en-US" sz="2200">
                <a:solidFill>
                  <a:srgbClr val="0066FF"/>
                </a:solidFill>
                <a:latin typeface="Courier New" panose="02070309020205020404" pitchFamily="49" charset="0"/>
                <a:cs typeface="Courier New" panose="02070309020205020404" pitchFamily="49" charset="0"/>
              </a:rPr>
              <a:t>public static final </a:t>
            </a:r>
            <a:r>
              <a:rPr lang="en-US" altLang="en-US" sz="2200">
                <a:latin typeface="Arial" panose="020B0604020202020204" pitchFamily="34" charset="0"/>
              </a:rPr>
              <a:t>by default.</a:t>
            </a:r>
          </a:p>
          <a:p>
            <a:pPr>
              <a:spcBef>
                <a:spcPct val="0"/>
              </a:spcBef>
              <a:buFontTx/>
              <a:buNone/>
            </a:pPr>
            <a:r>
              <a:rPr lang="en-US" altLang="en-US" sz="2200">
                <a:latin typeface="Arial" panose="020B0604020202020204" pitchFamily="34" charset="0"/>
              </a:rPr>
              <a:t>Fields in abstract classes can be whatever you want.</a:t>
            </a:r>
          </a:p>
        </p:txBody>
      </p:sp>
      <p:sp>
        <p:nvSpPr>
          <p:cNvPr id="2" name="TextBox 1">
            <a:extLst>
              <a:ext uri="{FF2B5EF4-FFF2-40B4-BE49-F238E27FC236}">
                <a16:creationId xmlns:a16="http://schemas.microsoft.com/office/drawing/2014/main" id="{D25697E1-F8B1-37A3-999B-528734C6DEF6}"/>
              </a:ext>
            </a:extLst>
          </p:cNvPr>
          <p:cNvSpPr txBox="1"/>
          <p:nvPr/>
        </p:nvSpPr>
        <p:spPr>
          <a:xfrm>
            <a:off x="4952990" y="2362228"/>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Yes</a:t>
            </a:r>
            <a:endParaRPr lang="en-US" sz="2800" b="0" i="0" u="none" strike="noStrike" dirty="0">
              <a:effectLst/>
              <a:latin typeface="Arial" panose="020B0604020202020204" pitchFamily="34" charset="0"/>
            </a:endParaRPr>
          </a:p>
        </p:txBody>
      </p:sp>
      <p:sp>
        <p:nvSpPr>
          <p:cNvPr id="3" name="TextBox 2">
            <a:extLst>
              <a:ext uri="{FF2B5EF4-FFF2-40B4-BE49-F238E27FC236}">
                <a16:creationId xmlns:a16="http://schemas.microsoft.com/office/drawing/2014/main" id="{21D6EFD1-29A2-504F-028C-3CE046AA5F65}"/>
              </a:ext>
            </a:extLst>
          </p:cNvPr>
          <p:cNvSpPr txBox="1"/>
          <p:nvPr/>
        </p:nvSpPr>
        <p:spPr>
          <a:xfrm>
            <a:off x="4856412" y="3327470"/>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Yes</a:t>
            </a:r>
            <a:endParaRPr lang="en-US" sz="2800" b="0" i="0" u="none" strike="noStrike" dirty="0">
              <a:effectLst/>
              <a:latin typeface="Arial" panose="020B0604020202020204" pitchFamily="34" charset="0"/>
            </a:endParaRPr>
          </a:p>
        </p:txBody>
      </p:sp>
      <p:sp>
        <p:nvSpPr>
          <p:cNvPr id="4" name="TextBox 3">
            <a:extLst>
              <a:ext uri="{FF2B5EF4-FFF2-40B4-BE49-F238E27FC236}">
                <a16:creationId xmlns:a16="http://schemas.microsoft.com/office/drawing/2014/main" id="{1AFE27EE-6D10-491B-B841-F10EA868F016}"/>
              </a:ext>
            </a:extLst>
          </p:cNvPr>
          <p:cNvSpPr txBox="1"/>
          <p:nvPr/>
        </p:nvSpPr>
        <p:spPr>
          <a:xfrm>
            <a:off x="4858824" y="4245074"/>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Yes	Yes</a:t>
            </a:r>
            <a:endParaRPr lang="en-US" sz="2800" b="0" i="0" u="none" strike="noStrike" dirty="0">
              <a:effectLst/>
              <a:latin typeface="Arial" panose="020B0604020202020204" pitchFamily="34" charset="0"/>
            </a:endParaRPr>
          </a:p>
        </p:txBody>
      </p:sp>
      <p:sp>
        <p:nvSpPr>
          <p:cNvPr id="5" name="TextBox 4">
            <a:extLst>
              <a:ext uri="{FF2B5EF4-FFF2-40B4-BE49-F238E27FC236}">
                <a16:creationId xmlns:a16="http://schemas.microsoft.com/office/drawing/2014/main" id="{BDEC5581-8B6F-41A1-FF60-70126F973EDB}"/>
              </a:ext>
            </a:extLst>
          </p:cNvPr>
          <p:cNvSpPr txBox="1"/>
          <p:nvPr/>
        </p:nvSpPr>
        <p:spPr>
          <a:xfrm>
            <a:off x="4861236" y="5162678"/>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Yes</a:t>
            </a:r>
            <a:endParaRPr lang="en-US" sz="2800" b="0" i="0" u="none" strike="noStrike" dirty="0">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bwMode="auto">
      <p:bgPr>
        <a:solidFill>
          <a:srgbClr val="AAE2CA"/>
        </a:solidFill>
        <a:effectLst/>
      </p:bgPr>
    </p:bg>
    <p:spTree>
      <p:nvGrpSpPr>
        <p:cNvPr id="1" name=""/>
        <p:cNvGrpSpPr/>
        <p:nvPr/>
      </p:nvGrpSpPr>
      <p:grpSpPr>
        <a:xfrm>
          <a:off x="0" y="0"/>
          <a:ext cx="0" cy="0"/>
          <a:chOff x="0" y="0"/>
          <a:chExt cx="0" cy="0"/>
        </a:xfrm>
      </p:grpSpPr>
      <p:sp>
        <p:nvSpPr>
          <p:cNvPr id="11059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graphicFrame>
        <p:nvGraphicFramePr>
          <p:cNvPr id="96259" name="Group 3"/>
          <p:cNvGraphicFramePr>
            <a:graphicFrameLocks noGrp="1"/>
          </p:cNvGraphicFramePr>
          <p:nvPr/>
        </p:nvGraphicFramePr>
        <p:xfrm>
          <a:off x="533400" y="533400"/>
          <a:ext cx="8229600" cy="5000628"/>
        </p:xfrm>
        <a:graphic>
          <a:graphicData uri="http://schemas.openxmlformats.org/drawingml/2006/table">
            <a:tbl>
              <a:tblPr/>
              <a:tblGrid>
                <a:gridCol w="44196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106677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dirty="0">
                          <a:ln>
                            <a:noFill/>
                          </a:ln>
                          <a:solidFill>
                            <a:srgbClr val="336600"/>
                          </a:solidFill>
                          <a:effectLst/>
                          <a:latin typeface="Arial" panose="020B0604020202020204" pitchFamily="34" charset="0"/>
                          <a:cs typeface="Arial" panose="020B0604020202020204" pitchFamily="34" charset="0"/>
                        </a:rPr>
                        <a:t>Description</a:t>
                      </a:r>
                      <a:endParaRPr kumimoji="0" lang="en-US" altLang="en-US" sz="3200" b="0" i="0" u="none" strike="noStrike" cap="none" normalizeH="0" baseline="0" dirty="0">
                        <a:ln>
                          <a:noFill/>
                        </a:ln>
                        <a:solidFill>
                          <a:srgbClr val="336600"/>
                        </a:solidFill>
                        <a:effectLst/>
                        <a:latin typeface="Times New Roman" panose="02020603050405020304" pitchFamily="18" charset="0"/>
                        <a:cs typeface="Arial" panose="020B0604020202020204" pitchFamily="34" charset="0"/>
                      </a:endParaRPr>
                    </a:p>
                  </a:txBody>
                  <a:tcPr marT="45706" marB="4570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a:ln>
                            <a:noFill/>
                          </a:ln>
                          <a:solidFill>
                            <a:srgbClr val="CC3300"/>
                          </a:solidFill>
                          <a:effectLst/>
                          <a:latin typeface="Arial" panose="020B0604020202020204" pitchFamily="34" charset="0"/>
                          <a:cs typeface="Arial" panose="020B0604020202020204" pitchFamily="34" charset="0"/>
                        </a:rPr>
                        <a:t>Interface</a:t>
                      </a:r>
                      <a:endParaRPr kumimoji="0" lang="en-US" altLang="en-US" sz="3200" b="0" i="0" u="none" strike="noStrike" cap="none" normalizeH="0" baseline="0">
                        <a:ln>
                          <a:noFill/>
                        </a:ln>
                        <a:solidFill>
                          <a:srgbClr val="CC3300"/>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a:ln>
                            <a:noFill/>
                          </a:ln>
                          <a:solidFill>
                            <a:srgbClr val="993366"/>
                          </a:solidFill>
                          <a:effectLst/>
                          <a:latin typeface="Arial" panose="020B0604020202020204" pitchFamily="34" charset="0"/>
                          <a:cs typeface="Arial" panose="020B0604020202020204" pitchFamily="34" charset="0"/>
                        </a:rPr>
                        <a:t>Abstract Class</a:t>
                      </a:r>
                      <a:endParaRPr kumimoji="0" lang="en-US" altLang="en-US" sz="3200" b="0" i="0" u="none" strike="noStrike" cap="none" normalizeH="0" baseline="0">
                        <a:ln>
                          <a:noFill/>
                        </a:ln>
                        <a:solidFill>
                          <a:srgbClr val="993366"/>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9509">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be extended?</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06" marB="4570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792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be implemented?</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06" marB="4570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No</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485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be used as a reference type?</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06" marB="4570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37157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contain protected, package, or private methods?</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06" marB="4570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No</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TextBox 1">
            <a:extLst>
              <a:ext uri="{FF2B5EF4-FFF2-40B4-BE49-F238E27FC236}">
                <a16:creationId xmlns:a16="http://schemas.microsoft.com/office/drawing/2014/main" id="{70E64EC1-A2CD-D60E-B21C-497BC14A9F06}"/>
              </a:ext>
            </a:extLst>
          </p:cNvPr>
          <p:cNvSpPr txBox="1"/>
          <p:nvPr/>
        </p:nvSpPr>
        <p:spPr>
          <a:xfrm>
            <a:off x="4952990" y="1524050"/>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Yes	Yes</a:t>
            </a:r>
            <a:endParaRPr lang="en-US" sz="2800" b="0" i="0" u="none" strike="noStrike" dirty="0">
              <a:effectLst/>
              <a:latin typeface="Arial" panose="020B0604020202020204" pitchFamily="34" charset="0"/>
            </a:endParaRPr>
          </a:p>
        </p:txBody>
      </p:sp>
      <p:sp>
        <p:nvSpPr>
          <p:cNvPr id="3" name="TextBox 2">
            <a:extLst>
              <a:ext uri="{FF2B5EF4-FFF2-40B4-BE49-F238E27FC236}">
                <a16:creationId xmlns:a16="http://schemas.microsoft.com/office/drawing/2014/main" id="{067D01BE-C2E8-127E-D51E-B1277210E9E1}"/>
              </a:ext>
            </a:extLst>
          </p:cNvPr>
          <p:cNvSpPr txBox="1"/>
          <p:nvPr/>
        </p:nvSpPr>
        <p:spPr>
          <a:xfrm>
            <a:off x="4952880" y="2362228"/>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Yes	No</a:t>
            </a:r>
            <a:endParaRPr lang="en-US" sz="2800" b="0" i="0" u="none" strike="noStrike" dirty="0">
              <a:effectLst/>
              <a:latin typeface="Arial" panose="020B0604020202020204" pitchFamily="34" charset="0"/>
            </a:endParaRPr>
          </a:p>
        </p:txBody>
      </p:sp>
      <p:sp>
        <p:nvSpPr>
          <p:cNvPr id="4" name="TextBox 3">
            <a:extLst>
              <a:ext uri="{FF2B5EF4-FFF2-40B4-BE49-F238E27FC236}">
                <a16:creationId xmlns:a16="http://schemas.microsoft.com/office/drawing/2014/main" id="{66B90C8D-55FB-B905-CCA5-52568D4E5F78}"/>
              </a:ext>
            </a:extLst>
          </p:cNvPr>
          <p:cNvSpPr txBox="1"/>
          <p:nvPr/>
        </p:nvSpPr>
        <p:spPr>
          <a:xfrm>
            <a:off x="4952880" y="3200406"/>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Yes	Yes</a:t>
            </a:r>
            <a:endParaRPr lang="en-US" sz="2800" b="0" i="0" u="none" strike="noStrike" dirty="0">
              <a:effectLst/>
              <a:latin typeface="Arial" panose="020B0604020202020204" pitchFamily="34" charset="0"/>
            </a:endParaRPr>
          </a:p>
        </p:txBody>
      </p:sp>
      <p:sp>
        <p:nvSpPr>
          <p:cNvPr id="5" name="TextBox 4">
            <a:extLst>
              <a:ext uri="{FF2B5EF4-FFF2-40B4-BE49-F238E27FC236}">
                <a16:creationId xmlns:a16="http://schemas.microsoft.com/office/drawing/2014/main" id="{5EFE10BF-F17D-9534-86B3-124F7175E624}"/>
              </a:ext>
            </a:extLst>
          </p:cNvPr>
          <p:cNvSpPr txBox="1"/>
          <p:nvPr/>
        </p:nvSpPr>
        <p:spPr>
          <a:xfrm>
            <a:off x="4952880" y="4324500"/>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Yes</a:t>
            </a:r>
            <a:endParaRPr lang="en-US" sz="2800" b="0" i="0" u="none" strike="noStrike" dirty="0">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8601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86019" name="Text Box 2"/>
          <p:cNvSpPr txBox="1">
            <a:spLocks noChangeArrowheads="1"/>
          </p:cNvSpPr>
          <p:nvPr/>
        </p:nvSpPr>
        <p:spPr bwMode="auto">
          <a:xfrm>
            <a:off x="696913" y="457200"/>
            <a:ext cx="7772400" cy="572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ts val="600"/>
              </a:spcAft>
              <a:buFontTx/>
              <a:buNone/>
            </a:pPr>
            <a:r>
              <a:rPr lang="en-US" altLang="en-US" sz="2400" dirty="0">
                <a:solidFill>
                  <a:srgbClr val="008000"/>
                </a:solidFill>
                <a:latin typeface="Tahoma" panose="020B0604030504040204" pitchFamily="34" charset="0"/>
              </a:rPr>
              <a:t>   //Abstract class as a </a:t>
            </a:r>
            <a:r>
              <a:rPr lang="en-US" altLang="en-US" sz="2400" dirty="0">
                <a:solidFill>
                  <a:srgbClr val="0000FF"/>
                </a:solidFill>
                <a:latin typeface="Tahoma" panose="020B0604030504040204" pitchFamily="34" charset="0"/>
              </a:rPr>
              <a:t>reference type</a:t>
            </a:r>
            <a:r>
              <a:rPr lang="en-US" altLang="en-US" sz="2400" dirty="0">
                <a:solidFill>
                  <a:srgbClr val="008000"/>
                </a:solidFill>
                <a:latin typeface="Tahoma" panose="020B0604030504040204" pitchFamily="34" charset="0"/>
              </a:rPr>
              <a:t>:</a:t>
            </a:r>
          </a:p>
          <a:p>
            <a:pPr>
              <a:spcBef>
                <a:spcPct val="0"/>
              </a:spcBef>
              <a:buFontTx/>
              <a:buNone/>
            </a:pPr>
            <a:r>
              <a:rPr lang="en-US" altLang="en-US" sz="2400" dirty="0">
                <a:latin typeface="Tahoma" panose="020B0604030504040204" pitchFamily="34" charset="0"/>
              </a:rPr>
              <a:t>   </a:t>
            </a:r>
            <a:r>
              <a:rPr lang="en-US" altLang="en-US" sz="2400" dirty="0">
                <a:solidFill>
                  <a:srgbClr val="0000FF"/>
                </a:solidFill>
                <a:latin typeface="Tahoma" panose="020B0604030504040204" pitchFamily="34" charset="0"/>
              </a:rPr>
              <a:t>Monster[] </a:t>
            </a:r>
            <a:r>
              <a:rPr lang="en-US" altLang="en-US" sz="2400" dirty="0">
                <a:latin typeface="Tahoma" panose="020B0604030504040204" pitchFamily="34" charset="0"/>
              </a:rPr>
              <a:t>m = new Monster[3];</a:t>
            </a:r>
          </a:p>
          <a:p>
            <a:pPr>
              <a:spcBef>
                <a:spcPct val="0"/>
              </a:spcBef>
              <a:buFontTx/>
              <a:buNone/>
            </a:pPr>
            <a:r>
              <a:rPr lang="en-US" altLang="en-US" sz="2400" dirty="0">
                <a:latin typeface="Tahoma" panose="020B0604030504040204" pitchFamily="34" charset="0"/>
              </a:rPr>
              <a:t>   m[0] = new Vampire("Jerry");</a:t>
            </a:r>
          </a:p>
          <a:p>
            <a:pPr>
              <a:spcBef>
                <a:spcPct val="0"/>
              </a:spcBef>
              <a:buFontTx/>
              <a:buNone/>
            </a:pPr>
            <a:r>
              <a:rPr lang="en-US" altLang="en-US" sz="2400" dirty="0">
                <a:latin typeface="Tahoma" panose="020B0604030504040204" pitchFamily="34" charset="0"/>
              </a:rPr>
              <a:t>   m[1] = new Witch("Helen");</a:t>
            </a:r>
          </a:p>
          <a:p>
            <a:pPr>
              <a:spcBef>
                <a:spcPct val="0"/>
              </a:spcBef>
              <a:buFontTx/>
              <a:buNone/>
            </a:pPr>
            <a:r>
              <a:rPr lang="en-US" altLang="en-US" sz="2400" dirty="0">
                <a:latin typeface="Tahoma" panose="020B0604030504040204" pitchFamily="34" charset="0"/>
              </a:rPr>
              <a:t>   m[2] = new Ghost("Casper");</a:t>
            </a:r>
          </a:p>
          <a:p>
            <a:pPr>
              <a:spcBef>
                <a:spcPct val="0"/>
              </a:spcBef>
              <a:buFontTx/>
              <a:buNone/>
            </a:pPr>
            <a:endParaRPr lang="en-US" altLang="en-US" sz="2400" dirty="0">
              <a:latin typeface="Tahoma" panose="020B0604030504040204" pitchFamily="34" charset="0"/>
            </a:endParaRPr>
          </a:p>
          <a:p>
            <a:pPr>
              <a:spcBef>
                <a:spcPct val="0"/>
              </a:spcBef>
              <a:spcAft>
                <a:spcPts val="600"/>
              </a:spcAft>
              <a:buFontTx/>
              <a:buNone/>
            </a:pPr>
            <a:r>
              <a:rPr lang="en-US" altLang="en-US" sz="2400" dirty="0">
                <a:solidFill>
                  <a:srgbClr val="008000"/>
                </a:solidFill>
                <a:latin typeface="Tahoma" panose="020B0604030504040204" pitchFamily="34" charset="0"/>
              </a:rPr>
              <a:t> //Interface as a </a:t>
            </a:r>
            <a:r>
              <a:rPr lang="en-US" altLang="en-US" sz="2400" dirty="0">
                <a:solidFill>
                  <a:srgbClr val="0000FF"/>
                </a:solidFill>
                <a:latin typeface="Tahoma" panose="020B0604030504040204" pitchFamily="34" charset="0"/>
              </a:rPr>
              <a:t>reference type</a:t>
            </a:r>
            <a:r>
              <a:rPr lang="en-US" altLang="en-US" sz="2400" dirty="0">
                <a:solidFill>
                  <a:srgbClr val="008000"/>
                </a:solidFill>
                <a:latin typeface="Tahoma" panose="020B0604030504040204" pitchFamily="34" charset="0"/>
              </a:rPr>
              <a:t>:</a:t>
            </a:r>
          </a:p>
          <a:p>
            <a:pPr>
              <a:spcBef>
                <a:spcPct val="0"/>
              </a:spcBef>
              <a:spcAft>
                <a:spcPts val="1200"/>
              </a:spcAft>
              <a:buFontTx/>
              <a:buNone/>
            </a:pPr>
            <a:r>
              <a:rPr lang="en-US" altLang="en-US" sz="2400" dirty="0">
                <a:latin typeface="Tahoma" panose="020B0604030504040204" pitchFamily="34" charset="0"/>
              </a:rPr>
              <a:t>   </a:t>
            </a:r>
            <a:r>
              <a:rPr lang="en-US" altLang="en-US" sz="2400" dirty="0">
                <a:solidFill>
                  <a:srgbClr val="0000FF"/>
                </a:solidFill>
                <a:latin typeface="Tahoma" panose="020B0604030504040204" pitchFamily="34" charset="0"/>
              </a:rPr>
              <a:t>Comparable</a:t>
            </a:r>
            <a:r>
              <a:rPr lang="en-US" altLang="en-US" sz="2400" dirty="0">
                <a:latin typeface="Tahoma" panose="020B0604030504040204" pitchFamily="34" charset="0"/>
              </a:rPr>
              <a:t> x, y;</a:t>
            </a:r>
          </a:p>
          <a:p>
            <a:pPr>
              <a:spcBef>
                <a:spcPct val="0"/>
              </a:spcBef>
              <a:buFontTx/>
              <a:buNone/>
            </a:pPr>
            <a:r>
              <a:rPr lang="en-US" altLang="en-US" sz="2400" dirty="0">
                <a:latin typeface="Tahoma" panose="020B0604030504040204" pitchFamily="34" charset="0"/>
              </a:rPr>
              <a:t>   x = new String("This is a test.");</a:t>
            </a:r>
          </a:p>
          <a:p>
            <a:pPr>
              <a:spcBef>
                <a:spcPct val="0"/>
              </a:spcBef>
              <a:buFontTx/>
              <a:buNone/>
            </a:pPr>
            <a:r>
              <a:rPr lang="en-US" altLang="en-US" sz="2400" dirty="0">
                <a:latin typeface="Tahoma" panose="020B0604030504040204" pitchFamily="34" charset="0"/>
              </a:rPr>
              <a:t>   y = new String(“this is a test.");</a:t>
            </a:r>
          </a:p>
          <a:p>
            <a:pPr>
              <a:spcBef>
                <a:spcPct val="0"/>
              </a:spcBef>
              <a:spcAft>
                <a:spcPts val="1200"/>
              </a:spcAft>
              <a:buFontTx/>
              <a:buNone/>
            </a:pPr>
            <a:r>
              <a:rPr lang="en-US" altLang="en-US" sz="2400" dirty="0">
                <a:latin typeface="Tahoma" panose="020B0604030504040204" pitchFamily="34" charset="0"/>
              </a:rPr>
              <a:t>   </a:t>
            </a:r>
            <a:r>
              <a:rPr lang="en-US" altLang="en-US" sz="2400" dirty="0" err="1">
                <a:latin typeface="Tahoma" panose="020B0604030504040204" pitchFamily="34" charset="0"/>
              </a:rPr>
              <a:t>out.println</a:t>
            </a:r>
            <a:r>
              <a:rPr lang="en-US" altLang="en-US" sz="2400" dirty="0">
                <a:latin typeface="Tahoma" panose="020B0604030504040204" pitchFamily="34" charset="0"/>
              </a:rPr>
              <a:t>(</a:t>
            </a:r>
            <a:r>
              <a:rPr lang="en-US" altLang="en-US" sz="2400" dirty="0" err="1">
                <a:latin typeface="Tahoma" panose="020B0604030504040204" pitchFamily="34" charset="0"/>
              </a:rPr>
              <a:t>x.compareTo</a:t>
            </a:r>
            <a:r>
              <a:rPr lang="en-US" altLang="en-US" sz="2400" dirty="0">
                <a:latin typeface="Tahoma" panose="020B0604030504040204" pitchFamily="34" charset="0"/>
              </a:rPr>
              <a:t>(y));</a:t>
            </a:r>
          </a:p>
          <a:p>
            <a:pPr>
              <a:spcBef>
                <a:spcPct val="0"/>
              </a:spcBef>
              <a:buFontTx/>
              <a:buNone/>
            </a:pPr>
            <a:r>
              <a:rPr lang="en-US" altLang="en-US" sz="2400" dirty="0">
                <a:latin typeface="Tahoma" panose="020B0604030504040204" pitchFamily="34" charset="0"/>
              </a:rPr>
              <a:t>   x = new Integer(5);</a:t>
            </a:r>
          </a:p>
          <a:p>
            <a:pPr>
              <a:spcBef>
                <a:spcPct val="0"/>
              </a:spcBef>
              <a:buFontTx/>
              <a:buNone/>
            </a:pPr>
            <a:r>
              <a:rPr lang="en-US" altLang="en-US" sz="2400" dirty="0">
                <a:latin typeface="Tahoma" panose="020B0604030504040204" pitchFamily="34" charset="0"/>
              </a:rPr>
              <a:t>   y = new Integer(9);</a:t>
            </a:r>
          </a:p>
          <a:p>
            <a:pPr>
              <a:spcBef>
                <a:spcPct val="0"/>
              </a:spcBef>
              <a:buFontTx/>
              <a:buNone/>
            </a:pPr>
            <a:r>
              <a:rPr lang="en-US" altLang="en-US" sz="2400" dirty="0">
                <a:latin typeface="Tahoma" panose="020B0604030504040204" pitchFamily="34" charset="0"/>
              </a:rPr>
              <a:t>   </a:t>
            </a:r>
            <a:r>
              <a:rPr lang="en-US" altLang="en-US" sz="2400" dirty="0" err="1">
                <a:latin typeface="Tahoma" panose="020B0604030504040204" pitchFamily="34" charset="0"/>
              </a:rPr>
              <a:t>out.println</a:t>
            </a:r>
            <a:r>
              <a:rPr lang="en-US" altLang="en-US" sz="2400" dirty="0">
                <a:latin typeface="Tahoma" panose="020B0604030504040204" pitchFamily="34" charset="0"/>
              </a:rPr>
              <a:t>(</a:t>
            </a:r>
            <a:r>
              <a:rPr lang="en-US" altLang="en-US" sz="2400" dirty="0" err="1">
                <a:latin typeface="Tahoma" panose="020B0604030504040204" pitchFamily="34" charset="0"/>
              </a:rPr>
              <a:t>x.compareTo</a:t>
            </a:r>
            <a:r>
              <a:rPr lang="en-US" altLang="en-US" sz="2400" dirty="0">
                <a:latin typeface="Tahoma" panose="020B0604030504040204" pitchFamily="34" charset="0"/>
              </a:rPr>
              <a: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2026489" y="3991300"/>
            <a:ext cx="6462621"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0" dirty="0">
                <a:latin typeface="Courier New" panose="02070309020205020404" pitchFamily="49" charset="0"/>
                <a:cs typeface="Courier New" panose="02070309020205020404" pitchFamily="49" charset="0"/>
              </a:rPr>
              <a:t>public static void </a:t>
            </a:r>
            <a:r>
              <a:rPr lang="en-US" altLang="en-US" sz="2000" dirty="0">
                <a:latin typeface="Courier New" panose="02070309020205020404" pitchFamily="49" charset="0"/>
                <a:cs typeface="Courier New" panose="02070309020205020404" pitchFamily="49" charset="0"/>
              </a:rPr>
              <a:t>write(Object obj) </a:t>
            </a:r>
          </a:p>
          <a:p>
            <a:pPr>
              <a:spcBef>
                <a:spcPct val="0"/>
              </a:spcBef>
              <a:buFontTx/>
              <a:buNone/>
            </a:pPr>
            <a:r>
              <a:rPr lang="en-US" altLang="en-US" sz="2000" b="0" dirty="0">
                <a:latin typeface="Courier New" panose="02070309020205020404" pitchFamily="49" charset="0"/>
                <a:cs typeface="Courier New" panose="02070309020205020404" pitchFamily="49" charset="0"/>
              </a:rPr>
              <a:t>{</a:t>
            </a:r>
          </a:p>
          <a:p>
            <a:pPr>
              <a:spcBef>
                <a:spcPct val="0"/>
              </a:spcBef>
              <a:buFontTx/>
              <a:buNone/>
            </a:pPr>
            <a:r>
              <a:rPr lang="en-US" altLang="en-US" sz="2000" b="0" dirty="0">
                <a:latin typeface="Courier New" panose="02070309020205020404" pitchFamily="49" charset="0"/>
                <a:cs typeface="Courier New" panose="02070309020205020404" pitchFamily="49" charset="0"/>
              </a:rPr>
              <a:t>    </a:t>
            </a:r>
            <a:r>
              <a:rPr lang="en-US" altLang="en-US" sz="2000" b="0" dirty="0" err="1">
                <a:latin typeface="Courier New" panose="02070309020205020404" pitchFamily="49" charset="0"/>
                <a:cs typeface="Courier New" panose="02070309020205020404" pitchFamily="49" charset="0"/>
              </a:rPr>
              <a:t>System.out.println</a:t>
            </a:r>
            <a:r>
              <a:rPr lang="en-US" altLang="en-US" sz="2000" b="0" dirty="0">
                <a:latin typeface="Courier New" panose="02070309020205020404" pitchFamily="49" charset="0"/>
                <a:cs typeface="Courier New" panose="02070309020205020404" pitchFamily="49" charset="0"/>
              </a:rPr>
              <a:t>(“object”);</a:t>
            </a:r>
          </a:p>
          <a:p>
            <a:pPr>
              <a:spcBef>
                <a:spcPct val="0"/>
              </a:spcBef>
              <a:buFontTx/>
              <a:buNone/>
            </a:pPr>
            <a:r>
              <a:rPr lang="en-US" altLang="en-US" sz="2000" b="0" dirty="0">
                <a:latin typeface="Courier New" panose="02070309020205020404" pitchFamily="49" charset="0"/>
                <a:cs typeface="Courier New" panose="02070309020205020404" pitchFamily="49" charset="0"/>
              </a:rPr>
              <a:t>}</a:t>
            </a:r>
          </a:p>
          <a:p>
            <a:pPr>
              <a:spcBef>
                <a:spcPct val="0"/>
              </a:spcBef>
              <a:buFontTx/>
              <a:buNone/>
            </a:pPr>
            <a:r>
              <a:rPr lang="en-US" altLang="en-US" sz="2000" b="0" dirty="0">
                <a:latin typeface="Courier New" panose="02070309020205020404" pitchFamily="49" charset="0"/>
                <a:cs typeface="Courier New" panose="02070309020205020404" pitchFamily="49" charset="0"/>
              </a:rPr>
              <a:t>public static void </a:t>
            </a:r>
            <a:r>
              <a:rPr lang="en-US" altLang="en-US" sz="2000" dirty="0">
                <a:latin typeface="Courier New" panose="02070309020205020404" pitchFamily="49" charset="0"/>
                <a:cs typeface="Courier New" panose="02070309020205020404" pitchFamily="49" charset="0"/>
              </a:rPr>
              <a:t>write(String str) </a:t>
            </a:r>
          </a:p>
          <a:p>
            <a:pPr>
              <a:spcBef>
                <a:spcPct val="0"/>
              </a:spcBef>
              <a:buFontTx/>
              <a:buNone/>
            </a:pPr>
            <a:r>
              <a:rPr lang="en-US" altLang="en-US" sz="2000" b="0" dirty="0">
                <a:latin typeface="Courier New" panose="02070309020205020404" pitchFamily="49" charset="0"/>
                <a:cs typeface="Courier New" panose="02070309020205020404" pitchFamily="49" charset="0"/>
              </a:rPr>
              <a:t>{</a:t>
            </a:r>
          </a:p>
          <a:p>
            <a:pPr>
              <a:spcBef>
                <a:spcPct val="0"/>
              </a:spcBef>
              <a:buFontTx/>
              <a:buNone/>
            </a:pPr>
            <a:r>
              <a:rPr lang="en-US" altLang="en-US" sz="2000" b="0" dirty="0">
                <a:latin typeface="Courier New" panose="02070309020205020404" pitchFamily="49" charset="0"/>
                <a:cs typeface="Courier New" panose="02070309020205020404" pitchFamily="49" charset="0"/>
              </a:rPr>
              <a:t>   </a:t>
            </a:r>
            <a:r>
              <a:rPr lang="en-US" altLang="en-US" sz="2000" b="0" dirty="0" err="1">
                <a:latin typeface="Courier New" panose="02070309020205020404" pitchFamily="49" charset="0"/>
                <a:cs typeface="Courier New" panose="02070309020205020404" pitchFamily="49" charset="0"/>
              </a:rPr>
              <a:t>System.out.println</a:t>
            </a:r>
            <a:r>
              <a:rPr lang="en-US" altLang="en-US" sz="2000" b="0" dirty="0">
                <a:latin typeface="Courier New" panose="02070309020205020404" pitchFamily="49" charset="0"/>
                <a:cs typeface="Courier New" panose="02070309020205020404" pitchFamily="49" charset="0"/>
              </a:rPr>
              <a:t>(“string”);</a:t>
            </a:r>
          </a:p>
          <a:p>
            <a:pPr>
              <a:spcBef>
                <a:spcPct val="0"/>
              </a:spcBef>
              <a:buFontTx/>
              <a:buNone/>
            </a:pPr>
            <a:r>
              <a:rPr lang="en-US" altLang="en-US" sz="2000" b="0" dirty="0">
                <a:latin typeface="Courier New" panose="02070309020205020404" pitchFamily="49" charset="0"/>
                <a:cs typeface="Courier New" panose="02070309020205020404" pitchFamily="49" charset="0"/>
              </a:rPr>
              <a:t>}</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17260" y="3484251"/>
            <a:ext cx="83817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2026489" y="1914473"/>
            <a:ext cx="4572000" cy="1400383"/>
          </a:xfrm>
          <a:prstGeom prst="rect">
            <a:avLst/>
          </a:prstGeom>
        </p:spPr>
        <p:txBody>
          <a:bodyPr>
            <a:spAutoFit/>
          </a:bodyPr>
          <a:lstStyle/>
          <a:p>
            <a:pPr>
              <a:spcAft>
                <a:spcPts val="600"/>
              </a:spcAft>
            </a:pPr>
            <a:r>
              <a:rPr lang="en-US" altLang="en-US" dirty="0">
                <a:solidFill>
                  <a:srgbClr val="176B25"/>
                </a:solidFill>
                <a:latin typeface="Courier New" panose="02070309020205020404" pitchFamily="49" charset="0"/>
                <a:cs typeface="Courier New" panose="02070309020205020404" pitchFamily="49" charset="0"/>
              </a:rPr>
              <a:t>// In the main method:</a:t>
            </a:r>
          </a:p>
          <a:p>
            <a:r>
              <a:rPr lang="en-US" altLang="en-US" dirty="0">
                <a:latin typeface="Courier New" panose="02070309020205020404" pitchFamily="49" charset="0"/>
                <a:cs typeface="Courier New" panose="02070309020205020404" pitchFamily="49" charset="0"/>
              </a:rPr>
              <a:t>Object x = new String(“hi”);</a:t>
            </a:r>
          </a:p>
          <a:p>
            <a:r>
              <a:rPr lang="en-US" altLang="en-US" dirty="0">
                <a:solidFill>
                  <a:srgbClr val="612A8A"/>
                </a:solidFill>
                <a:latin typeface="Courier New" panose="02070309020205020404" pitchFamily="49" charset="0"/>
                <a:cs typeface="Courier New" panose="02070309020205020404" pitchFamily="49" charset="0"/>
              </a:rPr>
              <a:t>write(x);</a:t>
            </a:r>
          </a:p>
          <a:p>
            <a:r>
              <a:rPr lang="en-US" altLang="en-US" dirty="0" err="1">
                <a:latin typeface="Courier New" panose="02070309020205020404" pitchFamily="49" charset="0"/>
                <a:cs typeface="Courier New" panose="02070309020205020404" pitchFamily="49" charset="0"/>
              </a:rPr>
              <a:t>out.println</a:t>
            </a:r>
            <a:r>
              <a:rPr lang="en-US" altLang="en-US" dirty="0">
                <a:latin typeface="Courier New" panose="02070309020205020404" pitchFamily="49" charset="0"/>
                <a:cs typeface="Courier New" panose="02070309020205020404" pitchFamily="49" charset="0"/>
              </a:rPr>
              <a:t>(</a:t>
            </a:r>
            <a:r>
              <a:rPr lang="en-US" altLang="en-US" dirty="0" err="1">
                <a:solidFill>
                  <a:srgbClr val="0000FF"/>
                </a:solidFill>
                <a:latin typeface="Courier New" panose="02070309020205020404" pitchFamily="49" charset="0"/>
                <a:cs typeface="Courier New" panose="02070309020205020404" pitchFamily="49" charset="0"/>
              </a:rPr>
              <a:t>x.toString</a:t>
            </a:r>
            <a:r>
              <a:rPr lang="en-US" altLang="en-US" dirty="0">
                <a:solidFill>
                  <a:srgbClr val="0000FF"/>
                </a:solidFill>
                <a:latin typeface="Courier New" panose="02070309020205020404" pitchFamily="49" charset="0"/>
                <a:cs typeface="Courier New" panose="02070309020205020404" pitchFamily="49" charset="0"/>
              </a:rPr>
              <a:t>()</a:t>
            </a:r>
            <a:r>
              <a:rPr lang="en-US" altLang="en-US" dirty="0">
                <a:latin typeface="Courier New" panose="02070309020205020404" pitchFamily="49" charset="0"/>
                <a:cs typeface="Courier New" panose="02070309020205020404" pitchFamily="49" charset="0"/>
              </a:rPr>
              <a:t>);</a:t>
            </a:r>
          </a:p>
        </p:txBody>
      </p:sp>
      <p:sp>
        <p:nvSpPr>
          <p:cNvPr id="9" name="Rectangle 8">
            <a:extLst>
              <a:ext uri="{FF2B5EF4-FFF2-40B4-BE49-F238E27FC236}">
                <a16:creationId xmlns:a16="http://schemas.microsoft.com/office/drawing/2014/main" id="{4723CE23-03DF-4A37-ADF4-397C362A1FDC}"/>
              </a:ext>
            </a:extLst>
          </p:cNvPr>
          <p:cNvSpPr/>
          <p:nvPr/>
        </p:nvSpPr>
        <p:spPr>
          <a:xfrm>
            <a:off x="228714" y="2235684"/>
            <a:ext cx="1371564" cy="584775"/>
          </a:xfrm>
          <a:prstGeom prst="rect">
            <a:avLst/>
          </a:prstGeom>
        </p:spPr>
        <p:txBody>
          <a:bodyPr wrap="square">
            <a:spAutoFit/>
          </a:bodyPr>
          <a:lstStyle/>
          <a:p>
            <a:pPr algn="ctr">
              <a:spcAft>
                <a:spcPts val="600"/>
              </a:spcAft>
            </a:pPr>
            <a:r>
              <a:rPr lang="en-US" altLang="en-US" sz="1600" dirty="0">
                <a:solidFill>
                  <a:srgbClr val="00B0F0"/>
                </a:solidFill>
                <a:cs typeface="Arial" panose="020B0604020202020204" pitchFamily="34" charset="0"/>
              </a:rPr>
              <a:t>Reference type</a:t>
            </a:r>
          </a:p>
        </p:txBody>
      </p:sp>
      <p:cxnSp>
        <p:nvCxnSpPr>
          <p:cNvPr id="4" name="Straight Arrow Connector 3">
            <a:extLst>
              <a:ext uri="{FF2B5EF4-FFF2-40B4-BE49-F238E27FC236}">
                <a16:creationId xmlns:a16="http://schemas.microsoft.com/office/drawing/2014/main" id="{E3C40D54-3411-4BC8-8D33-E18FA4C72484}"/>
              </a:ext>
            </a:extLst>
          </p:cNvPr>
          <p:cNvCxnSpPr>
            <a:cxnSpLocks/>
          </p:cNvCxnSpPr>
          <p:nvPr/>
        </p:nvCxnSpPr>
        <p:spPr bwMode="auto">
          <a:xfrm flipV="1">
            <a:off x="1447882" y="2464278"/>
            <a:ext cx="578607" cy="5998"/>
          </a:xfrm>
          <a:prstGeom prst="straightConnector1">
            <a:avLst/>
          </a:prstGeom>
          <a:solidFill>
            <a:schemeClr val="accent1"/>
          </a:solidFill>
          <a:ln w="127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Rectangle 12">
            <a:extLst>
              <a:ext uri="{FF2B5EF4-FFF2-40B4-BE49-F238E27FC236}">
                <a16:creationId xmlns:a16="http://schemas.microsoft.com/office/drawing/2014/main" id="{1DF024A8-3055-4C7A-8026-0DDBCA88528F}"/>
              </a:ext>
            </a:extLst>
          </p:cNvPr>
          <p:cNvSpPr/>
          <p:nvPr/>
        </p:nvSpPr>
        <p:spPr>
          <a:xfrm>
            <a:off x="7041992" y="1676446"/>
            <a:ext cx="1644700" cy="907941"/>
          </a:xfrm>
          <a:prstGeom prst="rect">
            <a:avLst/>
          </a:prstGeom>
        </p:spPr>
        <p:txBody>
          <a:bodyPr wrap="square">
            <a:spAutoFit/>
          </a:bodyPr>
          <a:lstStyle/>
          <a:p>
            <a:pPr algn="ctr">
              <a:spcAft>
                <a:spcPts val="600"/>
              </a:spcAft>
            </a:pPr>
            <a:r>
              <a:rPr lang="en-US" altLang="en-US" sz="1600" dirty="0">
                <a:solidFill>
                  <a:srgbClr val="00B0F0"/>
                </a:solidFill>
                <a:cs typeface="Arial" panose="020B0604020202020204" pitchFamily="34" charset="0"/>
              </a:rPr>
              <a:t>Actual type</a:t>
            </a:r>
          </a:p>
          <a:p>
            <a:pPr algn="ctr">
              <a:spcAft>
                <a:spcPts val="600"/>
              </a:spcAft>
            </a:pPr>
            <a:r>
              <a:rPr lang="en-US" altLang="en-US" sz="1600" dirty="0">
                <a:solidFill>
                  <a:srgbClr val="00B0F0"/>
                </a:solidFill>
                <a:cs typeface="Arial" panose="020B0604020202020204" pitchFamily="34" charset="0"/>
              </a:rPr>
              <a:t>(a.k.a. the run-time type)</a:t>
            </a:r>
          </a:p>
        </p:txBody>
      </p:sp>
      <p:cxnSp>
        <p:nvCxnSpPr>
          <p:cNvPr id="14" name="Straight Arrow Connector 13">
            <a:extLst>
              <a:ext uri="{FF2B5EF4-FFF2-40B4-BE49-F238E27FC236}">
                <a16:creationId xmlns:a16="http://schemas.microsoft.com/office/drawing/2014/main" id="{B81D5F6C-D8FE-439F-A682-1B3E5B04EDF7}"/>
              </a:ext>
            </a:extLst>
          </p:cNvPr>
          <p:cNvCxnSpPr>
            <a:cxnSpLocks/>
          </p:cNvCxnSpPr>
          <p:nvPr/>
        </p:nvCxnSpPr>
        <p:spPr bwMode="auto">
          <a:xfrm flipH="1">
            <a:off x="5257799" y="2083284"/>
            <a:ext cx="1766901" cy="301796"/>
          </a:xfrm>
          <a:prstGeom prst="straightConnector1">
            <a:avLst/>
          </a:prstGeom>
          <a:solidFill>
            <a:schemeClr val="accent1"/>
          </a:solidFill>
          <a:ln w="127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Rectangle 1">
            <a:extLst>
              <a:ext uri="{FF2B5EF4-FFF2-40B4-BE49-F238E27FC236}">
                <a16:creationId xmlns:a16="http://schemas.microsoft.com/office/drawing/2014/main" id="{28067663-FFA5-78D6-1E67-53DAD07BD57B}"/>
              </a:ext>
            </a:extLst>
          </p:cNvPr>
          <p:cNvSpPr>
            <a:spLocks noChangeArrowheads="1"/>
          </p:cNvSpPr>
          <p:nvPr/>
        </p:nvSpPr>
        <p:spPr bwMode="auto">
          <a:xfrm>
            <a:off x="381110" y="1147418"/>
            <a:ext cx="83817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Tree>
    <p:extLst>
      <p:ext uri="{BB962C8B-B14F-4D97-AF65-F5344CB8AC3E}">
        <p14:creationId xmlns:p14="http://schemas.microsoft.com/office/powerpoint/2010/main" val="3338875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grpSp>
        <p:nvGrpSpPr>
          <p:cNvPr id="2" name="Group 1" descr="The String class extends the Object class and implements the CharSequence and Comparable interfaces.&#10;The StringBuilder class extends the Object class and implements the CharSequence and Appendable interfaces.">
            <a:extLst>
              <a:ext uri="{FF2B5EF4-FFF2-40B4-BE49-F238E27FC236}">
                <a16:creationId xmlns:a16="http://schemas.microsoft.com/office/drawing/2014/main" id="{A8AA95CE-E849-600E-A49B-18AA5BF1AC82}"/>
              </a:ext>
            </a:extLst>
          </p:cNvPr>
          <p:cNvGrpSpPr/>
          <p:nvPr/>
        </p:nvGrpSpPr>
        <p:grpSpPr>
          <a:xfrm>
            <a:off x="457308" y="1610545"/>
            <a:ext cx="8229384" cy="4637781"/>
            <a:chOff x="457308" y="1610545"/>
            <a:chExt cx="8229384" cy="4637781"/>
          </a:xfrm>
        </p:grpSpPr>
        <p:sp>
          <p:nvSpPr>
            <p:cNvPr id="3" name="Rectangle 2">
              <a:extLst>
                <a:ext uri="{FF2B5EF4-FFF2-40B4-BE49-F238E27FC236}">
                  <a16:creationId xmlns:a16="http://schemas.microsoft.com/office/drawing/2014/main" id="{C2C7261D-3A7A-4BE6-B54F-5A167A8D8A0B}"/>
                </a:ext>
              </a:extLst>
            </p:cNvPr>
            <p:cNvSpPr/>
            <p:nvPr/>
          </p:nvSpPr>
          <p:spPr>
            <a:xfrm>
              <a:off x="3435581" y="1610545"/>
              <a:ext cx="1473480"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Object</a:t>
              </a:r>
              <a:endParaRPr lang="en-US" sz="2800" dirty="0"/>
            </a:p>
          </p:txBody>
        </p:sp>
        <p:sp>
          <p:nvSpPr>
            <p:cNvPr id="8" name="Rectangle 7">
              <a:extLst>
                <a:ext uri="{FF2B5EF4-FFF2-40B4-BE49-F238E27FC236}">
                  <a16:creationId xmlns:a16="http://schemas.microsoft.com/office/drawing/2014/main" id="{B54FDF20-3E3D-43C1-B2B9-7A05861E991C}"/>
                </a:ext>
              </a:extLst>
            </p:cNvPr>
            <p:cNvSpPr/>
            <p:nvPr/>
          </p:nvSpPr>
          <p:spPr>
            <a:xfrm>
              <a:off x="457308" y="3304922"/>
              <a:ext cx="2332690"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a:latin typeface="Courier New" panose="02070309020205020404" pitchFamily="49" charset="0"/>
                  <a:cs typeface="Courier New" panose="02070309020205020404" pitchFamily="49" charset="0"/>
                </a:rPr>
                <a:t>Comparable</a:t>
              </a:r>
              <a:endParaRPr lang="en-US" sz="2800" dirty="0"/>
            </a:p>
          </p:txBody>
        </p:sp>
        <p:sp>
          <p:nvSpPr>
            <p:cNvPr id="9" name="Rectangle 8">
              <a:extLst>
                <a:ext uri="{FF2B5EF4-FFF2-40B4-BE49-F238E27FC236}">
                  <a16:creationId xmlns:a16="http://schemas.microsoft.com/office/drawing/2014/main" id="{352631C9-80A0-4306-AAEC-28740DC27AAA}"/>
                </a:ext>
              </a:extLst>
            </p:cNvPr>
            <p:cNvSpPr/>
            <p:nvPr/>
          </p:nvSpPr>
          <p:spPr>
            <a:xfrm>
              <a:off x="5031531" y="2565497"/>
              <a:ext cx="2762295"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err="1">
                  <a:latin typeface="Courier New" panose="02070309020205020404" pitchFamily="49" charset="0"/>
                  <a:cs typeface="Courier New" panose="02070309020205020404" pitchFamily="49" charset="0"/>
                </a:rPr>
                <a:t>CharSequence</a:t>
              </a:r>
              <a:endParaRPr lang="en-US" sz="2800" dirty="0"/>
            </a:p>
          </p:txBody>
        </p:sp>
        <p:sp>
          <p:nvSpPr>
            <p:cNvPr id="10" name="Rectangle 9">
              <a:extLst>
                <a:ext uri="{FF2B5EF4-FFF2-40B4-BE49-F238E27FC236}">
                  <a16:creationId xmlns:a16="http://schemas.microsoft.com/office/drawing/2014/main" id="{F57734FE-6337-49A1-B5CA-C6D1DD4124C9}"/>
                </a:ext>
              </a:extLst>
            </p:cNvPr>
            <p:cNvSpPr/>
            <p:nvPr/>
          </p:nvSpPr>
          <p:spPr>
            <a:xfrm>
              <a:off x="4038614" y="5691567"/>
              <a:ext cx="2977097"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StringBuilder</a:t>
              </a:r>
              <a:endParaRPr lang="en-US" sz="2800" dirty="0"/>
            </a:p>
          </p:txBody>
        </p:sp>
        <p:sp>
          <p:nvSpPr>
            <p:cNvPr id="11" name="Rectangle 10">
              <a:extLst>
                <a:ext uri="{FF2B5EF4-FFF2-40B4-BE49-F238E27FC236}">
                  <a16:creationId xmlns:a16="http://schemas.microsoft.com/office/drawing/2014/main" id="{809236D9-7F0B-4A34-AAD6-9830BBD69AF8}"/>
                </a:ext>
              </a:extLst>
            </p:cNvPr>
            <p:cNvSpPr/>
            <p:nvPr/>
          </p:nvSpPr>
          <p:spPr>
            <a:xfrm>
              <a:off x="1962101" y="5725106"/>
              <a:ext cx="1473480"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String</a:t>
              </a:r>
              <a:endParaRPr lang="en-US" sz="2800" dirty="0"/>
            </a:p>
          </p:txBody>
        </p:sp>
        <p:sp>
          <p:nvSpPr>
            <p:cNvPr id="12" name="Rectangle 11">
              <a:extLst>
                <a:ext uri="{FF2B5EF4-FFF2-40B4-BE49-F238E27FC236}">
                  <a16:creationId xmlns:a16="http://schemas.microsoft.com/office/drawing/2014/main" id="{FC7E9D18-AB9D-4489-924F-B84E9BD78311}"/>
                </a:ext>
              </a:extLst>
            </p:cNvPr>
            <p:cNvSpPr/>
            <p:nvPr/>
          </p:nvSpPr>
          <p:spPr>
            <a:xfrm>
              <a:off x="6354001" y="4149111"/>
              <a:ext cx="2332691"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err="1">
                  <a:latin typeface="Courier New" panose="02070309020205020404" pitchFamily="49" charset="0"/>
                  <a:cs typeface="Courier New" panose="02070309020205020404" pitchFamily="49" charset="0"/>
                </a:rPr>
                <a:t>Appendable</a:t>
              </a:r>
              <a:endParaRPr lang="en-US" sz="2800" dirty="0"/>
            </a:p>
          </p:txBody>
        </p:sp>
        <p:cxnSp>
          <p:nvCxnSpPr>
            <p:cNvPr id="6" name="Straight Arrow Connector 5">
              <a:extLst>
                <a:ext uri="{FF2B5EF4-FFF2-40B4-BE49-F238E27FC236}">
                  <a16:creationId xmlns:a16="http://schemas.microsoft.com/office/drawing/2014/main" id="{B3B862C3-7F2D-41A0-9423-7643A38BF004}"/>
                </a:ext>
              </a:extLst>
            </p:cNvPr>
            <p:cNvCxnSpPr>
              <a:endCxn id="3" idx="2"/>
            </p:cNvCxnSpPr>
            <p:nvPr/>
          </p:nvCxnSpPr>
          <p:spPr bwMode="auto">
            <a:xfrm flipV="1">
              <a:off x="2646106" y="2133765"/>
              <a:ext cx="1526215" cy="3591341"/>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a:extLst>
                <a:ext uri="{FF2B5EF4-FFF2-40B4-BE49-F238E27FC236}">
                  <a16:creationId xmlns:a16="http://schemas.microsoft.com/office/drawing/2014/main" id="{73F9D13E-6B15-487D-A69E-D7690606620A}"/>
                </a:ext>
              </a:extLst>
            </p:cNvPr>
            <p:cNvCxnSpPr>
              <a:stCxn id="11" idx="0"/>
              <a:endCxn id="8" idx="2"/>
            </p:cNvCxnSpPr>
            <p:nvPr/>
          </p:nvCxnSpPr>
          <p:spPr bwMode="auto">
            <a:xfrm flipH="1" flipV="1">
              <a:off x="1623653" y="4135919"/>
              <a:ext cx="1075188" cy="1589187"/>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Arrow Connector 18">
              <a:extLst>
                <a:ext uri="{FF2B5EF4-FFF2-40B4-BE49-F238E27FC236}">
                  <a16:creationId xmlns:a16="http://schemas.microsoft.com/office/drawing/2014/main" id="{B10B3326-B2C1-4BA4-92A4-DE0B5BBD807E}"/>
                </a:ext>
              </a:extLst>
            </p:cNvPr>
            <p:cNvCxnSpPr>
              <a:stCxn id="11" idx="0"/>
              <a:endCxn id="9" idx="2"/>
            </p:cNvCxnSpPr>
            <p:nvPr/>
          </p:nvCxnSpPr>
          <p:spPr bwMode="auto">
            <a:xfrm flipV="1">
              <a:off x="2698841" y="3396494"/>
              <a:ext cx="3713838" cy="232861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a:extLst>
                <a:ext uri="{FF2B5EF4-FFF2-40B4-BE49-F238E27FC236}">
                  <a16:creationId xmlns:a16="http://schemas.microsoft.com/office/drawing/2014/main" id="{FEE00871-E49F-4465-A77A-0BD0E7262917}"/>
                </a:ext>
              </a:extLst>
            </p:cNvPr>
            <p:cNvCxnSpPr>
              <a:stCxn id="10" idx="0"/>
              <a:endCxn id="3" idx="2"/>
            </p:cNvCxnSpPr>
            <p:nvPr/>
          </p:nvCxnSpPr>
          <p:spPr bwMode="auto">
            <a:xfrm flipH="1" flipV="1">
              <a:off x="4172321" y="2133765"/>
              <a:ext cx="1354842" cy="355780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Arrow Connector 25">
              <a:extLst>
                <a:ext uri="{FF2B5EF4-FFF2-40B4-BE49-F238E27FC236}">
                  <a16:creationId xmlns:a16="http://schemas.microsoft.com/office/drawing/2014/main" id="{89D7E861-3B9F-4080-9077-2A7FDB9A7569}"/>
                </a:ext>
              </a:extLst>
            </p:cNvPr>
            <p:cNvCxnSpPr>
              <a:stCxn id="10" idx="0"/>
              <a:endCxn id="9" idx="2"/>
            </p:cNvCxnSpPr>
            <p:nvPr/>
          </p:nvCxnSpPr>
          <p:spPr bwMode="auto">
            <a:xfrm flipV="1">
              <a:off x="5527163" y="3396494"/>
              <a:ext cx="885516" cy="2295073"/>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a:extLst>
                <a:ext uri="{FF2B5EF4-FFF2-40B4-BE49-F238E27FC236}">
                  <a16:creationId xmlns:a16="http://schemas.microsoft.com/office/drawing/2014/main" id="{2A3A202A-00E1-4676-82C6-18E2809A785E}"/>
                </a:ext>
              </a:extLst>
            </p:cNvPr>
            <p:cNvCxnSpPr>
              <a:stCxn id="10" idx="0"/>
              <a:endCxn id="12" idx="2"/>
            </p:cNvCxnSpPr>
            <p:nvPr/>
          </p:nvCxnSpPr>
          <p:spPr bwMode="auto">
            <a:xfrm flipV="1">
              <a:off x="5527163" y="4980108"/>
              <a:ext cx="1993184" cy="711459"/>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7" name="WordArt 3">
            <a:extLst>
              <a:ext uri="{FF2B5EF4-FFF2-40B4-BE49-F238E27FC236}">
                <a16:creationId xmlns:a16="http://schemas.microsoft.com/office/drawing/2014/main" id="{7CFA2581-031D-42F2-BF68-348D81B6158E}"/>
              </a:ext>
            </a:extLst>
          </p:cNvPr>
          <p:cNvSpPr>
            <a:spLocks noChangeArrowheads="1" noChangeShapeType="1" noTextEdit="1"/>
          </p:cNvSpPr>
          <p:nvPr/>
        </p:nvSpPr>
        <p:spPr bwMode="auto">
          <a:xfrm>
            <a:off x="685800" y="533476"/>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Types of Character Strings</a:t>
            </a:r>
          </a:p>
        </p:txBody>
      </p:sp>
    </p:spTree>
    <p:extLst>
      <p:ext uri="{BB962C8B-B14F-4D97-AF65-F5344CB8AC3E}">
        <p14:creationId xmlns:p14="http://schemas.microsoft.com/office/powerpoint/2010/main" val="1706914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420356"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420356" y="2491540"/>
            <a:ext cx="5288640" cy="1277273"/>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Comparable s = "";</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s</a:t>
            </a:r>
            <a:r>
              <a:rPr lang="en-US" altLang="en-US" sz="2400" dirty="0">
                <a:latin typeface="Courier New" panose="02070309020205020404" pitchFamily="49" charset="0"/>
                <a:cs typeface="Courier New" panose="02070309020205020404" pitchFamily="49" charset="0"/>
              </a:rPr>
              <a:t>);</a:t>
            </a:r>
          </a:p>
        </p:txBody>
      </p:sp>
      <p:sp>
        <p:nvSpPr>
          <p:cNvPr id="3" name="Rectangle 2">
            <a:extLst>
              <a:ext uri="{FF2B5EF4-FFF2-40B4-BE49-F238E27FC236}">
                <a16:creationId xmlns:a16="http://schemas.microsoft.com/office/drawing/2014/main" id="{7C648C95-8098-51EC-6D44-9934320734DE}"/>
              </a:ext>
            </a:extLst>
          </p:cNvPr>
          <p:cNvSpPr>
            <a:spLocks noChangeArrowheads="1"/>
          </p:cNvSpPr>
          <p:nvPr/>
        </p:nvSpPr>
        <p:spPr bwMode="auto">
          <a:xfrm>
            <a:off x="420356"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B050"/>
                </a:solidFill>
                <a:latin typeface="Courier New" panose="02070309020205020404" pitchFamily="49" charset="0"/>
                <a:cs typeface="Courier New" panose="02070309020205020404" pitchFamily="49" charset="0"/>
              </a:rPr>
              <a:t>Comparable</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28347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420356" y="2491540"/>
            <a:ext cx="7047168" cy="1277273"/>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s = </a:t>
            </a:r>
            <a:r>
              <a:rPr lang="en-US" altLang="en-US" sz="2400" dirty="0">
                <a:solidFill>
                  <a:srgbClr val="0000FF"/>
                </a:solidFill>
                <a:latin typeface="Courier New" panose="02070309020205020404" pitchFamily="49" charset="0"/>
                <a:cs typeface="Courier New" panose="02070309020205020404" pitchFamily="49" charset="0"/>
              </a:rPr>
              <a:t>new String("CS")</a:t>
            </a:r>
            <a:r>
              <a:rPr lang="en-US" altLang="en-US" sz="2400" dirty="0">
                <a:latin typeface="Courier New" panose="02070309020205020404" pitchFamily="49" charset="0"/>
                <a:cs typeface="Courier New" panose="02070309020205020404" pitchFamily="49" charset="0"/>
              </a:rPr>
              <a:t>;</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s</a:t>
            </a:r>
            <a:r>
              <a:rPr lang="en-US" altLang="en-US" sz="2400" dirty="0">
                <a:latin typeface="Courier New" panose="02070309020205020404" pitchFamily="49" charset="0"/>
                <a:cs typeface="Courier New" panose="02070309020205020404" pitchFamily="49" charset="0"/>
              </a:rPr>
              <a:t>);</a:t>
            </a:r>
          </a:p>
        </p:txBody>
      </p:sp>
      <p:sp>
        <p:nvSpPr>
          <p:cNvPr id="3" name="Rectangle 2">
            <a:extLst>
              <a:ext uri="{FF2B5EF4-FFF2-40B4-BE49-F238E27FC236}">
                <a16:creationId xmlns:a16="http://schemas.microsoft.com/office/drawing/2014/main" id="{396FC3ED-9015-9DEE-7908-7F7FB223C8E6}"/>
              </a:ext>
            </a:extLst>
          </p:cNvPr>
          <p:cNvSpPr>
            <a:spLocks noChangeArrowheads="1"/>
          </p:cNvSpPr>
          <p:nvPr/>
        </p:nvSpPr>
        <p:spPr bwMode="auto">
          <a:xfrm>
            <a:off x="343010"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4" name="Rectangle 2">
            <a:extLst>
              <a:ext uri="{FF2B5EF4-FFF2-40B4-BE49-F238E27FC236}">
                <a16:creationId xmlns:a16="http://schemas.microsoft.com/office/drawing/2014/main" id="{1C7E28E9-3CEB-2C95-EE7C-E4797C10B309}"/>
              </a:ext>
            </a:extLst>
          </p:cNvPr>
          <p:cNvSpPr>
            <a:spLocks noChangeArrowheads="1"/>
          </p:cNvSpPr>
          <p:nvPr/>
        </p:nvSpPr>
        <p:spPr bwMode="auto">
          <a:xfrm>
            <a:off x="343010"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solidFill>
                  <a:srgbClr val="00B050"/>
                </a:solidFill>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7108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420356" y="2491540"/>
            <a:ext cx="7047168" cy="1277273"/>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Object s = </a:t>
            </a:r>
            <a:r>
              <a:rPr lang="en-US" altLang="en-US" sz="2400" dirty="0">
                <a:solidFill>
                  <a:srgbClr val="0000FF"/>
                </a:solidFill>
                <a:latin typeface="Courier New" panose="02070309020205020404" pitchFamily="49" charset="0"/>
                <a:cs typeface="Courier New" panose="02070309020205020404" pitchFamily="49" charset="0"/>
              </a:rPr>
              <a:t>new String("CS")</a:t>
            </a:r>
            <a:r>
              <a:rPr lang="en-US" altLang="en-US" sz="2400" dirty="0">
                <a:latin typeface="Courier New" panose="02070309020205020404" pitchFamily="49" charset="0"/>
                <a:cs typeface="Courier New" panose="02070309020205020404" pitchFamily="49" charset="0"/>
              </a:rPr>
              <a:t>;</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s</a:t>
            </a:r>
            <a:r>
              <a:rPr lang="en-US" altLang="en-US" sz="2400" dirty="0">
                <a:latin typeface="Courier New" panose="02070309020205020404" pitchFamily="49" charset="0"/>
                <a:cs typeface="Courier New" panose="02070309020205020404" pitchFamily="49" charset="0"/>
              </a:rPr>
              <a:t>);</a:t>
            </a:r>
          </a:p>
        </p:txBody>
      </p:sp>
      <p:sp>
        <p:nvSpPr>
          <p:cNvPr id="3" name="Rectangle 2">
            <a:extLst>
              <a:ext uri="{FF2B5EF4-FFF2-40B4-BE49-F238E27FC236}">
                <a16:creationId xmlns:a16="http://schemas.microsoft.com/office/drawing/2014/main" id="{396FC3ED-9015-9DEE-7908-7F7FB223C8E6}"/>
              </a:ext>
            </a:extLst>
          </p:cNvPr>
          <p:cNvSpPr>
            <a:spLocks noChangeArrowheads="1"/>
          </p:cNvSpPr>
          <p:nvPr/>
        </p:nvSpPr>
        <p:spPr bwMode="auto">
          <a:xfrm>
            <a:off x="343010"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4" name="Rectangle 2">
            <a:extLst>
              <a:ext uri="{FF2B5EF4-FFF2-40B4-BE49-F238E27FC236}">
                <a16:creationId xmlns:a16="http://schemas.microsoft.com/office/drawing/2014/main" id="{1C7E28E9-3CEB-2C95-EE7C-E4797C10B309}"/>
              </a:ext>
            </a:extLst>
          </p:cNvPr>
          <p:cNvSpPr>
            <a:spLocks noChangeArrowheads="1"/>
          </p:cNvSpPr>
          <p:nvPr/>
        </p:nvSpPr>
        <p:spPr bwMode="auto">
          <a:xfrm>
            <a:off x="343010"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B050"/>
                </a:solidFill>
                <a:latin typeface="Courier New" panose="02070309020205020404" pitchFamily="49" charset="0"/>
                <a:cs typeface="Courier New" panose="02070309020205020404" pitchFamily="49" charset="0"/>
              </a:rPr>
              <a:t>Object</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42357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420356" y="2491540"/>
            <a:ext cx="7047168" cy="1277273"/>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String s = </a:t>
            </a:r>
            <a:r>
              <a:rPr lang="en-US" altLang="en-US" sz="2400" dirty="0">
                <a:solidFill>
                  <a:srgbClr val="0000FF"/>
                </a:solidFill>
                <a:latin typeface="Courier New" panose="02070309020205020404" pitchFamily="49" charset="0"/>
                <a:cs typeface="Courier New" panose="02070309020205020404" pitchFamily="49" charset="0"/>
              </a:rPr>
              <a:t>new String("CS")</a:t>
            </a:r>
            <a:r>
              <a:rPr lang="en-US" altLang="en-US" sz="2400" dirty="0">
                <a:latin typeface="Courier New" panose="02070309020205020404" pitchFamily="49" charset="0"/>
                <a:cs typeface="Courier New" panose="02070309020205020404" pitchFamily="49" charset="0"/>
              </a:rPr>
              <a:t>;</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s</a:t>
            </a:r>
            <a:r>
              <a:rPr lang="en-US" altLang="en-US" sz="2400" dirty="0">
                <a:latin typeface="Courier New" panose="02070309020205020404" pitchFamily="49" charset="0"/>
                <a:cs typeface="Courier New" panose="02070309020205020404" pitchFamily="49" charset="0"/>
              </a:rPr>
              <a:t>);</a:t>
            </a:r>
          </a:p>
        </p:txBody>
      </p:sp>
      <p:sp>
        <p:nvSpPr>
          <p:cNvPr id="3" name="Rectangle 2">
            <a:extLst>
              <a:ext uri="{FF2B5EF4-FFF2-40B4-BE49-F238E27FC236}">
                <a16:creationId xmlns:a16="http://schemas.microsoft.com/office/drawing/2014/main" id="{396FC3ED-9015-9DEE-7908-7F7FB223C8E6}"/>
              </a:ext>
            </a:extLst>
          </p:cNvPr>
          <p:cNvSpPr>
            <a:spLocks noChangeArrowheads="1"/>
          </p:cNvSpPr>
          <p:nvPr/>
        </p:nvSpPr>
        <p:spPr bwMode="auto">
          <a:xfrm>
            <a:off x="343010"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4" name="Rectangle 2">
            <a:extLst>
              <a:ext uri="{FF2B5EF4-FFF2-40B4-BE49-F238E27FC236}">
                <a16:creationId xmlns:a16="http://schemas.microsoft.com/office/drawing/2014/main" id="{1C7E28E9-3CEB-2C95-EE7C-E4797C10B309}"/>
              </a:ext>
            </a:extLst>
          </p:cNvPr>
          <p:cNvSpPr>
            <a:spLocks noChangeArrowheads="1"/>
          </p:cNvSpPr>
          <p:nvPr/>
        </p:nvSpPr>
        <p:spPr bwMode="auto">
          <a:xfrm>
            <a:off x="343010"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B050"/>
                </a:solidFill>
                <a:latin typeface="Courier New" panose="02070309020205020404" pitchFamily="49" charset="0"/>
                <a:cs typeface="Courier New" panose="02070309020205020404" pitchFamily="49" charset="0"/>
              </a:rPr>
              <a:t>String</a:t>
            </a:r>
            <a:r>
              <a:rPr lang="en-US" altLang="en-US" sz="2400" dirty="0">
                <a:latin typeface="Courier New" panose="02070309020205020404" pitchFamily="49" charset="0"/>
                <a:cs typeface="Courier New" panose="02070309020205020404" pitchFamily="49" charset="0"/>
              </a:rPr>
              <a:t>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751684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grpSp>
        <p:nvGrpSpPr>
          <p:cNvPr id="2" name="Group 1" descr="The String class extends the Object class and implements the CharSequence and Comparable interfaces.&#10;The StringBuilder class extends the Object class and implements the CharSequence and Appendable interfaces.">
            <a:extLst>
              <a:ext uri="{FF2B5EF4-FFF2-40B4-BE49-F238E27FC236}">
                <a16:creationId xmlns:a16="http://schemas.microsoft.com/office/drawing/2014/main" id="{A8AA95CE-E849-600E-A49B-18AA5BF1AC82}"/>
              </a:ext>
            </a:extLst>
          </p:cNvPr>
          <p:cNvGrpSpPr/>
          <p:nvPr/>
        </p:nvGrpSpPr>
        <p:grpSpPr>
          <a:xfrm>
            <a:off x="457308" y="1610545"/>
            <a:ext cx="8229384" cy="4637781"/>
            <a:chOff x="457308" y="1610545"/>
            <a:chExt cx="8229384" cy="4637781"/>
          </a:xfrm>
        </p:grpSpPr>
        <p:sp>
          <p:nvSpPr>
            <p:cNvPr id="3" name="Rectangle 2">
              <a:extLst>
                <a:ext uri="{FF2B5EF4-FFF2-40B4-BE49-F238E27FC236}">
                  <a16:creationId xmlns:a16="http://schemas.microsoft.com/office/drawing/2014/main" id="{C2C7261D-3A7A-4BE6-B54F-5A167A8D8A0B}"/>
                </a:ext>
              </a:extLst>
            </p:cNvPr>
            <p:cNvSpPr/>
            <p:nvPr/>
          </p:nvSpPr>
          <p:spPr>
            <a:xfrm>
              <a:off x="3435581" y="1610545"/>
              <a:ext cx="1473480"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Object</a:t>
              </a:r>
              <a:endParaRPr lang="en-US" sz="2800" dirty="0"/>
            </a:p>
          </p:txBody>
        </p:sp>
        <p:sp>
          <p:nvSpPr>
            <p:cNvPr id="8" name="Rectangle 7">
              <a:extLst>
                <a:ext uri="{FF2B5EF4-FFF2-40B4-BE49-F238E27FC236}">
                  <a16:creationId xmlns:a16="http://schemas.microsoft.com/office/drawing/2014/main" id="{B54FDF20-3E3D-43C1-B2B9-7A05861E991C}"/>
                </a:ext>
              </a:extLst>
            </p:cNvPr>
            <p:cNvSpPr/>
            <p:nvPr/>
          </p:nvSpPr>
          <p:spPr>
            <a:xfrm>
              <a:off x="457308" y="3304922"/>
              <a:ext cx="2332690"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a:latin typeface="Courier New" panose="02070309020205020404" pitchFamily="49" charset="0"/>
                  <a:cs typeface="Courier New" panose="02070309020205020404" pitchFamily="49" charset="0"/>
                </a:rPr>
                <a:t>Comparable</a:t>
              </a:r>
              <a:endParaRPr lang="en-US" sz="2800" dirty="0"/>
            </a:p>
          </p:txBody>
        </p:sp>
        <p:sp>
          <p:nvSpPr>
            <p:cNvPr id="9" name="Rectangle 8">
              <a:extLst>
                <a:ext uri="{FF2B5EF4-FFF2-40B4-BE49-F238E27FC236}">
                  <a16:creationId xmlns:a16="http://schemas.microsoft.com/office/drawing/2014/main" id="{352631C9-80A0-4306-AAEC-28740DC27AAA}"/>
                </a:ext>
              </a:extLst>
            </p:cNvPr>
            <p:cNvSpPr/>
            <p:nvPr/>
          </p:nvSpPr>
          <p:spPr>
            <a:xfrm>
              <a:off x="5031531" y="2565497"/>
              <a:ext cx="2762295"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err="1">
                  <a:latin typeface="Courier New" panose="02070309020205020404" pitchFamily="49" charset="0"/>
                  <a:cs typeface="Courier New" panose="02070309020205020404" pitchFamily="49" charset="0"/>
                </a:rPr>
                <a:t>CharSequence</a:t>
              </a:r>
              <a:endParaRPr lang="en-US" sz="2800" dirty="0"/>
            </a:p>
          </p:txBody>
        </p:sp>
        <p:sp>
          <p:nvSpPr>
            <p:cNvPr id="10" name="Rectangle 9">
              <a:extLst>
                <a:ext uri="{FF2B5EF4-FFF2-40B4-BE49-F238E27FC236}">
                  <a16:creationId xmlns:a16="http://schemas.microsoft.com/office/drawing/2014/main" id="{F57734FE-6337-49A1-B5CA-C6D1DD4124C9}"/>
                </a:ext>
              </a:extLst>
            </p:cNvPr>
            <p:cNvSpPr/>
            <p:nvPr/>
          </p:nvSpPr>
          <p:spPr>
            <a:xfrm>
              <a:off x="4038614" y="5691567"/>
              <a:ext cx="2977097"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StringBuilder</a:t>
              </a:r>
              <a:endParaRPr lang="en-US" sz="2800" dirty="0"/>
            </a:p>
          </p:txBody>
        </p:sp>
        <p:sp>
          <p:nvSpPr>
            <p:cNvPr id="11" name="Rectangle 10">
              <a:extLst>
                <a:ext uri="{FF2B5EF4-FFF2-40B4-BE49-F238E27FC236}">
                  <a16:creationId xmlns:a16="http://schemas.microsoft.com/office/drawing/2014/main" id="{809236D9-7F0B-4A34-AAD6-9830BBD69AF8}"/>
                </a:ext>
              </a:extLst>
            </p:cNvPr>
            <p:cNvSpPr/>
            <p:nvPr/>
          </p:nvSpPr>
          <p:spPr>
            <a:xfrm>
              <a:off x="1962101" y="5725106"/>
              <a:ext cx="1473480"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String</a:t>
              </a:r>
              <a:endParaRPr lang="en-US" sz="2800" dirty="0"/>
            </a:p>
          </p:txBody>
        </p:sp>
        <p:sp>
          <p:nvSpPr>
            <p:cNvPr id="12" name="Rectangle 11">
              <a:extLst>
                <a:ext uri="{FF2B5EF4-FFF2-40B4-BE49-F238E27FC236}">
                  <a16:creationId xmlns:a16="http://schemas.microsoft.com/office/drawing/2014/main" id="{FC7E9D18-AB9D-4489-924F-B84E9BD78311}"/>
                </a:ext>
              </a:extLst>
            </p:cNvPr>
            <p:cNvSpPr/>
            <p:nvPr/>
          </p:nvSpPr>
          <p:spPr>
            <a:xfrm>
              <a:off x="6354001" y="4149111"/>
              <a:ext cx="2332691"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err="1">
                  <a:latin typeface="Courier New" panose="02070309020205020404" pitchFamily="49" charset="0"/>
                  <a:cs typeface="Courier New" panose="02070309020205020404" pitchFamily="49" charset="0"/>
                </a:rPr>
                <a:t>Appendable</a:t>
              </a:r>
              <a:endParaRPr lang="en-US" sz="2800" dirty="0"/>
            </a:p>
          </p:txBody>
        </p:sp>
        <p:cxnSp>
          <p:nvCxnSpPr>
            <p:cNvPr id="6" name="Straight Arrow Connector 5">
              <a:extLst>
                <a:ext uri="{FF2B5EF4-FFF2-40B4-BE49-F238E27FC236}">
                  <a16:creationId xmlns:a16="http://schemas.microsoft.com/office/drawing/2014/main" id="{B3B862C3-7F2D-41A0-9423-7643A38BF004}"/>
                </a:ext>
              </a:extLst>
            </p:cNvPr>
            <p:cNvCxnSpPr>
              <a:endCxn id="3" idx="2"/>
            </p:cNvCxnSpPr>
            <p:nvPr/>
          </p:nvCxnSpPr>
          <p:spPr bwMode="auto">
            <a:xfrm flipV="1">
              <a:off x="2646106" y="2133765"/>
              <a:ext cx="1526215" cy="3591341"/>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a:extLst>
                <a:ext uri="{FF2B5EF4-FFF2-40B4-BE49-F238E27FC236}">
                  <a16:creationId xmlns:a16="http://schemas.microsoft.com/office/drawing/2014/main" id="{73F9D13E-6B15-487D-A69E-D7690606620A}"/>
                </a:ext>
              </a:extLst>
            </p:cNvPr>
            <p:cNvCxnSpPr>
              <a:stCxn id="11" idx="0"/>
              <a:endCxn id="8" idx="2"/>
            </p:cNvCxnSpPr>
            <p:nvPr/>
          </p:nvCxnSpPr>
          <p:spPr bwMode="auto">
            <a:xfrm flipH="1" flipV="1">
              <a:off x="1623653" y="4135919"/>
              <a:ext cx="1075188" cy="1589187"/>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Arrow Connector 18">
              <a:extLst>
                <a:ext uri="{FF2B5EF4-FFF2-40B4-BE49-F238E27FC236}">
                  <a16:creationId xmlns:a16="http://schemas.microsoft.com/office/drawing/2014/main" id="{B10B3326-B2C1-4BA4-92A4-DE0B5BBD807E}"/>
                </a:ext>
              </a:extLst>
            </p:cNvPr>
            <p:cNvCxnSpPr>
              <a:stCxn id="11" idx="0"/>
              <a:endCxn id="9" idx="2"/>
            </p:cNvCxnSpPr>
            <p:nvPr/>
          </p:nvCxnSpPr>
          <p:spPr bwMode="auto">
            <a:xfrm flipV="1">
              <a:off x="2698841" y="3396494"/>
              <a:ext cx="3713838" cy="232861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a:extLst>
                <a:ext uri="{FF2B5EF4-FFF2-40B4-BE49-F238E27FC236}">
                  <a16:creationId xmlns:a16="http://schemas.microsoft.com/office/drawing/2014/main" id="{FEE00871-E49F-4465-A77A-0BD0E7262917}"/>
                </a:ext>
              </a:extLst>
            </p:cNvPr>
            <p:cNvCxnSpPr>
              <a:stCxn id="10" idx="0"/>
              <a:endCxn id="3" idx="2"/>
            </p:cNvCxnSpPr>
            <p:nvPr/>
          </p:nvCxnSpPr>
          <p:spPr bwMode="auto">
            <a:xfrm flipH="1" flipV="1">
              <a:off x="4172321" y="2133765"/>
              <a:ext cx="1354842" cy="355780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Arrow Connector 25">
              <a:extLst>
                <a:ext uri="{FF2B5EF4-FFF2-40B4-BE49-F238E27FC236}">
                  <a16:creationId xmlns:a16="http://schemas.microsoft.com/office/drawing/2014/main" id="{89D7E861-3B9F-4080-9077-2A7FDB9A7569}"/>
                </a:ext>
              </a:extLst>
            </p:cNvPr>
            <p:cNvCxnSpPr>
              <a:stCxn id="10" idx="0"/>
              <a:endCxn id="9" idx="2"/>
            </p:cNvCxnSpPr>
            <p:nvPr/>
          </p:nvCxnSpPr>
          <p:spPr bwMode="auto">
            <a:xfrm flipV="1">
              <a:off x="5527163" y="3396494"/>
              <a:ext cx="885516" cy="2295073"/>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a:extLst>
                <a:ext uri="{FF2B5EF4-FFF2-40B4-BE49-F238E27FC236}">
                  <a16:creationId xmlns:a16="http://schemas.microsoft.com/office/drawing/2014/main" id="{2A3A202A-00E1-4676-82C6-18E2809A785E}"/>
                </a:ext>
              </a:extLst>
            </p:cNvPr>
            <p:cNvCxnSpPr>
              <a:stCxn id="10" idx="0"/>
              <a:endCxn id="12" idx="2"/>
            </p:cNvCxnSpPr>
            <p:nvPr/>
          </p:nvCxnSpPr>
          <p:spPr bwMode="auto">
            <a:xfrm flipV="1">
              <a:off x="5527163" y="4980108"/>
              <a:ext cx="1993184" cy="711459"/>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7" name="WordArt 3">
            <a:extLst>
              <a:ext uri="{FF2B5EF4-FFF2-40B4-BE49-F238E27FC236}">
                <a16:creationId xmlns:a16="http://schemas.microsoft.com/office/drawing/2014/main" id="{7CFA2581-031D-42F2-BF68-348D81B6158E}"/>
              </a:ext>
            </a:extLst>
          </p:cNvPr>
          <p:cNvSpPr>
            <a:spLocks noChangeArrowheads="1" noChangeShapeType="1" noTextEdit="1"/>
          </p:cNvSpPr>
          <p:nvPr/>
        </p:nvSpPr>
        <p:spPr bwMode="auto">
          <a:xfrm>
            <a:off x="685800" y="533476"/>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Types of Character Strings</a:t>
            </a:r>
          </a:p>
        </p:txBody>
      </p:sp>
    </p:spTree>
    <p:extLst>
      <p:ext uri="{BB962C8B-B14F-4D97-AF65-F5344CB8AC3E}">
        <p14:creationId xmlns:p14="http://schemas.microsoft.com/office/powerpoint/2010/main" val="1193482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381110" y="3886188"/>
            <a:ext cx="83817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420356" y="2491540"/>
            <a:ext cx="5288640" cy="907941"/>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null</a:t>
            </a:r>
            <a:r>
              <a:rPr lang="en-US" altLang="en-US" sz="2400" dirty="0">
                <a:latin typeface="Courier New" panose="02070309020205020404" pitchFamily="49" charset="0"/>
                <a:cs typeface="Courier New" panose="02070309020205020404" pitchFamily="49" charset="0"/>
              </a:rPr>
              <a:t>);</a:t>
            </a:r>
          </a:p>
        </p:txBody>
      </p:sp>
      <p:sp>
        <p:nvSpPr>
          <p:cNvPr id="6" name="Rectangle 2">
            <a:extLst>
              <a:ext uri="{FF2B5EF4-FFF2-40B4-BE49-F238E27FC236}">
                <a16:creationId xmlns:a16="http://schemas.microsoft.com/office/drawing/2014/main" id="{EDCE9E28-5F41-4D17-8C89-77569E970C1F}"/>
              </a:ext>
            </a:extLst>
          </p:cNvPr>
          <p:cNvSpPr>
            <a:spLocks noChangeArrowheads="1"/>
          </p:cNvSpPr>
          <p:nvPr/>
        </p:nvSpPr>
        <p:spPr bwMode="auto">
          <a:xfrm>
            <a:off x="381110" y="3886188"/>
            <a:ext cx="83817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B050"/>
                </a:solidFill>
                <a:latin typeface="Courier New" panose="02070309020205020404" pitchFamily="49" charset="0"/>
                <a:cs typeface="Courier New" panose="02070309020205020404" pitchFamily="49" charset="0"/>
              </a:rPr>
              <a:t>Comparable</a:t>
            </a:r>
            <a:r>
              <a:rPr lang="en-US" altLang="en-US" sz="2400" dirty="0">
                <a:latin typeface="Courier New" panose="02070309020205020404" pitchFamily="49" charset="0"/>
                <a:cs typeface="Courier New" panose="02070309020205020404" pitchFamily="49" charset="0"/>
              </a:rPr>
              <a:t> obj) </a:t>
            </a:r>
          </a:p>
        </p:txBody>
      </p:sp>
      <p:sp>
        <p:nvSpPr>
          <p:cNvPr id="3" name="TextBox 2">
            <a:extLst>
              <a:ext uri="{FF2B5EF4-FFF2-40B4-BE49-F238E27FC236}">
                <a16:creationId xmlns:a16="http://schemas.microsoft.com/office/drawing/2014/main" id="{3C90AD26-DCBB-5255-FE95-A32E0265116C}"/>
              </a:ext>
            </a:extLst>
          </p:cNvPr>
          <p:cNvSpPr txBox="1"/>
          <p:nvPr/>
        </p:nvSpPr>
        <p:spPr>
          <a:xfrm>
            <a:off x="1447882" y="5197212"/>
            <a:ext cx="6629326" cy="1200329"/>
          </a:xfrm>
          <a:prstGeom prst="rect">
            <a:avLst/>
          </a:prstGeom>
          <a:noFill/>
        </p:spPr>
        <p:txBody>
          <a:bodyPr wrap="square" rtlCol="0">
            <a:spAutoFit/>
          </a:bodyPr>
          <a:lstStyle/>
          <a:p>
            <a:r>
              <a:rPr lang="en-US" sz="3600" dirty="0">
                <a:solidFill>
                  <a:srgbClr val="612A8A"/>
                </a:solidFill>
                <a:latin typeface="Comic Sans MS" panose="030F0702030302020204" pitchFamily="66" charset="0"/>
              </a:rPr>
              <a:t>Binds to the method with the most specific type</a:t>
            </a:r>
            <a:endParaRPr lang="en-US" sz="4000" dirty="0">
              <a:solidFill>
                <a:srgbClr val="612A8A"/>
              </a:solidFill>
              <a:latin typeface="Comic Sans MS" panose="030F0702030302020204" pitchFamily="66" charset="0"/>
            </a:endParaRPr>
          </a:p>
        </p:txBody>
      </p:sp>
    </p:spTree>
    <p:extLst>
      <p:ext uri="{BB962C8B-B14F-4D97-AF65-F5344CB8AC3E}">
        <p14:creationId xmlns:p14="http://schemas.microsoft.com/office/powerpoint/2010/main" val="245144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381110" y="3276604"/>
            <a:ext cx="838178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1752674" y="2233494"/>
            <a:ext cx="5288640" cy="907941"/>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null</a:t>
            </a:r>
            <a:r>
              <a:rPr lang="en-US" altLang="en-US" sz="2400" dirty="0">
                <a:latin typeface="Courier New" panose="02070309020205020404" pitchFamily="49" charset="0"/>
                <a:cs typeface="Courier New" panose="02070309020205020404" pitchFamily="49" charset="0"/>
              </a:rPr>
              <a:t>);</a:t>
            </a:r>
          </a:p>
        </p:txBody>
      </p:sp>
      <p:sp>
        <p:nvSpPr>
          <p:cNvPr id="6" name="Rectangle 2">
            <a:extLst>
              <a:ext uri="{FF2B5EF4-FFF2-40B4-BE49-F238E27FC236}">
                <a16:creationId xmlns:a16="http://schemas.microsoft.com/office/drawing/2014/main" id="{EDCE9E28-5F41-4D17-8C89-77569E970C1F}"/>
              </a:ext>
            </a:extLst>
          </p:cNvPr>
          <p:cNvSpPr>
            <a:spLocks noChangeArrowheads="1"/>
          </p:cNvSpPr>
          <p:nvPr/>
        </p:nvSpPr>
        <p:spPr bwMode="auto">
          <a:xfrm>
            <a:off x="381110" y="3276604"/>
            <a:ext cx="838178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FF0000"/>
                </a:solidFill>
                <a:latin typeface="Courier New" panose="02070309020205020404" pitchFamily="49" charset="0"/>
                <a:cs typeface="Courier New" panose="02070309020205020404" pitchFamily="49" charset="0"/>
              </a:rPr>
              <a:t>Comparable</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solidFill>
                  <a:srgbClr val="FF0000"/>
                </a:solidFill>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p:txBody>
      </p:sp>
      <p:sp>
        <p:nvSpPr>
          <p:cNvPr id="3" name="TextBox 2">
            <a:extLst>
              <a:ext uri="{FF2B5EF4-FFF2-40B4-BE49-F238E27FC236}">
                <a16:creationId xmlns:a16="http://schemas.microsoft.com/office/drawing/2014/main" id="{05A25B2D-1980-8914-8AC2-A7FD38342413}"/>
              </a:ext>
            </a:extLst>
          </p:cNvPr>
          <p:cNvSpPr txBox="1"/>
          <p:nvPr/>
        </p:nvSpPr>
        <p:spPr>
          <a:xfrm>
            <a:off x="1" y="4638560"/>
            <a:ext cx="9144000" cy="1958165"/>
          </a:xfrm>
          <a:prstGeom prst="rect">
            <a:avLst/>
          </a:prstGeom>
          <a:noFill/>
        </p:spPr>
        <p:txBody>
          <a:bodyPr wrap="square" rtlCol="0">
            <a:spAutoFit/>
          </a:bodyPr>
          <a:lstStyle/>
          <a:p>
            <a:pPr algn="ctr">
              <a:lnSpc>
                <a:spcPct val="150000"/>
              </a:lnSpc>
            </a:pPr>
            <a:r>
              <a:rPr lang="en-US" sz="2800" dirty="0">
                <a:solidFill>
                  <a:srgbClr val="C00000"/>
                </a:solidFill>
                <a:latin typeface="Comic Sans MS" panose="030F0702030302020204" pitchFamily="66" charset="0"/>
              </a:rPr>
              <a:t>Compiler error: reference to </a:t>
            </a:r>
            <a:r>
              <a:rPr lang="en-US" sz="2800" i="1" dirty="0">
                <a:solidFill>
                  <a:srgbClr val="C00000"/>
                </a:solidFill>
                <a:latin typeface="Comic Sans MS" panose="030F0702030302020204" pitchFamily="66" charset="0"/>
              </a:rPr>
              <a:t>write</a:t>
            </a:r>
            <a:r>
              <a:rPr lang="en-US" sz="2800" dirty="0">
                <a:solidFill>
                  <a:srgbClr val="C00000"/>
                </a:solidFill>
                <a:latin typeface="Comic Sans MS" panose="030F0702030302020204" pitchFamily="66" charset="0"/>
              </a:rPr>
              <a:t> is ambiguous.</a:t>
            </a:r>
          </a:p>
          <a:p>
            <a:pPr algn="ctr">
              <a:lnSpc>
                <a:spcPct val="150000"/>
              </a:lnSpc>
            </a:pPr>
            <a:r>
              <a:rPr lang="en-US" sz="2800" dirty="0">
                <a:solidFill>
                  <a:srgbClr val="C00000"/>
                </a:solidFill>
                <a:latin typeface="Comic Sans MS" panose="030F0702030302020204" pitchFamily="66" charset="0"/>
              </a:rPr>
              <a:t>Comparable and </a:t>
            </a:r>
            <a:r>
              <a:rPr lang="en-US" sz="2800" dirty="0" err="1">
                <a:solidFill>
                  <a:srgbClr val="C00000"/>
                </a:solidFill>
                <a:latin typeface="Comic Sans MS" panose="030F0702030302020204" pitchFamily="66" charset="0"/>
              </a:rPr>
              <a:t>CharSequence</a:t>
            </a:r>
            <a:r>
              <a:rPr lang="en-US" sz="2800" dirty="0">
                <a:solidFill>
                  <a:srgbClr val="C00000"/>
                </a:solidFill>
                <a:latin typeface="Comic Sans MS" panose="030F0702030302020204" pitchFamily="66" charset="0"/>
              </a:rPr>
              <a:t> are tied:</a:t>
            </a:r>
          </a:p>
          <a:p>
            <a:pPr algn="ctr">
              <a:lnSpc>
                <a:spcPct val="150000"/>
              </a:lnSpc>
            </a:pPr>
            <a:r>
              <a:rPr lang="en-US" sz="2800" dirty="0">
                <a:solidFill>
                  <a:srgbClr val="C00000"/>
                </a:solidFill>
                <a:latin typeface="Comic Sans MS" panose="030F0702030302020204" pitchFamily="66" charset="0"/>
              </a:rPr>
              <a:t>Object </a:t>
            </a:r>
            <a:r>
              <a:rPr lang="en-US" sz="2800" dirty="0">
                <a:solidFill>
                  <a:srgbClr val="C00000"/>
                </a:solidFill>
                <a:latin typeface="Comic Sans MS" panose="030F0702030302020204" pitchFamily="66" charset="0"/>
                <a:sym typeface="Wingdings" panose="05000000000000000000" pitchFamily="2" charset="2"/>
              </a:rPr>
              <a:t> </a:t>
            </a:r>
            <a:r>
              <a:rPr lang="en-US" sz="2800" dirty="0">
                <a:solidFill>
                  <a:srgbClr val="C00000"/>
                </a:solidFill>
                <a:latin typeface="Comic Sans MS" panose="030F0702030302020204" pitchFamily="66" charset="0"/>
              </a:rPr>
              <a:t>Comparable and Object </a:t>
            </a:r>
            <a:r>
              <a:rPr lang="en-US" sz="2800" dirty="0">
                <a:solidFill>
                  <a:srgbClr val="C00000"/>
                </a:solidFill>
                <a:latin typeface="Comic Sans MS" panose="030F0702030302020204" pitchFamily="66" charset="0"/>
                <a:sym typeface="Wingdings" panose="05000000000000000000" pitchFamily="2" charset="2"/>
              </a:rPr>
              <a:t> </a:t>
            </a:r>
            <a:r>
              <a:rPr lang="en-US" sz="2800" dirty="0" err="1">
                <a:solidFill>
                  <a:srgbClr val="C00000"/>
                </a:solidFill>
                <a:latin typeface="Comic Sans MS" panose="030F0702030302020204" pitchFamily="66" charset="0"/>
              </a:rPr>
              <a:t>CharSequence</a:t>
            </a:r>
            <a:endParaRPr lang="en-US" sz="2800" dirty="0">
              <a:solidFill>
                <a:srgbClr val="C00000"/>
              </a:solidFill>
              <a:latin typeface="Comic Sans MS" panose="030F0702030302020204" pitchFamily="66" charset="0"/>
            </a:endParaRPr>
          </a:p>
        </p:txBody>
      </p:sp>
    </p:spTree>
    <p:extLst>
      <p:ext uri="{BB962C8B-B14F-4D97-AF65-F5344CB8AC3E}">
        <p14:creationId xmlns:p14="http://schemas.microsoft.com/office/powerpoint/2010/main" val="2937217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grpSp>
        <p:nvGrpSpPr>
          <p:cNvPr id="2" name="Group 1" descr="The String class extends the Object class and implements the CharSequence and Comparable interfaces.&#10;The StringBuilder class extends the Object class and implements the CharSequence and Appendable interfaces.">
            <a:extLst>
              <a:ext uri="{FF2B5EF4-FFF2-40B4-BE49-F238E27FC236}">
                <a16:creationId xmlns:a16="http://schemas.microsoft.com/office/drawing/2014/main" id="{A8AA95CE-E849-600E-A49B-18AA5BF1AC82}"/>
              </a:ext>
            </a:extLst>
          </p:cNvPr>
          <p:cNvGrpSpPr/>
          <p:nvPr/>
        </p:nvGrpSpPr>
        <p:grpSpPr>
          <a:xfrm>
            <a:off x="457308" y="1610545"/>
            <a:ext cx="8229384" cy="4637781"/>
            <a:chOff x="457308" y="1610545"/>
            <a:chExt cx="8229384" cy="4637781"/>
          </a:xfrm>
        </p:grpSpPr>
        <p:sp>
          <p:nvSpPr>
            <p:cNvPr id="3" name="Rectangle 2">
              <a:extLst>
                <a:ext uri="{FF2B5EF4-FFF2-40B4-BE49-F238E27FC236}">
                  <a16:creationId xmlns:a16="http://schemas.microsoft.com/office/drawing/2014/main" id="{C2C7261D-3A7A-4BE6-B54F-5A167A8D8A0B}"/>
                </a:ext>
              </a:extLst>
            </p:cNvPr>
            <p:cNvSpPr/>
            <p:nvPr/>
          </p:nvSpPr>
          <p:spPr>
            <a:xfrm>
              <a:off x="3435581" y="1610545"/>
              <a:ext cx="1473480"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Object</a:t>
              </a:r>
              <a:endParaRPr lang="en-US" sz="2800" dirty="0"/>
            </a:p>
          </p:txBody>
        </p:sp>
        <p:sp>
          <p:nvSpPr>
            <p:cNvPr id="8" name="Rectangle 7">
              <a:extLst>
                <a:ext uri="{FF2B5EF4-FFF2-40B4-BE49-F238E27FC236}">
                  <a16:creationId xmlns:a16="http://schemas.microsoft.com/office/drawing/2014/main" id="{B54FDF20-3E3D-43C1-B2B9-7A05861E991C}"/>
                </a:ext>
              </a:extLst>
            </p:cNvPr>
            <p:cNvSpPr/>
            <p:nvPr/>
          </p:nvSpPr>
          <p:spPr>
            <a:xfrm>
              <a:off x="457308" y="3304922"/>
              <a:ext cx="2332690"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a:latin typeface="Courier New" panose="02070309020205020404" pitchFamily="49" charset="0"/>
                  <a:cs typeface="Courier New" panose="02070309020205020404" pitchFamily="49" charset="0"/>
                </a:rPr>
                <a:t>Comparable</a:t>
              </a:r>
              <a:endParaRPr lang="en-US" sz="2800" dirty="0"/>
            </a:p>
          </p:txBody>
        </p:sp>
        <p:sp>
          <p:nvSpPr>
            <p:cNvPr id="9" name="Rectangle 8">
              <a:extLst>
                <a:ext uri="{FF2B5EF4-FFF2-40B4-BE49-F238E27FC236}">
                  <a16:creationId xmlns:a16="http://schemas.microsoft.com/office/drawing/2014/main" id="{352631C9-80A0-4306-AAEC-28740DC27AAA}"/>
                </a:ext>
              </a:extLst>
            </p:cNvPr>
            <p:cNvSpPr/>
            <p:nvPr/>
          </p:nvSpPr>
          <p:spPr>
            <a:xfrm>
              <a:off x="5031531" y="2565497"/>
              <a:ext cx="2762295"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err="1">
                  <a:latin typeface="Courier New" panose="02070309020205020404" pitchFamily="49" charset="0"/>
                  <a:cs typeface="Courier New" panose="02070309020205020404" pitchFamily="49" charset="0"/>
                </a:rPr>
                <a:t>CharSequence</a:t>
              </a:r>
              <a:endParaRPr lang="en-US" sz="2800" dirty="0"/>
            </a:p>
          </p:txBody>
        </p:sp>
        <p:sp>
          <p:nvSpPr>
            <p:cNvPr id="10" name="Rectangle 9">
              <a:extLst>
                <a:ext uri="{FF2B5EF4-FFF2-40B4-BE49-F238E27FC236}">
                  <a16:creationId xmlns:a16="http://schemas.microsoft.com/office/drawing/2014/main" id="{F57734FE-6337-49A1-B5CA-C6D1DD4124C9}"/>
                </a:ext>
              </a:extLst>
            </p:cNvPr>
            <p:cNvSpPr/>
            <p:nvPr/>
          </p:nvSpPr>
          <p:spPr>
            <a:xfrm>
              <a:off x="4038614" y="5691567"/>
              <a:ext cx="2977097"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StringBuilder</a:t>
              </a:r>
              <a:endParaRPr lang="en-US" sz="2800" dirty="0"/>
            </a:p>
          </p:txBody>
        </p:sp>
        <p:sp>
          <p:nvSpPr>
            <p:cNvPr id="11" name="Rectangle 10">
              <a:extLst>
                <a:ext uri="{FF2B5EF4-FFF2-40B4-BE49-F238E27FC236}">
                  <a16:creationId xmlns:a16="http://schemas.microsoft.com/office/drawing/2014/main" id="{809236D9-7F0B-4A34-AAD6-9830BBD69AF8}"/>
                </a:ext>
              </a:extLst>
            </p:cNvPr>
            <p:cNvSpPr/>
            <p:nvPr/>
          </p:nvSpPr>
          <p:spPr>
            <a:xfrm>
              <a:off x="1962101" y="5725106"/>
              <a:ext cx="1473480"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String</a:t>
              </a:r>
              <a:endParaRPr lang="en-US" sz="2800" dirty="0"/>
            </a:p>
          </p:txBody>
        </p:sp>
        <p:sp>
          <p:nvSpPr>
            <p:cNvPr id="12" name="Rectangle 11">
              <a:extLst>
                <a:ext uri="{FF2B5EF4-FFF2-40B4-BE49-F238E27FC236}">
                  <a16:creationId xmlns:a16="http://schemas.microsoft.com/office/drawing/2014/main" id="{FC7E9D18-AB9D-4489-924F-B84E9BD78311}"/>
                </a:ext>
              </a:extLst>
            </p:cNvPr>
            <p:cNvSpPr/>
            <p:nvPr/>
          </p:nvSpPr>
          <p:spPr>
            <a:xfrm>
              <a:off x="6354001" y="4149111"/>
              <a:ext cx="2332691"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err="1">
                  <a:latin typeface="Courier New" panose="02070309020205020404" pitchFamily="49" charset="0"/>
                  <a:cs typeface="Courier New" panose="02070309020205020404" pitchFamily="49" charset="0"/>
                </a:rPr>
                <a:t>Appendable</a:t>
              </a:r>
              <a:endParaRPr lang="en-US" sz="2800" dirty="0"/>
            </a:p>
          </p:txBody>
        </p:sp>
        <p:cxnSp>
          <p:nvCxnSpPr>
            <p:cNvPr id="6" name="Straight Arrow Connector 5">
              <a:extLst>
                <a:ext uri="{FF2B5EF4-FFF2-40B4-BE49-F238E27FC236}">
                  <a16:creationId xmlns:a16="http://schemas.microsoft.com/office/drawing/2014/main" id="{B3B862C3-7F2D-41A0-9423-7643A38BF004}"/>
                </a:ext>
              </a:extLst>
            </p:cNvPr>
            <p:cNvCxnSpPr>
              <a:endCxn id="3" idx="2"/>
            </p:cNvCxnSpPr>
            <p:nvPr/>
          </p:nvCxnSpPr>
          <p:spPr bwMode="auto">
            <a:xfrm flipV="1">
              <a:off x="2646106" y="2133765"/>
              <a:ext cx="1526215" cy="3591341"/>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a:extLst>
                <a:ext uri="{FF2B5EF4-FFF2-40B4-BE49-F238E27FC236}">
                  <a16:creationId xmlns:a16="http://schemas.microsoft.com/office/drawing/2014/main" id="{73F9D13E-6B15-487D-A69E-D7690606620A}"/>
                </a:ext>
              </a:extLst>
            </p:cNvPr>
            <p:cNvCxnSpPr>
              <a:stCxn id="11" idx="0"/>
              <a:endCxn id="8" idx="2"/>
            </p:cNvCxnSpPr>
            <p:nvPr/>
          </p:nvCxnSpPr>
          <p:spPr bwMode="auto">
            <a:xfrm flipH="1" flipV="1">
              <a:off x="1623653" y="4135919"/>
              <a:ext cx="1075188" cy="1589187"/>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Arrow Connector 18">
              <a:extLst>
                <a:ext uri="{FF2B5EF4-FFF2-40B4-BE49-F238E27FC236}">
                  <a16:creationId xmlns:a16="http://schemas.microsoft.com/office/drawing/2014/main" id="{B10B3326-B2C1-4BA4-92A4-DE0B5BBD807E}"/>
                </a:ext>
              </a:extLst>
            </p:cNvPr>
            <p:cNvCxnSpPr>
              <a:stCxn id="11" idx="0"/>
              <a:endCxn id="9" idx="2"/>
            </p:cNvCxnSpPr>
            <p:nvPr/>
          </p:nvCxnSpPr>
          <p:spPr bwMode="auto">
            <a:xfrm flipV="1">
              <a:off x="2698841" y="3396494"/>
              <a:ext cx="3713838" cy="232861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a:extLst>
                <a:ext uri="{FF2B5EF4-FFF2-40B4-BE49-F238E27FC236}">
                  <a16:creationId xmlns:a16="http://schemas.microsoft.com/office/drawing/2014/main" id="{FEE00871-E49F-4465-A77A-0BD0E7262917}"/>
                </a:ext>
              </a:extLst>
            </p:cNvPr>
            <p:cNvCxnSpPr>
              <a:stCxn id="10" idx="0"/>
              <a:endCxn id="3" idx="2"/>
            </p:cNvCxnSpPr>
            <p:nvPr/>
          </p:nvCxnSpPr>
          <p:spPr bwMode="auto">
            <a:xfrm flipH="1" flipV="1">
              <a:off x="4172321" y="2133765"/>
              <a:ext cx="1354842" cy="355780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Arrow Connector 25">
              <a:extLst>
                <a:ext uri="{FF2B5EF4-FFF2-40B4-BE49-F238E27FC236}">
                  <a16:creationId xmlns:a16="http://schemas.microsoft.com/office/drawing/2014/main" id="{89D7E861-3B9F-4080-9077-2A7FDB9A7569}"/>
                </a:ext>
              </a:extLst>
            </p:cNvPr>
            <p:cNvCxnSpPr>
              <a:stCxn id="10" idx="0"/>
              <a:endCxn id="9" idx="2"/>
            </p:cNvCxnSpPr>
            <p:nvPr/>
          </p:nvCxnSpPr>
          <p:spPr bwMode="auto">
            <a:xfrm flipV="1">
              <a:off x="5527163" y="3396494"/>
              <a:ext cx="885516" cy="2295073"/>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a:extLst>
                <a:ext uri="{FF2B5EF4-FFF2-40B4-BE49-F238E27FC236}">
                  <a16:creationId xmlns:a16="http://schemas.microsoft.com/office/drawing/2014/main" id="{2A3A202A-00E1-4676-82C6-18E2809A785E}"/>
                </a:ext>
              </a:extLst>
            </p:cNvPr>
            <p:cNvCxnSpPr>
              <a:stCxn id="10" idx="0"/>
              <a:endCxn id="12" idx="2"/>
            </p:cNvCxnSpPr>
            <p:nvPr/>
          </p:nvCxnSpPr>
          <p:spPr bwMode="auto">
            <a:xfrm flipV="1">
              <a:off x="5527163" y="4980108"/>
              <a:ext cx="1993184" cy="711459"/>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7" name="WordArt 3">
            <a:extLst>
              <a:ext uri="{FF2B5EF4-FFF2-40B4-BE49-F238E27FC236}">
                <a16:creationId xmlns:a16="http://schemas.microsoft.com/office/drawing/2014/main" id="{7CFA2581-031D-42F2-BF68-348D81B6158E}"/>
              </a:ext>
            </a:extLst>
          </p:cNvPr>
          <p:cNvSpPr>
            <a:spLocks noChangeArrowheads="1" noChangeShapeType="1" noTextEdit="1"/>
          </p:cNvSpPr>
          <p:nvPr/>
        </p:nvSpPr>
        <p:spPr bwMode="auto">
          <a:xfrm>
            <a:off x="685800" y="533476"/>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Types of Character Strings</a:t>
            </a:r>
          </a:p>
        </p:txBody>
      </p:sp>
    </p:spTree>
    <p:extLst>
      <p:ext uri="{BB962C8B-B14F-4D97-AF65-F5344CB8AC3E}">
        <p14:creationId xmlns:p14="http://schemas.microsoft.com/office/powerpoint/2010/main" val="3601829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381110" y="3276604"/>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1927680" y="2262368"/>
            <a:ext cx="5288640" cy="907941"/>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null</a:t>
            </a:r>
            <a:r>
              <a:rPr lang="en-US" altLang="en-US" sz="2400" dirty="0">
                <a:latin typeface="Courier New" panose="02070309020205020404" pitchFamily="49" charset="0"/>
                <a:cs typeface="Courier New" panose="02070309020205020404" pitchFamily="49" charset="0"/>
              </a:rPr>
              <a:t>);</a:t>
            </a:r>
          </a:p>
        </p:txBody>
      </p:sp>
      <p:sp>
        <p:nvSpPr>
          <p:cNvPr id="6" name="Rectangle 2">
            <a:extLst>
              <a:ext uri="{FF2B5EF4-FFF2-40B4-BE49-F238E27FC236}">
                <a16:creationId xmlns:a16="http://schemas.microsoft.com/office/drawing/2014/main" id="{EDCE9E28-5F41-4D17-8C89-77569E970C1F}"/>
              </a:ext>
            </a:extLst>
          </p:cNvPr>
          <p:cNvSpPr>
            <a:spLocks noChangeArrowheads="1"/>
          </p:cNvSpPr>
          <p:nvPr/>
        </p:nvSpPr>
        <p:spPr bwMode="auto">
          <a:xfrm>
            <a:off x="381110" y="3276604"/>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FF0000"/>
                </a:solidFill>
                <a:latin typeface="Courier New" panose="02070309020205020404" pitchFamily="49" charset="0"/>
                <a:cs typeface="Courier New" panose="02070309020205020404" pitchFamily="49" charset="0"/>
              </a:rPr>
              <a:t>String</a:t>
            </a:r>
            <a:r>
              <a:rPr lang="en-US" altLang="en-US" sz="2400" dirty="0">
                <a:latin typeface="Courier New" panose="02070309020205020404" pitchFamily="49" charset="0"/>
                <a:cs typeface="Courier New" panose="02070309020205020404" pitchFamily="49" charset="0"/>
              </a:rPr>
              <a:t>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FF0000"/>
                </a:solidFill>
                <a:latin typeface="Courier New" panose="02070309020205020404" pitchFamily="49" charset="0"/>
                <a:cs typeface="Courier New" panose="02070309020205020404" pitchFamily="49" charset="0"/>
              </a:rPr>
              <a:t>StringBuilder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553C6BEC-7351-5222-FDD6-FE5E911CE0DF}"/>
              </a:ext>
            </a:extLst>
          </p:cNvPr>
          <p:cNvSpPr txBox="1"/>
          <p:nvPr/>
        </p:nvSpPr>
        <p:spPr>
          <a:xfrm>
            <a:off x="990694" y="5181554"/>
            <a:ext cx="7543602" cy="1600438"/>
          </a:xfrm>
          <a:prstGeom prst="rect">
            <a:avLst/>
          </a:prstGeom>
          <a:noFill/>
        </p:spPr>
        <p:txBody>
          <a:bodyPr wrap="square" rtlCol="0">
            <a:spAutoFit/>
          </a:bodyPr>
          <a:lstStyle/>
          <a:p>
            <a:pPr algn="ctr">
              <a:lnSpc>
                <a:spcPct val="150000"/>
              </a:lnSpc>
            </a:pPr>
            <a:r>
              <a:rPr lang="en-US" altLang="en-US" sz="2800" dirty="0">
                <a:solidFill>
                  <a:srgbClr val="C00000"/>
                </a:solidFill>
                <a:latin typeface="Comic Sans MS" panose="030F0702030302020204" pitchFamily="66" charset="0"/>
                <a:sym typeface="Wingdings" panose="05000000000000000000" pitchFamily="2" charset="2"/>
              </a:rPr>
              <a:t>String</a:t>
            </a:r>
            <a:r>
              <a:rPr lang="en-US" sz="2800" dirty="0">
                <a:solidFill>
                  <a:srgbClr val="C00000"/>
                </a:solidFill>
                <a:latin typeface="Comic Sans MS" panose="030F0702030302020204" pitchFamily="66" charset="0"/>
              </a:rPr>
              <a:t> and </a:t>
            </a:r>
            <a:r>
              <a:rPr lang="en-US" altLang="en-US" sz="2800" dirty="0">
                <a:solidFill>
                  <a:srgbClr val="C00000"/>
                </a:solidFill>
                <a:latin typeface="Comic Sans MS" panose="030F0702030302020204" pitchFamily="66" charset="0"/>
                <a:sym typeface="Wingdings" panose="05000000000000000000" pitchFamily="2" charset="2"/>
              </a:rPr>
              <a:t>StringBuilder</a:t>
            </a:r>
            <a:r>
              <a:rPr lang="en-US" sz="2800" dirty="0">
                <a:solidFill>
                  <a:srgbClr val="C00000"/>
                </a:solidFill>
                <a:latin typeface="Comic Sans MS" panose="030F0702030302020204" pitchFamily="66" charset="0"/>
              </a:rPr>
              <a:t> are tied:</a:t>
            </a:r>
          </a:p>
          <a:p>
            <a:pPr>
              <a:tabLst>
                <a:tab pos="4459288" algn="l"/>
              </a:tabLst>
            </a:pPr>
            <a:r>
              <a:rPr lang="en-US" altLang="en-US" sz="2800" dirty="0">
                <a:solidFill>
                  <a:srgbClr val="C00000"/>
                </a:solidFill>
                <a:latin typeface="Comic Sans MS" panose="030F0702030302020204" pitchFamily="66" charset="0"/>
              </a:rPr>
              <a:t>Object </a:t>
            </a:r>
            <a:r>
              <a:rPr lang="en-US" altLang="en-US" sz="2800" dirty="0">
                <a:solidFill>
                  <a:srgbClr val="C00000"/>
                </a:solidFill>
                <a:latin typeface="Comic Sans MS" panose="030F0702030302020204" pitchFamily="66" charset="0"/>
                <a:sym typeface="Wingdings" panose="05000000000000000000" pitchFamily="2" charset="2"/>
              </a:rPr>
              <a:t> </a:t>
            </a:r>
            <a:r>
              <a:rPr lang="en-US" altLang="en-US" sz="2800" dirty="0">
                <a:solidFill>
                  <a:srgbClr val="C00000"/>
                </a:solidFill>
                <a:latin typeface="Comic Sans MS" panose="030F0702030302020204" pitchFamily="66" charset="0"/>
              </a:rPr>
              <a:t>Comparable	</a:t>
            </a:r>
            <a:r>
              <a:rPr lang="en-US" altLang="en-US" sz="2800" dirty="0">
                <a:solidFill>
                  <a:srgbClr val="C00000"/>
                </a:solidFill>
                <a:latin typeface="Comic Sans MS" panose="030F0702030302020204" pitchFamily="66" charset="0"/>
                <a:sym typeface="Wingdings" panose="05000000000000000000" pitchFamily="2" charset="2"/>
              </a:rPr>
              <a:t> String</a:t>
            </a:r>
          </a:p>
          <a:p>
            <a:pPr>
              <a:tabLst>
                <a:tab pos="4459288" algn="l"/>
              </a:tabLst>
            </a:pPr>
            <a:r>
              <a:rPr lang="en-US" altLang="en-US" sz="2800" dirty="0">
                <a:solidFill>
                  <a:srgbClr val="C00000"/>
                </a:solidFill>
                <a:latin typeface="Comic Sans MS" panose="030F0702030302020204" pitchFamily="66" charset="0"/>
              </a:rPr>
              <a:t>Object </a:t>
            </a:r>
            <a:r>
              <a:rPr lang="en-US" altLang="en-US" sz="2800" dirty="0">
                <a:solidFill>
                  <a:srgbClr val="C00000"/>
                </a:solidFill>
                <a:latin typeface="Comic Sans MS" panose="030F0702030302020204" pitchFamily="66" charset="0"/>
                <a:sym typeface="Wingdings" panose="05000000000000000000" pitchFamily="2" charset="2"/>
              </a:rPr>
              <a:t> </a:t>
            </a:r>
            <a:r>
              <a:rPr lang="en-US" altLang="en-US" sz="2800" dirty="0" err="1">
                <a:solidFill>
                  <a:srgbClr val="C00000"/>
                </a:solidFill>
                <a:latin typeface="Comic Sans MS" panose="030F0702030302020204" pitchFamily="66" charset="0"/>
                <a:sym typeface="Wingdings" panose="05000000000000000000" pitchFamily="2" charset="2"/>
              </a:rPr>
              <a:t>CharSequence</a:t>
            </a:r>
            <a:r>
              <a:rPr lang="en-US" altLang="en-US" sz="2800" dirty="0">
                <a:solidFill>
                  <a:srgbClr val="C00000"/>
                </a:solidFill>
                <a:latin typeface="Comic Sans MS" panose="030F0702030302020204" pitchFamily="66" charset="0"/>
                <a:sym typeface="Wingdings" panose="05000000000000000000" pitchFamily="2" charset="2"/>
              </a:rPr>
              <a:t>	 StringBuilder</a:t>
            </a:r>
            <a:endParaRPr lang="en-US" altLang="en-US" sz="2800" dirty="0">
              <a:solidFill>
                <a:srgbClr val="C00000"/>
              </a:solidFill>
              <a:latin typeface="Comic Sans MS" panose="030F0702030302020204" pitchFamily="66" charset="0"/>
            </a:endParaRPr>
          </a:p>
        </p:txBody>
      </p:sp>
    </p:spTree>
    <p:extLst>
      <p:ext uri="{BB962C8B-B14F-4D97-AF65-F5344CB8AC3E}">
        <p14:creationId xmlns:p14="http://schemas.microsoft.com/office/powerpoint/2010/main" val="142005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381110" y="3581396"/>
            <a:ext cx="838178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1676476" y="2341783"/>
            <a:ext cx="5288640" cy="907941"/>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null</a:t>
            </a:r>
            <a:r>
              <a:rPr lang="en-US" altLang="en-US" sz="2400" dirty="0">
                <a:latin typeface="Courier New" panose="02070309020205020404" pitchFamily="49" charset="0"/>
                <a:cs typeface="Courier New" panose="02070309020205020404" pitchFamily="49" charset="0"/>
              </a:rPr>
              <a:t>);</a:t>
            </a:r>
          </a:p>
        </p:txBody>
      </p:sp>
      <p:sp>
        <p:nvSpPr>
          <p:cNvPr id="6" name="Rectangle 2">
            <a:extLst>
              <a:ext uri="{FF2B5EF4-FFF2-40B4-BE49-F238E27FC236}">
                <a16:creationId xmlns:a16="http://schemas.microsoft.com/office/drawing/2014/main" id="{EDCE9E28-5F41-4D17-8C89-77569E970C1F}"/>
              </a:ext>
            </a:extLst>
          </p:cNvPr>
          <p:cNvSpPr>
            <a:spLocks noChangeArrowheads="1"/>
          </p:cNvSpPr>
          <p:nvPr/>
        </p:nvSpPr>
        <p:spPr bwMode="auto">
          <a:xfrm>
            <a:off x="381110" y="3581396"/>
            <a:ext cx="838178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B050"/>
                </a:solidFill>
                <a:latin typeface="Courier New" panose="02070309020205020404" pitchFamily="49" charset="0"/>
                <a:cs typeface="Courier New" panose="02070309020205020404" pitchFamily="49" charset="0"/>
              </a:rPr>
              <a:t>StringBuilder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A21CB8D9-F853-9386-6505-B75E9EBD9657}"/>
              </a:ext>
            </a:extLst>
          </p:cNvPr>
          <p:cNvSpPr txBox="1"/>
          <p:nvPr/>
        </p:nvSpPr>
        <p:spPr>
          <a:xfrm>
            <a:off x="990694" y="5181554"/>
            <a:ext cx="7543602" cy="1600438"/>
          </a:xfrm>
          <a:prstGeom prst="rect">
            <a:avLst/>
          </a:prstGeom>
          <a:noFill/>
        </p:spPr>
        <p:txBody>
          <a:bodyPr wrap="square" rtlCol="0">
            <a:spAutoFit/>
          </a:bodyPr>
          <a:lstStyle/>
          <a:p>
            <a:pPr algn="ctr">
              <a:lnSpc>
                <a:spcPct val="150000"/>
              </a:lnSpc>
            </a:pPr>
            <a:r>
              <a:rPr lang="en-US" altLang="en-US" sz="2800" dirty="0">
                <a:solidFill>
                  <a:srgbClr val="00B050"/>
                </a:solidFill>
                <a:latin typeface="Comic Sans MS" panose="030F0702030302020204" pitchFamily="66" charset="0"/>
                <a:sym typeface="Wingdings" panose="05000000000000000000" pitchFamily="2" charset="2"/>
              </a:rPr>
              <a:t>There is a winner:</a:t>
            </a:r>
            <a:endParaRPr lang="en-US" sz="2800" dirty="0">
              <a:solidFill>
                <a:srgbClr val="00B050"/>
              </a:solidFill>
              <a:latin typeface="Comic Sans MS" panose="030F0702030302020204" pitchFamily="66" charset="0"/>
            </a:endParaRPr>
          </a:p>
          <a:p>
            <a:pPr>
              <a:tabLst>
                <a:tab pos="4459288" algn="l"/>
              </a:tabLst>
            </a:pPr>
            <a:r>
              <a:rPr lang="en-US" altLang="en-US" sz="2800" dirty="0">
                <a:solidFill>
                  <a:srgbClr val="00B050"/>
                </a:solidFill>
                <a:latin typeface="Comic Sans MS" panose="030F0702030302020204" pitchFamily="66" charset="0"/>
              </a:rPr>
              <a:t>Object </a:t>
            </a:r>
            <a:r>
              <a:rPr lang="en-US" altLang="en-US" sz="2800" dirty="0">
                <a:solidFill>
                  <a:srgbClr val="00B050"/>
                </a:solidFill>
                <a:latin typeface="Comic Sans MS" panose="030F0702030302020204" pitchFamily="66" charset="0"/>
                <a:sym typeface="Wingdings" panose="05000000000000000000" pitchFamily="2" charset="2"/>
              </a:rPr>
              <a:t> </a:t>
            </a:r>
            <a:r>
              <a:rPr lang="en-US" altLang="en-US" sz="2800" dirty="0">
                <a:solidFill>
                  <a:srgbClr val="00B050"/>
                </a:solidFill>
                <a:latin typeface="Comic Sans MS" panose="030F0702030302020204" pitchFamily="66" charset="0"/>
              </a:rPr>
              <a:t>Comparable	</a:t>
            </a:r>
            <a:endParaRPr lang="en-US" altLang="en-US" sz="2800" dirty="0">
              <a:solidFill>
                <a:srgbClr val="00B050"/>
              </a:solidFill>
              <a:latin typeface="Comic Sans MS" panose="030F0702030302020204" pitchFamily="66" charset="0"/>
              <a:sym typeface="Wingdings" panose="05000000000000000000" pitchFamily="2" charset="2"/>
            </a:endParaRPr>
          </a:p>
          <a:p>
            <a:pPr>
              <a:tabLst>
                <a:tab pos="4459288" algn="l"/>
              </a:tabLst>
            </a:pPr>
            <a:r>
              <a:rPr lang="en-US" altLang="en-US" sz="2800" dirty="0">
                <a:solidFill>
                  <a:srgbClr val="00B050"/>
                </a:solidFill>
                <a:latin typeface="Comic Sans MS" panose="030F0702030302020204" pitchFamily="66" charset="0"/>
              </a:rPr>
              <a:t>Object </a:t>
            </a:r>
            <a:r>
              <a:rPr lang="en-US" altLang="en-US" sz="2800" dirty="0">
                <a:solidFill>
                  <a:srgbClr val="00B050"/>
                </a:solidFill>
                <a:latin typeface="Comic Sans MS" panose="030F0702030302020204" pitchFamily="66" charset="0"/>
                <a:sym typeface="Wingdings" panose="05000000000000000000" pitchFamily="2" charset="2"/>
              </a:rPr>
              <a:t> </a:t>
            </a:r>
            <a:r>
              <a:rPr lang="en-US" altLang="en-US" sz="2800" dirty="0" err="1">
                <a:solidFill>
                  <a:srgbClr val="00B050"/>
                </a:solidFill>
                <a:latin typeface="Comic Sans MS" panose="030F0702030302020204" pitchFamily="66" charset="0"/>
                <a:sym typeface="Wingdings" panose="05000000000000000000" pitchFamily="2" charset="2"/>
              </a:rPr>
              <a:t>CharSequence</a:t>
            </a:r>
            <a:r>
              <a:rPr lang="en-US" altLang="en-US" sz="2800" dirty="0">
                <a:solidFill>
                  <a:srgbClr val="00B050"/>
                </a:solidFill>
                <a:latin typeface="Comic Sans MS" panose="030F0702030302020204" pitchFamily="66" charset="0"/>
                <a:sym typeface="Wingdings" panose="05000000000000000000" pitchFamily="2" charset="2"/>
              </a:rPr>
              <a:t>	 StringBuilder</a:t>
            </a:r>
            <a:endParaRPr lang="en-US" altLang="en-US" sz="2800" dirty="0">
              <a:solidFill>
                <a:srgbClr val="00B050"/>
              </a:solidFill>
              <a:latin typeface="Comic Sans MS" panose="030F0702030302020204" pitchFamily="66" charset="0"/>
            </a:endParaRPr>
          </a:p>
        </p:txBody>
      </p:sp>
    </p:spTree>
    <p:extLst>
      <p:ext uri="{BB962C8B-B14F-4D97-AF65-F5344CB8AC3E}">
        <p14:creationId xmlns:p14="http://schemas.microsoft.com/office/powerpoint/2010/main" val="168761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381110" y="3581396"/>
            <a:ext cx="838178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1676476" y="2341783"/>
            <a:ext cx="5288640" cy="907941"/>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null</a:t>
            </a:r>
            <a:r>
              <a:rPr lang="en-US" altLang="en-US" sz="2400" dirty="0">
                <a:latin typeface="Courier New" panose="02070309020205020404" pitchFamily="49" charset="0"/>
                <a:cs typeface="Courier New" panose="02070309020205020404" pitchFamily="49" charset="0"/>
              </a:rPr>
              <a:t>);</a:t>
            </a:r>
          </a:p>
        </p:txBody>
      </p:sp>
      <p:sp>
        <p:nvSpPr>
          <p:cNvPr id="6" name="Rectangle 2">
            <a:extLst>
              <a:ext uri="{FF2B5EF4-FFF2-40B4-BE49-F238E27FC236}">
                <a16:creationId xmlns:a16="http://schemas.microsoft.com/office/drawing/2014/main" id="{EDCE9E28-5F41-4D17-8C89-77569E970C1F}"/>
              </a:ext>
            </a:extLst>
          </p:cNvPr>
          <p:cNvSpPr>
            <a:spLocks noChangeArrowheads="1"/>
          </p:cNvSpPr>
          <p:nvPr/>
        </p:nvSpPr>
        <p:spPr bwMode="auto">
          <a:xfrm>
            <a:off x="381110" y="3581396"/>
            <a:ext cx="838178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B050"/>
                </a:solidFill>
                <a:latin typeface="Courier New" panose="02070309020205020404" pitchFamily="49" charset="0"/>
                <a:cs typeface="Courier New" panose="02070309020205020404" pitchFamily="49" charset="0"/>
              </a:rPr>
              <a:t>String</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grpSp>
        <p:nvGrpSpPr>
          <p:cNvPr id="10" name="Group 9">
            <a:extLst>
              <a:ext uri="{FF2B5EF4-FFF2-40B4-BE49-F238E27FC236}">
                <a16:creationId xmlns:a16="http://schemas.microsoft.com/office/drawing/2014/main" id="{0EFEB578-39A2-98C8-3E23-5509242D147B}"/>
              </a:ext>
            </a:extLst>
          </p:cNvPr>
          <p:cNvGrpSpPr/>
          <p:nvPr/>
        </p:nvGrpSpPr>
        <p:grpSpPr>
          <a:xfrm>
            <a:off x="990694" y="5181554"/>
            <a:ext cx="7543602" cy="1600438"/>
            <a:chOff x="990694" y="5181554"/>
            <a:chExt cx="7543602" cy="1600438"/>
          </a:xfrm>
        </p:grpSpPr>
        <p:sp>
          <p:nvSpPr>
            <p:cNvPr id="3" name="TextBox 2">
              <a:extLst>
                <a:ext uri="{FF2B5EF4-FFF2-40B4-BE49-F238E27FC236}">
                  <a16:creationId xmlns:a16="http://schemas.microsoft.com/office/drawing/2014/main" id="{33B883DF-249A-818C-163C-F837DA89F7B3}"/>
                </a:ext>
              </a:extLst>
            </p:cNvPr>
            <p:cNvSpPr txBox="1"/>
            <p:nvPr/>
          </p:nvSpPr>
          <p:spPr>
            <a:xfrm>
              <a:off x="990694" y="5181554"/>
              <a:ext cx="7543602" cy="1600438"/>
            </a:xfrm>
            <a:prstGeom prst="rect">
              <a:avLst/>
            </a:prstGeom>
            <a:noFill/>
          </p:spPr>
          <p:txBody>
            <a:bodyPr wrap="square" rtlCol="0">
              <a:spAutoFit/>
            </a:bodyPr>
            <a:lstStyle/>
            <a:p>
              <a:pPr algn="ctr">
                <a:lnSpc>
                  <a:spcPct val="150000"/>
                </a:lnSpc>
              </a:pPr>
              <a:r>
                <a:rPr lang="en-US" altLang="en-US" sz="2800" dirty="0">
                  <a:solidFill>
                    <a:srgbClr val="00B050"/>
                  </a:solidFill>
                  <a:latin typeface="Comic Sans MS" panose="030F0702030302020204" pitchFamily="66" charset="0"/>
                  <a:sym typeface="Wingdings" panose="05000000000000000000" pitchFamily="2" charset="2"/>
                </a:rPr>
                <a:t>There is a winner:</a:t>
              </a:r>
              <a:endParaRPr lang="en-US" sz="2800" dirty="0">
                <a:solidFill>
                  <a:srgbClr val="00B050"/>
                </a:solidFill>
                <a:latin typeface="Comic Sans MS" panose="030F0702030302020204" pitchFamily="66" charset="0"/>
              </a:endParaRPr>
            </a:p>
            <a:p>
              <a:pPr>
                <a:tabLst>
                  <a:tab pos="4459288" algn="l"/>
                </a:tabLst>
              </a:pPr>
              <a:r>
                <a:rPr lang="en-US" altLang="en-US" sz="2800" dirty="0">
                  <a:solidFill>
                    <a:srgbClr val="00B050"/>
                  </a:solidFill>
                  <a:latin typeface="Comic Sans MS" panose="030F0702030302020204" pitchFamily="66" charset="0"/>
                </a:rPr>
                <a:t>Object </a:t>
              </a:r>
              <a:r>
                <a:rPr lang="en-US" altLang="en-US" sz="2800" dirty="0">
                  <a:solidFill>
                    <a:srgbClr val="00B050"/>
                  </a:solidFill>
                  <a:latin typeface="Comic Sans MS" panose="030F0702030302020204" pitchFamily="66" charset="0"/>
                  <a:sym typeface="Wingdings" panose="05000000000000000000" pitchFamily="2" charset="2"/>
                </a:rPr>
                <a:t>  </a:t>
              </a:r>
              <a:r>
                <a:rPr lang="en-US" altLang="en-US" sz="2800" dirty="0">
                  <a:solidFill>
                    <a:srgbClr val="00B050"/>
                  </a:solidFill>
                  <a:latin typeface="Comic Sans MS" panose="030F0702030302020204" pitchFamily="66" charset="0"/>
                </a:rPr>
                <a:t>Comparable	</a:t>
              </a:r>
              <a:endParaRPr lang="en-US" altLang="en-US" sz="2800" dirty="0">
                <a:solidFill>
                  <a:srgbClr val="00B050"/>
                </a:solidFill>
                <a:latin typeface="Comic Sans MS" panose="030F0702030302020204" pitchFamily="66" charset="0"/>
                <a:sym typeface="Wingdings" panose="05000000000000000000" pitchFamily="2" charset="2"/>
              </a:endParaRPr>
            </a:p>
            <a:p>
              <a:pPr>
                <a:tabLst>
                  <a:tab pos="4459288" algn="l"/>
                </a:tabLst>
              </a:pPr>
              <a:r>
                <a:rPr lang="en-US" altLang="en-US" sz="2800" dirty="0">
                  <a:solidFill>
                    <a:srgbClr val="00B050"/>
                  </a:solidFill>
                  <a:latin typeface="Comic Sans MS" panose="030F0702030302020204" pitchFamily="66" charset="0"/>
                </a:rPr>
                <a:t>Object </a:t>
              </a:r>
              <a:r>
                <a:rPr lang="en-US" altLang="en-US" sz="2800" dirty="0">
                  <a:solidFill>
                    <a:srgbClr val="00B050"/>
                  </a:solidFill>
                  <a:latin typeface="Comic Sans MS" panose="030F0702030302020204" pitchFamily="66" charset="0"/>
                  <a:sym typeface="Wingdings" panose="05000000000000000000" pitchFamily="2" charset="2"/>
                </a:rPr>
                <a:t> </a:t>
              </a:r>
              <a:r>
                <a:rPr lang="en-US" altLang="en-US" sz="2800" dirty="0" err="1">
                  <a:solidFill>
                    <a:srgbClr val="00B050"/>
                  </a:solidFill>
                  <a:latin typeface="Comic Sans MS" panose="030F0702030302020204" pitchFamily="66" charset="0"/>
                  <a:sym typeface="Wingdings" panose="05000000000000000000" pitchFamily="2" charset="2"/>
                </a:rPr>
                <a:t>CharSequence</a:t>
              </a:r>
              <a:endParaRPr lang="en-US" altLang="en-US" sz="2800" dirty="0">
                <a:solidFill>
                  <a:srgbClr val="00B050"/>
                </a:solidFill>
                <a:latin typeface="Comic Sans MS" panose="030F0702030302020204" pitchFamily="66" charset="0"/>
              </a:endParaRPr>
            </a:p>
          </p:txBody>
        </p:sp>
        <p:sp>
          <p:nvSpPr>
            <p:cNvPr id="5" name="TextBox 4">
              <a:extLst>
                <a:ext uri="{FF2B5EF4-FFF2-40B4-BE49-F238E27FC236}">
                  <a16:creationId xmlns:a16="http://schemas.microsoft.com/office/drawing/2014/main" id="{A458C8A8-35D7-26F5-960C-3C455BB44937}"/>
                </a:ext>
              </a:extLst>
            </p:cNvPr>
            <p:cNvSpPr txBox="1"/>
            <p:nvPr/>
          </p:nvSpPr>
          <p:spPr>
            <a:xfrm>
              <a:off x="5635858" y="5981773"/>
              <a:ext cx="1447822" cy="523220"/>
            </a:xfrm>
            <a:prstGeom prst="rect">
              <a:avLst/>
            </a:prstGeom>
            <a:noFill/>
          </p:spPr>
          <p:txBody>
            <a:bodyPr wrap="square">
              <a:spAutoFit/>
            </a:bodyPr>
            <a:lstStyle/>
            <a:p>
              <a:r>
                <a:rPr lang="en-US" altLang="en-US" sz="2800" dirty="0">
                  <a:solidFill>
                    <a:srgbClr val="00B050"/>
                  </a:solidFill>
                  <a:latin typeface="Comic Sans MS" panose="030F0702030302020204" pitchFamily="66" charset="0"/>
                  <a:sym typeface="Wingdings" panose="05000000000000000000" pitchFamily="2" charset="2"/>
                </a:rPr>
                <a:t>String</a:t>
              </a:r>
              <a:endParaRPr lang="en-US" sz="2800" dirty="0"/>
            </a:p>
          </p:txBody>
        </p:sp>
        <p:sp>
          <p:nvSpPr>
            <p:cNvPr id="8" name="TextBox 7">
              <a:extLst>
                <a:ext uri="{FF2B5EF4-FFF2-40B4-BE49-F238E27FC236}">
                  <a16:creationId xmlns:a16="http://schemas.microsoft.com/office/drawing/2014/main" id="{49B52A3E-9A7E-6F54-EB90-DD911EAEA552}"/>
                </a:ext>
              </a:extLst>
            </p:cNvPr>
            <p:cNvSpPr txBox="1"/>
            <p:nvPr/>
          </p:nvSpPr>
          <p:spPr>
            <a:xfrm rot="20045884">
              <a:off x="5269070" y="6186163"/>
              <a:ext cx="533446" cy="523220"/>
            </a:xfrm>
            <a:prstGeom prst="rect">
              <a:avLst/>
            </a:prstGeom>
            <a:noFill/>
          </p:spPr>
          <p:txBody>
            <a:bodyPr wrap="square">
              <a:spAutoFit/>
            </a:bodyPr>
            <a:lstStyle/>
            <a:p>
              <a:r>
                <a:rPr lang="en-US" altLang="en-US" sz="2800" dirty="0">
                  <a:solidFill>
                    <a:srgbClr val="00B050"/>
                  </a:solidFill>
                  <a:latin typeface="Comic Sans MS" panose="030F0702030302020204" pitchFamily="66" charset="0"/>
                  <a:sym typeface="Wingdings" panose="05000000000000000000" pitchFamily="2" charset="2"/>
                </a:rPr>
                <a:t></a:t>
              </a:r>
              <a:endParaRPr lang="en-US" sz="2800" dirty="0"/>
            </a:p>
          </p:txBody>
        </p:sp>
        <p:sp>
          <p:nvSpPr>
            <p:cNvPr id="9" name="TextBox 8">
              <a:extLst>
                <a:ext uri="{FF2B5EF4-FFF2-40B4-BE49-F238E27FC236}">
                  <a16:creationId xmlns:a16="http://schemas.microsoft.com/office/drawing/2014/main" id="{AE6B8304-8F77-7ECC-A8C1-70861ECF4E9C}"/>
                </a:ext>
              </a:extLst>
            </p:cNvPr>
            <p:cNvSpPr txBox="1"/>
            <p:nvPr/>
          </p:nvSpPr>
          <p:spPr>
            <a:xfrm rot="465496">
              <a:off x="5209684" y="5883454"/>
              <a:ext cx="533446" cy="523220"/>
            </a:xfrm>
            <a:prstGeom prst="rect">
              <a:avLst/>
            </a:prstGeom>
            <a:noFill/>
          </p:spPr>
          <p:txBody>
            <a:bodyPr wrap="square">
              <a:spAutoFit/>
            </a:bodyPr>
            <a:lstStyle/>
            <a:p>
              <a:r>
                <a:rPr lang="en-US" altLang="en-US" sz="2800" dirty="0">
                  <a:solidFill>
                    <a:srgbClr val="00B050"/>
                  </a:solidFill>
                  <a:latin typeface="Comic Sans MS" panose="030F0702030302020204" pitchFamily="66" charset="0"/>
                  <a:sym typeface="Wingdings" panose="05000000000000000000" pitchFamily="2" charset="2"/>
                </a:rPr>
                <a:t></a:t>
              </a:r>
              <a:endParaRPr lang="en-US" sz="2800" dirty="0"/>
            </a:p>
          </p:txBody>
        </p:sp>
      </p:grpSp>
    </p:spTree>
    <p:extLst>
      <p:ext uri="{BB962C8B-B14F-4D97-AF65-F5344CB8AC3E}">
        <p14:creationId xmlns:p14="http://schemas.microsoft.com/office/powerpoint/2010/main" val="40773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5B6701-9434-23D5-4AD7-84D0327B068C}"/>
              </a:ext>
            </a:extLst>
          </p:cNvPr>
          <p:cNvSpPr/>
          <p:nvPr/>
        </p:nvSpPr>
        <p:spPr>
          <a:xfrm>
            <a:off x="1780210" y="1676446"/>
            <a:ext cx="5583580" cy="2308324"/>
          </a:xfrm>
          <a:prstGeom prst="rect">
            <a:avLst/>
          </a:prstGeom>
          <a:noFill/>
        </p:spPr>
        <p:txBody>
          <a:bodyPr wrap="none" lIns="91440" tIns="45720" rIns="91440" bIns="45720">
            <a:spAutoFit/>
          </a:bodyPr>
          <a:lstStyle/>
          <a:p>
            <a:pPr algn="ctr"/>
            <a:r>
              <a:rPr lang="en-US" sz="7200" spc="50" dirty="0">
                <a:ln w="0"/>
                <a:solidFill>
                  <a:schemeClr val="bg2"/>
                </a:solidFill>
                <a:effectLst>
                  <a:innerShdw blurRad="63500" dist="50800" dir="13500000">
                    <a:srgbClr val="000000">
                      <a:alpha val="50000"/>
                    </a:srgbClr>
                  </a:innerShdw>
                </a:effectLst>
              </a:rPr>
              <a:t>Summary of</a:t>
            </a:r>
          </a:p>
          <a:p>
            <a:pPr algn="ctr"/>
            <a:r>
              <a:rPr lang="en-US" sz="7200" b="1" cap="none" spc="50" dirty="0">
                <a:ln w="0"/>
                <a:solidFill>
                  <a:schemeClr val="bg2"/>
                </a:solidFill>
                <a:effectLst>
                  <a:innerShdw blurRad="63500" dist="50800" dir="13500000">
                    <a:srgbClr val="000000">
                      <a:alpha val="50000"/>
                    </a:srgbClr>
                  </a:innerShdw>
                </a:effectLst>
              </a:rPr>
              <a:t>The Rules</a:t>
            </a:r>
          </a:p>
        </p:txBody>
      </p:sp>
    </p:spTree>
    <p:extLst>
      <p:ext uri="{BB962C8B-B14F-4D97-AF65-F5344CB8AC3E}">
        <p14:creationId xmlns:p14="http://schemas.microsoft.com/office/powerpoint/2010/main" val="27487878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bwMode="auto">
      <p:bgPr>
        <a:solidFill>
          <a:schemeClr val="accent3">
            <a:lumMod val="85000"/>
          </a:schemeClr>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0" y="838268"/>
            <a:ext cx="9144000"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class </a:t>
            </a:r>
            <a:r>
              <a:rPr lang="en-US" altLang="en-US" sz="2400" dirty="0">
                <a:latin typeface="Courier New" panose="02070309020205020404" pitchFamily="49" charset="0"/>
                <a:cs typeface="Courier New" panose="02070309020205020404" pitchFamily="49" charset="0"/>
              </a:rPr>
              <a:t>Object</a:t>
            </a:r>
            <a:r>
              <a:rPr lang="en-US" altLang="en-US" sz="2400" b="0" dirty="0">
                <a:latin typeface="Courier New" panose="02070309020205020404" pitchFamily="49" charset="0"/>
                <a:cs typeface="Courier New" panose="02070309020205020404" pitchFamily="49" charset="0"/>
              </a:rPr>
              <a:t> {</a:t>
            </a:r>
          </a:p>
          <a:p>
            <a:pPr>
              <a:spcBef>
                <a:spcPct val="0"/>
              </a:spcBef>
              <a:buFontTx/>
              <a:buNone/>
            </a:pPr>
            <a:r>
              <a:rPr lang="en-US" altLang="en-US" sz="2400" b="0" dirty="0">
                <a:latin typeface="Courier New" panose="02070309020205020404" pitchFamily="49" charset="0"/>
                <a:cs typeface="Courier New" panose="02070309020205020404" pitchFamily="49" charset="0"/>
              </a:rPr>
              <a:t>   public String </a:t>
            </a:r>
            <a:r>
              <a:rPr lang="en-US" altLang="en-US" sz="2400" dirty="0" err="1">
                <a:latin typeface="Courier New" panose="02070309020205020404" pitchFamily="49" charset="0"/>
                <a:cs typeface="Courier New" panose="02070309020205020404" pitchFamily="49" charset="0"/>
              </a:rPr>
              <a:t>toString</a:t>
            </a:r>
            <a:r>
              <a:rPr lang="en-US" altLang="en-US" sz="2400" dirty="0">
                <a:latin typeface="Courier New" panose="02070309020205020404" pitchFamily="49" charset="0"/>
                <a:cs typeface="Courier New" panose="02070309020205020404" pitchFamily="49" charset="0"/>
              </a:rPr>
              <a:t>() </a:t>
            </a:r>
            <a:r>
              <a:rPr lang="en-US" altLang="en-US" sz="2400" b="0" dirty="0">
                <a:latin typeface="Courier New" panose="02070309020205020404" pitchFamily="49" charset="0"/>
                <a:cs typeface="Courier New" panose="02070309020205020404" pitchFamily="49" charset="0"/>
              </a:rPr>
              <a:t>{</a:t>
            </a:r>
          </a:p>
          <a:p>
            <a:pPr>
              <a:spcBef>
                <a:spcPct val="0"/>
              </a:spcBef>
              <a:buFontTx/>
              <a:buNone/>
            </a:pPr>
            <a:r>
              <a:rPr lang="en-US" sz="2400" b="0" dirty="0">
                <a:latin typeface="Courier New" panose="02070309020205020404" pitchFamily="49" charset="0"/>
                <a:cs typeface="Courier New" panose="02070309020205020404" pitchFamily="49" charset="0"/>
              </a:rPr>
              <a:t>     return </a:t>
            </a:r>
            <a:r>
              <a:rPr lang="en-US" sz="2400" b="0" dirty="0" err="1">
                <a:latin typeface="Courier New" panose="02070309020205020404" pitchFamily="49" charset="0"/>
                <a:cs typeface="Courier New" panose="02070309020205020404" pitchFamily="49" charset="0"/>
              </a:rPr>
              <a:t>getClass</a:t>
            </a:r>
            <a:r>
              <a:rPr lang="en-US" sz="2400" b="0" dirty="0">
                <a:latin typeface="Courier New" panose="02070309020205020404" pitchFamily="49" charset="0"/>
                <a:cs typeface="Courier New" panose="02070309020205020404" pitchFamily="49" charset="0"/>
              </a:rPr>
              <a:t>().</a:t>
            </a:r>
            <a:r>
              <a:rPr lang="en-US" sz="2400" b="0" dirty="0" err="1">
                <a:latin typeface="Courier New" panose="02070309020205020404" pitchFamily="49" charset="0"/>
                <a:cs typeface="Courier New" panose="02070309020205020404" pitchFamily="49" charset="0"/>
              </a:rPr>
              <a:t>getName</a:t>
            </a:r>
            <a:r>
              <a:rPr lang="en-US" sz="2400" b="0" dirty="0">
                <a:latin typeface="Courier New" panose="02070309020205020404" pitchFamily="49" charset="0"/>
                <a:cs typeface="Courier New" panose="02070309020205020404" pitchFamily="49" charset="0"/>
              </a:rPr>
              <a:t>() + "@" + </a:t>
            </a:r>
          </a:p>
          <a:p>
            <a:pPr>
              <a:spcBef>
                <a:spcPct val="0"/>
              </a:spcBef>
              <a:buFontTx/>
              <a:buNone/>
            </a:pPr>
            <a:r>
              <a:rPr lang="en-US" sz="2400" b="0" dirty="0">
                <a:latin typeface="Courier New" panose="02070309020205020404" pitchFamily="49" charset="0"/>
                <a:cs typeface="Courier New" panose="02070309020205020404" pitchFamily="49" charset="0"/>
              </a:rPr>
              <a:t>            </a:t>
            </a:r>
            <a:r>
              <a:rPr lang="en-US" sz="2400" b="0" dirty="0" err="1">
                <a:latin typeface="Courier New" panose="02070309020205020404" pitchFamily="49" charset="0"/>
                <a:cs typeface="Courier New" panose="02070309020205020404" pitchFamily="49" charset="0"/>
              </a:rPr>
              <a:t>Integer.toHexString</a:t>
            </a:r>
            <a:r>
              <a:rPr lang="en-US" sz="2400" b="0" dirty="0">
                <a:latin typeface="Courier New" panose="02070309020205020404" pitchFamily="49" charset="0"/>
                <a:cs typeface="Courier New" panose="02070309020205020404" pitchFamily="49" charset="0"/>
              </a:rPr>
              <a:t>(</a:t>
            </a:r>
            <a:r>
              <a:rPr lang="en-US" sz="2400" b="0" dirty="0" err="1">
                <a:latin typeface="Courier New" panose="02070309020205020404" pitchFamily="49" charset="0"/>
                <a:cs typeface="Courier New" panose="02070309020205020404" pitchFamily="49" charset="0"/>
              </a:rPr>
              <a:t>hashCode</a:t>
            </a:r>
            <a:r>
              <a:rPr lang="en-US" sz="2400" b="0" dirty="0">
                <a:latin typeface="Courier New" panose="02070309020205020404" pitchFamily="49" charset="0"/>
                <a:cs typeface="Courier New" panose="02070309020205020404" pitchFamily="49" charset="0"/>
              </a:rPr>
              <a:t>());</a:t>
            </a:r>
            <a:br>
              <a:rPr lang="en-US" sz="2400" b="0" dirty="0">
                <a:latin typeface="Courier New" panose="02070309020205020404" pitchFamily="49" charset="0"/>
                <a:cs typeface="Courier New" panose="02070309020205020404" pitchFamily="49" charset="0"/>
              </a:rPr>
            </a:br>
            <a:r>
              <a:rPr lang="en-US" sz="2400" b="0" dirty="0">
                <a:latin typeface="Courier New" panose="02070309020205020404" pitchFamily="49" charset="0"/>
                <a:cs typeface="Courier New" panose="02070309020205020404" pitchFamily="49" charset="0"/>
              </a:rPr>
              <a:t>   }</a:t>
            </a:r>
            <a:r>
              <a:rPr lang="en-US" altLang="en-US" sz="2400" b="0" dirty="0">
                <a:latin typeface="Courier New" panose="02070309020205020404" pitchFamily="49" charset="0"/>
                <a:cs typeface="Courier New" panose="02070309020205020404" pitchFamily="49" charset="0"/>
              </a:rPr>
              <a:t> </a:t>
            </a:r>
          </a:p>
          <a:p>
            <a:pPr>
              <a:spcBef>
                <a:spcPct val="0"/>
              </a:spcBef>
              <a:buNone/>
            </a:pPr>
            <a:r>
              <a:rPr lang="en-US" altLang="en-US" sz="2400" b="0" dirty="0">
                <a:latin typeface="Courier New" panose="02070309020205020404" pitchFamily="49" charset="0"/>
                <a:cs typeface="Courier New" panose="02070309020205020404" pitchFamily="49" charset="0"/>
              </a:rPr>
              <a:t>}</a:t>
            </a:r>
          </a:p>
          <a:p>
            <a:pPr>
              <a:spcBef>
                <a:spcPct val="0"/>
              </a:spcBef>
              <a:buNone/>
            </a:pPr>
            <a:r>
              <a:rPr lang="en-US" altLang="en-US" sz="2400" b="0" dirty="0">
                <a:latin typeface="Courier New" panose="02070309020205020404" pitchFamily="49" charset="0"/>
                <a:cs typeface="Courier New" panose="02070309020205020404" pitchFamily="49" charset="0"/>
              </a:rPr>
              <a:t>class </a:t>
            </a:r>
            <a:r>
              <a:rPr lang="en-US" altLang="en-US" sz="2400" dirty="0">
                <a:latin typeface="Courier New" panose="02070309020205020404" pitchFamily="49" charset="0"/>
                <a:cs typeface="Courier New" panose="02070309020205020404" pitchFamily="49" charset="0"/>
              </a:rPr>
              <a:t>String</a:t>
            </a:r>
            <a:r>
              <a:rPr lang="en-US" altLang="en-US" sz="2400" b="0" dirty="0">
                <a:latin typeface="Courier New" panose="02070309020205020404" pitchFamily="49" charset="0"/>
                <a:cs typeface="Courier New" panose="02070309020205020404" pitchFamily="49" charset="0"/>
              </a:rPr>
              <a:t> implements </a:t>
            </a:r>
            <a:r>
              <a:rPr lang="en-US" altLang="en-US" sz="2400" b="0" dirty="0" err="1">
                <a:latin typeface="Courier New" panose="02070309020205020404" pitchFamily="49" charset="0"/>
                <a:cs typeface="Courier New" panose="02070309020205020404" pitchFamily="49" charset="0"/>
              </a:rPr>
              <a:t>CharSequence</a:t>
            </a:r>
            <a:r>
              <a:rPr lang="en-US" altLang="en-US" sz="2400" b="0" dirty="0">
                <a:latin typeface="Courier New" panose="02070309020205020404" pitchFamily="49" charset="0"/>
                <a:cs typeface="Courier New" panose="02070309020205020404" pitchFamily="49" charset="0"/>
              </a:rPr>
              <a:t>, Comparable{</a:t>
            </a:r>
          </a:p>
          <a:p>
            <a:pPr>
              <a:spcBef>
                <a:spcPct val="0"/>
              </a:spcBef>
              <a:buNone/>
            </a:pPr>
            <a:r>
              <a:rPr lang="en-US" altLang="en-US" sz="2400" b="0" dirty="0">
                <a:latin typeface="Courier New" panose="02070309020205020404" pitchFamily="49" charset="0"/>
                <a:cs typeface="Courier New" panose="02070309020205020404" pitchFamily="49" charset="0"/>
              </a:rPr>
              <a:t>   public String </a:t>
            </a:r>
            <a:r>
              <a:rPr lang="en-US" altLang="en-US" sz="2400" dirty="0" err="1">
                <a:latin typeface="Courier New" panose="02070309020205020404" pitchFamily="49" charset="0"/>
                <a:cs typeface="Courier New" panose="02070309020205020404" pitchFamily="49" charset="0"/>
              </a:rPr>
              <a:t>toString</a:t>
            </a:r>
            <a:r>
              <a:rPr lang="en-US" altLang="en-US" sz="2400" dirty="0">
                <a:latin typeface="Courier New" panose="02070309020205020404" pitchFamily="49" charset="0"/>
                <a:cs typeface="Courier New" panose="02070309020205020404" pitchFamily="49" charset="0"/>
              </a:rPr>
              <a:t>() </a:t>
            </a:r>
            <a:r>
              <a:rPr lang="en-US" altLang="en-US" sz="2400" b="0" dirty="0">
                <a:latin typeface="Courier New" panose="02070309020205020404" pitchFamily="49" charset="0"/>
                <a:cs typeface="Courier New" panose="02070309020205020404" pitchFamily="49" charset="0"/>
              </a:rPr>
              <a:t>{ </a:t>
            </a:r>
          </a:p>
          <a:p>
            <a:pPr>
              <a:spcBef>
                <a:spcPct val="0"/>
              </a:spcBef>
              <a:buNone/>
            </a:pPr>
            <a:r>
              <a:rPr lang="en-US" sz="2400" b="0" dirty="0">
                <a:latin typeface="Courier New" panose="02070309020205020404" pitchFamily="49" charset="0"/>
                <a:cs typeface="Courier New" panose="02070309020205020404" pitchFamily="49" charset="0"/>
              </a:rPr>
              <a:t>       return this;</a:t>
            </a:r>
            <a:br>
              <a:rPr lang="en-US" sz="2400" b="0" dirty="0">
                <a:latin typeface="Courier New" panose="02070309020205020404" pitchFamily="49" charset="0"/>
                <a:cs typeface="Courier New" panose="02070309020205020404" pitchFamily="49" charset="0"/>
              </a:rPr>
            </a:br>
            <a:r>
              <a:rPr lang="en-US" sz="2400" b="0" dirty="0">
                <a:latin typeface="Courier New" panose="02070309020205020404" pitchFamily="49" charset="0"/>
                <a:cs typeface="Courier New" panose="02070309020205020404" pitchFamily="49" charset="0"/>
              </a:rPr>
              <a:t>   }</a:t>
            </a:r>
            <a:endParaRPr lang="en-US" altLang="en-US" sz="2400" b="0" dirty="0">
              <a:latin typeface="Courier New" panose="02070309020205020404" pitchFamily="49" charset="0"/>
              <a:cs typeface="Courier New" panose="02070309020205020404" pitchFamily="49" charset="0"/>
            </a:endParaRPr>
          </a:p>
          <a:p>
            <a:pPr>
              <a:spcBef>
                <a:spcPct val="0"/>
              </a:spcBef>
              <a:buNone/>
            </a:pPr>
            <a:r>
              <a:rPr lang="en-US" altLang="en-US" sz="2400" b="0" dirty="0">
                <a:latin typeface="Courier New" panose="02070309020205020404" pitchFamily="49" charset="0"/>
                <a:cs typeface="Courier New" panose="02070309020205020404" pitchFamily="49" charset="0"/>
              </a:rPr>
              <a:t>} </a:t>
            </a:r>
          </a:p>
          <a:p>
            <a:pPr>
              <a:spcBef>
                <a:spcPct val="0"/>
              </a:spcBef>
              <a:buNone/>
            </a:pPr>
            <a:r>
              <a:rPr lang="en-US" altLang="en-US" sz="2400" b="0" dirty="0">
                <a:latin typeface="Courier New" panose="02070309020205020404" pitchFamily="49" charset="0"/>
                <a:cs typeface="Courier New" panose="02070309020205020404" pitchFamily="49" charset="0"/>
              </a:rPr>
              <a:t>class </a:t>
            </a:r>
            <a:r>
              <a:rPr lang="en-US" altLang="en-US" sz="2400" dirty="0">
                <a:latin typeface="Courier New" panose="02070309020205020404" pitchFamily="49" charset="0"/>
                <a:cs typeface="Courier New" panose="02070309020205020404" pitchFamily="49" charset="0"/>
              </a:rPr>
              <a:t>StringBuilder</a:t>
            </a:r>
            <a:r>
              <a:rPr lang="en-US" altLang="en-US" sz="2400" b="0" dirty="0">
                <a:latin typeface="Courier New" panose="02070309020205020404" pitchFamily="49" charset="0"/>
                <a:cs typeface="Courier New" panose="02070309020205020404" pitchFamily="49" charset="0"/>
              </a:rPr>
              <a:t> implements </a:t>
            </a:r>
            <a:r>
              <a:rPr lang="en-US" altLang="en-US" sz="2400" b="0" dirty="0" err="1">
                <a:latin typeface="Courier New" panose="02070309020205020404" pitchFamily="49" charset="0"/>
                <a:cs typeface="Courier New" panose="02070309020205020404" pitchFamily="49" charset="0"/>
              </a:rPr>
              <a:t>CharSequence</a:t>
            </a:r>
            <a:r>
              <a:rPr lang="en-US" altLang="en-US" sz="2400" b="0" dirty="0">
                <a:latin typeface="Courier New" panose="02070309020205020404" pitchFamily="49" charset="0"/>
                <a:cs typeface="Courier New" panose="02070309020205020404" pitchFamily="49" charset="0"/>
              </a:rPr>
              <a:t> {</a:t>
            </a:r>
          </a:p>
          <a:p>
            <a:pPr>
              <a:spcBef>
                <a:spcPct val="0"/>
              </a:spcBef>
              <a:buNone/>
            </a:pPr>
            <a:r>
              <a:rPr lang="en-US" altLang="en-US" sz="2400" b="0" dirty="0">
                <a:latin typeface="Courier New" panose="02070309020205020404" pitchFamily="49" charset="0"/>
                <a:cs typeface="Courier New" panose="02070309020205020404" pitchFamily="49" charset="0"/>
              </a:rPr>
              <a:t>   public String </a:t>
            </a:r>
            <a:r>
              <a:rPr lang="en-US" altLang="en-US" sz="2400" dirty="0" err="1">
                <a:latin typeface="Courier New" panose="02070309020205020404" pitchFamily="49" charset="0"/>
                <a:cs typeface="Courier New" panose="02070309020205020404" pitchFamily="49" charset="0"/>
              </a:rPr>
              <a:t>toString</a:t>
            </a:r>
            <a:r>
              <a:rPr lang="en-US" altLang="en-US" sz="2400" dirty="0">
                <a:latin typeface="Courier New" panose="02070309020205020404" pitchFamily="49" charset="0"/>
                <a:cs typeface="Courier New" panose="02070309020205020404" pitchFamily="49" charset="0"/>
              </a:rPr>
              <a:t>() </a:t>
            </a:r>
            <a:r>
              <a:rPr lang="en-US" altLang="en-US" sz="2400" b="0" dirty="0">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 </a:t>
            </a:r>
          </a:p>
          <a:p>
            <a:pPr>
              <a:spcBef>
                <a:spcPct val="0"/>
              </a:spcBef>
              <a:buNone/>
            </a:pPr>
            <a:r>
              <a:rPr lang="en-US" sz="2400" b="0" dirty="0">
                <a:latin typeface="Courier New" panose="02070309020205020404" pitchFamily="49" charset="0"/>
                <a:cs typeface="Courier New" panose="02070309020205020404" pitchFamily="49" charset="0"/>
              </a:rPr>
              <a:t>     return StringLatin1.newString(value,0,count)</a:t>
            </a:r>
          </a:p>
          <a:p>
            <a:pPr>
              <a:spcBef>
                <a:spcPct val="0"/>
              </a:spcBef>
              <a:buNone/>
            </a:pPr>
            <a:r>
              <a:rPr lang="en-US" altLang="en-US" sz="2400" b="0" dirty="0">
                <a:latin typeface="Courier New" panose="02070309020205020404" pitchFamily="49" charset="0"/>
                <a:cs typeface="Courier New" panose="02070309020205020404" pitchFamily="49" charset="0"/>
              </a:rPr>
              <a:t>   }</a:t>
            </a:r>
          </a:p>
          <a:p>
            <a:pPr>
              <a:spcBef>
                <a:spcPct val="0"/>
              </a:spcBef>
              <a:buNone/>
            </a:pPr>
            <a:r>
              <a:rPr lang="en-US" altLang="en-US" sz="2400" b="0" dirty="0">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 </a:t>
            </a:r>
          </a:p>
        </p:txBody>
      </p:sp>
      <p:sp>
        <p:nvSpPr>
          <p:cNvPr id="111621" name="Rectangle 1"/>
          <p:cNvSpPr>
            <a:spLocks noChangeArrowheads="1"/>
          </p:cNvSpPr>
          <p:nvPr/>
        </p:nvSpPr>
        <p:spPr bwMode="auto">
          <a:xfrm>
            <a:off x="76318" y="228684"/>
            <a:ext cx="89151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None/>
            </a:pPr>
            <a:r>
              <a:rPr lang="en-US" altLang="en-US" sz="2400" dirty="0">
                <a:latin typeface="Tahoma" panose="020B0604030504040204" pitchFamily="34" charset="0"/>
              </a:rPr>
              <a:t>Calls of </a:t>
            </a:r>
            <a:r>
              <a:rPr lang="en-US" altLang="en-US" sz="2400" dirty="0">
                <a:solidFill>
                  <a:srgbClr val="0000FF"/>
                </a:solidFill>
                <a:latin typeface="Tahoma" panose="020B0604030504040204" pitchFamily="34" charset="0"/>
              </a:rPr>
              <a:t>overridden methods </a:t>
            </a:r>
            <a:r>
              <a:rPr lang="en-US" altLang="en-US" sz="2400" dirty="0">
                <a:latin typeface="Tahoma" panose="020B0604030504040204" pitchFamily="34" charset="0"/>
              </a:rPr>
              <a:t>are determined </a:t>
            </a:r>
            <a:r>
              <a:rPr lang="en-US" altLang="en-US" sz="2400" dirty="0">
                <a:solidFill>
                  <a:srgbClr val="0000FF"/>
                </a:solidFill>
                <a:latin typeface="Tahoma" panose="020B0604030504040204" pitchFamily="34" charset="0"/>
              </a:rPr>
              <a:t>at run time</a:t>
            </a:r>
            <a:r>
              <a:rPr lang="en-US" altLang="en-US" sz="2400" dirty="0">
                <a:latin typeface="Tahoma" panose="020B0604030504040204" pitchFamily="34" charset="0"/>
              </a:rPr>
              <a:t>.</a:t>
            </a:r>
          </a:p>
        </p:txBody>
      </p:sp>
    </p:spTree>
    <p:extLst>
      <p:ext uri="{BB962C8B-B14F-4D97-AF65-F5344CB8AC3E}">
        <p14:creationId xmlns:p14="http://schemas.microsoft.com/office/powerpoint/2010/main" val="14559306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bwMode="auto">
      <p:bgPr>
        <a:solidFill>
          <a:schemeClr val="accent3">
            <a:lumMod val="85000"/>
          </a:schemeClr>
        </a:solidFill>
        <a:effectLst/>
      </p:bgPr>
    </p:bg>
    <p:spTree>
      <p:nvGrpSpPr>
        <p:cNvPr id="1" name=""/>
        <p:cNvGrpSpPr/>
        <p:nvPr/>
      </p:nvGrpSpPr>
      <p:grpSpPr>
        <a:xfrm>
          <a:off x="0" y="0"/>
          <a:ext cx="0" cy="0"/>
          <a:chOff x="0" y="0"/>
          <a:chExt cx="0" cy="0"/>
        </a:xfrm>
      </p:grpSpPr>
      <p:sp>
        <p:nvSpPr>
          <p:cNvPr id="111621" name="Rectangle 1"/>
          <p:cNvSpPr>
            <a:spLocks noChangeArrowheads="1"/>
          </p:cNvSpPr>
          <p:nvPr/>
        </p:nvSpPr>
        <p:spPr bwMode="auto">
          <a:xfrm>
            <a:off x="76318" y="228684"/>
            <a:ext cx="89151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None/>
            </a:pPr>
            <a:r>
              <a:rPr lang="en-US" altLang="en-US" sz="2400" dirty="0">
                <a:latin typeface="Tahoma" panose="020B0604030504040204" pitchFamily="34" charset="0"/>
              </a:rPr>
              <a:t>Calls of </a:t>
            </a:r>
            <a:r>
              <a:rPr lang="en-US" altLang="en-US" sz="2400" dirty="0">
                <a:solidFill>
                  <a:srgbClr val="0000FF"/>
                </a:solidFill>
                <a:latin typeface="Tahoma" panose="020B0604030504040204" pitchFamily="34" charset="0"/>
              </a:rPr>
              <a:t>overridden methods </a:t>
            </a:r>
            <a:r>
              <a:rPr lang="en-US" altLang="en-US" sz="2400" dirty="0">
                <a:latin typeface="Tahoma" panose="020B0604030504040204" pitchFamily="34" charset="0"/>
              </a:rPr>
              <a:t>are determined </a:t>
            </a:r>
            <a:r>
              <a:rPr lang="en-US" altLang="en-US" sz="2400" dirty="0">
                <a:solidFill>
                  <a:srgbClr val="0000FF"/>
                </a:solidFill>
                <a:latin typeface="Tahoma" panose="020B0604030504040204" pitchFamily="34" charset="0"/>
              </a:rPr>
              <a:t>at run time</a:t>
            </a:r>
            <a:r>
              <a:rPr lang="en-US" altLang="en-US" sz="2400" dirty="0">
                <a:latin typeface="Tahoma" panose="020B0604030504040204" pitchFamily="34" charset="0"/>
              </a:rPr>
              <a:t>.</a:t>
            </a:r>
          </a:p>
        </p:txBody>
      </p:sp>
      <p:sp>
        <p:nvSpPr>
          <p:cNvPr id="2" name="Rectangle 1">
            <a:extLst>
              <a:ext uri="{FF2B5EF4-FFF2-40B4-BE49-F238E27FC236}">
                <a16:creationId xmlns:a16="http://schemas.microsoft.com/office/drawing/2014/main" id="{2CEE045F-DCAE-FD93-0301-302EBD0A130B}"/>
              </a:ext>
            </a:extLst>
          </p:cNvPr>
          <p:cNvSpPr/>
          <p:nvPr/>
        </p:nvSpPr>
        <p:spPr>
          <a:xfrm>
            <a:off x="152396" y="990664"/>
            <a:ext cx="8915286" cy="5370701"/>
          </a:xfrm>
          <a:prstGeom prst="rect">
            <a:avLst/>
          </a:prstGeom>
        </p:spPr>
        <p:txBody>
          <a:bodyPr wrap="square">
            <a:spAutoFit/>
          </a:bodyPr>
          <a:lstStyle/>
          <a:p>
            <a:pPr>
              <a:spcAft>
                <a:spcPts val="600"/>
              </a:spcAft>
            </a:pPr>
            <a:r>
              <a:rPr lang="en-US" altLang="en-US" sz="2600" b="0" dirty="0">
                <a:solidFill>
                  <a:srgbClr val="176B25"/>
                </a:solidFill>
                <a:latin typeface="Candara" panose="020E0502030303020204" pitchFamily="34" charset="0"/>
                <a:cs typeface="Courier New" panose="02070309020205020404" pitchFamily="49" charset="0"/>
              </a:rPr>
              <a:t>Each of these would call the </a:t>
            </a:r>
            <a:r>
              <a:rPr lang="en-US" altLang="en-US" sz="2600" dirty="0">
                <a:solidFill>
                  <a:srgbClr val="176B25"/>
                </a:solidFill>
                <a:latin typeface="Candara" panose="020E0502030303020204" pitchFamily="34" charset="0"/>
                <a:cs typeface="Courier New" panose="02070309020205020404" pitchFamily="49" charset="0"/>
              </a:rPr>
              <a:t>String</a:t>
            </a:r>
            <a:r>
              <a:rPr lang="en-US" altLang="en-US" sz="2600" b="0" dirty="0">
                <a:solidFill>
                  <a:srgbClr val="176B25"/>
                </a:solidFill>
                <a:latin typeface="Candara" panose="020E0502030303020204" pitchFamily="34" charset="0"/>
                <a:cs typeface="Courier New" panose="02070309020205020404" pitchFamily="49" charset="0"/>
              </a:rPr>
              <a:t> class’s </a:t>
            </a:r>
            <a:r>
              <a:rPr lang="en-US" altLang="en-US" sz="2600" dirty="0" err="1">
                <a:solidFill>
                  <a:srgbClr val="176B25"/>
                </a:solidFill>
                <a:latin typeface="Candara" panose="020E0502030303020204" pitchFamily="34" charset="0"/>
                <a:cs typeface="Courier New" panose="02070309020205020404" pitchFamily="49" charset="0"/>
              </a:rPr>
              <a:t>toString</a:t>
            </a:r>
            <a:r>
              <a:rPr lang="en-US" altLang="en-US" sz="2600" dirty="0">
                <a:solidFill>
                  <a:srgbClr val="176B25"/>
                </a:solidFill>
                <a:latin typeface="Candara" panose="020E0502030303020204" pitchFamily="34" charset="0"/>
                <a:cs typeface="Courier New" panose="02070309020205020404" pitchFamily="49" charset="0"/>
              </a:rPr>
              <a:t>() </a:t>
            </a:r>
            <a:r>
              <a:rPr lang="en-US" altLang="en-US" sz="2600" b="0" dirty="0">
                <a:solidFill>
                  <a:srgbClr val="176B25"/>
                </a:solidFill>
                <a:latin typeface="Candara" panose="020E0502030303020204" pitchFamily="34" charset="0"/>
                <a:cs typeface="Courier New" panose="02070309020205020404" pitchFamily="49" charset="0"/>
              </a:rPr>
              <a:t>method when printed:</a:t>
            </a:r>
          </a:p>
          <a:p>
            <a:pPr>
              <a:lnSpc>
                <a:spcPct val="150000"/>
              </a:lnSpc>
            </a:pPr>
            <a:r>
              <a:rPr lang="en-US" altLang="en-US" sz="2600" dirty="0">
                <a:latin typeface="Courier New" panose="02070309020205020404" pitchFamily="49" charset="0"/>
                <a:cs typeface="Courier New" panose="02070309020205020404" pitchFamily="49" charset="0"/>
              </a:rPr>
              <a:t>Object obj = "object";</a:t>
            </a:r>
          </a:p>
          <a:p>
            <a:r>
              <a:rPr lang="en-US" altLang="en-US" sz="2600" dirty="0">
                <a:latin typeface="Courier New" panose="02070309020205020404" pitchFamily="49" charset="0"/>
                <a:cs typeface="Courier New" panose="02070309020205020404" pitchFamily="49" charset="0"/>
              </a:rPr>
              <a:t>Comparable comp = "object";</a:t>
            </a:r>
          </a:p>
          <a:p>
            <a:r>
              <a:rPr lang="en-US" altLang="en-US" sz="2600" dirty="0" err="1">
                <a:latin typeface="Courier New" panose="02070309020205020404" pitchFamily="49" charset="0"/>
                <a:cs typeface="Courier New" panose="02070309020205020404" pitchFamily="49" charset="0"/>
              </a:rPr>
              <a:t>CharSequence</a:t>
            </a:r>
            <a:r>
              <a:rPr lang="en-US" altLang="en-US" sz="2600" dirty="0">
                <a:latin typeface="Courier New" panose="02070309020205020404" pitchFamily="49" charset="0"/>
                <a:cs typeface="Courier New" panose="02070309020205020404" pitchFamily="49" charset="0"/>
              </a:rPr>
              <a:t> cs = "object";</a:t>
            </a:r>
          </a:p>
          <a:p>
            <a:endParaRPr lang="en-US" altLang="en-US" sz="2600" b="0" dirty="0">
              <a:latin typeface="Courier New" panose="02070309020205020404" pitchFamily="49" charset="0"/>
              <a:cs typeface="Courier New" panose="02070309020205020404" pitchFamily="49" charset="0"/>
            </a:endParaRPr>
          </a:p>
          <a:p>
            <a:r>
              <a:rPr lang="en-US" altLang="en-US" sz="2600" b="0" dirty="0">
                <a:solidFill>
                  <a:srgbClr val="176B25"/>
                </a:solidFill>
                <a:latin typeface="Candara" panose="020E0502030303020204" pitchFamily="34" charset="0"/>
                <a:cs typeface="Courier New" panose="02070309020205020404" pitchFamily="49" charset="0"/>
              </a:rPr>
              <a:t>Each of these calls the </a:t>
            </a:r>
            <a:r>
              <a:rPr lang="en-US" altLang="en-US" sz="2600" dirty="0">
                <a:solidFill>
                  <a:srgbClr val="176B25"/>
                </a:solidFill>
                <a:latin typeface="Candara" panose="020E0502030303020204" pitchFamily="34" charset="0"/>
                <a:cs typeface="Courier New" panose="02070309020205020404" pitchFamily="49" charset="0"/>
              </a:rPr>
              <a:t>StringBuilder</a:t>
            </a:r>
            <a:r>
              <a:rPr lang="en-US" altLang="en-US" sz="2600" b="0" dirty="0">
                <a:solidFill>
                  <a:srgbClr val="176B25"/>
                </a:solidFill>
                <a:latin typeface="Candara" panose="020E0502030303020204" pitchFamily="34" charset="0"/>
                <a:cs typeface="Courier New" panose="02070309020205020404" pitchFamily="49" charset="0"/>
              </a:rPr>
              <a:t> class’s </a:t>
            </a:r>
            <a:r>
              <a:rPr lang="en-US" altLang="en-US" sz="2600" dirty="0">
                <a:solidFill>
                  <a:srgbClr val="176B25"/>
                </a:solidFill>
                <a:latin typeface="Candara" panose="020E0502030303020204" pitchFamily="34" charset="0"/>
                <a:cs typeface="Courier New" panose="02070309020205020404" pitchFamily="49" charset="0"/>
              </a:rPr>
              <a:t>append()  </a:t>
            </a:r>
            <a:r>
              <a:rPr lang="en-US" altLang="en-US" sz="2600" b="0" dirty="0">
                <a:solidFill>
                  <a:srgbClr val="176B25"/>
                </a:solidFill>
                <a:latin typeface="Candara" panose="020E0502030303020204" pitchFamily="34" charset="0"/>
                <a:cs typeface="Courier New" panose="02070309020205020404" pitchFamily="49" charset="0"/>
              </a:rPr>
              <a:t>method:</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600" dirty="0">
                <a:latin typeface="Courier New" panose="02070309020205020404" pitchFamily="49" charset="0"/>
                <a:cs typeface="Courier New" panose="02070309020205020404" pitchFamily="49" charset="0"/>
              </a:rPr>
              <a:t>StringBuilder sb1 = new StringBuilder();</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600" dirty="0">
                <a:latin typeface="Courier New" panose="02070309020205020404" pitchFamily="49" charset="0"/>
                <a:cs typeface="Courier New" panose="02070309020205020404" pitchFamily="49" charset="0"/>
              </a:rPr>
              <a:t>sb1.append("GFG");</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600"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600" dirty="0" err="1">
                <a:latin typeface="Courier New" panose="02070309020205020404" pitchFamily="49" charset="0"/>
                <a:cs typeface="Courier New" panose="02070309020205020404" pitchFamily="49" charset="0"/>
              </a:rPr>
              <a:t>Appendable</a:t>
            </a:r>
            <a:r>
              <a:rPr lang="en-US" altLang="en-US" sz="2600" dirty="0">
                <a:latin typeface="Courier New" panose="02070309020205020404" pitchFamily="49" charset="0"/>
                <a:cs typeface="Courier New" panose="02070309020205020404" pitchFamily="49" charset="0"/>
              </a:rPr>
              <a:t> sb2 = new StringBuilder();</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600" dirty="0">
                <a:latin typeface="Courier New" panose="02070309020205020404" pitchFamily="49" charset="0"/>
                <a:cs typeface="Courier New" panose="02070309020205020404" pitchFamily="49" charset="0"/>
              </a:rPr>
              <a:t>sb2.append("GFG");</a:t>
            </a:r>
          </a:p>
        </p:txBody>
      </p:sp>
    </p:spTree>
    <p:extLst>
      <p:ext uri="{BB962C8B-B14F-4D97-AF65-F5344CB8AC3E}">
        <p14:creationId xmlns:p14="http://schemas.microsoft.com/office/powerpoint/2010/main" val="41783457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bwMode="auto">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266813" y="1219258"/>
            <a:ext cx="8610374"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Courier New" panose="02070309020205020404" pitchFamily="49" charset="0"/>
                <a:cs typeface="Courier New" panose="02070309020205020404" pitchFamily="49" charset="0"/>
              </a:rPr>
              <a:t>class Base </a:t>
            </a:r>
            <a:r>
              <a:rPr lang="en-US" altLang="en-US" sz="2400" b="0" dirty="0">
                <a:latin typeface="Courier New" panose="02070309020205020404" pitchFamily="49" charset="0"/>
                <a:cs typeface="Courier New" panose="02070309020205020404" pitchFamily="49" charset="0"/>
              </a:rPr>
              <a:t>{</a:t>
            </a:r>
          </a:p>
          <a:p>
            <a:pPr>
              <a:spcBef>
                <a:spcPct val="0"/>
              </a:spcBef>
              <a:buFontTx/>
              <a:buNone/>
            </a:pPr>
            <a:r>
              <a:rPr lang="en-US" altLang="en-US" sz="2400" b="0" dirty="0">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static</a:t>
            </a:r>
            <a:r>
              <a:rPr lang="en-US" altLang="en-US" sz="2400" b="0" dirty="0">
                <a:latin typeface="Courier New" panose="02070309020205020404" pitchFamily="49" charset="0"/>
                <a:cs typeface="Courier New" panose="02070309020205020404" pitchFamily="49" charset="0"/>
              </a:rPr>
              <a:t> void </a:t>
            </a:r>
            <a:r>
              <a:rPr lang="en-US" altLang="en-US" sz="2400" dirty="0">
                <a:latin typeface="Courier New" panose="02070309020205020404" pitchFamily="49" charset="0"/>
                <a:cs typeface="Courier New" panose="02070309020205020404" pitchFamily="49" charset="0"/>
              </a:rPr>
              <a:t>write() { </a:t>
            </a: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(“Base”); </a:t>
            </a:r>
          </a:p>
          <a:p>
            <a:pPr>
              <a:spcBef>
                <a:spcPct val="0"/>
              </a:spcBef>
              <a:buNone/>
            </a:pPr>
            <a:r>
              <a:rPr lang="en-US" altLang="en-US" sz="2400" b="0" dirty="0">
                <a:latin typeface="Courier New" panose="02070309020205020404" pitchFamily="49" charset="0"/>
                <a:cs typeface="Courier New" panose="02070309020205020404" pitchFamily="49" charset="0"/>
              </a:rPr>
              <a:t>}</a:t>
            </a:r>
          </a:p>
          <a:p>
            <a:pPr>
              <a:spcBef>
                <a:spcPct val="0"/>
              </a:spcBef>
              <a:buNone/>
            </a:pPr>
            <a:r>
              <a:rPr lang="en-US" altLang="en-US" sz="2400" dirty="0">
                <a:latin typeface="Courier New" panose="02070309020205020404" pitchFamily="49" charset="0"/>
                <a:cs typeface="Courier New" panose="02070309020205020404" pitchFamily="49" charset="0"/>
              </a:rPr>
              <a:t>class Sub </a:t>
            </a:r>
            <a:r>
              <a:rPr lang="en-US" altLang="en-US" sz="2400" b="0" dirty="0">
                <a:latin typeface="Courier New" panose="02070309020205020404" pitchFamily="49" charset="0"/>
                <a:cs typeface="Courier New" panose="02070309020205020404" pitchFamily="49" charset="0"/>
              </a:rPr>
              <a:t>extends Base {</a:t>
            </a:r>
          </a:p>
          <a:p>
            <a:pPr>
              <a:spcBef>
                <a:spcPct val="0"/>
              </a:spcBef>
              <a:buNone/>
            </a:pPr>
            <a:r>
              <a:rPr lang="en-US" altLang="en-US" sz="2400" b="0" dirty="0">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static</a:t>
            </a:r>
            <a:r>
              <a:rPr lang="en-US" altLang="en-US" sz="2400" b="0" dirty="0">
                <a:latin typeface="Courier New" panose="02070309020205020404" pitchFamily="49" charset="0"/>
                <a:cs typeface="Courier New" panose="02070309020205020404" pitchFamily="49" charset="0"/>
              </a:rPr>
              <a:t> void </a:t>
            </a:r>
            <a:r>
              <a:rPr lang="en-US" altLang="en-US" sz="2400" dirty="0">
                <a:latin typeface="Courier New" panose="02070309020205020404" pitchFamily="49" charset="0"/>
                <a:cs typeface="Courier New" panose="02070309020205020404" pitchFamily="49" charset="0"/>
              </a:rPr>
              <a:t>write() { </a:t>
            </a: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(“Sub”); </a:t>
            </a:r>
          </a:p>
          <a:p>
            <a:pPr>
              <a:spcBef>
                <a:spcPct val="0"/>
              </a:spcBef>
              <a:buNone/>
            </a:pPr>
            <a:r>
              <a:rPr lang="en-US" altLang="en-US" sz="2400" b="0" dirty="0">
                <a:latin typeface="Courier New" panose="02070309020205020404" pitchFamily="49" charset="0"/>
                <a:cs typeface="Courier New" panose="02070309020205020404" pitchFamily="49" charset="0"/>
              </a:rPr>
              <a:t>}</a:t>
            </a:r>
          </a:p>
          <a:p>
            <a:pPr>
              <a:spcBef>
                <a:spcPct val="0"/>
              </a:spcBef>
              <a:buNone/>
            </a:pPr>
            <a:endParaRPr lang="en-US" altLang="en-US" sz="2400" b="0" dirty="0">
              <a:latin typeface="Courier New" panose="02070309020205020404" pitchFamily="49" charset="0"/>
              <a:cs typeface="Courier New" panose="02070309020205020404" pitchFamily="49" charset="0"/>
            </a:endParaRPr>
          </a:p>
          <a:p>
            <a:pPr>
              <a:spcBef>
                <a:spcPct val="0"/>
              </a:spcBef>
              <a:buFontTx/>
              <a:buNone/>
            </a:pPr>
            <a:r>
              <a:rPr lang="en-US" altLang="en-US" sz="2400" dirty="0">
                <a:latin typeface="Courier New" panose="02070309020205020404" pitchFamily="49" charset="0"/>
                <a:cs typeface="Courier New" panose="02070309020205020404" pitchFamily="49" charset="0"/>
              </a:rPr>
              <a:t>// In the main method:</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0000FF"/>
                </a:solidFill>
                <a:latin typeface="Courier New" panose="02070309020205020404" pitchFamily="49" charset="0"/>
                <a:cs typeface="Courier New" panose="02070309020205020404" pitchFamily="49" charset="0"/>
              </a:rPr>
              <a:t>Base.write</a:t>
            </a:r>
            <a:r>
              <a:rPr lang="en-US" altLang="en-US" sz="2400" dirty="0">
                <a:solidFill>
                  <a:srgbClr val="0000FF"/>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0000FF"/>
                </a:solidFill>
                <a:latin typeface="Courier New" panose="02070309020205020404" pitchFamily="49" charset="0"/>
                <a:cs typeface="Courier New" panose="02070309020205020404" pitchFamily="49" charset="0"/>
              </a:rPr>
              <a:t>Sub.write</a:t>
            </a:r>
            <a:r>
              <a:rPr lang="en-US" altLang="en-US" sz="2400" dirty="0">
                <a:solidFill>
                  <a:srgbClr val="0000FF"/>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a:p>
            <a:pPr>
              <a:spcBef>
                <a:spcPct val="0"/>
              </a:spcBef>
              <a:buNone/>
            </a:pPr>
            <a:endParaRPr lang="en-US" altLang="en-US" sz="2400" dirty="0">
              <a:latin typeface="Courier New" panose="02070309020205020404" pitchFamily="49" charset="0"/>
              <a:cs typeface="Courier New" panose="02070309020205020404" pitchFamily="49" charset="0"/>
            </a:endParaRPr>
          </a:p>
        </p:txBody>
      </p:sp>
      <p:sp>
        <p:nvSpPr>
          <p:cNvPr id="111621" name="Rectangle 1"/>
          <p:cNvSpPr>
            <a:spLocks noChangeArrowheads="1"/>
          </p:cNvSpPr>
          <p:nvPr/>
        </p:nvSpPr>
        <p:spPr bwMode="auto">
          <a:xfrm>
            <a:off x="0" y="22868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400" dirty="0">
                <a:latin typeface="Tahoma" panose="020B0604030504040204" pitchFamily="34" charset="0"/>
              </a:rPr>
              <a:t>Calls of </a:t>
            </a:r>
            <a:r>
              <a:rPr lang="en-US" altLang="en-US" sz="2400" dirty="0">
                <a:solidFill>
                  <a:srgbClr val="612A8A"/>
                </a:solidFill>
                <a:latin typeface="Tahoma" panose="020B0604030504040204" pitchFamily="34" charset="0"/>
              </a:rPr>
              <a:t>hidden methods </a:t>
            </a:r>
            <a:r>
              <a:rPr lang="en-US" altLang="en-US" sz="2400" dirty="0">
                <a:latin typeface="Tahoma" panose="020B0604030504040204" pitchFamily="34" charset="0"/>
              </a:rPr>
              <a:t>are locked down </a:t>
            </a:r>
            <a:r>
              <a:rPr lang="en-US" altLang="en-US" sz="2400" dirty="0">
                <a:solidFill>
                  <a:srgbClr val="612A8A"/>
                </a:solidFill>
                <a:latin typeface="Tahoma" panose="020B0604030504040204" pitchFamily="34" charset="0"/>
              </a:rPr>
              <a:t>at compile time</a:t>
            </a:r>
            <a:r>
              <a:rPr lang="en-US" altLang="en-US" sz="2400" dirty="0">
                <a:latin typeface="Tahoma" panose="020B0604030504040204" pitchFamily="34" charset="0"/>
              </a:rPr>
              <a:t>.</a:t>
            </a:r>
          </a:p>
        </p:txBody>
      </p:sp>
      <p:sp>
        <p:nvSpPr>
          <p:cNvPr id="2" name="TextBox 1">
            <a:extLst>
              <a:ext uri="{FF2B5EF4-FFF2-40B4-BE49-F238E27FC236}">
                <a16:creationId xmlns:a16="http://schemas.microsoft.com/office/drawing/2014/main" id="{309B6D0E-1ADD-25CD-4EB1-232461DFD382}"/>
              </a:ext>
            </a:extLst>
          </p:cNvPr>
          <p:cNvSpPr txBox="1">
            <a:spLocks noChangeArrowheads="1"/>
          </p:cNvSpPr>
          <p:nvPr/>
        </p:nvSpPr>
        <p:spPr bwMode="auto">
          <a:xfrm>
            <a:off x="5486376" y="3809990"/>
            <a:ext cx="1297599"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chemeClr val="accent5">
                    <a:lumMod val="50000"/>
                  </a:schemeClr>
                </a:solidFill>
                <a:latin typeface="Arial" panose="020B0604020202020204" pitchFamily="34" charset="0"/>
              </a:rPr>
              <a:t>OUTPUT:</a:t>
            </a:r>
          </a:p>
          <a:p>
            <a:pPr>
              <a:spcBef>
                <a:spcPct val="0"/>
              </a:spcBef>
              <a:buFontTx/>
              <a:buNone/>
            </a:pPr>
            <a:r>
              <a:rPr lang="en-US" altLang="en-US" sz="2400" dirty="0">
                <a:solidFill>
                  <a:srgbClr val="0000FF"/>
                </a:solidFill>
                <a:latin typeface="Courier New" panose="02070309020205020404" pitchFamily="49" charset="0"/>
                <a:cs typeface="Courier New" panose="02070309020205020404" pitchFamily="49" charset="0"/>
              </a:rPr>
              <a:t>Base</a:t>
            </a:r>
          </a:p>
          <a:p>
            <a:pPr>
              <a:spcBef>
                <a:spcPct val="0"/>
              </a:spcBef>
              <a:buFontTx/>
              <a:buNone/>
            </a:pPr>
            <a:r>
              <a:rPr lang="en-US" altLang="en-US" sz="2400" dirty="0">
                <a:solidFill>
                  <a:srgbClr val="0000FF"/>
                </a:solidFill>
                <a:latin typeface="Courier New" panose="02070309020205020404" pitchFamily="49" charset="0"/>
                <a:cs typeface="Courier New" panose="02070309020205020404" pitchFamily="49" charset="0"/>
              </a:rPr>
              <a:t>Sub</a:t>
            </a:r>
          </a:p>
        </p:txBody>
      </p:sp>
    </p:spTree>
    <p:extLst>
      <p:ext uri="{BB962C8B-B14F-4D97-AF65-F5344CB8AC3E}">
        <p14:creationId xmlns:p14="http://schemas.microsoft.com/office/powerpoint/2010/main" val="283330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bg bwMode="auto">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266813" y="1219258"/>
            <a:ext cx="8610374"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class Base {</a:t>
            </a:r>
          </a:p>
          <a:p>
            <a:pPr>
              <a:spcBef>
                <a:spcPct val="0"/>
              </a:spcBef>
              <a:buFontTx/>
              <a:buNone/>
            </a:pPr>
            <a:r>
              <a:rPr lang="en-US" altLang="en-US" sz="2400" b="0" dirty="0">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static</a:t>
            </a:r>
            <a:r>
              <a:rPr lang="en-US" altLang="en-US" sz="2400" b="0" dirty="0">
                <a:latin typeface="Courier New" panose="02070309020205020404" pitchFamily="49" charset="0"/>
                <a:cs typeface="Courier New" panose="02070309020205020404" pitchFamily="49" charset="0"/>
              </a:rPr>
              <a:t> void </a:t>
            </a:r>
            <a:r>
              <a:rPr lang="en-US" altLang="en-US" sz="2400" dirty="0">
                <a:latin typeface="Courier New" panose="02070309020205020404" pitchFamily="49" charset="0"/>
                <a:cs typeface="Courier New" panose="02070309020205020404" pitchFamily="49" charset="0"/>
              </a:rPr>
              <a:t>write() { </a:t>
            </a: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(“Base”); </a:t>
            </a:r>
          </a:p>
          <a:p>
            <a:pPr>
              <a:spcBef>
                <a:spcPct val="0"/>
              </a:spcBef>
              <a:buNone/>
            </a:pPr>
            <a:r>
              <a:rPr lang="en-US" altLang="en-US" sz="2400" b="0" dirty="0">
                <a:latin typeface="Courier New" panose="02070309020205020404" pitchFamily="49" charset="0"/>
                <a:cs typeface="Courier New" panose="02070309020205020404" pitchFamily="49" charset="0"/>
              </a:rPr>
              <a:t>}</a:t>
            </a:r>
          </a:p>
          <a:p>
            <a:pPr>
              <a:spcBef>
                <a:spcPct val="0"/>
              </a:spcBef>
              <a:buNone/>
            </a:pPr>
            <a:r>
              <a:rPr lang="en-US" altLang="en-US" sz="2400" b="0" dirty="0">
                <a:latin typeface="Courier New" panose="02070309020205020404" pitchFamily="49" charset="0"/>
                <a:cs typeface="Courier New" panose="02070309020205020404" pitchFamily="49" charset="0"/>
              </a:rPr>
              <a:t>class Sub extends Base {</a:t>
            </a:r>
          </a:p>
          <a:p>
            <a:pPr>
              <a:spcBef>
                <a:spcPct val="0"/>
              </a:spcBef>
              <a:buNone/>
            </a:pPr>
            <a:r>
              <a:rPr lang="en-US" altLang="en-US" sz="2400" b="0" dirty="0">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static</a:t>
            </a:r>
            <a:r>
              <a:rPr lang="en-US" altLang="en-US" sz="2400" b="0" dirty="0">
                <a:latin typeface="Courier New" panose="02070309020205020404" pitchFamily="49" charset="0"/>
                <a:cs typeface="Courier New" panose="02070309020205020404" pitchFamily="49" charset="0"/>
              </a:rPr>
              <a:t> void </a:t>
            </a:r>
            <a:r>
              <a:rPr lang="en-US" altLang="en-US" sz="2400" dirty="0">
                <a:latin typeface="Courier New" panose="02070309020205020404" pitchFamily="49" charset="0"/>
                <a:cs typeface="Courier New" panose="02070309020205020404" pitchFamily="49" charset="0"/>
              </a:rPr>
              <a:t>write() { </a:t>
            </a: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(“Sub”); </a:t>
            </a:r>
          </a:p>
          <a:p>
            <a:pPr>
              <a:spcBef>
                <a:spcPct val="0"/>
              </a:spcBef>
              <a:buNone/>
            </a:pPr>
            <a:r>
              <a:rPr lang="en-US" altLang="en-US" sz="2400" b="0" dirty="0">
                <a:latin typeface="Courier New" panose="02070309020205020404" pitchFamily="49" charset="0"/>
                <a:cs typeface="Courier New" panose="02070309020205020404" pitchFamily="49" charset="0"/>
              </a:rPr>
              <a:t>}</a:t>
            </a:r>
          </a:p>
          <a:p>
            <a:pPr>
              <a:spcBef>
                <a:spcPct val="0"/>
              </a:spcBef>
              <a:buNone/>
            </a:pPr>
            <a:endParaRPr lang="en-US" altLang="en-US" sz="2400" b="0" dirty="0">
              <a:latin typeface="Courier New" panose="02070309020205020404" pitchFamily="49" charset="0"/>
              <a:cs typeface="Courier New" panose="02070309020205020404" pitchFamily="49" charset="0"/>
            </a:endParaRPr>
          </a:p>
          <a:p>
            <a:pPr>
              <a:spcBef>
                <a:spcPct val="0"/>
              </a:spcBef>
              <a:buFontTx/>
              <a:buNone/>
            </a:pPr>
            <a:r>
              <a:rPr lang="en-US" altLang="en-US" sz="2400" dirty="0">
                <a:latin typeface="Courier New" panose="02070309020205020404" pitchFamily="49" charset="0"/>
                <a:cs typeface="Courier New" panose="02070309020205020404" pitchFamily="49" charset="0"/>
              </a:rPr>
              <a:t>// In the main method:</a:t>
            </a:r>
          </a:p>
          <a:p>
            <a:pPr>
              <a:spcBef>
                <a:spcPct val="0"/>
              </a:spcBef>
              <a:buFontTx/>
              <a:buNone/>
            </a:pPr>
            <a:r>
              <a:rPr lang="en-US" altLang="en-US" sz="2400" dirty="0">
                <a:solidFill>
                  <a:srgbClr val="0000FF"/>
                </a:solidFill>
                <a:latin typeface="Courier New" panose="02070309020205020404" pitchFamily="49" charset="0"/>
                <a:cs typeface="Courier New" panose="02070309020205020404" pitchFamily="49" charset="0"/>
              </a:rPr>
              <a:t>Base obj </a:t>
            </a:r>
            <a:r>
              <a:rPr lang="en-US" altLang="en-US" sz="2400" dirty="0">
                <a:latin typeface="Courier New" panose="02070309020205020404" pitchFamily="49" charset="0"/>
                <a:cs typeface="Courier New" panose="02070309020205020404" pitchFamily="49" charset="0"/>
              </a:rPr>
              <a:t>= </a:t>
            </a:r>
            <a:r>
              <a:rPr lang="en-US" altLang="en-US" sz="2400" dirty="0">
                <a:solidFill>
                  <a:srgbClr val="7030A0"/>
                </a:solidFill>
                <a:latin typeface="Courier New" panose="02070309020205020404" pitchFamily="49" charset="0"/>
                <a:cs typeface="Courier New" panose="02070309020205020404" pitchFamily="49" charset="0"/>
              </a:rPr>
              <a:t>new Base();</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0000FF"/>
                </a:solidFill>
                <a:latin typeface="Courier New" panose="02070309020205020404" pitchFamily="49" charset="0"/>
                <a:cs typeface="Courier New" panose="02070309020205020404" pitchFamily="49" charset="0"/>
              </a:rPr>
              <a:t>obj.write</a:t>
            </a:r>
            <a:r>
              <a:rPr lang="en-US" altLang="en-US" sz="2400" dirty="0">
                <a:solidFill>
                  <a:srgbClr val="0000FF"/>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a:p>
            <a:pPr>
              <a:spcBef>
                <a:spcPct val="0"/>
              </a:spcBef>
              <a:buFontTx/>
              <a:buNone/>
            </a:pPr>
            <a:r>
              <a:rPr lang="en-US" altLang="en-US" sz="2400" dirty="0">
                <a:latin typeface="Courier New" panose="02070309020205020404" pitchFamily="49" charset="0"/>
                <a:cs typeface="Courier New" panose="02070309020205020404" pitchFamily="49" charset="0"/>
              </a:rPr>
              <a:t>obj = </a:t>
            </a:r>
            <a:r>
              <a:rPr lang="en-US" altLang="en-US" sz="2400" dirty="0">
                <a:solidFill>
                  <a:srgbClr val="7030A0"/>
                </a:solidFill>
                <a:latin typeface="Courier New" panose="02070309020205020404" pitchFamily="49" charset="0"/>
                <a:cs typeface="Courier New" panose="02070309020205020404" pitchFamily="49" charset="0"/>
              </a:rPr>
              <a:t>new Sub();</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0000FF"/>
                </a:solidFill>
                <a:latin typeface="Courier New" panose="02070309020205020404" pitchFamily="49" charset="0"/>
                <a:cs typeface="Courier New" panose="02070309020205020404" pitchFamily="49" charset="0"/>
              </a:rPr>
              <a:t>obj.write</a:t>
            </a:r>
            <a:r>
              <a:rPr lang="en-US" altLang="en-US" sz="2400" dirty="0">
                <a:solidFill>
                  <a:srgbClr val="0000FF"/>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a:p>
            <a:pPr>
              <a:spcBef>
                <a:spcPct val="0"/>
              </a:spcBef>
              <a:buNone/>
            </a:pPr>
            <a:endParaRPr lang="en-US" altLang="en-US" sz="2400" dirty="0">
              <a:latin typeface="Courier New" panose="02070309020205020404" pitchFamily="49" charset="0"/>
              <a:cs typeface="Courier New" panose="02070309020205020404" pitchFamily="49" charset="0"/>
            </a:endParaRPr>
          </a:p>
        </p:txBody>
      </p:sp>
      <p:sp>
        <p:nvSpPr>
          <p:cNvPr id="111621" name="Rectangle 1"/>
          <p:cNvSpPr>
            <a:spLocks noChangeArrowheads="1"/>
          </p:cNvSpPr>
          <p:nvPr/>
        </p:nvSpPr>
        <p:spPr bwMode="auto">
          <a:xfrm>
            <a:off x="0" y="22868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400" dirty="0">
                <a:latin typeface="Tahoma" panose="020B0604030504040204" pitchFamily="34" charset="0"/>
              </a:rPr>
              <a:t>Calls of </a:t>
            </a:r>
            <a:r>
              <a:rPr lang="en-US" altLang="en-US" sz="2400" dirty="0">
                <a:solidFill>
                  <a:srgbClr val="612A8A"/>
                </a:solidFill>
                <a:latin typeface="Tahoma" panose="020B0604030504040204" pitchFamily="34" charset="0"/>
              </a:rPr>
              <a:t>hidden methods </a:t>
            </a:r>
            <a:r>
              <a:rPr lang="en-US" altLang="en-US" sz="2400" dirty="0">
                <a:latin typeface="Tahoma" panose="020B0604030504040204" pitchFamily="34" charset="0"/>
              </a:rPr>
              <a:t>are locked down </a:t>
            </a:r>
            <a:r>
              <a:rPr lang="en-US" altLang="en-US" sz="2400" dirty="0">
                <a:solidFill>
                  <a:srgbClr val="612A8A"/>
                </a:solidFill>
                <a:latin typeface="Tahoma" panose="020B0604030504040204" pitchFamily="34" charset="0"/>
              </a:rPr>
              <a:t>at compile time</a:t>
            </a:r>
            <a:r>
              <a:rPr lang="en-US" altLang="en-US" sz="2400" dirty="0">
                <a:latin typeface="Tahoma" panose="020B0604030504040204" pitchFamily="34" charset="0"/>
              </a:rPr>
              <a:t>.</a:t>
            </a:r>
          </a:p>
        </p:txBody>
      </p:sp>
      <p:sp>
        <p:nvSpPr>
          <p:cNvPr id="3" name="TextBox 1">
            <a:extLst>
              <a:ext uri="{FF2B5EF4-FFF2-40B4-BE49-F238E27FC236}">
                <a16:creationId xmlns:a16="http://schemas.microsoft.com/office/drawing/2014/main" id="{B2494B61-B305-9CD7-5CBC-006D8DAC0ACC}"/>
              </a:ext>
            </a:extLst>
          </p:cNvPr>
          <p:cNvSpPr txBox="1">
            <a:spLocks noChangeArrowheads="1"/>
          </p:cNvSpPr>
          <p:nvPr/>
        </p:nvSpPr>
        <p:spPr bwMode="auto">
          <a:xfrm>
            <a:off x="5486376" y="4190980"/>
            <a:ext cx="1297599"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chemeClr val="accent5">
                    <a:lumMod val="50000"/>
                  </a:schemeClr>
                </a:solidFill>
                <a:latin typeface="Arial" panose="020B0604020202020204" pitchFamily="34" charset="0"/>
              </a:rPr>
              <a:t>OUTPUT:</a:t>
            </a:r>
          </a:p>
          <a:p>
            <a:pPr>
              <a:spcBef>
                <a:spcPct val="0"/>
              </a:spcBef>
              <a:buFontTx/>
              <a:buNone/>
            </a:pPr>
            <a:r>
              <a:rPr lang="en-US" altLang="en-US" sz="2400" dirty="0">
                <a:solidFill>
                  <a:srgbClr val="0000FF"/>
                </a:solidFill>
                <a:latin typeface="Courier New" panose="02070309020205020404" pitchFamily="49" charset="0"/>
                <a:cs typeface="Courier New" panose="02070309020205020404" pitchFamily="49" charset="0"/>
              </a:rPr>
              <a:t>Base</a:t>
            </a:r>
          </a:p>
          <a:p>
            <a:pPr>
              <a:spcBef>
                <a:spcPct val="0"/>
              </a:spcBef>
              <a:buFontTx/>
              <a:buNone/>
            </a:pPr>
            <a:endParaRPr lang="en-US" altLang="en-US" sz="2400" dirty="0">
              <a:solidFill>
                <a:srgbClr val="0000FF"/>
              </a:solidFill>
              <a:latin typeface="Courier New" panose="02070309020205020404" pitchFamily="49" charset="0"/>
              <a:cs typeface="Courier New" panose="02070309020205020404" pitchFamily="49" charset="0"/>
            </a:endParaRPr>
          </a:p>
          <a:p>
            <a:pPr>
              <a:spcBef>
                <a:spcPct val="0"/>
              </a:spcBef>
              <a:buFontTx/>
              <a:buNone/>
            </a:pPr>
            <a:r>
              <a:rPr lang="en-US" altLang="en-US" sz="2400" dirty="0">
                <a:solidFill>
                  <a:srgbClr val="0000FF"/>
                </a:solidFill>
                <a:latin typeface="Courier New" panose="02070309020205020404" pitchFamily="49" charset="0"/>
                <a:cs typeface="Courier New" panose="02070309020205020404" pitchFamily="49" charset="0"/>
              </a:rPr>
              <a:t>Base</a:t>
            </a:r>
          </a:p>
        </p:txBody>
      </p:sp>
    </p:spTree>
    <p:extLst>
      <p:ext uri="{BB962C8B-B14F-4D97-AF65-F5344CB8AC3E}">
        <p14:creationId xmlns:p14="http://schemas.microsoft.com/office/powerpoint/2010/main" val="217179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1721662" y="3626729"/>
            <a:ext cx="7193624"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FontTx/>
              <a:buNone/>
            </a:pPr>
            <a:r>
              <a:rPr lang="en-US" altLang="en-US" sz="2400" b="0" dirty="0">
                <a:latin typeface="Courier New" panose="02070309020205020404" pitchFamily="49" charset="0"/>
                <a:cs typeface="Courier New" panose="02070309020205020404" pitchFamily="49" charset="0"/>
              </a:rPr>
              <a:t>{</a:t>
            </a:r>
          </a:p>
          <a:p>
            <a:pPr>
              <a:spcBef>
                <a:spcPct val="0"/>
              </a:spcBef>
              <a:buFontTx/>
              <a:buNone/>
            </a:pPr>
            <a:r>
              <a:rPr lang="en-US" altLang="en-US" sz="2400" b="0" dirty="0">
                <a:latin typeface="Courier New" panose="02070309020205020404" pitchFamily="49" charset="0"/>
                <a:cs typeface="Courier New" panose="02070309020205020404" pitchFamily="49" charset="0"/>
              </a:rPr>
              <a:t>    </a:t>
            </a:r>
            <a:r>
              <a:rPr lang="en-US" altLang="en-US" sz="2400" b="0" dirty="0" err="1">
                <a:latin typeface="Courier New" panose="02070309020205020404" pitchFamily="49" charset="0"/>
                <a:cs typeface="Courier New" panose="02070309020205020404" pitchFamily="49" charset="0"/>
              </a:rPr>
              <a:t>System.out.println</a:t>
            </a:r>
            <a:r>
              <a:rPr lang="en-US" altLang="en-US" sz="2400" b="0" dirty="0">
                <a:latin typeface="Courier New" panose="02070309020205020404" pitchFamily="49" charset="0"/>
                <a:cs typeface="Courier New" panose="02070309020205020404" pitchFamily="49" charset="0"/>
              </a:rPr>
              <a:t>(“object”);</a:t>
            </a:r>
          </a:p>
          <a:p>
            <a:pPr>
              <a:spcBef>
                <a:spcPct val="0"/>
              </a:spcBef>
              <a:buFontTx/>
              <a:buNone/>
            </a:pPr>
            <a:r>
              <a:rPr lang="en-US" altLang="en-US" sz="2400" b="0" dirty="0">
                <a:latin typeface="Courier New" panose="02070309020205020404" pitchFamily="49" charset="0"/>
                <a:cs typeface="Courier New" panose="02070309020205020404" pitchFamily="49" charset="0"/>
              </a:rPr>
              <a:t>}</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FontTx/>
              <a:buNone/>
            </a:pPr>
            <a:r>
              <a:rPr lang="en-US" altLang="en-US" sz="2400" b="0" dirty="0">
                <a:latin typeface="Courier New" panose="02070309020205020404" pitchFamily="49" charset="0"/>
                <a:cs typeface="Courier New" panose="02070309020205020404" pitchFamily="49" charset="0"/>
              </a:rPr>
              <a:t>{</a:t>
            </a:r>
          </a:p>
          <a:p>
            <a:pPr>
              <a:spcBef>
                <a:spcPct val="0"/>
              </a:spcBef>
              <a:buFontTx/>
              <a:buNone/>
            </a:pPr>
            <a:r>
              <a:rPr lang="en-US" altLang="en-US" sz="2400" b="0" dirty="0">
                <a:latin typeface="Courier New" panose="02070309020205020404" pitchFamily="49" charset="0"/>
                <a:cs typeface="Courier New" panose="02070309020205020404" pitchFamily="49" charset="0"/>
              </a:rPr>
              <a:t>   </a:t>
            </a:r>
            <a:r>
              <a:rPr lang="en-US" altLang="en-US" sz="2400" b="0" dirty="0" err="1">
                <a:latin typeface="Courier New" panose="02070309020205020404" pitchFamily="49" charset="0"/>
                <a:cs typeface="Courier New" panose="02070309020205020404" pitchFamily="49" charset="0"/>
              </a:rPr>
              <a:t>System.out.println</a:t>
            </a:r>
            <a:r>
              <a:rPr lang="en-US" altLang="en-US" sz="2400" b="0" dirty="0">
                <a:latin typeface="Courier New" panose="02070309020205020404" pitchFamily="49" charset="0"/>
                <a:cs typeface="Courier New" panose="02070309020205020404" pitchFamily="49" charset="0"/>
              </a:rPr>
              <a:t>(“string”);</a:t>
            </a:r>
          </a:p>
          <a:p>
            <a:pPr>
              <a:spcBef>
                <a:spcPct val="0"/>
              </a:spcBef>
              <a:buFontTx/>
              <a:buNone/>
            </a:pPr>
            <a:r>
              <a:rPr lang="en-US" altLang="en-US" sz="2400" b="0" dirty="0">
                <a:latin typeface="Courier New" panose="02070309020205020404" pitchFamily="49" charset="0"/>
                <a:cs typeface="Courier New" panose="02070309020205020404" pitchFamily="49" charset="0"/>
              </a:rPr>
              <a:t>}</a:t>
            </a:r>
          </a:p>
        </p:txBody>
      </p:sp>
      <p:sp>
        <p:nvSpPr>
          <p:cNvPr id="111621" name="Rectangle 1"/>
          <p:cNvSpPr>
            <a:spLocks noChangeArrowheads="1"/>
          </p:cNvSpPr>
          <p:nvPr/>
        </p:nvSpPr>
        <p:spPr bwMode="auto">
          <a:xfrm>
            <a:off x="381110" y="335913"/>
            <a:ext cx="838178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3600" dirty="0">
                <a:latin typeface="Tahoma" panose="020B0604030504040204" pitchFamily="34" charset="0"/>
              </a:rPr>
              <a:t>Calls of </a:t>
            </a:r>
            <a:r>
              <a:rPr lang="en-US" altLang="en-US" sz="3600" dirty="0">
                <a:solidFill>
                  <a:srgbClr val="612A8A"/>
                </a:solidFill>
                <a:latin typeface="Tahoma" panose="020B0604030504040204" pitchFamily="34" charset="0"/>
              </a:rPr>
              <a:t>overloaded methods </a:t>
            </a:r>
            <a:r>
              <a:rPr lang="en-US" altLang="en-US" sz="3600" dirty="0">
                <a:latin typeface="Tahoma" panose="020B0604030504040204" pitchFamily="34" charset="0"/>
              </a:rPr>
              <a:t>are locked down </a:t>
            </a:r>
            <a:r>
              <a:rPr lang="en-US" altLang="en-US" sz="3600" dirty="0">
                <a:solidFill>
                  <a:srgbClr val="612A8A"/>
                </a:solidFill>
                <a:latin typeface="Tahoma" panose="020B0604030504040204" pitchFamily="34" charset="0"/>
              </a:rPr>
              <a:t>at compile time</a:t>
            </a:r>
            <a:r>
              <a:rPr lang="en-US" altLang="en-US" sz="36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2452663" y="1981238"/>
            <a:ext cx="5441035" cy="1277273"/>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Object x = new String(“hi”);</a:t>
            </a:r>
          </a:p>
          <a:p>
            <a:r>
              <a:rPr lang="en-US" altLang="en-US" sz="2400" dirty="0">
                <a:solidFill>
                  <a:srgbClr val="612A8A"/>
                </a:solidFill>
                <a:latin typeface="Courier New" panose="02070309020205020404" pitchFamily="49" charset="0"/>
                <a:cs typeface="Courier New" panose="02070309020205020404" pitchFamily="49" charset="0"/>
              </a:rPr>
              <a:t>write(x);</a:t>
            </a:r>
          </a:p>
        </p:txBody>
      </p:sp>
      <p:sp>
        <p:nvSpPr>
          <p:cNvPr id="9" name="Rectangle 8">
            <a:extLst>
              <a:ext uri="{FF2B5EF4-FFF2-40B4-BE49-F238E27FC236}">
                <a16:creationId xmlns:a16="http://schemas.microsoft.com/office/drawing/2014/main" id="{4723CE23-03DF-4A37-ADF4-397C362A1FDC}"/>
              </a:ext>
            </a:extLst>
          </p:cNvPr>
          <p:cNvSpPr/>
          <p:nvPr/>
        </p:nvSpPr>
        <p:spPr>
          <a:xfrm>
            <a:off x="327133" y="2405386"/>
            <a:ext cx="1569145" cy="707886"/>
          </a:xfrm>
          <a:prstGeom prst="rect">
            <a:avLst/>
          </a:prstGeom>
        </p:spPr>
        <p:txBody>
          <a:bodyPr wrap="square">
            <a:spAutoFit/>
          </a:bodyPr>
          <a:lstStyle/>
          <a:p>
            <a:pPr algn="ctr">
              <a:spcAft>
                <a:spcPts val="600"/>
              </a:spcAft>
            </a:pPr>
            <a:r>
              <a:rPr lang="en-US" altLang="en-US" dirty="0">
                <a:solidFill>
                  <a:srgbClr val="00B0F0"/>
                </a:solidFill>
                <a:cs typeface="Arial" panose="020B0604020202020204" pitchFamily="34" charset="0"/>
              </a:rPr>
              <a:t>Reference type</a:t>
            </a:r>
          </a:p>
        </p:txBody>
      </p:sp>
      <p:cxnSp>
        <p:nvCxnSpPr>
          <p:cNvPr id="4" name="Straight Arrow Connector 3">
            <a:extLst>
              <a:ext uri="{FF2B5EF4-FFF2-40B4-BE49-F238E27FC236}">
                <a16:creationId xmlns:a16="http://schemas.microsoft.com/office/drawing/2014/main" id="{E3C40D54-3411-4BC8-8D33-E18FA4C72484}"/>
              </a:ext>
            </a:extLst>
          </p:cNvPr>
          <p:cNvCxnSpPr>
            <a:cxnSpLocks/>
          </p:cNvCxnSpPr>
          <p:nvPr/>
        </p:nvCxnSpPr>
        <p:spPr bwMode="auto">
          <a:xfrm flipV="1">
            <a:off x="1874057" y="2644916"/>
            <a:ext cx="578607" cy="5998"/>
          </a:xfrm>
          <a:prstGeom prst="straightConnector1">
            <a:avLst/>
          </a:prstGeom>
          <a:solidFill>
            <a:schemeClr val="accent1"/>
          </a:solidFill>
          <a:ln w="28575"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964256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9.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4&quot;/&gt;&lt;property id=&quot;20307&quot; value=&quot;603&quot;/&gt;&lt;/object&gt;&lt;object type=&quot;3&quot; unique_id=&quot;10005&quot;&gt;&lt;property id=&quot;20148&quot; value=&quot;5&quot;/&gt;&lt;property id=&quot;20300&quot; value=&quot;Slide 5&quot;/&gt;&lt;property id=&quot;20307&quot; value=&quot;604&quot;/&gt;&lt;/object&gt;&lt;object type=&quot;3&quot; unique_id=&quot;10006&quot;&gt;&lt;property id=&quot;20148&quot; value=&quot;5&quot;/&gt;&lt;property id=&quot;20300&quot; value=&quot;Slide 6&quot;/&gt;&lt;property id=&quot;20307&quot; value=&quot;555&quot;/&gt;&lt;/object&gt;&lt;object type=&quot;3&quot; unique_id=&quot;10007&quot;&gt;&lt;property id=&quot;20148&quot; value=&quot;5&quot;/&gt;&lt;property id=&quot;20300&quot; value=&quot;Slide 7&quot;/&gt;&lt;property id=&quot;20307&quot; value=&quot;424&quot;/&gt;&lt;/object&gt;&lt;object type=&quot;3&quot; unique_id=&quot;10008&quot;&gt;&lt;property id=&quot;20148&quot; value=&quot;5&quot;/&gt;&lt;property id=&quot;20300&quot; value=&quot;Slide 8&quot;/&gt;&lt;property id=&quot;20307&quot; value=&quot;480&quot;/&gt;&lt;/object&gt;&lt;object type=&quot;3&quot; unique_id=&quot;10009&quot;&gt;&lt;property id=&quot;20148&quot; value=&quot;5&quot;/&gt;&lt;property id=&quot;20300&quot; value=&quot;Slide 9&quot;/&gt;&lt;property id=&quot;20307&quot; value=&quot;545&quot;/&gt;&lt;/object&gt;&lt;object type=&quot;3&quot; unique_id=&quot;10010&quot;&gt;&lt;property id=&quot;20148&quot; value=&quot;5&quot;/&gt;&lt;property id=&quot;20300&quot; value=&quot;Slide 10&quot;/&gt;&lt;property id=&quot;20307&quot; value=&quot;528&quot;/&gt;&lt;/object&gt;&lt;object type=&quot;3&quot; unique_id=&quot;10011&quot;&gt;&lt;property id=&quot;20148&quot; value=&quot;5&quot;/&gt;&lt;property id=&quot;20300&quot; value=&quot;Slide 11&quot;/&gt;&lt;property id=&quot;20307&quot; value=&quot;481&quot;/&gt;&lt;/object&gt;&lt;object type=&quot;3&quot; unique_id=&quot;10012&quot;&gt;&lt;property id=&quot;20148&quot; value=&quot;5&quot;/&gt;&lt;property id=&quot;20300&quot; value=&quot;Slide 12&quot;/&gt;&lt;property id=&quot;20307&quot; value=&quot;538&quot;/&gt;&lt;/object&gt;&lt;object type=&quot;3&quot; unique_id=&quot;10013&quot;&gt;&lt;property id=&quot;20148&quot; value=&quot;5&quot;/&gt;&lt;property id=&quot;20300&quot; value=&quot;Slide 13&quot;/&gt;&lt;property id=&quot;20307&quot; value=&quot;482&quot;/&gt;&lt;/object&gt;&lt;object type=&quot;3&quot; unique_id=&quot;10014&quot;&gt;&lt;property id=&quot;20148&quot; value=&quot;5&quot;/&gt;&lt;property id=&quot;20300&quot; value=&quot;Slide 14&quot;/&gt;&lt;property id=&quot;20307&quot; value=&quot;520&quot;/&gt;&lt;/object&gt;&lt;object type=&quot;3&quot; unique_id=&quot;10015&quot;&gt;&lt;property id=&quot;20148&quot; value=&quot;5&quot;/&gt;&lt;property id=&quot;20300&quot; value=&quot;Slide 15&quot;/&gt;&lt;property id=&quot;20307&quot; value=&quot;428&quot;/&gt;&lt;/object&gt;&lt;object type=&quot;3&quot; unique_id=&quot;10016&quot;&gt;&lt;property id=&quot;20148&quot; value=&quot;5&quot;/&gt;&lt;property id=&quot;20300&quot; value=&quot;Slide 16&quot;/&gt;&lt;property id=&quot;20307&quot; value=&quot;526&quot;/&gt;&lt;/object&gt;&lt;object type=&quot;3&quot; unique_id=&quot;10017&quot;&gt;&lt;property id=&quot;20148&quot; value=&quot;5&quot;/&gt;&lt;property id=&quot;20300&quot; value=&quot;Slide 17&quot;/&gt;&lt;property id=&quot;20307&quot; value=&quot;559&quot;/&gt;&lt;/object&gt;&lt;object type=&quot;3&quot; unique_id=&quot;10018&quot;&gt;&lt;property id=&quot;20148&quot; value=&quot;5&quot;/&gt;&lt;property id=&quot;20300&quot; value=&quot;Slide 18&quot;/&gt;&lt;property id=&quot;20307&quot; value=&quot;527&quot;/&gt;&lt;/object&gt;&lt;object type=&quot;3&quot; unique_id=&quot;10019&quot;&gt;&lt;property id=&quot;20148&quot; value=&quot;5&quot;/&gt;&lt;property id=&quot;20300&quot; value=&quot;Slide 19&quot;/&gt;&lt;property id=&quot;20307&quot; value=&quot;429&quot;/&gt;&lt;/object&gt;&lt;object type=&quot;3&quot; unique_id=&quot;10020&quot;&gt;&lt;property id=&quot;20148&quot; value=&quot;5&quot;/&gt;&lt;property id=&quot;20300&quot; value=&quot;Slide 20&quot;/&gt;&lt;property id=&quot;20307&quot; value=&quot;434&quot;/&gt;&lt;/object&gt;&lt;object type=&quot;3&quot; unique_id=&quot;10021&quot;&gt;&lt;property id=&quot;20148&quot; value=&quot;5&quot;/&gt;&lt;property id=&quot;20300&quot; value=&quot;Slide 21&quot;/&gt;&lt;property id=&quot;20307&quot; value=&quot;436&quot;/&gt;&lt;/object&gt;&lt;object type=&quot;3&quot; unique_id=&quot;10022&quot;&gt;&lt;property id=&quot;20148&quot; value=&quot;5&quot;/&gt;&lt;property id=&quot;20300&quot; value=&quot;Slide 22&quot;/&gt;&lt;property id=&quot;20307&quot; value=&quot;494&quot;/&gt;&lt;/object&gt;&lt;object type=&quot;3&quot; unique_id=&quot;10023&quot;&gt;&lt;property id=&quot;20148&quot; value=&quot;5&quot;/&gt;&lt;property id=&quot;20300&quot; value=&quot;Slide 23&quot;/&gt;&lt;property id=&quot;20307&quot; value=&quot;557&quot;/&gt;&lt;/object&gt;&lt;object type=&quot;3&quot; unique_id=&quot;10024&quot;&gt;&lt;property id=&quot;20148&quot; value=&quot;5&quot;/&gt;&lt;property id=&quot;20300&quot; value=&quot;Slide 24&quot;/&gt;&lt;property id=&quot;20307&quot; value=&quot;539&quot;/&gt;&lt;/object&gt;&lt;object type=&quot;3&quot; unique_id=&quot;10025&quot;&gt;&lt;property id=&quot;20148&quot; value=&quot;5&quot;/&gt;&lt;property id=&quot;20300&quot; value=&quot;Slide 25&quot;/&gt;&lt;property id=&quot;20307&quot; value=&quot;605&quot;/&gt;&lt;/object&gt;&lt;object type=&quot;3&quot; unique_id=&quot;10026&quot;&gt;&lt;property id=&quot;20148&quot; value=&quot;5&quot;/&gt;&lt;property id=&quot;20300&quot; value=&quot;Slide 26&quot;/&gt;&lt;property id=&quot;20307&quot; value=&quot;435&quot;/&gt;&lt;/object&gt;&lt;object type=&quot;3&quot; unique_id=&quot;10027&quot;&gt;&lt;property id=&quot;20148&quot; value=&quot;5&quot;/&gt;&lt;property id=&quot;20300&quot; value=&quot;Slide 27&quot;/&gt;&lt;property id=&quot;20307&quot; value=&quot;607&quot;/&gt;&lt;/object&gt;&lt;object type=&quot;3&quot; unique_id=&quot;10028&quot;&gt;&lt;property id=&quot;20148&quot; value=&quot;5&quot;/&gt;&lt;property id=&quot;20300&quot; value=&quot;Slide 28&quot;/&gt;&lt;property id=&quot;20307&quot; value=&quot;558&quot;/&gt;&lt;/object&gt;&lt;object type=&quot;3&quot; unique_id=&quot;10029&quot;&gt;&lt;property id=&quot;20148&quot; value=&quot;5&quot;/&gt;&lt;property id=&quot;20300&quot; value=&quot;Slide 29&quot;/&gt;&lt;property id=&quot;20307&quot; value=&quot;606&quot;/&gt;&lt;/object&gt;&lt;object type=&quot;3&quot; unique_id=&quot;10030&quot;&gt;&lt;property id=&quot;20148&quot; value=&quot;5&quot;/&gt;&lt;property id=&quot;20300&quot; value=&quot;Slide 30&quot;/&gt;&lt;property id=&quot;20307&quot; value=&quot;546&quot;/&gt;&lt;/object&gt;&lt;object type=&quot;3&quot; unique_id=&quot;10031&quot;&gt;&lt;property id=&quot;20148&quot; value=&quot;5&quot;/&gt;&lt;property id=&quot;20300&quot; value=&quot;Slide 31&quot;/&gt;&lt;property id=&quot;20307&quot; value=&quot;547&quot;/&gt;&lt;/object&gt;&lt;object type=&quot;3&quot; unique_id=&quot;10032&quot;&gt;&lt;property id=&quot;20148&quot; value=&quot;5&quot;/&gt;&lt;property id=&quot;20300&quot; value=&quot;Slide 32&quot;/&gt;&lt;property id=&quot;20307&quot; value=&quot;549&quot;/&gt;&lt;/object&gt;&lt;object type=&quot;3&quot; unique_id=&quot;10033&quot;&gt;&lt;property id=&quot;20148&quot; value=&quot;5&quot;/&gt;&lt;property id=&quot;20300&quot; value=&quot;Slide 33&quot;/&gt;&lt;property id=&quot;20307&quot; value=&quot;551&quot;/&gt;&lt;/object&gt;&lt;object type=&quot;3&quot; unique_id=&quot;10034&quot;&gt;&lt;property id=&quot;20148&quot; value=&quot;5&quot;/&gt;&lt;property id=&quot;20300&quot; value=&quot;Slide 34&quot;/&gt;&lt;property id=&quot;20307&quot; value=&quot;550&quot;/&gt;&lt;/object&gt;&lt;object type=&quot;3&quot; unique_id=&quot;10035&quot;&gt;&lt;property id=&quot;20148&quot; value=&quot;5&quot;/&gt;&lt;property id=&quot;20300&quot; value=&quot;Slide 35&quot;/&gt;&lt;property id=&quot;20307&quot; value=&quot;548&quot;/&gt;&lt;/object&gt;&lt;object type=&quot;3&quot; unique_id=&quot;10036&quot;&gt;&lt;property id=&quot;20148&quot; value=&quot;5&quot;/&gt;&lt;property id=&quot;20300&quot; value=&quot;Slide 59&quot;/&gt;&lt;property id=&quot;20307&quot; value=&quot;544&quot;/&gt;&lt;/object&gt;&lt;object type=&quot;3&quot; unique_id=&quot;10037&quot;&gt;&lt;property id=&quot;20148&quot; value=&quot;5&quot;/&gt;&lt;property id=&quot;20300&quot; value=&quot;Slide 47&quot;/&gt;&lt;property id=&quot;20307&quot; value=&quot;556&quot;/&gt;&lt;/object&gt;&lt;object type=&quot;3&quot; unique_id=&quot;10038&quot;&gt;&lt;property id=&quot;20148&quot; value=&quot;5&quot;/&gt;&lt;property id=&quot;20300&quot; value=&quot;Slide 36&quot;/&gt;&lt;property id=&quot;20307&quot; value=&quot;493&quot;/&gt;&lt;/object&gt;&lt;object type=&quot;3&quot; unique_id=&quot;10039&quot;&gt;&lt;property id=&quot;20148&quot; value=&quot;5&quot;/&gt;&lt;property id=&quot;20300&quot; value=&quot;Slide 37&quot;/&gt;&lt;property id=&quot;20307&quot; value=&quot;535&quot;/&gt;&lt;/object&gt;&lt;object type=&quot;3&quot; unique_id=&quot;10040&quot;&gt;&lt;property id=&quot;20148&quot; value=&quot;5&quot;/&gt;&lt;property id=&quot;20300&quot; value=&quot;Slide 38&quot;/&gt;&lt;property id=&quot;20307&quot; value=&quot;537&quot;/&gt;&lt;/object&gt;&lt;object type=&quot;3&quot; unique_id=&quot;10041&quot;&gt;&lt;property id=&quot;20148&quot; value=&quot;5&quot;/&gt;&lt;property id=&quot;20300&quot; value=&quot;Slide 39&quot;/&gt;&lt;property id=&quot;20307&quot; value=&quot;536&quot;/&gt;&lt;/object&gt;&lt;object type=&quot;3&quot; unique_id=&quot;10042&quot;&gt;&lt;property id=&quot;20148&quot; value=&quot;5&quot;/&gt;&lt;property id=&quot;20300&quot; value=&quot;Slide 40&quot;/&gt;&lt;property id=&quot;20307&quot; value=&quot;540&quot;/&gt;&lt;/object&gt;&lt;object type=&quot;3&quot; unique_id=&quot;10043&quot;&gt;&lt;property id=&quot;20148&quot; value=&quot;5&quot;/&gt;&lt;property id=&quot;20300&quot; value=&quot;Slide 41&quot;/&gt;&lt;property id=&quot;20307&quot; value=&quot;524&quot;/&gt;&lt;/object&gt;&lt;object type=&quot;3&quot; unique_id=&quot;10044&quot;&gt;&lt;property id=&quot;20148&quot; value=&quot;5&quot;/&gt;&lt;property id=&quot;20300&quot; value=&quot;Slide 42&quot;/&gt;&lt;property id=&quot;20307&quot; value=&quot;560&quot;/&gt;&lt;/object&gt;&lt;object type=&quot;3&quot; unique_id=&quot;10045&quot;&gt;&lt;property id=&quot;20148&quot; value=&quot;5&quot;/&gt;&lt;property id=&quot;20300&quot; value=&quot;Slide 43&quot;/&gt;&lt;property id=&quot;20307&quot; value=&quot;529&quot;/&gt;&lt;/object&gt;&lt;object type=&quot;3&quot; unique_id=&quot;10046&quot;&gt;&lt;property id=&quot;20148&quot; value=&quot;5&quot;/&gt;&lt;property id=&quot;20300&quot; value=&quot;Slide 44&quot;/&gt;&lt;property id=&quot;20307&quot; value=&quot;530&quot;/&gt;&lt;/object&gt;&lt;object type=&quot;3&quot; unique_id=&quot;10047&quot;&gt;&lt;property id=&quot;20148&quot; value=&quot;5&quot;/&gt;&lt;property id=&quot;20300&quot; value=&quot;Slide 45&quot;/&gt;&lt;property id=&quot;20307&quot; value=&quot;531&quot;/&gt;&lt;/object&gt;&lt;object type=&quot;3&quot; unique_id=&quot;10048&quot;&gt;&lt;property id=&quot;20148&quot; value=&quot;5&quot;/&gt;&lt;property id=&quot;20300&quot; value=&quot;Slide 46&quot;/&gt;&lt;property id=&quot;20307&quot; value=&quot;532&quot;/&gt;&lt;/object&gt;&lt;object type=&quot;3&quot; unique_id=&quot;10049&quot;&gt;&lt;property id=&quot;20148&quot; value=&quot;5&quot;/&gt;&lt;property id=&quot;20300&quot; value=&quot;Slide 50&quot;/&gt;&lt;property id=&quot;20307&quot; value=&quot;552&quot;/&gt;&lt;/object&gt;&lt;object type=&quot;3&quot; unique_id=&quot;10050&quot;&gt;&lt;property id=&quot;20148&quot; value=&quot;5&quot;/&gt;&lt;property id=&quot;20300&quot; value=&quot;Slide 51&quot;/&gt;&lt;property id=&quot;20307&quot; value=&quot;554&quot;/&gt;&lt;/object&gt;&lt;object type=&quot;3&quot; unique_id=&quot;10051&quot;&gt;&lt;property id=&quot;20148&quot; value=&quot;5&quot;/&gt;&lt;property id=&quot;20300&quot; value=&quot;Slide 52&quot;/&gt;&lt;property id=&quot;20307&quot; value=&quot;553&quot;/&gt;&lt;/object&gt;&lt;object type=&quot;3&quot; unique_id=&quot;10052&quot;&gt;&lt;property id=&quot;20148&quot; value=&quot;5&quot;/&gt;&lt;property id=&quot;20300&quot; value=&quot;Slide 53&quot;/&gt;&lt;property id=&quot;20307&quot; value=&quot;533&quot;/&gt;&lt;/object&gt;&lt;object type=&quot;3&quot; unique_id=&quot;10053&quot;&gt;&lt;property id=&quot;20148&quot; value=&quot;5&quot;/&gt;&lt;property id=&quot;20300&quot; value=&quot;Slide 54&quot;/&gt;&lt;property id=&quot;20307&quot; value=&quot;519&quot;/&gt;&lt;/object&gt;&lt;object type=&quot;3&quot; unique_id=&quot;10054&quot;&gt;&lt;property id=&quot;20148&quot; value=&quot;5&quot;/&gt;&lt;property id=&quot;20300&quot; value=&quot;Slide 55&quot;/&gt;&lt;property id=&quot;20307&quot; value=&quot;541&quot;/&gt;&lt;/object&gt;&lt;object type=&quot;3&quot; unique_id=&quot;10055&quot;&gt;&lt;property id=&quot;20148&quot; value=&quot;5&quot;/&gt;&lt;property id=&quot;20300&quot; value=&quot;Slide 56&quot;/&gt;&lt;property id=&quot;20307&quot; value=&quot;542&quot;/&gt;&lt;/object&gt;&lt;object type=&quot;3&quot; unique_id=&quot;10056&quot;&gt;&lt;property id=&quot;20148&quot; value=&quot;5&quot;/&gt;&lt;property id=&quot;20300&quot; value=&quot;Slide 57&quot;/&gt;&lt;property id=&quot;20307&quot; value=&quot;543&quot;/&gt;&lt;/object&gt;&lt;object type=&quot;3&quot; unique_id=&quot;10505&quot;&gt;&lt;property id=&quot;20148&quot; value=&quot;5&quot;/&gt;&lt;property id=&quot;20300&quot; value=&quot;Slide 48&quot;/&gt;&lt;property id=&quot;20307&quot; value=&quot;608&quot;/&gt;&lt;/object&gt;&lt;object type=&quot;3&quot; unique_id=&quot;10506&quot;&gt;&lt;property id=&quot;20148&quot; value=&quot;5&quot;/&gt;&lt;property id=&quot;20300&quot; value=&quot;Slide 49&quot;/&gt;&lt;property id=&quot;20307&quot; value=&quot;609&quot;/&gt;&lt;/object&gt;&lt;object type=&quot;3&quot; unique_id=&quot;15586&quot;&gt;&lt;property id=&quot;20148&quot; value=&quot;5&quot;/&gt;&lt;property id=&quot;20300&quot; value=&quot;Slide 58&quot;/&gt;&lt;property id=&quot;20307&quot; value=&quot;610&quot;/&gt;&lt;/object&gt;&lt;object type=&quot;3&quot; unique_id=&quot;15765&quot;&gt;&lt;property id=&quot;20148&quot; value=&quot;5&quot;/&gt;&lt;property id=&quot;20300&quot; value=&quot;Slide 2&quot;/&gt;&lt;property id=&quot;20307&quot; value=&quot;611&quot;/&gt;&lt;/object&gt;&lt;object type=&quot;3&quot; unique_id=&quot;15947&quot;&gt;&lt;property id=&quot;20148&quot; value=&quot;5&quot;/&gt;&lt;property id=&quot;20300&quot; value=&quot;Slide 3&quot;/&gt;&lt;property id=&quot;20307&quot; value=&quot;612&quot;/&gt;&lt;/object&gt;&lt;/object&gt;&lt;object type=&quot;8&quot; unique_id=&quot;10112&quot;&gt;&lt;/object&gt;&lt;/object&gt;&lt;/database&gt;"/>
  <p:tag name="SECTOMILLISECCONVERTED" val="1"/>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ank Presentation">
  <a:themeElements>
    <a:clrScheme name="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1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1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ank Presentation">
  <a:themeElements>
    <a:clrScheme name="2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2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2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2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ank Presentation">
  <a:themeElements>
    <a:clrScheme name="3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3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3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3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Blank Presentation">
  <a:themeElements>
    <a:clrScheme name="4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4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4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4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4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4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4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4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4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Blank Presentation">
  <a:themeElements>
    <a:clrScheme name="5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5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5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5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5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5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5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5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5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Blank Presentation">
  <a:themeElements>
    <a:clrScheme name="6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6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6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6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6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6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6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6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6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Blank Presentation">
  <a:themeElements>
    <a:clrScheme name="7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7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7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7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7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7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7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7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7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Blank Presentation">
  <a:themeElements>
    <a:clrScheme name="8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8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8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8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8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8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8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8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8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Blank Presentation">
  <a:themeElements>
    <a:clrScheme name="9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9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9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9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9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9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9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9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9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Blank Presentation">
  <a:themeElements>
    <a:clrScheme name="10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0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0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0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10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0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0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0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10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Blank Presentation">
  <a:themeElements>
    <a:clrScheme name="1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1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1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11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1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1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1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11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4.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5.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6.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7.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8.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9.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0.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C:\MSOffice\Templates\Blank Presentation.pot</Template>
  <TotalTime>1632</TotalTime>
  <Pages>0</Pages>
  <Words>3660</Words>
  <Characters>0</Characters>
  <Application>Microsoft Office PowerPoint</Application>
  <DocSecurity>0</DocSecurity>
  <PresentationFormat>On-screen Show (4:3)</PresentationFormat>
  <Lines>0</Lines>
  <Paragraphs>645</Paragraphs>
  <Slides>42</Slides>
  <Notes>26</Notes>
  <HiddenSlides>0</HiddenSlides>
  <MMClips>0</MMClips>
  <ScaleCrop>false</ScaleCrop>
  <HeadingPairs>
    <vt:vector size="6" baseType="variant">
      <vt:variant>
        <vt:lpstr>Fonts Used</vt:lpstr>
      </vt:variant>
      <vt:variant>
        <vt:i4>11</vt:i4>
      </vt:variant>
      <vt:variant>
        <vt:lpstr>Theme</vt:lpstr>
      </vt:variant>
      <vt:variant>
        <vt:i4>12</vt:i4>
      </vt:variant>
      <vt:variant>
        <vt:lpstr>Slide Titles</vt:lpstr>
      </vt:variant>
      <vt:variant>
        <vt:i4>42</vt:i4>
      </vt:variant>
    </vt:vector>
  </HeadingPairs>
  <TitlesOfParts>
    <vt:vector size="65" baseType="lpstr">
      <vt:lpstr>Abadi</vt:lpstr>
      <vt:lpstr>Arial</vt:lpstr>
      <vt:lpstr>Arial Black</vt:lpstr>
      <vt:lpstr>Candara</vt:lpstr>
      <vt:lpstr>Comic Sans MS</vt:lpstr>
      <vt:lpstr>Courier New</vt:lpstr>
      <vt:lpstr>Droid Sans</vt:lpstr>
      <vt:lpstr>Impact</vt:lpstr>
      <vt:lpstr>Tahoma</vt:lpstr>
      <vt:lpstr>Times New Roman</vt:lpstr>
      <vt:lpstr>Wingdings</vt:lpstr>
      <vt:lpstr>Blank Presentation</vt:lpstr>
      <vt:lpstr>1_Blank Presentation</vt:lpstr>
      <vt:lpstr>2_Blank Presentation</vt:lpstr>
      <vt:lpstr>3_Blank Presentation</vt:lpstr>
      <vt:lpstr>4_Blank Presentation</vt:lpstr>
      <vt:lpstr>5_Blank Presentation</vt:lpstr>
      <vt:lpstr>6_Blank Presentation</vt:lpstr>
      <vt:lpstr>7_Blank Presentation</vt:lpstr>
      <vt:lpstr>8_Blank Presentation</vt:lpstr>
      <vt:lpstr>9_Blank Presentation</vt:lpstr>
      <vt:lpstr>10_Blank Presentation</vt:lpstr>
      <vt:lpstr>11_Blank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Modifiers combinable with abstract</vt:lpstr>
      <vt:lpstr>Which are allowed?</vt:lpstr>
      <vt:lpstr>Which are allowed?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classes</dc:title>
  <dc:subject>Abstract Classes</dc:subject>
  <dc:creator>A+ Computer Science</dc:creator>
  <cp:keywords>www.apluscompsci.com</cp:keywords>
  <dc:description>Abstract Classes_x000d_
©A+ Computer Science_x000d_
www.apluscompsci.com</dc:description>
  <cp:lastModifiedBy>Weldon Jasik</cp:lastModifiedBy>
  <cp:revision>681</cp:revision>
  <cp:lastPrinted>2015-03-03T16:01:47Z</cp:lastPrinted>
  <dcterms:created xsi:type="dcterms:W3CDTF">1995-06-17T23:31:02Z</dcterms:created>
  <dcterms:modified xsi:type="dcterms:W3CDTF">2024-10-22T17:17:03Z</dcterms:modified>
  <cp:category>www.apluscompsci.com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1033-9.1.0.4746</vt:lpwstr>
  </property>
</Properties>
</file>