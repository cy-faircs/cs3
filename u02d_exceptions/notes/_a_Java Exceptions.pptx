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794" r:id="rId2"/>
  </p:sldMasterIdLst>
  <p:notesMasterIdLst>
    <p:notesMasterId r:id="rId69"/>
  </p:notesMasterIdLst>
  <p:handoutMasterIdLst>
    <p:handoutMasterId r:id="rId70"/>
  </p:handoutMasterIdLst>
  <p:sldIdLst>
    <p:sldId id="256" r:id="rId3"/>
    <p:sldId id="615" r:id="rId4"/>
    <p:sldId id="429" r:id="rId5"/>
    <p:sldId id="625" r:id="rId6"/>
    <p:sldId id="622" r:id="rId7"/>
    <p:sldId id="602" r:id="rId8"/>
    <p:sldId id="676" r:id="rId9"/>
    <p:sldId id="293" r:id="rId10"/>
    <p:sldId id="436" r:id="rId11"/>
    <p:sldId id="410" r:id="rId12"/>
    <p:sldId id="659" r:id="rId13"/>
    <p:sldId id="688" r:id="rId14"/>
    <p:sldId id="411" r:id="rId15"/>
    <p:sldId id="695" r:id="rId16"/>
    <p:sldId id="660" r:id="rId17"/>
    <p:sldId id="677" r:id="rId18"/>
    <p:sldId id="432" r:id="rId19"/>
    <p:sldId id="419" r:id="rId20"/>
    <p:sldId id="420" r:id="rId21"/>
    <p:sldId id="418" r:id="rId22"/>
    <p:sldId id="421" r:id="rId23"/>
    <p:sldId id="667" r:id="rId24"/>
    <p:sldId id="668" r:id="rId25"/>
    <p:sldId id="669" r:id="rId26"/>
    <p:sldId id="696" r:id="rId27"/>
    <p:sldId id="697" r:id="rId28"/>
    <p:sldId id="678" r:id="rId29"/>
    <p:sldId id="694" r:id="rId30"/>
    <p:sldId id="683" r:id="rId31"/>
    <p:sldId id="682" r:id="rId32"/>
    <p:sldId id="681" r:id="rId33"/>
    <p:sldId id="679" r:id="rId34"/>
    <p:sldId id="680" r:id="rId35"/>
    <p:sldId id="699" r:id="rId36"/>
    <p:sldId id="698" r:id="rId37"/>
    <p:sldId id="413" r:id="rId38"/>
    <p:sldId id="684" r:id="rId39"/>
    <p:sldId id="277" r:id="rId40"/>
    <p:sldId id="424" r:id="rId41"/>
    <p:sldId id="631" r:id="rId42"/>
    <p:sldId id="426" r:id="rId43"/>
    <p:sldId id="425" r:id="rId44"/>
    <p:sldId id="666" r:id="rId45"/>
    <p:sldId id="627" r:id="rId46"/>
    <p:sldId id="691" r:id="rId47"/>
    <p:sldId id="690" r:id="rId48"/>
    <p:sldId id="692" r:id="rId49"/>
    <p:sldId id="693" r:id="rId50"/>
    <p:sldId id="281" r:id="rId51"/>
    <p:sldId id="687" r:id="rId52"/>
    <p:sldId id="675" r:id="rId53"/>
    <p:sldId id="685" r:id="rId54"/>
    <p:sldId id="686" r:id="rId55"/>
    <p:sldId id="673" r:id="rId56"/>
    <p:sldId id="674" r:id="rId57"/>
    <p:sldId id="700" r:id="rId58"/>
    <p:sldId id="414" r:id="rId59"/>
    <p:sldId id="671" r:id="rId60"/>
    <p:sldId id="430" r:id="rId61"/>
    <p:sldId id="431" r:id="rId62"/>
    <p:sldId id="265" r:id="rId63"/>
    <p:sldId id="672" r:id="rId64"/>
    <p:sldId id="263" r:id="rId65"/>
    <p:sldId id="670" r:id="rId66"/>
    <p:sldId id="701" r:id="rId67"/>
    <p:sldId id="608" r:id="rId68"/>
  </p:sldIdLst>
  <p:sldSz cx="9144000" cy="6858000" type="screen4x3"/>
  <p:notesSz cx="6858000" cy="9144000"/>
  <p:defaultTextStyle>
    <a:defPPr>
      <a:defRPr lang="en-US"/>
    </a:defPPr>
    <a:lvl1pPr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5pPr>
    <a:lvl6pPr marL="2286000" algn="l" defTabSz="914400" rtl="0" eaLnBrk="1" latinLnBrk="0" hangingPunct="1">
      <a:defRPr sz="2400" b="1" kern="1200">
        <a:solidFill>
          <a:schemeClr val="tx1"/>
        </a:solidFill>
        <a:latin typeface="Arial" panose="020B0604020202020204" pitchFamily="34" charset="0"/>
        <a:ea typeface="+mn-ea"/>
        <a:cs typeface="+mn-cs"/>
      </a:defRPr>
    </a:lvl6pPr>
    <a:lvl7pPr marL="2743200" algn="l" defTabSz="914400" rtl="0" eaLnBrk="1" latinLnBrk="0" hangingPunct="1">
      <a:defRPr sz="2400" b="1" kern="1200">
        <a:solidFill>
          <a:schemeClr val="tx1"/>
        </a:solidFill>
        <a:latin typeface="Arial" panose="020B0604020202020204" pitchFamily="34" charset="0"/>
        <a:ea typeface="+mn-ea"/>
        <a:cs typeface="+mn-cs"/>
      </a:defRPr>
    </a:lvl7pPr>
    <a:lvl8pPr marL="3200400" algn="l" defTabSz="914400" rtl="0" eaLnBrk="1" latinLnBrk="0" hangingPunct="1">
      <a:defRPr sz="2400" b="1" kern="1200">
        <a:solidFill>
          <a:schemeClr val="tx1"/>
        </a:solidFill>
        <a:latin typeface="Arial" panose="020B0604020202020204" pitchFamily="34" charset="0"/>
        <a:ea typeface="+mn-ea"/>
        <a:cs typeface="+mn-cs"/>
      </a:defRPr>
    </a:lvl8pPr>
    <a:lvl9pPr marL="3657600" algn="l" defTabSz="914400" rtl="0" eaLnBrk="1" latinLnBrk="0" hangingPunct="1">
      <a:defRPr sz="24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66"/>
    <a:srgbClr val="CC3300"/>
    <a:srgbClr val="006600"/>
    <a:srgbClr val="0066FF"/>
    <a:srgbClr val="D1D1F0"/>
    <a:srgbClr val="0000CC"/>
    <a:srgbClr val="F2F2F2"/>
    <a:srgbClr val="00CC99"/>
    <a:srgbClr val="FF0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78178" autoAdjust="0"/>
  </p:normalViewPr>
  <p:slideViewPr>
    <p:cSldViewPr>
      <p:cViewPr varScale="1">
        <p:scale>
          <a:sx n="61" d="100"/>
          <a:sy n="61" d="100"/>
        </p:scale>
        <p:origin x="2141"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0" d="100"/>
          <a:sy n="80" d="100"/>
        </p:scale>
        <p:origin x="-2058"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0473CF79-BB27-4E82-957A-B198CC0BAB35}"/>
              </a:ext>
            </a:extLst>
          </p:cNvPr>
          <p:cNvSpPr>
            <a:spLocks noGrp="1" noChangeArrowheads="1"/>
          </p:cNvSpPr>
          <p:nvPr>
            <p:ph type="hdr" sz="quarter"/>
          </p:nvPr>
        </p:nvSpPr>
        <p:spPr bwMode="auto">
          <a:xfrm>
            <a:off x="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63491" name="Rectangle 3">
            <a:extLst>
              <a:ext uri="{FF2B5EF4-FFF2-40B4-BE49-F238E27FC236}">
                <a16:creationId xmlns:a16="http://schemas.microsoft.com/office/drawing/2014/main" id="{EE008C48-E1E5-4FFE-B162-665A17541736}"/>
              </a:ext>
            </a:extLst>
          </p:cNvPr>
          <p:cNvSpPr>
            <a:spLocks noGrp="1" noChangeArrowheads="1"/>
          </p:cNvSpPr>
          <p:nvPr>
            <p:ph type="dt" sz="quarter" idx="1"/>
          </p:nvPr>
        </p:nvSpPr>
        <p:spPr bwMode="auto">
          <a:xfrm>
            <a:off x="388620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63492" name="Rectangle 4">
            <a:extLst>
              <a:ext uri="{FF2B5EF4-FFF2-40B4-BE49-F238E27FC236}">
                <a16:creationId xmlns:a16="http://schemas.microsoft.com/office/drawing/2014/main" id="{0324BE96-8E67-415F-A668-012F347CBC76}"/>
              </a:ext>
            </a:extLst>
          </p:cNvPr>
          <p:cNvSpPr>
            <a:spLocks noGrp="1" noChangeArrowheads="1"/>
          </p:cNvSpPr>
          <p:nvPr>
            <p:ph type="ftr" sz="quarter" idx="2"/>
          </p:nvPr>
        </p:nvSpPr>
        <p:spPr bwMode="auto">
          <a:xfrm>
            <a:off x="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63493" name="Rectangle 5">
            <a:extLst>
              <a:ext uri="{FF2B5EF4-FFF2-40B4-BE49-F238E27FC236}">
                <a16:creationId xmlns:a16="http://schemas.microsoft.com/office/drawing/2014/main" id="{5909AE81-4875-44D3-BDE0-11C4AF6FC370}"/>
              </a:ext>
            </a:extLst>
          </p:cNvPr>
          <p:cNvSpPr>
            <a:spLocks noGrp="1" noChangeArrowheads="1"/>
          </p:cNvSpPr>
          <p:nvPr>
            <p:ph type="sldNum" sz="quarter" idx="3"/>
          </p:nvPr>
        </p:nvSpPr>
        <p:spPr bwMode="auto">
          <a:xfrm>
            <a:off x="388620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sz="1200"/>
            </a:lvl1pPr>
          </a:lstStyle>
          <a:p>
            <a:fld id="{F1E97F81-E293-4B35-BB31-8A3320B158C3}"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D7E7F6BC-8344-4D76-AA61-65A2173C2B2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Rectangle 3">
            <a:extLst>
              <a:ext uri="{FF2B5EF4-FFF2-40B4-BE49-F238E27FC236}">
                <a16:creationId xmlns:a16="http://schemas.microsoft.com/office/drawing/2014/main" id="{BDD7D4D5-DA8A-40D1-9998-4B2887F3202F}"/>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5E08FC3-4887-47C5-B179-E42C71670AAC}"/>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Rectangle 3">
            <a:extLst>
              <a:ext uri="{FF2B5EF4-FFF2-40B4-BE49-F238E27FC236}">
                <a16:creationId xmlns:a16="http://schemas.microsoft.com/office/drawing/2014/main" id="{BEDF9074-F61B-4229-9C35-B34A9E47E594}"/>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I.e. An exception is an error message.</a:t>
            </a:r>
          </a:p>
        </p:txBody>
      </p:sp>
    </p:spTree>
    <p:extLst>
      <p:ext uri="{BB962C8B-B14F-4D97-AF65-F5344CB8AC3E}">
        <p14:creationId xmlns:p14="http://schemas.microsoft.com/office/powerpoint/2010/main" val="792074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i="0" dirty="0">
                <a:solidFill>
                  <a:srgbClr val="555555"/>
                </a:solidFill>
                <a:effectLst/>
                <a:latin typeface="Inter"/>
              </a:rPr>
              <a:t>Handling Exceptions </a:t>
            </a:r>
            <a:r>
              <a:rPr lang="en-US" sz="1200" b="0" i="0" dirty="0">
                <a:solidFill>
                  <a:srgbClr val="555555"/>
                </a:solidFill>
                <a:effectLst/>
                <a:latin typeface="Inter"/>
              </a:rPr>
              <a:t>is one of the most basic and fundamental things a developer should know by heart.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dirty="0">
                <a:solidFill>
                  <a:srgbClr val="555555"/>
                </a:solidFill>
                <a:effectLst/>
                <a:latin typeface="Inter"/>
              </a:rPr>
              <a:t>Sadly, this is often overlooked, and the importance of exception handling is underestimated - it's as important as the rest of the code.</a:t>
            </a:r>
          </a:p>
        </p:txBody>
      </p:sp>
    </p:spTree>
    <p:extLst>
      <p:ext uri="{BB962C8B-B14F-4D97-AF65-F5344CB8AC3E}">
        <p14:creationId xmlns:p14="http://schemas.microsoft.com/office/powerpoint/2010/main" val="100797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t>We need a mechanism to check for problem where it could occur but fix the problem at a higher level of the program.</a:t>
            </a:r>
          </a:p>
          <a:p>
            <a:endParaRPr lang="en-US" dirty="0"/>
          </a:p>
        </p:txBody>
      </p:sp>
    </p:spTree>
    <p:extLst>
      <p:ext uri="{BB962C8B-B14F-4D97-AF65-F5344CB8AC3E}">
        <p14:creationId xmlns:p14="http://schemas.microsoft.com/office/powerpoint/2010/main" val="3387512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5854182F-2941-F39A-42A4-E9DDAC9B0092}"/>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CFA23B5-DF3F-430E-B12C-F068B6710267}" type="slidenum">
              <a:rPr lang="en-US" altLang="en-US"/>
              <a:pPr/>
              <a:t>8</a:t>
            </a:fld>
            <a:endParaRPr lang="en-US" altLang="en-US"/>
          </a:p>
        </p:txBody>
      </p:sp>
      <p:sp>
        <p:nvSpPr>
          <p:cNvPr id="15363" name="Rectangle 2">
            <a:extLst>
              <a:ext uri="{FF2B5EF4-FFF2-40B4-BE49-F238E27FC236}">
                <a16:creationId xmlns:a16="http://schemas.microsoft.com/office/drawing/2014/main" id="{5510E7D0-EFDA-DA14-E94B-1DC8DF49345E}"/>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8E3E65DE-E5AE-157C-F67A-23F3C196EC12}"/>
              </a:ext>
            </a:extLst>
          </p:cNvPr>
          <p:cNvSpPr>
            <a:spLocks noGrp="1" noChangeArrowheads="1"/>
          </p:cNvSpPr>
          <p:nvPr>
            <p:ph type="body" idx="1"/>
          </p:nvPr>
        </p:nvSpPr>
        <p:spPr>
          <a:noFill/>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243388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EE0458B-3D39-43F2-84A0-66833730DE3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a:extLst>
              <a:ext uri="{FF2B5EF4-FFF2-40B4-BE49-F238E27FC236}">
                <a16:creationId xmlns:a16="http://schemas.microsoft.com/office/drawing/2014/main" id="{661B8DB7-EEE4-4BAA-8943-D21381DF9063}"/>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222356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EE0458B-3D39-43F2-84A0-66833730DE3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a:extLst>
              <a:ext uri="{FF2B5EF4-FFF2-40B4-BE49-F238E27FC236}">
                <a16:creationId xmlns:a16="http://schemas.microsoft.com/office/drawing/2014/main" id="{661B8DB7-EEE4-4BAA-8943-D21381DF9063}"/>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EE0458B-3D39-43F2-84A0-66833730DE3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a:extLst>
              <a:ext uri="{FF2B5EF4-FFF2-40B4-BE49-F238E27FC236}">
                <a16:creationId xmlns:a16="http://schemas.microsoft.com/office/drawing/2014/main" id="{661B8DB7-EEE4-4BAA-8943-D21381DF9063}"/>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solidFill>
                  <a:schemeClr val="accent2">
                    <a:lumMod val="75000"/>
                  </a:schemeClr>
                </a:solidFill>
              </a:rPr>
              <a:t>Note that, like </a:t>
            </a:r>
            <a:r>
              <a:rPr lang="en-US" sz="1200" dirty="0" err="1">
                <a:solidFill>
                  <a:schemeClr val="accent2">
                    <a:lumMod val="75000"/>
                  </a:schemeClr>
                </a:solidFill>
              </a:rPr>
              <a:t>RuntimeExceptions</a:t>
            </a:r>
            <a:r>
              <a:rPr lang="en-US" sz="1200" dirty="0">
                <a:solidFill>
                  <a:schemeClr val="accent2">
                    <a:lumMod val="75000"/>
                  </a:schemeClr>
                </a:solidFill>
              </a:rPr>
              <a:t>, Errors don’t have to obey the Declare/Catch rule and are therefore not checked by the compiler. However, when I use the phrase “unchecked exceptions” I mean </a:t>
            </a:r>
            <a:r>
              <a:rPr lang="en-US" sz="1200" dirty="0" err="1">
                <a:solidFill>
                  <a:schemeClr val="accent2">
                    <a:lumMod val="75000"/>
                  </a:schemeClr>
                </a:solidFill>
              </a:rPr>
              <a:t>RuntimeExceptions</a:t>
            </a:r>
            <a:r>
              <a:rPr lang="en-US" sz="1200" dirty="0">
                <a:solidFill>
                  <a:schemeClr val="accent2">
                    <a:lumMod val="75000"/>
                  </a:schemeClr>
                </a:solidFill>
              </a:rPr>
              <a:t>.</a:t>
            </a:r>
          </a:p>
          <a:p>
            <a:endParaRPr lang="en-US" altLang="en-US" dirty="0"/>
          </a:p>
        </p:txBody>
      </p:sp>
    </p:spTree>
    <p:extLst>
      <p:ext uri="{BB962C8B-B14F-4D97-AF65-F5344CB8AC3E}">
        <p14:creationId xmlns:p14="http://schemas.microsoft.com/office/powerpoint/2010/main" val="435874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9509F-8D66-EA2B-9059-770375DED6DC}"/>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7B59A126-15DE-8C62-4725-EE3EF4B6887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a:extLst>
              <a:ext uri="{FF2B5EF4-FFF2-40B4-BE49-F238E27FC236}">
                <a16:creationId xmlns:a16="http://schemas.microsoft.com/office/drawing/2014/main" id="{06C69E68-3C6F-F0F8-21F6-CE8834D0558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solidFill>
                  <a:schemeClr val="accent2">
                    <a:lumMod val="75000"/>
                  </a:schemeClr>
                </a:solidFill>
              </a:rPr>
              <a:t>Note that, like </a:t>
            </a:r>
            <a:r>
              <a:rPr lang="en-US" sz="1200" dirty="0" err="1">
                <a:solidFill>
                  <a:schemeClr val="accent2">
                    <a:lumMod val="75000"/>
                  </a:schemeClr>
                </a:solidFill>
              </a:rPr>
              <a:t>RuntimeExceptions</a:t>
            </a:r>
            <a:r>
              <a:rPr lang="en-US" sz="1200" dirty="0">
                <a:solidFill>
                  <a:schemeClr val="accent2">
                    <a:lumMod val="75000"/>
                  </a:schemeClr>
                </a:solidFill>
              </a:rPr>
              <a:t>, Errors don’t have to obey the Declare/Catch rule and are therefore not checked by the compiler. However, when I use the phrase “unchecked exceptions” I mean </a:t>
            </a:r>
            <a:r>
              <a:rPr lang="en-US" sz="1200" dirty="0" err="1">
                <a:solidFill>
                  <a:schemeClr val="accent2">
                    <a:lumMod val="75000"/>
                  </a:schemeClr>
                </a:solidFill>
              </a:rPr>
              <a:t>RuntimeExceptions</a:t>
            </a:r>
            <a:r>
              <a:rPr lang="en-US" sz="1200" dirty="0">
                <a:solidFill>
                  <a:schemeClr val="accent2">
                    <a:lumMod val="75000"/>
                  </a:schemeClr>
                </a:solidFill>
              </a:rPr>
              <a:t>.</a:t>
            </a:r>
          </a:p>
          <a:p>
            <a:endParaRPr lang="en-US" altLang="en-US" dirty="0"/>
          </a:p>
        </p:txBody>
      </p:sp>
    </p:spTree>
    <p:extLst>
      <p:ext uri="{BB962C8B-B14F-4D97-AF65-F5344CB8AC3E}">
        <p14:creationId xmlns:p14="http://schemas.microsoft.com/office/powerpoint/2010/main" val="674568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00FD4CDA-EE0F-4E36-83B5-CAC03973750C}"/>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Rectangle 3">
            <a:extLst>
              <a:ext uri="{FF2B5EF4-FFF2-40B4-BE49-F238E27FC236}">
                <a16:creationId xmlns:a16="http://schemas.microsoft.com/office/drawing/2014/main" id="{CA2D39AC-C151-495D-A783-17B789A586D0}"/>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spcBef>
                <a:spcPct val="0"/>
              </a:spcBef>
              <a:spcAft>
                <a:spcPts val="1200"/>
              </a:spcAft>
              <a:buFontTx/>
              <a:buNone/>
            </a:pPr>
            <a:r>
              <a:rPr lang="en-US" altLang="en-US" sz="1200" dirty="0" err="1">
                <a:latin typeface="Arial" panose="020B0604020202020204" pitchFamily="34" charset="0"/>
              </a:rPr>
              <a:t>RuntimeExceptions</a:t>
            </a:r>
            <a:r>
              <a:rPr lang="en-US" altLang="en-US" sz="1200" dirty="0">
                <a:latin typeface="Arial" panose="020B0604020202020204" pitchFamily="34" charset="0"/>
              </a:rPr>
              <a:t> are </a:t>
            </a:r>
            <a:r>
              <a:rPr lang="en-US" altLang="en-US" sz="1200" u="sng" dirty="0">
                <a:latin typeface="Arial" panose="020B0604020202020204" pitchFamily="34" charset="0"/>
              </a:rPr>
              <a:t>unchecked</a:t>
            </a:r>
            <a:r>
              <a:rPr lang="en-US" altLang="en-US" sz="1200" dirty="0">
                <a:latin typeface="Arial" panose="020B0604020202020204" pitchFamily="34" charset="0"/>
              </a:rPr>
              <a:t> exceptions. </a:t>
            </a:r>
          </a:p>
          <a:p>
            <a:pPr algn="l">
              <a:spcBef>
                <a:spcPct val="0"/>
              </a:spcBef>
              <a:spcAft>
                <a:spcPts val="1200"/>
              </a:spcAft>
              <a:buFontTx/>
              <a:buNone/>
            </a:pPr>
            <a:r>
              <a:rPr lang="en-US" altLang="en-US" sz="1200" dirty="0">
                <a:latin typeface="Arial" panose="020B0604020202020204" pitchFamily="34" charset="0"/>
              </a:rPr>
              <a:t>All other Exceptions are </a:t>
            </a:r>
            <a:r>
              <a:rPr lang="en-US" altLang="en-US" sz="1200" u="sng" dirty="0">
                <a:latin typeface="Arial" panose="020B0604020202020204" pitchFamily="34" charset="0"/>
              </a:rPr>
              <a:t>checked</a:t>
            </a:r>
            <a:r>
              <a:rPr lang="en-US" altLang="en-US" sz="1200" dirty="0">
                <a:latin typeface="Arial" panose="020B0604020202020204" pitchFamily="34" charset="0"/>
              </a:rPr>
              <a:t> exceptions.</a:t>
            </a:r>
          </a:p>
          <a:p>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CD81-1954-EC9D-713A-142AE1FB2E1B}"/>
            </a:ext>
          </a:extLst>
        </p:cNvPr>
        <p:cNvGrpSpPr/>
        <p:nvPr/>
      </p:nvGrpSpPr>
      <p:grpSpPr>
        <a:xfrm>
          <a:off x="0" y="0"/>
          <a:ext cx="0" cy="0"/>
          <a:chOff x="0" y="0"/>
          <a:chExt cx="0" cy="0"/>
        </a:xfrm>
      </p:grpSpPr>
      <p:sp>
        <p:nvSpPr>
          <p:cNvPr id="25602" name="Rectangle 2">
            <a:extLst>
              <a:ext uri="{FF2B5EF4-FFF2-40B4-BE49-F238E27FC236}">
                <a16:creationId xmlns:a16="http://schemas.microsoft.com/office/drawing/2014/main" id="{909F303C-05D6-4876-C7F0-1ACAD3E4935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Rectangle 3">
            <a:extLst>
              <a:ext uri="{FF2B5EF4-FFF2-40B4-BE49-F238E27FC236}">
                <a16:creationId xmlns:a16="http://schemas.microsoft.com/office/drawing/2014/main" id="{9F5E0E8D-BAF2-88A0-799C-8BF7ECAA5758}"/>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spcBef>
                <a:spcPct val="0"/>
              </a:spcBef>
              <a:spcAft>
                <a:spcPts val="1200"/>
              </a:spcAft>
              <a:buFontTx/>
              <a:buNone/>
            </a:pPr>
            <a:r>
              <a:rPr lang="en-US" altLang="en-US" sz="1200" dirty="0" err="1">
                <a:latin typeface="Arial" panose="020B0604020202020204" pitchFamily="34" charset="0"/>
              </a:rPr>
              <a:t>RuntimeExceptions</a:t>
            </a:r>
            <a:r>
              <a:rPr lang="en-US" altLang="en-US" sz="1200" dirty="0">
                <a:latin typeface="Arial" panose="020B0604020202020204" pitchFamily="34" charset="0"/>
              </a:rPr>
              <a:t> are </a:t>
            </a:r>
            <a:r>
              <a:rPr lang="en-US" altLang="en-US" sz="1200" u="sng" dirty="0">
                <a:latin typeface="Arial" panose="020B0604020202020204" pitchFamily="34" charset="0"/>
              </a:rPr>
              <a:t>unchecked</a:t>
            </a:r>
            <a:r>
              <a:rPr lang="en-US" altLang="en-US" sz="1200" dirty="0">
                <a:latin typeface="Arial" panose="020B0604020202020204" pitchFamily="34" charset="0"/>
              </a:rPr>
              <a:t> exceptions. </a:t>
            </a:r>
          </a:p>
          <a:p>
            <a:pPr algn="l">
              <a:spcBef>
                <a:spcPct val="0"/>
              </a:spcBef>
              <a:spcAft>
                <a:spcPts val="1200"/>
              </a:spcAft>
              <a:buFontTx/>
              <a:buNone/>
            </a:pPr>
            <a:r>
              <a:rPr lang="en-US" altLang="en-US" sz="1200" dirty="0">
                <a:latin typeface="Arial" panose="020B0604020202020204" pitchFamily="34" charset="0"/>
              </a:rPr>
              <a:t>All other Exceptions are </a:t>
            </a:r>
            <a:r>
              <a:rPr lang="en-US" altLang="en-US" sz="1200" u="sng" dirty="0">
                <a:latin typeface="Arial" panose="020B0604020202020204" pitchFamily="34" charset="0"/>
              </a:rPr>
              <a:t>checked</a:t>
            </a:r>
            <a:r>
              <a:rPr lang="en-US" altLang="en-US" sz="1200" dirty="0">
                <a:latin typeface="Arial" panose="020B0604020202020204" pitchFamily="34" charset="0"/>
              </a:rPr>
              <a:t> exceptions.</a:t>
            </a:r>
          </a:p>
          <a:p>
            <a:endParaRPr lang="en-US" altLang="en-US" dirty="0"/>
          </a:p>
        </p:txBody>
      </p:sp>
    </p:spTree>
    <p:extLst>
      <p:ext uri="{BB962C8B-B14F-4D97-AF65-F5344CB8AC3E}">
        <p14:creationId xmlns:p14="http://schemas.microsoft.com/office/powerpoint/2010/main" val="16234102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3817009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2F5B5-8ADF-004C-C221-E6AE0406B7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E5EC5-E729-086C-F1A1-542915C7BD3B}"/>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B5EB401-9118-542B-95CE-9146E54FB2CE}"/>
              </a:ext>
            </a:extLst>
          </p:cNvPr>
          <p:cNvSpPr>
            <a:spLocks noGrp="1"/>
          </p:cNvSpPr>
          <p:nvPr>
            <p:ph type="body" idx="1"/>
          </p:nvPr>
        </p:nvSpPr>
        <p:spPr>
          <a:xfrm>
            <a:off x="685800" y="4400550"/>
            <a:ext cx="5486400" cy="3600450"/>
          </a:xfrm>
          <a:prstGeom prst="rect">
            <a:avLst/>
          </a:prstGeom>
        </p:spPr>
        <p:txBody>
          <a:bodyPr/>
          <a:lstStyle/>
          <a:p>
            <a:r>
              <a:rPr lang="en-US" sz="1200" kern="1200" dirty="0">
                <a:solidFill>
                  <a:schemeClr val="tx1"/>
                </a:solidFill>
                <a:effectLst/>
                <a:latin typeface="Times New Roman" pitchFamily="18" charset="0"/>
                <a:ea typeface="+mn-ea"/>
                <a:cs typeface="+mn-cs"/>
              </a:rPr>
              <a:t>The </a:t>
            </a:r>
            <a:r>
              <a:rPr lang="en-US" sz="1200" kern="1200" dirty="0" err="1">
                <a:solidFill>
                  <a:schemeClr val="tx1"/>
                </a:solidFill>
                <a:effectLst/>
                <a:latin typeface="Times New Roman" pitchFamily="18" charset="0"/>
                <a:ea typeface="+mn-ea"/>
                <a:cs typeface="+mn-cs"/>
              </a:rPr>
              <a:t>PascalsTriangle</a:t>
            </a:r>
            <a:r>
              <a:rPr lang="en-US" sz="1200" kern="1200" dirty="0">
                <a:solidFill>
                  <a:schemeClr val="tx1"/>
                </a:solidFill>
                <a:effectLst/>
                <a:latin typeface="Times New Roman" pitchFamily="18" charset="0"/>
                <a:ea typeface="+mn-ea"/>
                <a:cs typeface="+mn-cs"/>
              </a:rPr>
              <a:t> lab would be another good example to use.</a:t>
            </a:r>
          </a:p>
        </p:txBody>
      </p:sp>
    </p:spTree>
    <p:extLst>
      <p:ext uri="{BB962C8B-B14F-4D97-AF65-F5344CB8AC3E}">
        <p14:creationId xmlns:p14="http://schemas.microsoft.com/office/powerpoint/2010/main" val="350600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2A1071A-DCB3-42E4-B1D1-ADA0039B3206}"/>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a:extLst>
              <a:ext uri="{FF2B5EF4-FFF2-40B4-BE49-F238E27FC236}">
                <a16:creationId xmlns:a16="http://schemas.microsoft.com/office/drawing/2014/main" id="{F29D5083-972B-4325-9161-6BCB4DA5FC9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3966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579DD9E-A121-4748-85A9-8387C49AC8EA}"/>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a:extLst>
              <a:ext uri="{FF2B5EF4-FFF2-40B4-BE49-F238E27FC236}">
                <a16:creationId xmlns:a16="http://schemas.microsoft.com/office/drawing/2014/main" id="{B1D8212B-35F8-4C19-A0BF-7B71D8CD9E9B}"/>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9260155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AE3E1D88-0E88-4109-A9D9-322B5B3FF867}"/>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a:extLst>
              <a:ext uri="{FF2B5EF4-FFF2-40B4-BE49-F238E27FC236}">
                <a16:creationId xmlns:a16="http://schemas.microsoft.com/office/drawing/2014/main" id="{9EB446D9-5C9F-465E-810E-1CDC80EF489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04365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C979719-2E80-4EC3-9E43-4027D08F71B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Rectangle 3">
            <a:extLst>
              <a:ext uri="{FF2B5EF4-FFF2-40B4-BE49-F238E27FC236}">
                <a16:creationId xmlns:a16="http://schemas.microsoft.com/office/drawing/2014/main" id="{9B15C9CE-CCD0-41AB-915C-CF5B536AECDB}"/>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865681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246CE92-F462-434C-8A0F-238CBA719E4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a:extLst>
              <a:ext uri="{FF2B5EF4-FFF2-40B4-BE49-F238E27FC236}">
                <a16:creationId xmlns:a16="http://schemas.microsoft.com/office/drawing/2014/main" id="{6960E525-F30C-4B3A-BA09-92D78C0681CA}"/>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3983775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246CE92-F462-434C-8A0F-238CBA719E4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a:extLst>
              <a:ext uri="{FF2B5EF4-FFF2-40B4-BE49-F238E27FC236}">
                <a16:creationId xmlns:a16="http://schemas.microsoft.com/office/drawing/2014/main" id="{6960E525-F30C-4B3A-BA09-92D78C0681CA}"/>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259773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246CE92-F462-434C-8A0F-238CBA719E4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a:extLst>
              <a:ext uri="{FF2B5EF4-FFF2-40B4-BE49-F238E27FC236}">
                <a16:creationId xmlns:a16="http://schemas.microsoft.com/office/drawing/2014/main" id="{6960E525-F30C-4B3A-BA09-92D78C0681CA}"/>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972013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246CE92-F462-434C-8A0F-238CBA719E4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a:extLst>
              <a:ext uri="{FF2B5EF4-FFF2-40B4-BE49-F238E27FC236}">
                <a16:creationId xmlns:a16="http://schemas.microsoft.com/office/drawing/2014/main" id="{6960E525-F30C-4B3A-BA09-92D78C0681CA}"/>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63611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B9108-3949-227C-D3CD-59CAAAA99D39}"/>
            </a:ext>
          </a:extLst>
        </p:cNvPr>
        <p:cNvGrpSpPr/>
        <p:nvPr/>
      </p:nvGrpSpPr>
      <p:grpSpPr>
        <a:xfrm>
          <a:off x="0" y="0"/>
          <a:ext cx="0" cy="0"/>
          <a:chOff x="0" y="0"/>
          <a:chExt cx="0" cy="0"/>
        </a:xfrm>
      </p:grpSpPr>
      <p:sp>
        <p:nvSpPr>
          <p:cNvPr id="25602" name="Rectangle 2">
            <a:extLst>
              <a:ext uri="{FF2B5EF4-FFF2-40B4-BE49-F238E27FC236}">
                <a16:creationId xmlns:a16="http://schemas.microsoft.com/office/drawing/2014/main" id="{0A075E93-4A5A-678C-7B16-F095764DD247}"/>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Rectangle 3">
            <a:extLst>
              <a:ext uri="{FF2B5EF4-FFF2-40B4-BE49-F238E27FC236}">
                <a16:creationId xmlns:a16="http://schemas.microsoft.com/office/drawing/2014/main" id="{A94256EA-EB0B-E545-8B6F-901BEFF702E6}"/>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spcBef>
                <a:spcPct val="0"/>
              </a:spcBef>
              <a:spcAft>
                <a:spcPts val="1200"/>
              </a:spcAft>
              <a:buFontTx/>
              <a:buNone/>
            </a:pPr>
            <a:r>
              <a:rPr lang="en-US" altLang="en-US" sz="1200" dirty="0" err="1">
                <a:latin typeface="Arial" panose="020B0604020202020204" pitchFamily="34" charset="0"/>
              </a:rPr>
              <a:t>RuntimeExceptions</a:t>
            </a:r>
            <a:r>
              <a:rPr lang="en-US" altLang="en-US" sz="1200" dirty="0">
                <a:latin typeface="Arial" panose="020B0604020202020204" pitchFamily="34" charset="0"/>
              </a:rPr>
              <a:t> are </a:t>
            </a:r>
            <a:r>
              <a:rPr lang="en-US" altLang="en-US" sz="1200" u="sng" dirty="0">
                <a:latin typeface="Arial" panose="020B0604020202020204" pitchFamily="34" charset="0"/>
              </a:rPr>
              <a:t>unchecked</a:t>
            </a:r>
            <a:r>
              <a:rPr lang="en-US" altLang="en-US" sz="1200" dirty="0">
                <a:latin typeface="Arial" panose="020B0604020202020204" pitchFamily="34" charset="0"/>
              </a:rPr>
              <a:t> exceptions. </a:t>
            </a:r>
          </a:p>
          <a:p>
            <a:pPr algn="l">
              <a:spcBef>
                <a:spcPct val="0"/>
              </a:spcBef>
              <a:spcAft>
                <a:spcPts val="1200"/>
              </a:spcAft>
              <a:buFontTx/>
              <a:buNone/>
            </a:pPr>
            <a:r>
              <a:rPr lang="en-US" altLang="en-US" sz="1200" dirty="0">
                <a:latin typeface="Arial" panose="020B0604020202020204" pitchFamily="34" charset="0"/>
              </a:rPr>
              <a:t>All other Exceptions are </a:t>
            </a:r>
            <a:r>
              <a:rPr lang="en-US" altLang="en-US" sz="1200" u="sng" dirty="0">
                <a:latin typeface="Arial" panose="020B0604020202020204" pitchFamily="34" charset="0"/>
              </a:rPr>
              <a:t>checked</a:t>
            </a:r>
            <a:r>
              <a:rPr lang="en-US" altLang="en-US" sz="1200" dirty="0">
                <a:latin typeface="Arial" panose="020B0604020202020204" pitchFamily="34" charset="0"/>
              </a:rPr>
              <a:t> exceptions.</a:t>
            </a:r>
          </a:p>
          <a:p>
            <a:endParaRPr lang="en-US" altLang="en-US" dirty="0"/>
          </a:p>
        </p:txBody>
      </p:sp>
    </p:spTree>
    <p:extLst>
      <p:ext uri="{BB962C8B-B14F-4D97-AF65-F5344CB8AC3E}">
        <p14:creationId xmlns:p14="http://schemas.microsoft.com/office/powerpoint/2010/main" val="19603608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EF295-8687-B561-679F-266EC3A1D3E1}"/>
            </a:ext>
          </a:extLst>
        </p:cNvPr>
        <p:cNvGrpSpPr/>
        <p:nvPr/>
      </p:nvGrpSpPr>
      <p:grpSpPr>
        <a:xfrm>
          <a:off x="0" y="0"/>
          <a:ext cx="0" cy="0"/>
          <a:chOff x="0" y="0"/>
          <a:chExt cx="0" cy="0"/>
        </a:xfrm>
      </p:grpSpPr>
      <p:sp>
        <p:nvSpPr>
          <p:cNvPr id="25602" name="Rectangle 2">
            <a:extLst>
              <a:ext uri="{FF2B5EF4-FFF2-40B4-BE49-F238E27FC236}">
                <a16:creationId xmlns:a16="http://schemas.microsoft.com/office/drawing/2014/main" id="{369DCF2D-AF2B-92E1-4577-55A4EC128AA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Rectangle 3">
            <a:extLst>
              <a:ext uri="{FF2B5EF4-FFF2-40B4-BE49-F238E27FC236}">
                <a16:creationId xmlns:a16="http://schemas.microsoft.com/office/drawing/2014/main" id="{A58FB3E2-02D5-9D85-81C4-23D51EA9C54B}"/>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spcBef>
                <a:spcPct val="0"/>
              </a:spcBef>
              <a:spcAft>
                <a:spcPts val="1200"/>
              </a:spcAft>
              <a:buFontTx/>
              <a:buNone/>
            </a:pPr>
            <a:r>
              <a:rPr lang="en-US" altLang="en-US" sz="1200" dirty="0" err="1">
                <a:latin typeface="Arial" panose="020B0604020202020204" pitchFamily="34" charset="0"/>
              </a:rPr>
              <a:t>RuntimeExceptions</a:t>
            </a:r>
            <a:r>
              <a:rPr lang="en-US" altLang="en-US" sz="1200" dirty="0">
                <a:latin typeface="Arial" panose="020B0604020202020204" pitchFamily="34" charset="0"/>
              </a:rPr>
              <a:t> are </a:t>
            </a:r>
            <a:r>
              <a:rPr lang="en-US" altLang="en-US" sz="1200" u="sng" dirty="0">
                <a:latin typeface="Arial" panose="020B0604020202020204" pitchFamily="34" charset="0"/>
              </a:rPr>
              <a:t>unchecked</a:t>
            </a:r>
            <a:r>
              <a:rPr lang="en-US" altLang="en-US" sz="1200" dirty="0">
                <a:latin typeface="Arial" panose="020B0604020202020204" pitchFamily="34" charset="0"/>
              </a:rPr>
              <a:t> exceptions. </a:t>
            </a:r>
          </a:p>
          <a:p>
            <a:pPr algn="l">
              <a:spcBef>
                <a:spcPct val="0"/>
              </a:spcBef>
              <a:spcAft>
                <a:spcPts val="1200"/>
              </a:spcAft>
              <a:buFontTx/>
              <a:buNone/>
            </a:pPr>
            <a:r>
              <a:rPr lang="en-US" altLang="en-US" sz="1200" dirty="0">
                <a:latin typeface="Arial" panose="020B0604020202020204" pitchFamily="34" charset="0"/>
              </a:rPr>
              <a:t>All other Exceptions are </a:t>
            </a:r>
            <a:r>
              <a:rPr lang="en-US" altLang="en-US" sz="1200" u="sng" dirty="0">
                <a:latin typeface="Arial" panose="020B0604020202020204" pitchFamily="34" charset="0"/>
              </a:rPr>
              <a:t>checked</a:t>
            </a:r>
            <a:r>
              <a:rPr lang="en-US" altLang="en-US" sz="1200" dirty="0">
                <a:latin typeface="Arial" panose="020B0604020202020204" pitchFamily="34" charset="0"/>
              </a:rPr>
              <a:t> exceptions.</a:t>
            </a:r>
          </a:p>
          <a:p>
            <a:endParaRPr lang="en-US" altLang="en-US" dirty="0"/>
          </a:p>
        </p:txBody>
      </p:sp>
    </p:spTree>
    <p:extLst>
      <p:ext uri="{BB962C8B-B14F-4D97-AF65-F5344CB8AC3E}">
        <p14:creationId xmlns:p14="http://schemas.microsoft.com/office/powerpoint/2010/main" val="10089543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2DD03-72EF-82B0-4834-47BBD7F28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B1E475-04B4-1AC1-C822-01DBC3C334C8}"/>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D34CD62-E6B5-1D3A-EA1D-9A65627A6B82}"/>
              </a:ext>
            </a:extLst>
          </p:cNvPr>
          <p:cNvSpPr>
            <a:spLocks noGrp="1"/>
          </p:cNvSpPr>
          <p:nvPr>
            <p:ph type="body" idx="1"/>
          </p:nvPr>
        </p:nvSpPr>
        <p:spPr>
          <a:xfrm>
            <a:off x="685800" y="4400550"/>
            <a:ext cx="5486400" cy="3600450"/>
          </a:xfrm>
          <a:prstGeom prst="rect">
            <a:avLst/>
          </a:prstGeom>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Consolas" panose="020B0609020204030204" pitchFamily="49" charset="0"/>
              </a:rPr>
              <a:t>This code compiles because it declares that it might throw and </a:t>
            </a:r>
            <a:r>
              <a:rPr lang="en-US" sz="1200" dirty="0" err="1">
                <a:latin typeface="Consolas" panose="020B0609020204030204" pitchFamily="49" charset="0"/>
              </a:rPr>
              <a:t>IOException</a:t>
            </a:r>
            <a:r>
              <a:rPr lang="en-US" sz="1200" dirty="0">
                <a:latin typeface="Consolas" panose="020B0609020204030204" pitchFamily="49" charset="0"/>
              </a:rPr>
              <a:t> via the throws clause in the method header.</a:t>
            </a:r>
            <a:endParaRPr lang="en-US" dirty="0"/>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The </a:t>
            </a:r>
            <a:r>
              <a:rPr lang="en-US" sz="1200" kern="1200" dirty="0" err="1">
                <a:solidFill>
                  <a:schemeClr val="tx1"/>
                </a:solidFill>
                <a:effectLst/>
                <a:latin typeface="Times New Roman" pitchFamily="18" charset="0"/>
                <a:ea typeface="+mn-ea"/>
                <a:cs typeface="+mn-cs"/>
              </a:rPr>
              <a:t>PascalsTriangle</a:t>
            </a:r>
            <a:r>
              <a:rPr lang="en-US" sz="1200" kern="1200" dirty="0">
                <a:solidFill>
                  <a:schemeClr val="tx1"/>
                </a:solidFill>
                <a:effectLst/>
                <a:latin typeface="Times New Roman" pitchFamily="18" charset="0"/>
                <a:ea typeface="+mn-ea"/>
                <a:cs typeface="+mn-cs"/>
              </a:rPr>
              <a:t> lab would be another good example to use.</a:t>
            </a:r>
          </a:p>
        </p:txBody>
      </p:sp>
    </p:spTree>
    <p:extLst>
      <p:ext uri="{BB962C8B-B14F-4D97-AF65-F5344CB8AC3E}">
        <p14:creationId xmlns:p14="http://schemas.microsoft.com/office/powerpoint/2010/main" val="29026063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0CAF6-D138-77D2-DA98-5CE048703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17A99-0095-CAE4-2B10-274B42F64F9B}"/>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D97FAE4-CA88-F2EB-8192-79AA52356665}"/>
              </a:ext>
            </a:extLst>
          </p:cNvPr>
          <p:cNvSpPr>
            <a:spLocks noGrp="1"/>
          </p:cNvSpPr>
          <p:nvPr>
            <p:ph type="body" idx="1"/>
          </p:nvPr>
        </p:nvSpPr>
        <p:spPr>
          <a:xfrm>
            <a:off x="685800" y="4400550"/>
            <a:ext cx="5486400" cy="3600450"/>
          </a:xfrm>
          <a:prstGeom prst="rect">
            <a:avLst/>
          </a:prstGeom>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kern="100" dirty="0" err="1">
                <a:effectLst/>
                <a:latin typeface="Cascadia Code" panose="020B0609020000020004" pitchFamily="49" charset="0"/>
                <a:ea typeface="Aptos" panose="020B0004020202020204" pitchFamily="34" charset="0"/>
                <a:cs typeface="Times New Roman" panose="02020603050405020304" pitchFamily="18" charset="0"/>
              </a:rPr>
              <a:t>loadAndAnalyzeFile</a:t>
            </a:r>
            <a:r>
              <a:rPr lang="en-US" sz="1200" kern="1200" dirty="0">
                <a:solidFill>
                  <a:schemeClr val="tx1"/>
                </a:solidFill>
                <a:effectLst/>
                <a:latin typeface="Times New Roman" pitchFamily="18" charset="0"/>
                <a:ea typeface="+mn-ea"/>
                <a:cs typeface="+mn-cs"/>
              </a:rPr>
              <a:t> is a method in the </a:t>
            </a:r>
            <a:r>
              <a:rPr lang="en-US" sz="1200" kern="1200" dirty="0">
                <a:solidFill>
                  <a:schemeClr val="tx1"/>
                </a:solidFill>
                <a:effectLst/>
                <a:latin typeface="Cascadia Code" panose="020B0609020000020004" pitchFamily="49" charset="0"/>
                <a:cs typeface="Cascadia Code" panose="020B0609020000020004" pitchFamily="49" charset="0"/>
              </a:rPr>
              <a:t>Histogram</a:t>
            </a:r>
            <a:r>
              <a:rPr lang="en-US" sz="1200" kern="1200" dirty="0">
                <a:solidFill>
                  <a:schemeClr val="tx1"/>
                </a:solidFill>
                <a:effectLst/>
                <a:latin typeface="Times New Roman" pitchFamily="18" charset="0"/>
                <a:ea typeface="+mn-ea"/>
                <a:cs typeface="+mn-cs"/>
              </a:rPr>
              <a:t> class</a:t>
            </a:r>
          </a:p>
        </p:txBody>
      </p:sp>
    </p:spTree>
    <p:extLst>
      <p:ext uri="{BB962C8B-B14F-4D97-AF65-F5344CB8AC3E}">
        <p14:creationId xmlns:p14="http://schemas.microsoft.com/office/powerpoint/2010/main" val="15393994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2F5B2-97B4-EE64-447C-62542155B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0346E-0C28-1495-276A-8BF5257F91A7}"/>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4E62DDC-12ED-18CB-B6C0-F2343DD3AA28}"/>
              </a:ext>
            </a:extLst>
          </p:cNvPr>
          <p:cNvSpPr>
            <a:spLocks noGrp="1"/>
          </p:cNvSpPr>
          <p:nvPr>
            <p:ph type="body" idx="1"/>
          </p:nvPr>
        </p:nvSpPr>
        <p:spPr>
          <a:xfrm>
            <a:off x="685800" y="4400550"/>
            <a:ext cx="5486400" cy="3600450"/>
          </a:xfrm>
          <a:prstGeom prst="rect">
            <a:avLst/>
          </a:prstGeom>
        </p:spPr>
        <p:txBody>
          <a:bodyPr/>
          <a:lstStyle/>
          <a:p>
            <a:r>
              <a:rPr lang="en-US" sz="1200" kern="1200" dirty="0">
                <a:solidFill>
                  <a:schemeClr val="tx1"/>
                </a:solidFill>
                <a:effectLst/>
                <a:latin typeface="Times New Roman" pitchFamily="18" charset="0"/>
                <a:ea typeface="+mn-ea"/>
                <a:cs typeface="+mn-cs"/>
              </a:rPr>
              <a:t>This is a constructor for the Scanner class</a:t>
            </a:r>
          </a:p>
        </p:txBody>
      </p:sp>
    </p:spTree>
    <p:extLst>
      <p:ext uri="{BB962C8B-B14F-4D97-AF65-F5344CB8AC3E}">
        <p14:creationId xmlns:p14="http://schemas.microsoft.com/office/powerpoint/2010/main" val="14288345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844EA-218F-8A89-9B70-FFA9A7E38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C88BC3-574A-3D02-0716-0E7E49B33280}"/>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8D6E6B0-FBBC-F169-998B-4A6D0937A494}"/>
              </a:ext>
            </a:extLst>
          </p:cNvPr>
          <p:cNvSpPr>
            <a:spLocks noGrp="1"/>
          </p:cNvSpPr>
          <p:nvPr>
            <p:ph type="body" idx="1"/>
          </p:nvPr>
        </p:nvSpPr>
        <p:spPr>
          <a:xfrm>
            <a:off x="685800" y="4400550"/>
            <a:ext cx="5486400" cy="3600450"/>
          </a:xfrm>
          <a:prstGeom prst="rect">
            <a:avLst/>
          </a:prstGeom>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Shown is a constructor in the </a:t>
            </a:r>
            <a:r>
              <a:rPr lang="en-US" sz="1200" kern="1200" dirty="0" err="1">
                <a:solidFill>
                  <a:schemeClr val="tx1"/>
                </a:solidFill>
                <a:effectLst/>
                <a:latin typeface="Cascadia Code" panose="020B0609020000020004" pitchFamily="49" charset="0"/>
                <a:cs typeface="Cascadia Code" panose="020B0609020000020004" pitchFamily="49" charset="0"/>
              </a:rPr>
              <a:t>FileInputStream</a:t>
            </a:r>
            <a:r>
              <a:rPr lang="en-US" sz="1200" kern="1200" dirty="0">
                <a:solidFill>
                  <a:schemeClr val="tx1"/>
                </a:solidFill>
                <a:effectLst/>
                <a:latin typeface="Times New Roman" pitchFamily="18" charset="0"/>
                <a:ea typeface="+mn-ea"/>
                <a:cs typeface="+mn-cs"/>
              </a:rPr>
              <a:t> class</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This is the entire constructor for the </a:t>
            </a:r>
            <a:r>
              <a:rPr lang="en-US" sz="1200" kern="1200" dirty="0" err="1">
                <a:solidFill>
                  <a:schemeClr val="tx1"/>
                </a:solidFill>
                <a:effectLst/>
                <a:latin typeface="Times New Roman" pitchFamily="18" charset="0"/>
                <a:ea typeface="+mn-ea"/>
                <a:cs typeface="+mn-cs"/>
              </a:rPr>
              <a:t>FileInputStream</a:t>
            </a:r>
            <a:r>
              <a:rPr lang="en-US" sz="1200" kern="1200" dirty="0">
                <a:solidFill>
                  <a:schemeClr val="tx1"/>
                </a:solidFill>
                <a:effectLst/>
                <a:latin typeface="Times New Roman" pitchFamily="18" charset="0"/>
                <a:ea typeface="+mn-ea"/>
                <a:cs typeface="+mn-cs"/>
              </a:rPr>
              <a:t> class:</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public </a:t>
            </a:r>
            <a:r>
              <a:rPr lang="en-US" sz="1200" kern="1200" dirty="0" err="1">
                <a:solidFill>
                  <a:schemeClr val="tx1"/>
                </a:solidFill>
                <a:effectLst/>
                <a:latin typeface="Times New Roman" pitchFamily="18" charset="0"/>
                <a:ea typeface="+mn-ea"/>
                <a:cs typeface="+mn-cs"/>
              </a:rPr>
              <a:t>FileInputStream</a:t>
            </a:r>
            <a:r>
              <a:rPr lang="en-US" sz="1200" kern="1200" dirty="0">
                <a:solidFill>
                  <a:schemeClr val="tx1"/>
                </a:solidFill>
                <a:effectLst/>
                <a:latin typeface="Times New Roman" pitchFamily="18" charset="0"/>
                <a:ea typeface="+mn-ea"/>
                <a:cs typeface="+mn-cs"/>
              </a:rPr>
              <a:t>(File file) throws </a:t>
            </a:r>
            <a:r>
              <a:rPr lang="en-US" sz="1200" kern="1200" dirty="0" err="1">
                <a:solidFill>
                  <a:schemeClr val="tx1"/>
                </a:solidFill>
                <a:effectLst/>
                <a:latin typeface="Times New Roman" pitchFamily="18" charset="0"/>
                <a:ea typeface="+mn-ea"/>
                <a:cs typeface="+mn-cs"/>
              </a:rPr>
              <a:t>FileNotFoundException</a:t>
            </a:r>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  String name = (file != null ? </a:t>
            </a:r>
            <a:r>
              <a:rPr lang="en-US" sz="1200" kern="1200" dirty="0" err="1">
                <a:solidFill>
                  <a:schemeClr val="tx1"/>
                </a:solidFill>
                <a:effectLst/>
                <a:latin typeface="Times New Roman" pitchFamily="18" charset="0"/>
                <a:ea typeface="+mn-ea"/>
                <a:cs typeface="+mn-cs"/>
              </a:rPr>
              <a:t>file.getPath</a:t>
            </a:r>
            <a:r>
              <a:rPr lang="en-US" sz="1200" kern="1200" dirty="0">
                <a:solidFill>
                  <a:schemeClr val="tx1"/>
                </a:solidFill>
                <a:effectLst/>
                <a:latin typeface="Times New Roman" pitchFamily="18" charset="0"/>
                <a:ea typeface="+mn-ea"/>
                <a:cs typeface="+mn-cs"/>
              </a:rPr>
              <a:t>() : null);</a:t>
            </a:r>
          </a:p>
          <a:p>
            <a:r>
              <a:rPr lang="en-US" sz="1200" kern="1200" dirty="0">
                <a:solidFill>
                  <a:schemeClr val="tx1"/>
                </a:solidFill>
                <a:effectLst/>
                <a:latin typeface="Times New Roman" pitchFamily="18" charset="0"/>
                <a:ea typeface="+mn-ea"/>
                <a:cs typeface="+mn-cs"/>
              </a:rPr>
              <a:t>  </a:t>
            </a:r>
            <a:r>
              <a:rPr lang="en-US" sz="1200" kern="1200" dirty="0" err="1">
                <a:solidFill>
                  <a:schemeClr val="tx1"/>
                </a:solidFill>
                <a:effectLst/>
                <a:latin typeface="Times New Roman" pitchFamily="18" charset="0"/>
                <a:ea typeface="+mn-ea"/>
                <a:cs typeface="+mn-cs"/>
              </a:rPr>
              <a:t>SecurityManager</a:t>
            </a:r>
            <a:r>
              <a:rPr lang="en-US" sz="1200" kern="1200" dirty="0">
                <a:solidFill>
                  <a:schemeClr val="tx1"/>
                </a:solidFill>
                <a:effectLst/>
                <a:latin typeface="Times New Roman" pitchFamily="18" charset="0"/>
                <a:ea typeface="+mn-ea"/>
                <a:cs typeface="+mn-cs"/>
              </a:rPr>
              <a:t> security = </a:t>
            </a:r>
            <a:r>
              <a:rPr lang="en-US" sz="1200" kern="1200" dirty="0" err="1">
                <a:solidFill>
                  <a:schemeClr val="tx1"/>
                </a:solidFill>
                <a:effectLst/>
                <a:latin typeface="Times New Roman" pitchFamily="18" charset="0"/>
                <a:ea typeface="+mn-ea"/>
                <a:cs typeface="+mn-cs"/>
              </a:rPr>
              <a:t>System.getSecurityManager</a:t>
            </a:r>
            <a:r>
              <a:rPr lang="en-US" sz="1200" kern="1200" dirty="0">
                <a:solidFill>
                  <a:schemeClr val="tx1"/>
                </a:solidFill>
                <a:effectLst/>
                <a:latin typeface="Times New Roman" pitchFamily="18" charset="0"/>
                <a:ea typeface="+mn-ea"/>
                <a:cs typeface="+mn-cs"/>
              </a:rPr>
              <a:t>();</a:t>
            </a:r>
          </a:p>
          <a:p>
            <a:r>
              <a:rPr lang="en-US" sz="1200" kern="1200" dirty="0">
                <a:solidFill>
                  <a:schemeClr val="tx1"/>
                </a:solidFill>
                <a:effectLst/>
                <a:latin typeface="Times New Roman" pitchFamily="18" charset="0"/>
                <a:ea typeface="+mn-ea"/>
                <a:cs typeface="+mn-cs"/>
              </a:rPr>
              <a:t>  if (security != null) {</a:t>
            </a:r>
          </a:p>
          <a:p>
            <a:r>
              <a:rPr lang="en-US" sz="1200" kern="1200" dirty="0">
                <a:solidFill>
                  <a:schemeClr val="tx1"/>
                </a:solidFill>
                <a:effectLst/>
                <a:latin typeface="Times New Roman" pitchFamily="18" charset="0"/>
                <a:ea typeface="+mn-ea"/>
                <a:cs typeface="+mn-cs"/>
              </a:rPr>
              <a:t>      </a:t>
            </a:r>
            <a:r>
              <a:rPr lang="en-US" sz="1200" kern="1200" dirty="0" err="1">
                <a:solidFill>
                  <a:schemeClr val="tx1"/>
                </a:solidFill>
                <a:effectLst/>
                <a:latin typeface="Times New Roman" pitchFamily="18" charset="0"/>
                <a:ea typeface="+mn-ea"/>
                <a:cs typeface="+mn-cs"/>
              </a:rPr>
              <a:t>security.checkRead</a:t>
            </a:r>
            <a:r>
              <a:rPr lang="en-US" sz="1200" kern="1200" dirty="0">
                <a:solidFill>
                  <a:schemeClr val="tx1"/>
                </a:solidFill>
                <a:effectLst/>
                <a:latin typeface="Times New Roman" pitchFamily="18" charset="0"/>
                <a:ea typeface="+mn-ea"/>
                <a:cs typeface="+mn-cs"/>
              </a:rPr>
              <a:t>(name);</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  if (name == null) {</a:t>
            </a:r>
          </a:p>
          <a:p>
            <a:r>
              <a:rPr lang="en-US" sz="1200" kern="1200" dirty="0">
                <a:solidFill>
                  <a:schemeClr val="tx1"/>
                </a:solidFill>
                <a:effectLst/>
                <a:latin typeface="Times New Roman" pitchFamily="18" charset="0"/>
                <a:ea typeface="+mn-ea"/>
                <a:cs typeface="+mn-cs"/>
              </a:rPr>
              <a:t>      throw new </a:t>
            </a:r>
            <a:r>
              <a:rPr lang="en-US" sz="1200" kern="1200" dirty="0" err="1">
                <a:solidFill>
                  <a:schemeClr val="tx1"/>
                </a:solidFill>
                <a:effectLst/>
                <a:latin typeface="Times New Roman" pitchFamily="18" charset="0"/>
                <a:ea typeface="+mn-ea"/>
                <a:cs typeface="+mn-cs"/>
              </a:rPr>
              <a:t>NullPointerException</a:t>
            </a:r>
            <a:r>
              <a:rPr lang="en-US" sz="1200" kern="1200" dirty="0">
                <a:solidFill>
                  <a:schemeClr val="tx1"/>
                </a:solidFill>
                <a:effectLst/>
                <a:latin typeface="Times New Roman" pitchFamily="18" charset="0"/>
                <a:ea typeface="+mn-ea"/>
                <a:cs typeface="+mn-cs"/>
              </a:rPr>
              <a:t>();</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  if (</a:t>
            </a:r>
            <a:r>
              <a:rPr lang="en-US" sz="1200" b="1" kern="1200" dirty="0" err="1">
                <a:solidFill>
                  <a:schemeClr val="tx1"/>
                </a:solidFill>
                <a:effectLst/>
                <a:latin typeface="Times New Roman" pitchFamily="18" charset="0"/>
                <a:ea typeface="+mn-ea"/>
                <a:cs typeface="+mn-cs"/>
              </a:rPr>
              <a:t>file.isInvalid</a:t>
            </a:r>
            <a:r>
              <a:rPr lang="en-US" sz="1200" b="1" kern="1200" dirty="0">
                <a:solidFill>
                  <a:schemeClr val="tx1"/>
                </a:solidFill>
                <a:effectLst/>
                <a:latin typeface="Times New Roman" pitchFamily="18" charset="0"/>
                <a:ea typeface="+mn-ea"/>
                <a:cs typeface="+mn-cs"/>
              </a:rPr>
              <a:t>()) {</a:t>
            </a:r>
            <a:endParaRPr lang="en-US" sz="1200" kern="1200" dirty="0">
              <a:solidFill>
                <a:schemeClr val="tx1"/>
              </a:solidFill>
              <a:effectLst/>
              <a:latin typeface="Times New Roman" pitchFamily="18" charset="0"/>
              <a:ea typeface="+mn-ea"/>
              <a:cs typeface="+mn-cs"/>
            </a:endParaRPr>
          </a:p>
          <a:p>
            <a:r>
              <a:rPr lang="en-US" sz="1200" b="1" kern="1200" dirty="0">
                <a:solidFill>
                  <a:schemeClr val="tx1"/>
                </a:solidFill>
                <a:effectLst/>
                <a:latin typeface="Times New Roman" pitchFamily="18" charset="0"/>
                <a:ea typeface="+mn-ea"/>
                <a:cs typeface="+mn-cs"/>
              </a:rPr>
              <a:t>      throw new </a:t>
            </a:r>
            <a:r>
              <a:rPr lang="en-US" sz="1200" b="1" kern="1200" dirty="0" err="1">
                <a:solidFill>
                  <a:schemeClr val="tx1"/>
                </a:solidFill>
                <a:effectLst/>
                <a:latin typeface="Times New Roman" pitchFamily="18" charset="0"/>
                <a:ea typeface="+mn-ea"/>
                <a:cs typeface="+mn-cs"/>
              </a:rPr>
              <a:t>FileNotFoundException</a:t>
            </a:r>
            <a:r>
              <a:rPr lang="en-US" sz="1200" b="1" kern="1200" dirty="0">
                <a:solidFill>
                  <a:schemeClr val="tx1"/>
                </a:solidFill>
                <a:effectLst/>
                <a:latin typeface="Times New Roman" pitchFamily="18" charset="0"/>
                <a:ea typeface="+mn-ea"/>
                <a:cs typeface="+mn-cs"/>
              </a:rPr>
              <a:t>("Invalid file path");</a:t>
            </a:r>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  </a:t>
            </a:r>
            <a:r>
              <a:rPr lang="en-US" sz="1200" kern="1200" dirty="0" err="1">
                <a:solidFill>
                  <a:schemeClr val="tx1"/>
                </a:solidFill>
                <a:effectLst/>
                <a:latin typeface="Times New Roman" pitchFamily="18" charset="0"/>
                <a:ea typeface="+mn-ea"/>
                <a:cs typeface="+mn-cs"/>
              </a:rPr>
              <a:t>fd</a:t>
            </a:r>
            <a:r>
              <a:rPr lang="en-US" sz="1200" kern="1200" dirty="0">
                <a:solidFill>
                  <a:schemeClr val="tx1"/>
                </a:solidFill>
                <a:effectLst/>
                <a:latin typeface="Times New Roman" pitchFamily="18" charset="0"/>
                <a:ea typeface="+mn-ea"/>
                <a:cs typeface="+mn-cs"/>
              </a:rPr>
              <a:t> = new </a:t>
            </a:r>
            <a:r>
              <a:rPr lang="en-US" sz="1200" kern="1200" dirty="0" err="1">
                <a:solidFill>
                  <a:schemeClr val="tx1"/>
                </a:solidFill>
                <a:effectLst/>
                <a:latin typeface="Times New Roman" pitchFamily="18" charset="0"/>
                <a:ea typeface="+mn-ea"/>
                <a:cs typeface="+mn-cs"/>
              </a:rPr>
              <a:t>FileDescriptor</a:t>
            </a:r>
            <a:r>
              <a:rPr lang="en-US" sz="1200" kern="1200" dirty="0">
                <a:solidFill>
                  <a:schemeClr val="tx1"/>
                </a:solidFill>
                <a:effectLst/>
                <a:latin typeface="Times New Roman" pitchFamily="18" charset="0"/>
                <a:ea typeface="+mn-ea"/>
                <a:cs typeface="+mn-cs"/>
              </a:rPr>
              <a:t>();</a:t>
            </a:r>
          </a:p>
          <a:p>
            <a:r>
              <a:rPr lang="en-US" sz="1200" kern="1200" dirty="0">
                <a:solidFill>
                  <a:schemeClr val="tx1"/>
                </a:solidFill>
                <a:effectLst/>
                <a:latin typeface="Times New Roman" pitchFamily="18" charset="0"/>
                <a:ea typeface="+mn-ea"/>
                <a:cs typeface="+mn-cs"/>
              </a:rPr>
              <a:t>  </a:t>
            </a:r>
            <a:r>
              <a:rPr lang="en-US" sz="1200" kern="1200" dirty="0" err="1">
                <a:solidFill>
                  <a:schemeClr val="tx1"/>
                </a:solidFill>
                <a:effectLst/>
                <a:latin typeface="Times New Roman" pitchFamily="18" charset="0"/>
                <a:ea typeface="+mn-ea"/>
                <a:cs typeface="+mn-cs"/>
              </a:rPr>
              <a:t>fd.attach</a:t>
            </a:r>
            <a:r>
              <a:rPr lang="en-US" sz="1200" kern="1200" dirty="0">
                <a:solidFill>
                  <a:schemeClr val="tx1"/>
                </a:solidFill>
                <a:effectLst/>
                <a:latin typeface="Times New Roman" pitchFamily="18" charset="0"/>
                <a:ea typeface="+mn-ea"/>
                <a:cs typeface="+mn-cs"/>
              </a:rPr>
              <a:t>(this);</a:t>
            </a:r>
          </a:p>
          <a:p>
            <a:r>
              <a:rPr lang="en-US" sz="1200" kern="1200" dirty="0">
                <a:solidFill>
                  <a:schemeClr val="tx1"/>
                </a:solidFill>
                <a:effectLst/>
                <a:latin typeface="Times New Roman" pitchFamily="18" charset="0"/>
                <a:ea typeface="+mn-ea"/>
                <a:cs typeface="+mn-cs"/>
              </a:rPr>
              <a:t>  path = name;</a:t>
            </a:r>
          </a:p>
          <a:p>
            <a:r>
              <a:rPr lang="en-US" sz="1200" kern="1200" dirty="0">
                <a:solidFill>
                  <a:schemeClr val="tx1"/>
                </a:solidFill>
                <a:effectLst/>
                <a:latin typeface="Times New Roman" pitchFamily="18" charset="0"/>
                <a:ea typeface="+mn-ea"/>
                <a:cs typeface="+mn-cs"/>
              </a:rPr>
              <a:t>  open(name);</a:t>
            </a:r>
          </a:p>
          <a:p>
            <a:r>
              <a:rPr lang="en-US" sz="1200" kern="1200" dirty="0">
                <a:solidFill>
                  <a:schemeClr val="tx1"/>
                </a:solidFill>
                <a:effectLst/>
                <a:latin typeface="Times New Roman" pitchFamily="18" charset="0"/>
                <a:ea typeface="+mn-ea"/>
                <a:cs typeface="+mn-cs"/>
              </a:rPr>
              <a:t>  </a:t>
            </a:r>
            <a:r>
              <a:rPr lang="en-US" sz="1200" kern="1200" dirty="0" err="1">
                <a:solidFill>
                  <a:schemeClr val="tx1"/>
                </a:solidFill>
                <a:effectLst/>
                <a:latin typeface="Times New Roman" pitchFamily="18" charset="0"/>
                <a:ea typeface="+mn-ea"/>
                <a:cs typeface="+mn-cs"/>
              </a:rPr>
              <a:t>FileCleanable.register</a:t>
            </a:r>
            <a:r>
              <a:rPr lang="en-US" sz="1200" kern="1200" dirty="0">
                <a:solidFill>
                  <a:schemeClr val="tx1"/>
                </a:solidFill>
                <a:effectLst/>
                <a:latin typeface="Times New Roman" pitchFamily="18" charset="0"/>
                <a:ea typeface="+mn-ea"/>
                <a:cs typeface="+mn-cs"/>
              </a:rPr>
              <a:t>(</a:t>
            </a:r>
            <a:r>
              <a:rPr lang="en-US" sz="1200" kern="1200" dirty="0" err="1">
                <a:solidFill>
                  <a:schemeClr val="tx1"/>
                </a:solidFill>
                <a:effectLst/>
                <a:latin typeface="Times New Roman" pitchFamily="18" charset="0"/>
                <a:ea typeface="+mn-ea"/>
                <a:cs typeface="+mn-cs"/>
              </a:rPr>
              <a:t>fd</a:t>
            </a:r>
            <a:r>
              <a:rPr lang="en-US" sz="1200" kern="1200" dirty="0">
                <a:solidFill>
                  <a:schemeClr val="tx1"/>
                </a:solidFill>
                <a:effectLst/>
                <a:latin typeface="Times New Roman" pitchFamily="18" charset="0"/>
                <a:ea typeface="+mn-ea"/>
                <a:cs typeface="+mn-cs"/>
              </a:rPr>
              <a:t>);</a:t>
            </a:r>
          </a:p>
          <a:p>
            <a:r>
              <a:rPr lang="en-US" sz="1200" kern="1200" dirty="0">
                <a:solidFill>
                  <a:schemeClr val="tx1"/>
                </a:solidFill>
                <a:effectLst/>
                <a:latin typeface="Times New Roman" pitchFamily="18" charset="0"/>
                <a:ea typeface="+mn-ea"/>
                <a:cs typeface="+mn-cs"/>
              </a:rPr>
              <a:t>}</a:t>
            </a:r>
          </a:p>
        </p:txBody>
      </p:sp>
    </p:spTree>
    <p:extLst>
      <p:ext uri="{BB962C8B-B14F-4D97-AF65-F5344CB8AC3E}">
        <p14:creationId xmlns:p14="http://schemas.microsoft.com/office/powerpoint/2010/main" val="32911255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D78FC-8DC4-6836-72C0-C1255B6E32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0A462-4D2C-8214-2920-E35E7BD0407C}"/>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8B188B6-A72F-5DF2-E343-A9612493C890}"/>
              </a:ext>
            </a:extLst>
          </p:cNvPr>
          <p:cNvSpPr>
            <a:spLocks noGrp="1"/>
          </p:cNvSpPr>
          <p:nvPr>
            <p:ph type="body" idx="1"/>
          </p:nvPr>
        </p:nvSpPr>
        <p:spPr>
          <a:xfrm>
            <a:off x="685800" y="4400550"/>
            <a:ext cx="5486400" cy="3600450"/>
          </a:xfrm>
          <a:prstGeom prst="rect">
            <a:avLst/>
          </a:prstGeom>
        </p:spPr>
        <p:txBody>
          <a:bodyPr/>
          <a:lstStyle/>
          <a:p>
            <a:r>
              <a:rPr lang="en-US" sz="1200" kern="1200" dirty="0">
                <a:solidFill>
                  <a:schemeClr val="tx1"/>
                </a:solidFill>
                <a:effectLst/>
                <a:latin typeface="Times New Roman" pitchFamily="18" charset="0"/>
                <a:ea typeface="+mn-ea"/>
                <a:cs typeface="+mn-cs"/>
              </a:rPr>
              <a:t>This is a method in the </a:t>
            </a:r>
            <a:r>
              <a:rPr lang="en-US" sz="1200" kern="1200" dirty="0" err="1">
                <a:solidFill>
                  <a:schemeClr val="tx1"/>
                </a:solidFill>
                <a:effectLst/>
                <a:latin typeface="Times New Roman" pitchFamily="18" charset="0"/>
                <a:ea typeface="+mn-ea"/>
                <a:cs typeface="+mn-cs"/>
              </a:rPr>
              <a:t>FileInputStream</a:t>
            </a:r>
            <a:r>
              <a:rPr lang="en-US" sz="1200" kern="1200" dirty="0">
                <a:solidFill>
                  <a:schemeClr val="tx1"/>
                </a:solidFill>
                <a:effectLst/>
                <a:latin typeface="Times New Roman" pitchFamily="18" charset="0"/>
                <a:ea typeface="+mn-ea"/>
                <a:cs typeface="+mn-cs"/>
              </a:rPr>
              <a:t> class:</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 wrap native call to allow instrumentation</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     * Opens the specified file for reading.</a:t>
            </a:r>
          </a:p>
          <a:p>
            <a:r>
              <a:rPr lang="en-US" sz="1200" kern="1200" dirty="0">
                <a:solidFill>
                  <a:schemeClr val="tx1"/>
                </a:solidFill>
                <a:effectLst/>
                <a:latin typeface="Times New Roman" pitchFamily="18" charset="0"/>
                <a:ea typeface="+mn-ea"/>
                <a:cs typeface="+mn-cs"/>
              </a:rPr>
              <a:t>     * @param name the name of the file</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    private void open(String name) throws </a:t>
            </a:r>
            <a:r>
              <a:rPr lang="en-US" sz="1200" kern="1200" dirty="0" err="1">
                <a:solidFill>
                  <a:schemeClr val="tx1"/>
                </a:solidFill>
                <a:effectLst/>
                <a:latin typeface="Times New Roman" pitchFamily="18" charset="0"/>
                <a:ea typeface="+mn-ea"/>
                <a:cs typeface="+mn-cs"/>
              </a:rPr>
              <a:t>FileNotFoundException</a:t>
            </a:r>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        open0(name);</a:t>
            </a:r>
          </a:p>
          <a:p>
            <a:r>
              <a:rPr lang="en-US" sz="1200" kern="1200" dirty="0">
                <a:solidFill>
                  <a:schemeClr val="tx1"/>
                </a:solidFill>
                <a:effectLst/>
                <a:latin typeface="Times New Roman" pitchFamily="18" charset="0"/>
                <a:ea typeface="+mn-ea"/>
                <a:cs typeface="+mn-cs"/>
              </a:rPr>
              <a:t>    }</a:t>
            </a:r>
          </a:p>
        </p:txBody>
      </p:sp>
    </p:spTree>
    <p:extLst>
      <p:ext uri="{BB962C8B-B14F-4D97-AF65-F5344CB8AC3E}">
        <p14:creationId xmlns:p14="http://schemas.microsoft.com/office/powerpoint/2010/main" val="8546468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4BD3A-9382-37F4-E2E7-8F6D7352C8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62E62-9BC4-4CE0-CA78-B3B4AF842675}"/>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9F202B8-12B0-0900-AA27-5EFC37114549}"/>
              </a:ext>
            </a:extLst>
          </p:cNvPr>
          <p:cNvSpPr>
            <a:spLocks noGrp="1"/>
          </p:cNvSpPr>
          <p:nvPr>
            <p:ph type="body" idx="1"/>
          </p:nvPr>
        </p:nvSpPr>
        <p:spPr>
          <a:xfrm>
            <a:off x="685800" y="4400550"/>
            <a:ext cx="5486400" cy="3600450"/>
          </a:xfrm>
          <a:prstGeom prst="rect">
            <a:avLst/>
          </a:prstGeom>
        </p:spPr>
        <p:txBody>
          <a:bodyPr/>
          <a:lstStyle/>
          <a:p>
            <a:r>
              <a:rPr lang="en-US" sz="1200" kern="1200" dirty="0">
                <a:solidFill>
                  <a:schemeClr val="tx1"/>
                </a:solidFill>
                <a:effectLst/>
                <a:latin typeface="Times New Roman" pitchFamily="18" charset="0"/>
                <a:ea typeface="+mn-ea"/>
                <a:cs typeface="+mn-cs"/>
              </a:rPr>
              <a:t>This is a native method in the </a:t>
            </a:r>
            <a:r>
              <a:rPr lang="en-US" sz="1200" kern="1200" dirty="0" err="1">
                <a:solidFill>
                  <a:schemeClr val="tx1"/>
                </a:solidFill>
                <a:effectLst/>
                <a:latin typeface="Times New Roman" pitchFamily="18" charset="0"/>
                <a:ea typeface="+mn-ea"/>
                <a:cs typeface="+mn-cs"/>
              </a:rPr>
              <a:t>FileInputStream</a:t>
            </a:r>
            <a:r>
              <a:rPr lang="en-US" sz="1200" kern="1200" dirty="0">
                <a:solidFill>
                  <a:schemeClr val="tx1"/>
                </a:solidFill>
                <a:effectLst/>
                <a:latin typeface="Times New Roman" pitchFamily="18" charset="0"/>
                <a:ea typeface="+mn-ea"/>
                <a:cs typeface="+mn-cs"/>
              </a:rPr>
              <a:t> class:</a:t>
            </a:r>
          </a:p>
          <a:p>
            <a:endParaRPr lang="en-US" sz="1200" kern="1200" dirty="0">
              <a:solidFill>
                <a:schemeClr val="tx1"/>
              </a:solidFill>
              <a:effectLst/>
              <a:latin typeface="Times New Roman" pitchFamily="18" charset="0"/>
              <a:ea typeface="+mn-ea"/>
              <a:cs typeface="+mn-cs"/>
            </a:endParaRPr>
          </a:p>
          <a:p>
            <a:r>
              <a:rPr lang="en-US" sz="1200" b="0" i="0" kern="1200" dirty="0">
                <a:solidFill>
                  <a:schemeClr val="tx1"/>
                </a:solidFill>
                <a:effectLst/>
                <a:latin typeface="Times New Roman" pitchFamily="18" charset="0"/>
                <a:ea typeface="+mn-ea"/>
                <a:cs typeface="+mn-cs"/>
              </a:rPr>
              <a:t>A native method in Java is a method declared with the native keyword, indicating that its implementation is written in a language other than Java, such as C or C++. </a:t>
            </a:r>
          </a:p>
          <a:p>
            <a:r>
              <a:rPr lang="en-US" sz="1200" b="0" i="0" kern="1200" dirty="0">
                <a:solidFill>
                  <a:schemeClr val="tx1"/>
                </a:solidFill>
                <a:effectLst/>
                <a:latin typeface="Times New Roman" pitchFamily="18" charset="0"/>
                <a:ea typeface="+mn-ea"/>
                <a:cs typeface="+mn-cs"/>
              </a:rPr>
              <a:t>These methods allow Java programs to interact with platform-specific features or existing legacy code that cannot be directly accessed or implemented in Java.</a:t>
            </a:r>
            <a:endParaRPr lang="en-US" sz="1200" kern="1200" dirty="0">
              <a:solidFill>
                <a:schemeClr val="tx1"/>
              </a:solidFill>
              <a:effectLst/>
              <a:latin typeface="Times New Roman" pitchFamily="18" charset="0"/>
              <a:ea typeface="+mn-ea"/>
              <a:cs typeface="+mn-cs"/>
            </a:endParaRPr>
          </a:p>
        </p:txBody>
      </p:sp>
    </p:spTree>
    <p:extLst>
      <p:ext uri="{BB962C8B-B14F-4D97-AF65-F5344CB8AC3E}">
        <p14:creationId xmlns:p14="http://schemas.microsoft.com/office/powerpoint/2010/main" val="29001528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99E89-B2E9-830C-05FE-41C786830770}"/>
            </a:ext>
          </a:extLst>
        </p:cNvPr>
        <p:cNvGrpSpPr/>
        <p:nvPr/>
      </p:nvGrpSpPr>
      <p:grpSpPr>
        <a:xfrm>
          <a:off x="0" y="0"/>
          <a:ext cx="0" cy="0"/>
          <a:chOff x="0" y="0"/>
          <a:chExt cx="0" cy="0"/>
        </a:xfrm>
      </p:grpSpPr>
      <p:sp>
        <p:nvSpPr>
          <p:cNvPr id="21506" name="Rectangle 2">
            <a:extLst>
              <a:ext uri="{FF2B5EF4-FFF2-40B4-BE49-F238E27FC236}">
                <a16:creationId xmlns:a16="http://schemas.microsoft.com/office/drawing/2014/main" id="{AB510552-C8E5-637B-52F4-442EC56C45A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Rectangle 3">
            <a:extLst>
              <a:ext uri="{FF2B5EF4-FFF2-40B4-BE49-F238E27FC236}">
                <a16:creationId xmlns:a16="http://schemas.microsoft.com/office/drawing/2014/main" id="{805798A2-78BF-3C1B-192B-3A2B4528DEC8}"/>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123019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EE9E362-5F03-41CC-BA5A-274A4D82890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Rectangle 3">
            <a:extLst>
              <a:ext uri="{FF2B5EF4-FFF2-40B4-BE49-F238E27FC236}">
                <a16:creationId xmlns:a16="http://schemas.microsoft.com/office/drawing/2014/main" id="{A45518AB-661E-4FA8-B0C0-310BC4B9EC0B}"/>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089BB-8738-7F56-0502-E62539F88C2E}"/>
            </a:ext>
          </a:extLst>
        </p:cNvPr>
        <p:cNvGrpSpPr/>
        <p:nvPr/>
      </p:nvGrpSpPr>
      <p:grpSpPr>
        <a:xfrm>
          <a:off x="0" y="0"/>
          <a:ext cx="0" cy="0"/>
          <a:chOff x="0" y="0"/>
          <a:chExt cx="0" cy="0"/>
        </a:xfrm>
      </p:grpSpPr>
      <p:sp>
        <p:nvSpPr>
          <p:cNvPr id="21506" name="Rectangle 2">
            <a:extLst>
              <a:ext uri="{FF2B5EF4-FFF2-40B4-BE49-F238E27FC236}">
                <a16:creationId xmlns:a16="http://schemas.microsoft.com/office/drawing/2014/main" id="{C6D80F2C-D3E6-ABB6-B336-CA71781362A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Rectangle 3">
            <a:extLst>
              <a:ext uri="{FF2B5EF4-FFF2-40B4-BE49-F238E27FC236}">
                <a16:creationId xmlns:a16="http://schemas.microsoft.com/office/drawing/2014/main" id="{288BF782-191D-2F51-8EB9-A88173C50B0F}"/>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799225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B8B5E3F-C61C-4106-A878-DCA2C6C3B015}"/>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a:extLst>
              <a:ext uri="{FF2B5EF4-FFF2-40B4-BE49-F238E27FC236}">
                <a16:creationId xmlns:a16="http://schemas.microsoft.com/office/drawing/2014/main" id="{9BC78E0E-0FB2-4DB5-9714-60B0AA0CC9CE}"/>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32152140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B8B5E3F-C61C-4106-A878-DCA2C6C3B015}"/>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a:extLst>
              <a:ext uri="{FF2B5EF4-FFF2-40B4-BE49-F238E27FC236}">
                <a16:creationId xmlns:a16="http://schemas.microsoft.com/office/drawing/2014/main" id="{9BC78E0E-0FB2-4DB5-9714-60B0AA0CC9CE}"/>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4017027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5AD35B1B-2A8D-41A9-B08D-5D5BD6E1DC6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a:extLst>
              <a:ext uri="{FF2B5EF4-FFF2-40B4-BE49-F238E27FC236}">
                <a16:creationId xmlns:a16="http://schemas.microsoft.com/office/drawing/2014/main" id="{3DC6599B-EA54-4D31-928F-B6869684979E}"/>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 first catch block would catch ALL exceptions, so the others are never run.</a:t>
            </a:r>
          </a:p>
          <a:p>
            <a:r>
              <a:rPr lang="en-US" altLang="en-US" dirty="0"/>
              <a:t>Syntax error:  </a:t>
            </a:r>
            <a:r>
              <a:rPr lang="en-US" altLang="en-US" dirty="0" err="1"/>
              <a:t>IOException</a:t>
            </a:r>
            <a:r>
              <a:rPr lang="en-US" altLang="en-US" dirty="0"/>
              <a:t> has already been caught.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B8B5E3F-C61C-4106-A878-DCA2C6C3B015}"/>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a:extLst>
              <a:ext uri="{FF2B5EF4-FFF2-40B4-BE49-F238E27FC236}">
                <a16:creationId xmlns:a16="http://schemas.microsoft.com/office/drawing/2014/main" id="{9BC78E0E-0FB2-4DB5-9714-60B0AA0CC9CE}"/>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800753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1" indent="0" algn="l" defTabSz="914400" rtl="0" eaLnBrk="1" fontAlgn="base"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Yes, because </a:t>
            </a:r>
            <a:r>
              <a:rPr kumimoji="0" lang="en-US" sz="1600" b="1"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MalformedURLException</a:t>
            </a:r>
            <a:r>
              <a:rPr kumimoji="0" lang="en-US" sz="1600" b="1"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is a type of </a:t>
            </a:r>
            <a:r>
              <a:rPr kumimoji="0" lang="en-US" sz="1600" b="1"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IOException</a:t>
            </a:r>
            <a:r>
              <a:rPr kumimoji="0" lang="en-US" sz="1600" b="1"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a:t>
            </a:r>
            <a:endParaRPr lang="en-US" dirty="0"/>
          </a:p>
        </p:txBody>
      </p:sp>
    </p:spTree>
    <p:extLst>
      <p:ext uri="{BB962C8B-B14F-4D97-AF65-F5344CB8AC3E}">
        <p14:creationId xmlns:p14="http://schemas.microsoft.com/office/powerpoint/2010/main" val="39696715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97A06-ED1D-3178-6E16-7F4AEECE6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6AF0C-696D-DD70-FDF6-BBC4E711551E}"/>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334D87B-0B6C-BD33-E7C2-2420F5C620E1}"/>
              </a:ext>
            </a:extLst>
          </p:cNvPr>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7574873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FE84D-6D4A-8D29-D086-B908FA63C1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FEA13C-E17A-DD7C-35B1-AC2B09790947}"/>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DECBAD9-8AD8-C9DC-9D24-A83AA0FE02D4}"/>
              </a:ext>
            </a:extLst>
          </p:cNvPr>
          <p:cNvSpPr>
            <a:spLocks noGrp="1"/>
          </p:cNvSpPr>
          <p:nvPr>
            <p:ph type="body" idx="1"/>
          </p:nvPr>
        </p:nvSpPr>
        <p:spPr>
          <a:xfrm>
            <a:off x="685800" y="4400550"/>
            <a:ext cx="5486400" cy="3600450"/>
          </a:xfrm>
          <a:prstGeom prst="rect">
            <a:avLst/>
          </a:prstGeom>
        </p:spPr>
        <p:txBody>
          <a:bodyPr/>
          <a:lstStyle/>
          <a:p>
            <a:pPr marL="0" marR="0" lvl="1" indent="0" algn="l" defTabSz="914400" rtl="0" eaLnBrk="1" fontAlgn="base" latinLnBrk="0" hangingPunct="1">
              <a:lnSpc>
                <a:spcPct val="100000"/>
              </a:lnSpc>
              <a:spcBef>
                <a:spcPct val="0"/>
              </a:spcBef>
              <a:spcAft>
                <a:spcPts val="600"/>
              </a:spcAft>
              <a:buClrTx/>
              <a:buSzTx/>
              <a:buFontTx/>
              <a:buNone/>
              <a:tabLst/>
              <a:defRPr/>
            </a:pPr>
            <a:endPar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endParaRPr>
          </a:p>
        </p:txBody>
      </p:sp>
    </p:spTree>
    <p:extLst>
      <p:ext uri="{BB962C8B-B14F-4D97-AF65-F5344CB8AC3E}">
        <p14:creationId xmlns:p14="http://schemas.microsoft.com/office/powerpoint/2010/main" val="5493472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37150-89B2-7D90-0784-88E853C254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DC08E-B89F-429D-95B2-BA30D7FC0585}"/>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C99F4AE-09E2-B900-05EA-777396E23A27}"/>
              </a:ext>
            </a:extLst>
          </p:cNvPr>
          <p:cNvSpPr>
            <a:spLocks noGrp="1"/>
          </p:cNvSpPr>
          <p:nvPr>
            <p:ph type="body" idx="1"/>
          </p:nvPr>
        </p:nvSpPr>
        <p:spPr>
          <a:xfrm>
            <a:off x="685800" y="4400550"/>
            <a:ext cx="5486400" cy="3600450"/>
          </a:xfrm>
          <a:prstGeom prst="rect">
            <a:avLst/>
          </a:prstGeom>
        </p:spPr>
        <p:txBody>
          <a:bodyPr/>
          <a:lstStyle/>
          <a:p>
            <a:pPr marL="0" marR="0" lvl="1" indent="0" algn="l" defTabSz="914400" rtl="0" eaLnBrk="1" fontAlgn="base" latinLnBrk="0" hangingPunct="1">
              <a:lnSpc>
                <a:spcPct val="100000"/>
              </a:lnSpc>
              <a:spcBef>
                <a:spcPct val="0"/>
              </a:spcBef>
              <a:spcAft>
                <a:spcPts val="600"/>
              </a:spcAft>
              <a:buClrTx/>
              <a:buSzTx/>
              <a:buFontTx/>
              <a:buNone/>
              <a:tabLst/>
              <a:defRPr/>
            </a:pPr>
            <a:endPar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endParaRPr>
          </a:p>
        </p:txBody>
      </p:sp>
    </p:spTree>
    <p:extLst>
      <p:ext uri="{BB962C8B-B14F-4D97-AF65-F5344CB8AC3E}">
        <p14:creationId xmlns:p14="http://schemas.microsoft.com/office/powerpoint/2010/main" val="38744525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3B8C8-B429-73CE-F40D-5A0695320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9E7EC-50E6-49BA-C6DE-C41A40DB0AF0}"/>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9A956D1-103A-9F77-2DE1-8CCA9A4DCE20}"/>
              </a:ext>
            </a:extLst>
          </p:cNvPr>
          <p:cNvSpPr>
            <a:spLocks noGrp="1"/>
          </p:cNvSpPr>
          <p:nvPr>
            <p:ph type="body" idx="1"/>
          </p:nvPr>
        </p:nvSpPr>
        <p:spPr>
          <a:xfrm>
            <a:off x="685800" y="4400550"/>
            <a:ext cx="5486400" cy="3600450"/>
          </a:xfrm>
          <a:prstGeom prst="rect">
            <a:avLst/>
          </a:prstGeom>
        </p:spPr>
        <p:txBody>
          <a:bodyPr/>
          <a:lstStyle/>
          <a:p>
            <a:pPr marL="0" marR="0" lvl="1" indent="0" algn="l" defTabSz="914400" rtl="0" eaLnBrk="1" fontAlgn="base" latinLnBrk="0" hangingPunct="1">
              <a:lnSpc>
                <a:spcPct val="100000"/>
              </a:lnSpc>
              <a:spcBef>
                <a:spcPct val="0"/>
              </a:spcBef>
              <a:spcAft>
                <a:spcPts val="600"/>
              </a:spcAft>
              <a:buClrTx/>
              <a:buSzTx/>
              <a:buFontTx/>
              <a:buNone/>
              <a:tabLst/>
              <a:defRPr/>
            </a:pPr>
            <a:endPar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endParaRPr>
          </a:p>
        </p:txBody>
      </p:sp>
    </p:spTree>
    <p:extLst>
      <p:ext uri="{BB962C8B-B14F-4D97-AF65-F5344CB8AC3E}">
        <p14:creationId xmlns:p14="http://schemas.microsoft.com/office/powerpoint/2010/main" val="22986037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11050143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indent="0" algn="l"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Don’t do this!</a:t>
            </a:r>
          </a:p>
          <a:p>
            <a:endParaRPr lang="en-US" altLang="en-US" dirty="0">
              <a:latin typeface="Bahnschrift" panose="020B0502040204020203" pitchFamily="34" charset="0"/>
            </a:endParaRPr>
          </a:p>
        </p:txBody>
      </p:sp>
    </p:spTree>
    <p:extLst>
      <p:ext uri="{BB962C8B-B14F-4D97-AF65-F5344CB8AC3E}">
        <p14:creationId xmlns:p14="http://schemas.microsoft.com/office/powerpoint/2010/main" val="41813559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algn="l"/>
            <a:endParaRPr lang="en-US" sz="1800" b="0" i="0" u="none" strike="noStrike" baseline="0" dirty="0">
              <a:solidFill>
                <a:srgbClr val="000000"/>
              </a:solidFill>
              <a:latin typeface="Arial" panose="020B0604020202020204" pitchFamily="34" charset="0"/>
            </a:endParaRPr>
          </a:p>
          <a:p>
            <a:r>
              <a:rPr lang="en-US" sz="1800" b="0" i="0" u="none" strike="noStrike" baseline="0" dirty="0">
                <a:latin typeface="Arial" panose="020B0604020202020204" pitchFamily="34" charset="0"/>
              </a:rPr>
              <a:t>The stack trace would start with the actual source of the error, not with our method.</a:t>
            </a: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pPr algn="l"/>
            <a:endParaRPr lang="en-US" sz="1800" b="0" i="0" u="none" strike="noStrike" baseline="0" dirty="0">
              <a:solidFill>
                <a:srgbClr val="000000"/>
              </a:solidFill>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r>
              <a:rPr lang="en-US" sz="1800" b="0" i="0" u="none" strike="noStrike" baseline="0" dirty="0">
                <a:solidFill>
                  <a:srgbClr val="212121"/>
                </a:solidFill>
                <a:latin typeface="Arial" panose="020B0604020202020204" pitchFamily="34" charset="0"/>
              </a:rPr>
              <a:t>When the exception is later caught and printed toSystemOut.log, the inner exception message and stack will be included.</a:t>
            </a:r>
          </a:p>
          <a:p>
            <a:r>
              <a:rPr lang="en-US" sz="1800" b="0" i="0" u="none" strike="noStrike" baseline="0" dirty="0">
                <a:solidFill>
                  <a:srgbClr val="212121"/>
                </a:solidFill>
                <a:latin typeface="Arial" panose="020B0604020202020204" pitchFamily="34" charset="0"/>
              </a:rPr>
              <a:t>Customers often have general catch blocks in Servlets, MDBs, EJBs and other </a:t>
            </a:r>
            <a:r>
              <a:rPr lang="en-US" sz="1800" b="0" i="0" u="none" strike="noStrike" baseline="0" dirty="0" err="1">
                <a:solidFill>
                  <a:srgbClr val="212121"/>
                </a:solidFill>
                <a:latin typeface="Arial" panose="020B0604020202020204" pitchFamily="34" charset="0"/>
              </a:rPr>
              <a:t>corecomponents</a:t>
            </a:r>
            <a:r>
              <a:rPr lang="en-US" sz="1800" b="0" i="0" u="none" strike="noStrike" baseline="0" dirty="0">
                <a:solidFill>
                  <a:srgbClr val="212121"/>
                </a:solidFill>
                <a:latin typeface="Arial" panose="020B0604020202020204" pitchFamily="34" charset="0"/>
              </a:rPr>
              <a:t> where they catch all un-handled exceptions and re-throw them as </a:t>
            </a:r>
            <a:r>
              <a:rPr lang="en-US" sz="1800" b="0" i="0" u="none" strike="noStrike" baseline="0" dirty="0" err="1">
                <a:solidFill>
                  <a:srgbClr val="212121"/>
                </a:solidFill>
                <a:latin typeface="Arial" panose="020B0604020202020204" pitchFamily="34" charset="0"/>
              </a:rPr>
              <a:t>newExceptions</a:t>
            </a:r>
            <a:r>
              <a:rPr lang="en-US" sz="1800" b="0" i="0" u="none" strike="noStrike" baseline="0" dirty="0">
                <a:solidFill>
                  <a:srgbClr val="212121"/>
                </a:solidFill>
                <a:latin typeface="Arial" panose="020B0604020202020204" pitchFamily="34" charset="0"/>
              </a:rPr>
              <a:t>, adding application specific debugging information or auditing information.</a:t>
            </a:r>
            <a:endParaRPr lang="en-US" altLang="en-US" dirty="0">
              <a:latin typeface="Bahnschrift" panose="020B0502040204020203" pitchFamily="34" charset="0"/>
            </a:endParaRPr>
          </a:p>
        </p:txBody>
      </p:sp>
    </p:spTree>
    <p:extLst>
      <p:ext uri="{BB962C8B-B14F-4D97-AF65-F5344CB8AC3E}">
        <p14:creationId xmlns:p14="http://schemas.microsoft.com/office/powerpoint/2010/main" val="16056501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30016-721F-FB0F-893A-3211CFDDB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2EFA0-FF8B-2BEC-6D4E-5CD1FD5E0C0C}"/>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6936D39-75D2-CC89-1F2A-E0E1252DA1F1}"/>
              </a:ext>
            </a:extLst>
          </p:cNvPr>
          <p:cNvSpPr>
            <a:spLocks noGrp="1"/>
          </p:cNvSpPr>
          <p:nvPr>
            <p:ph type="body" idx="1"/>
          </p:nvPr>
        </p:nvSpPr>
        <p:spPr>
          <a:xfrm>
            <a:off x="685800" y="4400550"/>
            <a:ext cx="5486400" cy="3600450"/>
          </a:xfrm>
          <a:prstGeom prst="rect">
            <a:avLst/>
          </a:prstGeom>
        </p:spPr>
        <p:txBody>
          <a:bodyPr/>
          <a:lstStyle/>
          <a:p>
            <a:pPr marL="0" indent="0" algn="l"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The error started with a method we called, but the stack trace would show our method as the starting point of </a:t>
            </a:r>
            <a:r>
              <a:rPr lang="en-US" altLang="en-US">
                <a:solidFill>
                  <a:srgbClr val="006666"/>
                </a:solidFill>
                <a:latin typeface="Bahnschrift" panose="020B0502040204020203" pitchFamily="34" charset="0"/>
                <a:cs typeface="Courier New" panose="02070309020205020404" pitchFamily="49" charset="0"/>
              </a:rPr>
              <a:t>the trace.</a:t>
            </a:r>
            <a:endParaRPr lang="en-US" altLang="en-US" dirty="0">
              <a:latin typeface="Bahnschrift" panose="020B0502040204020203" pitchFamily="34" charset="0"/>
            </a:endParaRPr>
          </a:p>
        </p:txBody>
      </p:sp>
    </p:spTree>
    <p:extLst>
      <p:ext uri="{BB962C8B-B14F-4D97-AF65-F5344CB8AC3E}">
        <p14:creationId xmlns:p14="http://schemas.microsoft.com/office/powerpoint/2010/main" val="36012734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0A43CC5-918D-47E0-BEE4-E8CA17808AD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a:extLst>
              <a:ext uri="{FF2B5EF4-FFF2-40B4-BE49-F238E27FC236}">
                <a16:creationId xmlns:a16="http://schemas.microsoft.com/office/drawing/2014/main" id="{B5955AB8-F3B6-4E99-812F-D7B97F62572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0A43CC5-918D-47E0-BEE4-E8CA17808AD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a:extLst>
              <a:ext uri="{FF2B5EF4-FFF2-40B4-BE49-F238E27FC236}">
                <a16:creationId xmlns:a16="http://schemas.microsoft.com/office/drawing/2014/main" id="{B5955AB8-F3B6-4E99-812F-D7B97F62572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0095821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0A43CC5-918D-47E0-BEE4-E8CA17808AD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a:extLst>
              <a:ext uri="{FF2B5EF4-FFF2-40B4-BE49-F238E27FC236}">
                <a16:creationId xmlns:a16="http://schemas.microsoft.com/office/drawing/2014/main" id="{B5955AB8-F3B6-4E99-812F-D7B97F62572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Runtime exceptions generally shouldn’t be caught, because they represent are programming error and should be fixed when you’re writing the code.</a:t>
            </a:r>
          </a:p>
          <a:p>
            <a:r>
              <a:rPr lang="en-US" altLang="en-US" dirty="0"/>
              <a:t>The exception (no pun intended) is if you don’t have another way to detect the problem.</a:t>
            </a:r>
          </a:p>
        </p:txBody>
      </p:sp>
    </p:spTree>
    <p:extLst>
      <p:ext uri="{BB962C8B-B14F-4D97-AF65-F5344CB8AC3E}">
        <p14:creationId xmlns:p14="http://schemas.microsoft.com/office/powerpoint/2010/main" val="27029247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0A43CC5-918D-47E0-BEE4-E8CA17808AD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a:extLst>
              <a:ext uri="{FF2B5EF4-FFF2-40B4-BE49-F238E27FC236}">
                <a16:creationId xmlns:a16="http://schemas.microsoft.com/office/drawing/2014/main" id="{B5955AB8-F3B6-4E99-812F-D7B97F62572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Runtime exceptions generally shouldn’t be caught, because they represent are programming error and should be fixed when you’re writing the code.</a:t>
            </a:r>
          </a:p>
        </p:txBody>
      </p:sp>
    </p:spTree>
    <p:extLst>
      <p:ext uri="{BB962C8B-B14F-4D97-AF65-F5344CB8AC3E}">
        <p14:creationId xmlns:p14="http://schemas.microsoft.com/office/powerpoint/2010/main" val="32277839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indent="0" algn="l"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Tempting since an empty catch block won’t raise complaints from compiler.</a:t>
            </a:r>
          </a:p>
          <a:p>
            <a:pPr marL="0" indent="0" algn="l"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Don’t do this!</a:t>
            </a:r>
          </a:p>
          <a:p>
            <a:endParaRPr lang="en-US" altLang="en-US" dirty="0">
              <a:latin typeface="Bahnschrift" panose="020B0502040204020203" pitchFamily="34" charset="0"/>
            </a:endParaRPr>
          </a:p>
        </p:txBody>
      </p:sp>
    </p:spTree>
    <p:extLst>
      <p:ext uri="{BB962C8B-B14F-4D97-AF65-F5344CB8AC3E}">
        <p14:creationId xmlns:p14="http://schemas.microsoft.com/office/powerpoint/2010/main" val="35159345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indent="0" algn="l"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Don’t do this!</a:t>
            </a:r>
          </a:p>
          <a:p>
            <a:endParaRPr lang="en-US" altLang="en-US" dirty="0">
              <a:latin typeface="Bahnschrift" panose="020B0502040204020203" pitchFamily="34" charset="0"/>
            </a:endParaRPr>
          </a:p>
        </p:txBody>
      </p:sp>
    </p:spTree>
    <p:extLst>
      <p:ext uri="{BB962C8B-B14F-4D97-AF65-F5344CB8AC3E}">
        <p14:creationId xmlns:p14="http://schemas.microsoft.com/office/powerpoint/2010/main" val="42758041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66376634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8C640-F9A9-9D8F-E3A7-5B2D15850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605EA-BBB0-7C39-E644-6AC0BEE6721C}"/>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F742CCA-98C7-0DE6-B70D-1F6A36FE4C27}"/>
              </a:ext>
            </a:extLst>
          </p:cNvPr>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3505754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a:extLst>
              <a:ext uri="{FF2B5EF4-FFF2-40B4-BE49-F238E27FC236}">
                <a16:creationId xmlns:a16="http://schemas.microsoft.com/office/drawing/2014/main" id="{35FA22D8-7354-4816-864E-EE081205CFC1}"/>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459FED4A-1DD3-4194-A0AE-42D9069E6678}"/>
              </a:ext>
            </a:extLst>
          </p:cNvPr>
          <p:cNvSpPr>
            <a:spLocks noGrp="1"/>
          </p:cNvSpPr>
          <p:nvPr>
            <p:ph type="sldNum" sz="quarter" idx="11"/>
          </p:nvPr>
        </p:nvSpPr>
        <p:spPr/>
        <p:txBody>
          <a:bodyPr/>
          <a:lstStyle>
            <a:lvl1pPr>
              <a:defRPr/>
            </a:lvl1pPr>
          </a:lstStyle>
          <a:p>
            <a:fld id="{458F19C1-AC8C-4448-AE30-D40CB951689E}" type="slidenum">
              <a:rPr lang="en-US" altLang="en-US"/>
              <a:pPr/>
              <a:t>‹#›</a:t>
            </a:fld>
            <a:endParaRPr lang="en-US" altLang="en-US"/>
          </a:p>
        </p:txBody>
      </p:sp>
      <p:sp>
        <p:nvSpPr>
          <p:cNvPr id="6" name="Footer Placeholder 5">
            <a:extLst>
              <a:ext uri="{FF2B5EF4-FFF2-40B4-BE49-F238E27FC236}">
                <a16:creationId xmlns:a16="http://schemas.microsoft.com/office/drawing/2014/main" id="{845BB53A-367D-41BA-8EF6-643310AFFB12}"/>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699483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1B6097-BF5D-4B97-A8BC-F62702A8DA36}"/>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B9C20178-6E2C-4E7F-931B-5A389A23F8B0}"/>
              </a:ext>
            </a:extLst>
          </p:cNvPr>
          <p:cNvSpPr>
            <a:spLocks noGrp="1"/>
          </p:cNvSpPr>
          <p:nvPr>
            <p:ph type="sldNum" sz="quarter" idx="11"/>
          </p:nvPr>
        </p:nvSpPr>
        <p:spPr/>
        <p:txBody>
          <a:bodyPr/>
          <a:lstStyle>
            <a:lvl1pPr>
              <a:defRPr/>
            </a:lvl1pPr>
          </a:lstStyle>
          <a:p>
            <a:fld id="{02036799-4555-4C6C-80A3-5E57D8EE9451}" type="slidenum">
              <a:rPr lang="en-US" altLang="en-US"/>
              <a:pPr/>
              <a:t>‹#›</a:t>
            </a:fld>
            <a:endParaRPr lang="en-US" altLang="en-US"/>
          </a:p>
        </p:txBody>
      </p:sp>
      <p:sp>
        <p:nvSpPr>
          <p:cNvPr id="6" name="Footer Placeholder 5">
            <a:extLst>
              <a:ext uri="{FF2B5EF4-FFF2-40B4-BE49-F238E27FC236}">
                <a16:creationId xmlns:a16="http://schemas.microsoft.com/office/drawing/2014/main" id="{FBA68839-8342-4ED3-87AA-73D5153F0736}"/>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035106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a:extLst>
              <a:ext uri="{FF2B5EF4-FFF2-40B4-BE49-F238E27FC236}">
                <a16:creationId xmlns:a16="http://schemas.microsoft.com/office/drawing/2014/main" id="{ACCD7C7C-6674-46CB-A17B-716CFD213A55}"/>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A01B958E-87D1-48FE-AC38-ECDD2AF2E489}"/>
              </a:ext>
            </a:extLst>
          </p:cNvPr>
          <p:cNvSpPr>
            <a:spLocks noGrp="1"/>
          </p:cNvSpPr>
          <p:nvPr>
            <p:ph type="sldNum" sz="quarter" idx="11"/>
          </p:nvPr>
        </p:nvSpPr>
        <p:spPr/>
        <p:txBody>
          <a:bodyPr/>
          <a:lstStyle>
            <a:lvl1pPr>
              <a:defRPr/>
            </a:lvl1pPr>
          </a:lstStyle>
          <a:p>
            <a:fld id="{5BB0B58F-5A69-41C6-A88A-E0C151F0FCE3}" type="slidenum">
              <a:rPr lang="en-US" altLang="en-US"/>
              <a:pPr/>
              <a:t>‹#›</a:t>
            </a:fld>
            <a:endParaRPr lang="en-US" altLang="en-US"/>
          </a:p>
        </p:txBody>
      </p:sp>
      <p:sp>
        <p:nvSpPr>
          <p:cNvPr id="6" name="Footer Placeholder 5">
            <a:extLst>
              <a:ext uri="{FF2B5EF4-FFF2-40B4-BE49-F238E27FC236}">
                <a16:creationId xmlns:a16="http://schemas.microsoft.com/office/drawing/2014/main" id="{DA321155-143C-46B0-8878-41EB33194999}"/>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380792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900EE6-15C0-4897-9088-6BC4780B3A00}"/>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6C78B44-AD11-4DD5-ACDA-9975033CA1DD}"/>
              </a:ext>
            </a:extLst>
          </p:cNvPr>
          <p:cNvSpPr>
            <a:spLocks noGrp="1"/>
          </p:cNvSpPr>
          <p:nvPr>
            <p:ph type="sldNum" sz="quarter" idx="11"/>
          </p:nvPr>
        </p:nvSpPr>
        <p:spPr/>
        <p:txBody>
          <a:bodyPr/>
          <a:lstStyle>
            <a:lvl1pPr>
              <a:defRPr/>
            </a:lvl1pPr>
          </a:lstStyle>
          <a:p>
            <a:fld id="{E4185C97-BA49-4E5C-B40B-1633CA2612FF}" type="slidenum">
              <a:rPr lang="en-US" altLang="en-US"/>
              <a:pPr/>
              <a:t>‹#›</a:t>
            </a:fld>
            <a:endParaRPr lang="en-US" altLang="en-US"/>
          </a:p>
        </p:txBody>
      </p:sp>
      <p:sp>
        <p:nvSpPr>
          <p:cNvPr id="7" name="Footer Placeholder 6">
            <a:extLst>
              <a:ext uri="{FF2B5EF4-FFF2-40B4-BE49-F238E27FC236}">
                <a16:creationId xmlns:a16="http://schemas.microsoft.com/office/drawing/2014/main" id="{AC0CE763-9F64-41A8-851B-028E81C34F16}"/>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290913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9DF4FF-ED35-4292-AA22-0EB8A611955E}"/>
              </a:ext>
            </a:extLst>
          </p:cNvPr>
          <p:cNvSpPr>
            <a:spLocks noGrp="1"/>
          </p:cNvSpPr>
          <p:nvPr>
            <p:ph type="dt" sz="half" idx="10"/>
          </p:nvPr>
        </p:nvSpPr>
        <p:spPr/>
        <p:txBody>
          <a:bodyPr/>
          <a:lstStyle>
            <a:lvl1pPr>
              <a:defRPr/>
            </a:lvl1pPr>
          </a:lstStyle>
          <a:p>
            <a:pPr>
              <a:defRPr/>
            </a:pPr>
            <a:endParaRPr lang="en-US"/>
          </a:p>
        </p:txBody>
      </p:sp>
      <p:sp>
        <p:nvSpPr>
          <p:cNvPr id="8" name="Slide Number Placeholder 7">
            <a:extLst>
              <a:ext uri="{FF2B5EF4-FFF2-40B4-BE49-F238E27FC236}">
                <a16:creationId xmlns:a16="http://schemas.microsoft.com/office/drawing/2014/main" id="{086F33BE-CF5A-466F-8292-F743A0E41490}"/>
              </a:ext>
            </a:extLst>
          </p:cNvPr>
          <p:cNvSpPr>
            <a:spLocks noGrp="1"/>
          </p:cNvSpPr>
          <p:nvPr>
            <p:ph type="sldNum" sz="quarter" idx="11"/>
          </p:nvPr>
        </p:nvSpPr>
        <p:spPr/>
        <p:txBody>
          <a:bodyPr/>
          <a:lstStyle>
            <a:lvl1pPr>
              <a:defRPr/>
            </a:lvl1pPr>
          </a:lstStyle>
          <a:p>
            <a:fld id="{DFE120A1-226A-4DA8-A099-B35C4FD9AF35}" type="slidenum">
              <a:rPr lang="en-US" altLang="en-US"/>
              <a:pPr/>
              <a:t>‹#›</a:t>
            </a:fld>
            <a:endParaRPr lang="en-US" altLang="en-US"/>
          </a:p>
        </p:txBody>
      </p:sp>
      <p:sp>
        <p:nvSpPr>
          <p:cNvPr id="9" name="Footer Placeholder 8">
            <a:extLst>
              <a:ext uri="{FF2B5EF4-FFF2-40B4-BE49-F238E27FC236}">
                <a16:creationId xmlns:a16="http://schemas.microsoft.com/office/drawing/2014/main" id="{3690BE65-A35C-42C8-A29E-0E531A919E0C}"/>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381805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61FEDE-04AA-48E1-860F-1D02A3AE85EF}"/>
              </a:ext>
            </a:extLst>
          </p:cNvPr>
          <p:cNvSpPr>
            <a:spLocks noGrp="1"/>
          </p:cNvSpPr>
          <p:nvPr>
            <p:ph type="dt" sz="half" idx="10"/>
          </p:nvPr>
        </p:nvSpPr>
        <p:spPr/>
        <p:txBody>
          <a:bodyPr/>
          <a:lstStyle>
            <a:lvl1pPr>
              <a:defRPr/>
            </a:lvl1pPr>
          </a:lstStyle>
          <a:p>
            <a:pPr>
              <a:defRPr/>
            </a:pPr>
            <a:endParaRPr lang="en-US"/>
          </a:p>
        </p:txBody>
      </p:sp>
      <p:sp>
        <p:nvSpPr>
          <p:cNvPr id="4" name="Slide Number Placeholder 3">
            <a:extLst>
              <a:ext uri="{FF2B5EF4-FFF2-40B4-BE49-F238E27FC236}">
                <a16:creationId xmlns:a16="http://schemas.microsoft.com/office/drawing/2014/main" id="{1EAC32E8-6544-4A1B-8048-B4CDB923D79C}"/>
              </a:ext>
            </a:extLst>
          </p:cNvPr>
          <p:cNvSpPr>
            <a:spLocks noGrp="1"/>
          </p:cNvSpPr>
          <p:nvPr>
            <p:ph type="sldNum" sz="quarter" idx="11"/>
          </p:nvPr>
        </p:nvSpPr>
        <p:spPr/>
        <p:txBody>
          <a:bodyPr/>
          <a:lstStyle>
            <a:lvl1pPr>
              <a:defRPr/>
            </a:lvl1pPr>
          </a:lstStyle>
          <a:p>
            <a:fld id="{39F426E0-A0CD-4FC4-850D-F6EAD2BEFFE6}" type="slidenum">
              <a:rPr lang="en-US" altLang="en-US"/>
              <a:pPr/>
              <a:t>‹#›</a:t>
            </a:fld>
            <a:endParaRPr lang="en-US" altLang="en-US"/>
          </a:p>
        </p:txBody>
      </p:sp>
      <p:sp>
        <p:nvSpPr>
          <p:cNvPr id="5" name="Footer Placeholder 4">
            <a:extLst>
              <a:ext uri="{FF2B5EF4-FFF2-40B4-BE49-F238E27FC236}">
                <a16:creationId xmlns:a16="http://schemas.microsoft.com/office/drawing/2014/main" id="{82BB59B9-C89C-44DB-8ADC-1280E7D8FD01}"/>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429874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7EADC2-6FE4-4C68-81E6-FFB545308F59}"/>
              </a:ext>
            </a:extLst>
          </p:cNvPr>
          <p:cNvSpPr>
            <a:spLocks noGrp="1"/>
          </p:cNvSpPr>
          <p:nvPr>
            <p:ph type="dt" sz="half" idx="10"/>
          </p:nvPr>
        </p:nvSpPr>
        <p:spPr/>
        <p:txBody>
          <a:bodyPr/>
          <a:lstStyle>
            <a:lvl1pPr>
              <a:defRPr/>
            </a:lvl1pPr>
          </a:lstStyle>
          <a:p>
            <a:pPr>
              <a:defRPr/>
            </a:pPr>
            <a:endParaRPr lang="en-US"/>
          </a:p>
        </p:txBody>
      </p:sp>
      <p:sp>
        <p:nvSpPr>
          <p:cNvPr id="3" name="Slide Number Placeholder 2">
            <a:extLst>
              <a:ext uri="{FF2B5EF4-FFF2-40B4-BE49-F238E27FC236}">
                <a16:creationId xmlns:a16="http://schemas.microsoft.com/office/drawing/2014/main" id="{98A3C9E9-7A8E-40DB-B17E-390B0CF8F00E}"/>
              </a:ext>
            </a:extLst>
          </p:cNvPr>
          <p:cNvSpPr>
            <a:spLocks noGrp="1"/>
          </p:cNvSpPr>
          <p:nvPr>
            <p:ph type="sldNum" sz="quarter" idx="11"/>
          </p:nvPr>
        </p:nvSpPr>
        <p:spPr/>
        <p:txBody>
          <a:bodyPr/>
          <a:lstStyle>
            <a:lvl1pPr>
              <a:defRPr/>
            </a:lvl1pPr>
          </a:lstStyle>
          <a:p>
            <a:fld id="{96A23195-76A1-4E41-B078-410DC29B2889}" type="slidenum">
              <a:rPr lang="en-US" altLang="en-US"/>
              <a:pPr/>
              <a:t>‹#›</a:t>
            </a:fld>
            <a:endParaRPr lang="en-US" altLang="en-US"/>
          </a:p>
        </p:txBody>
      </p:sp>
      <p:sp>
        <p:nvSpPr>
          <p:cNvPr id="4" name="Footer Placeholder 3">
            <a:extLst>
              <a:ext uri="{FF2B5EF4-FFF2-40B4-BE49-F238E27FC236}">
                <a16:creationId xmlns:a16="http://schemas.microsoft.com/office/drawing/2014/main" id="{0E540015-B0F2-44A6-9EAC-F855964659D3}"/>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470298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122B116C-5EC4-4D6D-B6DD-6F470AC22A10}"/>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03F6358-770D-4C16-8723-DAE00AA11EBC}"/>
              </a:ext>
            </a:extLst>
          </p:cNvPr>
          <p:cNvSpPr>
            <a:spLocks noGrp="1"/>
          </p:cNvSpPr>
          <p:nvPr>
            <p:ph type="sldNum" sz="quarter" idx="11"/>
          </p:nvPr>
        </p:nvSpPr>
        <p:spPr/>
        <p:txBody>
          <a:bodyPr/>
          <a:lstStyle>
            <a:lvl1pPr>
              <a:defRPr/>
            </a:lvl1pPr>
          </a:lstStyle>
          <a:p>
            <a:fld id="{39AAA51B-5F86-497F-84F7-5D66EE6472F0}" type="slidenum">
              <a:rPr lang="en-US" altLang="en-US"/>
              <a:pPr/>
              <a:t>‹#›</a:t>
            </a:fld>
            <a:endParaRPr lang="en-US" altLang="en-US"/>
          </a:p>
        </p:txBody>
      </p:sp>
      <p:sp>
        <p:nvSpPr>
          <p:cNvPr id="7" name="Footer Placeholder 6">
            <a:extLst>
              <a:ext uri="{FF2B5EF4-FFF2-40B4-BE49-F238E27FC236}">
                <a16:creationId xmlns:a16="http://schemas.microsoft.com/office/drawing/2014/main" id="{71A40A8A-3A24-4C26-A3A0-AEF01390E64C}"/>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842727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D33D4760-53A2-4465-8F9B-74274D5E3B68}"/>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FCCA321-B86C-4A8F-B666-8EBDF56E3DC1}"/>
              </a:ext>
            </a:extLst>
          </p:cNvPr>
          <p:cNvSpPr>
            <a:spLocks noGrp="1"/>
          </p:cNvSpPr>
          <p:nvPr>
            <p:ph type="sldNum" sz="quarter" idx="11"/>
          </p:nvPr>
        </p:nvSpPr>
        <p:spPr/>
        <p:txBody>
          <a:bodyPr/>
          <a:lstStyle>
            <a:lvl1pPr>
              <a:defRPr/>
            </a:lvl1pPr>
          </a:lstStyle>
          <a:p>
            <a:fld id="{5FFE1A67-640C-4713-9160-0816BC503E12}" type="slidenum">
              <a:rPr lang="en-US" altLang="en-US"/>
              <a:pPr/>
              <a:t>‹#›</a:t>
            </a:fld>
            <a:endParaRPr lang="en-US" altLang="en-US"/>
          </a:p>
        </p:txBody>
      </p:sp>
      <p:sp>
        <p:nvSpPr>
          <p:cNvPr id="7" name="Footer Placeholder 6">
            <a:extLst>
              <a:ext uri="{FF2B5EF4-FFF2-40B4-BE49-F238E27FC236}">
                <a16:creationId xmlns:a16="http://schemas.microsoft.com/office/drawing/2014/main" id="{A59EC66F-2A92-4446-B5EE-CB1FF0E013F1}"/>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256852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322CA8-60CB-43B1-99F2-D1D30C1DEF7A}"/>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3E017BDF-5949-45C3-9520-7F6C5CF2306F}"/>
              </a:ext>
            </a:extLst>
          </p:cNvPr>
          <p:cNvSpPr>
            <a:spLocks noGrp="1"/>
          </p:cNvSpPr>
          <p:nvPr>
            <p:ph type="sldNum" sz="quarter" idx="11"/>
          </p:nvPr>
        </p:nvSpPr>
        <p:spPr/>
        <p:txBody>
          <a:bodyPr/>
          <a:lstStyle>
            <a:lvl1pPr>
              <a:defRPr/>
            </a:lvl1pPr>
          </a:lstStyle>
          <a:p>
            <a:fld id="{326A3EF1-9EC9-453A-8B03-CC0DD58C4F90}" type="slidenum">
              <a:rPr lang="en-US" altLang="en-US"/>
              <a:pPr/>
              <a:t>‹#›</a:t>
            </a:fld>
            <a:endParaRPr lang="en-US" altLang="en-US"/>
          </a:p>
        </p:txBody>
      </p:sp>
      <p:sp>
        <p:nvSpPr>
          <p:cNvPr id="6" name="Footer Placeholder 5">
            <a:extLst>
              <a:ext uri="{FF2B5EF4-FFF2-40B4-BE49-F238E27FC236}">
                <a16:creationId xmlns:a16="http://schemas.microsoft.com/office/drawing/2014/main" id="{E361303A-1381-4CDE-BBE4-740231AF66C4}"/>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78814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127D00-DD7F-4139-9259-8FC2DF9AD60F}"/>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40E07E00-2465-4A56-A274-45CE2E5B5DD5}"/>
              </a:ext>
            </a:extLst>
          </p:cNvPr>
          <p:cNvSpPr>
            <a:spLocks noGrp="1"/>
          </p:cNvSpPr>
          <p:nvPr>
            <p:ph type="sldNum" sz="quarter" idx="11"/>
          </p:nvPr>
        </p:nvSpPr>
        <p:spPr/>
        <p:txBody>
          <a:bodyPr/>
          <a:lstStyle>
            <a:lvl1pPr>
              <a:defRPr/>
            </a:lvl1pPr>
          </a:lstStyle>
          <a:p>
            <a:fld id="{609DF65E-0F19-4D9A-8641-1198172E0AE2}" type="slidenum">
              <a:rPr lang="en-US" altLang="en-US"/>
              <a:pPr/>
              <a:t>‹#›</a:t>
            </a:fld>
            <a:endParaRPr lang="en-US" altLang="en-US"/>
          </a:p>
        </p:txBody>
      </p:sp>
      <p:sp>
        <p:nvSpPr>
          <p:cNvPr id="6" name="Footer Placeholder 5">
            <a:extLst>
              <a:ext uri="{FF2B5EF4-FFF2-40B4-BE49-F238E27FC236}">
                <a16:creationId xmlns:a16="http://schemas.microsoft.com/office/drawing/2014/main" id="{2037EDD6-6B9B-4183-8332-88C25DBAE8D3}"/>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110112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6809" name="Rectangle 9"/>
          <p:cNvSpPr>
            <a:spLocks noGrp="1" noChangeArrowheads="1"/>
          </p:cNvSpPr>
          <p:nvPr>
            <p:ph type="ctrTitle"/>
          </p:nvPr>
        </p:nvSpPr>
        <p:spPr>
          <a:xfrm>
            <a:off x="838200" y="2057400"/>
            <a:ext cx="7772400" cy="1143000"/>
          </a:xfrm>
          <a:noFill/>
          <a:extLst>
            <a:ext uri="{909E8E84-426E-40DD-AFC4-6F175D3DCCD1}">
              <a14:hiddenFill xmlns:a14="http://schemas.microsoft.com/office/drawing/2010/main">
                <a:solidFill>
                  <a:schemeClr val="accent1"/>
                </a:solidFill>
              </a14:hiddenFill>
            </a:ext>
          </a:extLst>
        </p:spPr>
        <p:txBody>
          <a:bodyPr anchor="b"/>
          <a:lstStyle>
            <a:lvl1pPr>
              <a:defRPr/>
            </a:lvl1pPr>
          </a:lstStyle>
          <a:p>
            <a:pPr lvl="0"/>
            <a:r>
              <a:rPr lang="en-GB" altLang="zh-CN" noProof="0"/>
              <a:t>Click to edit Master title style</a:t>
            </a:r>
          </a:p>
        </p:txBody>
      </p:sp>
      <p:sp>
        <p:nvSpPr>
          <p:cNvPr id="2" name="Rectangle 11">
            <a:extLst>
              <a:ext uri="{FF2B5EF4-FFF2-40B4-BE49-F238E27FC236}">
                <a16:creationId xmlns:a16="http://schemas.microsoft.com/office/drawing/2014/main" id="{EEAE2ED3-250C-9C99-ED0F-C0AC64798CB1}"/>
              </a:ext>
            </a:extLst>
          </p:cNvPr>
          <p:cNvSpPr>
            <a:spLocks noGrp="1" noChangeArrowheads="1"/>
          </p:cNvSpPr>
          <p:nvPr>
            <p:ph type="sldNum" sz="quarter" idx="10"/>
          </p:nvPr>
        </p:nvSpPr>
        <p:spPr>
          <a:xfrm>
            <a:off x="7239000" y="6324600"/>
            <a:ext cx="1905000" cy="457200"/>
          </a:xfrm>
        </p:spPr>
        <p:txBody>
          <a:bodyPr/>
          <a:lstStyle>
            <a:lvl1pPr>
              <a:defRPr>
                <a:solidFill>
                  <a:schemeClr val="bg2"/>
                </a:solidFill>
              </a:defRPr>
            </a:lvl1pPr>
          </a:lstStyle>
          <a:p>
            <a:fld id="{96C9C657-CBA9-40E7-86C0-BA80FB9EEFAF}" type="slidenum">
              <a:rPr lang="zh-CN" altLang="en-GB"/>
              <a:pPr/>
              <a:t>‹#›</a:t>
            </a:fld>
            <a:endParaRPr lang="en-GB" altLang="zh-CN"/>
          </a:p>
        </p:txBody>
      </p:sp>
    </p:spTree>
    <p:extLst>
      <p:ext uri="{BB962C8B-B14F-4D97-AF65-F5344CB8AC3E}">
        <p14:creationId xmlns:p14="http://schemas.microsoft.com/office/powerpoint/2010/main" val="4018043881"/>
      </p:ext>
    </p:extLst>
  </p:cSld>
  <p:clrMapOvr>
    <a:masterClrMapping/>
  </p:clrMapOvr>
  <p:transition advTm="100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A3CAC74F-2BF6-6E35-8C2B-946B43E795CE}"/>
              </a:ext>
            </a:extLst>
          </p:cNvPr>
          <p:cNvSpPr>
            <a:spLocks noGrp="1" noChangeArrowheads="1"/>
          </p:cNvSpPr>
          <p:nvPr>
            <p:ph type="sldNum" sz="quarter" idx="10"/>
          </p:nvPr>
        </p:nvSpPr>
        <p:spPr>
          <a:ln/>
        </p:spPr>
        <p:txBody>
          <a:bodyPr/>
          <a:lstStyle>
            <a:lvl1pPr>
              <a:defRPr/>
            </a:lvl1pPr>
          </a:lstStyle>
          <a:p>
            <a:fld id="{3B2BDEFC-5560-4D17-89BE-5B1006BDE089}" type="slidenum">
              <a:rPr lang="zh-CN" altLang="en-GB"/>
              <a:pPr/>
              <a:t>‹#›</a:t>
            </a:fld>
            <a:endParaRPr lang="en-GB" altLang="zh-CN"/>
          </a:p>
        </p:txBody>
      </p:sp>
    </p:spTree>
    <p:extLst>
      <p:ext uri="{BB962C8B-B14F-4D97-AF65-F5344CB8AC3E}">
        <p14:creationId xmlns:p14="http://schemas.microsoft.com/office/powerpoint/2010/main" val="1734681991"/>
      </p:ext>
    </p:extLst>
  </p:cSld>
  <p:clrMapOvr>
    <a:masterClrMapping/>
  </p:clrMapOvr>
  <p:transition advTm="100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B46AE816-DFBA-0225-C028-43E11894FCBF}"/>
              </a:ext>
            </a:extLst>
          </p:cNvPr>
          <p:cNvSpPr>
            <a:spLocks noGrp="1" noChangeArrowheads="1"/>
          </p:cNvSpPr>
          <p:nvPr>
            <p:ph type="sldNum" sz="quarter" idx="10"/>
          </p:nvPr>
        </p:nvSpPr>
        <p:spPr>
          <a:ln/>
        </p:spPr>
        <p:txBody>
          <a:bodyPr/>
          <a:lstStyle>
            <a:lvl1pPr>
              <a:defRPr/>
            </a:lvl1pPr>
          </a:lstStyle>
          <a:p>
            <a:fld id="{1CEAE0E3-26F2-4715-8F9E-6937D2F8F2B7}" type="slidenum">
              <a:rPr lang="zh-CN" altLang="en-GB"/>
              <a:pPr/>
              <a:t>‹#›</a:t>
            </a:fld>
            <a:endParaRPr lang="en-GB" altLang="zh-CN"/>
          </a:p>
        </p:txBody>
      </p:sp>
    </p:spTree>
    <p:extLst>
      <p:ext uri="{BB962C8B-B14F-4D97-AF65-F5344CB8AC3E}">
        <p14:creationId xmlns:p14="http://schemas.microsoft.com/office/powerpoint/2010/main" val="1107143870"/>
      </p:ext>
    </p:extLst>
  </p:cSld>
  <p:clrMapOvr>
    <a:masterClrMapping/>
  </p:clrMapOvr>
  <p:transition advTm="100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676400"/>
            <a:ext cx="39624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53000" y="1676400"/>
            <a:ext cx="39624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873BE3BD-095B-74AC-2478-F208501618D5}"/>
              </a:ext>
            </a:extLst>
          </p:cNvPr>
          <p:cNvSpPr>
            <a:spLocks noGrp="1" noChangeArrowheads="1"/>
          </p:cNvSpPr>
          <p:nvPr>
            <p:ph type="sldNum" sz="quarter" idx="10"/>
          </p:nvPr>
        </p:nvSpPr>
        <p:spPr>
          <a:ln/>
        </p:spPr>
        <p:txBody>
          <a:bodyPr/>
          <a:lstStyle>
            <a:lvl1pPr>
              <a:defRPr/>
            </a:lvl1pPr>
          </a:lstStyle>
          <a:p>
            <a:fld id="{0DF1DC81-AA1E-4F7C-835F-EE4384AD9A25}" type="slidenum">
              <a:rPr lang="zh-CN" altLang="en-GB"/>
              <a:pPr/>
              <a:t>‹#›</a:t>
            </a:fld>
            <a:endParaRPr lang="en-GB" altLang="zh-CN"/>
          </a:p>
        </p:txBody>
      </p:sp>
    </p:spTree>
    <p:extLst>
      <p:ext uri="{BB962C8B-B14F-4D97-AF65-F5344CB8AC3E}">
        <p14:creationId xmlns:p14="http://schemas.microsoft.com/office/powerpoint/2010/main" val="466124716"/>
      </p:ext>
    </p:extLst>
  </p:cSld>
  <p:clrMapOvr>
    <a:masterClrMapping/>
  </p:clrMapOvr>
  <p:transition advTm="100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0A785D3A-4857-77DF-3EE2-9CA1C04DBF1D}"/>
              </a:ext>
            </a:extLst>
          </p:cNvPr>
          <p:cNvSpPr>
            <a:spLocks noGrp="1" noChangeArrowheads="1"/>
          </p:cNvSpPr>
          <p:nvPr>
            <p:ph type="sldNum" sz="quarter" idx="10"/>
          </p:nvPr>
        </p:nvSpPr>
        <p:spPr>
          <a:ln/>
        </p:spPr>
        <p:txBody>
          <a:bodyPr/>
          <a:lstStyle>
            <a:lvl1pPr>
              <a:defRPr/>
            </a:lvl1pPr>
          </a:lstStyle>
          <a:p>
            <a:fld id="{4F17D2AD-4EF1-4232-9B22-4F9503FC61B1}" type="slidenum">
              <a:rPr lang="zh-CN" altLang="en-GB"/>
              <a:pPr/>
              <a:t>‹#›</a:t>
            </a:fld>
            <a:endParaRPr lang="en-GB" altLang="zh-CN"/>
          </a:p>
        </p:txBody>
      </p:sp>
    </p:spTree>
    <p:extLst>
      <p:ext uri="{BB962C8B-B14F-4D97-AF65-F5344CB8AC3E}">
        <p14:creationId xmlns:p14="http://schemas.microsoft.com/office/powerpoint/2010/main" val="3618735609"/>
      </p:ext>
    </p:extLst>
  </p:cSld>
  <p:clrMapOvr>
    <a:masterClrMapping/>
  </p:clrMapOvr>
  <p:transition advTm="100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E47A704D-E992-8C53-104D-15FD65E121A2}"/>
              </a:ext>
            </a:extLst>
          </p:cNvPr>
          <p:cNvSpPr>
            <a:spLocks noGrp="1" noChangeArrowheads="1"/>
          </p:cNvSpPr>
          <p:nvPr>
            <p:ph type="sldNum" sz="quarter" idx="10"/>
          </p:nvPr>
        </p:nvSpPr>
        <p:spPr>
          <a:ln/>
        </p:spPr>
        <p:txBody>
          <a:bodyPr/>
          <a:lstStyle>
            <a:lvl1pPr>
              <a:defRPr/>
            </a:lvl1pPr>
          </a:lstStyle>
          <a:p>
            <a:fld id="{72C500EB-4630-4CC0-8540-05A65B0BC1B9}" type="slidenum">
              <a:rPr lang="zh-CN" altLang="en-GB"/>
              <a:pPr/>
              <a:t>‹#›</a:t>
            </a:fld>
            <a:endParaRPr lang="en-GB" altLang="zh-CN"/>
          </a:p>
        </p:txBody>
      </p:sp>
    </p:spTree>
    <p:extLst>
      <p:ext uri="{BB962C8B-B14F-4D97-AF65-F5344CB8AC3E}">
        <p14:creationId xmlns:p14="http://schemas.microsoft.com/office/powerpoint/2010/main" val="2976766022"/>
      </p:ext>
    </p:extLst>
  </p:cSld>
  <p:clrMapOvr>
    <a:masterClrMapping/>
  </p:clrMapOvr>
  <p:transition advTm="100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7E41A516-7861-3931-9A16-53ED65B9888A}"/>
              </a:ext>
            </a:extLst>
          </p:cNvPr>
          <p:cNvSpPr>
            <a:spLocks noGrp="1" noChangeArrowheads="1"/>
          </p:cNvSpPr>
          <p:nvPr>
            <p:ph type="sldNum" sz="quarter" idx="10"/>
          </p:nvPr>
        </p:nvSpPr>
        <p:spPr>
          <a:ln/>
        </p:spPr>
        <p:txBody>
          <a:bodyPr/>
          <a:lstStyle>
            <a:lvl1pPr>
              <a:defRPr/>
            </a:lvl1pPr>
          </a:lstStyle>
          <a:p>
            <a:fld id="{90545726-F4B8-484F-9CC7-4269D8597875}" type="slidenum">
              <a:rPr lang="zh-CN" altLang="en-GB"/>
              <a:pPr/>
              <a:t>‹#›</a:t>
            </a:fld>
            <a:endParaRPr lang="en-GB" altLang="zh-CN"/>
          </a:p>
        </p:txBody>
      </p:sp>
    </p:spTree>
    <p:extLst>
      <p:ext uri="{BB962C8B-B14F-4D97-AF65-F5344CB8AC3E}">
        <p14:creationId xmlns:p14="http://schemas.microsoft.com/office/powerpoint/2010/main" val="2840726602"/>
      </p:ext>
    </p:extLst>
  </p:cSld>
  <p:clrMapOvr>
    <a:masterClrMapping/>
  </p:clrMapOvr>
  <p:transition advTm="100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B4863A23-A758-9C6E-1D26-62D9CAAAB06D}"/>
              </a:ext>
            </a:extLst>
          </p:cNvPr>
          <p:cNvSpPr>
            <a:spLocks noGrp="1" noChangeArrowheads="1"/>
          </p:cNvSpPr>
          <p:nvPr>
            <p:ph type="sldNum" sz="quarter" idx="10"/>
          </p:nvPr>
        </p:nvSpPr>
        <p:spPr>
          <a:ln/>
        </p:spPr>
        <p:txBody>
          <a:bodyPr/>
          <a:lstStyle>
            <a:lvl1pPr>
              <a:defRPr/>
            </a:lvl1pPr>
          </a:lstStyle>
          <a:p>
            <a:fld id="{9E3E6F40-8681-4446-8E72-4DE6ED5A4BE8}" type="slidenum">
              <a:rPr lang="zh-CN" altLang="en-GB"/>
              <a:pPr/>
              <a:t>‹#›</a:t>
            </a:fld>
            <a:endParaRPr lang="en-GB" altLang="zh-CN"/>
          </a:p>
        </p:txBody>
      </p:sp>
    </p:spTree>
    <p:extLst>
      <p:ext uri="{BB962C8B-B14F-4D97-AF65-F5344CB8AC3E}">
        <p14:creationId xmlns:p14="http://schemas.microsoft.com/office/powerpoint/2010/main" val="1582473685"/>
      </p:ext>
    </p:extLst>
  </p:cSld>
  <p:clrMapOvr>
    <a:masterClrMapping/>
  </p:clrMapOvr>
  <p:transition advTm="100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3FC121EE-65BD-F56D-3377-E9FDFADE52E8}"/>
              </a:ext>
            </a:extLst>
          </p:cNvPr>
          <p:cNvSpPr>
            <a:spLocks noGrp="1" noChangeArrowheads="1"/>
          </p:cNvSpPr>
          <p:nvPr>
            <p:ph type="sldNum" sz="quarter" idx="10"/>
          </p:nvPr>
        </p:nvSpPr>
        <p:spPr>
          <a:ln/>
        </p:spPr>
        <p:txBody>
          <a:bodyPr/>
          <a:lstStyle>
            <a:lvl1pPr>
              <a:defRPr/>
            </a:lvl1pPr>
          </a:lstStyle>
          <a:p>
            <a:fld id="{3D09F3B0-F9DF-4899-807B-44E43D12D1D7}" type="slidenum">
              <a:rPr lang="zh-CN" altLang="en-GB"/>
              <a:pPr/>
              <a:t>‹#›</a:t>
            </a:fld>
            <a:endParaRPr lang="en-GB" altLang="zh-CN"/>
          </a:p>
        </p:txBody>
      </p:sp>
    </p:spTree>
    <p:extLst>
      <p:ext uri="{BB962C8B-B14F-4D97-AF65-F5344CB8AC3E}">
        <p14:creationId xmlns:p14="http://schemas.microsoft.com/office/powerpoint/2010/main" val="3333896323"/>
      </p:ext>
    </p:extLst>
  </p:cSld>
  <p:clrMapOvr>
    <a:masterClrMapping/>
  </p:clrMapOvr>
  <p:transition advTm="100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38605A1F-3AB8-92CB-FC13-5FE17569938C}"/>
              </a:ext>
            </a:extLst>
          </p:cNvPr>
          <p:cNvSpPr>
            <a:spLocks noGrp="1" noChangeArrowheads="1"/>
          </p:cNvSpPr>
          <p:nvPr>
            <p:ph type="sldNum" sz="quarter" idx="10"/>
          </p:nvPr>
        </p:nvSpPr>
        <p:spPr>
          <a:ln/>
        </p:spPr>
        <p:txBody>
          <a:bodyPr/>
          <a:lstStyle>
            <a:lvl1pPr>
              <a:defRPr/>
            </a:lvl1pPr>
          </a:lstStyle>
          <a:p>
            <a:fld id="{1D248922-B3F8-4FC9-939A-3722ADC38874}" type="slidenum">
              <a:rPr lang="zh-CN" altLang="en-GB"/>
              <a:pPr/>
              <a:t>‹#›</a:t>
            </a:fld>
            <a:endParaRPr lang="en-GB" altLang="zh-CN"/>
          </a:p>
        </p:txBody>
      </p:sp>
    </p:spTree>
    <p:extLst>
      <p:ext uri="{BB962C8B-B14F-4D97-AF65-F5344CB8AC3E}">
        <p14:creationId xmlns:p14="http://schemas.microsoft.com/office/powerpoint/2010/main" val="1126776576"/>
      </p:ext>
    </p:extLst>
  </p:cSld>
  <p:clrMapOvr>
    <a:masterClrMapping/>
  </p:clrMapOvr>
  <p:transition advTm="100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8463" y="152400"/>
            <a:ext cx="2197100" cy="59801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152400"/>
            <a:ext cx="6443663" cy="59801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CB503D48-17FF-92C3-455B-44A30516B97A}"/>
              </a:ext>
            </a:extLst>
          </p:cNvPr>
          <p:cNvSpPr>
            <a:spLocks noGrp="1" noChangeArrowheads="1"/>
          </p:cNvSpPr>
          <p:nvPr>
            <p:ph type="sldNum" sz="quarter" idx="10"/>
          </p:nvPr>
        </p:nvSpPr>
        <p:spPr>
          <a:ln/>
        </p:spPr>
        <p:txBody>
          <a:bodyPr/>
          <a:lstStyle>
            <a:lvl1pPr>
              <a:defRPr/>
            </a:lvl1pPr>
          </a:lstStyle>
          <a:p>
            <a:fld id="{149469CD-E2DF-437F-B4E6-91EB077640D0}" type="slidenum">
              <a:rPr lang="zh-CN" altLang="en-GB"/>
              <a:pPr/>
              <a:t>‹#›</a:t>
            </a:fld>
            <a:endParaRPr lang="en-GB" altLang="zh-CN"/>
          </a:p>
        </p:txBody>
      </p:sp>
    </p:spTree>
    <p:extLst>
      <p:ext uri="{BB962C8B-B14F-4D97-AF65-F5344CB8AC3E}">
        <p14:creationId xmlns:p14="http://schemas.microsoft.com/office/powerpoint/2010/main" val="3386645807"/>
      </p:ext>
    </p:extLst>
  </p:cSld>
  <p:clrMapOvr>
    <a:masterClrMapping/>
  </p:clrMapOvr>
  <p:transition advTm="100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78A8E04-0779-4CD6-B88F-B86B1077F96B}"/>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21F2296-1D75-4053-B9AF-F472CC760425}"/>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E86540F-8A54-43DB-AF8D-089CB73740B8}"/>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22A929E9-3314-4370-AB43-5A561D1CC6EA}"/>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b="0">
                <a:latin typeface="Times New Roman" panose="02020603050405020304" pitchFamily="18" charset="0"/>
              </a:defRPr>
            </a:lvl1pPr>
          </a:lstStyle>
          <a:p>
            <a:fld id="{53B8419D-7A5A-40EC-BC62-3FE8B05D4C2C}" type="slidenum">
              <a:rPr lang="en-US" altLang="en-US"/>
              <a:pPr/>
              <a:t>‹#›</a:t>
            </a:fld>
            <a:endParaRPr lang="en-US" altLang="en-US"/>
          </a:p>
        </p:txBody>
      </p:sp>
      <p:sp>
        <p:nvSpPr>
          <p:cNvPr id="1031" name="Rectangle 7">
            <a:extLst>
              <a:ext uri="{FF2B5EF4-FFF2-40B4-BE49-F238E27FC236}">
                <a16:creationId xmlns:a16="http://schemas.microsoft.com/office/drawing/2014/main" id="{4C0AC544-C5D1-490A-BAA8-28F85555660B}"/>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800" b="0">
                <a:latin typeface="+mn-lt"/>
              </a:defRPr>
            </a:lvl1pPr>
          </a:lstStyle>
          <a:p>
            <a:pPr>
              <a:defRPr/>
            </a:pPr>
            <a:endParaRPr lang="en-US"/>
          </a:p>
          <a:p>
            <a:pPr>
              <a:defRPr/>
            </a:pPr>
            <a:endParaRPr lang="en-US">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D1D1F0"/>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FE900D97-A798-E66C-A756-B334875E3723}"/>
              </a:ext>
            </a:extLst>
          </p:cNvPr>
          <p:cNvSpPr>
            <a:spLocks noGrp="1" noChangeArrowheads="1"/>
          </p:cNvSpPr>
          <p:nvPr>
            <p:ph type="title"/>
          </p:nvPr>
        </p:nvSpPr>
        <p:spPr bwMode="auto">
          <a:xfrm>
            <a:off x="152400" y="152400"/>
            <a:ext cx="879316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zh-CN"/>
              <a:t>Click to edit Master title style</a:t>
            </a:r>
          </a:p>
        </p:txBody>
      </p:sp>
      <p:sp>
        <p:nvSpPr>
          <p:cNvPr id="1027" name="Rectangle 4">
            <a:extLst>
              <a:ext uri="{FF2B5EF4-FFF2-40B4-BE49-F238E27FC236}">
                <a16:creationId xmlns:a16="http://schemas.microsoft.com/office/drawing/2014/main" id="{EFB9EC2E-CFE7-E6AF-0E89-8395BCB2066A}"/>
              </a:ext>
            </a:extLst>
          </p:cNvPr>
          <p:cNvSpPr>
            <a:spLocks noGrp="1" noChangeArrowheads="1"/>
          </p:cNvSpPr>
          <p:nvPr>
            <p:ph type="body" idx="1"/>
          </p:nvPr>
        </p:nvSpPr>
        <p:spPr bwMode="auto">
          <a:xfrm>
            <a:off x="838200" y="1676400"/>
            <a:ext cx="80772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p>
        </p:txBody>
      </p:sp>
      <p:sp>
        <p:nvSpPr>
          <p:cNvPr id="75781" name="Rectangle 5">
            <a:extLst>
              <a:ext uri="{FF2B5EF4-FFF2-40B4-BE49-F238E27FC236}">
                <a16:creationId xmlns:a16="http://schemas.microsoft.com/office/drawing/2014/main" id="{7A927E3A-F0FA-D6DB-AC44-559388704F38}"/>
              </a:ext>
            </a:extLst>
          </p:cNvPr>
          <p:cNvSpPr>
            <a:spLocks noGrp="1" noChangeArrowheads="1"/>
          </p:cNvSpPr>
          <p:nvPr>
            <p:ph type="sldNum" sz="quarter" idx="4"/>
          </p:nvPr>
        </p:nvSpPr>
        <p:spPr bwMode="auto">
          <a:xfrm>
            <a:off x="7010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lvl1pPr>
          </a:lstStyle>
          <a:p>
            <a:fld id="{52E64789-7EA5-48AB-BEEC-B3BE390960BD}" type="slidenum">
              <a:rPr lang="zh-CN" altLang="en-GB"/>
              <a:pPr/>
              <a:t>‹#›</a:t>
            </a:fld>
            <a:endParaRPr lang="en-GB" altLang="zh-CN"/>
          </a:p>
        </p:txBody>
      </p:sp>
    </p:spTree>
    <p:extLst>
      <p:ext uri="{BB962C8B-B14F-4D97-AF65-F5344CB8AC3E}">
        <p14:creationId xmlns:p14="http://schemas.microsoft.com/office/powerpoint/2010/main" val="2765111165"/>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ransition advTm="1000"/>
  <p:hf hdr="0" ftr="0" dt="0"/>
  <p:txStyles>
    <p:titleStyle>
      <a:lvl1pPr algn="ctr" rtl="0" eaLnBrk="0" fontAlgn="base" hangingPunct="0">
        <a:spcBef>
          <a:spcPct val="0"/>
        </a:spcBef>
        <a:spcAft>
          <a:spcPct val="0"/>
        </a:spcAft>
        <a:defRPr sz="4400">
          <a:solidFill>
            <a:schemeClr val="hlink"/>
          </a:solidFill>
          <a:latin typeface="+mj-lt"/>
          <a:ea typeface="+mj-ea"/>
          <a:cs typeface="+mj-cs"/>
        </a:defRPr>
      </a:lvl1pPr>
      <a:lvl2pPr algn="ctr" rtl="0" eaLnBrk="0" fontAlgn="base" hangingPunct="0">
        <a:spcBef>
          <a:spcPct val="0"/>
        </a:spcBef>
        <a:spcAft>
          <a:spcPct val="0"/>
        </a:spcAft>
        <a:defRPr sz="4400">
          <a:solidFill>
            <a:schemeClr val="hlink"/>
          </a:solidFill>
          <a:latin typeface="Tahoma" pitchFamily="34" charset="0"/>
          <a:ea typeface="SimSun" pitchFamily="2" charset="-122"/>
        </a:defRPr>
      </a:lvl2pPr>
      <a:lvl3pPr algn="ctr" rtl="0" eaLnBrk="0" fontAlgn="base" hangingPunct="0">
        <a:spcBef>
          <a:spcPct val="0"/>
        </a:spcBef>
        <a:spcAft>
          <a:spcPct val="0"/>
        </a:spcAft>
        <a:defRPr sz="4400">
          <a:solidFill>
            <a:schemeClr val="hlink"/>
          </a:solidFill>
          <a:latin typeface="Tahoma" pitchFamily="34" charset="0"/>
          <a:ea typeface="SimSun" pitchFamily="2" charset="-122"/>
        </a:defRPr>
      </a:lvl3pPr>
      <a:lvl4pPr algn="ctr" rtl="0" eaLnBrk="0" fontAlgn="base" hangingPunct="0">
        <a:spcBef>
          <a:spcPct val="0"/>
        </a:spcBef>
        <a:spcAft>
          <a:spcPct val="0"/>
        </a:spcAft>
        <a:defRPr sz="4400">
          <a:solidFill>
            <a:schemeClr val="hlink"/>
          </a:solidFill>
          <a:latin typeface="Tahoma" pitchFamily="34" charset="0"/>
          <a:ea typeface="SimSun" pitchFamily="2" charset="-122"/>
        </a:defRPr>
      </a:lvl4pPr>
      <a:lvl5pPr algn="ctr" rtl="0" eaLnBrk="0" fontAlgn="base" hangingPunct="0">
        <a:spcBef>
          <a:spcPct val="0"/>
        </a:spcBef>
        <a:spcAft>
          <a:spcPct val="0"/>
        </a:spcAft>
        <a:defRPr sz="4400">
          <a:solidFill>
            <a:schemeClr val="hlink"/>
          </a:solidFill>
          <a:latin typeface="Tahoma" pitchFamily="34" charset="0"/>
          <a:ea typeface="SimSun" pitchFamily="2" charset="-122"/>
        </a:defRPr>
      </a:lvl5pPr>
      <a:lvl6pPr marL="457200" algn="ctr" rtl="0" fontAlgn="base">
        <a:spcBef>
          <a:spcPct val="0"/>
        </a:spcBef>
        <a:spcAft>
          <a:spcPct val="0"/>
        </a:spcAft>
        <a:defRPr sz="4400">
          <a:solidFill>
            <a:schemeClr val="hlink"/>
          </a:solidFill>
          <a:latin typeface="Tahoma" pitchFamily="34" charset="0"/>
          <a:ea typeface="SimSun" pitchFamily="2" charset="-122"/>
        </a:defRPr>
      </a:lvl6pPr>
      <a:lvl7pPr marL="914400" algn="ctr" rtl="0" fontAlgn="base">
        <a:spcBef>
          <a:spcPct val="0"/>
        </a:spcBef>
        <a:spcAft>
          <a:spcPct val="0"/>
        </a:spcAft>
        <a:defRPr sz="4400">
          <a:solidFill>
            <a:schemeClr val="hlink"/>
          </a:solidFill>
          <a:latin typeface="Tahoma" pitchFamily="34" charset="0"/>
          <a:ea typeface="SimSun" pitchFamily="2" charset="-122"/>
        </a:defRPr>
      </a:lvl7pPr>
      <a:lvl8pPr marL="1371600" algn="ctr" rtl="0" fontAlgn="base">
        <a:spcBef>
          <a:spcPct val="0"/>
        </a:spcBef>
        <a:spcAft>
          <a:spcPct val="0"/>
        </a:spcAft>
        <a:defRPr sz="4400">
          <a:solidFill>
            <a:schemeClr val="hlink"/>
          </a:solidFill>
          <a:latin typeface="Tahoma" pitchFamily="34" charset="0"/>
          <a:ea typeface="SimSun" pitchFamily="2" charset="-122"/>
        </a:defRPr>
      </a:lvl8pPr>
      <a:lvl9pPr marL="1828800" algn="ctr" rtl="0" fontAlgn="base">
        <a:spcBef>
          <a:spcPct val="0"/>
        </a:spcBef>
        <a:spcAft>
          <a:spcPct val="0"/>
        </a:spcAft>
        <a:defRPr sz="4400">
          <a:solidFill>
            <a:schemeClr val="hlink"/>
          </a:solidFill>
          <a:latin typeface="Tahoma" pitchFamily="34" charset="0"/>
          <a:ea typeface="SimSun" pitchFamily="2" charset="-122"/>
        </a:defRPr>
      </a:lvl9pPr>
    </p:titleStyle>
    <p:bodyStyle>
      <a:lvl1pPr marL="342900" indent="-342900" algn="l" rtl="0" eaLnBrk="0" fontAlgn="base" hangingPunct="0">
        <a:spcBef>
          <a:spcPct val="20000"/>
        </a:spcBef>
        <a:spcAft>
          <a:spcPct val="0"/>
        </a:spcAft>
        <a:buClr>
          <a:schemeClr val="accent2"/>
        </a:buClr>
        <a:buSzPct val="60000"/>
        <a:buFont typeface="Wingdings" panose="05000000000000000000" pitchFamily="2" charset="2"/>
        <a:buChar char="n"/>
        <a:defRPr sz="32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AA6C5C22-38B9-4C89-AC59-59954554EF86}"/>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14339" name="WordArt 3">
            <a:extLst>
              <a:ext uri="{FF2B5EF4-FFF2-40B4-BE49-F238E27FC236}">
                <a16:creationId xmlns:a16="http://schemas.microsoft.com/office/drawing/2014/main" id="{56EF31A3-FDC2-4EF8-A00D-A143F5BE09FF}"/>
              </a:ext>
            </a:extLst>
          </p:cNvPr>
          <p:cNvSpPr>
            <a:spLocks noChangeArrowheads="1" noChangeShapeType="1" noTextEdit="1"/>
          </p:cNvSpPr>
          <p:nvPr/>
        </p:nvSpPr>
        <p:spPr bwMode="auto">
          <a:xfrm>
            <a:off x="762000" y="1295400"/>
            <a:ext cx="8001000" cy="28956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Java Exception </a:t>
            </a:r>
          </a:p>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Handling</a:t>
            </a:r>
          </a:p>
        </p:txBody>
      </p:sp>
      <p:sp>
        <p:nvSpPr>
          <p:cNvPr id="14340" name="WordArt 6">
            <a:extLst>
              <a:ext uri="{FF2B5EF4-FFF2-40B4-BE49-F238E27FC236}">
                <a16:creationId xmlns:a16="http://schemas.microsoft.com/office/drawing/2014/main" id="{D4DD8CE2-79B6-48A5-9520-C4D3D3903542}"/>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07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1D1F0"/>
        </a:solidFill>
        <a:effectLst/>
      </p:bgPr>
    </p:bg>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B5742F0B-9FF6-DB7F-B7AA-B922D61C3737}"/>
              </a:ext>
            </a:extLst>
          </p:cNvPr>
          <p:cNvSpPr>
            <a:spLocks noGrp="1"/>
          </p:cNvSpPr>
          <p:nvPr>
            <p:ph type="title"/>
          </p:nvPr>
        </p:nvSpPr>
        <p:spPr>
          <a:xfrm>
            <a:off x="685800" y="304800"/>
            <a:ext cx="7772400" cy="1143000"/>
          </a:xfrm>
        </p:spPr>
        <p:txBody>
          <a:bodyPr/>
          <a:lstStyle/>
          <a:p>
            <a:r>
              <a:rPr lang="en-US" altLang="en-US" sz="5400" b="1" cap="small" dirty="0">
                <a:solidFill>
                  <a:schemeClr val="tx1"/>
                </a:solidFill>
                <a:latin typeface="Abadi" panose="020B0604020104020204" pitchFamily="34" charset="0"/>
              </a:rPr>
              <a:t>Why Exceptions?</a:t>
            </a:r>
          </a:p>
        </p:txBody>
      </p:sp>
      <p:sp>
        <p:nvSpPr>
          <p:cNvPr id="36868" name="Rectangle 3">
            <a:extLst>
              <a:ext uri="{FF2B5EF4-FFF2-40B4-BE49-F238E27FC236}">
                <a16:creationId xmlns:a16="http://schemas.microsoft.com/office/drawing/2014/main" id="{BC14B05C-ADF4-A308-FA9F-250677B0EC1A}"/>
              </a:ext>
            </a:extLst>
          </p:cNvPr>
          <p:cNvSpPr txBox="1">
            <a:spLocks noRot="1" noChangeArrowheads="1"/>
          </p:cNvSpPr>
          <p:nvPr/>
        </p:nvSpPr>
        <p:spPr bwMode="auto">
          <a:xfrm>
            <a:off x="914400" y="2438400"/>
            <a:ext cx="70866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indent="0" algn="ctr" eaLnBrk="1" hangingPunct="1">
              <a:spcBef>
                <a:spcPct val="20000"/>
              </a:spcBef>
              <a:spcAft>
                <a:spcPts val="1200"/>
              </a:spcAft>
              <a:buClr>
                <a:schemeClr val="tx1"/>
              </a:buClr>
              <a:buSzPct val="60000"/>
            </a:pPr>
            <a:r>
              <a:rPr lang="en-US" altLang="en-US" sz="4000" dirty="0"/>
              <a:t>We seek </a:t>
            </a:r>
            <a:r>
              <a:rPr lang="en-US" altLang="en-US" sz="4000" u="sng" dirty="0"/>
              <a:t>robust</a:t>
            </a:r>
            <a:r>
              <a:rPr lang="en-US" altLang="en-US" sz="4000" dirty="0"/>
              <a:t> programs that can handle any kind </a:t>
            </a:r>
            <a:br>
              <a:rPr lang="en-US" altLang="en-US" sz="4000" dirty="0"/>
            </a:br>
            <a:r>
              <a:rPr lang="en-US" altLang="en-US" sz="4000" dirty="0"/>
              <a:t>of misuse or poor data </a:t>
            </a:r>
            <a:br>
              <a:rPr lang="en-US" altLang="en-US" sz="4000" dirty="0"/>
            </a:br>
            <a:r>
              <a:rPr lang="en-US" altLang="en-US" sz="4000" dirty="0"/>
              <a:t>and not crash.</a:t>
            </a:r>
          </a:p>
        </p:txBody>
      </p:sp>
    </p:spTree>
  </p:cSld>
  <p:clrMapOvr>
    <a:masterClrMapping/>
  </p:clrMapOvr>
  <mc:AlternateContent xmlns:mc="http://schemas.openxmlformats.org/markup-compatibility/2006" xmlns:p14="http://schemas.microsoft.com/office/powerpoint/2010/main">
    <mc:Choice Requires="p14">
      <p:transition spd="slow" p14:dur="2000" advTm="1000"/>
    </mc:Choice>
    <mc:Fallback xmlns="">
      <p:transition spd="slow" advTm="1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1D1F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39A6C653-60E8-42C5-B403-B4FC9197266C}"/>
              </a:ext>
            </a:extLst>
          </p:cNvPr>
          <p:cNvSpPr>
            <a:spLocks noGrp="1"/>
          </p:cNvSpPr>
          <p:nvPr>
            <p:ph type="ftr" sz="quarter" idx="12"/>
          </p:nvPr>
        </p:nvSpPr>
        <p:spPr>
          <a:xfrm>
            <a:off x="6248400" y="6375395"/>
            <a:ext cx="2895600" cy="457200"/>
          </a:xfrm>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16387" name="WordArt 2">
            <a:extLst>
              <a:ext uri="{FF2B5EF4-FFF2-40B4-BE49-F238E27FC236}">
                <a16:creationId xmlns:a16="http://schemas.microsoft.com/office/drawing/2014/main" id="{AF1AC4DA-EFC3-4DE6-B0B6-B38EC8705751}"/>
              </a:ext>
            </a:extLst>
          </p:cNvPr>
          <p:cNvSpPr>
            <a:spLocks noChangeArrowheads="1" noChangeShapeType="1" noTextEdit="1"/>
          </p:cNvSpPr>
          <p:nvPr/>
        </p:nvSpPr>
        <p:spPr bwMode="auto">
          <a:xfrm>
            <a:off x="1447800" y="457200"/>
            <a:ext cx="6096000" cy="9906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an Exception?</a:t>
            </a:r>
          </a:p>
        </p:txBody>
      </p:sp>
      <p:sp>
        <p:nvSpPr>
          <p:cNvPr id="2" name="Rectangle 3">
            <a:extLst>
              <a:ext uri="{FF2B5EF4-FFF2-40B4-BE49-F238E27FC236}">
                <a16:creationId xmlns:a16="http://schemas.microsoft.com/office/drawing/2014/main" id="{CB35DA63-A62F-C81F-6F45-558E275E62D8}"/>
              </a:ext>
            </a:extLst>
          </p:cNvPr>
          <p:cNvSpPr txBox="1">
            <a:spLocks noChangeArrowheads="1"/>
          </p:cNvSpPr>
          <p:nvPr/>
        </p:nvSpPr>
        <p:spPr>
          <a:xfrm>
            <a:off x="666750" y="1944687"/>
            <a:ext cx="7810500" cy="445611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eaLnBrk="1" hangingPunct="1">
              <a:spcBef>
                <a:spcPts val="0"/>
              </a:spcBef>
              <a:spcAft>
                <a:spcPts val="1800"/>
              </a:spcAft>
              <a:buClr>
                <a:schemeClr val="tx1"/>
              </a:buClr>
            </a:pPr>
            <a:r>
              <a:rPr lang="en-US" altLang="en-AU" sz="4000" b="0" kern="0" dirty="0">
                <a:latin typeface="Abadi" panose="020B0604020104020204" pitchFamily="34" charset="0"/>
              </a:rPr>
              <a:t>An exception is a class used to store error information.</a:t>
            </a:r>
          </a:p>
          <a:p>
            <a:pPr eaLnBrk="1" hangingPunct="1">
              <a:spcBef>
                <a:spcPts val="0"/>
              </a:spcBef>
              <a:spcAft>
                <a:spcPts val="1800"/>
              </a:spcAft>
              <a:buClr>
                <a:schemeClr val="tx1"/>
              </a:buClr>
            </a:pPr>
            <a:r>
              <a:rPr lang="en-US" sz="4000" b="0" kern="0" dirty="0">
                <a:latin typeface="Abadi" panose="020B0604020104020204" pitchFamily="34" charset="0"/>
              </a:rPr>
              <a:t>Exceptions are thrown in exceptional circumstances. </a:t>
            </a:r>
          </a:p>
          <a:p>
            <a:pPr eaLnBrk="1" hangingPunct="1">
              <a:spcBef>
                <a:spcPts val="0"/>
              </a:spcBef>
              <a:spcAft>
                <a:spcPts val="1800"/>
              </a:spcAft>
              <a:buClr>
                <a:schemeClr val="tx1"/>
              </a:buClr>
            </a:pPr>
            <a:r>
              <a:rPr lang="en-US" sz="4000" b="0" kern="0" dirty="0">
                <a:solidFill>
                  <a:srgbClr val="FF0000"/>
                </a:solidFill>
                <a:latin typeface="Abadi" panose="020B0604020104020204" pitchFamily="34" charset="0"/>
              </a:rPr>
              <a:t>If an exception is not caught / handled, the program terminates </a:t>
            </a:r>
          </a:p>
        </p:txBody>
      </p:sp>
    </p:spTree>
    <p:extLst>
      <p:ext uri="{BB962C8B-B14F-4D97-AF65-F5344CB8AC3E}">
        <p14:creationId xmlns:p14="http://schemas.microsoft.com/office/powerpoint/2010/main" val="2472769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1D1F0"/>
        </a:solidFill>
        <a:effectLst/>
      </p:bgPr>
    </p:bg>
    <p:spTree>
      <p:nvGrpSpPr>
        <p:cNvPr id="1" name=""/>
        <p:cNvGrpSpPr/>
        <p:nvPr/>
      </p:nvGrpSpPr>
      <p:grpSpPr>
        <a:xfrm>
          <a:off x="0" y="0"/>
          <a:ext cx="0" cy="0"/>
          <a:chOff x="0" y="0"/>
          <a:chExt cx="0" cy="0"/>
        </a:xfrm>
      </p:grpSpPr>
      <p:sp>
        <p:nvSpPr>
          <p:cNvPr id="40963" name="Rectangle 2">
            <a:extLst>
              <a:ext uri="{FF2B5EF4-FFF2-40B4-BE49-F238E27FC236}">
                <a16:creationId xmlns:a16="http://schemas.microsoft.com/office/drawing/2014/main" id="{CBC85881-43C9-FD0C-D813-C7B2BDAF0C55}"/>
              </a:ext>
            </a:extLst>
          </p:cNvPr>
          <p:cNvSpPr>
            <a:spLocks noGrp="1" noChangeArrowheads="1"/>
          </p:cNvSpPr>
          <p:nvPr>
            <p:ph type="title"/>
          </p:nvPr>
        </p:nvSpPr>
        <p:spPr>
          <a:xfrm>
            <a:off x="609600" y="190500"/>
            <a:ext cx="7772400" cy="1143000"/>
          </a:xfrm>
        </p:spPr>
        <p:txBody>
          <a:bodyPr/>
          <a:lstStyle/>
          <a:p>
            <a:pPr eaLnBrk="1" hangingPunct="1"/>
            <a:r>
              <a:rPr lang="en-GB" altLang="en-US" cap="small" dirty="0">
                <a:solidFill>
                  <a:schemeClr val="tx1"/>
                </a:solidFill>
              </a:rPr>
              <a:t>Exceptions Explained</a:t>
            </a:r>
          </a:p>
        </p:txBody>
      </p:sp>
      <p:sp>
        <p:nvSpPr>
          <p:cNvPr id="40964" name="Content Placeholder 1">
            <a:extLst>
              <a:ext uri="{FF2B5EF4-FFF2-40B4-BE49-F238E27FC236}">
                <a16:creationId xmlns:a16="http://schemas.microsoft.com/office/drawing/2014/main" id="{9EF8A25E-5982-1B54-FA83-A7146B33A4B5}"/>
              </a:ext>
            </a:extLst>
          </p:cNvPr>
          <p:cNvSpPr>
            <a:spLocks noGrp="1"/>
          </p:cNvSpPr>
          <p:nvPr>
            <p:ph idx="1"/>
          </p:nvPr>
        </p:nvSpPr>
        <p:spPr>
          <a:xfrm>
            <a:off x="457200" y="1447800"/>
            <a:ext cx="8458200" cy="5105400"/>
          </a:xfrm>
        </p:spPr>
        <p:txBody>
          <a:bodyPr/>
          <a:lstStyle/>
          <a:p>
            <a:pPr marL="0" indent="0">
              <a:buFontTx/>
              <a:buNone/>
            </a:pPr>
            <a:r>
              <a:rPr lang="en-US" altLang="en-US" dirty="0">
                <a:solidFill>
                  <a:schemeClr val="tx1"/>
                </a:solidFill>
              </a:rPr>
              <a:t>An </a:t>
            </a:r>
            <a:r>
              <a:rPr lang="en-US" altLang="en-US" i="1" dirty="0">
                <a:solidFill>
                  <a:schemeClr val="tx1"/>
                </a:solidFill>
              </a:rPr>
              <a:t>exceptional condition</a:t>
            </a:r>
            <a:r>
              <a:rPr lang="en-US" altLang="en-US" dirty="0">
                <a:solidFill>
                  <a:schemeClr val="tx1"/>
                </a:solidFill>
              </a:rPr>
              <a:t> is a problem that prevents the continuation of the current method or scope.  An exceptional problem is not the same as a normal problem, in which you have enough information in the current context to somehow cope with the difficulty.  With an exceptional problem, all you can do is jump out of the current context and relegate the problem to a higher context.  This is what happens when you throw an exception.</a:t>
            </a:r>
          </a:p>
        </p:txBody>
      </p:sp>
    </p:spTree>
  </p:cSld>
  <p:clrMapOvr>
    <a:masterClrMapping/>
  </p:clrMapOvr>
  <mc:AlternateContent xmlns:mc="http://schemas.openxmlformats.org/markup-compatibility/2006" xmlns:p14="http://schemas.microsoft.com/office/powerpoint/2010/main">
    <mc:Choice Requires="p14">
      <p:transition spd="slow" p14:dur="2000" advTm="1000"/>
    </mc:Choice>
    <mc:Fallback xmlns="">
      <p:transition spd="slow" advTm="1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1D1F0"/>
        </a:solidFill>
        <a:effectLst/>
      </p:bgPr>
    </p:bg>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1BAC541A-38EE-4C1B-407D-6CFE0C479092}"/>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A6C623-6743-4A86-8D8F-2A5EFDE3BCB8}"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7" name="Rectangle 3">
            <a:extLst>
              <a:ext uri="{FF2B5EF4-FFF2-40B4-BE49-F238E27FC236}">
                <a16:creationId xmlns:a16="http://schemas.microsoft.com/office/drawing/2014/main" id="{168D6F0F-C92E-E657-9FB7-F50E7CF4E5C3}"/>
              </a:ext>
            </a:extLst>
          </p:cNvPr>
          <p:cNvSpPr txBox="1">
            <a:spLocks noChangeArrowheads="1"/>
          </p:cNvSpPr>
          <p:nvPr/>
        </p:nvSpPr>
        <p:spPr bwMode="auto">
          <a:xfrm>
            <a:off x="762000" y="2133600"/>
            <a:ext cx="7848600" cy="3810000"/>
          </a:xfrm>
          <a:prstGeom prst="rect">
            <a:avLst/>
          </a:prstGeom>
          <a:noFill/>
          <a:ln w="82550" cmpd="tri">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82880" rIns="182880" bIns="182880"/>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609600" marR="0" lvl="0" indent="-609600" algn="l" defTabSz="914400" rtl="0" eaLnBrk="1" fontAlgn="base" latinLnBrk="0" hangingPunct="1">
              <a:lnSpc>
                <a:spcPct val="90000"/>
              </a:lnSpc>
              <a:spcBef>
                <a:spcPct val="20000"/>
              </a:spcBef>
              <a:spcAft>
                <a:spcPts val="1200"/>
              </a:spcAft>
              <a:buClrTx/>
              <a:buSzTx/>
              <a:buFontTx/>
              <a:buAutoNum type="arabicPeriod"/>
              <a:tabLst/>
              <a:defRPr/>
            </a:pPr>
            <a:r>
              <a:rPr kumimoji="0" lang="en-US" sz="3200" b="0" i="0" u="none" strike="noStrike" kern="0" cap="none" spc="0" normalizeH="0" baseline="0" noProof="0" dirty="0">
                <a:ln>
                  <a:noFill/>
                </a:ln>
                <a:solidFill>
                  <a:srgbClr val="000000"/>
                </a:solidFill>
                <a:effectLst/>
                <a:uLnTx/>
                <a:uFillTx/>
                <a:latin typeface="Abadi" panose="020B0604020104020204" pitchFamily="34" charset="0"/>
                <a:ea typeface="SimSun"/>
              </a:rPr>
              <a:t>Anticipate the error by the user/system</a:t>
            </a:r>
          </a:p>
          <a:p>
            <a:pPr marL="609600" marR="0" lvl="0" indent="-609600" algn="l" defTabSz="914400" rtl="0" eaLnBrk="1" fontAlgn="base" latinLnBrk="0" hangingPunct="1">
              <a:lnSpc>
                <a:spcPct val="90000"/>
              </a:lnSpc>
              <a:spcBef>
                <a:spcPct val="20000"/>
              </a:spcBef>
              <a:spcAft>
                <a:spcPts val="1200"/>
              </a:spcAft>
              <a:buClrTx/>
              <a:buSzTx/>
              <a:buFontTx/>
              <a:buAutoNum type="arabicPeriod"/>
              <a:tabLst/>
              <a:defRPr/>
            </a:pPr>
            <a:r>
              <a:rPr kumimoji="0" lang="en-US" sz="3200" b="0" i="0" u="none" strike="noStrike" kern="0" cap="none" spc="0" normalizeH="0" baseline="0" noProof="0" dirty="0">
                <a:ln>
                  <a:noFill/>
                </a:ln>
                <a:solidFill>
                  <a:srgbClr val="000000"/>
                </a:solidFill>
                <a:effectLst/>
                <a:uLnTx/>
                <a:uFillTx/>
                <a:latin typeface="Abadi" panose="020B0604020104020204" pitchFamily="34" charset="0"/>
                <a:ea typeface="SimSun"/>
              </a:rPr>
              <a:t>Inform the user of the error’s cause</a:t>
            </a:r>
          </a:p>
          <a:p>
            <a:pPr marL="609600" marR="0" lvl="0" indent="-609600" algn="l" defTabSz="914400" rtl="0" eaLnBrk="1" fontAlgn="base" latinLnBrk="0" hangingPunct="1">
              <a:lnSpc>
                <a:spcPct val="90000"/>
              </a:lnSpc>
              <a:spcBef>
                <a:spcPct val="20000"/>
              </a:spcBef>
              <a:spcAft>
                <a:spcPct val="0"/>
              </a:spcAft>
              <a:buClrTx/>
              <a:buSzTx/>
              <a:buFontTx/>
              <a:buAutoNum type="arabicPeriod"/>
              <a:tabLst/>
              <a:defRPr/>
            </a:pPr>
            <a:r>
              <a:rPr kumimoji="0" lang="en-US" sz="3200" b="0" i="0" u="none" strike="noStrike" kern="0" cap="none" spc="0" normalizeH="0" baseline="0" noProof="0" dirty="0">
                <a:ln>
                  <a:noFill/>
                </a:ln>
                <a:solidFill>
                  <a:srgbClr val="000000"/>
                </a:solidFill>
                <a:effectLst/>
                <a:uLnTx/>
                <a:uFillTx/>
                <a:latin typeface="Abadi" panose="020B0604020104020204" pitchFamily="34" charset="0"/>
                <a:ea typeface="SimSun"/>
              </a:rPr>
              <a:t>Return the program to a safe state that enables the user to execute other commands,  </a:t>
            </a:r>
            <a:r>
              <a:rPr kumimoji="0" lang="en-US" sz="3200" b="0" i="1" u="none" strike="noStrike" kern="0" cap="none" spc="0" normalizeH="0" baseline="0" noProof="0" dirty="0">
                <a:ln>
                  <a:noFill/>
                </a:ln>
                <a:solidFill>
                  <a:srgbClr val="000000"/>
                </a:solidFill>
                <a:effectLst/>
                <a:uLnTx/>
                <a:uFillTx/>
                <a:latin typeface="Abadi" panose="020B0604020104020204" pitchFamily="34" charset="0"/>
                <a:ea typeface="SimSun"/>
              </a:rPr>
              <a:t>or else</a:t>
            </a:r>
            <a:br>
              <a:rPr kumimoji="0" lang="en-US" sz="3200" b="0" i="1" u="none" strike="noStrike" kern="0" cap="none" spc="0" normalizeH="0" baseline="0" noProof="0" dirty="0">
                <a:ln>
                  <a:noFill/>
                </a:ln>
                <a:solidFill>
                  <a:srgbClr val="000000"/>
                </a:solidFill>
                <a:effectLst/>
                <a:uLnTx/>
                <a:uFillTx/>
                <a:latin typeface="Abadi" panose="020B0604020104020204" pitchFamily="34" charset="0"/>
                <a:ea typeface="SimSun"/>
              </a:rPr>
            </a:br>
            <a:r>
              <a:rPr kumimoji="0" lang="en-US" sz="3200" b="0" i="0" u="none" strike="noStrike" kern="0" cap="none" spc="0" normalizeH="0" baseline="0" noProof="0" dirty="0">
                <a:ln>
                  <a:noFill/>
                </a:ln>
                <a:solidFill>
                  <a:srgbClr val="000000"/>
                </a:solidFill>
                <a:effectLst/>
                <a:uLnTx/>
                <a:uFillTx/>
                <a:latin typeface="Abadi" panose="020B0604020104020204" pitchFamily="34" charset="0"/>
                <a:ea typeface="SimSun"/>
              </a:rPr>
              <a:t>Allow the user to save work and terminate the program gracefully.</a:t>
            </a:r>
          </a:p>
        </p:txBody>
      </p:sp>
      <p:sp>
        <p:nvSpPr>
          <p:cNvPr id="43013" name="Rectangle 2">
            <a:extLst>
              <a:ext uri="{FF2B5EF4-FFF2-40B4-BE49-F238E27FC236}">
                <a16:creationId xmlns:a16="http://schemas.microsoft.com/office/drawing/2014/main" id="{4AFF8E24-5745-F248-ECDD-6E3579AA3C45}"/>
              </a:ext>
            </a:extLst>
          </p:cNvPr>
          <p:cNvSpPr>
            <a:spLocks noGrp="1" noChangeArrowheads="1"/>
          </p:cNvSpPr>
          <p:nvPr>
            <p:ph type="title"/>
          </p:nvPr>
        </p:nvSpPr>
        <p:spPr>
          <a:xfrm>
            <a:off x="175418" y="419100"/>
            <a:ext cx="8793163" cy="990600"/>
          </a:xfrm>
        </p:spPr>
        <p:txBody>
          <a:bodyPr/>
          <a:lstStyle/>
          <a:p>
            <a:pPr eaLnBrk="1" hangingPunct="1"/>
            <a:r>
              <a:rPr lang="en-GB" altLang="en-US" cap="small" dirty="0">
                <a:solidFill>
                  <a:schemeClr val="tx1"/>
                </a:solidFill>
              </a:rPr>
              <a:t>Goals of  Exception Handling</a:t>
            </a:r>
          </a:p>
        </p:txBody>
      </p:sp>
    </p:spTree>
  </p:cSld>
  <p:clrMapOvr>
    <a:masterClrMapping/>
  </p:clrMapOvr>
  <p:transition advTm="100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a:extLst>
              <a:ext uri="{FF2B5EF4-FFF2-40B4-BE49-F238E27FC236}">
                <a16:creationId xmlns:a16="http://schemas.microsoft.com/office/drawing/2014/main" id="{5D1F10B1-3970-46EA-7B5F-2F3EF35ACE47}"/>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F7AB81B-F774-456B-8797-ECF050F45531}"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44035" name="Rectangle 2">
            <a:extLst>
              <a:ext uri="{FF2B5EF4-FFF2-40B4-BE49-F238E27FC236}">
                <a16:creationId xmlns:a16="http://schemas.microsoft.com/office/drawing/2014/main" id="{B0DAA317-786F-E5EC-11A0-E40B6ECA9B1E}"/>
              </a:ext>
            </a:extLst>
          </p:cNvPr>
          <p:cNvSpPr>
            <a:spLocks noGrp="1" noChangeArrowheads="1"/>
          </p:cNvSpPr>
          <p:nvPr>
            <p:ph type="title"/>
          </p:nvPr>
        </p:nvSpPr>
        <p:spPr/>
        <p:txBody>
          <a:bodyPr/>
          <a:lstStyle/>
          <a:p>
            <a:pPr eaLnBrk="1" hangingPunct="1"/>
            <a:r>
              <a:rPr lang="en-AU" altLang="en-AU" cap="small" dirty="0">
                <a:solidFill>
                  <a:schemeClr val="tx1"/>
                </a:solidFill>
              </a:rPr>
              <a:t>Advantage of Exceptions</a:t>
            </a:r>
          </a:p>
        </p:txBody>
      </p:sp>
      <p:sp>
        <p:nvSpPr>
          <p:cNvPr id="44036" name="Rectangle 3">
            <a:extLst>
              <a:ext uri="{FF2B5EF4-FFF2-40B4-BE49-F238E27FC236}">
                <a16:creationId xmlns:a16="http://schemas.microsoft.com/office/drawing/2014/main" id="{080B2E47-3F27-5D1A-C3AF-0BB3A0A0A035}"/>
              </a:ext>
            </a:extLst>
          </p:cNvPr>
          <p:cNvSpPr>
            <a:spLocks noGrp="1" noChangeArrowheads="1"/>
          </p:cNvSpPr>
          <p:nvPr>
            <p:ph type="body" idx="1"/>
          </p:nvPr>
        </p:nvSpPr>
        <p:spPr>
          <a:xfrm>
            <a:off x="495300" y="1524000"/>
            <a:ext cx="8153400" cy="4456113"/>
          </a:xfrm>
        </p:spPr>
        <p:txBody>
          <a:bodyPr/>
          <a:lstStyle/>
          <a:p>
            <a:pPr eaLnBrk="1" hangingPunct="1">
              <a:spcBef>
                <a:spcPts val="0"/>
              </a:spcBef>
              <a:spcAft>
                <a:spcPts val="1800"/>
              </a:spcAft>
              <a:buClr>
                <a:schemeClr val="tx1"/>
              </a:buClr>
            </a:pPr>
            <a:r>
              <a:rPr lang="en-AU" altLang="en-AU" sz="3600" dirty="0">
                <a:solidFill>
                  <a:schemeClr val="tx1"/>
                </a:solidFill>
                <a:latin typeface="Abadi" panose="020B0604020104020204" pitchFamily="34" charset="0"/>
              </a:rPr>
              <a:t>Separate Error-Handling Code from "Regular" Code</a:t>
            </a:r>
          </a:p>
          <a:p>
            <a:pPr eaLnBrk="1" hangingPunct="1">
              <a:spcBef>
                <a:spcPts val="0"/>
              </a:spcBef>
              <a:spcAft>
                <a:spcPts val="1800"/>
              </a:spcAft>
              <a:buClr>
                <a:schemeClr val="tx1"/>
              </a:buClr>
            </a:pPr>
            <a:r>
              <a:rPr lang="en-US" sz="3600" dirty="0">
                <a:solidFill>
                  <a:schemeClr val="tx1"/>
                </a:solidFill>
                <a:latin typeface="Abadi" panose="020B0604020104020204" pitchFamily="34" charset="0"/>
              </a:rPr>
              <a:t>Propagate Errors Up the Call Stack</a:t>
            </a:r>
          </a:p>
          <a:p>
            <a:pPr eaLnBrk="1" hangingPunct="1">
              <a:spcBef>
                <a:spcPts val="0"/>
              </a:spcBef>
              <a:spcAft>
                <a:spcPts val="1800"/>
              </a:spcAft>
              <a:buClr>
                <a:schemeClr val="tx1"/>
              </a:buClr>
            </a:pPr>
            <a:r>
              <a:rPr lang="en-US" sz="3600" dirty="0">
                <a:solidFill>
                  <a:schemeClr val="tx1"/>
                </a:solidFill>
                <a:latin typeface="Abadi" panose="020B0604020104020204" pitchFamily="34" charset="0"/>
              </a:rPr>
              <a:t>Group and Differentiate Error Types</a:t>
            </a:r>
            <a:endParaRPr lang="en-AU" altLang="en-AU" sz="2400" dirty="0">
              <a:solidFill>
                <a:schemeClr val="tx1"/>
              </a:solidFill>
              <a:latin typeface="Abadi" panose="020B0604020104020204" pitchFamily="34" charset="0"/>
            </a:endParaRPr>
          </a:p>
          <a:p>
            <a:pPr eaLnBrk="1" hangingPunct="1">
              <a:spcBef>
                <a:spcPts val="0"/>
              </a:spcBef>
              <a:spcAft>
                <a:spcPts val="1800"/>
              </a:spcAft>
              <a:buClr>
                <a:schemeClr val="tx1"/>
              </a:buClr>
            </a:pPr>
            <a:r>
              <a:rPr lang="en-AU" altLang="en-AU" sz="3600" dirty="0">
                <a:solidFill>
                  <a:schemeClr val="tx1"/>
                </a:solidFill>
                <a:latin typeface="Abadi" panose="020B0604020104020204" pitchFamily="34" charset="0"/>
              </a:rPr>
              <a:t>They provide a mechanism to signal errors without using flags or writing “spaghetti code”.</a:t>
            </a:r>
            <a:endParaRPr lang="en-AU" altLang="en-AU" sz="3600" i="1" dirty="0">
              <a:solidFill>
                <a:schemeClr val="tx1"/>
              </a:solidFill>
              <a:latin typeface="Abadi" panose="020B0604020104020204" pitchFamily="34"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26938-34B4-56E7-4547-B7B5A474DF22}"/>
              </a:ext>
            </a:extLst>
          </p:cNvPr>
          <p:cNvSpPr>
            <a:spLocks noGrp="1"/>
          </p:cNvSpPr>
          <p:nvPr>
            <p:ph type="title"/>
          </p:nvPr>
        </p:nvSpPr>
        <p:spPr>
          <a:xfrm>
            <a:off x="152400" y="152400"/>
            <a:ext cx="8793163" cy="1295400"/>
          </a:xfrm>
        </p:spPr>
        <p:txBody>
          <a:bodyPr/>
          <a:lstStyle/>
          <a:p>
            <a:r>
              <a:rPr lang="en-US" dirty="0">
                <a:solidFill>
                  <a:schemeClr val="tx2">
                    <a:lumMod val="50000"/>
                  </a:schemeClr>
                </a:solidFill>
              </a:rPr>
              <a:t>Propagating Exceptions </a:t>
            </a:r>
            <a:br>
              <a:rPr lang="en-US" dirty="0">
                <a:solidFill>
                  <a:schemeClr val="tx2">
                    <a:lumMod val="50000"/>
                  </a:schemeClr>
                </a:solidFill>
              </a:rPr>
            </a:br>
            <a:r>
              <a:rPr lang="en-US" dirty="0">
                <a:solidFill>
                  <a:schemeClr val="tx2">
                    <a:lumMod val="50000"/>
                  </a:schemeClr>
                </a:solidFill>
              </a:rPr>
              <a:t>up the Call Stack</a:t>
            </a:r>
          </a:p>
        </p:txBody>
      </p:sp>
      <p:sp>
        <p:nvSpPr>
          <p:cNvPr id="4" name="Slide Number Placeholder 3">
            <a:extLst>
              <a:ext uri="{FF2B5EF4-FFF2-40B4-BE49-F238E27FC236}">
                <a16:creationId xmlns:a16="http://schemas.microsoft.com/office/drawing/2014/main" id="{1F32AF1B-4466-6C47-E0F0-2B7A0665A3D6}"/>
              </a:ext>
            </a:extLst>
          </p:cNvPr>
          <p:cNvSpPr>
            <a:spLocks noGrp="1"/>
          </p:cNvSpPr>
          <p:nvPr>
            <p:ph type="sldNum" sz="quarter" idx="10"/>
          </p:nvPr>
        </p:nvSpPr>
        <p:spPr/>
        <p:txBody>
          <a:bodyPr/>
          <a:lstStyle/>
          <a:p>
            <a:fld id="{3B2BDEFC-5560-4D17-89BE-5B1006BDE089}" type="slidenum">
              <a:rPr lang="zh-CN" altLang="en-GB" smtClean="0"/>
              <a:pPr/>
              <a:t>7</a:t>
            </a:fld>
            <a:endParaRPr lang="en-GB" altLang="zh-CN"/>
          </a:p>
        </p:txBody>
      </p:sp>
      <p:pic>
        <p:nvPicPr>
          <p:cNvPr id="5" name="Picture 2" descr="Lightbox">
            <a:extLst>
              <a:ext uri="{FF2B5EF4-FFF2-40B4-BE49-F238E27FC236}">
                <a16:creationId xmlns:a16="http://schemas.microsoft.com/office/drawing/2014/main" id="{985F28B6-2B49-1772-6B43-702A48A0D1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26557"/>
            <a:ext cx="9144000" cy="5131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1905127"/>
      </p:ext>
    </p:extLst>
  </p:cSld>
  <p:clrMapOvr>
    <a:masterClrMapping/>
  </p:clrMapOvr>
  <p:transition advTm="100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a:extLst>
              <a:ext uri="{FF2B5EF4-FFF2-40B4-BE49-F238E27FC236}">
                <a16:creationId xmlns:a16="http://schemas.microsoft.com/office/drawing/2014/main" id="{D71DE404-EE23-D7AD-F3BD-AACB966B29E9}"/>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82DD0F2-D4A6-4622-A0B2-831ECD5495F0}" type="slidenum">
              <a:rPr lang="en-US" altLang="en-US">
                <a:solidFill>
                  <a:srgbClr val="BCBCBC"/>
                </a:solidFill>
              </a:rPr>
              <a:pPr/>
              <a:t>8</a:t>
            </a:fld>
            <a:endParaRPr lang="en-US" altLang="en-US">
              <a:solidFill>
                <a:srgbClr val="BCBCBC"/>
              </a:solidFill>
            </a:endParaRPr>
          </a:p>
        </p:txBody>
      </p:sp>
      <p:pic>
        <p:nvPicPr>
          <p:cNvPr id="1026" name="Picture 2" descr="Throwable is the root&#10;Error and Exception extend Throwable&#10;IOException, SQLException, MalformedURLException, etc. extend Exception&#10;RuntimeException extends Exception &#10;NullPointerException, NumberFormatException, ClassCastException, and IndexOutOfBounds extned RuntimeException">
            <a:extLst>
              <a:ext uri="{FF2B5EF4-FFF2-40B4-BE49-F238E27FC236}">
                <a16:creationId xmlns:a16="http://schemas.microsoft.com/office/drawing/2014/main" id="{D51BBD14-DE3C-F282-CB72-37843C5B98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0"/>
            <a:ext cx="8036425" cy="6830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8111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p:cNvGrpSpPr/>
        <p:nvPr/>
      </p:nvGrpSpPr>
      <p:grpSpPr>
        <a:xfrm>
          <a:off x="0" y="0"/>
          <a:ext cx="0" cy="0"/>
          <a:chOff x="0" y="0"/>
          <a:chExt cx="0" cy="0"/>
        </a:xfrm>
      </p:grpSpPr>
      <p:sp>
        <p:nvSpPr>
          <p:cNvPr id="18435" name="Text Box 3">
            <a:extLst>
              <a:ext uri="{FF2B5EF4-FFF2-40B4-BE49-F238E27FC236}">
                <a16:creationId xmlns:a16="http://schemas.microsoft.com/office/drawing/2014/main" id="{861942F2-1729-4891-B764-C916B7D9421E}"/>
              </a:ext>
            </a:extLst>
          </p:cNvPr>
          <p:cNvSpPr txBox="1">
            <a:spLocks noChangeArrowheads="1"/>
          </p:cNvSpPr>
          <p:nvPr/>
        </p:nvSpPr>
        <p:spPr bwMode="auto">
          <a:xfrm>
            <a:off x="1524000" y="3642185"/>
            <a:ext cx="7239000" cy="2834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30000"/>
              </a:lnSpc>
              <a:spcBef>
                <a:spcPct val="0"/>
              </a:spcBef>
              <a:buNone/>
              <a:tabLst>
                <a:tab pos="1492250" algn="r"/>
                <a:tab pos="1546225" algn="l"/>
              </a:tabLst>
            </a:pPr>
            <a:r>
              <a:rPr lang="en-US" altLang="en-US" sz="2800" dirty="0">
                <a:latin typeface="Arial" panose="020B0604020202020204" pitchFamily="34" charset="0"/>
              </a:rPr>
              <a:t>	</a:t>
            </a:r>
            <a:r>
              <a:rPr lang="en-US" altLang="en-US" sz="2800" b="0" dirty="0">
                <a:latin typeface="Arial" panose="020B0604020202020204" pitchFamily="34" charset="0"/>
              </a:rPr>
              <a:t>java.io.</a:t>
            </a:r>
            <a:r>
              <a:rPr lang="en-US" altLang="en-US" sz="2800" dirty="0">
                <a:latin typeface="Arial" panose="020B0604020202020204" pitchFamily="34" charset="0"/>
              </a:rPr>
              <a:t>	</a:t>
            </a:r>
            <a:r>
              <a:rPr lang="en-US" altLang="en-US" sz="2800" dirty="0" err="1">
                <a:latin typeface="Arial" panose="020B0604020202020204" pitchFamily="34" charset="0"/>
              </a:rPr>
              <a:t>IOException</a:t>
            </a:r>
            <a:r>
              <a:rPr lang="en-US" altLang="en-US" sz="2800" dirty="0">
                <a:latin typeface="Arial" panose="020B0604020202020204" pitchFamily="34" charset="0"/>
              </a:rPr>
              <a:t> </a:t>
            </a:r>
          </a:p>
          <a:p>
            <a:pPr>
              <a:lnSpc>
                <a:spcPct val="130000"/>
              </a:lnSpc>
              <a:spcBef>
                <a:spcPct val="0"/>
              </a:spcBef>
              <a:buFontTx/>
              <a:buNone/>
              <a:tabLst>
                <a:tab pos="1492250" algn="r"/>
                <a:tab pos="1546225" algn="l"/>
              </a:tabLst>
            </a:pPr>
            <a:r>
              <a:rPr lang="en-US" altLang="en-US" sz="2800" dirty="0">
                <a:latin typeface="Arial" panose="020B0604020202020204" pitchFamily="34" charset="0"/>
              </a:rPr>
              <a:t>	</a:t>
            </a:r>
            <a:r>
              <a:rPr lang="en-US" altLang="en-US" sz="2800" b="0" dirty="0">
                <a:latin typeface="Arial" panose="020B0604020202020204" pitchFamily="34" charset="0"/>
              </a:rPr>
              <a:t>java.io.</a:t>
            </a:r>
            <a:r>
              <a:rPr lang="en-US" altLang="en-US" sz="2800" dirty="0">
                <a:latin typeface="Arial" panose="020B0604020202020204" pitchFamily="34" charset="0"/>
              </a:rPr>
              <a:t>	</a:t>
            </a:r>
            <a:r>
              <a:rPr lang="en-US" altLang="en-US" sz="2800" dirty="0" err="1">
                <a:latin typeface="Arial" panose="020B0604020202020204" pitchFamily="34" charset="0"/>
              </a:rPr>
              <a:t>FileNotFoundException</a:t>
            </a:r>
            <a:r>
              <a:rPr lang="en-US" altLang="en-US" sz="2800" dirty="0">
                <a:latin typeface="Arial" panose="020B0604020202020204" pitchFamily="34" charset="0"/>
              </a:rPr>
              <a:t> </a:t>
            </a:r>
          </a:p>
          <a:p>
            <a:pPr>
              <a:lnSpc>
                <a:spcPct val="130000"/>
              </a:lnSpc>
              <a:spcBef>
                <a:spcPct val="0"/>
              </a:spcBef>
              <a:buNone/>
              <a:tabLst>
                <a:tab pos="1492250" algn="r"/>
                <a:tab pos="1546225" algn="l"/>
              </a:tabLst>
            </a:pPr>
            <a:r>
              <a:rPr lang="en-US" altLang="en-US" sz="2800" dirty="0">
                <a:latin typeface="Arial" panose="020B0604020202020204" pitchFamily="34" charset="0"/>
              </a:rPr>
              <a:t>	</a:t>
            </a:r>
            <a:r>
              <a:rPr lang="en-US" altLang="en-US" sz="2800" b="0" dirty="0">
                <a:latin typeface="Arial" panose="020B0604020202020204" pitchFamily="34" charset="0"/>
              </a:rPr>
              <a:t>java.net.</a:t>
            </a:r>
            <a:r>
              <a:rPr lang="en-US" altLang="en-US" sz="2800" dirty="0">
                <a:latin typeface="Arial" panose="020B0604020202020204" pitchFamily="34" charset="0"/>
              </a:rPr>
              <a:t>	</a:t>
            </a:r>
            <a:r>
              <a:rPr lang="en-US" altLang="en-US" sz="2800" dirty="0" err="1">
                <a:latin typeface="Arial" panose="020B0604020202020204" pitchFamily="34" charset="0"/>
              </a:rPr>
              <a:t>SocketException</a:t>
            </a:r>
            <a:r>
              <a:rPr lang="en-US" altLang="en-US" sz="2800" dirty="0">
                <a:latin typeface="Arial" panose="020B0604020202020204" pitchFamily="34" charset="0"/>
              </a:rPr>
              <a:t> </a:t>
            </a:r>
          </a:p>
          <a:p>
            <a:pPr>
              <a:lnSpc>
                <a:spcPct val="130000"/>
              </a:lnSpc>
              <a:spcBef>
                <a:spcPct val="0"/>
              </a:spcBef>
              <a:buNone/>
              <a:tabLst>
                <a:tab pos="1492250" algn="r"/>
                <a:tab pos="1546225" algn="l"/>
              </a:tabLst>
            </a:pPr>
            <a:r>
              <a:rPr lang="en-US" altLang="en-US" sz="2800" dirty="0">
                <a:latin typeface="Arial" panose="020B0604020202020204" pitchFamily="34" charset="0"/>
              </a:rPr>
              <a:t>	</a:t>
            </a:r>
            <a:r>
              <a:rPr lang="en-US" altLang="en-US" sz="2800" b="0" dirty="0">
                <a:latin typeface="Arial" panose="020B0604020202020204" pitchFamily="34" charset="0"/>
              </a:rPr>
              <a:t>java.io.</a:t>
            </a:r>
            <a:r>
              <a:rPr lang="en-US" altLang="en-US" sz="2800" dirty="0">
                <a:latin typeface="Arial" panose="020B0604020202020204" pitchFamily="34" charset="0"/>
              </a:rPr>
              <a:t>	</a:t>
            </a:r>
            <a:r>
              <a:rPr lang="en-US" altLang="en-US" sz="2800" dirty="0" err="1">
                <a:latin typeface="Arial" panose="020B0604020202020204" pitchFamily="34" charset="0"/>
              </a:rPr>
              <a:t>MalformedURLException</a:t>
            </a:r>
            <a:r>
              <a:rPr lang="en-US" altLang="en-US" sz="2800" dirty="0">
                <a:latin typeface="Arial" panose="020B0604020202020204" pitchFamily="34" charset="0"/>
              </a:rPr>
              <a:t> </a:t>
            </a:r>
          </a:p>
          <a:p>
            <a:pPr>
              <a:lnSpc>
                <a:spcPct val="130000"/>
              </a:lnSpc>
              <a:spcBef>
                <a:spcPct val="0"/>
              </a:spcBef>
              <a:buNone/>
              <a:tabLst>
                <a:tab pos="1492250" algn="r"/>
                <a:tab pos="1546225" algn="l"/>
              </a:tabLst>
            </a:pPr>
            <a:r>
              <a:rPr lang="en-US" altLang="en-US" sz="2800" dirty="0">
                <a:latin typeface="Arial" panose="020B0604020202020204" pitchFamily="34" charset="0"/>
              </a:rPr>
              <a:t>	</a:t>
            </a:r>
            <a:r>
              <a:rPr lang="en-US" altLang="en-US" sz="2800" b="0" dirty="0">
                <a:latin typeface="Arial" panose="020B0604020202020204" pitchFamily="34" charset="0"/>
              </a:rPr>
              <a:t>java.io.</a:t>
            </a:r>
            <a:r>
              <a:rPr lang="en-US" altLang="en-US" sz="2800" dirty="0">
                <a:latin typeface="Arial" panose="020B0604020202020204" pitchFamily="34" charset="0"/>
              </a:rPr>
              <a:t>	</a:t>
            </a:r>
            <a:r>
              <a:rPr lang="en-US" altLang="en-US" sz="2800" dirty="0" err="1">
                <a:latin typeface="Arial" panose="020B0604020202020204" pitchFamily="34" charset="0"/>
              </a:rPr>
              <a:t>UnknownHostException</a:t>
            </a:r>
            <a:r>
              <a:rPr lang="en-US" altLang="en-US" sz="2800" dirty="0">
                <a:latin typeface="Arial" panose="020B0604020202020204" pitchFamily="34" charset="0"/>
              </a:rPr>
              <a:t> </a:t>
            </a:r>
          </a:p>
        </p:txBody>
      </p:sp>
      <p:sp>
        <p:nvSpPr>
          <p:cNvPr id="3" name="TextBox 2">
            <a:extLst>
              <a:ext uri="{FF2B5EF4-FFF2-40B4-BE49-F238E27FC236}">
                <a16:creationId xmlns:a16="http://schemas.microsoft.com/office/drawing/2014/main" id="{E704052D-C5F3-1860-72A2-E46799352F06}"/>
              </a:ext>
            </a:extLst>
          </p:cNvPr>
          <p:cNvSpPr txBox="1"/>
          <p:nvPr/>
        </p:nvSpPr>
        <p:spPr>
          <a:xfrm>
            <a:off x="0" y="0"/>
            <a:ext cx="9144000" cy="1446550"/>
          </a:xfrm>
          <a:prstGeom prst="rect">
            <a:avLst/>
          </a:prstGeom>
          <a:noFill/>
        </p:spPr>
        <p:txBody>
          <a:bodyPr wrap="square">
            <a:spAutoFit/>
          </a:bodyPr>
          <a:lstStyle/>
          <a:p>
            <a:pPr algn="ctr"/>
            <a:r>
              <a:rPr lang="en-US" sz="4400" b="1" cap="none" spc="50" dirty="0">
                <a:ln w="9525" cmpd="sng">
                  <a:solidFill>
                    <a:schemeClr val="accent1"/>
                  </a:solidFill>
                  <a:prstDash val="solid"/>
                </a:ln>
                <a:solidFill>
                  <a:schemeClr val="accent6">
                    <a:lumMod val="60000"/>
                    <a:lumOff val="40000"/>
                  </a:schemeClr>
                </a:solidFill>
                <a:effectLst>
                  <a:glow rad="38100">
                    <a:schemeClr val="accent1">
                      <a:alpha val="40000"/>
                    </a:schemeClr>
                  </a:glow>
                </a:effectLst>
              </a:rPr>
              <a:t>Exceptions that aren’t </a:t>
            </a:r>
            <a:r>
              <a:rPr lang="en-US" sz="4400" b="1" cap="none" spc="50" dirty="0" err="1">
                <a:ln w="9525" cmpd="sng">
                  <a:solidFill>
                    <a:schemeClr val="accent1"/>
                  </a:solidFill>
                  <a:prstDash val="solid"/>
                </a:ln>
                <a:solidFill>
                  <a:schemeClr val="accent6">
                    <a:lumMod val="60000"/>
                    <a:lumOff val="40000"/>
                  </a:schemeClr>
                </a:solidFill>
                <a:effectLst>
                  <a:glow rad="38100">
                    <a:schemeClr val="accent1">
                      <a:alpha val="40000"/>
                    </a:schemeClr>
                  </a:glow>
                </a:effectLst>
              </a:rPr>
              <a:t>RuntimeExceptions</a:t>
            </a:r>
            <a:endParaRPr lang="en-US" sz="4400" b="1" cap="none" spc="50" dirty="0">
              <a:ln w="9525" cmpd="sng">
                <a:solidFill>
                  <a:schemeClr val="accent1"/>
                </a:solidFill>
                <a:prstDash val="solid"/>
              </a:ln>
              <a:solidFill>
                <a:schemeClr val="accent6">
                  <a:lumMod val="60000"/>
                  <a:lumOff val="40000"/>
                </a:schemeClr>
              </a:solidFill>
              <a:effectLst>
                <a:glow rad="38100">
                  <a:schemeClr val="accent1">
                    <a:alpha val="40000"/>
                  </a:schemeClr>
                </a:glow>
              </a:effectLst>
            </a:endParaRPr>
          </a:p>
        </p:txBody>
      </p:sp>
      <p:sp>
        <p:nvSpPr>
          <p:cNvPr id="4" name="TextBox 3">
            <a:extLst>
              <a:ext uri="{FF2B5EF4-FFF2-40B4-BE49-F238E27FC236}">
                <a16:creationId xmlns:a16="http://schemas.microsoft.com/office/drawing/2014/main" id="{1B952F6D-629B-8D76-90A9-444BA47658A0}"/>
              </a:ext>
            </a:extLst>
          </p:cNvPr>
          <p:cNvSpPr txBox="1"/>
          <p:nvPr/>
        </p:nvSpPr>
        <p:spPr>
          <a:xfrm>
            <a:off x="571500" y="1762362"/>
            <a:ext cx="8115300" cy="1569660"/>
          </a:xfrm>
          <a:prstGeom prst="rect">
            <a:avLst/>
          </a:prstGeom>
          <a:noFill/>
        </p:spPr>
        <p:txBody>
          <a:bodyPr wrap="square">
            <a:spAutoFit/>
          </a:bodyPr>
          <a:lstStyle/>
          <a:p>
            <a:pPr marL="457200" indent="-457200" eaLnBrk="1" hangingPunct="1">
              <a:buFont typeface="Arial" panose="020B0604020202020204" pitchFamily="34" charset="0"/>
              <a:buChar char="•"/>
              <a:defRPr/>
            </a:pPr>
            <a:r>
              <a:rPr lang="en-US" sz="3200" dirty="0">
                <a:latin typeface="Abadi" panose="020B0604020104020204" pitchFamily="34" charset="0"/>
              </a:rPr>
              <a:t>Checked Exceptions</a:t>
            </a:r>
          </a:p>
          <a:p>
            <a:pPr marL="457200" indent="-457200" eaLnBrk="1" hangingPunct="1">
              <a:buFont typeface="Arial" panose="020B0604020202020204" pitchFamily="34" charset="0"/>
              <a:buChar char="•"/>
              <a:defRPr/>
            </a:pPr>
            <a:r>
              <a:rPr lang="en-US" sz="3200" dirty="0">
                <a:latin typeface="Abadi" panose="020B0604020104020204" pitchFamily="34" charset="0"/>
              </a:rPr>
              <a:t>Must obey Catch or Declare rule.</a:t>
            </a:r>
          </a:p>
          <a:p>
            <a:pPr marL="457200" indent="-457200" eaLnBrk="1" hangingPunct="1">
              <a:buFont typeface="Arial" panose="020B0604020202020204" pitchFamily="34" charset="0"/>
              <a:buChar char="•"/>
              <a:defRPr/>
            </a:pPr>
            <a:r>
              <a:rPr lang="en-US" altLang="en-US" sz="3200" dirty="0">
                <a:latin typeface="Abadi" panose="020B0604020104020204" pitchFamily="34" charset="0"/>
              </a:rPr>
              <a:t>Should be caught by some level of program</a:t>
            </a:r>
            <a:endParaRPr lang="en-US" sz="2800" dirty="0">
              <a:latin typeface="Abadi" panose="020B0604020104020204" pitchFamily="34" charset="0"/>
            </a:endParaRPr>
          </a:p>
        </p:txBody>
      </p:sp>
    </p:spTree>
    <p:extLst>
      <p:ext uri="{BB962C8B-B14F-4D97-AF65-F5344CB8AC3E}">
        <p14:creationId xmlns:p14="http://schemas.microsoft.com/office/powerpoint/2010/main" val="2419590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p:cNvGrpSpPr/>
        <p:nvPr/>
      </p:nvGrpSpPr>
      <p:grpSpPr>
        <a:xfrm>
          <a:off x="0" y="0"/>
          <a:ext cx="0" cy="0"/>
          <a:chOff x="0" y="0"/>
          <a:chExt cx="0" cy="0"/>
        </a:xfrm>
      </p:grpSpPr>
      <p:sp>
        <p:nvSpPr>
          <p:cNvPr id="18435" name="Text Box 3">
            <a:extLst>
              <a:ext uri="{FF2B5EF4-FFF2-40B4-BE49-F238E27FC236}">
                <a16:creationId xmlns:a16="http://schemas.microsoft.com/office/drawing/2014/main" id="{861942F2-1729-4891-B764-C916B7D9421E}"/>
              </a:ext>
            </a:extLst>
          </p:cNvPr>
          <p:cNvSpPr txBox="1">
            <a:spLocks noChangeArrowheads="1"/>
          </p:cNvSpPr>
          <p:nvPr/>
        </p:nvSpPr>
        <p:spPr bwMode="auto">
          <a:xfrm>
            <a:off x="609600" y="2837188"/>
            <a:ext cx="6295082" cy="2355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25000"/>
              </a:lnSpc>
              <a:spcBef>
                <a:spcPct val="0"/>
              </a:spcBef>
              <a:buFontTx/>
              <a:buNone/>
              <a:tabLst>
                <a:tab pos="1546225" algn="r"/>
                <a:tab pos="1600200" algn="l"/>
              </a:tabLst>
            </a:pPr>
            <a:r>
              <a:rPr lang="en-US" altLang="en-US" sz="2400" b="0" dirty="0" err="1">
                <a:latin typeface="Arial" panose="020B0604020202020204" pitchFamily="34" charset="0"/>
              </a:rPr>
              <a:t>java.lang</a:t>
            </a:r>
            <a:r>
              <a:rPr lang="en-US" altLang="en-US" sz="2400" b="0" dirty="0">
                <a:latin typeface="Arial" panose="020B0604020202020204" pitchFamily="34" charset="0"/>
              </a:rPr>
              <a:t>.</a:t>
            </a:r>
            <a:r>
              <a:rPr lang="en-US" altLang="en-US" sz="2400" dirty="0">
                <a:latin typeface="Arial" panose="020B0604020202020204" pitchFamily="34" charset="0"/>
              </a:rPr>
              <a:t>	</a:t>
            </a:r>
            <a:r>
              <a:rPr lang="en-US" altLang="en-US" sz="2400" dirty="0" err="1">
                <a:latin typeface="Arial" panose="020B0604020202020204" pitchFamily="34" charset="0"/>
              </a:rPr>
              <a:t>NullPointerException</a:t>
            </a:r>
            <a:r>
              <a:rPr lang="en-US" altLang="en-US" sz="2400" dirty="0">
                <a:latin typeface="Arial" panose="020B0604020202020204" pitchFamily="34" charset="0"/>
              </a:rPr>
              <a:t>   </a:t>
            </a:r>
          </a:p>
          <a:p>
            <a:pPr>
              <a:lnSpc>
                <a:spcPct val="125000"/>
              </a:lnSpc>
              <a:spcBef>
                <a:spcPct val="0"/>
              </a:spcBef>
              <a:buFontTx/>
              <a:buNone/>
              <a:tabLst>
                <a:tab pos="1546225" algn="r"/>
                <a:tab pos="1600200" algn="l"/>
              </a:tabLst>
            </a:pPr>
            <a:r>
              <a:rPr lang="en-US" altLang="en-US" sz="2400" b="0" dirty="0" err="1">
                <a:latin typeface="Arial" panose="020B0604020202020204" pitchFamily="34" charset="0"/>
              </a:rPr>
              <a:t>java.lang</a:t>
            </a:r>
            <a:r>
              <a:rPr lang="en-US" altLang="en-US" sz="2400" b="0" dirty="0">
                <a:latin typeface="Arial" panose="020B0604020202020204" pitchFamily="34" charset="0"/>
              </a:rPr>
              <a:t>.</a:t>
            </a:r>
            <a:r>
              <a:rPr lang="en-US" altLang="en-US" sz="2400" dirty="0">
                <a:latin typeface="Arial" panose="020B0604020202020204" pitchFamily="34" charset="0"/>
              </a:rPr>
              <a:t>	</a:t>
            </a:r>
            <a:r>
              <a:rPr lang="en-US" altLang="en-US" sz="2400" dirty="0" err="1">
                <a:latin typeface="Arial" panose="020B0604020202020204" pitchFamily="34" charset="0"/>
              </a:rPr>
              <a:t>IndexOutOfBoundsException</a:t>
            </a:r>
            <a:r>
              <a:rPr lang="en-US" altLang="en-US" sz="2400" dirty="0">
                <a:latin typeface="Arial" panose="020B0604020202020204" pitchFamily="34" charset="0"/>
              </a:rPr>
              <a:t>   </a:t>
            </a:r>
          </a:p>
          <a:p>
            <a:pPr>
              <a:lnSpc>
                <a:spcPct val="125000"/>
              </a:lnSpc>
              <a:spcBef>
                <a:spcPct val="0"/>
              </a:spcBef>
              <a:buFontTx/>
              <a:buNone/>
              <a:tabLst>
                <a:tab pos="1546225" algn="r"/>
                <a:tab pos="1600200" algn="l"/>
              </a:tabLst>
            </a:pPr>
            <a:r>
              <a:rPr lang="en-US" altLang="en-US" sz="2400" b="0" dirty="0" err="1">
                <a:latin typeface="Arial" panose="020B0604020202020204" pitchFamily="34" charset="0"/>
              </a:rPr>
              <a:t>java.lang</a:t>
            </a:r>
            <a:r>
              <a:rPr lang="en-US" altLang="en-US" sz="2400" b="0" dirty="0">
                <a:latin typeface="Arial" panose="020B0604020202020204" pitchFamily="34" charset="0"/>
              </a:rPr>
              <a:t>.</a:t>
            </a:r>
            <a:r>
              <a:rPr lang="en-US" altLang="en-US" sz="2400" dirty="0">
                <a:latin typeface="Arial" panose="020B0604020202020204" pitchFamily="34" charset="0"/>
              </a:rPr>
              <a:t>	</a:t>
            </a:r>
            <a:r>
              <a:rPr lang="en-US" altLang="en-US" sz="2400" dirty="0" err="1">
                <a:latin typeface="Arial" panose="020B0604020202020204" pitchFamily="34" charset="0"/>
              </a:rPr>
              <a:t>IllegalArgumentException</a:t>
            </a:r>
            <a:r>
              <a:rPr lang="en-US" altLang="en-US" sz="2400" dirty="0">
                <a:latin typeface="Arial" panose="020B0604020202020204" pitchFamily="34" charset="0"/>
              </a:rPr>
              <a:t>   </a:t>
            </a:r>
          </a:p>
          <a:p>
            <a:pPr>
              <a:lnSpc>
                <a:spcPct val="125000"/>
              </a:lnSpc>
              <a:spcBef>
                <a:spcPct val="0"/>
              </a:spcBef>
              <a:buFontTx/>
              <a:buNone/>
              <a:tabLst>
                <a:tab pos="1546225" algn="r"/>
                <a:tab pos="1600200" algn="l"/>
              </a:tabLst>
            </a:pPr>
            <a:r>
              <a:rPr lang="en-US" altLang="en-US" sz="2400" b="0" dirty="0" err="1">
                <a:latin typeface="Arial" panose="020B0604020202020204" pitchFamily="34" charset="0"/>
              </a:rPr>
              <a:t>java.lang</a:t>
            </a:r>
            <a:r>
              <a:rPr lang="en-US" altLang="en-US" sz="2400" b="0" dirty="0">
                <a:latin typeface="Arial" panose="020B0604020202020204" pitchFamily="34" charset="0"/>
              </a:rPr>
              <a:t>.</a:t>
            </a:r>
            <a:r>
              <a:rPr lang="en-US" altLang="en-US" sz="2400" dirty="0">
                <a:latin typeface="Arial" panose="020B0604020202020204" pitchFamily="34" charset="0"/>
              </a:rPr>
              <a:t>	</a:t>
            </a:r>
            <a:r>
              <a:rPr lang="en-US" altLang="en-US" sz="2400" dirty="0" err="1">
                <a:latin typeface="Arial" panose="020B0604020202020204" pitchFamily="34" charset="0"/>
              </a:rPr>
              <a:t>ClassCastException</a:t>
            </a:r>
            <a:r>
              <a:rPr lang="en-US" altLang="en-US" sz="2400" dirty="0">
                <a:latin typeface="Arial" panose="020B0604020202020204" pitchFamily="34" charset="0"/>
              </a:rPr>
              <a:t>   	</a:t>
            </a:r>
          </a:p>
          <a:p>
            <a:pPr>
              <a:lnSpc>
                <a:spcPct val="125000"/>
              </a:lnSpc>
              <a:spcBef>
                <a:spcPct val="0"/>
              </a:spcBef>
              <a:buFontTx/>
              <a:buNone/>
              <a:tabLst>
                <a:tab pos="1546225" algn="r"/>
                <a:tab pos="1600200" algn="l"/>
              </a:tabLst>
            </a:pPr>
            <a:r>
              <a:rPr lang="en-US" altLang="en-US" sz="2400" b="0" dirty="0" err="1">
                <a:latin typeface="Arial" panose="020B0604020202020204" pitchFamily="34" charset="0"/>
              </a:rPr>
              <a:t>java.lang</a:t>
            </a:r>
            <a:r>
              <a:rPr lang="en-US" altLang="en-US" sz="2400" b="0" dirty="0">
                <a:latin typeface="Arial" panose="020B0604020202020204" pitchFamily="34" charset="0"/>
              </a:rPr>
              <a:t>.</a:t>
            </a:r>
            <a:r>
              <a:rPr lang="en-US" altLang="en-US" sz="2400" dirty="0">
                <a:latin typeface="Arial" panose="020B0604020202020204" pitchFamily="34" charset="0"/>
              </a:rPr>
              <a:t>	</a:t>
            </a:r>
            <a:r>
              <a:rPr lang="en-US" altLang="en-US" sz="2400" dirty="0" err="1">
                <a:latin typeface="Arial" panose="020B0604020202020204" pitchFamily="34" charset="0"/>
              </a:rPr>
              <a:t>ArithmeticException</a:t>
            </a:r>
            <a:r>
              <a:rPr lang="en-US" altLang="en-US" sz="2400" dirty="0">
                <a:latin typeface="Arial" panose="020B0604020202020204" pitchFamily="34" charset="0"/>
              </a:rPr>
              <a:t> </a:t>
            </a:r>
          </a:p>
        </p:txBody>
      </p:sp>
      <p:sp>
        <p:nvSpPr>
          <p:cNvPr id="2" name="Rectangle 1">
            <a:extLst>
              <a:ext uri="{FF2B5EF4-FFF2-40B4-BE49-F238E27FC236}">
                <a16:creationId xmlns:a16="http://schemas.microsoft.com/office/drawing/2014/main" id="{0009AABE-51B6-243E-2169-EF37193A7136}"/>
              </a:ext>
            </a:extLst>
          </p:cNvPr>
          <p:cNvSpPr/>
          <p:nvPr/>
        </p:nvSpPr>
        <p:spPr>
          <a:xfrm>
            <a:off x="1441901" y="212108"/>
            <a:ext cx="6224781" cy="830997"/>
          </a:xfrm>
          <a:prstGeom prst="rect">
            <a:avLst/>
          </a:prstGeom>
          <a:noFill/>
        </p:spPr>
        <p:txBody>
          <a:bodyPr wrap="none" lIns="91440" tIns="45720" rIns="91440" bIns="45720">
            <a:spAutoFit/>
          </a:bodyPr>
          <a:lstStyle/>
          <a:p>
            <a:pPr algn="ctr"/>
            <a:r>
              <a:rPr lang="en-US" sz="4800" b="1" cap="none" spc="50" dirty="0">
                <a:ln w="9525" cmpd="sng">
                  <a:solidFill>
                    <a:schemeClr val="accent1"/>
                  </a:solidFill>
                  <a:prstDash val="solid"/>
                </a:ln>
                <a:solidFill>
                  <a:schemeClr val="accent6">
                    <a:lumMod val="60000"/>
                    <a:lumOff val="40000"/>
                  </a:schemeClr>
                </a:solidFill>
                <a:effectLst>
                  <a:glow rad="38100">
                    <a:schemeClr val="accent1">
                      <a:alpha val="40000"/>
                    </a:schemeClr>
                  </a:glow>
                </a:effectLst>
              </a:rPr>
              <a:t>Runtime Exceptions</a:t>
            </a:r>
          </a:p>
        </p:txBody>
      </p:sp>
      <p:sp>
        <p:nvSpPr>
          <p:cNvPr id="4" name="TextBox 3">
            <a:extLst>
              <a:ext uri="{FF2B5EF4-FFF2-40B4-BE49-F238E27FC236}">
                <a16:creationId xmlns:a16="http://schemas.microsoft.com/office/drawing/2014/main" id="{974897C1-4C53-4CEE-8515-62A7B237F9EC}"/>
              </a:ext>
            </a:extLst>
          </p:cNvPr>
          <p:cNvSpPr txBox="1"/>
          <p:nvPr/>
        </p:nvSpPr>
        <p:spPr>
          <a:xfrm>
            <a:off x="627529" y="1408738"/>
            <a:ext cx="8077200" cy="1077218"/>
          </a:xfrm>
          <a:prstGeom prst="rect">
            <a:avLst/>
          </a:prstGeom>
          <a:noFill/>
        </p:spPr>
        <p:txBody>
          <a:bodyPr wrap="square">
            <a:spAutoFit/>
          </a:bodyPr>
          <a:lstStyle/>
          <a:p>
            <a:pPr marL="457200" indent="-457200" eaLnBrk="1" hangingPunct="1">
              <a:buFont typeface="Arial" panose="020B0604020202020204" pitchFamily="34" charset="0"/>
              <a:buChar char="•"/>
              <a:defRPr/>
            </a:pPr>
            <a:r>
              <a:rPr lang="en-US" sz="3200" dirty="0">
                <a:latin typeface="Abadi" panose="020B0604020104020204" pitchFamily="34" charset="0"/>
              </a:rPr>
              <a:t>Unchecked exceptions</a:t>
            </a:r>
          </a:p>
          <a:p>
            <a:pPr marL="457200" indent="-457200" eaLnBrk="1" hangingPunct="1">
              <a:buFont typeface="Arial" panose="020B0604020202020204" pitchFamily="34" charset="0"/>
              <a:buChar char="•"/>
              <a:defRPr/>
            </a:pPr>
            <a:r>
              <a:rPr lang="en-US" altLang="en-US" sz="3200" dirty="0">
                <a:latin typeface="Abadi" panose="020B0604020104020204" pitchFamily="34" charset="0"/>
              </a:rPr>
              <a:t>Indicate programming errors. Fix it!</a:t>
            </a:r>
          </a:p>
        </p:txBody>
      </p:sp>
      <p:sp>
        <p:nvSpPr>
          <p:cNvPr id="8" name="TextBox 7">
            <a:extLst>
              <a:ext uri="{FF2B5EF4-FFF2-40B4-BE49-F238E27FC236}">
                <a16:creationId xmlns:a16="http://schemas.microsoft.com/office/drawing/2014/main" id="{6F9D7FE1-6116-F4DE-C2C6-B5D147C1BB88}"/>
              </a:ext>
            </a:extLst>
          </p:cNvPr>
          <p:cNvSpPr txBox="1"/>
          <p:nvPr/>
        </p:nvSpPr>
        <p:spPr>
          <a:xfrm>
            <a:off x="2667000" y="5213962"/>
            <a:ext cx="6553199" cy="1431930"/>
          </a:xfrm>
          <a:prstGeom prst="rect">
            <a:avLst/>
          </a:prstGeom>
          <a:noFill/>
        </p:spPr>
        <p:txBody>
          <a:bodyPr wrap="square">
            <a:spAutoFit/>
          </a:bodyPr>
          <a:lstStyle/>
          <a:p>
            <a:pPr>
              <a:lnSpc>
                <a:spcPct val="125000"/>
              </a:lnSpc>
            </a:pPr>
            <a:r>
              <a:rPr lang="en-US" b="0" dirty="0" err="1"/>
              <a:t>java.util.</a:t>
            </a:r>
            <a:r>
              <a:rPr lang="en-US" dirty="0" err="1"/>
              <a:t>NoSuchElementException</a:t>
            </a:r>
            <a:r>
              <a:rPr lang="en-US" b="0" dirty="0"/>
              <a:t>	</a:t>
            </a:r>
          </a:p>
          <a:p>
            <a:pPr>
              <a:lnSpc>
                <a:spcPct val="125000"/>
              </a:lnSpc>
            </a:pPr>
            <a:r>
              <a:rPr lang="en-US" b="0" dirty="0" err="1"/>
              <a:t>java.util.</a:t>
            </a:r>
            <a:r>
              <a:rPr lang="en-US" dirty="0" err="1"/>
              <a:t>IllegalStateException</a:t>
            </a:r>
            <a:r>
              <a:rPr lang="en-US" b="0" dirty="0"/>
              <a:t>	</a:t>
            </a:r>
          </a:p>
          <a:p>
            <a:pPr>
              <a:lnSpc>
                <a:spcPct val="125000"/>
              </a:lnSpc>
            </a:pPr>
            <a:r>
              <a:rPr lang="en-US" b="0" dirty="0" err="1"/>
              <a:t>java.util.</a:t>
            </a:r>
            <a:r>
              <a:rPr lang="en-US" dirty="0" err="1"/>
              <a:t>ConcurrentModificationException</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5B52FAC1-F317-411E-B70A-AB34595C4F61}"/>
              </a:ext>
            </a:extLst>
          </p:cNvPr>
          <p:cNvSpPr txBox="1">
            <a:spLocks noChangeArrowheads="1"/>
          </p:cNvSpPr>
          <p:nvPr/>
        </p:nvSpPr>
        <p:spPr bwMode="auto">
          <a:xfrm>
            <a:off x="1295400" y="4267200"/>
            <a:ext cx="7239000" cy="195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50000"/>
              </a:lnSpc>
              <a:spcBef>
                <a:spcPct val="0"/>
              </a:spcBef>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OutOfMemoryError</a:t>
            </a:r>
            <a:r>
              <a:rPr lang="en-US" altLang="en-US" sz="2800" dirty="0">
                <a:latin typeface="Arial" panose="020B0604020202020204" pitchFamily="34" charset="0"/>
              </a:rPr>
              <a:t> </a:t>
            </a:r>
          </a:p>
          <a:p>
            <a:pPr>
              <a:lnSpc>
                <a:spcPct val="150000"/>
              </a:lnSpc>
              <a:spcBef>
                <a:spcPct val="0"/>
              </a:spcBef>
              <a:buFontTx/>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StackOverflowError</a:t>
            </a:r>
            <a:r>
              <a:rPr lang="en-US" altLang="en-US" sz="2800" dirty="0">
                <a:latin typeface="Arial" panose="020B0604020202020204" pitchFamily="34" charset="0"/>
              </a:rPr>
              <a:t> </a:t>
            </a:r>
          </a:p>
          <a:p>
            <a:pPr>
              <a:lnSpc>
                <a:spcPct val="150000"/>
              </a:lnSpc>
              <a:spcBef>
                <a:spcPct val="0"/>
              </a:spcBef>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ThreadDeath</a:t>
            </a:r>
            <a:r>
              <a:rPr lang="en-US" altLang="en-US" sz="2800" dirty="0">
                <a:latin typeface="Arial" panose="020B0604020202020204" pitchFamily="34" charset="0"/>
              </a:rPr>
              <a:t> (deprecated)</a:t>
            </a:r>
          </a:p>
        </p:txBody>
      </p:sp>
      <p:sp>
        <p:nvSpPr>
          <p:cNvPr id="5" name="TextBox 4">
            <a:extLst>
              <a:ext uri="{FF2B5EF4-FFF2-40B4-BE49-F238E27FC236}">
                <a16:creationId xmlns:a16="http://schemas.microsoft.com/office/drawing/2014/main" id="{62CAD0F4-D581-24EA-440C-1CAF481653E9}"/>
              </a:ext>
            </a:extLst>
          </p:cNvPr>
          <p:cNvSpPr txBox="1"/>
          <p:nvPr/>
        </p:nvSpPr>
        <p:spPr>
          <a:xfrm>
            <a:off x="560294" y="381000"/>
            <a:ext cx="7429500" cy="769441"/>
          </a:xfrm>
          <a:prstGeom prst="rect">
            <a:avLst/>
          </a:prstGeom>
          <a:noFill/>
        </p:spPr>
        <p:txBody>
          <a:bodyPr wrap="square">
            <a:spAutoFit/>
          </a:bodyPr>
          <a:lstStyle/>
          <a:p>
            <a:pPr algn="ctr"/>
            <a:r>
              <a:rPr lang="en-US" sz="4400" b="1" cap="none" spc="50" dirty="0">
                <a:ln w="9525" cmpd="sng">
                  <a:solidFill>
                    <a:schemeClr val="accent1"/>
                  </a:solidFill>
                  <a:prstDash val="solid"/>
                </a:ln>
                <a:solidFill>
                  <a:schemeClr val="accent6">
                    <a:lumMod val="60000"/>
                    <a:lumOff val="40000"/>
                  </a:schemeClr>
                </a:solidFill>
                <a:effectLst>
                  <a:glow rad="38100">
                    <a:schemeClr val="accent1">
                      <a:alpha val="40000"/>
                    </a:schemeClr>
                  </a:glow>
                </a:effectLst>
              </a:rPr>
              <a:t>Errors</a:t>
            </a:r>
          </a:p>
        </p:txBody>
      </p:sp>
      <p:sp>
        <p:nvSpPr>
          <p:cNvPr id="6" name="TextBox 5">
            <a:extLst>
              <a:ext uri="{FF2B5EF4-FFF2-40B4-BE49-F238E27FC236}">
                <a16:creationId xmlns:a16="http://schemas.microsoft.com/office/drawing/2014/main" id="{145B875B-B7D4-7E87-AE53-8FAEF505C7B7}"/>
              </a:ext>
            </a:extLst>
          </p:cNvPr>
          <p:cNvSpPr txBox="1"/>
          <p:nvPr/>
        </p:nvSpPr>
        <p:spPr>
          <a:xfrm>
            <a:off x="138953" y="1650469"/>
            <a:ext cx="8866094" cy="2308324"/>
          </a:xfrm>
          <a:prstGeom prst="rect">
            <a:avLst/>
          </a:prstGeom>
          <a:noFill/>
        </p:spPr>
        <p:txBody>
          <a:bodyPr wrap="square">
            <a:spAutoFit/>
          </a:bodyPr>
          <a:lstStyle/>
          <a:p>
            <a:pPr marL="1028700" lvl="1" indent="-571500" eaLnBrk="1" hangingPunct="1">
              <a:buFont typeface="Arial" panose="020B0604020202020204" pitchFamily="34" charset="0"/>
              <a:buChar char="•"/>
            </a:pPr>
            <a:r>
              <a:rPr lang="en-US" sz="3600" dirty="0">
                <a:solidFill>
                  <a:prstClr val="black"/>
                </a:solidFill>
                <a:latin typeface="Abadi" panose="020B0604020104020204" pitchFamily="34" charset="0"/>
                <a:ea typeface="SimSun" pitchFamily="2" charset="-122"/>
              </a:rPr>
              <a:t>JVM</a:t>
            </a:r>
            <a:r>
              <a:rPr kumimoji="0" lang="en-US" sz="3600" b="0" i="0" u="none" strike="noStrike" kern="1200" cap="none" spc="0" normalizeH="0" baseline="0" noProof="0" dirty="0">
                <a:ln>
                  <a:noFill/>
                </a:ln>
                <a:solidFill>
                  <a:prstClr val="black"/>
                </a:solidFill>
                <a:effectLst/>
                <a:uLnTx/>
                <a:uFillTx/>
                <a:latin typeface="Abadi" panose="020B0604020104020204" pitchFamily="34" charset="0"/>
                <a:ea typeface="SimSun" pitchFamily="2" charset="-122"/>
              </a:rPr>
              <a:t> errors and resource exhaustion </a:t>
            </a:r>
          </a:p>
          <a:p>
            <a:pPr marL="1028700" lvl="1" indent="-571500" eaLnBrk="1" hangingPunct="1">
              <a:buFont typeface="Arial" panose="020B0604020202020204" pitchFamily="34" charset="0"/>
              <a:buChar char="•"/>
            </a:pPr>
            <a:r>
              <a:rPr lang="en-US" altLang="en-US" sz="3600" dirty="0">
                <a:latin typeface="Abadi" panose="020B0604020104020204" pitchFamily="34" charset="0"/>
              </a:rPr>
              <a:t>Not typically caught by program</a:t>
            </a:r>
          </a:p>
          <a:p>
            <a:pPr marL="1028700" lvl="1" indent="-571500" eaLnBrk="1" hangingPunct="1">
              <a:buFont typeface="Arial" panose="020B0604020202020204" pitchFamily="34" charset="0"/>
              <a:buChar char="•"/>
            </a:pPr>
            <a:r>
              <a:rPr lang="en-US" altLang="en-US" sz="3600" dirty="0">
                <a:latin typeface="Abadi" panose="020B0604020104020204" pitchFamily="34" charset="0"/>
              </a:rPr>
              <a:t>Program can’t usually recover from these</a:t>
            </a:r>
          </a:p>
        </p:txBody>
      </p:sp>
    </p:spTree>
    <p:extLst>
      <p:ext uri="{BB962C8B-B14F-4D97-AF65-F5344CB8AC3E}">
        <p14:creationId xmlns:p14="http://schemas.microsoft.com/office/powerpoint/2010/main" val="3721770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a:extLst>
            <a:ext uri="{FF2B5EF4-FFF2-40B4-BE49-F238E27FC236}">
              <a16:creationId xmlns:a16="http://schemas.microsoft.com/office/drawing/2014/main" id="{E70786E2-8768-1575-87C4-0103FCC7EC8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D7F53FD-476F-1DEC-17EC-1210D66D2DDB}"/>
              </a:ext>
            </a:extLst>
          </p:cNvPr>
          <p:cNvSpPr txBox="1"/>
          <p:nvPr/>
        </p:nvSpPr>
        <p:spPr>
          <a:xfrm>
            <a:off x="560294" y="381000"/>
            <a:ext cx="7429500" cy="769441"/>
          </a:xfrm>
          <a:prstGeom prst="rect">
            <a:avLst/>
          </a:prstGeom>
          <a:noFill/>
        </p:spPr>
        <p:txBody>
          <a:bodyPr wrap="square">
            <a:spAutoFit/>
          </a:bodyPr>
          <a:lstStyle/>
          <a:p>
            <a:pPr algn="ctr"/>
            <a:r>
              <a:rPr lang="en-US" sz="4400" b="1" cap="none" spc="50" dirty="0">
                <a:ln w="9525" cmpd="sng">
                  <a:solidFill>
                    <a:schemeClr val="accent1"/>
                  </a:solidFill>
                  <a:prstDash val="solid"/>
                </a:ln>
                <a:solidFill>
                  <a:schemeClr val="accent6">
                    <a:lumMod val="60000"/>
                    <a:lumOff val="40000"/>
                  </a:schemeClr>
                </a:solidFill>
                <a:effectLst>
                  <a:glow rad="38100">
                    <a:schemeClr val="accent1">
                      <a:alpha val="40000"/>
                    </a:schemeClr>
                  </a:glow>
                </a:effectLst>
              </a:rPr>
              <a:t>Errors</a:t>
            </a:r>
          </a:p>
        </p:txBody>
      </p:sp>
      <p:sp>
        <p:nvSpPr>
          <p:cNvPr id="2" name="TextBox 1">
            <a:extLst>
              <a:ext uri="{FF2B5EF4-FFF2-40B4-BE49-F238E27FC236}">
                <a16:creationId xmlns:a16="http://schemas.microsoft.com/office/drawing/2014/main" id="{056031E0-CFD1-0236-08ED-DA3C23A47A4D}"/>
              </a:ext>
            </a:extLst>
          </p:cNvPr>
          <p:cNvSpPr txBox="1"/>
          <p:nvPr/>
        </p:nvSpPr>
        <p:spPr>
          <a:xfrm>
            <a:off x="457200" y="2209800"/>
            <a:ext cx="8077200" cy="3970318"/>
          </a:xfrm>
          <a:prstGeom prst="rect">
            <a:avLst/>
          </a:prstGeom>
          <a:noFill/>
        </p:spPr>
        <p:txBody>
          <a:bodyPr wrap="square" rtlCol="0">
            <a:spAutoFit/>
          </a:bodyPr>
          <a:lstStyle/>
          <a:p>
            <a:r>
              <a:rPr lang="en-US" sz="3600" dirty="0">
                <a:solidFill>
                  <a:schemeClr val="accent2">
                    <a:lumMod val="75000"/>
                  </a:schemeClr>
                </a:solidFill>
              </a:rPr>
              <a:t>Note that, like </a:t>
            </a:r>
            <a:r>
              <a:rPr lang="en-US" sz="3600" dirty="0" err="1">
                <a:solidFill>
                  <a:schemeClr val="accent2">
                    <a:lumMod val="75000"/>
                  </a:schemeClr>
                </a:solidFill>
              </a:rPr>
              <a:t>RuntimeExceptions</a:t>
            </a:r>
            <a:r>
              <a:rPr lang="en-US" sz="3600" dirty="0">
                <a:solidFill>
                  <a:schemeClr val="accent2">
                    <a:lumMod val="75000"/>
                  </a:schemeClr>
                </a:solidFill>
              </a:rPr>
              <a:t>, Errors don’t have to obey the Declare/Catch rule and are therefore not checked by the compiler. However, when I use the phrase “unchecked exceptions” I mean </a:t>
            </a:r>
            <a:r>
              <a:rPr lang="en-US" sz="3600" dirty="0" err="1">
                <a:solidFill>
                  <a:schemeClr val="accent2">
                    <a:lumMod val="75000"/>
                  </a:schemeClr>
                </a:solidFill>
              </a:rPr>
              <a:t>RuntimeExceptions</a:t>
            </a:r>
            <a:r>
              <a:rPr lang="en-US" sz="3600" dirty="0">
                <a:solidFill>
                  <a:schemeClr val="accent2">
                    <a:lumMod val="75000"/>
                  </a:schemeClr>
                </a:solidFill>
              </a:rPr>
              <a:t>.</a:t>
            </a:r>
          </a:p>
        </p:txBody>
      </p:sp>
    </p:spTree>
    <p:extLst>
      <p:ext uri="{BB962C8B-B14F-4D97-AF65-F5344CB8AC3E}">
        <p14:creationId xmlns:p14="http://schemas.microsoft.com/office/powerpoint/2010/main" val="3059727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8ADF03F-B0A6-EAB4-B8C1-2177B8B104BA}"/>
              </a:ext>
            </a:extLst>
          </p:cNvPr>
          <p:cNvSpPr/>
          <p:nvPr/>
        </p:nvSpPr>
        <p:spPr>
          <a:xfrm>
            <a:off x="822895" y="1676400"/>
            <a:ext cx="7498209" cy="2308324"/>
          </a:xfrm>
          <a:prstGeom prst="rect">
            <a:avLst/>
          </a:prstGeom>
          <a:noFill/>
        </p:spPr>
        <p:txBody>
          <a:bodyPr wrap="square" lIns="91440" tIns="45720" rIns="91440" bIns="45720">
            <a:spAutoFit/>
          </a:bodyPr>
          <a:lstStyle/>
          <a:p>
            <a:pPr algn="ctr"/>
            <a:r>
              <a:rPr lang="en-US" sz="72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The Catch or Declare Rule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5E86F-9C8F-8DEE-19BF-C963F995983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6CED0BC-AFC5-7EA8-F0ED-D694BC747AD0}"/>
              </a:ext>
            </a:extLst>
          </p:cNvPr>
          <p:cNvSpPr/>
          <p:nvPr/>
        </p:nvSpPr>
        <p:spPr>
          <a:xfrm>
            <a:off x="865696" y="364153"/>
            <a:ext cx="7412607" cy="830997"/>
          </a:xfrm>
          <a:prstGeom prst="rect">
            <a:avLst/>
          </a:prstGeom>
          <a:noFill/>
        </p:spPr>
        <p:txBody>
          <a:bodyPr wrap="none" lIns="91440" tIns="45720" rIns="91440" bIns="45720">
            <a:spAutoFit/>
          </a:bodyPr>
          <a:lstStyle/>
          <a:p>
            <a:pPr algn="ctr"/>
            <a:r>
              <a:rPr lang="en-US" sz="48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The Catch / Declare Rule</a:t>
            </a:r>
          </a:p>
        </p:txBody>
      </p:sp>
      <p:sp>
        <p:nvSpPr>
          <p:cNvPr id="6" name="TextBox 5">
            <a:extLst>
              <a:ext uri="{FF2B5EF4-FFF2-40B4-BE49-F238E27FC236}">
                <a16:creationId xmlns:a16="http://schemas.microsoft.com/office/drawing/2014/main" id="{7C4551A5-8ABD-ABFE-8115-580C0151A152}"/>
              </a:ext>
            </a:extLst>
          </p:cNvPr>
          <p:cNvSpPr txBox="1"/>
          <p:nvPr/>
        </p:nvSpPr>
        <p:spPr>
          <a:xfrm>
            <a:off x="609600" y="1905000"/>
            <a:ext cx="8381999" cy="3801041"/>
          </a:xfrm>
          <a:prstGeom prst="rect">
            <a:avLst/>
          </a:prstGeom>
          <a:noFill/>
        </p:spPr>
        <p:txBody>
          <a:bodyPr wrap="square">
            <a:spAutoFit/>
          </a:bodyPr>
          <a:lstStyle/>
          <a:p>
            <a:pPr>
              <a:spcBef>
                <a:spcPct val="0"/>
              </a:spcBef>
              <a:spcAft>
                <a:spcPts val="600"/>
              </a:spcAft>
              <a:buFontTx/>
              <a:buNone/>
            </a:pPr>
            <a:r>
              <a:rPr lang="en-US" altLang="en-US" sz="3600" dirty="0">
                <a:latin typeface="Arial" panose="020B0604020202020204" pitchFamily="34" charset="0"/>
              </a:rPr>
              <a:t>If your method could throw a </a:t>
            </a:r>
            <a:r>
              <a:rPr lang="en-US" altLang="en-US" sz="3600" u="sng" dirty="0">
                <a:latin typeface="Arial" panose="020B0604020202020204" pitchFamily="34" charset="0"/>
              </a:rPr>
              <a:t>checked</a:t>
            </a:r>
            <a:r>
              <a:rPr lang="en-US" altLang="en-US" sz="3600" dirty="0">
                <a:latin typeface="Arial" panose="020B0604020202020204" pitchFamily="34" charset="0"/>
              </a:rPr>
              <a:t> exception, you must:</a:t>
            </a:r>
          </a:p>
          <a:p>
            <a:pPr marL="457200" indent="-457200">
              <a:spcBef>
                <a:spcPts val="1200"/>
              </a:spcBef>
              <a:buFont typeface="Arial" panose="020B0604020202020204" pitchFamily="34" charset="0"/>
              <a:buChar char="•"/>
            </a:pPr>
            <a:r>
              <a:rPr lang="en-US" altLang="en-US" sz="3600" dirty="0"/>
              <a:t>C</a:t>
            </a:r>
            <a:r>
              <a:rPr lang="en-US" altLang="en-US" sz="3600" dirty="0">
                <a:latin typeface="Arial" panose="020B0604020202020204" pitchFamily="34" charset="0"/>
              </a:rPr>
              <a:t>atch the exception and handle it, or</a:t>
            </a:r>
            <a:endParaRPr lang="en-US" sz="3600" dirty="0"/>
          </a:p>
          <a:p>
            <a:pPr marL="457200" indent="-457200">
              <a:spcBef>
                <a:spcPts val="1200"/>
              </a:spcBef>
              <a:buFont typeface="Arial" panose="020B0604020202020204" pitchFamily="34" charset="0"/>
              <a:buChar char="•"/>
            </a:pPr>
            <a:r>
              <a:rPr lang="en-US" altLang="en-US" sz="3600" dirty="0">
                <a:latin typeface="Arial" panose="020B0604020202020204" pitchFamily="34" charset="0"/>
              </a:rPr>
              <a:t>Declare it by adding a </a:t>
            </a:r>
            <a:r>
              <a:rPr lang="en-US" altLang="en-US" sz="3600" dirty="0">
                <a:solidFill>
                  <a:schemeClr val="accent2">
                    <a:lumMod val="75000"/>
                  </a:schemeClr>
                </a:solidFill>
                <a:latin typeface="Consolas" panose="020B0609020204030204" pitchFamily="49" charset="0"/>
                <a:cs typeface="Cascadia Code" panose="020B0609020000020004" pitchFamily="49" charset="0"/>
              </a:rPr>
              <a:t>throws</a:t>
            </a:r>
            <a:r>
              <a:rPr lang="en-US" altLang="en-US" sz="3600" dirty="0">
                <a:latin typeface="Arial" panose="020B0604020202020204" pitchFamily="34" charset="0"/>
              </a:rPr>
              <a:t> clause to your method’s header</a:t>
            </a:r>
            <a:r>
              <a:rPr lang="en-US" altLang="en-US" sz="3600" dirty="0"/>
              <a:t>.</a:t>
            </a:r>
            <a:endParaRPr lang="en-US" altLang="en-US" sz="3600" dirty="0">
              <a:latin typeface="Arial" panose="020B0604020202020204" pitchFamily="34" charset="0"/>
            </a:endParaRPr>
          </a:p>
        </p:txBody>
      </p:sp>
    </p:spTree>
    <p:extLst>
      <p:ext uri="{BB962C8B-B14F-4D97-AF65-F5344CB8AC3E}">
        <p14:creationId xmlns:p14="http://schemas.microsoft.com/office/powerpoint/2010/main" val="1860161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AutoShape 2">
            <a:extLst>
              <a:ext uri="{FF2B5EF4-FFF2-40B4-BE49-F238E27FC236}">
                <a16:creationId xmlns:a16="http://schemas.microsoft.com/office/drawing/2014/main" id="{EEAD4788-E65E-1C3A-0B04-CCD6D0C0D57A}"/>
              </a:ext>
            </a:extLst>
          </p:cNvPr>
          <p:cNvSpPr>
            <a:spLocks noGrp="1" noChangeArrowheads="1"/>
          </p:cNvSpPr>
          <p:nvPr>
            <p:ph type="title"/>
          </p:nvPr>
        </p:nvSpPr>
        <p:spPr>
          <a:xfrm>
            <a:off x="685800" y="76200"/>
            <a:ext cx="7772400" cy="1143000"/>
          </a:xfrm>
        </p:spPr>
        <p:txBody>
          <a:bodyPr/>
          <a:lstStyle/>
          <a:p>
            <a:pPr eaLnBrk="1" hangingPunct="1"/>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rPr>
              <a:t>Handling</a:t>
            </a:r>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ea typeface="+mn-ea"/>
                <a:cs typeface="+mn-cs"/>
              </a:rPr>
              <a:t> an exception</a:t>
            </a:r>
          </a:p>
        </p:txBody>
      </p:sp>
      <p:sp>
        <p:nvSpPr>
          <p:cNvPr id="2" name="Content Placeholder 1">
            <a:extLst>
              <a:ext uri="{FF2B5EF4-FFF2-40B4-BE49-F238E27FC236}">
                <a16:creationId xmlns:a16="http://schemas.microsoft.com/office/drawing/2014/main" id="{2D5331A8-FC07-45ED-C9B4-F1FD2ABFE13D}"/>
              </a:ext>
            </a:extLst>
          </p:cNvPr>
          <p:cNvSpPr>
            <a:spLocks noGrp="1"/>
          </p:cNvSpPr>
          <p:nvPr>
            <p:ph idx="1"/>
          </p:nvPr>
        </p:nvSpPr>
        <p:spPr>
          <a:xfrm>
            <a:off x="0" y="1371600"/>
            <a:ext cx="9144000" cy="5105400"/>
          </a:xfrm>
        </p:spPr>
        <p:txBody>
          <a:bodyPr/>
          <a:lstStyle/>
          <a:p>
            <a:pPr marL="0" indent="0">
              <a:buNone/>
            </a:pPr>
            <a:r>
              <a:rPr lang="en-US" sz="2400" dirty="0">
                <a:latin typeface="Consolas" panose="020B0609020204030204" pitchFamily="49" charset="0"/>
              </a:rPr>
              <a:t>public static void </a:t>
            </a:r>
            <a:r>
              <a:rPr lang="en-US" sz="2300" b="1" dirty="0">
                <a:latin typeface="Consolas" panose="020B0609020204030204" pitchFamily="49" charset="0"/>
              </a:rPr>
              <a:t>main(String </a:t>
            </a:r>
            <a:r>
              <a:rPr lang="en-US" sz="2300" b="1" dirty="0" err="1">
                <a:latin typeface="Consolas" panose="020B0609020204030204" pitchFamily="49" charset="0"/>
              </a:rPr>
              <a:t>args</a:t>
            </a:r>
            <a:r>
              <a:rPr lang="en-US" sz="2300" b="1" dirty="0">
                <a:latin typeface="Consolas" panose="020B0609020204030204" pitchFamily="49" charset="0"/>
              </a:rPr>
              <a:t>[]) </a:t>
            </a:r>
            <a:r>
              <a:rPr lang="en-US" sz="2300" dirty="0">
                <a:latin typeface="Consolas" panose="020B0609020204030204" pitchFamily="49" charset="0"/>
              </a:rPr>
              <a:t>{ </a:t>
            </a:r>
          </a:p>
          <a:p>
            <a:pPr marL="0" indent="0">
              <a:buNone/>
            </a:pPr>
            <a:r>
              <a:rPr lang="en-US" sz="2300" dirty="0">
                <a:latin typeface="Consolas" panose="020B0609020204030204" pitchFamily="49" charset="0"/>
              </a:rPr>
              <a:t>  </a:t>
            </a:r>
            <a:r>
              <a:rPr lang="en-US" sz="2300" b="1" dirty="0">
                <a:latin typeface="Consolas" panose="020B0609020204030204" pitchFamily="49" charset="0"/>
              </a:rPr>
              <a:t>try {</a:t>
            </a:r>
          </a:p>
          <a:p>
            <a:pPr marL="0" indent="0">
              <a:buNone/>
            </a:pPr>
            <a:r>
              <a:rPr lang="en-US" sz="2300" dirty="0">
                <a:latin typeface="Consolas" panose="020B0609020204030204" pitchFamily="49" charset="0"/>
              </a:rPr>
              <a:t>    String filename = </a:t>
            </a:r>
            <a:r>
              <a:rPr lang="en-US" sz="2300" i="1" dirty="0">
                <a:latin typeface="Consolas" panose="020B0609020204030204" pitchFamily="49" charset="0"/>
              </a:rPr>
              <a:t>&lt;&lt; gets file name from user &gt;&gt;</a:t>
            </a:r>
            <a:br>
              <a:rPr lang="en-US" sz="2300" dirty="0">
                <a:latin typeface="Consolas" panose="020B0609020204030204" pitchFamily="49" charset="0"/>
              </a:rPr>
            </a:br>
            <a:r>
              <a:rPr lang="en-US" sz="2300" dirty="0">
                <a:latin typeface="Consolas" panose="020B0609020204030204" pitchFamily="49" charset="0"/>
              </a:rPr>
              <a:t>    Scanner file = new Scanner(</a:t>
            </a:r>
            <a:r>
              <a:rPr lang="en-US" sz="2300" b="1" dirty="0">
                <a:latin typeface="Consolas" panose="020B0609020204030204" pitchFamily="49" charset="0"/>
              </a:rPr>
              <a:t>new File(</a:t>
            </a:r>
            <a:r>
              <a:rPr lang="en-US" sz="2300" dirty="0">
                <a:latin typeface="Consolas" panose="020B0609020204030204" pitchFamily="49" charset="0"/>
              </a:rPr>
              <a:t>filename</a:t>
            </a:r>
            <a:r>
              <a:rPr lang="en-US" sz="2300" b="1" dirty="0">
                <a:latin typeface="Consolas" panose="020B0609020204030204" pitchFamily="49" charset="0"/>
              </a:rPr>
              <a:t>)</a:t>
            </a:r>
            <a:r>
              <a:rPr lang="en-US" sz="2300" dirty="0">
                <a:latin typeface="Consolas" panose="020B0609020204030204" pitchFamily="49" charset="0"/>
              </a:rPr>
              <a:t>);</a:t>
            </a:r>
            <a:br>
              <a:rPr lang="en-US" sz="2300" dirty="0">
                <a:latin typeface="Consolas" panose="020B0609020204030204" pitchFamily="49" charset="0"/>
              </a:rPr>
            </a:br>
            <a:r>
              <a:rPr lang="en-US" sz="2300" dirty="0">
                <a:latin typeface="Consolas" panose="020B0609020204030204" pitchFamily="49" charset="0"/>
              </a:rPr>
              <a:t>    while(</a:t>
            </a:r>
            <a:r>
              <a:rPr lang="en-US" sz="2300" dirty="0" err="1">
                <a:latin typeface="Consolas" panose="020B0609020204030204" pitchFamily="49" charset="0"/>
              </a:rPr>
              <a:t>file.hasNextInt</a:t>
            </a:r>
            <a:r>
              <a:rPr lang="en-US" sz="2300" dirty="0">
                <a:latin typeface="Consolas" panose="020B0609020204030204" pitchFamily="49" charset="0"/>
              </a:rPr>
              <a:t>()) {</a:t>
            </a:r>
            <a:br>
              <a:rPr lang="en-US" sz="2300" dirty="0">
                <a:latin typeface="Consolas" panose="020B0609020204030204" pitchFamily="49" charset="0"/>
              </a:rPr>
            </a:br>
            <a:r>
              <a:rPr lang="en-US" sz="2300" dirty="0">
                <a:latin typeface="Consolas" panose="020B0609020204030204" pitchFamily="49" charset="0"/>
              </a:rPr>
              <a:t>      int size = </a:t>
            </a:r>
            <a:r>
              <a:rPr lang="en-US" sz="2300" dirty="0" err="1">
                <a:latin typeface="Consolas" panose="020B0609020204030204" pitchFamily="49" charset="0"/>
              </a:rPr>
              <a:t>file.nextInt</a:t>
            </a:r>
            <a:r>
              <a:rPr lang="en-US" sz="2300" dirty="0">
                <a:latin typeface="Consolas" panose="020B0609020204030204" pitchFamily="49" charset="0"/>
              </a:rPr>
              <a:t>();</a:t>
            </a:r>
            <a:br>
              <a:rPr lang="en-US" sz="2300" dirty="0">
                <a:latin typeface="Consolas" panose="020B0609020204030204" pitchFamily="49" charset="0"/>
              </a:rPr>
            </a:br>
            <a:r>
              <a:rPr lang="en-US" sz="2300" dirty="0">
                <a:latin typeface="Consolas" panose="020B0609020204030204" pitchFamily="49" charset="0"/>
              </a:rPr>
              <a:t>      </a:t>
            </a:r>
            <a:r>
              <a:rPr lang="en-US" sz="2300" dirty="0" err="1">
                <a:latin typeface="Consolas" panose="020B0609020204030204" pitchFamily="49" charset="0"/>
              </a:rPr>
              <a:t>PascalsTriangle</a:t>
            </a:r>
            <a:r>
              <a:rPr lang="en-US" sz="2300" dirty="0">
                <a:latin typeface="Consolas" panose="020B0609020204030204" pitchFamily="49" charset="0"/>
              </a:rPr>
              <a:t> test = new </a:t>
            </a:r>
            <a:r>
              <a:rPr lang="en-US" sz="2300" dirty="0" err="1">
                <a:latin typeface="Consolas" panose="020B0609020204030204" pitchFamily="49" charset="0"/>
              </a:rPr>
              <a:t>PascalsTriangle</a:t>
            </a:r>
            <a:r>
              <a:rPr lang="en-US" sz="2300" dirty="0">
                <a:latin typeface="Consolas" panose="020B0609020204030204" pitchFamily="49" charset="0"/>
              </a:rPr>
              <a:t>(size);</a:t>
            </a:r>
            <a:br>
              <a:rPr lang="en-US" sz="2300" dirty="0">
                <a:latin typeface="Consolas" panose="020B0609020204030204" pitchFamily="49" charset="0"/>
              </a:rPr>
            </a:br>
            <a:r>
              <a:rPr lang="en-US" sz="2300" dirty="0">
                <a:latin typeface="Consolas" panose="020B0609020204030204" pitchFamily="49" charset="0"/>
              </a:rPr>
              <a:t>      </a:t>
            </a:r>
            <a:r>
              <a:rPr lang="en-US" sz="2300" dirty="0" err="1">
                <a:latin typeface="Consolas" panose="020B0609020204030204" pitchFamily="49" charset="0"/>
              </a:rPr>
              <a:t>out.println</a:t>
            </a:r>
            <a:r>
              <a:rPr lang="en-US" sz="2300" dirty="0">
                <a:latin typeface="Consolas" panose="020B0609020204030204" pitchFamily="49" charset="0"/>
              </a:rPr>
              <a:t>(test);</a:t>
            </a:r>
            <a:br>
              <a:rPr lang="en-US" sz="2300" dirty="0">
                <a:latin typeface="Consolas" panose="020B0609020204030204" pitchFamily="49" charset="0"/>
              </a:rPr>
            </a:br>
            <a:r>
              <a:rPr lang="en-US" sz="2300" dirty="0">
                <a:latin typeface="Consolas" panose="020B0609020204030204" pitchFamily="49" charset="0"/>
              </a:rPr>
              <a:t>    </a:t>
            </a:r>
            <a:r>
              <a:rPr lang="en-US" sz="2300" b="1" dirty="0">
                <a:latin typeface="Consolas" panose="020B0609020204030204" pitchFamily="49" charset="0"/>
              </a:rPr>
              <a:t>}</a:t>
            </a:r>
          </a:p>
          <a:p>
            <a:pPr marL="0" indent="0">
              <a:buNone/>
            </a:pPr>
            <a:r>
              <a:rPr lang="en-US" sz="2300" b="1" dirty="0">
                <a:latin typeface="Consolas" panose="020B0609020204030204" pitchFamily="49" charset="0"/>
              </a:rPr>
              <a:t>  } </a:t>
            </a:r>
            <a:r>
              <a:rPr lang="en-US" sz="2300" b="1" dirty="0">
                <a:solidFill>
                  <a:schemeClr val="accent2">
                    <a:lumMod val="75000"/>
                  </a:schemeClr>
                </a:solidFill>
                <a:latin typeface="Consolas" panose="020B0609020204030204" pitchFamily="49" charset="0"/>
              </a:rPr>
              <a:t>catch(</a:t>
            </a:r>
            <a:r>
              <a:rPr lang="en-US" sz="2300" b="1" dirty="0" err="1">
                <a:solidFill>
                  <a:schemeClr val="accent2">
                    <a:lumMod val="75000"/>
                  </a:schemeClr>
                </a:solidFill>
                <a:latin typeface="Consolas" panose="020B0609020204030204" pitchFamily="49" charset="0"/>
              </a:rPr>
              <a:t>FileNotFoundException</a:t>
            </a:r>
            <a:r>
              <a:rPr lang="en-US" sz="2300" b="1" dirty="0">
                <a:solidFill>
                  <a:schemeClr val="accent2">
                    <a:lumMod val="75000"/>
                  </a:schemeClr>
                </a:solidFill>
                <a:latin typeface="Consolas" panose="020B0609020204030204" pitchFamily="49" charset="0"/>
              </a:rPr>
              <a:t> e) {</a:t>
            </a:r>
          </a:p>
          <a:p>
            <a:pPr marL="0" indent="0">
              <a:buNone/>
            </a:pPr>
            <a:r>
              <a:rPr lang="en-US" sz="2300" b="1" i="1" dirty="0">
                <a:solidFill>
                  <a:schemeClr val="accent2">
                    <a:lumMod val="75000"/>
                  </a:schemeClr>
                </a:solidFill>
                <a:latin typeface="Consolas" panose="020B0609020204030204" pitchFamily="49" charset="0"/>
              </a:rPr>
              <a:t>      &lt;&lt; code to handle the exception &gt;&gt;</a:t>
            </a:r>
          </a:p>
          <a:p>
            <a:pPr marL="0" indent="0">
              <a:buNone/>
            </a:pPr>
            <a:r>
              <a:rPr lang="en-US" sz="2300" b="1" dirty="0">
                <a:solidFill>
                  <a:schemeClr val="accent2">
                    <a:lumMod val="75000"/>
                  </a:schemeClr>
                </a:solidFill>
                <a:latin typeface="Consolas" panose="020B0609020204030204" pitchFamily="49" charset="0"/>
              </a:rPr>
              <a:t>  }</a:t>
            </a:r>
            <a:br>
              <a:rPr lang="en-US" sz="2300" b="1" dirty="0">
                <a:latin typeface="Consolas" panose="020B0609020204030204" pitchFamily="49" charset="0"/>
              </a:rPr>
            </a:br>
            <a:r>
              <a:rPr lang="en-US" sz="2300" dirty="0">
                <a:latin typeface="Consolas" panose="020B0609020204030204" pitchFamily="49" charset="0"/>
              </a:rPr>
              <a:t>}</a:t>
            </a:r>
          </a:p>
        </p:txBody>
      </p:sp>
      <p:sp>
        <p:nvSpPr>
          <p:cNvPr id="4" name="TextBox 3">
            <a:extLst>
              <a:ext uri="{FF2B5EF4-FFF2-40B4-BE49-F238E27FC236}">
                <a16:creationId xmlns:a16="http://schemas.microsoft.com/office/drawing/2014/main" id="{BA42EBD7-B457-7EF5-60E7-04C32146C3C4}"/>
              </a:ext>
            </a:extLst>
          </p:cNvPr>
          <p:cNvSpPr txBox="1"/>
          <p:nvPr/>
        </p:nvSpPr>
        <p:spPr>
          <a:xfrm>
            <a:off x="1219200" y="5780782"/>
            <a:ext cx="7912274" cy="1077218"/>
          </a:xfrm>
          <a:prstGeom prst="rect">
            <a:avLst/>
          </a:prstGeom>
          <a:noFill/>
        </p:spPr>
        <p:txBody>
          <a:bodyPr wrap="square">
            <a:spAutoFit/>
          </a:bodyPr>
          <a:lstStyle/>
          <a:p>
            <a:r>
              <a:rPr lang="en-US" sz="3200" dirty="0">
                <a:latin typeface="Congenial" panose="02000503040000020004" pitchFamily="2" charset="0"/>
              </a:rPr>
              <a:t>This code compiles because it has a catch block that handles the exception.</a:t>
            </a:r>
          </a:p>
        </p:txBody>
      </p:sp>
    </p:spTree>
    <p:extLst>
      <p:ext uri="{BB962C8B-B14F-4D97-AF65-F5344CB8AC3E}">
        <p14:creationId xmlns:p14="http://schemas.microsoft.com/office/powerpoint/2010/main" val="1027959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8A91771-428A-9FE7-F7CF-93919037CC9B}"/>
            </a:ext>
          </a:extLst>
        </p:cNvPr>
        <p:cNvGrpSpPr/>
        <p:nvPr/>
      </p:nvGrpSpPr>
      <p:grpSpPr>
        <a:xfrm>
          <a:off x="0" y="0"/>
          <a:ext cx="0" cy="0"/>
          <a:chOff x="0" y="0"/>
          <a:chExt cx="0" cy="0"/>
        </a:xfrm>
      </p:grpSpPr>
      <p:sp>
        <p:nvSpPr>
          <p:cNvPr id="57346" name="AutoShape 2">
            <a:extLst>
              <a:ext uri="{FF2B5EF4-FFF2-40B4-BE49-F238E27FC236}">
                <a16:creationId xmlns:a16="http://schemas.microsoft.com/office/drawing/2014/main" id="{10BC9F61-B823-6237-913B-6C12852A3AC3}"/>
              </a:ext>
            </a:extLst>
          </p:cNvPr>
          <p:cNvSpPr>
            <a:spLocks noGrp="1" noChangeArrowheads="1"/>
          </p:cNvSpPr>
          <p:nvPr>
            <p:ph type="title"/>
          </p:nvPr>
        </p:nvSpPr>
        <p:spPr>
          <a:xfrm>
            <a:off x="685800" y="76200"/>
            <a:ext cx="7772400" cy="1143000"/>
          </a:xfrm>
        </p:spPr>
        <p:txBody>
          <a:bodyPr/>
          <a:lstStyle/>
          <a:p>
            <a:pPr eaLnBrk="1" hangingPunct="1"/>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rPr>
              <a:t>Declaring</a:t>
            </a:r>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ea typeface="+mn-ea"/>
                <a:cs typeface="+mn-cs"/>
              </a:rPr>
              <a:t> an exception</a:t>
            </a:r>
          </a:p>
        </p:txBody>
      </p:sp>
      <p:sp>
        <p:nvSpPr>
          <p:cNvPr id="2" name="Content Placeholder 1">
            <a:extLst>
              <a:ext uri="{FF2B5EF4-FFF2-40B4-BE49-F238E27FC236}">
                <a16:creationId xmlns:a16="http://schemas.microsoft.com/office/drawing/2014/main" id="{A0642A16-D05E-A11B-C620-BC3A6C1ED9DD}"/>
              </a:ext>
            </a:extLst>
          </p:cNvPr>
          <p:cNvSpPr>
            <a:spLocks noGrp="1"/>
          </p:cNvSpPr>
          <p:nvPr>
            <p:ph idx="1"/>
          </p:nvPr>
        </p:nvSpPr>
        <p:spPr>
          <a:xfrm>
            <a:off x="0" y="2514600"/>
            <a:ext cx="9067800" cy="4343400"/>
          </a:xfrm>
        </p:spPr>
        <p:txBody>
          <a:bodyPr/>
          <a:lstStyle/>
          <a:p>
            <a:pPr marL="0" marR="0">
              <a:lnSpc>
                <a:spcPct val="115000"/>
              </a:lnSpc>
              <a:spcBef>
                <a:spcPts val="0"/>
              </a:spcBef>
              <a:spcAft>
                <a:spcPts val="0"/>
              </a:spcAft>
              <a:buNone/>
            </a:pPr>
            <a:r>
              <a:rPr lang="en-US" sz="2800" b="1" kern="100" dirty="0">
                <a:effectLst/>
                <a:latin typeface="Cascadia Code" panose="020B0609020000020004" pitchFamily="49" charset="0"/>
                <a:ea typeface="Aptos" panose="020B0004020202020204" pitchFamily="34" charset="0"/>
                <a:cs typeface="Times New Roman" panose="02020603050405020304" pitchFamily="18" charset="0"/>
              </a:rPr>
              <a:t>public static void main(String[] </a:t>
            </a:r>
            <a:r>
              <a:rPr lang="en-US" sz="2800" b="1" kern="100" dirty="0" err="1">
                <a:effectLst/>
                <a:latin typeface="Cascadia Code" panose="020B0609020000020004" pitchFamily="49" charset="0"/>
                <a:ea typeface="Aptos" panose="020B0004020202020204" pitchFamily="34" charset="0"/>
                <a:cs typeface="Times New Roman" panose="02020603050405020304" pitchFamily="18" charset="0"/>
              </a:rPr>
              <a:t>args</a:t>
            </a:r>
            <a:r>
              <a:rPr lang="en-US" sz="2800" b="1" kern="100" dirty="0">
                <a:effectLst/>
                <a:latin typeface="Cascadia Code" panose="020B0609020000020004" pitchFamily="49" charset="0"/>
                <a:ea typeface="Aptos" panose="020B0004020202020204" pitchFamily="34" charset="0"/>
                <a:cs typeface="Times New Roman" panose="02020603050405020304" pitchFamily="18" charset="0"/>
              </a:rPr>
              <a:t>) </a:t>
            </a:r>
          </a:p>
          <a:p>
            <a:pPr marL="0" marR="0">
              <a:lnSpc>
                <a:spcPct val="115000"/>
              </a:lnSpc>
              <a:spcBef>
                <a:spcPts val="0"/>
              </a:spcBef>
              <a:spcAft>
                <a:spcPts val="0"/>
              </a:spcAft>
              <a:buNone/>
            </a:pPr>
            <a:r>
              <a:rPr lang="en-US" sz="2800" b="1" kern="100" dirty="0">
                <a:latin typeface="Cascadia Code" panose="020B0609020000020004" pitchFamily="49" charset="0"/>
                <a:ea typeface="Aptos" panose="020B0004020202020204" pitchFamily="34" charset="0"/>
                <a:cs typeface="Times New Roman" panose="02020603050405020304" pitchFamily="18" charset="0"/>
              </a:rPr>
              <a:t>                      </a:t>
            </a:r>
            <a:r>
              <a:rPr lang="en-US" sz="2800" b="1" kern="100" dirty="0">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throws </a:t>
            </a:r>
            <a:r>
              <a:rPr lang="en-US" sz="2800" b="1" kern="100" dirty="0" err="1">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IOException</a:t>
            </a:r>
            <a:r>
              <a:rPr lang="en-US" sz="2800" b="1" kern="100" dirty="0">
                <a:solidFill>
                  <a:schemeClr val="accent2">
                    <a:lumMod val="75000"/>
                  </a:schemeClr>
                </a:solidFill>
                <a:latin typeface="Cascadia Code" panose="020B0609020000020004" pitchFamily="49" charset="0"/>
                <a:ea typeface="Aptos" panose="020B0004020202020204" pitchFamily="34" charset="0"/>
                <a:cs typeface="Times New Roman" panose="02020603050405020304" pitchFamily="18" charset="0"/>
              </a:rPr>
              <a:t> </a:t>
            </a:r>
            <a:r>
              <a:rPr lang="en-US" sz="2800" b="1" kern="100" dirty="0">
                <a:effectLst/>
                <a:latin typeface="Cascadia Code" panose="020B0609020000020004" pitchFamily="49" charset="0"/>
                <a:ea typeface="Aptos" panose="020B0004020202020204" pitchFamily="34" charset="0"/>
                <a:cs typeface="Times New Roman" panose="02020603050405020304" pitchFamily="18" charset="0"/>
              </a:rPr>
              <a:t>{</a:t>
            </a:r>
          </a:p>
          <a:p>
            <a:pPr marL="0" marR="0">
              <a:lnSpc>
                <a:spcPct val="115000"/>
              </a:lnSpc>
              <a:spcBef>
                <a:spcPts val="0"/>
              </a:spcBef>
              <a:spcAft>
                <a:spcPts val="0"/>
              </a:spcAft>
              <a:buNone/>
            </a:pPr>
            <a:r>
              <a:rPr lang="en-US" sz="2800" kern="100" dirty="0">
                <a:effectLst/>
                <a:latin typeface="Cascadia Code" panose="020B0609020000020004" pitchFamily="49" charset="0"/>
                <a:ea typeface="Aptos" panose="020B0004020202020204" pitchFamily="34" charset="0"/>
                <a:cs typeface="Times New Roman" panose="02020603050405020304" pitchFamily="18" charset="0"/>
              </a:rPr>
              <a:t>  </a:t>
            </a:r>
          </a:p>
          <a:p>
            <a:pPr marL="0" marR="0">
              <a:lnSpc>
                <a:spcPct val="115000"/>
              </a:lnSpc>
              <a:spcBef>
                <a:spcPts val="0"/>
              </a:spcBef>
              <a:spcAft>
                <a:spcPts val="0"/>
              </a:spcAft>
              <a:buNone/>
            </a:pPr>
            <a:endParaRPr lang="en-US" sz="1600" b="1" kern="100" dirty="0">
              <a:solidFill>
                <a:schemeClr val="bg2">
                  <a:lumMod val="75000"/>
                </a:schemeClr>
              </a:solidFill>
              <a:latin typeface="Cascadia Code" panose="020B0609020000020004" pitchFamily="49" charset="0"/>
              <a:cs typeface="Times New Roman" panose="02020603050405020304" pitchFamily="18" charset="0"/>
            </a:endParaRPr>
          </a:p>
          <a:p>
            <a:pPr marL="0" marR="0">
              <a:lnSpc>
                <a:spcPct val="115000"/>
              </a:lnSpc>
              <a:spcBef>
                <a:spcPts val="0"/>
              </a:spcBef>
              <a:spcAft>
                <a:spcPts val="0"/>
              </a:spcAft>
              <a:buNone/>
            </a:pPr>
            <a:r>
              <a:rPr lang="en-US" sz="2800" kern="100" dirty="0">
                <a:solidFill>
                  <a:schemeClr val="bg2">
                    <a:lumMod val="75000"/>
                  </a:schemeClr>
                </a:solidFill>
                <a:latin typeface="Cascadia Code" panose="020B0609020000020004" pitchFamily="49" charset="0"/>
                <a:cs typeface="Times New Roman" panose="02020603050405020304" pitchFamily="18" charset="0"/>
              </a:rPr>
              <a:t>}</a:t>
            </a:r>
          </a:p>
        </p:txBody>
      </p:sp>
      <p:sp>
        <p:nvSpPr>
          <p:cNvPr id="3" name="TextBox 2">
            <a:extLst>
              <a:ext uri="{FF2B5EF4-FFF2-40B4-BE49-F238E27FC236}">
                <a16:creationId xmlns:a16="http://schemas.microsoft.com/office/drawing/2014/main" id="{70AC2674-5066-5E80-C5C0-C2D2897FAAB3}"/>
              </a:ext>
            </a:extLst>
          </p:cNvPr>
          <p:cNvSpPr txBox="1"/>
          <p:nvPr/>
        </p:nvSpPr>
        <p:spPr>
          <a:xfrm>
            <a:off x="152400" y="1345912"/>
            <a:ext cx="8437880" cy="584775"/>
          </a:xfrm>
          <a:prstGeom prst="rect">
            <a:avLst/>
          </a:prstGeom>
          <a:noFill/>
        </p:spPr>
        <p:txBody>
          <a:bodyPr wrap="square">
            <a:spAutoFit/>
          </a:bodyPr>
          <a:lstStyle/>
          <a:p>
            <a:pPr algn="ctr"/>
            <a:r>
              <a:rPr lang="en-US" sz="3200" kern="1200" dirty="0">
                <a:solidFill>
                  <a:schemeClr val="tx1"/>
                </a:solidFill>
                <a:effectLst/>
                <a:latin typeface="Times New Roman" pitchFamily="18" charset="0"/>
                <a:ea typeface="+mn-ea"/>
                <a:cs typeface="+mn-cs"/>
              </a:rPr>
              <a:t>The </a:t>
            </a:r>
            <a:r>
              <a:rPr lang="en-US" sz="3200" kern="1200" dirty="0">
                <a:solidFill>
                  <a:schemeClr val="tx1"/>
                </a:solidFill>
                <a:effectLst/>
                <a:latin typeface="Cascadia Code" panose="020B0609020000020004" pitchFamily="49" charset="0"/>
                <a:cs typeface="Cascadia Code" panose="020B0609020000020004" pitchFamily="49" charset="0"/>
              </a:rPr>
              <a:t>Main</a:t>
            </a:r>
            <a:r>
              <a:rPr lang="en-US" sz="3200" kern="1200" dirty="0">
                <a:solidFill>
                  <a:schemeClr val="tx1"/>
                </a:solidFill>
                <a:effectLst/>
                <a:latin typeface="Times New Roman" pitchFamily="18" charset="0"/>
                <a:ea typeface="+mn-ea"/>
                <a:cs typeface="+mn-cs"/>
              </a:rPr>
              <a:t> method</a:t>
            </a:r>
          </a:p>
        </p:txBody>
      </p:sp>
      <p:sp>
        <p:nvSpPr>
          <p:cNvPr id="5" name="TextBox 4">
            <a:extLst>
              <a:ext uri="{FF2B5EF4-FFF2-40B4-BE49-F238E27FC236}">
                <a16:creationId xmlns:a16="http://schemas.microsoft.com/office/drawing/2014/main" id="{8A389E98-C4BD-316F-D1B3-E5D05E1499C9}"/>
              </a:ext>
            </a:extLst>
          </p:cNvPr>
          <p:cNvSpPr txBox="1"/>
          <p:nvPr/>
        </p:nvSpPr>
        <p:spPr>
          <a:xfrm>
            <a:off x="533400" y="4604147"/>
            <a:ext cx="8056880" cy="1569660"/>
          </a:xfrm>
          <a:prstGeom prst="rect">
            <a:avLst/>
          </a:prstGeom>
          <a:noFill/>
        </p:spPr>
        <p:txBody>
          <a:bodyPr wrap="square">
            <a:spAutoFit/>
          </a:bodyPr>
          <a:lstStyle/>
          <a:p>
            <a:r>
              <a:rPr lang="en-US" sz="3200" dirty="0">
                <a:latin typeface="Congenial" panose="02000503040000020004" pitchFamily="2" charset="0"/>
              </a:rPr>
              <a:t>This code compiles because the “throws” clause declares that it might throw an </a:t>
            </a:r>
            <a:r>
              <a:rPr lang="en-US" sz="3200" dirty="0" err="1">
                <a:latin typeface="Congenial" panose="02000503040000020004" pitchFamily="2" charset="0"/>
              </a:rPr>
              <a:t>IOException</a:t>
            </a:r>
            <a:r>
              <a:rPr lang="en-US" sz="3200" dirty="0">
                <a:latin typeface="Congenial" panose="02000503040000020004" pitchFamily="2" charset="0"/>
              </a:rPr>
              <a:t>.</a:t>
            </a:r>
          </a:p>
        </p:txBody>
      </p:sp>
    </p:spTree>
    <p:extLst>
      <p:ext uri="{BB962C8B-B14F-4D97-AF65-F5344CB8AC3E}">
        <p14:creationId xmlns:p14="http://schemas.microsoft.com/office/powerpoint/2010/main" val="3025824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A542A374-FCAC-469C-8A84-51F79E1768A2}"/>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22531" name="Text Box 2">
            <a:extLst>
              <a:ext uri="{FF2B5EF4-FFF2-40B4-BE49-F238E27FC236}">
                <a16:creationId xmlns:a16="http://schemas.microsoft.com/office/drawing/2014/main" id="{F065A5F0-50F9-4848-AE58-22F3D4F3F3FF}"/>
              </a:ext>
            </a:extLst>
          </p:cNvPr>
          <p:cNvSpPr txBox="1">
            <a:spLocks noChangeArrowheads="1"/>
          </p:cNvSpPr>
          <p:nvPr/>
        </p:nvSpPr>
        <p:spPr bwMode="auto">
          <a:xfrm>
            <a:off x="1163320" y="1915160"/>
            <a:ext cx="705193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public static void main(String </a:t>
            </a:r>
            <a:r>
              <a:rPr lang="en-US" altLang="en-US" sz="2800" dirty="0" err="1">
                <a:latin typeface="Arial" panose="020B0604020202020204" pitchFamily="34" charset="0"/>
              </a:rPr>
              <a:t>args</a:t>
            </a:r>
            <a:r>
              <a:rPr lang="en-US" altLang="en-US" sz="2800" dirty="0">
                <a:latin typeface="Arial" panose="020B0604020202020204" pitchFamily="34" charset="0"/>
              </a:rPr>
              <a:t>[ ])</a:t>
            </a:r>
          </a:p>
          <a:p>
            <a:pPr>
              <a:spcBef>
                <a:spcPct val="0"/>
              </a:spcBef>
              <a:buFontTx/>
              <a:buNone/>
            </a:pP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     int num=32;</a:t>
            </a:r>
          </a:p>
          <a:p>
            <a:pPr>
              <a:spcBef>
                <a:spcPct val="0"/>
              </a:spcBef>
              <a:buFontTx/>
              <a:buNone/>
            </a:pPr>
            <a:r>
              <a:rPr lang="en-US" altLang="en-US" sz="2800" dirty="0">
                <a:latin typeface="Arial" panose="020B0604020202020204" pitchFamily="34" charset="0"/>
              </a:rPr>
              <a:t>     if(num==32)</a:t>
            </a:r>
          </a:p>
          <a:p>
            <a:pPr>
              <a:spcBef>
                <a:spcPct val="0"/>
              </a:spcBef>
              <a:buFontTx/>
              <a:buNone/>
            </a:pPr>
            <a:r>
              <a:rPr lang="en-US" altLang="en-US" sz="2800" dirty="0">
                <a:latin typeface="Arial" panose="020B0604020202020204" pitchFamily="34" charset="0"/>
              </a:rPr>
              <a:t>          throw new Exception("num==32");</a:t>
            </a:r>
          </a:p>
          <a:p>
            <a:pPr>
              <a:spcBef>
                <a:spcPct val="0"/>
              </a:spcBef>
              <a:buFontTx/>
              <a:buNone/>
            </a:pPr>
            <a:r>
              <a:rPr lang="en-US" altLang="en-US" sz="2800" dirty="0">
                <a:latin typeface="Arial" panose="020B0604020202020204" pitchFamily="34" charset="0"/>
              </a:rPr>
              <a:t>}</a:t>
            </a:r>
          </a:p>
        </p:txBody>
      </p:sp>
      <p:sp>
        <p:nvSpPr>
          <p:cNvPr id="2" name="Rectangle 1">
            <a:extLst>
              <a:ext uri="{FF2B5EF4-FFF2-40B4-BE49-F238E27FC236}">
                <a16:creationId xmlns:a16="http://schemas.microsoft.com/office/drawing/2014/main" id="{E64EB9CF-6067-80A0-050F-4AEF6BD3B3A0}"/>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4" name="TextBox 3">
            <a:extLst>
              <a:ext uri="{FF2B5EF4-FFF2-40B4-BE49-F238E27FC236}">
                <a16:creationId xmlns:a16="http://schemas.microsoft.com/office/drawing/2014/main" id="{0E3EE098-36A8-3B23-F50F-86A7BF4BF139}"/>
              </a:ext>
            </a:extLst>
          </p:cNvPr>
          <p:cNvSpPr txBox="1"/>
          <p:nvPr/>
        </p:nvSpPr>
        <p:spPr>
          <a:xfrm>
            <a:off x="1524000" y="4943554"/>
            <a:ext cx="5334000" cy="954107"/>
          </a:xfrm>
          <a:prstGeom prst="rect">
            <a:avLst/>
          </a:prstGeom>
          <a:noFill/>
        </p:spPr>
        <p:txBody>
          <a:bodyPr wrap="square">
            <a:spAutoFit/>
          </a:bodyPr>
          <a:lstStyle/>
          <a:p>
            <a:pPr>
              <a:spcBef>
                <a:spcPct val="0"/>
              </a:spcBef>
              <a:buFontTx/>
              <a:buNone/>
            </a:pPr>
            <a:r>
              <a:rPr lang="en-US" altLang="en-US" sz="2800" dirty="0">
                <a:solidFill>
                  <a:srgbClr val="C00000"/>
                </a:solidFill>
                <a:latin typeface="Arial" panose="020B0604020202020204" pitchFamily="34" charset="0"/>
              </a:rPr>
              <a:t>No. The checked exception is neither caught nor thrown</a:t>
            </a:r>
          </a:p>
        </p:txBody>
      </p:sp>
    </p:spTree>
    <p:extLst>
      <p:ext uri="{BB962C8B-B14F-4D97-AF65-F5344CB8AC3E}">
        <p14:creationId xmlns:p14="http://schemas.microsoft.com/office/powerpoint/2010/main" val="2103911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B06D0787-427E-4CC5-8DA6-0EDC63DE3732}"/>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28675" name="Text Box 2">
            <a:extLst>
              <a:ext uri="{FF2B5EF4-FFF2-40B4-BE49-F238E27FC236}">
                <a16:creationId xmlns:a16="http://schemas.microsoft.com/office/drawing/2014/main" id="{E572E3FF-3519-4394-AA41-E02A1F20A17D}"/>
              </a:ext>
            </a:extLst>
          </p:cNvPr>
          <p:cNvSpPr txBox="1">
            <a:spLocks noChangeArrowheads="1"/>
          </p:cNvSpPr>
          <p:nvPr/>
        </p:nvSpPr>
        <p:spPr bwMode="auto">
          <a:xfrm>
            <a:off x="609600" y="1828800"/>
            <a:ext cx="826540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public static void main(String </a:t>
            </a:r>
            <a:r>
              <a:rPr lang="en-US" altLang="en-US" sz="2400" dirty="0" err="1">
                <a:latin typeface="Arial" panose="020B0604020202020204" pitchFamily="34" charset="0"/>
              </a:rPr>
              <a:t>args</a:t>
            </a:r>
            <a:r>
              <a:rPr lang="en-US" altLang="en-US" sz="2400" dirty="0">
                <a:latin typeface="Arial" panose="020B0604020202020204" pitchFamily="34" charset="0"/>
              </a:rPr>
              <a:t>[ ]) </a:t>
            </a:r>
            <a:r>
              <a:rPr lang="en-US" altLang="en-US" sz="2400" dirty="0">
                <a:solidFill>
                  <a:srgbClr val="7030A0"/>
                </a:solidFill>
                <a:latin typeface="Arial" panose="020B0604020202020204" pitchFamily="34" charset="0"/>
              </a:rPr>
              <a:t>throws Exception</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int num=32;</a:t>
            </a:r>
          </a:p>
          <a:p>
            <a:pPr>
              <a:spcBef>
                <a:spcPct val="0"/>
              </a:spcBef>
              <a:buFontTx/>
              <a:buNone/>
            </a:pPr>
            <a:r>
              <a:rPr lang="en-US" altLang="en-US" sz="2400" dirty="0">
                <a:latin typeface="Arial" panose="020B0604020202020204" pitchFamily="34" charset="0"/>
              </a:rPr>
              <a:t>     if(num==32)</a:t>
            </a:r>
          </a:p>
          <a:p>
            <a:pPr>
              <a:spcBef>
                <a:spcPct val="0"/>
              </a:spcBef>
              <a:buFontTx/>
              <a:buNone/>
            </a:pPr>
            <a:r>
              <a:rPr lang="en-US" altLang="en-US" sz="2400" dirty="0">
                <a:latin typeface="Arial" panose="020B0604020202020204" pitchFamily="34" charset="0"/>
              </a:rPr>
              <a:t>          throw new Exception("num==32");</a:t>
            </a:r>
          </a:p>
          <a:p>
            <a:pPr>
              <a:spcBef>
                <a:spcPct val="0"/>
              </a:spcBef>
              <a:buFontTx/>
              <a:buNone/>
            </a:pPr>
            <a:r>
              <a:rPr lang="en-US" altLang="en-US" sz="2400" dirty="0">
                <a:latin typeface="Arial" panose="020B0604020202020204" pitchFamily="34" charset="0"/>
              </a:rPr>
              <a:t>}</a:t>
            </a:r>
          </a:p>
        </p:txBody>
      </p:sp>
      <p:sp>
        <p:nvSpPr>
          <p:cNvPr id="2" name="Rectangle 1">
            <a:extLst>
              <a:ext uri="{FF2B5EF4-FFF2-40B4-BE49-F238E27FC236}">
                <a16:creationId xmlns:a16="http://schemas.microsoft.com/office/drawing/2014/main" id="{F13EE049-D47E-0A8E-5E0E-9B3161F24ED9}"/>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4" name="TextBox 3">
            <a:extLst>
              <a:ext uri="{FF2B5EF4-FFF2-40B4-BE49-F238E27FC236}">
                <a16:creationId xmlns:a16="http://schemas.microsoft.com/office/drawing/2014/main" id="{1E55D7DD-B89A-9022-EA08-51623A8048FB}"/>
              </a:ext>
            </a:extLst>
          </p:cNvPr>
          <p:cNvSpPr txBox="1"/>
          <p:nvPr/>
        </p:nvSpPr>
        <p:spPr>
          <a:xfrm>
            <a:off x="762000" y="4876800"/>
            <a:ext cx="7696200" cy="954107"/>
          </a:xfrm>
          <a:prstGeom prst="rect">
            <a:avLst/>
          </a:prstGeom>
          <a:noFill/>
        </p:spPr>
        <p:txBody>
          <a:bodyPr wrap="square">
            <a:spAutoFit/>
          </a:bodyPr>
          <a:lstStyle/>
          <a:p>
            <a:pPr>
              <a:spcBef>
                <a:spcPct val="0"/>
              </a:spcBef>
              <a:buFontTx/>
              <a:buNone/>
            </a:pPr>
            <a:r>
              <a:rPr lang="en-US" altLang="en-US" sz="2800" dirty="0">
                <a:latin typeface="Arial" panose="020B0604020202020204" pitchFamily="34" charset="0"/>
              </a:rPr>
              <a:t>It compiles be it declares that the exception might be thrown using a </a:t>
            </a:r>
            <a:r>
              <a:rPr lang="en-US" altLang="en-US" sz="2800" dirty="0">
                <a:solidFill>
                  <a:srgbClr val="7030A0"/>
                </a:solidFill>
                <a:latin typeface="Arial" panose="020B0604020202020204" pitchFamily="34" charset="0"/>
              </a:rPr>
              <a:t>throws</a:t>
            </a:r>
            <a:r>
              <a:rPr lang="en-US" altLang="en-US" sz="2800" dirty="0">
                <a:latin typeface="Arial" panose="020B0604020202020204" pitchFamily="34" charset="0"/>
              </a:rPr>
              <a:t> clause. </a:t>
            </a:r>
          </a:p>
        </p:txBody>
      </p:sp>
    </p:spTree>
    <p:extLst>
      <p:ext uri="{BB962C8B-B14F-4D97-AF65-F5344CB8AC3E}">
        <p14:creationId xmlns:p14="http://schemas.microsoft.com/office/powerpoint/2010/main" val="300438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102AFB3B-0B4B-40EB-8215-7159D7FCFAB1}"/>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0723" name="Text Box 2">
            <a:extLst>
              <a:ext uri="{FF2B5EF4-FFF2-40B4-BE49-F238E27FC236}">
                <a16:creationId xmlns:a16="http://schemas.microsoft.com/office/drawing/2014/main" id="{820C0865-409D-417C-B1D6-D0A904AB9FFD}"/>
              </a:ext>
            </a:extLst>
          </p:cNvPr>
          <p:cNvSpPr txBox="1">
            <a:spLocks noChangeArrowheads="1"/>
          </p:cNvSpPr>
          <p:nvPr/>
        </p:nvSpPr>
        <p:spPr bwMode="auto">
          <a:xfrm>
            <a:off x="762000" y="1752600"/>
            <a:ext cx="78486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public static void main(String </a:t>
            </a:r>
            <a:r>
              <a:rPr lang="en-US" altLang="en-US" sz="2400" dirty="0" err="1">
                <a:latin typeface="Arial" panose="020B0604020202020204" pitchFamily="34" charset="0"/>
              </a:rPr>
              <a:t>args</a:t>
            </a: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int num=32;</a:t>
            </a:r>
          </a:p>
          <a:p>
            <a:pPr>
              <a:spcBef>
                <a:spcPct val="0"/>
              </a:spcBef>
              <a:buFontTx/>
              <a:buNone/>
            </a:pPr>
            <a:r>
              <a:rPr lang="en-US" altLang="en-US" sz="2400" dirty="0">
                <a:latin typeface="Arial" panose="020B0604020202020204" pitchFamily="34" charset="0"/>
              </a:rPr>
              <a:t>     if(num==32)</a:t>
            </a:r>
          </a:p>
          <a:p>
            <a:pPr>
              <a:spcBef>
                <a:spcPct val="0"/>
              </a:spcBef>
              <a:buFontTx/>
              <a:buNone/>
            </a:pPr>
            <a:r>
              <a:rPr lang="en-US" altLang="en-US" sz="2400" dirty="0">
                <a:latin typeface="Arial" panose="020B0604020202020204" pitchFamily="34" charset="0"/>
              </a:rPr>
              <a:t>          throw new </a:t>
            </a:r>
            <a:r>
              <a:rPr lang="en-US" altLang="en-US" sz="2400" dirty="0" err="1">
                <a:latin typeface="Arial" panose="020B0604020202020204" pitchFamily="34" charset="0"/>
              </a:rPr>
              <a:t>RuntimeException</a:t>
            </a:r>
            <a:r>
              <a:rPr lang="en-US" altLang="en-US" sz="2400" dirty="0">
                <a:latin typeface="Arial" panose="020B0604020202020204" pitchFamily="34" charset="0"/>
              </a:rPr>
              <a:t>("num==32");</a:t>
            </a:r>
          </a:p>
          <a:p>
            <a:pPr>
              <a:spcBef>
                <a:spcPct val="0"/>
              </a:spcBef>
              <a:buFontTx/>
              <a:buNone/>
            </a:pPr>
            <a:r>
              <a:rPr lang="en-US" altLang="en-US" sz="2400" dirty="0">
                <a:latin typeface="Arial" panose="020B0604020202020204" pitchFamily="34" charset="0"/>
              </a:rPr>
              <a:t>}</a:t>
            </a:r>
          </a:p>
        </p:txBody>
      </p:sp>
      <p:sp>
        <p:nvSpPr>
          <p:cNvPr id="2" name="Rectangle 1">
            <a:extLst>
              <a:ext uri="{FF2B5EF4-FFF2-40B4-BE49-F238E27FC236}">
                <a16:creationId xmlns:a16="http://schemas.microsoft.com/office/drawing/2014/main" id="{217F65C6-B646-77AC-0F88-A4BBB7BE9AA5}"/>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4" name="TextBox 3">
            <a:extLst>
              <a:ext uri="{FF2B5EF4-FFF2-40B4-BE49-F238E27FC236}">
                <a16:creationId xmlns:a16="http://schemas.microsoft.com/office/drawing/2014/main" id="{3E6C2AF5-25DB-67B6-706B-6397CC2D1C2C}"/>
              </a:ext>
            </a:extLst>
          </p:cNvPr>
          <p:cNvSpPr txBox="1"/>
          <p:nvPr/>
        </p:nvSpPr>
        <p:spPr>
          <a:xfrm>
            <a:off x="741680" y="4953000"/>
            <a:ext cx="7620000" cy="830997"/>
          </a:xfrm>
          <a:prstGeom prst="rect">
            <a:avLst/>
          </a:prstGeom>
          <a:noFill/>
        </p:spPr>
        <p:txBody>
          <a:bodyPr wrap="square">
            <a:spAutoFit/>
          </a:bodyPr>
          <a:lstStyle/>
          <a:p>
            <a:pPr>
              <a:spcBef>
                <a:spcPct val="0"/>
              </a:spcBef>
              <a:buFontTx/>
              <a:buNone/>
            </a:pPr>
            <a:r>
              <a:rPr lang="en-US" altLang="en-US" sz="2400" dirty="0">
                <a:solidFill>
                  <a:schemeClr val="accent6">
                    <a:lumMod val="75000"/>
                  </a:schemeClr>
                </a:solidFill>
                <a:latin typeface="Arial" panose="020B0604020202020204" pitchFamily="34" charset="0"/>
              </a:rPr>
              <a:t>Yes, </a:t>
            </a:r>
            <a:r>
              <a:rPr lang="en-US" altLang="en-US" sz="2400" dirty="0" err="1">
                <a:solidFill>
                  <a:schemeClr val="accent6">
                    <a:lumMod val="75000"/>
                  </a:schemeClr>
                </a:solidFill>
                <a:latin typeface="Arial" panose="020B0604020202020204" pitchFamily="34" charset="0"/>
              </a:rPr>
              <a:t>b.c.</a:t>
            </a:r>
            <a:r>
              <a:rPr lang="en-US" altLang="en-US" sz="2400" dirty="0">
                <a:solidFill>
                  <a:schemeClr val="accent6">
                    <a:lumMod val="75000"/>
                  </a:schemeClr>
                </a:solidFill>
                <a:latin typeface="Arial" panose="020B0604020202020204" pitchFamily="34" charset="0"/>
              </a:rPr>
              <a:t> you DO NOT have to have throws because you are throwing an </a:t>
            </a:r>
            <a:r>
              <a:rPr lang="en-US" altLang="en-US" sz="2400" u="sng" dirty="0">
                <a:solidFill>
                  <a:schemeClr val="accent6">
                    <a:lumMod val="75000"/>
                  </a:schemeClr>
                </a:solidFill>
                <a:latin typeface="Arial" panose="020B0604020202020204" pitchFamily="34" charset="0"/>
              </a:rPr>
              <a:t>unchecked</a:t>
            </a:r>
            <a:r>
              <a:rPr lang="en-US" altLang="en-US" sz="2400" dirty="0">
                <a:solidFill>
                  <a:schemeClr val="accent6">
                    <a:lumMod val="75000"/>
                  </a:schemeClr>
                </a:solidFill>
                <a:latin typeface="Arial" panose="020B0604020202020204" pitchFamily="34" charset="0"/>
              </a:rPr>
              <a:t> Exception.</a:t>
            </a:r>
          </a:p>
        </p:txBody>
      </p:sp>
    </p:spTree>
    <p:extLst>
      <p:ext uri="{BB962C8B-B14F-4D97-AF65-F5344CB8AC3E}">
        <p14:creationId xmlns:p14="http://schemas.microsoft.com/office/powerpoint/2010/main" val="1524972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C84A44AA-33DB-4567-BE64-44F560418560}"/>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4819" name="Text Box 2">
            <a:extLst>
              <a:ext uri="{FF2B5EF4-FFF2-40B4-BE49-F238E27FC236}">
                <a16:creationId xmlns:a16="http://schemas.microsoft.com/office/drawing/2014/main" id="{A7B5225F-2BAB-4EBB-9B0B-CAD45F9770E0}"/>
              </a:ext>
            </a:extLst>
          </p:cNvPr>
          <p:cNvSpPr txBox="1">
            <a:spLocks noChangeArrowheads="1"/>
          </p:cNvSpPr>
          <p:nvPr/>
        </p:nvSpPr>
        <p:spPr bwMode="auto">
          <a:xfrm>
            <a:off x="1299195" y="1752600"/>
            <a:ext cx="6240811"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dirty="0">
                <a:latin typeface="Arial" panose="020B0604020202020204" pitchFamily="34" charset="0"/>
              </a:rPr>
              <a:t>try{</a:t>
            </a:r>
          </a:p>
          <a:p>
            <a:pPr>
              <a:spcBef>
                <a:spcPct val="0"/>
              </a:spcBef>
              <a:buFontTx/>
              <a:buNone/>
            </a:pPr>
            <a:r>
              <a:rPr lang="en-US" altLang="en-US" dirty="0">
                <a:latin typeface="Arial" panose="020B0604020202020204" pitchFamily="34" charset="0"/>
              </a:rPr>
              <a:t>   int num = 3 / 0;</a:t>
            </a:r>
          </a:p>
          <a:p>
            <a:pPr>
              <a:spcBef>
                <a:spcPct val="0"/>
              </a:spcBef>
              <a:buFontTx/>
              <a:buNone/>
            </a:pPr>
            <a:r>
              <a:rPr lang="en-US" altLang="en-US" dirty="0">
                <a:latin typeface="Arial" panose="020B0604020202020204" pitchFamily="34" charset="0"/>
              </a:rPr>
              <a:t>}</a:t>
            </a:r>
          </a:p>
          <a:p>
            <a:pPr>
              <a:spcBef>
                <a:spcPct val="0"/>
              </a:spcBef>
              <a:buFontTx/>
              <a:buNone/>
            </a:pPr>
            <a:endParaRPr lang="en-US" altLang="en-US" dirty="0">
              <a:latin typeface="Arial" panose="020B0604020202020204" pitchFamily="34" charset="0"/>
            </a:endParaRPr>
          </a:p>
          <a:p>
            <a:pPr>
              <a:spcBef>
                <a:spcPct val="0"/>
              </a:spcBef>
              <a:buFontTx/>
              <a:buNone/>
            </a:pPr>
            <a:r>
              <a:rPr lang="en-US" altLang="en-US" dirty="0" err="1">
                <a:latin typeface="Arial" panose="020B0604020202020204" pitchFamily="34" charset="0"/>
              </a:rPr>
              <a:t>System.out.println</a:t>
            </a:r>
            <a:r>
              <a:rPr lang="en-US" altLang="en-US" dirty="0">
                <a:latin typeface="Arial" panose="020B0604020202020204" pitchFamily="34" charset="0"/>
              </a:rPr>
              <a:t>("</a:t>
            </a:r>
            <a:r>
              <a:rPr lang="en-US" altLang="en-US" dirty="0" err="1">
                <a:latin typeface="Arial" panose="020B0604020202020204" pitchFamily="34" charset="0"/>
              </a:rPr>
              <a:t>compsci</a:t>
            </a:r>
            <a:r>
              <a:rPr lang="en-US" altLang="en-US" dirty="0">
                <a:latin typeface="Arial" panose="020B0604020202020204" pitchFamily="34" charset="0"/>
              </a:rPr>
              <a:t>");</a:t>
            </a:r>
          </a:p>
        </p:txBody>
      </p:sp>
      <p:sp>
        <p:nvSpPr>
          <p:cNvPr id="2" name="Rectangle 1">
            <a:extLst>
              <a:ext uri="{FF2B5EF4-FFF2-40B4-BE49-F238E27FC236}">
                <a16:creationId xmlns:a16="http://schemas.microsoft.com/office/drawing/2014/main" id="{9BC4D8D3-9BA7-59F9-0AC1-A3D116913D91}"/>
              </a:ext>
            </a:extLst>
          </p:cNvPr>
          <p:cNvSpPr/>
          <p:nvPr/>
        </p:nvSpPr>
        <p:spPr>
          <a:xfrm>
            <a:off x="1733448" y="465676"/>
            <a:ext cx="5372305"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4" name="TextBox 3">
            <a:extLst>
              <a:ext uri="{FF2B5EF4-FFF2-40B4-BE49-F238E27FC236}">
                <a16:creationId xmlns:a16="http://schemas.microsoft.com/office/drawing/2014/main" id="{60240F3B-AC30-56B7-D73B-88D2ABDFB9BB}"/>
              </a:ext>
            </a:extLst>
          </p:cNvPr>
          <p:cNvSpPr txBox="1"/>
          <p:nvPr/>
        </p:nvSpPr>
        <p:spPr>
          <a:xfrm>
            <a:off x="762000" y="5181600"/>
            <a:ext cx="7315200" cy="954107"/>
          </a:xfrm>
          <a:prstGeom prst="rect">
            <a:avLst/>
          </a:prstGeom>
          <a:noFill/>
        </p:spPr>
        <p:txBody>
          <a:bodyPr wrap="square">
            <a:spAutoFit/>
          </a:bodyPr>
          <a:lstStyle/>
          <a:p>
            <a:pPr>
              <a:spcBef>
                <a:spcPct val="0"/>
              </a:spcBef>
              <a:buFontTx/>
              <a:buNone/>
            </a:pPr>
            <a:r>
              <a:rPr lang="en-US" altLang="en-US" sz="2800" dirty="0">
                <a:solidFill>
                  <a:schemeClr val="accent6">
                    <a:lumMod val="75000"/>
                  </a:schemeClr>
                </a:solidFill>
              </a:rPr>
              <a:t>No. You </a:t>
            </a:r>
            <a:r>
              <a:rPr lang="en-US" altLang="en-US" sz="2800" dirty="0">
                <a:solidFill>
                  <a:schemeClr val="accent6">
                    <a:lumMod val="75000"/>
                  </a:schemeClr>
                </a:solidFill>
                <a:latin typeface="Arial" panose="020B0604020202020204" pitchFamily="34" charset="0"/>
              </a:rPr>
              <a:t>must have a catch or finally block		</a:t>
            </a:r>
          </a:p>
        </p:txBody>
      </p:sp>
    </p:spTree>
    <p:extLst>
      <p:ext uri="{BB962C8B-B14F-4D97-AF65-F5344CB8AC3E}">
        <p14:creationId xmlns:p14="http://schemas.microsoft.com/office/powerpoint/2010/main" val="226328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189F3B2-DD47-4385-A057-7B442029312C}"/>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6867" name="Text Box 2">
            <a:extLst>
              <a:ext uri="{FF2B5EF4-FFF2-40B4-BE49-F238E27FC236}">
                <a16:creationId xmlns:a16="http://schemas.microsoft.com/office/drawing/2014/main" id="{41046804-E7D4-449A-8EB2-1519FAFC372D}"/>
              </a:ext>
            </a:extLst>
          </p:cNvPr>
          <p:cNvSpPr txBox="1">
            <a:spLocks noChangeArrowheads="1"/>
          </p:cNvSpPr>
          <p:nvPr/>
        </p:nvSpPr>
        <p:spPr bwMode="auto">
          <a:xfrm>
            <a:off x="1981200" y="1676400"/>
            <a:ext cx="5498621"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try{</a:t>
            </a:r>
          </a:p>
          <a:p>
            <a:pPr>
              <a:spcBef>
                <a:spcPct val="0"/>
              </a:spcBef>
              <a:buFontTx/>
              <a:buNone/>
            </a:pPr>
            <a:r>
              <a:rPr lang="en-US" altLang="en-US" sz="2800" dirty="0">
                <a:latin typeface="Arial" panose="020B0604020202020204" pitchFamily="34" charset="0"/>
              </a:rPr>
              <a:t>   int num = 3 / 0;</a:t>
            </a:r>
          </a:p>
          <a:p>
            <a:pPr>
              <a:spcBef>
                <a:spcPct val="0"/>
              </a:spcBef>
              <a:buFontTx/>
              <a:buNone/>
            </a:pP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finally{</a:t>
            </a:r>
          </a:p>
          <a:p>
            <a:pPr>
              <a:spcBef>
                <a:spcPct val="0"/>
              </a:spcBef>
              <a:buFontTx/>
              <a:buNone/>
            </a:pPr>
            <a:r>
              <a:rPr lang="en-US" altLang="en-US" sz="2800" dirty="0">
                <a:latin typeface="Arial" panose="020B0604020202020204" pitchFamily="34" charset="0"/>
              </a:rPr>
              <a:t>   </a:t>
            </a:r>
            <a:r>
              <a:rPr lang="en-US" altLang="en-US" sz="2800" dirty="0" err="1">
                <a:latin typeface="Arial" panose="020B0604020202020204" pitchFamily="34" charset="0"/>
              </a:rPr>
              <a:t>System.out.println</a:t>
            </a:r>
            <a:r>
              <a:rPr lang="en-US" altLang="en-US" sz="2800" dirty="0">
                <a:latin typeface="Arial" panose="020B0604020202020204" pitchFamily="34" charset="0"/>
              </a:rPr>
              <a:t>("divby0");</a:t>
            </a:r>
          </a:p>
          <a:p>
            <a:pPr>
              <a:spcBef>
                <a:spcPct val="0"/>
              </a:spcBef>
              <a:buFontTx/>
              <a:buNone/>
            </a:pPr>
            <a:r>
              <a:rPr lang="en-US" altLang="en-US" sz="2800" dirty="0">
                <a:latin typeface="Arial" panose="020B0604020202020204" pitchFamily="34" charset="0"/>
              </a:rPr>
              <a:t>}		</a:t>
            </a:r>
          </a:p>
          <a:p>
            <a:pPr>
              <a:spcBef>
                <a:spcPct val="0"/>
              </a:spcBef>
              <a:buFontTx/>
              <a:buNone/>
            </a:pPr>
            <a:r>
              <a:rPr lang="en-US" altLang="en-US" sz="2800" dirty="0" err="1">
                <a:latin typeface="Arial" panose="020B0604020202020204" pitchFamily="34" charset="0"/>
              </a:rPr>
              <a:t>System.out.println</a:t>
            </a:r>
            <a:r>
              <a:rPr lang="en-US" altLang="en-US" sz="2800" dirty="0">
                <a:latin typeface="Arial" panose="020B0604020202020204" pitchFamily="34" charset="0"/>
              </a:rPr>
              <a:t>("</a:t>
            </a:r>
            <a:r>
              <a:rPr lang="en-US" altLang="en-US" sz="2800" dirty="0" err="1">
                <a:latin typeface="Arial" panose="020B0604020202020204" pitchFamily="34" charset="0"/>
              </a:rPr>
              <a:t>compsci</a:t>
            </a:r>
            <a:r>
              <a:rPr lang="en-US" altLang="en-US" sz="2800" dirty="0">
                <a:latin typeface="Arial" panose="020B0604020202020204" pitchFamily="34" charset="0"/>
              </a:rPr>
              <a:t>");</a:t>
            </a:r>
          </a:p>
        </p:txBody>
      </p:sp>
      <p:sp>
        <p:nvSpPr>
          <p:cNvPr id="2" name="Rectangle 1">
            <a:extLst>
              <a:ext uri="{FF2B5EF4-FFF2-40B4-BE49-F238E27FC236}">
                <a16:creationId xmlns:a16="http://schemas.microsoft.com/office/drawing/2014/main" id="{1AC1F49B-6B96-2E73-041B-DD489AD9F3BE}"/>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3" name="TextBox 2">
            <a:extLst>
              <a:ext uri="{FF2B5EF4-FFF2-40B4-BE49-F238E27FC236}">
                <a16:creationId xmlns:a16="http://schemas.microsoft.com/office/drawing/2014/main" id="{2A210FC7-08DF-41DF-E238-CE445564C628}"/>
              </a:ext>
            </a:extLst>
          </p:cNvPr>
          <p:cNvSpPr txBox="1"/>
          <p:nvPr/>
        </p:nvSpPr>
        <p:spPr>
          <a:xfrm>
            <a:off x="76200" y="5181600"/>
            <a:ext cx="9067800" cy="1815882"/>
          </a:xfrm>
          <a:prstGeom prst="rect">
            <a:avLst/>
          </a:prstGeom>
          <a:noFill/>
        </p:spPr>
        <p:txBody>
          <a:bodyPr wrap="square">
            <a:spAutoFit/>
          </a:bodyPr>
          <a:lstStyle/>
          <a:p>
            <a:pPr>
              <a:spcBef>
                <a:spcPct val="0"/>
              </a:spcBef>
              <a:buFontTx/>
              <a:buNone/>
            </a:pPr>
            <a:r>
              <a:rPr lang="en-US" altLang="en-US" sz="2800" dirty="0">
                <a:solidFill>
                  <a:schemeClr val="accent6">
                    <a:lumMod val="75000"/>
                  </a:schemeClr>
                </a:solidFill>
              </a:rPr>
              <a:t>It compiles. You </a:t>
            </a:r>
            <a:r>
              <a:rPr lang="en-US" altLang="en-US" sz="2800" dirty="0">
                <a:solidFill>
                  <a:schemeClr val="accent6">
                    <a:lumMod val="75000"/>
                  </a:schemeClr>
                </a:solidFill>
                <a:latin typeface="Arial" panose="020B0604020202020204" pitchFamily="34" charset="0"/>
              </a:rPr>
              <a:t>must have a catch OR finally block. It would output “divby0”, then throw an </a:t>
            </a:r>
          </a:p>
          <a:p>
            <a:pPr>
              <a:spcBef>
                <a:spcPct val="0"/>
              </a:spcBef>
              <a:buFontTx/>
              <a:buNone/>
            </a:pPr>
            <a:r>
              <a:rPr lang="en-US" altLang="en-US" sz="2800" dirty="0" err="1">
                <a:solidFill>
                  <a:schemeClr val="accent6">
                    <a:lumMod val="75000"/>
                  </a:schemeClr>
                </a:solidFill>
              </a:rPr>
              <a:t>ArithmeticException</a:t>
            </a:r>
            <a:r>
              <a:rPr lang="en-US" altLang="en-US" sz="2800" dirty="0">
                <a:solidFill>
                  <a:schemeClr val="accent6">
                    <a:lumMod val="75000"/>
                  </a:schemeClr>
                </a:solidFill>
              </a:rPr>
              <a:t>. “</a:t>
            </a:r>
            <a:r>
              <a:rPr lang="en-US" altLang="en-US" sz="2800" dirty="0" err="1">
                <a:solidFill>
                  <a:schemeClr val="accent6">
                    <a:lumMod val="75000"/>
                  </a:schemeClr>
                </a:solidFill>
              </a:rPr>
              <a:t>compsci</a:t>
            </a:r>
            <a:r>
              <a:rPr lang="en-US" altLang="en-US" sz="2800" dirty="0">
                <a:solidFill>
                  <a:schemeClr val="accent6">
                    <a:lumMod val="75000"/>
                  </a:schemeClr>
                </a:solidFill>
              </a:rPr>
              <a:t>” would NOT display.</a:t>
            </a:r>
            <a:r>
              <a:rPr lang="en-US" altLang="en-US" sz="2800" dirty="0">
                <a:solidFill>
                  <a:schemeClr val="accent6">
                    <a:lumMod val="75000"/>
                  </a:schemeClr>
                </a:solidFill>
                <a:latin typeface="Arial" panose="020B0604020202020204" pitchFamily="34" charset="0"/>
              </a:rPr>
              <a:t>		</a:t>
            </a:r>
          </a:p>
        </p:txBody>
      </p:sp>
    </p:spTree>
    <p:extLst>
      <p:ext uri="{BB962C8B-B14F-4D97-AF65-F5344CB8AC3E}">
        <p14:creationId xmlns:p14="http://schemas.microsoft.com/office/powerpoint/2010/main" val="4006578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189F3B2-DD47-4385-A057-7B442029312C}"/>
              </a:ext>
            </a:extLst>
          </p:cNvPr>
          <p:cNvSpPr>
            <a:spLocks noGrp="1"/>
          </p:cNvSpPr>
          <p:nvPr>
            <p:ph type="ftr" sz="quarter" idx="12"/>
          </p:nvPr>
        </p:nvSpPr>
        <p:spPr>
          <a:xfrm>
            <a:off x="6019800" y="6300550"/>
            <a:ext cx="2895600" cy="457200"/>
          </a:xfrm>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6867" name="Text Box 2">
            <a:extLst>
              <a:ext uri="{FF2B5EF4-FFF2-40B4-BE49-F238E27FC236}">
                <a16:creationId xmlns:a16="http://schemas.microsoft.com/office/drawing/2014/main" id="{41046804-E7D4-449A-8EB2-1519FAFC372D}"/>
              </a:ext>
            </a:extLst>
          </p:cNvPr>
          <p:cNvSpPr txBox="1">
            <a:spLocks noChangeArrowheads="1"/>
          </p:cNvSpPr>
          <p:nvPr/>
        </p:nvSpPr>
        <p:spPr bwMode="auto">
          <a:xfrm>
            <a:off x="1143000" y="1676400"/>
            <a:ext cx="7696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try{</a:t>
            </a:r>
          </a:p>
          <a:p>
            <a:pPr>
              <a:spcBef>
                <a:spcPct val="0"/>
              </a:spcBef>
              <a:buFontTx/>
              <a:buNone/>
            </a:pPr>
            <a:r>
              <a:rPr lang="en-US" altLang="en-US" sz="2800" dirty="0">
                <a:latin typeface="Arial" panose="020B0604020202020204" pitchFamily="34" charset="0"/>
              </a:rPr>
              <a:t>   int num = 3 / 0;</a:t>
            </a:r>
          </a:p>
          <a:p>
            <a:pPr>
              <a:spcBef>
                <a:spcPct val="0"/>
              </a:spcBef>
              <a:buFontTx/>
              <a:buNone/>
            </a:pP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catch (</a:t>
            </a:r>
            <a:r>
              <a:rPr lang="en-US" altLang="en-US" sz="2800" dirty="0" err="1">
                <a:latin typeface="Arial" panose="020B0604020202020204" pitchFamily="34" charset="0"/>
              </a:rPr>
              <a:t>ArithmeticException</a:t>
            </a:r>
            <a:r>
              <a:rPr lang="en-US" altLang="en-US" sz="2800" dirty="0">
                <a:latin typeface="Arial" panose="020B0604020202020204" pitchFamily="34" charset="0"/>
              </a:rPr>
              <a:t> e) {</a:t>
            </a:r>
          </a:p>
          <a:p>
            <a:pPr>
              <a:spcBef>
                <a:spcPct val="0"/>
              </a:spcBef>
              <a:buFontTx/>
              <a:buNone/>
            </a:pPr>
            <a:r>
              <a:rPr lang="en-US" altLang="en-US" sz="2800" dirty="0">
                <a:latin typeface="Arial" panose="020B0604020202020204" pitchFamily="34" charset="0"/>
              </a:rPr>
              <a:t>   </a:t>
            </a:r>
            <a:r>
              <a:rPr lang="en-US" altLang="en-US" sz="2800" dirty="0" err="1">
                <a:latin typeface="Arial" panose="020B0604020202020204" pitchFamily="34" charset="0"/>
              </a:rPr>
              <a:t>out.println</a:t>
            </a:r>
            <a:r>
              <a:rPr lang="en-US" altLang="en-US" sz="2800" dirty="0">
                <a:latin typeface="Arial" panose="020B0604020202020204" pitchFamily="34" charset="0"/>
              </a:rPr>
              <a:t>(</a:t>
            </a:r>
            <a:r>
              <a:rPr lang="en-US" altLang="en-US" sz="2800" dirty="0" err="1">
                <a:latin typeface="Arial" panose="020B0604020202020204" pitchFamily="34" charset="0"/>
              </a:rPr>
              <a:t>e.getMessage</a:t>
            </a: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		</a:t>
            </a:r>
          </a:p>
          <a:p>
            <a:pPr>
              <a:spcBef>
                <a:spcPct val="0"/>
              </a:spcBef>
              <a:buFontTx/>
              <a:buNone/>
            </a:pPr>
            <a:r>
              <a:rPr lang="en-US" altLang="en-US" sz="2800" dirty="0" err="1">
                <a:latin typeface="Arial" panose="020B0604020202020204" pitchFamily="34" charset="0"/>
              </a:rPr>
              <a:t>System.out.println</a:t>
            </a:r>
            <a:r>
              <a:rPr lang="en-US" altLang="en-US" sz="2800" dirty="0">
                <a:latin typeface="Arial" panose="020B0604020202020204" pitchFamily="34" charset="0"/>
              </a:rPr>
              <a:t>("</a:t>
            </a:r>
            <a:r>
              <a:rPr lang="en-US" altLang="en-US" sz="2800" dirty="0" err="1">
                <a:latin typeface="Arial" panose="020B0604020202020204" pitchFamily="34" charset="0"/>
              </a:rPr>
              <a:t>compsci</a:t>
            </a:r>
            <a:r>
              <a:rPr lang="en-US" altLang="en-US" sz="2800" dirty="0">
                <a:latin typeface="Arial" panose="020B0604020202020204" pitchFamily="34" charset="0"/>
              </a:rPr>
              <a:t>");</a:t>
            </a:r>
          </a:p>
        </p:txBody>
      </p:sp>
      <p:sp>
        <p:nvSpPr>
          <p:cNvPr id="2" name="Rectangle 1">
            <a:extLst>
              <a:ext uri="{FF2B5EF4-FFF2-40B4-BE49-F238E27FC236}">
                <a16:creationId xmlns:a16="http://schemas.microsoft.com/office/drawing/2014/main" id="{1AC1F49B-6B96-2E73-041B-DD489AD9F3BE}"/>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3" name="TextBox 2">
            <a:extLst>
              <a:ext uri="{FF2B5EF4-FFF2-40B4-BE49-F238E27FC236}">
                <a16:creationId xmlns:a16="http://schemas.microsoft.com/office/drawing/2014/main" id="{2A210FC7-08DF-41DF-E238-CE445564C628}"/>
              </a:ext>
            </a:extLst>
          </p:cNvPr>
          <p:cNvSpPr txBox="1"/>
          <p:nvPr/>
        </p:nvSpPr>
        <p:spPr>
          <a:xfrm>
            <a:off x="1219200" y="5181600"/>
            <a:ext cx="6324600" cy="1384995"/>
          </a:xfrm>
          <a:prstGeom prst="rect">
            <a:avLst/>
          </a:prstGeom>
          <a:noFill/>
        </p:spPr>
        <p:txBody>
          <a:bodyPr wrap="square">
            <a:spAutoFit/>
          </a:bodyPr>
          <a:lstStyle/>
          <a:p>
            <a:r>
              <a:rPr lang="en-US" altLang="en-US" sz="2800" dirty="0">
                <a:solidFill>
                  <a:schemeClr val="accent6">
                    <a:lumMod val="75000"/>
                  </a:schemeClr>
                </a:solidFill>
              </a:rPr>
              <a:t>It compiles and prints:</a:t>
            </a:r>
          </a:p>
          <a:p>
            <a:r>
              <a:rPr lang="en-US" altLang="en-US" sz="2800" dirty="0">
                <a:solidFill>
                  <a:schemeClr val="accent6">
                    <a:lumMod val="75000"/>
                  </a:schemeClr>
                </a:solidFill>
                <a:latin typeface="Consolas" panose="020B0609020204030204" pitchFamily="49" charset="0"/>
              </a:rPr>
              <a:t>  </a:t>
            </a:r>
            <a:r>
              <a:rPr lang="en-US" altLang="en-US" sz="2800" dirty="0" err="1">
                <a:solidFill>
                  <a:schemeClr val="accent6">
                    <a:lumMod val="75000"/>
                  </a:schemeClr>
                </a:solidFill>
                <a:latin typeface="Consolas" panose="020B0609020204030204" pitchFamily="49" charset="0"/>
              </a:rPr>
              <a:t>ArithmeticException</a:t>
            </a:r>
            <a:r>
              <a:rPr lang="en-US" altLang="en-US" sz="2800" dirty="0">
                <a:solidFill>
                  <a:schemeClr val="accent6">
                    <a:lumMod val="75000"/>
                  </a:schemeClr>
                </a:solidFill>
                <a:latin typeface="Consolas" panose="020B0609020204030204" pitchFamily="49" charset="0"/>
              </a:rPr>
              <a:t>:  / by 0</a:t>
            </a:r>
          </a:p>
          <a:p>
            <a:r>
              <a:rPr lang="en-US" altLang="en-US" sz="2800" dirty="0">
                <a:solidFill>
                  <a:schemeClr val="accent6">
                    <a:lumMod val="75000"/>
                  </a:schemeClr>
                </a:solidFill>
                <a:latin typeface="Consolas" panose="020B0609020204030204" pitchFamily="49" charset="0"/>
              </a:rPr>
              <a:t>  </a:t>
            </a:r>
            <a:r>
              <a:rPr lang="en-US" altLang="en-US" sz="2800" dirty="0" err="1">
                <a:solidFill>
                  <a:schemeClr val="accent6">
                    <a:lumMod val="75000"/>
                  </a:schemeClr>
                </a:solidFill>
                <a:latin typeface="Consolas" panose="020B0609020204030204" pitchFamily="49" charset="0"/>
              </a:rPr>
              <a:t>compsci</a:t>
            </a:r>
            <a:r>
              <a:rPr lang="en-US" altLang="en-US" sz="2800" dirty="0">
                <a:solidFill>
                  <a:schemeClr val="accent6">
                    <a:lumMod val="75000"/>
                  </a:schemeClr>
                </a:solidFill>
                <a:latin typeface="Consolas" panose="020B0609020204030204" pitchFamily="49" charset="0"/>
              </a:rPr>
              <a:t> </a:t>
            </a:r>
            <a:r>
              <a:rPr lang="en-US" altLang="en-US" sz="2800" dirty="0">
                <a:solidFill>
                  <a:schemeClr val="accent6">
                    <a:lumMod val="75000"/>
                  </a:schemeClr>
                </a:solidFill>
              </a:rPr>
              <a:t>	</a:t>
            </a:r>
          </a:p>
        </p:txBody>
      </p:sp>
    </p:spTree>
    <p:extLst>
      <p:ext uri="{BB962C8B-B14F-4D97-AF65-F5344CB8AC3E}">
        <p14:creationId xmlns:p14="http://schemas.microsoft.com/office/powerpoint/2010/main" val="1651336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189F3B2-DD47-4385-A057-7B442029312C}"/>
              </a:ext>
            </a:extLst>
          </p:cNvPr>
          <p:cNvSpPr>
            <a:spLocks noGrp="1"/>
          </p:cNvSpPr>
          <p:nvPr>
            <p:ph type="ftr" sz="quarter" idx="12"/>
          </p:nvPr>
        </p:nvSpPr>
        <p:spPr>
          <a:xfrm>
            <a:off x="6019800" y="6300550"/>
            <a:ext cx="2895600" cy="457200"/>
          </a:xfrm>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6867" name="Text Box 2">
            <a:extLst>
              <a:ext uri="{FF2B5EF4-FFF2-40B4-BE49-F238E27FC236}">
                <a16:creationId xmlns:a16="http://schemas.microsoft.com/office/drawing/2014/main" id="{41046804-E7D4-449A-8EB2-1519FAFC372D}"/>
              </a:ext>
            </a:extLst>
          </p:cNvPr>
          <p:cNvSpPr txBox="1">
            <a:spLocks noChangeArrowheads="1"/>
          </p:cNvSpPr>
          <p:nvPr/>
        </p:nvSpPr>
        <p:spPr bwMode="auto">
          <a:xfrm>
            <a:off x="1143000" y="1676400"/>
            <a:ext cx="7696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try{</a:t>
            </a:r>
          </a:p>
          <a:p>
            <a:pPr>
              <a:spcBef>
                <a:spcPct val="0"/>
              </a:spcBef>
              <a:buFontTx/>
              <a:buNone/>
            </a:pPr>
            <a:r>
              <a:rPr lang="en-US" altLang="en-US" sz="2800" dirty="0">
                <a:latin typeface="Arial" panose="020B0604020202020204" pitchFamily="34" charset="0"/>
              </a:rPr>
              <a:t>   int num = 3 / 0;</a:t>
            </a:r>
          </a:p>
          <a:p>
            <a:pPr>
              <a:spcBef>
                <a:spcPct val="0"/>
              </a:spcBef>
              <a:buFontTx/>
              <a:buNone/>
            </a:pP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catch (Exception e) {</a:t>
            </a:r>
          </a:p>
          <a:p>
            <a:pPr>
              <a:spcBef>
                <a:spcPct val="0"/>
              </a:spcBef>
              <a:buFontTx/>
              <a:buNone/>
            </a:pPr>
            <a:r>
              <a:rPr lang="en-US" altLang="en-US" sz="2800" dirty="0">
                <a:latin typeface="Arial" panose="020B0604020202020204" pitchFamily="34" charset="0"/>
              </a:rPr>
              <a:t>   </a:t>
            </a:r>
            <a:r>
              <a:rPr lang="en-US" altLang="en-US" sz="2800" dirty="0" err="1">
                <a:latin typeface="Arial" panose="020B0604020202020204" pitchFamily="34" charset="0"/>
              </a:rPr>
              <a:t>out.println</a:t>
            </a:r>
            <a:r>
              <a:rPr lang="en-US" altLang="en-US" sz="2800" dirty="0">
                <a:latin typeface="Arial" panose="020B0604020202020204" pitchFamily="34" charset="0"/>
              </a:rPr>
              <a:t>(</a:t>
            </a:r>
            <a:r>
              <a:rPr lang="en-US" altLang="en-US" sz="2800" dirty="0" err="1">
                <a:latin typeface="Arial" panose="020B0604020202020204" pitchFamily="34" charset="0"/>
              </a:rPr>
              <a:t>e.getMessage</a:t>
            </a: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		</a:t>
            </a:r>
          </a:p>
          <a:p>
            <a:pPr>
              <a:spcBef>
                <a:spcPct val="0"/>
              </a:spcBef>
              <a:buFontTx/>
              <a:buNone/>
            </a:pPr>
            <a:r>
              <a:rPr lang="en-US" altLang="en-US" sz="2800" dirty="0" err="1">
                <a:latin typeface="Arial" panose="020B0604020202020204" pitchFamily="34" charset="0"/>
              </a:rPr>
              <a:t>System.out.println</a:t>
            </a:r>
            <a:r>
              <a:rPr lang="en-US" altLang="en-US" sz="2800" dirty="0">
                <a:latin typeface="Arial" panose="020B0604020202020204" pitchFamily="34" charset="0"/>
              </a:rPr>
              <a:t>("</a:t>
            </a:r>
            <a:r>
              <a:rPr lang="en-US" altLang="en-US" sz="2800" dirty="0" err="1">
                <a:latin typeface="Arial" panose="020B0604020202020204" pitchFamily="34" charset="0"/>
              </a:rPr>
              <a:t>compsci</a:t>
            </a:r>
            <a:r>
              <a:rPr lang="en-US" altLang="en-US" sz="2800" dirty="0">
                <a:latin typeface="Arial" panose="020B0604020202020204" pitchFamily="34" charset="0"/>
              </a:rPr>
              <a:t>");</a:t>
            </a:r>
          </a:p>
        </p:txBody>
      </p:sp>
      <p:sp>
        <p:nvSpPr>
          <p:cNvPr id="2" name="Rectangle 1">
            <a:extLst>
              <a:ext uri="{FF2B5EF4-FFF2-40B4-BE49-F238E27FC236}">
                <a16:creationId xmlns:a16="http://schemas.microsoft.com/office/drawing/2014/main" id="{1AC1F49B-6B96-2E73-041B-DD489AD9F3BE}"/>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3" name="TextBox 2">
            <a:extLst>
              <a:ext uri="{FF2B5EF4-FFF2-40B4-BE49-F238E27FC236}">
                <a16:creationId xmlns:a16="http://schemas.microsoft.com/office/drawing/2014/main" id="{2A210FC7-08DF-41DF-E238-CE445564C628}"/>
              </a:ext>
            </a:extLst>
          </p:cNvPr>
          <p:cNvSpPr txBox="1"/>
          <p:nvPr/>
        </p:nvSpPr>
        <p:spPr>
          <a:xfrm>
            <a:off x="1459777" y="5257800"/>
            <a:ext cx="6324600" cy="1384995"/>
          </a:xfrm>
          <a:prstGeom prst="rect">
            <a:avLst/>
          </a:prstGeom>
          <a:noFill/>
        </p:spPr>
        <p:txBody>
          <a:bodyPr wrap="square">
            <a:spAutoFit/>
          </a:bodyPr>
          <a:lstStyle/>
          <a:p>
            <a:pPr>
              <a:spcBef>
                <a:spcPct val="0"/>
              </a:spcBef>
              <a:buFontTx/>
              <a:buNone/>
            </a:pPr>
            <a:r>
              <a:rPr lang="en-US" altLang="en-US" sz="2800" dirty="0">
                <a:solidFill>
                  <a:schemeClr val="accent6">
                    <a:lumMod val="75000"/>
                  </a:schemeClr>
                </a:solidFill>
              </a:rPr>
              <a:t>It compiles and prints:</a:t>
            </a:r>
          </a:p>
          <a:p>
            <a:pPr>
              <a:spcBef>
                <a:spcPct val="0"/>
              </a:spcBef>
              <a:buFontTx/>
              <a:buNone/>
            </a:pPr>
            <a:r>
              <a:rPr lang="en-US" altLang="en-US" sz="2800" dirty="0">
                <a:solidFill>
                  <a:schemeClr val="accent6">
                    <a:lumMod val="75000"/>
                  </a:schemeClr>
                </a:solidFill>
                <a:latin typeface="Consolas" panose="020B0609020204030204" pitchFamily="49" charset="0"/>
              </a:rPr>
              <a:t>  </a:t>
            </a:r>
            <a:r>
              <a:rPr lang="en-US" altLang="en-US" sz="2800" dirty="0" err="1">
                <a:solidFill>
                  <a:schemeClr val="accent6">
                    <a:lumMod val="75000"/>
                  </a:schemeClr>
                </a:solidFill>
                <a:latin typeface="Consolas" panose="020B0609020204030204" pitchFamily="49" charset="0"/>
              </a:rPr>
              <a:t>ArithmeticException</a:t>
            </a:r>
            <a:r>
              <a:rPr lang="en-US" altLang="en-US" sz="2800" dirty="0">
                <a:solidFill>
                  <a:schemeClr val="accent6">
                    <a:lumMod val="75000"/>
                  </a:schemeClr>
                </a:solidFill>
                <a:latin typeface="Consolas" panose="020B0609020204030204" pitchFamily="49" charset="0"/>
              </a:rPr>
              <a:t>:  / by 0</a:t>
            </a:r>
          </a:p>
          <a:p>
            <a:pPr>
              <a:spcBef>
                <a:spcPct val="0"/>
              </a:spcBef>
              <a:buFontTx/>
              <a:buNone/>
            </a:pPr>
            <a:r>
              <a:rPr lang="en-US" altLang="en-US" sz="2800" dirty="0">
                <a:solidFill>
                  <a:schemeClr val="accent6">
                    <a:lumMod val="75000"/>
                  </a:schemeClr>
                </a:solidFill>
                <a:latin typeface="Consolas" panose="020B0609020204030204" pitchFamily="49" charset="0"/>
              </a:rPr>
              <a:t>  </a:t>
            </a:r>
            <a:r>
              <a:rPr lang="en-US" altLang="en-US" sz="2800" dirty="0" err="1">
                <a:solidFill>
                  <a:schemeClr val="accent6">
                    <a:lumMod val="75000"/>
                  </a:schemeClr>
                </a:solidFill>
                <a:latin typeface="Consolas" panose="020B0609020204030204" pitchFamily="49" charset="0"/>
              </a:rPr>
              <a:t>compsci</a:t>
            </a:r>
            <a:r>
              <a:rPr lang="en-US" altLang="en-US" sz="2800" dirty="0">
                <a:solidFill>
                  <a:schemeClr val="accent6">
                    <a:lumMod val="75000"/>
                  </a:schemeClr>
                </a:solidFill>
                <a:latin typeface="Consolas" panose="020B0609020204030204" pitchFamily="49" charset="0"/>
              </a:rPr>
              <a:t> </a:t>
            </a:r>
            <a:r>
              <a:rPr lang="en-US" altLang="en-US" sz="2800" dirty="0">
                <a:solidFill>
                  <a:schemeClr val="accent6">
                    <a:lumMod val="75000"/>
                  </a:schemeClr>
                </a:solidFill>
                <a:latin typeface="Arial" panose="020B0604020202020204" pitchFamily="34" charset="0"/>
              </a:rPr>
              <a:t>	</a:t>
            </a:r>
          </a:p>
        </p:txBody>
      </p:sp>
    </p:spTree>
    <p:extLst>
      <p:ext uri="{BB962C8B-B14F-4D97-AF65-F5344CB8AC3E}">
        <p14:creationId xmlns:p14="http://schemas.microsoft.com/office/powerpoint/2010/main" val="194742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189F3B2-DD47-4385-A057-7B442029312C}"/>
              </a:ext>
            </a:extLst>
          </p:cNvPr>
          <p:cNvSpPr>
            <a:spLocks noGrp="1"/>
          </p:cNvSpPr>
          <p:nvPr>
            <p:ph type="ftr" sz="quarter" idx="12"/>
          </p:nvPr>
        </p:nvSpPr>
        <p:spPr>
          <a:xfrm>
            <a:off x="6019800" y="6300550"/>
            <a:ext cx="2895600" cy="457200"/>
          </a:xfrm>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6867" name="Text Box 2">
            <a:extLst>
              <a:ext uri="{FF2B5EF4-FFF2-40B4-BE49-F238E27FC236}">
                <a16:creationId xmlns:a16="http://schemas.microsoft.com/office/drawing/2014/main" id="{41046804-E7D4-449A-8EB2-1519FAFC372D}"/>
              </a:ext>
            </a:extLst>
          </p:cNvPr>
          <p:cNvSpPr txBox="1">
            <a:spLocks noChangeArrowheads="1"/>
          </p:cNvSpPr>
          <p:nvPr/>
        </p:nvSpPr>
        <p:spPr bwMode="auto">
          <a:xfrm>
            <a:off x="1143000" y="1676400"/>
            <a:ext cx="7696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try{</a:t>
            </a:r>
          </a:p>
          <a:p>
            <a:pPr>
              <a:spcBef>
                <a:spcPct val="0"/>
              </a:spcBef>
              <a:buFontTx/>
              <a:buNone/>
            </a:pPr>
            <a:r>
              <a:rPr lang="en-US" altLang="en-US" sz="2800" dirty="0">
                <a:latin typeface="Arial" panose="020B0604020202020204" pitchFamily="34" charset="0"/>
              </a:rPr>
              <a:t>   int num = 3 / 0;</a:t>
            </a:r>
          </a:p>
          <a:p>
            <a:pPr>
              <a:spcBef>
                <a:spcPct val="0"/>
              </a:spcBef>
              <a:buFontTx/>
              <a:buNone/>
            </a:pP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catch (</a:t>
            </a:r>
            <a:r>
              <a:rPr lang="en-US" altLang="en-US" sz="2800" dirty="0" err="1">
                <a:latin typeface="Arial" panose="020B0604020202020204" pitchFamily="34" charset="0"/>
              </a:rPr>
              <a:t>IOException</a:t>
            </a:r>
            <a:r>
              <a:rPr lang="en-US" altLang="en-US" sz="2800" dirty="0">
                <a:latin typeface="Arial" panose="020B0604020202020204" pitchFamily="34" charset="0"/>
              </a:rPr>
              <a:t> e) {</a:t>
            </a:r>
          </a:p>
          <a:p>
            <a:pPr>
              <a:spcBef>
                <a:spcPct val="0"/>
              </a:spcBef>
              <a:buFontTx/>
              <a:buNone/>
            </a:pPr>
            <a:r>
              <a:rPr lang="en-US" altLang="en-US" sz="2800" dirty="0">
                <a:latin typeface="Arial" panose="020B0604020202020204" pitchFamily="34" charset="0"/>
              </a:rPr>
              <a:t>   </a:t>
            </a:r>
            <a:r>
              <a:rPr lang="en-US" altLang="en-US" sz="2800" dirty="0" err="1">
                <a:latin typeface="Arial" panose="020B0604020202020204" pitchFamily="34" charset="0"/>
              </a:rPr>
              <a:t>out.println</a:t>
            </a:r>
            <a:r>
              <a:rPr lang="en-US" altLang="en-US" sz="2800" dirty="0">
                <a:latin typeface="Arial" panose="020B0604020202020204" pitchFamily="34" charset="0"/>
              </a:rPr>
              <a:t>(</a:t>
            </a:r>
            <a:r>
              <a:rPr lang="en-US" altLang="en-US" sz="2800" dirty="0" err="1">
                <a:latin typeface="Arial" panose="020B0604020202020204" pitchFamily="34" charset="0"/>
              </a:rPr>
              <a:t>e.getMessage</a:t>
            </a: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		</a:t>
            </a:r>
          </a:p>
          <a:p>
            <a:pPr>
              <a:spcBef>
                <a:spcPct val="0"/>
              </a:spcBef>
              <a:buFontTx/>
              <a:buNone/>
            </a:pPr>
            <a:r>
              <a:rPr lang="en-US" altLang="en-US" sz="2800" dirty="0" err="1">
                <a:latin typeface="Arial" panose="020B0604020202020204" pitchFamily="34" charset="0"/>
              </a:rPr>
              <a:t>System.out.println</a:t>
            </a:r>
            <a:r>
              <a:rPr lang="en-US" altLang="en-US" sz="2800" dirty="0">
                <a:latin typeface="Arial" panose="020B0604020202020204" pitchFamily="34" charset="0"/>
              </a:rPr>
              <a:t>("</a:t>
            </a:r>
            <a:r>
              <a:rPr lang="en-US" altLang="en-US" sz="2800" dirty="0" err="1">
                <a:latin typeface="Arial" panose="020B0604020202020204" pitchFamily="34" charset="0"/>
              </a:rPr>
              <a:t>compsci</a:t>
            </a:r>
            <a:r>
              <a:rPr lang="en-US" altLang="en-US" sz="2800" dirty="0">
                <a:latin typeface="Arial" panose="020B0604020202020204" pitchFamily="34" charset="0"/>
              </a:rPr>
              <a:t>");</a:t>
            </a:r>
          </a:p>
        </p:txBody>
      </p:sp>
      <p:sp>
        <p:nvSpPr>
          <p:cNvPr id="2" name="Rectangle 1">
            <a:extLst>
              <a:ext uri="{FF2B5EF4-FFF2-40B4-BE49-F238E27FC236}">
                <a16:creationId xmlns:a16="http://schemas.microsoft.com/office/drawing/2014/main" id="{1AC1F49B-6B96-2E73-041B-DD489AD9F3BE}"/>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3" name="TextBox 2">
            <a:extLst>
              <a:ext uri="{FF2B5EF4-FFF2-40B4-BE49-F238E27FC236}">
                <a16:creationId xmlns:a16="http://schemas.microsoft.com/office/drawing/2014/main" id="{2A210FC7-08DF-41DF-E238-CE445564C628}"/>
              </a:ext>
            </a:extLst>
          </p:cNvPr>
          <p:cNvSpPr txBox="1"/>
          <p:nvPr/>
        </p:nvSpPr>
        <p:spPr>
          <a:xfrm>
            <a:off x="762000" y="5181600"/>
            <a:ext cx="7403377" cy="954107"/>
          </a:xfrm>
          <a:prstGeom prst="rect">
            <a:avLst/>
          </a:prstGeom>
          <a:noFill/>
        </p:spPr>
        <p:txBody>
          <a:bodyPr wrap="square">
            <a:spAutoFit/>
          </a:bodyPr>
          <a:lstStyle/>
          <a:p>
            <a:r>
              <a:rPr lang="en-US" altLang="en-US" sz="2800" dirty="0" err="1">
                <a:solidFill>
                  <a:srgbClr val="C00000"/>
                </a:solidFill>
              </a:rPr>
              <a:t>Synax</a:t>
            </a:r>
            <a:r>
              <a:rPr lang="en-US" altLang="en-US" sz="2800" dirty="0">
                <a:solidFill>
                  <a:srgbClr val="C00000"/>
                </a:solidFill>
              </a:rPr>
              <a:t> error:   </a:t>
            </a:r>
            <a:r>
              <a:rPr lang="en-US" altLang="en-US" sz="2800" dirty="0" err="1">
                <a:solidFill>
                  <a:srgbClr val="C00000"/>
                </a:solidFill>
              </a:rPr>
              <a:t>IOException</a:t>
            </a:r>
            <a:r>
              <a:rPr lang="en-US" altLang="en-US" sz="2800" dirty="0">
                <a:solidFill>
                  <a:srgbClr val="C00000"/>
                </a:solidFill>
              </a:rPr>
              <a:t> is never thrown in body of corresponding try statement</a:t>
            </a:r>
          </a:p>
        </p:txBody>
      </p:sp>
    </p:spTree>
    <p:extLst>
      <p:ext uri="{BB962C8B-B14F-4D97-AF65-F5344CB8AC3E}">
        <p14:creationId xmlns:p14="http://schemas.microsoft.com/office/powerpoint/2010/main" val="1948781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6FE69-FD9F-FFFB-1BC6-EC91293D15A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B9BF03C-5D73-0BC8-37DB-274D48441B5B}"/>
              </a:ext>
            </a:extLst>
          </p:cNvPr>
          <p:cNvSpPr/>
          <p:nvPr/>
        </p:nvSpPr>
        <p:spPr>
          <a:xfrm>
            <a:off x="822895" y="990600"/>
            <a:ext cx="7498209" cy="2308324"/>
          </a:xfrm>
          <a:prstGeom prst="rect">
            <a:avLst/>
          </a:prstGeom>
          <a:noFill/>
        </p:spPr>
        <p:txBody>
          <a:bodyPr wrap="square" lIns="91440" tIns="45720" rIns="91440" bIns="45720">
            <a:spAutoFit/>
          </a:bodyPr>
          <a:lstStyle/>
          <a:p>
            <a:pPr algn="ctr"/>
            <a:r>
              <a:rPr lang="en-US" sz="72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Analyzing a Stack Trace</a:t>
            </a:r>
          </a:p>
        </p:txBody>
      </p:sp>
    </p:spTree>
    <p:extLst>
      <p:ext uri="{BB962C8B-B14F-4D97-AF65-F5344CB8AC3E}">
        <p14:creationId xmlns:p14="http://schemas.microsoft.com/office/powerpoint/2010/main" val="1577868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622CE-3213-0D6B-893B-AC1351445A9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974A28F-1488-537A-9B43-B1F0E86561E8}"/>
              </a:ext>
            </a:extLst>
          </p:cNvPr>
          <p:cNvSpPr/>
          <p:nvPr/>
        </p:nvSpPr>
        <p:spPr>
          <a:xfrm>
            <a:off x="822893" y="457200"/>
            <a:ext cx="7498209" cy="830997"/>
          </a:xfrm>
          <a:prstGeom prst="rect">
            <a:avLst/>
          </a:prstGeom>
          <a:noFill/>
        </p:spPr>
        <p:txBody>
          <a:bodyPr wrap="square" lIns="91440" tIns="45720" rIns="91440" bIns="45720">
            <a:spAutoFit/>
          </a:bodyPr>
          <a:lstStyle/>
          <a:p>
            <a:pPr algn="ctr"/>
            <a:r>
              <a:rPr lang="en-US" sz="48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Analyzing a Stack Trace</a:t>
            </a:r>
          </a:p>
        </p:txBody>
      </p:sp>
      <p:sp>
        <p:nvSpPr>
          <p:cNvPr id="2" name="Rectangle 1">
            <a:extLst>
              <a:ext uri="{FF2B5EF4-FFF2-40B4-BE49-F238E27FC236}">
                <a16:creationId xmlns:a16="http://schemas.microsoft.com/office/drawing/2014/main" id="{D98B03FF-AB3C-F25A-FB3A-37733DE41985}"/>
              </a:ext>
            </a:extLst>
          </p:cNvPr>
          <p:cNvSpPr/>
          <p:nvPr/>
        </p:nvSpPr>
        <p:spPr>
          <a:xfrm>
            <a:off x="304800" y="2125394"/>
            <a:ext cx="8458200" cy="3785652"/>
          </a:xfrm>
          <a:prstGeom prst="rect">
            <a:avLst/>
          </a:prstGeom>
          <a:noFill/>
        </p:spPr>
        <p:txBody>
          <a:bodyPr wrap="square" lIns="91440" tIns="45720" rIns="91440" bIns="45720">
            <a:spAutoFit/>
          </a:bodyPr>
          <a:lstStyle/>
          <a:p>
            <a:pPr marL="571500" indent="-571500">
              <a:buFont typeface="Arial" panose="020B0604020202020204" pitchFamily="34" charset="0"/>
              <a:buChar char="•"/>
            </a:pPr>
            <a:r>
              <a:rPr lang="en-US" sz="4000" b="0" cap="none" spc="0" dirty="0">
                <a:ln w="22225">
                  <a:noFill/>
                  <a:prstDash val="solid"/>
                </a:ln>
                <a:solidFill>
                  <a:srgbClr val="0000CC"/>
                </a:solidFill>
                <a:effectLst>
                  <a:outerShdw blurRad="50800" dist="38100" dir="10800000" algn="r" rotWithShape="0">
                    <a:prstClr val="black">
                      <a:alpha val="40000"/>
                    </a:prstClr>
                  </a:outerShdw>
                </a:effectLst>
              </a:rPr>
              <a:t>A stack trace is shown when an </a:t>
            </a:r>
            <a:r>
              <a:rPr lang="en-US" sz="4000" b="0" dirty="0">
                <a:ln w="22225">
                  <a:noFill/>
                  <a:prstDash val="solid"/>
                </a:ln>
                <a:solidFill>
                  <a:srgbClr val="0000CC"/>
                </a:solidFill>
                <a:effectLst>
                  <a:outerShdw blurRad="50800" dist="38100" dir="10800000" algn="r" rotWithShape="0">
                    <a:prstClr val="black">
                      <a:alpha val="40000"/>
                    </a:prstClr>
                  </a:outerShdw>
                </a:effectLst>
              </a:rPr>
              <a:t>unhandled exception crashes the program.</a:t>
            </a:r>
          </a:p>
          <a:p>
            <a:pPr marL="571500" indent="-571500">
              <a:buFont typeface="Arial" panose="020B0604020202020204" pitchFamily="34" charset="0"/>
              <a:buChar char="•"/>
            </a:pPr>
            <a:r>
              <a:rPr lang="en-US" sz="4000" b="0" cap="none" spc="0" dirty="0">
                <a:ln w="22225">
                  <a:noFill/>
                  <a:prstDash val="solid"/>
                </a:ln>
                <a:solidFill>
                  <a:srgbClr val="0000CC"/>
                </a:solidFill>
                <a:effectLst>
                  <a:outerShdw blurRad="50800" dist="38100" dir="10800000" algn="r" rotWithShape="0">
                    <a:prstClr val="black">
                      <a:alpha val="40000"/>
                    </a:prstClr>
                  </a:outerShdw>
                </a:effectLst>
              </a:rPr>
              <a:t>A stack trace starts with the method that threw the e</a:t>
            </a:r>
            <a:r>
              <a:rPr lang="en-US" sz="4000" b="0" dirty="0">
                <a:ln w="22225">
                  <a:noFill/>
                  <a:prstDash val="solid"/>
                </a:ln>
                <a:solidFill>
                  <a:srgbClr val="0000CC"/>
                </a:solidFill>
                <a:effectLst>
                  <a:outerShdw blurRad="50800" dist="38100" dir="10800000" algn="r" rotWithShape="0">
                    <a:prstClr val="black">
                      <a:alpha val="40000"/>
                    </a:prstClr>
                  </a:outerShdw>
                </a:effectLst>
              </a:rPr>
              <a:t>xception and ends with the main method</a:t>
            </a:r>
            <a:endParaRPr lang="en-US" sz="4000" b="0" cap="none" spc="0" dirty="0">
              <a:ln w="22225">
                <a:noFill/>
                <a:prstDash val="solid"/>
              </a:ln>
              <a:solidFill>
                <a:srgbClr val="0000CC"/>
              </a:solidFill>
              <a:effectLst>
                <a:outerShdw blurRad="50800" dist="38100" dir="10800000" algn="r" rotWithShape="0">
                  <a:prstClr val="black">
                    <a:alpha val="40000"/>
                  </a:prstClr>
                </a:outerShdw>
              </a:effectLst>
            </a:endParaRPr>
          </a:p>
        </p:txBody>
      </p:sp>
    </p:spTree>
    <p:extLst>
      <p:ext uri="{BB962C8B-B14F-4D97-AF65-F5344CB8AC3E}">
        <p14:creationId xmlns:p14="http://schemas.microsoft.com/office/powerpoint/2010/main" val="3875564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D978F-FF64-FC24-8079-097297EFFCE7}"/>
              </a:ext>
            </a:extLst>
          </p:cNvPr>
          <p:cNvSpPr>
            <a:spLocks noGrp="1"/>
          </p:cNvSpPr>
          <p:nvPr>
            <p:ph type="title"/>
          </p:nvPr>
        </p:nvSpPr>
        <p:spPr>
          <a:xfrm>
            <a:off x="685800" y="190500"/>
            <a:ext cx="7772400" cy="800100"/>
          </a:xfrm>
        </p:spPr>
        <p:txBody>
          <a:bodyPr/>
          <a:lstStyle/>
          <a:p>
            <a:r>
              <a:rPr lang="en-US" dirty="0"/>
              <a:t>Stack Trace</a:t>
            </a:r>
          </a:p>
        </p:txBody>
      </p:sp>
      <p:sp>
        <p:nvSpPr>
          <p:cNvPr id="3" name="Content Placeholder 2">
            <a:extLst>
              <a:ext uri="{FF2B5EF4-FFF2-40B4-BE49-F238E27FC236}">
                <a16:creationId xmlns:a16="http://schemas.microsoft.com/office/drawing/2014/main" id="{704CF605-3F56-AD1A-02F2-E2FD4CD4D68E}"/>
              </a:ext>
            </a:extLst>
          </p:cNvPr>
          <p:cNvSpPr>
            <a:spLocks noGrp="1"/>
          </p:cNvSpPr>
          <p:nvPr>
            <p:ph idx="1"/>
          </p:nvPr>
        </p:nvSpPr>
        <p:spPr>
          <a:xfrm>
            <a:off x="0" y="1219200"/>
            <a:ext cx="9144000" cy="5562600"/>
          </a:xfrm>
        </p:spPr>
        <p:txBody>
          <a:bodyPr/>
          <a:lstStyle/>
          <a:p>
            <a:pPr marL="0" indent="0">
              <a:lnSpc>
                <a:spcPct val="115000"/>
              </a:lnSpc>
              <a:spcAft>
                <a:spcPts val="800"/>
              </a:spcAft>
              <a:buNone/>
              <a:tabLst>
                <a:tab pos="4054475" algn="l"/>
              </a:tabLst>
            </a:pPr>
            <a: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t>Exception in thread "main" </a:t>
            </a:r>
            <a:b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t>           </a:t>
            </a:r>
            <a:r>
              <a:rPr lang="en-US" sz="2200" kern="100" dirty="0" err="1">
                <a:effectLst/>
                <a:latin typeface="Cascadia Code" panose="020B0609020000020004" pitchFamily="49" charset="0"/>
                <a:ea typeface="Aptos" panose="020B0004020202020204" pitchFamily="34" charset="0"/>
                <a:cs typeface="Times New Roman" panose="02020603050405020304" pitchFamily="18" charset="0"/>
              </a:rPr>
              <a:t>java.io.FileNotFoundException</a:t>
            </a:r>
            <a: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t>: </a:t>
            </a:r>
            <a:r>
              <a:rPr lang="en-US" sz="2200" kern="100" dirty="0">
                <a:solidFill>
                  <a:srgbClr val="FF0000"/>
                </a:solidFill>
                <a:effectLst/>
                <a:latin typeface="Cascadia Code" panose="020B0609020000020004" pitchFamily="49" charset="0"/>
                <a:ea typeface="Aptos" panose="020B0004020202020204" pitchFamily="34" charset="0"/>
                <a:cs typeface="Times New Roman" panose="02020603050405020304" pitchFamily="18" charset="0"/>
              </a:rPr>
              <a:t>wrong.name </a:t>
            </a:r>
            <a:endParaRPr lang="en-US" sz="22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Aft>
                <a:spcPts val="800"/>
              </a:spcAft>
              <a:buNone/>
              <a:tabLst>
                <a:tab pos="4054475" algn="l"/>
              </a:tabLst>
            </a:pPr>
            <a: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t>   at </a:t>
            </a:r>
            <a:r>
              <a:rPr lang="en-US" sz="2200" kern="100" dirty="0" err="1">
                <a:effectLst/>
                <a:latin typeface="Cascadia Code" panose="020B0609020000020004" pitchFamily="49" charset="0"/>
                <a:ea typeface="Aptos" panose="020B0004020202020204" pitchFamily="34" charset="0"/>
                <a:cs typeface="Times New Roman" panose="02020603050405020304" pitchFamily="18" charset="0"/>
              </a:rPr>
              <a:t>java.base</a:t>
            </a:r>
            <a: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t>/java.io.FileInputStream.open0</a:t>
            </a:r>
            <a:b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t> 	(Native Method)</a:t>
            </a:r>
            <a:b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at </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java.base</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java.io.FileInputStream.open</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(FileInputStream.java:213)</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at </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java.base</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java.io.FileInputStream</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.&lt;</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init</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&gt;</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(FileInputStream.java:152)</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at </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java.base</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java.util.Scanner</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.&lt;</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init</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&gt;</a:t>
            </a:r>
            <a:r>
              <a:rPr lang="en-US" sz="2200" kern="100" dirty="0">
                <a:solidFill>
                  <a:srgbClr val="006600"/>
                </a:solidFill>
                <a:latin typeface="Cascadia Code" panose="020B0609020000020004" pitchFamily="49" charset="0"/>
                <a:ea typeface="Aptos" panose="020B0004020202020204" pitchFamily="34" charset="0"/>
                <a:cs typeface="Times New Roman" panose="02020603050405020304" pitchFamily="18" charset="0"/>
              </a:rPr>
              <a:t>		</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(Scanner.java:662)</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at </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Histogram.loadAndAnalyzeFile</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latin typeface="Cascadia Code" panose="020B0609020000020004" pitchFamily="49" charset="0"/>
                <a:ea typeface="Aptos" panose="020B0004020202020204" pitchFamily="34" charset="0"/>
                <a:cs typeface="Times New Roman" panose="02020603050405020304" pitchFamily="18" charset="0"/>
              </a:rPr>
              <a:t> 	</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(Histogram.java:43)</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at Lab04c.main	</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(Lab04c.java:9)</a:t>
            </a:r>
            <a:endParaRPr lang="en-US" sz="2200" dirty="0">
              <a:solidFill>
                <a:srgbClr val="006600"/>
              </a:solidFill>
            </a:endParaRPr>
          </a:p>
        </p:txBody>
      </p:sp>
    </p:spTree>
    <p:extLst>
      <p:ext uri="{BB962C8B-B14F-4D97-AF65-F5344CB8AC3E}">
        <p14:creationId xmlns:p14="http://schemas.microsoft.com/office/powerpoint/2010/main" val="192245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C0695F0-69C5-60AD-AA48-73E231779C05}"/>
            </a:ext>
          </a:extLst>
        </p:cNvPr>
        <p:cNvGrpSpPr/>
        <p:nvPr/>
      </p:nvGrpSpPr>
      <p:grpSpPr>
        <a:xfrm>
          <a:off x="0" y="0"/>
          <a:ext cx="0" cy="0"/>
          <a:chOff x="0" y="0"/>
          <a:chExt cx="0" cy="0"/>
        </a:xfrm>
      </p:grpSpPr>
      <p:sp>
        <p:nvSpPr>
          <p:cNvPr id="57346" name="AutoShape 2">
            <a:extLst>
              <a:ext uri="{FF2B5EF4-FFF2-40B4-BE49-F238E27FC236}">
                <a16:creationId xmlns:a16="http://schemas.microsoft.com/office/drawing/2014/main" id="{EC7FD2CF-E862-B107-8EA0-76BF8E09FE8E}"/>
              </a:ext>
            </a:extLst>
          </p:cNvPr>
          <p:cNvSpPr>
            <a:spLocks noGrp="1" noChangeArrowheads="1"/>
          </p:cNvSpPr>
          <p:nvPr>
            <p:ph type="title"/>
          </p:nvPr>
        </p:nvSpPr>
        <p:spPr>
          <a:xfrm>
            <a:off x="20320" y="76200"/>
            <a:ext cx="9067800" cy="1143000"/>
          </a:xfrm>
        </p:spPr>
        <p:txBody>
          <a:bodyPr/>
          <a:lstStyle/>
          <a:p>
            <a:pPr eaLnBrk="1" hangingPunct="1"/>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ea typeface="+mn-ea"/>
                <a:cs typeface="+mn-cs"/>
              </a:rPr>
              <a:t>Tracing an error to its source</a:t>
            </a:r>
          </a:p>
        </p:txBody>
      </p:sp>
      <p:sp>
        <p:nvSpPr>
          <p:cNvPr id="2" name="Content Placeholder 1">
            <a:extLst>
              <a:ext uri="{FF2B5EF4-FFF2-40B4-BE49-F238E27FC236}">
                <a16:creationId xmlns:a16="http://schemas.microsoft.com/office/drawing/2014/main" id="{335E62A5-7589-3C8C-CFBB-C58AAA080B4B}"/>
              </a:ext>
            </a:extLst>
          </p:cNvPr>
          <p:cNvSpPr>
            <a:spLocks noGrp="1"/>
          </p:cNvSpPr>
          <p:nvPr>
            <p:ph idx="1"/>
          </p:nvPr>
        </p:nvSpPr>
        <p:spPr>
          <a:xfrm>
            <a:off x="0" y="2514600"/>
            <a:ext cx="9067800" cy="4343400"/>
          </a:xfrm>
        </p:spPr>
        <p:txBody>
          <a:bodyPr/>
          <a:lstStyle/>
          <a:p>
            <a:pPr marL="0" marR="0">
              <a:lnSpc>
                <a:spcPct val="115000"/>
              </a:lnSpc>
              <a:spcBef>
                <a:spcPts val="0"/>
              </a:spcBef>
              <a:spcAft>
                <a:spcPts val="0"/>
              </a:spcAft>
              <a:buNone/>
            </a:pPr>
            <a:r>
              <a:rPr lang="en-US" sz="2800" b="1" kern="100" dirty="0">
                <a:effectLst/>
                <a:latin typeface="Cascadia Code" panose="020B0609020000020004" pitchFamily="49" charset="0"/>
                <a:ea typeface="Aptos" panose="020B0004020202020204" pitchFamily="34" charset="0"/>
                <a:cs typeface="Times New Roman" panose="02020603050405020304" pitchFamily="18" charset="0"/>
              </a:rPr>
              <a:t>public static void main(String[] </a:t>
            </a:r>
            <a:r>
              <a:rPr lang="en-US" sz="2800" b="1" kern="100" dirty="0" err="1">
                <a:effectLst/>
                <a:latin typeface="Cascadia Code" panose="020B0609020000020004" pitchFamily="49" charset="0"/>
                <a:ea typeface="Aptos" panose="020B0004020202020204" pitchFamily="34" charset="0"/>
                <a:cs typeface="Times New Roman" panose="02020603050405020304" pitchFamily="18" charset="0"/>
              </a:rPr>
              <a:t>args</a:t>
            </a:r>
            <a:r>
              <a:rPr lang="en-US" sz="2800" b="1" kern="100" dirty="0">
                <a:effectLst/>
                <a:latin typeface="Cascadia Code" panose="020B0609020000020004" pitchFamily="49" charset="0"/>
                <a:ea typeface="Aptos" panose="020B0004020202020204" pitchFamily="34" charset="0"/>
                <a:cs typeface="Times New Roman" panose="02020603050405020304" pitchFamily="18" charset="0"/>
              </a:rPr>
              <a:t>) </a:t>
            </a:r>
          </a:p>
          <a:p>
            <a:pPr marL="0" marR="0">
              <a:lnSpc>
                <a:spcPct val="115000"/>
              </a:lnSpc>
              <a:spcBef>
                <a:spcPts val="0"/>
              </a:spcBef>
              <a:spcAft>
                <a:spcPts val="0"/>
              </a:spcAft>
              <a:buNone/>
            </a:pPr>
            <a:r>
              <a:rPr lang="en-US" sz="2800" b="1" kern="100" dirty="0">
                <a:latin typeface="Cascadia Code" panose="020B0609020000020004" pitchFamily="49" charset="0"/>
                <a:ea typeface="Aptos" panose="020B0004020202020204" pitchFamily="34" charset="0"/>
                <a:cs typeface="Times New Roman" panose="02020603050405020304" pitchFamily="18" charset="0"/>
              </a:rPr>
              <a:t>                      </a:t>
            </a:r>
            <a:r>
              <a:rPr lang="en-US" sz="2800" b="1" kern="100" dirty="0">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throws </a:t>
            </a:r>
            <a:r>
              <a:rPr lang="en-US" sz="2800" b="1" kern="100" dirty="0" err="1">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IOException</a:t>
            </a:r>
            <a:r>
              <a:rPr lang="en-US" sz="2800" b="1" kern="100" dirty="0">
                <a:solidFill>
                  <a:schemeClr val="accent2">
                    <a:lumMod val="75000"/>
                  </a:schemeClr>
                </a:solidFill>
                <a:latin typeface="Cascadia Code" panose="020B0609020000020004" pitchFamily="49" charset="0"/>
                <a:ea typeface="Aptos" panose="020B0004020202020204" pitchFamily="34" charset="0"/>
                <a:cs typeface="Times New Roman" panose="02020603050405020304" pitchFamily="18" charset="0"/>
              </a:rPr>
              <a:t> </a:t>
            </a:r>
            <a:r>
              <a:rPr lang="en-US" sz="2800" b="1" kern="100" dirty="0">
                <a:effectLst/>
                <a:latin typeface="Cascadia Code" panose="020B0609020000020004" pitchFamily="49" charset="0"/>
                <a:ea typeface="Aptos" panose="020B0004020202020204" pitchFamily="34" charset="0"/>
                <a:cs typeface="Times New Roman" panose="02020603050405020304" pitchFamily="18" charset="0"/>
              </a:rPr>
              <a:t>{</a:t>
            </a:r>
          </a:p>
          <a:p>
            <a:pPr marL="0" marR="0">
              <a:lnSpc>
                <a:spcPct val="115000"/>
              </a:lnSpc>
              <a:spcBef>
                <a:spcPts val="0"/>
              </a:spcBef>
              <a:spcAft>
                <a:spcPts val="0"/>
              </a:spcAft>
              <a:buNone/>
            </a:pPr>
            <a:r>
              <a:rPr lang="en-US" sz="2800" kern="100" dirty="0">
                <a:effectLst/>
                <a:latin typeface="Cascadia Code" panose="020B0609020000020004" pitchFamily="49" charset="0"/>
                <a:ea typeface="Aptos" panose="020B0004020202020204" pitchFamily="34" charset="0"/>
                <a:cs typeface="Times New Roman" panose="02020603050405020304" pitchFamily="18" charset="0"/>
              </a:rPr>
              <a:t>  Histogram hist = new Histogram(</a:t>
            </a:r>
            <a:r>
              <a:rPr lang="en-US" sz="2400" i="1" kern="100" dirty="0">
                <a:effectLst/>
                <a:latin typeface="Cascadia Code" panose="020B0609020000020004" pitchFamily="49" charset="0"/>
                <a:ea typeface="Aptos" panose="020B0004020202020204" pitchFamily="34" charset="0"/>
                <a:cs typeface="Times New Roman" panose="02020603050405020304" pitchFamily="18" charset="0"/>
              </a:rPr>
              <a:t>&lt;&lt;data&gt;&gt;</a:t>
            </a:r>
            <a:r>
              <a:rPr lang="en-US" sz="2800" kern="100" dirty="0">
                <a:effectLst/>
                <a:latin typeface="Cascadia Code" panose="020B0609020000020004" pitchFamily="49" charset="0"/>
                <a:ea typeface="Aptos" panose="020B0004020202020204" pitchFamily="34" charset="0"/>
                <a:cs typeface="Times New Roman" panose="02020603050405020304" pitchFamily="18" charset="0"/>
              </a:rPr>
              <a:t>);</a:t>
            </a:r>
          </a:p>
          <a:p>
            <a:pPr marL="0" marR="0">
              <a:lnSpc>
                <a:spcPct val="115000"/>
              </a:lnSpc>
              <a:spcBef>
                <a:spcPts val="0"/>
              </a:spcBef>
              <a:spcAft>
                <a:spcPts val="0"/>
              </a:spcAft>
              <a:buNone/>
            </a:pPr>
            <a:endParaRPr lang="en-US" sz="2800" kern="100" dirty="0">
              <a:effectLst/>
              <a:latin typeface="Cascadia Code" panose="020B0609020000020004" pitchFamily="49" charset="0"/>
              <a:ea typeface="Aptos" panose="020B0004020202020204" pitchFamily="34" charset="0"/>
              <a:cs typeface="Times New Roman" panose="02020603050405020304" pitchFamily="18" charset="0"/>
            </a:endParaRPr>
          </a:p>
          <a:p>
            <a:pPr marL="0" marR="0">
              <a:lnSpc>
                <a:spcPct val="115000"/>
              </a:lnSpc>
              <a:spcBef>
                <a:spcPts val="0"/>
              </a:spcBef>
              <a:spcAft>
                <a:spcPts val="0"/>
              </a:spcAft>
              <a:buNone/>
            </a:pPr>
            <a:r>
              <a:rPr lang="en-US" sz="2800" b="1" kern="100" dirty="0">
                <a:solidFill>
                  <a:srgbClr val="7030A0"/>
                </a:solidFill>
                <a:effectLst/>
                <a:latin typeface="Cascadia Code" panose="020B0609020000020004" pitchFamily="49" charset="0"/>
                <a:ea typeface="Aptos" panose="020B0004020202020204" pitchFamily="34" charset="0"/>
                <a:cs typeface="Times New Roman" panose="02020603050405020304" pitchFamily="18" charset="0"/>
              </a:rPr>
              <a:t>  </a:t>
            </a:r>
            <a:r>
              <a:rPr lang="en-US" sz="2800" b="1" kern="100" dirty="0" err="1">
                <a:solidFill>
                  <a:srgbClr val="7030A0"/>
                </a:solidFill>
                <a:effectLst/>
                <a:latin typeface="Cascadia Code" panose="020B0609020000020004" pitchFamily="49" charset="0"/>
                <a:ea typeface="Aptos" panose="020B0004020202020204" pitchFamily="34" charset="0"/>
                <a:cs typeface="Times New Roman" panose="02020603050405020304" pitchFamily="18" charset="0"/>
              </a:rPr>
              <a:t>test.loadAndAnalyzeFile</a:t>
            </a:r>
            <a:r>
              <a:rPr lang="en-US" sz="2800" b="1" kern="100" dirty="0">
                <a:solidFill>
                  <a:srgbClr val="7030A0"/>
                </a:solidFill>
                <a:effectLst/>
                <a:latin typeface="Cascadia Code" panose="020B0609020000020004" pitchFamily="49" charset="0"/>
                <a:ea typeface="Aptos" panose="020B0004020202020204" pitchFamily="34" charset="0"/>
                <a:cs typeface="Times New Roman" panose="02020603050405020304" pitchFamily="18" charset="0"/>
              </a:rPr>
              <a:t>("lab04c1.dat");</a:t>
            </a:r>
          </a:p>
          <a:p>
            <a:pPr marL="0" marR="0">
              <a:lnSpc>
                <a:spcPct val="115000"/>
              </a:lnSpc>
              <a:spcBef>
                <a:spcPts val="0"/>
              </a:spcBef>
              <a:spcAft>
                <a:spcPts val="0"/>
              </a:spcAft>
              <a:buNone/>
            </a:pPr>
            <a:endParaRPr lang="en-US" sz="2800" b="1" kern="100" dirty="0">
              <a:effectLst/>
              <a:latin typeface="Cascadia Code" panose="020B0609020000020004" pitchFamily="49" charset="0"/>
              <a:ea typeface="Aptos" panose="020B0004020202020204" pitchFamily="34" charset="0"/>
              <a:cs typeface="Times New Roman" panose="02020603050405020304" pitchFamily="18" charset="0"/>
            </a:endParaRPr>
          </a:p>
          <a:p>
            <a:pPr marL="0" marR="0">
              <a:lnSpc>
                <a:spcPct val="115000"/>
              </a:lnSpc>
              <a:spcBef>
                <a:spcPts val="0"/>
              </a:spcBef>
              <a:spcAft>
                <a:spcPts val="0"/>
              </a:spcAft>
              <a:buNone/>
            </a:pPr>
            <a:r>
              <a:rPr lang="en-US" sz="2800" i="1" kern="100" dirty="0">
                <a:effectLst/>
                <a:latin typeface="Cascadia Code" panose="020B0609020000020004" pitchFamily="49" charset="0"/>
                <a:ea typeface="Aptos" panose="020B0004020202020204" pitchFamily="34" charset="0"/>
                <a:cs typeface="Times New Roman" panose="02020603050405020304" pitchFamily="18" charset="0"/>
              </a:rPr>
              <a:t>  &lt;&lt; the rest of the main method &gt;&gt;</a:t>
            </a:r>
          </a:p>
          <a:p>
            <a:pPr marL="0" marR="0">
              <a:lnSpc>
                <a:spcPct val="115000"/>
              </a:lnSpc>
              <a:spcBef>
                <a:spcPts val="0"/>
              </a:spcBef>
              <a:spcAft>
                <a:spcPts val="0"/>
              </a:spcAft>
              <a:buNone/>
            </a:pPr>
            <a:endParaRPr lang="en-US" sz="1600" b="1" kern="100" dirty="0">
              <a:solidFill>
                <a:schemeClr val="bg2">
                  <a:lumMod val="75000"/>
                </a:schemeClr>
              </a:solidFill>
              <a:latin typeface="Cascadia Code" panose="020B0609020000020004" pitchFamily="49" charset="0"/>
              <a:cs typeface="Times New Roman" panose="02020603050405020304" pitchFamily="18" charset="0"/>
            </a:endParaRPr>
          </a:p>
          <a:p>
            <a:pPr marL="0" marR="0">
              <a:lnSpc>
                <a:spcPct val="115000"/>
              </a:lnSpc>
              <a:spcBef>
                <a:spcPts val="0"/>
              </a:spcBef>
              <a:spcAft>
                <a:spcPts val="0"/>
              </a:spcAft>
              <a:buNone/>
            </a:pPr>
            <a:r>
              <a:rPr lang="en-US" sz="2800" kern="100" dirty="0">
                <a:solidFill>
                  <a:schemeClr val="bg2">
                    <a:lumMod val="75000"/>
                  </a:schemeClr>
                </a:solidFill>
                <a:latin typeface="Cascadia Code" panose="020B0609020000020004" pitchFamily="49" charset="0"/>
                <a:cs typeface="Times New Roman" panose="02020603050405020304" pitchFamily="18" charset="0"/>
              </a:rPr>
              <a:t>}</a:t>
            </a:r>
          </a:p>
        </p:txBody>
      </p:sp>
      <p:sp>
        <p:nvSpPr>
          <p:cNvPr id="3" name="TextBox 2">
            <a:extLst>
              <a:ext uri="{FF2B5EF4-FFF2-40B4-BE49-F238E27FC236}">
                <a16:creationId xmlns:a16="http://schemas.microsoft.com/office/drawing/2014/main" id="{9ACC7C91-1888-C762-15A2-89A0FDED628E}"/>
              </a:ext>
            </a:extLst>
          </p:cNvPr>
          <p:cNvSpPr txBox="1"/>
          <p:nvPr/>
        </p:nvSpPr>
        <p:spPr>
          <a:xfrm>
            <a:off x="0" y="1563030"/>
            <a:ext cx="9144000" cy="584775"/>
          </a:xfrm>
          <a:prstGeom prst="rect">
            <a:avLst/>
          </a:prstGeom>
          <a:noFill/>
        </p:spPr>
        <p:txBody>
          <a:bodyPr wrap="square">
            <a:spAutoFit/>
          </a:bodyPr>
          <a:lstStyle/>
          <a:p>
            <a:pPr algn="ctr"/>
            <a:r>
              <a:rPr lang="en-US" sz="3200" kern="1200" dirty="0">
                <a:solidFill>
                  <a:srgbClr val="7030A0"/>
                </a:solidFill>
                <a:effectLst/>
                <a:latin typeface="Times New Roman" pitchFamily="18" charset="0"/>
                <a:ea typeface="+mn-ea"/>
                <a:cs typeface="+mn-cs"/>
              </a:rPr>
              <a:t>The </a:t>
            </a:r>
            <a:r>
              <a:rPr lang="en-US" sz="3200" dirty="0">
                <a:solidFill>
                  <a:srgbClr val="7030A0"/>
                </a:solidFill>
                <a:latin typeface="Cascadia Code" panose="020B0609020000020004" pitchFamily="49" charset="0"/>
                <a:ea typeface="+mn-ea"/>
                <a:cs typeface="Cascadia Code" panose="020B0609020000020004" pitchFamily="49" charset="0"/>
              </a:rPr>
              <a:t>m</a:t>
            </a:r>
            <a:r>
              <a:rPr lang="en-US" sz="3200" kern="1200" dirty="0">
                <a:solidFill>
                  <a:srgbClr val="7030A0"/>
                </a:solidFill>
                <a:effectLst/>
                <a:latin typeface="Cascadia Code" panose="020B0609020000020004" pitchFamily="49" charset="0"/>
                <a:cs typeface="Cascadia Code" panose="020B0609020000020004" pitchFamily="49" charset="0"/>
              </a:rPr>
              <a:t>ain</a:t>
            </a:r>
            <a:r>
              <a:rPr lang="en-US" sz="3200" kern="1200" dirty="0">
                <a:solidFill>
                  <a:srgbClr val="7030A0"/>
                </a:solidFill>
                <a:effectLst/>
                <a:latin typeface="Times New Roman" pitchFamily="18" charset="0"/>
                <a:ea typeface="+mn-ea"/>
                <a:cs typeface="+mn-cs"/>
              </a:rPr>
              <a:t> method called </a:t>
            </a:r>
            <a:r>
              <a:rPr lang="en-US" sz="3200" kern="100" dirty="0" err="1">
                <a:solidFill>
                  <a:srgbClr val="7030A0"/>
                </a:solidFill>
                <a:latin typeface="Cascadia Code" panose="020B0609020000020004" pitchFamily="49" charset="0"/>
                <a:ea typeface="Aptos" panose="020B0004020202020204" pitchFamily="34" charset="0"/>
                <a:cs typeface="Times New Roman" panose="02020603050405020304" pitchFamily="18" charset="0"/>
              </a:rPr>
              <a:t>loadAndAnalyzeFile</a:t>
            </a:r>
            <a:r>
              <a:rPr lang="en-US" sz="3200" kern="1200" dirty="0">
                <a:solidFill>
                  <a:srgbClr val="7030A0"/>
                </a:solidFill>
                <a:effectLst/>
                <a:latin typeface="Times New Roman" pitchFamily="18" charset="0"/>
                <a:ea typeface="+mn-ea"/>
                <a:cs typeface="+mn-cs"/>
              </a:rPr>
              <a:t> </a:t>
            </a:r>
          </a:p>
        </p:txBody>
      </p:sp>
    </p:spTree>
    <p:extLst>
      <p:ext uri="{BB962C8B-B14F-4D97-AF65-F5344CB8AC3E}">
        <p14:creationId xmlns:p14="http://schemas.microsoft.com/office/powerpoint/2010/main" val="4066403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2A80878-F6C1-68EE-CCC2-5D363E9AE677}"/>
            </a:ext>
          </a:extLst>
        </p:cNvPr>
        <p:cNvGrpSpPr/>
        <p:nvPr/>
      </p:nvGrpSpPr>
      <p:grpSpPr>
        <a:xfrm>
          <a:off x="0" y="0"/>
          <a:ext cx="0" cy="0"/>
          <a:chOff x="0" y="0"/>
          <a:chExt cx="0" cy="0"/>
        </a:xfrm>
      </p:grpSpPr>
      <p:sp>
        <p:nvSpPr>
          <p:cNvPr id="57346" name="AutoShape 2">
            <a:extLst>
              <a:ext uri="{FF2B5EF4-FFF2-40B4-BE49-F238E27FC236}">
                <a16:creationId xmlns:a16="http://schemas.microsoft.com/office/drawing/2014/main" id="{4FDC5E83-E11E-E004-5BC7-5886773B5DB7}"/>
              </a:ext>
            </a:extLst>
          </p:cNvPr>
          <p:cNvSpPr>
            <a:spLocks noGrp="1" noChangeArrowheads="1"/>
          </p:cNvSpPr>
          <p:nvPr>
            <p:ph type="title"/>
          </p:nvPr>
        </p:nvSpPr>
        <p:spPr>
          <a:xfrm>
            <a:off x="0" y="76200"/>
            <a:ext cx="9144000" cy="1143000"/>
          </a:xfrm>
        </p:spPr>
        <p:txBody>
          <a:bodyPr/>
          <a:lstStyle/>
          <a:p>
            <a:pPr eaLnBrk="1" hangingPunct="1"/>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rPr>
              <a:t>Tracing an error to its source</a:t>
            </a:r>
            <a:endPar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ea typeface="+mn-ea"/>
              <a:cs typeface="+mn-cs"/>
            </a:endParaRPr>
          </a:p>
        </p:txBody>
      </p:sp>
      <p:sp>
        <p:nvSpPr>
          <p:cNvPr id="2" name="Content Placeholder 1">
            <a:extLst>
              <a:ext uri="{FF2B5EF4-FFF2-40B4-BE49-F238E27FC236}">
                <a16:creationId xmlns:a16="http://schemas.microsoft.com/office/drawing/2014/main" id="{B9840DC7-2752-FB55-8467-94E0C7FD5A98}"/>
              </a:ext>
            </a:extLst>
          </p:cNvPr>
          <p:cNvSpPr>
            <a:spLocks noGrp="1"/>
          </p:cNvSpPr>
          <p:nvPr>
            <p:ph idx="1"/>
          </p:nvPr>
        </p:nvSpPr>
        <p:spPr>
          <a:xfrm>
            <a:off x="0" y="2209800"/>
            <a:ext cx="9067800" cy="4648200"/>
          </a:xfrm>
        </p:spPr>
        <p:txBody>
          <a:bodyPr/>
          <a:lstStyle/>
          <a:p>
            <a:pPr marL="0" marR="0">
              <a:lnSpc>
                <a:spcPct val="115000"/>
              </a:lnSpc>
              <a:spcBef>
                <a:spcPts val="0"/>
              </a:spcBef>
              <a:spcAft>
                <a:spcPts val="0"/>
              </a:spcAft>
              <a:buNone/>
            </a:pPr>
            <a:r>
              <a:rPr lang="en-US" sz="2500" b="1" kern="100" dirty="0">
                <a:effectLst/>
                <a:latin typeface="Cascadia Code" panose="020B0609020000020004" pitchFamily="49" charset="0"/>
                <a:ea typeface="Aptos" panose="020B0004020202020204" pitchFamily="34" charset="0"/>
                <a:cs typeface="Times New Roman" panose="02020603050405020304" pitchFamily="18" charset="0"/>
              </a:rPr>
              <a:t>public void </a:t>
            </a:r>
            <a:r>
              <a:rPr lang="en-US" sz="2500" b="1" kern="100" dirty="0" err="1">
                <a:effectLst/>
                <a:latin typeface="Cascadia Code" panose="020B0609020000020004" pitchFamily="49" charset="0"/>
                <a:ea typeface="Aptos" panose="020B0004020202020204" pitchFamily="34" charset="0"/>
                <a:cs typeface="Times New Roman" panose="02020603050405020304" pitchFamily="18" charset="0"/>
              </a:rPr>
              <a:t>loadAndAnalyzeFile</a:t>
            </a:r>
            <a:r>
              <a:rPr lang="en-US" sz="2500" b="1" kern="100" dirty="0">
                <a:effectLst/>
                <a:latin typeface="Cascadia Code" panose="020B0609020000020004" pitchFamily="49" charset="0"/>
                <a:ea typeface="Aptos" panose="020B0004020202020204" pitchFamily="34" charset="0"/>
                <a:cs typeface="Times New Roman" panose="02020603050405020304" pitchFamily="18" charset="0"/>
              </a:rPr>
              <a:t>(String </a:t>
            </a:r>
            <a:r>
              <a:rPr lang="en-US" sz="2500" b="1" kern="100" dirty="0" err="1">
                <a:effectLst/>
                <a:latin typeface="Cascadia Code" panose="020B0609020000020004" pitchFamily="49" charset="0"/>
                <a:ea typeface="Aptos" panose="020B0004020202020204" pitchFamily="34" charset="0"/>
                <a:cs typeface="Times New Roman" panose="02020603050405020304" pitchFamily="18" charset="0"/>
              </a:rPr>
              <a:t>fileName</a:t>
            </a:r>
            <a:r>
              <a:rPr lang="en-US" sz="2500" b="1" kern="100" dirty="0">
                <a:effectLst/>
                <a:latin typeface="Cascadia Code" panose="020B0609020000020004" pitchFamily="49" charset="0"/>
                <a:ea typeface="Aptos" panose="020B0004020202020204" pitchFamily="34" charset="0"/>
                <a:cs typeface="Times New Roman" panose="02020603050405020304" pitchFamily="18" charset="0"/>
              </a:rPr>
              <a:t>) </a:t>
            </a:r>
          </a:p>
          <a:p>
            <a:pPr marL="0" marR="0">
              <a:lnSpc>
                <a:spcPct val="115000"/>
              </a:lnSpc>
              <a:spcBef>
                <a:spcPts val="0"/>
              </a:spcBef>
              <a:spcAft>
                <a:spcPts val="0"/>
              </a:spcAft>
              <a:buNone/>
            </a:pPr>
            <a:r>
              <a:rPr lang="en-US" sz="2500" b="1" kern="100" dirty="0">
                <a:latin typeface="Cascadia Code" panose="020B0609020000020004" pitchFamily="49" charset="0"/>
                <a:ea typeface="Aptos" panose="020B0004020202020204" pitchFamily="34" charset="0"/>
                <a:cs typeface="Times New Roman" panose="02020603050405020304" pitchFamily="18" charset="0"/>
              </a:rPr>
              <a:t>                   </a:t>
            </a:r>
            <a:r>
              <a:rPr lang="en-US" sz="2500" b="1" kern="100" dirty="0">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throws </a:t>
            </a:r>
            <a:r>
              <a:rPr lang="en-US" sz="2500" b="1" kern="100" dirty="0" err="1">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FileNotFoundException</a:t>
            </a:r>
            <a:endParaRPr lang="en-US" sz="2500" b="1" kern="100" dirty="0">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endParaRPr>
          </a:p>
          <a:p>
            <a:pPr marL="0" marR="0">
              <a:lnSpc>
                <a:spcPct val="115000"/>
              </a:lnSpc>
              <a:spcBef>
                <a:spcPts val="0"/>
              </a:spcBef>
              <a:spcAft>
                <a:spcPts val="0"/>
              </a:spcAft>
              <a:buNone/>
            </a:pPr>
            <a:r>
              <a:rPr lang="en-US" sz="2500" b="1" kern="100" dirty="0">
                <a:effectLst/>
                <a:latin typeface="Cascadia Code" panose="020B0609020000020004" pitchFamily="49" charset="0"/>
                <a:ea typeface="Aptos" panose="020B0004020202020204" pitchFamily="34" charset="0"/>
                <a:cs typeface="Times New Roman" panose="02020603050405020304" pitchFamily="18" charset="0"/>
              </a:rPr>
              <a:t>{ </a:t>
            </a:r>
          </a:p>
          <a:p>
            <a:pPr marL="0" marR="0">
              <a:lnSpc>
                <a:spcPct val="115000"/>
              </a:lnSpc>
              <a:spcBef>
                <a:spcPts val="0"/>
              </a:spcBef>
              <a:spcAft>
                <a:spcPts val="0"/>
              </a:spcAft>
              <a:buNone/>
            </a:pPr>
            <a:r>
              <a:rPr lang="en-US" sz="2500" b="1" kern="100" dirty="0">
                <a:effectLst/>
                <a:latin typeface="Cascadia Code" panose="020B0609020000020004" pitchFamily="49" charset="0"/>
                <a:ea typeface="Aptos" panose="020B0004020202020204" pitchFamily="34" charset="0"/>
                <a:cs typeface="Times New Roman" panose="02020603050405020304" pitchFamily="18" charset="0"/>
              </a:rPr>
              <a:t>   Scanner file = </a:t>
            </a:r>
          </a:p>
          <a:p>
            <a:pPr marL="0" marR="0">
              <a:lnSpc>
                <a:spcPct val="115000"/>
              </a:lnSpc>
              <a:spcBef>
                <a:spcPts val="0"/>
              </a:spcBef>
              <a:spcAft>
                <a:spcPts val="0"/>
              </a:spcAft>
              <a:buNone/>
            </a:pPr>
            <a:r>
              <a:rPr lang="en-US" sz="2500" b="1" kern="100" dirty="0">
                <a:latin typeface="Cascadia Code" panose="020B0609020000020004" pitchFamily="49" charset="0"/>
                <a:ea typeface="Aptos" panose="020B0004020202020204" pitchFamily="34" charset="0"/>
                <a:cs typeface="Times New Roman" panose="02020603050405020304" pitchFamily="18" charset="0"/>
              </a:rPr>
              <a:t>               </a:t>
            </a:r>
            <a:r>
              <a:rPr lang="en-US" sz="2500" b="1" kern="100" dirty="0">
                <a:solidFill>
                  <a:srgbClr val="7030A0"/>
                </a:solidFill>
                <a:effectLst/>
                <a:latin typeface="Cascadia Code" panose="020B0609020000020004" pitchFamily="49" charset="0"/>
                <a:ea typeface="Aptos" panose="020B0004020202020204" pitchFamily="34" charset="0"/>
                <a:cs typeface="Times New Roman" panose="02020603050405020304" pitchFamily="18" charset="0"/>
              </a:rPr>
              <a:t>new Scanner(new File(</a:t>
            </a:r>
            <a:r>
              <a:rPr lang="en-US" sz="2500" b="1" kern="100" dirty="0" err="1">
                <a:solidFill>
                  <a:srgbClr val="7030A0"/>
                </a:solidFill>
                <a:effectLst/>
                <a:latin typeface="Cascadia Code" panose="020B0609020000020004" pitchFamily="49" charset="0"/>
                <a:ea typeface="Aptos" panose="020B0004020202020204" pitchFamily="34" charset="0"/>
                <a:cs typeface="Times New Roman" panose="02020603050405020304" pitchFamily="18" charset="0"/>
              </a:rPr>
              <a:t>fileName</a:t>
            </a:r>
            <a:r>
              <a:rPr lang="en-US" sz="2500" b="1" kern="100" dirty="0">
                <a:solidFill>
                  <a:srgbClr val="7030A0"/>
                </a:solidFill>
                <a:effectLst/>
                <a:latin typeface="Cascadia Code" panose="020B0609020000020004" pitchFamily="49" charset="0"/>
                <a:ea typeface="Aptos" panose="020B0004020202020204" pitchFamily="34" charset="0"/>
                <a:cs typeface="Times New Roman" panose="02020603050405020304" pitchFamily="18" charset="0"/>
              </a:rPr>
              <a:t>));</a:t>
            </a:r>
          </a:p>
          <a:p>
            <a:pPr marL="0" marR="0">
              <a:lnSpc>
                <a:spcPct val="115000"/>
              </a:lnSpc>
              <a:spcBef>
                <a:spcPts val="0"/>
              </a:spcBef>
              <a:spcAft>
                <a:spcPts val="0"/>
              </a:spcAft>
              <a:buNone/>
            </a:pPr>
            <a:r>
              <a:rPr lang="en-US" sz="2500" b="1" kern="100" dirty="0">
                <a:effectLst/>
                <a:latin typeface="Cascadia Code" panose="020B0609020000020004" pitchFamily="49" charset="0"/>
                <a:ea typeface="Aptos" panose="020B0004020202020204" pitchFamily="34" charset="0"/>
                <a:cs typeface="Times New Roman" panose="02020603050405020304" pitchFamily="18" charset="0"/>
              </a:rPr>
              <a:t>   </a:t>
            </a:r>
          </a:p>
          <a:p>
            <a:pPr marL="0" marR="0">
              <a:lnSpc>
                <a:spcPct val="115000"/>
              </a:lnSpc>
              <a:spcBef>
                <a:spcPts val="0"/>
              </a:spcBef>
              <a:spcAft>
                <a:spcPts val="0"/>
              </a:spcAft>
              <a:buNone/>
            </a:pPr>
            <a:r>
              <a:rPr lang="en-US" sz="2500" b="1" kern="100" dirty="0">
                <a:latin typeface="Cascadia Code" panose="020B0609020000020004" pitchFamily="49" charset="0"/>
                <a:ea typeface="Aptos" panose="020B0004020202020204" pitchFamily="34" charset="0"/>
                <a:cs typeface="Times New Roman" panose="02020603050405020304" pitchFamily="18" charset="0"/>
              </a:rPr>
              <a:t> </a:t>
            </a:r>
            <a:r>
              <a:rPr lang="en-US" sz="2500" b="1" kern="100" dirty="0">
                <a:effectLst/>
                <a:latin typeface="Cascadia Code" panose="020B0609020000020004" pitchFamily="49" charset="0"/>
                <a:ea typeface="Aptos" panose="020B0004020202020204" pitchFamily="34" charset="0"/>
                <a:cs typeface="Times New Roman" panose="02020603050405020304" pitchFamily="18" charset="0"/>
              </a:rPr>
              <a:t>  </a:t>
            </a:r>
            <a:r>
              <a:rPr lang="en-US" sz="2500" kern="100" dirty="0">
                <a:effectLst/>
                <a:latin typeface="Cascadia Code" panose="020B0609020000020004" pitchFamily="49" charset="0"/>
                <a:ea typeface="Aptos" panose="020B0004020202020204" pitchFamily="34" charset="0"/>
                <a:cs typeface="Times New Roman" panose="02020603050405020304" pitchFamily="18" charset="0"/>
              </a:rPr>
              <a:t>while(</a:t>
            </a:r>
            <a:r>
              <a:rPr lang="en-US" sz="2500" kern="100" dirty="0" err="1">
                <a:effectLst/>
                <a:latin typeface="Cascadia Code" panose="020B0609020000020004" pitchFamily="49" charset="0"/>
                <a:ea typeface="Aptos" panose="020B0004020202020204" pitchFamily="34" charset="0"/>
                <a:cs typeface="Times New Roman" panose="02020603050405020304" pitchFamily="18" charset="0"/>
              </a:rPr>
              <a:t>file.hasNextLine</a:t>
            </a:r>
            <a:r>
              <a:rPr lang="en-US" sz="2500" kern="100" dirty="0">
                <a:effectLst/>
                <a:latin typeface="Cascadia Code" panose="020B0609020000020004" pitchFamily="49" charset="0"/>
                <a:ea typeface="Aptos" panose="020B0004020202020204" pitchFamily="34" charset="0"/>
                <a:cs typeface="Times New Roman" panose="02020603050405020304" pitchFamily="18" charset="0"/>
              </a:rPr>
              <a:t>()) {</a:t>
            </a:r>
          </a:p>
          <a:p>
            <a:pPr marL="0" marR="0">
              <a:lnSpc>
                <a:spcPct val="115000"/>
              </a:lnSpc>
              <a:spcBef>
                <a:spcPts val="0"/>
              </a:spcBef>
              <a:spcAft>
                <a:spcPts val="0"/>
              </a:spcAft>
              <a:buNone/>
            </a:pPr>
            <a:r>
              <a:rPr lang="en-US" sz="2500" kern="100" dirty="0">
                <a:effectLst/>
                <a:latin typeface="Cascadia Code" panose="020B0609020000020004" pitchFamily="49" charset="0"/>
                <a:ea typeface="Aptos" panose="020B0004020202020204" pitchFamily="34" charset="0"/>
                <a:cs typeface="Times New Roman" panose="02020603050405020304" pitchFamily="18" charset="0"/>
              </a:rPr>
              <a:t>      String line = </a:t>
            </a:r>
            <a:r>
              <a:rPr lang="en-US" sz="2500" kern="100" dirty="0" err="1">
                <a:effectLst/>
                <a:latin typeface="Cascadia Code" panose="020B0609020000020004" pitchFamily="49" charset="0"/>
                <a:ea typeface="Aptos" panose="020B0004020202020204" pitchFamily="34" charset="0"/>
                <a:cs typeface="Times New Roman" panose="02020603050405020304" pitchFamily="18" charset="0"/>
              </a:rPr>
              <a:t>file.nextLine</a:t>
            </a:r>
            <a:r>
              <a:rPr lang="en-US" sz="2500" kern="100" dirty="0">
                <a:effectLst/>
                <a:latin typeface="Cascadia Code" panose="020B0609020000020004" pitchFamily="49" charset="0"/>
                <a:ea typeface="Aptos" panose="020B0004020202020204" pitchFamily="34" charset="0"/>
                <a:cs typeface="Times New Roman" panose="02020603050405020304" pitchFamily="18" charset="0"/>
              </a:rPr>
              <a:t>();</a:t>
            </a:r>
          </a:p>
          <a:p>
            <a:pPr marL="0" marR="0">
              <a:lnSpc>
                <a:spcPct val="115000"/>
              </a:lnSpc>
              <a:spcBef>
                <a:spcPts val="0"/>
              </a:spcBef>
              <a:spcAft>
                <a:spcPts val="0"/>
              </a:spcAft>
              <a:buNone/>
            </a:pPr>
            <a:r>
              <a:rPr lang="en-US" sz="2500" b="1" kern="100" dirty="0">
                <a:solidFill>
                  <a:schemeClr val="bg2">
                    <a:lumMod val="75000"/>
                  </a:schemeClr>
                </a:solidFill>
                <a:latin typeface="Cascadia Code" panose="020B0609020000020004" pitchFamily="49" charset="0"/>
                <a:cs typeface="Times New Roman" panose="02020603050405020304" pitchFamily="18" charset="0"/>
              </a:rPr>
              <a:t>      ...</a:t>
            </a:r>
            <a:endParaRPr lang="en-US" sz="2500" kern="100" dirty="0">
              <a:solidFill>
                <a:schemeClr val="bg2">
                  <a:lumMod val="75000"/>
                </a:schemeClr>
              </a:solidFill>
              <a:latin typeface="Cascadia Code" panose="020B0609020000020004" pitchFamily="49" charset="0"/>
              <a:cs typeface="Times New Roman" panose="02020603050405020304" pitchFamily="18" charset="0"/>
            </a:endParaRPr>
          </a:p>
        </p:txBody>
      </p:sp>
      <p:sp>
        <p:nvSpPr>
          <p:cNvPr id="7" name="TextBox 6">
            <a:extLst>
              <a:ext uri="{FF2B5EF4-FFF2-40B4-BE49-F238E27FC236}">
                <a16:creationId xmlns:a16="http://schemas.microsoft.com/office/drawing/2014/main" id="{00972F3C-B326-69A9-9EB0-2CAC4DC7F0A4}"/>
              </a:ext>
            </a:extLst>
          </p:cNvPr>
          <p:cNvSpPr txBox="1"/>
          <p:nvPr/>
        </p:nvSpPr>
        <p:spPr>
          <a:xfrm>
            <a:off x="-76200" y="1299575"/>
            <a:ext cx="9144000" cy="584775"/>
          </a:xfrm>
          <a:prstGeom prst="rect">
            <a:avLst/>
          </a:prstGeom>
          <a:noFill/>
        </p:spPr>
        <p:txBody>
          <a:bodyPr wrap="square">
            <a:spAutoFit/>
          </a:bodyPr>
          <a:lstStyle/>
          <a:p>
            <a:pPr algn="ctr"/>
            <a:r>
              <a:rPr lang="en-US" sz="3200" kern="1200" dirty="0">
                <a:solidFill>
                  <a:srgbClr val="7030A0"/>
                </a:solidFill>
                <a:effectLst/>
                <a:latin typeface="Times New Roman" pitchFamily="18" charset="0"/>
                <a:ea typeface="+mn-ea"/>
                <a:cs typeface="+mn-cs"/>
              </a:rPr>
              <a:t>which called the </a:t>
            </a:r>
            <a:r>
              <a:rPr lang="en-US" sz="3200" kern="100" dirty="0">
                <a:solidFill>
                  <a:srgbClr val="7030A0"/>
                </a:solidFill>
                <a:latin typeface="Cascadia Code" panose="020B0609020000020004" pitchFamily="49" charset="0"/>
                <a:ea typeface="Aptos" panose="020B0004020202020204" pitchFamily="34" charset="0"/>
                <a:cs typeface="Times New Roman" panose="02020603050405020304" pitchFamily="18" charset="0"/>
              </a:rPr>
              <a:t>Scanner</a:t>
            </a:r>
            <a:r>
              <a:rPr lang="en-US" sz="3200" kern="1200" dirty="0">
                <a:solidFill>
                  <a:srgbClr val="7030A0"/>
                </a:solidFill>
                <a:effectLst/>
                <a:latin typeface="Times New Roman" pitchFamily="18" charset="0"/>
                <a:ea typeface="+mn-ea"/>
                <a:cs typeface="+mn-cs"/>
              </a:rPr>
              <a:t> constructor:</a:t>
            </a:r>
          </a:p>
        </p:txBody>
      </p:sp>
    </p:spTree>
    <p:extLst>
      <p:ext uri="{BB962C8B-B14F-4D97-AF65-F5344CB8AC3E}">
        <p14:creationId xmlns:p14="http://schemas.microsoft.com/office/powerpoint/2010/main" val="25547671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DCF1C38-243A-28D5-7479-D6471D2F7692}"/>
            </a:ext>
          </a:extLst>
        </p:cNvPr>
        <p:cNvGrpSpPr/>
        <p:nvPr/>
      </p:nvGrpSpPr>
      <p:grpSpPr>
        <a:xfrm>
          <a:off x="0" y="0"/>
          <a:ext cx="0" cy="0"/>
          <a:chOff x="0" y="0"/>
          <a:chExt cx="0" cy="0"/>
        </a:xfrm>
      </p:grpSpPr>
      <p:sp>
        <p:nvSpPr>
          <p:cNvPr id="57346" name="AutoShape 2">
            <a:extLst>
              <a:ext uri="{FF2B5EF4-FFF2-40B4-BE49-F238E27FC236}">
                <a16:creationId xmlns:a16="http://schemas.microsoft.com/office/drawing/2014/main" id="{F5192305-5EBE-B416-7641-FCE9E644839A}"/>
              </a:ext>
            </a:extLst>
          </p:cNvPr>
          <p:cNvSpPr>
            <a:spLocks noGrp="1" noChangeArrowheads="1"/>
          </p:cNvSpPr>
          <p:nvPr>
            <p:ph type="title"/>
          </p:nvPr>
        </p:nvSpPr>
        <p:spPr>
          <a:xfrm>
            <a:off x="0" y="76200"/>
            <a:ext cx="9144000" cy="1143000"/>
          </a:xfrm>
        </p:spPr>
        <p:txBody>
          <a:bodyPr/>
          <a:lstStyle/>
          <a:p>
            <a:pPr eaLnBrk="1" hangingPunct="1"/>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rPr>
              <a:t>Tracing an error to its source</a:t>
            </a:r>
            <a:endPar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ea typeface="+mn-ea"/>
              <a:cs typeface="+mn-cs"/>
            </a:endParaRPr>
          </a:p>
        </p:txBody>
      </p:sp>
      <p:sp>
        <p:nvSpPr>
          <p:cNvPr id="2" name="Content Placeholder 1">
            <a:extLst>
              <a:ext uri="{FF2B5EF4-FFF2-40B4-BE49-F238E27FC236}">
                <a16:creationId xmlns:a16="http://schemas.microsoft.com/office/drawing/2014/main" id="{0DCE840F-28F5-C02D-6ABC-55A8C5773639}"/>
              </a:ext>
            </a:extLst>
          </p:cNvPr>
          <p:cNvSpPr>
            <a:spLocks noGrp="1"/>
          </p:cNvSpPr>
          <p:nvPr>
            <p:ph idx="1"/>
          </p:nvPr>
        </p:nvSpPr>
        <p:spPr>
          <a:xfrm>
            <a:off x="0" y="2209800"/>
            <a:ext cx="9067800" cy="4648200"/>
          </a:xfrm>
        </p:spPr>
        <p:txBody>
          <a:bodyPr/>
          <a:lstStyle/>
          <a:p>
            <a:pPr marL="0" marR="0">
              <a:lnSpc>
                <a:spcPct val="115000"/>
              </a:lnSpc>
              <a:spcBef>
                <a:spcPts val="0"/>
              </a:spcBef>
              <a:spcAft>
                <a:spcPts val="0"/>
              </a:spcAft>
              <a:buNone/>
            </a:pPr>
            <a:r>
              <a:rPr lang="en-US" sz="2400" b="1" kern="100" dirty="0">
                <a:effectLst/>
                <a:latin typeface="Cascadia Code" panose="020B0609020000020004" pitchFamily="49" charset="0"/>
                <a:ea typeface="Aptos" panose="020B0004020202020204" pitchFamily="34" charset="0"/>
                <a:cs typeface="Times New Roman" panose="02020603050405020304" pitchFamily="18" charset="0"/>
              </a:rPr>
              <a:t>public Scanner(File source) </a:t>
            </a:r>
            <a:br>
              <a:rPr lang="en-US" sz="2400" b="1" kern="100" dirty="0">
                <a:effectLst/>
                <a:latin typeface="Cascadia Code" panose="020B0609020000020004" pitchFamily="49" charset="0"/>
                <a:ea typeface="Aptos" panose="020B0004020202020204" pitchFamily="34" charset="0"/>
                <a:cs typeface="Times New Roman" panose="02020603050405020304" pitchFamily="18" charset="0"/>
              </a:rPr>
            </a:br>
            <a:r>
              <a:rPr lang="en-US" sz="2400" b="1" kern="100" dirty="0">
                <a:effectLst/>
                <a:latin typeface="Cascadia Code" panose="020B0609020000020004" pitchFamily="49" charset="0"/>
                <a:ea typeface="Aptos" panose="020B0004020202020204" pitchFamily="34" charset="0"/>
                <a:cs typeface="Times New Roman" panose="02020603050405020304" pitchFamily="18" charset="0"/>
              </a:rPr>
              <a:t>                  </a:t>
            </a:r>
            <a:r>
              <a:rPr lang="en-US" sz="2400" b="1" kern="100" dirty="0">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throws </a:t>
            </a:r>
            <a:r>
              <a:rPr lang="en-US" sz="2400" b="1" kern="100" dirty="0" err="1">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FileNotFoundException</a:t>
            </a:r>
            <a:r>
              <a:rPr lang="en-US" sz="2400" b="1" kern="100" dirty="0">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 </a:t>
            </a:r>
            <a:r>
              <a:rPr lang="en-US" sz="2400" kern="100" dirty="0">
                <a:effectLst/>
                <a:latin typeface="Cascadia Code" panose="020B0609020000020004" pitchFamily="49" charset="0"/>
                <a:ea typeface="Aptos" panose="020B0004020202020204" pitchFamily="34" charset="0"/>
                <a:cs typeface="Times New Roman" panose="02020603050405020304" pitchFamily="18" charset="0"/>
              </a:rPr>
              <a:t>{</a:t>
            </a:r>
          </a:p>
          <a:p>
            <a:pPr marL="0" marR="0">
              <a:lnSpc>
                <a:spcPct val="115000"/>
              </a:lnSpc>
              <a:spcBef>
                <a:spcPts val="0"/>
              </a:spcBef>
              <a:spcAft>
                <a:spcPts val="0"/>
              </a:spcAft>
              <a:buNone/>
            </a:pPr>
            <a:r>
              <a:rPr lang="en-US" sz="2400" kern="100" dirty="0">
                <a:effectLst/>
                <a:latin typeface="Cascadia Code" panose="020B0609020000020004" pitchFamily="49" charset="0"/>
                <a:ea typeface="Aptos" panose="020B0004020202020204" pitchFamily="34" charset="0"/>
                <a:cs typeface="Times New Roman" panose="02020603050405020304" pitchFamily="18" charset="0"/>
              </a:rPr>
              <a:t>    this(</a:t>
            </a:r>
            <a:br>
              <a:rPr lang="en-US" sz="2400" kern="100" dirty="0">
                <a:effectLst/>
                <a:latin typeface="Cascadia Code" panose="020B0609020000020004" pitchFamily="49" charset="0"/>
                <a:ea typeface="Aptos" panose="020B0004020202020204" pitchFamily="34" charset="0"/>
                <a:cs typeface="Times New Roman" panose="02020603050405020304" pitchFamily="18" charset="0"/>
              </a:rPr>
            </a:br>
            <a:r>
              <a:rPr lang="en-US" sz="2400" kern="100" dirty="0">
                <a:effectLst/>
                <a:latin typeface="Cascadia Code" panose="020B0609020000020004" pitchFamily="49" charset="0"/>
                <a:ea typeface="Aptos" panose="020B0004020202020204" pitchFamily="34" charset="0"/>
                <a:cs typeface="Times New Roman" panose="02020603050405020304" pitchFamily="18" charset="0"/>
              </a:rPr>
              <a:t>       (</a:t>
            </a:r>
            <a:r>
              <a:rPr lang="en-US" sz="2400" kern="100" dirty="0" err="1">
                <a:effectLst/>
                <a:latin typeface="Cascadia Code" panose="020B0609020000020004" pitchFamily="49" charset="0"/>
                <a:ea typeface="Aptos" panose="020B0004020202020204" pitchFamily="34" charset="0"/>
                <a:cs typeface="Times New Roman" panose="02020603050405020304" pitchFamily="18" charset="0"/>
              </a:rPr>
              <a:t>ReadableByteChannel</a:t>
            </a:r>
            <a:r>
              <a:rPr lang="en-US" sz="2400" kern="100" dirty="0">
                <a:effectLst/>
                <a:latin typeface="Cascadia Code" panose="020B0609020000020004" pitchFamily="49" charset="0"/>
                <a:ea typeface="Aptos" panose="020B0004020202020204" pitchFamily="34" charset="0"/>
                <a:cs typeface="Times New Roman" panose="02020603050405020304" pitchFamily="18" charset="0"/>
              </a:rPr>
              <a:t>)(</a:t>
            </a:r>
          </a:p>
          <a:p>
            <a:pPr marL="0" marR="0">
              <a:lnSpc>
                <a:spcPct val="115000"/>
              </a:lnSpc>
              <a:spcBef>
                <a:spcPts val="0"/>
              </a:spcBef>
              <a:spcAft>
                <a:spcPts val="0"/>
              </a:spcAft>
              <a:buNone/>
            </a:pPr>
            <a:r>
              <a:rPr lang="en-US" sz="2400" b="1" kern="100" dirty="0">
                <a:latin typeface="Cascadia Code" panose="020B0609020000020004" pitchFamily="49" charset="0"/>
                <a:ea typeface="Aptos" panose="020B0004020202020204" pitchFamily="34" charset="0"/>
                <a:cs typeface="Times New Roman" panose="02020603050405020304" pitchFamily="18" charset="0"/>
              </a:rPr>
              <a:t>          </a:t>
            </a:r>
            <a:r>
              <a:rPr lang="en-US" sz="2400" b="1" kern="100" dirty="0">
                <a:solidFill>
                  <a:srgbClr val="7030A0"/>
                </a:solidFill>
                <a:effectLst/>
                <a:latin typeface="Cascadia Code" panose="020B0609020000020004" pitchFamily="49" charset="0"/>
                <a:ea typeface="Aptos" panose="020B0004020202020204" pitchFamily="34" charset="0"/>
                <a:cs typeface="Times New Roman" panose="02020603050405020304" pitchFamily="18" charset="0"/>
              </a:rPr>
              <a:t>new </a:t>
            </a:r>
            <a:r>
              <a:rPr lang="en-US" sz="2400" b="1" kern="100" dirty="0" err="1">
                <a:solidFill>
                  <a:srgbClr val="7030A0"/>
                </a:solidFill>
                <a:effectLst/>
                <a:latin typeface="Cascadia Code" panose="020B0609020000020004" pitchFamily="49" charset="0"/>
                <a:ea typeface="Aptos" panose="020B0004020202020204" pitchFamily="34" charset="0"/>
                <a:cs typeface="Times New Roman" panose="02020603050405020304" pitchFamily="18" charset="0"/>
              </a:rPr>
              <a:t>FileInputStream</a:t>
            </a:r>
            <a:r>
              <a:rPr lang="en-US" sz="2400" b="1" kern="100" dirty="0">
                <a:solidFill>
                  <a:srgbClr val="7030A0"/>
                </a:solidFill>
                <a:effectLst/>
                <a:latin typeface="Cascadia Code" panose="020B0609020000020004" pitchFamily="49" charset="0"/>
                <a:ea typeface="Aptos" panose="020B0004020202020204" pitchFamily="34" charset="0"/>
                <a:cs typeface="Times New Roman" panose="02020603050405020304" pitchFamily="18" charset="0"/>
              </a:rPr>
              <a:t>(source)</a:t>
            </a:r>
            <a:br>
              <a:rPr lang="en-US" sz="2400" b="1" kern="100" dirty="0">
                <a:solidFill>
                  <a:srgbClr val="7030A0"/>
                </a:solidFill>
                <a:effectLst/>
                <a:latin typeface="Cascadia Code" panose="020B0609020000020004" pitchFamily="49" charset="0"/>
                <a:ea typeface="Aptos" panose="020B0004020202020204" pitchFamily="34" charset="0"/>
                <a:cs typeface="Times New Roman" panose="02020603050405020304" pitchFamily="18" charset="0"/>
              </a:rPr>
            </a:br>
            <a:r>
              <a:rPr lang="en-US" sz="2400" b="1" kern="100" dirty="0">
                <a:effectLst/>
                <a:latin typeface="Cascadia Code" panose="020B0609020000020004" pitchFamily="49" charset="0"/>
                <a:ea typeface="Aptos" panose="020B0004020202020204" pitchFamily="34" charset="0"/>
                <a:cs typeface="Times New Roman" panose="02020603050405020304" pitchFamily="18" charset="0"/>
              </a:rPr>
              <a:t>          .</a:t>
            </a:r>
            <a:r>
              <a:rPr lang="en-US" sz="2400" b="1" kern="100" dirty="0" err="1">
                <a:effectLst/>
                <a:latin typeface="Cascadia Code" panose="020B0609020000020004" pitchFamily="49" charset="0"/>
                <a:ea typeface="Aptos" panose="020B0004020202020204" pitchFamily="34" charset="0"/>
                <a:cs typeface="Times New Roman" panose="02020603050405020304" pitchFamily="18" charset="0"/>
              </a:rPr>
              <a:t>getChannel</a:t>
            </a:r>
            <a:r>
              <a:rPr lang="en-US" sz="2400" b="1" kern="100" dirty="0">
                <a:effectLst/>
                <a:latin typeface="Cascadia Code" panose="020B0609020000020004" pitchFamily="49" charset="0"/>
                <a:ea typeface="Aptos" panose="020B0004020202020204" pitchFamily="34" charset="0"/>
                <a:cs typeface="Times New Roman" panose="02020603050405020304" pitchFamily="18" charset="0"/>
              </a:rPr>
              <a:t>()</a:t>
            </a:r>
          </a:p>
          <a:p>
            <a:pPr marL="0" marR="0">
              <a:lnSpc>
                <a:spcPct val="115000"/>
              </a:lnSpc>
              <a:spcBef>
                <a:spcPts val="0"/>
              </a:spcBef>
              <a:spcAft>
                <a:spcPts val="0"/>
              </a:spcAft>
              <a:buNone/>
            </a:pPr>
            <a:r>
              <a:rPr lang="en-US" sz="2400" kern="100" dirty="0">
                <a:latin typeface="Cascadia Code" panose="020B0609020000020004" pitchFamily="49" charset="0"/>
                <a:ea typeface="Aptos" panose="020B0004020202020204" pitchFamily="34" charset="0"/>
                <a:cs typeface="Times New Roman" panose="02020603050405020304" pitchFamily="18" charset="0"/>
              </a:rPr>
              <a:t>       </a:t>
            </a:r>
            <a:r>
              <a:rPr lang="en-US" sz="2400" kern="100" dirty="0">
                <a:effectLst/>
                <a:latin typeface="Cascadia Code" panose="020B0609020000020004" pitchFamily="49" charset="0"/>
                <a:ea typeface="Aptos" panose="020B0004020202020204" pitchFamily="34" charset="0"/>
                <a:cs typeface="Times New Roman" panose="02020603050405020304" pitchFamily="18" charset="0"/>
              </a:rPr>
              <a:t>)</a:t>
            </a:r>
          </a:p>
          <a:p>
            <a:pPr marL="0" marR="0">
              <a:lnSpc>
                <a:spcPct val="115000"/>
              </a:lnSpc>
              <a:spcBef>
                <a:spcPts val="0"/>
              </a:spcBef>
              <a:spcAft>
                <a:spcPts val="0"/>
              </a:spcAft>
              <a:buNone/>
            </a:pPr>
            <a:r>
              <a:rPr lang="en-US" sz="2400" kern="100" dirty="0">
                <a:latin typeface="Cascadia Code" panose="020B0609020000020004" pitchFamily="49" charset="0"/>
                <a:ea typeface="Aptos" panose="020B0004020202020204" pitchFamily="34" charset="0"/>
                <a:cs typeface="Times New Roman" panose="02020603050405020304" pitchFamily="18" charset="0"/>
              </a:rPr>
              <a:t>    </a:t>
            </a:r>
            <a:r>
              <a:rPr lang="en-US" sz="2400" kern="100" dirty="0">
                <a:effectLst/>
                <a:latin typeface="Cascadia Code" panose="020B0609020000020004" pitchFamily="49" charset="0"/>
                <a:ea typeface="Aptos" panose="020B0004020202020204" pitchFamily="34" charset="0"/>
                <a:cs typeface="Times New Roman" panose="02020603050405020304" pitchFamily="18" charset="0"/>
              </a:rPr>
              <a:t>);</a:t>
            </a:r>
          </a:p>
          <a:p>
            <a:pPr marL="0" marR="0">
              <a:lnSpc>
                <a:spcPct val="115000"/>
              </a:lnSpc>
              <a:spcBef>
                <a:spcPts val="0"/>
              </a:spcBef>
              <a:spcAft>
                <a:spcPts val="0"/>
              </a:spcAft>
              <a:buNone/>
            </a:pPr>
            <a:r>
              <a:rPr lang="en-US" sz="2400" kern="100" dirty="0">
                <a:effectLst/>
                <a:latin typeface="Cascadia Code" panose="020B0609020000020004" pitchFamily="49" charset="0"/>
                <a:ea typeface="Aptos" panose="020B0004020202020204" pitchFamily="34" charset="0"/>
                <a:cs typeface="Times New Roman" panose="02020603050405020304" pitchFamily="18" charset="0"/>
              </a:rPr>
              <a:t>}</a:t>
            </a:r>
            <a:endParaRPr lang="en-US" sz="2400" kern="100" dirty="0">
              <a:solidFill>
                <a:schemeClr val="bg2">
                  <a:lumMod val="75000"/>
                </a:schemeClr>
              </a:solidFill>
              <a:latin typeface="Cascadia Code" panose="020B0609020000020004" pitchFamily="49" charset="0"/>
              <a:cs typeface="Times New Roman" panose="02020603050405020304" pitchFamily="18" charset="0"/>
            </a:endParaRPr>
          </a:p>
        </p:txBody>
      </p:sp>
      <p:sp>
        <p:nvSpPr>
          <p:cNvPr id="5" name="TextBox 4">
            <a:extLst>
              <a:ext uri="{FF2B5EF4-FFF2-40B4-BE49-F238E27FC236}">
                <a16:creationId xmlns:a16="http://schemas.microsoft.com/office/drawing/2014/main" id="{CC04656F-3728-3617-C737-64DFC2869AA2}"/>
              </a:ext>
            </a:extLst>
          </p:cNvPr>
          <p:cNvSpPr txBox="1"/>
          <p:nvPr/>
        </p:nvSpPr>
        <p:spPr>
          <a:xfrm>
            <a:off x="-76200" y="1299575"/>
            <a:ext cx="9144000" cy="584775"/>
          </a:xfrm>
          <a:prstGeom prst="rect">
            <a:avLst/>
          </a:prstGeom>
          <a:noFill/>
        </p:spPr>
        <p:txBody>
          <a:bodyPr wrap="square">
            <a:spAutoFit/>
          </a:bodyPr>
          <a:lstStyle/>
          <a:p>
            <a:pPr algn="ctr"/>
            <a:r>
              <a:rPr lang="en-US" sz="3200" kern="1200" dirty="0">
                <a:solidFill>
                  <a:srgbClr val="7030A0"/>
                </a:solidFill>
                <a:effectLst/>
                <a:latin typeface="Times New Roman" pitchFamily="18" charset="0"/>
                <a:ea typeface="+mn-ea"/>
                <a:cs typeface="+mn-cs"/>
              </a:rPr>
              <a:t>which called the </a:t>
            </a:r>
            <a:r>
              <a:rPr lang="en-US" sz="3200" kern="100" dirty="0" err="1">
                <a:solidFill>
                  <a:srgbClr val="7030A0"/>
                </a:solidFill>
                <a:latin typeface="Cascadia Code" panose="020B0609020000020004" pitchFamily="49" charset="0"/>
                <a:ea typeface="Aptos" panose="020B0004020202020204" pitchFamily="34" charset="0"/>
                <a:cs typeface="Times New Roman" panose="02020603050405020304" pitchFamily="18" charset="0"/>
              </a:rPr>
              <a:t>FileInputStream</a:t>
            </a:r>
            <a:r>
              <a:rPr lang="en-US" sz="3200" kern="1200" dirty="0">
                <a:solidFill>
                  <a:srgbClr val="7030A0"/>
                </a:solidFill>
                <a:effectLst/>
                <a:latin typeface="Times New Roman" pitchFamily="18" charset="0"/>
                <a:ea typeface="+mn-ea"/>
                <a:cs typeface="+mn-cs"/>
              </a:rPr>
              <a:t> constructor:</a:t>
            </a:r>
          </a:p>
        </p:txBody>
      </p:sp>
    </p:spTree>
    <p:extLst>
      <p:ext uri="{BB962C8B-B14F-4D97-AF65-F5344CB8AC3E}">
        <p14:creationId xmlns:p14="http://schemas.microsoft.com/office/powerpoint/2010/main" val="15362430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D35447E-5C9A-F36F-D845-36D4F9CC642A}"/>
            </a:ext>
          </a:extLst>
        </p:cNvPr>
        <p:cNvGrpSpPr/>
        <p:nvPr/>
      </p:nvGrpSpPr>
      <p:grpSpPr>
        <a:xfrm>
          <a:off x="0" y="0"/>
          <a:ext cx="0" cy="0"/>
          <a:chOff x="0" y="0"/>
          <a:chExt cx="0" cy="0"/>
        </a:xfrm>
      </p:grpSpPr>
      <p:sp>
        <p:nvSpPr>
          <p:cNvPr id="57346" name="AutoShape 2">
            <a:extLst>
              <a:ext uri="{FF2B5EF4-FFF2-40B4-BE49-F238E27FC236}">
                <a16:creationId xmlns:a16="http://schemas.microsoft.com/office/drawing/2014/main" id="{B848C602-2D1A-2555-D1EE-1E518349146F}"/>
              </a:ext>
            </a:extLst>
          </p:cNvPr>
          <p:cNvSpPr>
            <a:spLocks noGrp="1" noChangeArrowheads="1"/>
          </p:cNvSpPr>
          <p:nvPr>
            <p:ph type="title"/>
          </p:nvPr>
        </p:nvSpPr>
        <p:spPr>
          <a:xfrm>
            <a:off x="0" y="76200"/>
            <a:ext cx="9144000" cy="1143000"/>
          </a:xfrm>
        </p:spPr>
        <p:txBody>
          <a:bodyPr/>
          <a:lstStyle/>
          <a:p>
            <a:pPr eaLnBrk="1" hangingPunct="1"/>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rPr>
              <a:t>Tracing an error to its source</a:t>
            </a:r>
            <a:endPar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ea typeface="+mn-ea"/>
              <a:cs typeface="+mn-cs"/>
            </a:endParaRPr>
          </a:p>
        </p:txBody>
      </p:sp>
      <p:sp>
        <p:nvSpPr>
          <p:cNvPr id="2" name="Content Placeholder 1">
            <a:extLst>
              <a:ext uri="{FF2B5EF4-FFF2-40B4-BE49-F238E27FC236}">
                <a16:creationId xmlns:a16="http://schemas.microsoft.com/office/drawing/2014/main" id="{11D538A4-54BF-A61F-F140-6337E02D406D}"/>
              </a:ext>
            </a:extLst>
          </p:cNvPr>
          <p:cNvSpPr>
            <a:spLocks noGrp="1"/>
          </p:cNvSpPr>
          <p:nvPr>
            <p:ph idx="1"/>
          </p:nvPr>
        </p:nvSpPr>
        <p:spPr>
          <a:xfrm>
            <a:off x="0" y="2209800"/>
            <a:ext cx="9067800" cy="4648200"/>
          </a:xfrm>
        </p:spPr>
        <p:txBody>
          <a:bodyPr/>
          <a:lstStyle/>
          <a:p>
            <a:pPr marL="0" marR="0">
              <a:lnSpc>
                <a:spcPct val="115000"/>
              </a:lnSpc>
              <a:spcBef>
                <a:spcPts val="0"/>
              </a:spcBef>
              <a:spcAft>
                <a:spcPts val="0"/>
              </a:spcAft>
              <a:buNone/>
            </a:pPr>
            <a:r>
              <a:rPr lang="en-US" sz="2000" b="1" kern="100" dirty="0">
                <a:effectLst/>
                <a:latin typeface="Cascadia Code" panose="020B0609020000020004" pitchFamily="49" charset="0"/>
                <a:ea typeface="Aptos" panose="020B0004020202020204" pitchFamily="34" charset="0"/>
                <a:cs typeface="Times New Roman" panose="02020603050405020304" pitchFamily="18" charset="0"/>
              </a:rPr>
              <a:t>public </a:t>
            </a:r>
            <a:r>
              <a:rPr lang="en-US" sz="2000" b="1" kern="100" dirty="0" err="1">
                <a:effectLst/>
                <a:latin typeface="Cascadia Code" panose="020B0609020000020004" pitchFamily="49" charset="0"/>
                <a:ea typeface="Aptos" panose="020B0004020202020204" pitchFamily="34" charset="0"/>
                <a:cs typeface="Times New Roman" panose="02020603050405020304" pitchFamily="18" charset="0"/>
              </a:rPr>
              <a:t>FileInputStream</a:t>
            </a:r>
            <a:r>
              <a:rPr lang="en-US" sz="2000" b="1" kern="100" dirty="0">
                <a:effectLst/>
                <a:latin typeface="Cascadia Code" panose="020B0609020000020004" pitchFamily="49" charset="0"/>
                <a:ea typeface="Aptos" panose="020B0004020202020204" pitchFamily="34" charset="0"/>
                <a:cs typeface="Times New Roman" panose="02020603050405020304" pitchFamily="18" charset="0"/>
              </a:rPr>
              <a:t>(File file) </a:t>
            </a:r>
            <a:br>
              <a:rPr lang="en-US" sz="2000" b="1" kern="100" dirty="0">
                <a:effectLst/>
                <a:latin typeface="Cascadia Code" panose="020B0609020000020004" pitchFamily="49" charset="0"/>
                <a:ea typeface="Aptos" panose="020B0004020202020204" pitchFamily="34" charset="0"/>
                <a:cs typeface="Times New Roman" panose="02020603050405020304" pitchFamily="18" charset="0"/>
              </a:rPr>
            </a:br>
            <a:r>
              <a:rPr lang="en-US" sz="2000" b="1" kern="100" dirty="0">
                <a:effectLst/>
                <a:latin typeface="Cascadia Code" panose="020B0609020000020004" pitchFamily="49" charset="0"/>
                <a:ea typeface="Aptos" panose="020B0004020202020204" pitchFamily="34" charset="0"/>
                <a:cs typeface="Times New Roman" panose="02020603050405020304" pitchFamily="18" charset="0"/>
              </a:rPr>
              <a:t>                             </a:t>
            </a:r>
            <a:r>
              <a:rPr lang="en-US" sz="2000" b="1" kern="100" dirty="0">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throws </a:t>
            </a:r>
            <a:r>
              <a:rPr lang="en-US" sz="2000" b="1" kern="100" dirty="0" err="1">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FileNotFoundException</a:t>
            </a:r>
            <a:r>
              <a:rPr lang="en-US" sz="2000" b="1" kern="100" dirty="0">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 </a:t>
            </a:r>
            <a:r>
              <a:rPr lang="en-US" sz="2000" b="1" kern="100" dirty="0">
                <a:effectLst/>
                <a:latin typeface="Cascadia Code" panose="020B0609020000020004" pitchFamily="49" charset="0"/>
                <a:ea typeface="Aptos" panose="020B0004020202020204" pitchFamily="34" charset="0"/>
                <a:cs typeface="Times New Roman" panose="02020603050405020304" pitchFamily="18" charset="0"/>
              </a:rPr>
              <a:t>{</a:t>
            </a:r>
            <a:endParaRPr lang="en-US" sz="2000" b="1"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0"/>
              </a:spcAft>
              <a:buNone/>
            </a:pPr>
            <a:r>
              <a:rPr lang="en-US" sz="2000" kern="100" dirty="0">
                <a:effectLst/>
                <a:latin typeface="Cascadia Code" panose="020B0609020000020004" pitchFamily="49" charset="0"/>
                <a:ea typeface="Aptos" panose="020B0004020202020204" pitchFamily="34" charset="0"/>
                <a:cs typeface="Times New Roman" panose="02020603050405020304" pitchFamily="18" charset="0"/>
              </a:rPr>
              <a:t>  String name = (file !</a:t>
            </a:r>
            <a:r>
              <a:rPr lang="en-US" sz="100" kern="100" dirty="0">
                <a:effectLst/>
                <a:latin typeface="Cascadia Code" panose="020B0609020000020004" pitchFamily="49" charset="0"/>
                <a:ea typeface="Aptos" panose="020B0004020202020204" pitchFamily="34" charset="0"/>
                <a:cs typeface="Times New Roman" panose="02020603050405020304" pitchFamily="18" charset="0"/>
              </a:rPr>
              <a:t> </a:t>
            </a:r>
            <a:r>
              <a:rPr lang="en-US" sz="2000" kern="100" dirty="0">
                <a:effectLst/>
                <a:latin typeface="Cascadia Code" panose="020B0609020000020004" pitchFamily="49" charset="0"/>
                <a:ea typeface="Aptos" panose="020B0004020202020204" pitchFamily="34" charset="0"/>
                <a:cs typeface="Times New Roman" panose="02020603050405020304" pitchFamily="18" charset="0"/>
              </a:rPr>
              <a:t>= null ? </a:t>
            </a:r>
            <a:r>
              <a:rPr lang="en-US" sz="2000" kern="100" dirty="0" err="1">
                <a:effectLst/>
                <a:latin typeface="Cascadia Code" panose="020B0609020000020004" pitchFamily="49" charset="0"/>
                <a:ea typeface="Aptos" panose="020B0004020202020204" pitchFamily="34" charset="0"/>
                <a:cs typeface="Times New Roman" panose="02020603050405020304" pitchFamily="18" charset="0"/>
              </a:rPr>
              <a:t>file.getPath</a:t>
            </a:r>
            <a:r>
              <a:rPr lang="en-US" sz="2000" kern="100" dirty="0">
                <a:effectLst/>
                <a:latin typeface="Cascadia Code" panose="020B0609020000020004" pitchFamily="49" charset="0"/>
                <a:ea typeface="Aptos" panose="020B0004020202020204" pitchFamily="34" charset="0"/>
                <a:cs typeface="Times New Roman" panose="02020603050405020304" pitchFamily="18" charset="0"/>
              </a:rPr>
              <a:t>() : null);</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0"/>
              </a:spcAft>
              <a:buNone/>
            </a:pPr>
            <a:r>
              <a:rPr lang="en-US" sz="2000" i="1" kern="100" dirty="0">
                <a:solidFill>
                  <a:schemeClr val="bg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  &lt;&lt; othe</a:t>
            </a:r>
            <a:r>
              <a:rPr lang="en-US" sz="2000" i="1" kern="100" dirty="0">
                <a:solidFill>
                  <a:schemeClr val="bg2">
                    <a:lumMod val="75000"/>
                  </a:schemeClr>
                </a:solidFill>
                <a:latin typeface="Cascadia Code" panose="020B0609020000020004" pitchFamily="49" charset="0"/>
                <a:ea typeface="Aptos" panose="020B0004020202020204" pitchFamily="34" charset="0"/>
                <a:cs typeface="Times New Roman" panose="02020603050405020304" pitchFamily="18" charset="0"/>
              </a:rPr>
              <a:t>r code &gt;&gt;</a:t>
            </a:r>
            <a:endParaRPr lang="en-US" sz="2000" i="1" kern="100" dirty="0">
              <a:solidFill>
                <a:schemeClr val="bg2">
                  <a:lumMod val="75000"/>
                </a:schemeClr>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0"/>
              </a:spcAft>
              <a:buNone/>
            </a:pPr>
            <a:r>
              <a:rPr lang="en-US" sz="2000" kern="100" dirty="0">
                <a:effectLst/>
                <a:latin typeface="Cascadia Code" panose="020B0609020000020004" pitchFamily="49" charset="0"/>
                <a:ea typeface="Aptos" panose="020B0004020202020204" pitchFamily="34" charset="0"/>
                <a:cs typeface="Times New Roman" panose="02020603050405020304" pitchFamily="18" charset="0"/>
              </a:rPr>
              <a:t>  if (name == null)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0"/>
              </a:spcAft>
              <a:buNone/>
            </a:pPr>
            <a:r>
              <a:rPr lang="en-US" sz="2000" kern="100" dirty="0">
                <a:effectLst/>
                <a:latin typeface="Cascadia Code" panose="020B0609020000020004" pitchFamily="49" charset="0"/>
                <a:ea typeface="Aptos" panose="020B0004020202020204" pitchFamily="34" charset="0"/>
                <a:cs typeface="Times New Roman" panose="02020603050405020304" pitchFamily="18" charset="0"/>
              </a:rPr>
              <a:t>      throw new </a:t>
            </a:r>
            <a:r>
              <a:rPr lang="en-US" sz="2000" kern="100" dirty="0" err="1">
                <a:effectLst/>
                <a:latin typeface="Cascadia Code" panose="020B0609020000020004" pitchFamily="49" charset="0"/>
                <a:ea typeface="Aptos" panose="020B0004020202020204" pitchFamily="34" charset="0"/>
                <a:cs typeface="Times New Roman" panose="02020603050405020304" pitchFamily="18" charset="0"/>
              </a:rPr>
              <a:t>NullPointerException</a:t>
            </a:r>
            <a:r>
              <a:rPr lang="en-US" sz="2000" kern="100" dirty="0">
                <a:effectLst/>
                <a:latin typeface="Cascadia Code" panose="020B0609020000020004" pitchFamily="49" charset="0"/>
                <a:ea typeface="Aptos" panose="020B0004020202020204" pitchFamily="34"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0"/>
              </a:spcAft>
              <a:buNone/>
            </a:pPr>
            <a:r>
              <a:rPr lang="en-US" sz="2000" kern="100" dirty="0">
                <a:effectLst/>
                <a:latin typeface="Cascadia Code" panose="020B0609020000020004" pitchFamily="49" charset="0"/>
                <a:ea typeface="Aptos" panose="020B0004020202020204" pitchFamily="34"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0"/>
              </a:spcAft>
              <a:buNone/>
            </a:pPr>
            <a:r>
              <a:rPr lang="en-US" sz="2000" b="1" kern="100" dirty="0">
                <a:solidFill>
                  <a:srgbClr val="0066FF"/>
                </a:solidFill>
                <a:effectLst/>
                <a:latin typeface="Cascadia Code" panose="020B0609020000020004" pitchFamily="49" charset="0"/>
                <a:ea typeface="Aptos" panose="020B0004020202020204" pitchFamily="34" charset="0"/>
                <a:cs typeface="Times New Roman" panose="02020603050405020304" pitchFamily="18" charset="0"/>
              </a:rPr>
              <a:t>  </a:t>
            </a:r>
            <a:r>
              <a:rPr lang="en-US" sz="2000" kern="100" dirty="0">
                <a:solidFill>
                  <a:srgbClr val="0066FF"/>
                </a:solidFill>
                <a:effectLst/>
                <a:latin typeface="Cascadia Code" panose="020B0609020000020004" pitchFamily="49" charset="0"/>
                <a:ea typeface="Aptos" panose="020B0004020202020204" pitchFamily="34" charset="0"/>
                <a:cs typeface="Times New Roman" panose="02020603050405020304" pitchFamily="18" charset="0"/>
              </a:rPr>
              <a:t>if (</a:t>
            </a:r>
            <a:r>
              <a:rPr lang="en-US" sz="2000" kern="100" dirty="0" err="1">
                <a:solidFill>
                  <a:srgbClr val="0066FF"/>
                </a:solidFill>
                <a:effectLst/>
                <a:latin typeface="Cascadia Code" panose="020B0609020000020004" pitchFamily="49" charset="0"/>
                <a:ea typeface="Aptos" panose="020B0004020202020204" pitchFamily="34" charset="0"/>
                <a:cs typeface="Times New Roman" panose="02020603050405020304" pitchFamily="18" charset="0"/>
              </a:rPr>
              <a:t>file.isInvalid</a:t>
            </a:r>
            <a:r>
              <a:rPr lang="en-US" sz="2000" kern="100" dirty="0">
                <a:solidFill>
                  <a:srgbClr val="0066FF"/>
                </a:solidFill>
                <a:effectLst/>
                <a:latin typeface="Cascadia Code" panose="020B0609020000020004" pitchFamily="49" charset="0"/>
                <a:ea typeface="Aptos" panose="020B0004020202020204" pitchFamily="34" charset="0"/>
                <a:cs typeface="Times New Roman" panose="02020603050405020304" pitchFamily="18" charset="0"/>
              </a:rPr>
              <a:t>()) {</a:t>
            </a:r>
            <a:endParaRPr lang="en-US" sz="2000" kern="100" dirty="0">
              <a:solidFill>
                <a:srgbClr val="0066FF"/>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0"/>
              </a:spcAft>
              <a:buNone/>
            </a:pPr>
            <a:r>
              <a:rPr lang="en-US" sz="2000" b="1" kern="100" dirty="0">
                <a:solidFill>
                  <a:srgbClr val="0066FF"/>
                </a:solidFill>
                <a:effectLst/>
                <a:latin typeface="Cascadia Code" panose="020B0609020000020004" pitchFamily="49" charset="0"/>
                <a:ea typeface="Aptos" panose="020B0004020202020204" pitchFamily="34" charset="0"/>
                <a:cs typeface="Times New Roman" panose="02020603050405020304" pitchFamily="18" charset="0"/>
              </a:rPr>
              <a:t>      throw new </a:t>
            </a:r>
            <a:r>
              <a:rPr lang="en-US" sz="2000" b="1" kern="100" dirty="0" err="1">
                <a:solidFill>
                  <a:srgbClr val="0066FF"/>
                </a:solidFill>
                <a:effectLst/>
                <a:latin typeface="Cascadia Code" panose="020B0609020000020004" pitchFamily="49" charset="0"/>
                <a:ea typeface="Aptos" panose="020B0004020202020204" pitchFamily="34" charset="0"/>
                <a:cs typeface="Times New Roman" panose="02020603050405020304" pitchFamily="18" charset="0"/>
              </a:rPr>
              <a:t>FileNotFoundException</a:t>
            </a:r>
            <a:r>
              <a:rPr lang="en-US" sz="2000" b="1" kern="100" dirty="0">
                <a:solidFill>
                  <a:srgbClr val="0066FF"/>
                </a:solidFill>
                <a:effectLst/>
                <a:latin typeface="Cascadia Code" panose="020B0609020000020004" pitchFamily="49" charset="0"/>
                <a:ea typeface="Aptos" panose="020B0004020202020204" pitchFamily="34" charset="0"/>
                <a:cs typeface="Times New Roman" panose="02020603050405020304" pitchFamily="18" charset="0"/>
              </a:rPr>
              <a:t>("Invalid file path");</a:t>
            </a:r>
            <a:endParaRPr lang="en-US" sz="2000" kern="100" dirty="0">
              <a:solidFill>
                <a:srgbClr val="0066FF"/>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0"/>
              </a:spcAft>
              <a:buNone/>
            </a:pPr>
            <a:r>
              <a:rPr lang="en-US" sz="2000" kern="100" dirty="0">
                <a:solidFill>
                  <a:srgbClr val="0066FF"/>
                </a:solidFill>
                <a:effectLst/>
                <a:latin typeface="Cascadia Code" panose="020B0609020000020004" pitchFamily="49" charset="0"/>
                <a:ea typeface="Aptos" panose="020B0004020202020204" pitchFamily="34" charset="0"/>
                <a:cs typeface="Times New Roman" panose="02020603050405020304" pitchFamily="18" charset="0"/>
              </a:rPr>
              <a:t>  }</a:t>
            </a:r>
            <a:endParaRPr lang="en-US" sz="2000" kern="100" dirty="0">
              <a:solidFill>
                <a:srgbClr val="0066FF"/>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0"/>
              </a:spcAft>
              <a:buNone/>
            </a:pPr>
            <a:r>
              <a:rPr lang="en-US" sz="2000" kern="100" dirty="0">
                <a:solidFill>
                  <a:schemeClr val="bg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  </a:t>
            </a:r>
            <a:r>
              <a:rPr lang="en-US" sz="2000" i="1" kern="100" dirty="0">
                <a:solidFill>
                  <a:schemeClr val="bg2">
                    <a:lumMod val="75000"/>
                  </a:schemeClr>
                </a:solidFill>
                <a:latin typeface="Cascadia Code" panose="020B0609020000020004" pitchFamily="49" charset="0"/>
                <a:ea typeface="Aptos" panose="020B0004020202020204" pitchFamily="34" charset="0"/>
                <a:cs typeface="Times New Roman" panose="02020603050405020304" pitchFamily="18" charset="0"/>
              </a:rPr>
              <a:t>&lt;&lt; more code &gt;&gt;</a:t>
            </a:r>
          </a:p>
          <a:p>
            <a:pPr marL="0" marR="0">
              <a:lnSpc>
                <a:spcPct val="115000"/>
              </a:lnSpc>
              <a:spcBef>
                <a:spcPts val="0"/>
              </a:spcBef>
              <a:spcAft>
                <a:spcPts val="0"/>
              </a:spcAft>
              <a:buNone/>
            </a:pPr>
            <a:r>
              <a:rPr lang="en-US" sz="2000" kern="100" dirty="0">
                <a:solidFill>
                  <a:srgbClr val="7030A0"/>
                </a:solidFill>
                <a:effectLst/>
                <a:latin typeface="Aptos" panose="020B0004020202020204" pitchFamily="34" charset="0"/>
                <a:ea typeface="Aptos" panose="020B0004020202020204" pitchFamily="34" charset="0"/>
                <a:cs typeface="Times New Roman" panose="02020603050405020304" pitchFamily="18" charset="0"/>
              </a:rPr>
              <a:t>     </a:t>
            </a:r>
            <a:r>
              <a:rPr lang="en-US" sz="2000" b="1" kern="100" dirty="0">
                <a:solidFill>
                  <a:srgbClr val="7030A0"/>
                </a:solidFill>
                <a:latin typeface="Cascadia Code" panose="020B0609020000020004" pitchFamily="49" charset="0"/>
                <a:cs typeface="Times New Roman" panose="02020603050405020304" pitchFamily="18" charset="0"/>
              </a:rPr>
              <a:t>open(name);</a:t>
            </a:r>
          </a:p>
          <a:p>
            <a:pPr marL="0" marR="0">
              <a:lnSpc>
                <a:spcPct val="115000"/>
              </a:lnSpc>
              <a:spcBef>
                <a:spcPts val="0"/>
              </a:spcBef>
              <a:spcAft>
                <a:spcPts val="0"/>
              </a:spcAft>
              <a:buNone/>
            </a:pPr>
            <a:r>
              <a:rPr lang="en-US" sz="2000" kern="100" dirty="0">
                <a:latin typeface="Cascadia Code" panose="020B0609020000020004" pitchFamily="49" charset="0"/>
                <a:ea typeface="Aptos" panose="020B0004020202020204" pitchFamily="34" charset="0"/>
                <a:cs typeface="Times New Roman" panose="02020603050405020304" pitchFamily="18" charset="0"/>
              </a:rPr>
              <a:t>  </a:t>
            </a:r>
            <a:r>
              <a:rPr lang="en-US" sz="2000" i="1" kern="100" dirty="0">
                <a:solidFill>
                  <a:schemeClr val="bg2">
                    <a:lumMod val="75000"/>
                  </a:schemeClr>
                </a:solidFill>
                <a:latin typeface="Cascadia Code" panose="020B0609020000020004" pitchFamily="49" charset="0"/>
                <a:ea typeface="Aptos" panose="020B0004020202020204" pitchFamily="34" charset="0"/>
                <a:cs typeface="Times New Roman" panose="02020603050405020304" pitchFamily="18" charset="0"/>
              </a:rPr>
              <a:t>&lt;&lt; more code &gt;&gt;</a:t>
            </a:r>
            <a:endParaRPr lang="en-US" sz="2000" b="1" kern="100" dirty="0">
              <a:solidFill>
                <a:schemeClr val="bg2">
                  <a:lumMod val="75000"/>
                </a:schemeClr>
              </a:solidFill>
              <a:latin typeface="Cascadia Code" panose="020B0609020000020004" pitchFamily="49" charset="0"/>
              <a:cs typeface="Times New Roman" panose="02020603050405020304" pitchFamily="18" charset="0"/>
            </a:endParaRPr>
          </a:p>
        </p:txBody>
      </p:sp>
      <p:sp>
        <p:nvSpPr>
          <p:cNvPr id="5" name="TextBox 4">
            <a:extLst>
              <a:ext uri="{FF2B5EF4-FFF2-40B4-BE49-F238E27FC236}">
                <a16:creationId xmlns:a16="http://schemas.microsoft.com/office/drawing/2014/main" id="{58745CF5-B092-21C7-FEFB-70B56CEF1426}"/>
              </a:ext>
            </a:extLst>
          </p:cNvPr>
          <p:cNvSpPr txBox="1"/>
          <p:nvPr/>
        </p:nvSpPr>
        <p:spPr>
          <a:xfrm>
            <a:off x="-76200" y="1299575"/>
            <a:ext cx="9144000" cy="584775"/>
          </a:xfrm>
          <a:prstGeom prst="rect">
            <a:avLst/>
          </a:prstGeom>
          <a:noFill/>
        </p:spPr>
        <p:txBody>
          <a:bodyPr wrap="square">
            <a:spAutoFit/>
          </a:bodyPr>
          <a:lstStyle/>
          <a:p>
            <a:pPr algn="ctr"/>
            <a:r>
              <a:rPr lang="en-US" sz="3200" kern="1200" dirty="0">
                <a:solidFill>
                  <a:srgbClr val="7030A0"/>
                </a:solidFill>
                <a:effectLst/>
                <a:latin typeface="Times New Roman" pitchFamily="18" charset="0"/>
                <a:ea typeface="+mn-ea"/>
                <a:cs typeface="+mn-cs"/>
              </a:rPr>
              <a:t>which called the </a:t>
            </a:r>
            <a:r>
              <a:rPr lang="en-US" sz="3200" kern="100" dirty="0">
                <a:solidFill>
                  <a:srgbClr val="7030A0"/>
                </a:solidFill>
                <a:latin typeface="Cascadia Code" panose="020B0609020000020004" pitchFamily="49" charset="0"/>
                <a:ea typeface="Aptos" panose="020B0004020202020204" pitchFamily="34" charset="0"/>
                <a:cs typeface="Times New Roman" panose="02020603050405020304" pitchFamily="18" charset="0"/>
              </a:rPr>
              <a:t>open()</a:t>
            </a:r>
            <a:r>
              <a:rPr lang="en-US" sz="3200" kern="1200" dirty="0">
                <a:solidFill>
                  <a:srgbClr val="7030A0"/>
                </a:solidFill>
                <a:effectLst/>
                <a:latin typeface="Times New Roman" pitchFamily="18" charset="0"/>
                <a:ea typeface="+mn-ea"/>
                <a:cs typeface="+mn-cs"/>
              </a:rPr>
              <a:t> method:</a:t>
            </a:r>
          </a:p>
        </p:txBody>
      </p:sp>
      <p:sp>
        <p:nvSpPr>
          <p:cNvPr id="6" name="TextBox 5">
            <a:extLst>
              <a:ext uri="{FF2B5EF4-FFF2-40B4-BE49-F238E27FC236}">
                <a16:creationId xmlns:a16="http://schemas.microsoft.com/office/drawing/2014/main" id="{2AA00E72-333F-0DF3-D4DF-114425747D5E}"/>
              </a:ext>
            </a:extLst>
          </p:cNvPr>
          <p:cNvSpPr txBox="1"/>
          <p:nvPr/>
        </p:nvSpPr>
        <p:spPr>
          <a:xfrm>
            <a:off x="3505200" y="5715000"/>
            <a:ext cx="5105400" cy="830997"/>
          </a:xfrm>
          <a:prstGeom prst="rect">
            <a:avLst/>
          </a:prstGeom>
          <a:noFill/>
        </p:spPr>
        <p:txBody>
          <a:bodyPr wrap="square" rtlCol="0">
            <a:spAutoFit/>
          </a:bodyPr>
          <a:lstStyle/>
          <a:p>
            <a:r>
              <a:rPr lang="en-US" dirty="0">
                <a:solidFill>
                  <a:srgbClr val="0066FF"/>
                </a:solidFill>
              </a:rPr>
              <a:t>How do we know this line wasn’t the source of the exception?</a:t>
            </a:r>
          </a:p>
        </p:txBody>
      </p:sp>
    </p:spTree>
    <p:extLst>
      <p:ext uri="{BB962C8B-B14F-4D97-AF65-F5344CB8AC3E}">
        <p14:creationId xmlns:p14="http://schemas.microsoft.com/office/powerpoint/2010/main" val="1144193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C8EC7A2-6CC4-516C-0786-8CF478B10707}"/>
            </a:ext>
          </a:extLst>
        </p:cNvPr>
        <p:cNvGrpSpPr/>
        <p:nvPr/>
      </p:nvGrpSpPr>
      <p:grpSpPr>
        <a:xfrm>
          <a:off x="0" y="0"/>
          <a:ext cx="0" cy="0"/>
          <a:chOff x="0" y="0"/>
          <a:chExt cx="0" cy="0"/>
        </a:xfrm>
      </p:grpSpPr>
      <p:sp>
        <p:nvSpPr>
          <p:cNvPr id="57346" name="AutoShape 2">
            <a:extLst>
              <a:ext uri="{FF2B5EF4-FFF2-40B4-BE49-F238E27FC236}">
                <a16:creationId xmlns:a16="http://schemas.microsoft.com/office/drawing/2014/main" id="{862CC6AA-656F-7D2A-C6A3-597A93A44FD4}"/>
              </a:ext>
            </a:extLst>
          </p:cNvPr>
          <p:cNvSpPr>
            <a:spLocks noGrp="1" noChangeArrowheads="1"/>
          </p:cNvSpPr>
          <p:nvPr>
            <p:ph type="title"/>
          </p:nvPr>
        </p:nvSpPr>
        <p:spPr>
          <a:xfrm>
            <a:off x="0" y="76200"/>
            <a:ext cx="9144000" cy="1143000"/>
          </a:xfrm>
        </p:spPr>
        <p:txBody>
          <a:bodyPr/>
          <a:lstStyle/>
          <a:p>
            <a:pPr eaLnBrk="1" hangingPunct="1"/>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rPr>
              <a:t>Tracing an error to its source</a:t>
            </a:r>
            <a:endPar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ea typeface="+mn-ea"/>
              <a:cs typeface="+mn-cs"/>
            </a:endParaRPr>
          </a:p>
        </p:txBody>
      </p:sp>
      <p:sp>
        <p:nvSpPr>
          <p:cNvPr id="2" name="Content Placeholder 1">
            <a:extLst>
              <a:ext uri="{FF2B5EF4-FFF2-40B4-BE49-F238E27FC236}">
                <a16:creationId xmlns:a16="http://schemas.microsoft.com/office/drawing/2014/main" id="{65343B07-4904-F5B9-1CE4-BA3E60819592}"/>
              </a:ext>
            </a:extLst>
          </p:cNvPr>
          <p:cNvSpPr>
            <a:spLocks noGrp="1"/>
          </p:cNvSpPr>
          <p:nvPr>
            <p:ph idx="1"/>
          </p:nvPr>
        </p:nvSpPr>
        <p:spPr>
          <a:xfrm>
            <a:off x="0" y="2514600"/>
            <a:ext cx="9067800" cy="4343400"/>
          </a:xfrm>
        </p:spPr>
        <p:txBody>
          <a:bodyPr/>
          <a:lstStyle/>
          <a:p>
            <a:pPr marL="0" marR="0">
              <a:lnSpc>
                <a:spcPct val="115000"/>
              </a:lnSpc>
              <a:spcBef>
                <a:spcPts val="0"/>
              </a:spcBef>
              <a:spcAft>
                <a:spcPts val="0"/>
              </a:spcAft>
              <a:buNone/>
            </a:pPr>
            <a:r>
              <a:rPr lang="en-US" sz="2400" b="1"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wrap native call to allow instrumentation</a:t>
            </a:r>
          </a:p>
          <a:p>
            <a:pPr marL="0" marR="0">
              <a:lnSpc>
                <a:spcPct val="115000"/>
              </a:lnSpc>
              <a:spcBef>
                <a:spcPts val="0"/>
              </a:spcBef>
              <a:spcAft>
                <a:spcPts val="0"/>
              </a:spcAft>
              <a:buNone/>
            </a:pPr>
            <a:endParaRPr lang="en-US" sz="1600" b="1"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endParaRPr>
          </a:p>
          <a:p>
            <a:pPr marL="0" marR="0">
              <a:lnSpc>
                <a:spcPct val="115000"/>
              </a:lnSpc>
              <a:spcBef>
                <a:spcPts val="0"/>
              </a:spcBef>
              <a:spcAft>
                <a:spcPts val="0"/>
              </a:spcAft>
              <a:buNone/>
            </a:pPr>
            <a:r>
              <a:rPr lang="en-US" sz="2400" b="1"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a:t>
            </a:r>
          </a:p>
          <a:p>
            <a:pPr marL="0" marR="0">
              <a:lnSpc>
                <a:spcPct val="115000"/>
              </a:lnSpc>
              <a:spcBef>
                <a:spcPts val="0"/>
              </a:spcBef>
              <a:spcAft>
                <a:spcPts val="0"/>
              </a:spcAft>
              <a:buNone/>
            </a:pPr>
            <a:r>
              <a:rPr lang="en-US" sz="2400" b="1"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 Opens the specified file for reading.</a:t>
            </a:r>
          </a:p>
          <a:p>
            <a:pPr marL="0" marR="0">
              <a:lnSpc>
                <a:spcPct val="115000"/>
              </a:lnSpc>
              <a:spcBef>
                <a:spcPts val="0"/>
              </a:spcBef>
              <a:spcAft>
                <a:spcPts val="0"/>
              </a:spcAft>
              <a:buNone/>
            </a:pPr>
            <a:r>
              <a:rPr lang="en-US" sz="2400" b="1"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 @param name the name of the file</a:t>
            </a:r>
          </a:p>
          <a:p>
            <a:pPr marL="0" marR="0">
              <a:lnSpc>
                <a:spcPct val="115000"/>
              </a:lnSpc>
              <a:spcBef>
                <a:spcPts val="0"/>
              </a:spcBef>
              <a:spcAft>
                <a:spcPts val="0"/>
              </a:spcAft>
              <a:buNone/>
            </a:pPr>
            <a:r>
              <a:rPr lang="en-US" sz="2400" b="1"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a:t>
            </a:r>
          </a:p>
          <a:p>
            <a:pPr marL="0" marR="0">
              <a:lnSpc>
                <a:spcPct val="115000"/>
              </a:lnSpc>
              <a:spcBef>
                <a:spcPts val="0"/>
              </a:spcBef>
              <a:spcAft>
                <a:spcPts val="0"/>
              </a:spcAft>
              <a:buNone/>
            </a:pPr>
            <a:r>
              <a:rPr lang="en-US" sz="2400" b="1" kern="100" dirty="0">
                <a:effectLst/>
                <a:latin typeface="Cascadia Code" panose="020B0609020000020004" pitchFamily="49" charset="0"/>
                <a:ea typeface="Aptos" panose="020B0004020202020204" pitchFamily="34" charset="0"/>
                <a:cs typeface="Times New Roman" panose="02020603050405020304" pitchFamily="18" charset="0"/>
              </a:rPr>
              <a:t>private void open(String name) </a:t>
            </a:r>
            <a:br>
              <a:rPr lang="en-US" sz="2400" b="1" kern="100" dirty="0">
                <a:effectLst/>
                <a:latin typeface="Cascadia Code" panose="020B0609020000020004" pitchFamily="49" charset="0"/>
                <a:ea typeface="Aptos" panose="020B0004020202020204" pitchFamily="34" charset="0"/>
                <a:cs typeface="Times New Roman" panose="02020603050405020304" pitchFamily="18" charset="0"/>
              </a:rPr>
            </a:br>
            <a:r>
              <a:rPr lang="en-US" sz="2400" b="1" kern="100" dirty="0">
                <a:effectLst/>
                <a:latin typeface="Cascadia Code" panose="020B0609020000020004" pitchFamily="49" charset="0"/>
                <a:ea typeface="Aptos" panose="020B0004020202020204" pitchFamily="34" charset="0"/>
                <a:cs typeface="Times New Roman" panose="02020603050405020304" pitchFamily="18" charset="0"/>
              </a:rPr>
              <a:t>                </a:t>
            </a:r>
            <a:r>
              <a:rPr lang="en-US" sz="2400" b="1" kern="100" dirty="0">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throws </a:t>
            </a:r>
            <a:r>
              <a:rPr lang="en-US" sz="2400" b="1" kern="100" dirty="0" err="1">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FileNotFoundException</a:t>
            </a:r>
            <a:r>
              <a:rPr lang="en-US" sz="2400" b="1" kern="100" dirty="0">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 </a:t>
            </a:r>
            <a:r>
              <a:rPr lang="en-US" sz="2400" b="1" kern="100" dirty="0">
                <a:effectLst/>
                <a:latin typeface="Cascadia Code" panose="020B0609020000020004" pitchFamily="49" charset="0"/>
                <a:ea typeface="Aptos" panose="020B0004020202020204" pitchFamily="34" charset="0"/>
                <a:cs typeface="Times New Roman" panose="02020603050405020304" pitchFamily="18" charset="0"/>
              </a:rPr>
              <a:t>{</a:t>
            </a:r>
          </a:p>
          <a:p>
            <a:pPr marL="0" marR="0">
              <a:lnSpc>
                <a:spcPct val="115000"/>
              </a:lnSpc>
              <a:spcBef>
                <a:spcPts val="0"/>
              </a:spcBef>
              <a:spcAft>
                <a:spcPts val="0"/>
              </a:spcAft>
              <a:buNone/>
            </a:pPr>
            <a:r>
              <a:rPr lang="en-US" sz="2400" b="1" kern="100" dirty="0">
                <a:solidFill>
                  <a:srgbClr val="7030A0"/>
                </a:solidFill>
                <a:effectLst/>
                <a:latin typeface="Cascadia Code" panose="020B0609020000020004" pitchFamily="49" charset="0"/>
                <a:ea typeface="Aptos" panose="020B0004020202020204" pitchFamily="34" charset="0"/>
                <a:cs typeface="Times New Roman" panose="02020603050405020304" pitchFamily="18" charset="0"/>
              </a:rPr>
              <a:t>    open0(name);</a:t>
            </a:r>
          </a:p>
          <a:p>
            <a:pPr marL="0" marR="0">
              <a:lnSpc>
                <a:spcPct val="115000"/>
              </a:lnSpc>
              <a:spcBef>
                <a:spcPts val="0"/>
              </a:spcBef>
              <a:spcAft>
                <a:spcPts val="0"/>
              </a:spcAft>
              <a:buNone/>
            </a:pPr>
            <a:r>
              <a:rPr lang="en-US" sz="2400" b="1" kern="100" dirty="0">
                <a:effectLst/>
                <a:latin typeface="Cascadia Code" panose="020B0609020000020004" pitchFamily="49" charset="0"/>
                <a:ea typeface="Aptos" panose="020B0004020202020204" pitchFamily="34" charset="0"/>
                <a:cs typeface="Times New Roman" panose="02020603050405020304" pitchFamily="18" charset="0"/>
              </a:rPr>
              <a:t>}</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8CD077D5-2FD7-92CA-F182-B053BD3734AE}"/>
              </a:ext>
            </a:extLst>
          </p:cNvPr>
          <p:cNvSpPr txBox="1"/>
          <p:nvPr/>
        </p:nvSpPr>
        <p:spPr>
          <a:xfrm>
            <a:off x="-38100" y="1536934"/>
            <a:ext cx="9144000" cy="584775"/>
          </a:xfrm>
          <a:prstGeom prst="rect">
            <a:avLst/>
          </a:prstGeom>
          <a:noFill/>
        </p:spPr>
        <p:txBody>
          <a:bodyPr wrap="square">
            <a:spAutoFit/>
          </a:bodyPr>
          <a:lstStyle/>
          <a:p>
            <a:pPr algn="ctr"/>
            <a:r>
              <a:rPr lang="en-US" sz="3200" kern="1200" dirty="0">
                <a:solidFill>
                  <a:srgbClr val="7030A0"/>
                </a:solidFill>
                <a:effectLst/>
                <a:latin typeface="Times New Roman" pitchFamily="18" charset="0"/>
                <a:ea typeface="+mn-ea"/>
                <a:cs typeface="+mn-cs"/>
              </a:rPr>
              <a:t>which called the </a:t>
            </a:r>
            <a:r>
              <a:rPr lang="en-US" sz="3200" kern="100" dirty="0">
                <a:solidFill>
                  <a:srgbClr val="7030A0"/>
                </a:solidFill>
                <a:latin typeface="Cascadia Code" panose="020B0609020000020004" pitchFamily="49" charset="0"/>
                <a:ea typeface="Aptos" panose="020B0004020202020204" pitchFamily="34" charset="0"/>
                <a:cs typeface="Times New Roman" panose="02020603050405020304" pitchFamily="18" charset="0"/>
              </a:rPr>
              <a:t>open0()</a:t>
            </a:r>
            <a:r>
              <a:rPr lang="en-US" sz="3200" kern="1200" dirty="0">
                <a:solidFill>
                  <a:srgbClr val="7030A0"/>
                </a:solidFill>
                <a:effectLst/>
                <a:latin typeface="Times New Roman" pitchFamily="18" charset="0"/>
                <a:ea typeface="+mn-ea"/>
                <a:cs typeface="+mn-cs"/>
              </a:rPr>
              <a:t> method:</a:t>
            </a:r>
          </a:p>
        </p:txBody>
      </p:sp>
    </p:spTree>
    <p:extLst>
      <p:ext uri="{BB962C8B-B14F-4D97-AF65-F5344CB8AC3E}">
        <p14:creationId xmlns:p14="http://schemas.microsoft.com/office/powerpoint/2010/main" val="976204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3AB16E2-BA49-2597-606B-443A5B0C0C6C}"/>
            </a:ext>
          </a:extLst>
        </p:cNvPr>
        <p:cNvGrpSpPr/>
        <p:nvPr/>
      </p:nvGrpSpPr>
      <p:grpSpPr>
        <a:xfrm>
          <a:off x="0" y="0"/>
          <a:ext cx="0" cy="0"/>
          <a:chOff x="0" y="0"/>
          <a:chExt cx="0" cy="0"/>
        </a:xfrm>
      </p:grpSpPr>
      <p:sp>
        <p:nvSpPr>
          <p:cNvPr id="57346" name="AutoShape 2">
            <a:extLst>
              <a:ext uri="{FF2B5EF4-FFF2-40B4-BE49-F238E27FC236}">
                <a16:creationId xmlns:a16="http://schemas.microsoft.com/office/drawing/2014/main" id="{3BDA677D-C401-01FE-76F5-E4F0E70AE588}"/>
              </a:ext>
            </a:extLst>
          </p:cNvPr>
          <p:cNvSpPr>
            <a:spLocks noGrp="1" noChangeArrowheads="1"/>
          </p:cNvSpPr>
          <p:nvPr>
            <p:ph type="title"/>
          </p:nvPr>
        </p:nvSpPr>
        <p:spPr>
          <a:xfrm>
            <a:off x="0" y="76200"/>
            <a:ext cx="9144000" cy="1143000"/>
          </a:xfrm>
        </p:spPr>
        <p:txBody>
          <a:bodyPr/>
          <a:lstStyle/>
          <a:p>
            <a:pPr eaLnBrk="1" hangingPunct="1"/>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rPr>
              <a:t>Tracing an error to its source</a:t>
            </a:r>
            <a:endPar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ea typeface="+mn-ea"/>
              <a:cs typeface="+mn-cs"/>
            </a:endParaRPr>
          </a:p>
        </p:txBody>
      </p:sp>
      <p:sp>
        <p:nvSpPr>
          <p:cNvPr id="2" name="Content Placeholder 1">
            <a:extLst>
              <a:ext uri="{FF2B5EF4-FFF2-40B4-BE49-F238E27FC236}">
                <a16:creationId xmlns:a16="http://schemas.microsoft.com/office/drawing/2014/main" id="{2D769488-4C01-ACBC-5A8E-65DC9569AC38}"/>
              </a:ext>
            </a:extLst>
          </p:cNvPr>
          <p:cNvSpPr>
            <a:spLocks noGrp="1"/>
          </p:cNvSpPr>
          <p:nvPr>
            <p:ph idx="1"/>
          </p:nvPr>
        </p:nvSpPr>
        <p:spPr>
          <a:xfrm>
            <a:off x="0" y="2590800"/>
            <a:ext cx="9067800" cy="4267200"/>
          </a:xfrm>
        </p:spPr>
        <p:txBody>
          <a:bodyPr/>
          <a:lstStyle/>
          <a:p>
            <a:pPr marL="0" marR="0">
              <a:lnSpc>
                <a:spcPct val="115000"/>
              </a:lnSpc>
              <a:spcBef>
                <a:spcPts val="0"/>
              </a:spcBef>
              <a:spcAft>
                <a:spcPts val="0"/>
              </a:spcAft>
              <a:buNone/>
            </a:pPr>
            <a:r>
              <a:rPr lang="en-US" sz="2800" b="1"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a:t>
            </a:r>
          </a:p>
          <a:p>
            <a:pPr marL="0" marR="0">
              <a:lnSpc>
                <a:spcPct val="115000"/>
              </a:lnSpc>
              <a:spcBef>
                <a:spcPts val="0"/>
              </a:spcBef>
              <a:spcAft>
                <a:spcPts val="0"/>
              </a:spcAft>
              <a:buNone/>
            </a:pPr>
            <a:r>
              <a:rPr lang="en-US" sz="2800" b="1"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 Opens the specified file for reading.</a:t>
            </a:r>
          </a:p>
          <a:p>
            <a:pPr marL="0" marR="0">
              <a:lnSpc>
                <a:spcPct val="115000"/>
              </a:lnSpc>
              <a:spcBef>
                <a:spcPts val="0"/>
              </a:spcBef>
              <a:spcAft>
                <a:spcPts val="0"/>
              </a:spcAft>
              <a:buNone/>
            </a:pPr>
            <a:r>
              <a:rPr lang="en-US" sz="2800" b="1"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 @param name the name of the file</a:t>
            </a:r>
          </a:p>
          <a:p>
            <a:pPr marL="0" marR="0">
              <a:lnSpc>
                <a:spcPct val="115000"/>
              </a:lnSpc>
              <a:spcBef>
                <a:spcPts val="0"/>
              </a:spcBef>
              <a:spcAft>
                <a:spcPts val="0"/>
              </a:spcAft>
              <a:buNone/>
            </a:pPr>
            <a:r>
              <a:rPr lang="en-US" sz="2800" b="1"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a:t>
            </a:r>
          </a:p>
          <a:p>
            <a:pPr marL="0" marR="0">
              <a:lnSpc>
                <a:spcPct val="115000"/>
              </a:lnSpc>
              <a:spcBef>
                <a:spcPts val="0"/>
              </a:spcBef>
              <a:spcAft>
                <a:spcPts val="0"/>
              </a:spcAft>
              <a:buNone/>
            </a:pPr>
            <a:r>
              <a:rPr lang="en-US" sz="2800" b="1" kern="100" dirty="0">
                <a:effectLst/>
                <a:latin typeface="Cascadia Code" panose="020B0609020000020004" pitchFamily="49" charset="0"/>
                <a:ea typeface="Aptos" panose="020B0004020202020204" pitchFamily="34" charset="0"/>
                <a:cs typeface="Times New Roman" panose="02020603050405020304" pitchFamily="18" charset="0"/>
              </a:rPr>
              <a:t>private </a:t>
            </a:r>
            <a:r>
              <a:rPr lang="en-US" sz="2800" b="1" kern="100" dirty="0">
                <a:solidFill>
                  <a:srgbClr val="7030A0"/>
                </a:solidFill>
                <a:effectLst/>
                <a:latin typeface="Cascadia Code" panose="020B0609020000020004" pitchFamily="49" charset="0"/>
                <a:ea typeface="Aptos" panose="020B0004020202020204" pitchFamily="34" charset="0"/>
                <a:cs typeface="Times New Roman" panose="02020603050405020304" pitchFamily="18" charset="0"/>
              </a:rPr>
              <a:t>native</a:t>
            </a:r>
            <a:r>
              <a:rPr lang="en-US" sz="2800" b="1" kern="100" dirty="0">
                <a:effectLst/>
                <a:latin typeface="Cascadia Code" panose="020B0609020000020004" pitchFamily="49" charset="0"/>
                <a:ea typeface="Aptos" panose="020B0004020202020204" pitchFamily="34" charset="0"/>
                <a:cs typeface="Times New Roman" panose="02020603050405020304" pitchFamily="18" charset="0"/>
              </a:rPr>
              <a:t> void open0(String name) </a:t>
            </a:r>
            <a:br>
              <a:rPr lang="en-US" sz="2800" b="1" kern="100" dirty="0">
                <a:effectLst/>
                <a:latin typeface="Cascadia Code" panose="020B0609020000020004" pitchFamily="49" charset="0"/>
                <a:ea typeface="Aptos" panose="020B0004020202020204" pitchFamily="34" charset="0"/>
                <a:cs typeface="Times New Roman" panose="02020603050405020304" pitchFamily="18" charset="0"/>
              </a:rPr>
            </a:br>
            <a:r>
              <a:rPr lang="en-US" sz="2800" b="1" kern="100" dirty="0">
                <a:effectLst/>
                <a:latin typeface="Cascadia Code" panose="020B0609020000020004" pitchFamily="49" charset="0"/>
                <a:ea typeface="Aptos" panose="020B0004020202020204" pitchFamily="34" charset="0"/>
                <a:cs typeface="Times New Roman" panose="02020603050405020304" pitchFamily="18" charset="0"/>
              </a:rPr>
              <a:t>            </a:t>
            </a:r>
            <a:r>
              <a:rPr lang="en-US" sz="2800" b="1" kern="100" dirty="0">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throws </a:t>
            </a:r>
            <a:r>
              <a:rPr lang="en-US" sz="2800" b="1" kern="100" dirty="0" err="1">
                <a:solidFill>
                  <a:schemeClr val="accent2">
                    <a:lumMod val="75000"/>
                  </a:schemeClr>
                </a:solidFill>
                <a:effectLst/>
                <a:latin typeface="Cascadia Code" panose="020B0609020000020004" pitchFamily="49" charset="0"/>
                <a:ea typeface="Aptos" panose="020B0004020202020204" pitchFamily="34" charset="0"/>
                <a:cs typeface="Times New Roman" panose="02020603050405020304" pitchFamily="18" charset="0"/>
              </a:rPr>
              <a:t>FileNotFoundException</a:t>
            </a:r>
            <a:r>
              <a:rPr lang="en-US" sz="2800" b="1" kern="100" dirty="0">
                <a:effectLst/>
                <a:latin typeface="Cascadia Code" panose="020B0609020000020004" pitchFamily="49" charset="0"/>
                <a:ea typeface="Aptos" panose="020B0004020202020204" pitchFamily="34" charset="0"/>
                <a:cs typeface="Times New Roman" panose="02020603050405020304" pitchFamily="18" charset="0"/>
              </a:rPr>
              <a:t>;</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385CA071-8C94-A3F2-FBBC-E0BA7E055545}"/>
              </a:ext>
            </a:extLst>
          </p:cNvPr>
          <p:cNvSpPr txBox="1"/>
          <p:nvPr/>
        </p:nvSpPr>
        <p:spPr>
          <a:xfrm>
            <a:off x="0" y="1320224"/>
            <a:ext cx="9144000" cy="1077218"/>
          </a:xfrm>
          <a:prstGeom prst="rect">
            <a:avLst/>
          </a:prstGeom>
          <a:noFill/>
        </p:spPr>
        <p:txBody>
          <a:bodyPr wrap="square">
            <a:spAutoFit/>
          </a:bodyPr>
          <a:lstStyle/>
          <a:p>
            <a:pPr algn="ctr"/>
            <a:r>
              <a:rPr lang="en-US" sz="3200" kern="100" dirty="0">
                <a:solidFill>
                  <a:srgbClr val="7030A0"/>
                </a:solidFill>
                <a:latin typeface="Cascadia Code" panose="020B0609020000020004" pitchFamily="49" charset="0"/>
                <a:ea typeface="Aptos" panose="020B0004020202020204" pitchFamily="34" charset="0"/>
                <a:cs typeface="Times New Roman" panose="02020603050405020304" pitchFamily="18" charset="0"/>
              </a:rPr>
              <a:t>open0()</a:t>
            </a:r>
            <a:r>
              <a:rPr lang="en-US" sz="3200" kern="1200" dirty="0">
                <a:solidFill>
                  <a:srgbClr val="7030A0"/>
                </a:solidFill>
                <a:effectLst/>
                <a:latin typeface="Times New Roman" pitchFamily="18" charset="0"/>
                <a:ea typeface="+mn-ea"/>
                <a:cs typeface="+mn-cs"/>
              </a:rPr>
              <a:t> </a:t>
            </a:r>
            <a:r>
              <a:rPr lang="en-US" sz="3200" dirty="0">
                <a:solidFill>
                  <a:srgbClr val="7030A0"/>
                </a:solidFill>
                <a:latin typeface="Times New Roman" pitchFamily="18" charset="0"/>
              </a:rPr>
              <a:t>threw the exception, which was then propagated up the call stack.</a:t>
            </a:r>
            <a:endParaRPr lang="en-US" sz="3200" kern="1200" dirty="0">
              <a:solidFill>
                <a:srgbClr val="7030A0"/>
              </a:solidFill>
              <a:effectLst/>
              <a:latin typeface="Times New Roman" pitchFamily="18" charset="0"/>
              <a:ea typeface="+mn-ea"/>
              <a:cs typeface="+mn-cs"/>
            </a:endParaRPr>
          </a:p>
        </p:txBody>
      </p:sp>
    </p:spTree>
    <p:extLst>
      <p:ext uri="{BB962C8B-B14F-4D97-AF65-F5344CB8AC3E}">
        <p14:creationId xmlns:p14="http://schemas.microsoft.com/office/powerpoint/2010/main" val="3197686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980E1-463A-E8CC-9A3E-76A2E532D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FE2D9F-4CFC-2CB7-26E0-E6C3FF8D65CB}"/>
              </a:ext>
            </a:extLst>
          </p:cNvPr>
          <p:cNvSpPr>
            <a:spLocks noGrp="1"/>
          </p:cNvSpPr>
          <p:nvPr>
            <p:ph type="title"/>
          </p:nvPr>
        </p:nvSpPr>
        <p:spPr>
          <a:xfrm>
            <a:off x="685800" y="190500"/>
            <a:ext cx="7772400" cy="800100"/>
          </a:xfrm>
        </p:spPr>
        <p:txBody>
          <a:bodyPr/>
          <a:lstStyle/>
          <a:p>
            <a:r>
              <a:rPr lang="en-US" dirty="0"/>
              <a:t>Stack Trace</a:t>
            </a:r>
          </a:p>
        </p:txBody>
      </p:sp>
      <p:sp>
        <p:nvSpPr>
          <p:cNvPr id="3" name="Content Placeholder 2">
            <a:extLst>
              <a:ext uri="{FF2B5EF4-FFF2-40B4-BE49-F238E27FC236}">
                <a16:creationId xmlns:a16="http://schemas.microsoft.com/office/drawing/2014/main" id="{8BCB3FC1-D277-7CF4-7B79-9C99AE2DCEEA}"/>
              </a:ext>
            </a:extLst>
          </p:cNvPr>
          <p:cNvSpPr>
            <a:spLocks noGrp="1"/>
          </p:cNvSpPr>
          <p:nvPr>
            <p:ph idx="1"/>
          </p:nvPr>
        </p:nvSpPr>
        <p:spPr>
          <a:xfrm>
            <a:off x="0" y="1219200"/>
            <a:ext cx="9144000" cy="5562600"/>
          </a:xfrm>
        </p:spPr>
        <p:txBody>
          <a:bodyPr/>
          <a:lstStyle/>
          <a:p>
            <a:pPr marL="0" indent="0">
              <a:lnSpc>
                <a:spcPct val="115000"/>
              </a:lnSpc>
              <a:spcAft>
                <a:spcPts val="800"/>
              </a:spcAft>
              <a:buNone/>
              <a:tabLst>
                <a:tab pos="4054475" algn="l"/>
              </a:tabLst>
            </a:pPr>
            <a: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t>Exception in thread "main" </a:t>
            </a:r>
            <a:b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t>           </a:t>
            </a:r>
            <a:r>
              <a:rPr lang="en-US" sz="2200" kern="100" dirty="0" err="1">
                <a:effectLst/>
                <a:latin typeface="Cascadia Code" panose="020B0609020000020004" pitchFamily="49" charset="0"/>
                <a:ea typeface="Aptos" panose="020B0004020202020204" pitchFamily="34" charset="0"/>
                <a:cs typeface="Times New Roman" panose="02020603050405020304" pitchFamily="18" charset="0"/>
              </a:rPr>
              <a:t>java.io.FileNotFoundException</a:t>
            </a:r>
            <a: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t>: </a:t>
            </a:r>
            <a:r>
              <a:rPr lang="en-US" sz="2200" kern="100" dirty="0">
                <a:solidFill>
                  <a:srgbClr val="FF0000"/>
                </a:solidFill>
                <a:effectLst/>
                <a:latin typeface="Cascadia Code" panose="020B0609020000020004" pitchFamily="49" charset="0"/>
                <a:ea typeface="Aptos" panose="020B0004020202020204" pitchFamily="34" charset="0"/>
                <a:cs typeface="Times New Roman" panose="02020603050405020304" pitchFamily="18" charset="0"/>
              </a:rPr>
              <a:t>wrong.name </a:t>
            </a:r>
            <a:endParaRPr lang="en-US" sz="22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Aft>
                <a:spcPts val="800"/>
              </a:spcAft>
              <a:buNone/>
              <a:tabLst>
                <a:tab pos="4054475" algn="l"/>
              </a:tabLst>
            </a:pPr>
            <a: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t>   at </a:t>
            </a:r>
            <a:r>
              <a:rPr lang="en-US" sz="2200" kern="100" dirty="0" err="1">
                <a:effectLst/>
                <a:latin typeface="Cascadia Code" panose="020B0609020000020004" pitchFamily="49" charset="0"/>
                <a:ea typeface="Aptos" panose="020B0004020202020204" pitchFamily="34" charset="0"/>
                <a:cs typeface="Times New Roman" panose="02020603050405020304" pitchFamily="18" charset="0"/>
              </a:rPr>
              <a:t>java.base</a:t>
            </a:r>
            <a: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t>/java.io.FileInputStream.open0</a:t>
            </a:r>
            <a:b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t> 	(Native Method)</a:t>
            </a:r>
            <a:br>
              <a:rPr lang="en-US" sz="2200" kern="100" dirty="0">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at </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java.base</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java.io.FileInputStream.open</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(FileInputStream.java:213)</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at </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java.base</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java.io.FileInputStream</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.&lt;</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init</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&gt;</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(FileInputStream.java:152)</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at </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java.base</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java.util.Scanner</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.&lt;</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init</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&gt;</a:t>
            </a:r>
            <a:r>
              <a:rPr lang="en-US" sz="2200" kern="100" dirty="0">
                <a:solidFill>
                  <a:srgbClr val="006600"/>
                </a:solidFill>
                <a:latin typeface="Cascadia Code" panose="020B0609020000020004" pitchFamily="49" charset="0"/>
                <a:ea typeface="Aptos" panose="020B0004020202020204" pitchFamily="34" charset="0"/>
                <a:cs typeface="Times New Roman" panose="02020603050405020304" pitchFamily="18" charset="0"/>
              </a:rPr>
              <a:t>		</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(Scanner.java:662)</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at </a:t>
            </a:r>
            <a:r>
              <a:rPr lang="en-US" sz="2200" kern="100" dirty="0" err="1">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Histogram.loadAndAnalyzeFile</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latin typeface="Cascadia Code" panose="020B0609020000020004" pitchFamily="49" charset="0"/>
                <a:ea typeface="Aptos" panose="020B0004020202020204" pitchFamily="34" charset="0"/>
                <a:cs typeface="Times New Roman" panose="02020603050405020304" pitchFamily="18" charset="0"/>
              </a:rPr>
              <a:t> 	</a:t>
            </a: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(Histogram.java:43)</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at Lab04c.main	</a:t>
            </a:r>
            <a:b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br>
            <a:r>
              <a:rPr lang="en-US" sz="2200" kern="100" dirty="0">
                <a:solidFill>
                  <a:srgbClr val="006600"/>
                </a:solidFill>
                <a:effectLst/>
                <a:latin typeface="Cascadia Code" panose="020B0609020000020004" pitchFamily="49" charset="0"/>
                <a:ea typeface="Aptos" panose="020B0004020202020204" pitchFamily="34" charset="0"/>
                <a:cs typeface="Times New Roman" panose="02020603050405020304" pitchFamily="18" charset="0"/>
              </a:rPr>
              <a:t> 	(Lab04c.java:9)</a:t>
            </a:r>
            <a:endParaRPr lang="en-US" sz="2200" dirty="0">
              <a:solidFill>
                <a:srgbClr val="006600"/>
              </a:solidFill>
            </a:endParaRPr>
          </a:p>
        </p:txBody>
      </p:sp>
    </p:spTree>
    <p:extLst>
      <p:ext uri="{BB962C8B-B14F-4D97-AF65-F5344CB8AC3E}">
        <p14:creationId xmlns:p14="http://schemas.microsoft.com/office/powerpoint/2010/main" val="22785555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D94D2-5CDF-A899-BCB0-EDD346AC7FED}"/>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2479A625-F95E-1914-069A-2FB242307F08}"/>
              </a:ext>
            </a:extLst>
          </p:cNvPr>
          <p:cNvSpPr>
            <a:spLocks noGrp="1"/>
          </p:cNvSpPr>
          <p:nvPr>
            <p:ph type="ftr" sz="quarter" idx="12"/>
          </p:nvPr>
        </p:nvSpPr>
        <p:spPr>
          <a:xfrm>
            <a:off x="6171252" y="6320415"/>
            <a:ext cx="2895600" cy="457200"/>
          </a:xfrm>
        </p:spPr>
        <p:txBody>
          <a:bodyPr/>
          <a:lstStyle/>
          <a:p>
            <a:pPr>
              <a:defRPr/>
            </a:pPr>
            <a:endParaRPr lang="en-US" dirty="0"/>
          </a:p>
          <a:p>
            <a:pPr>
              <a:defRPr/>
            </a:pPr>
            <a:endParaRPr lang="en-US" b="0" dirty="0">
              <a:latin typeface="Tahoma" pitchFamily="34" charset="0"/>
            </a:endParaRPr>
          </a:p>
          <a:p>
            <a:pPr>
              <a:defRPr/>
            </a:pPr>
            <a:endParaRPr lang="en-US" dirty="0">
              <a:latin typeface="Tahoma" pitchFamily="34" charset="0"/>
            </a:endParaRPr>
          </a:p>
          <a:p>
            <a:pPr>
              <a:defRPr/>
            </a:pPr>
            <a:r>
              <a:rPr lang="en-US" dirty="0">
                <a:latin typeface="Tahoma" pitchFamily="34" charset="0"/>
              </a:rPr>
              <a:t>© A+ Computer Science  -  www.apluscompsci.com</a:t>
            </a:r>
          </a:p>
        </p:txBody>
      </p:sp>
      <p:sp>
        <p:nvSpPr>
          <p:cNvPr id="2" name="Rectangle 1">
            <a:extLst>
              <a:ext uri="{FF2B5EF4-FFF2-40B4-BE49-F238E27FC236}">
                <a16:creationId xmlns:a16="http://schemas.microsoft.com/office/drawing/2014/main" id="{9900573F-2F2F-948C-7666-9F8E12EC549A}"/>
              </a:ext>
            </a:extLst>
          </p:cNvPr>
          <p:cNvSpPr/>
          <p:nvPr/>
        </p:nvSpPr>
        <p:spPr>
          <a:xfrm>
            <a:off x="1121375" y="1120676"/>
            <a:ext cx="6901249" cy="2308324"/>
          </a:xfrm>
          <a:prstGeom prst="rect">
            <a:avLst/>
          </a:prstGeom>
          <a:noFill/>
        </p:spPr>
        <p:txBody>
          <a:bodyPr wrap="none" lIns="91440" tIns="45720" rIns="91440" bIns="45720">
            <a:spAutoFit/>
          </a:bodyPr>
          <a:lstStyle/>
          <a:p>
            <a:pPr algn="ctr"/>
            <a:r>
              <a:rPr lang="en-US" sz="48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Handling Exceptions</a:t>
            </a:r>
          </a:p>
          <a:p>
            <a:pPr algn="ctr"/>
            <a:endParaRPr lang="en-US" sz="4800" dirty="0">
              <a:ln w="22225">
                <a:solidFill>
                  <a:schemeClr val="accent2"/>
                </a:solidFill>
                <a:prstDash val="solid"/>
              </a:ln>
              <a:solidFill>
                <a:srgbClr val="0000CC"/>
              </a:solidFill>
              <a:effectLst>
                <a:outerShdw blurRad="50800" dist="38100" dir="10800000" algn="r" rotWithShape="0">
                  <a:prstClr val="black">
                    <a:alpha val="40000"/>
                  </a:prstClr>
                </a:outerShdw>
              </a:effectLst>
            </a:endParaRPr>
          </a:p>
          <a:p>
            <a:pPr algn="ctr"/>
            <a:r>
              <a:rPr lang="en-US" sz="48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try-catch-finally blocks</a:t>
            </a:r>
          </a:p>
        </p:txBody>
      </p:sp>
    </p:spTree>
    <p:extLst>
      <p:ext uri="{BB962C8B-B14F-4D97-AF65-F5344CB8AC3E}">
        <p14:creationId xmlns:p14="http://schemas.microsoft.com/office/powerpoint/2010/main" val="19262579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C90D7FC3-13CD-4A38-8E02-D269ED40996C}"/>
              </a:ext>
            </a:extLst>
          </p:cNvPr>
          <p:cNvSpPr>
            <a:spLocks noGrp="1"/>
          </p:cNvSpPr>
          <p:nvPr>
            <p:ph type="ftr" sz="quarter" idx="12"/>
          </p:nvPr>
        </p:nvSpPr>
        <p:spPr>
          <a:xfrm>
            <a:off x="6171252" y="6320415"/>
            <a:ext cx="2895600" cy="457200"/>
          </a:xfrm>
        </p:spPr>
        <p:txBody>
          <a:bodyPr/>
          <a:lstStyle/>
          <a:p>
            <a:pPr>
              <a:defRPr/>
            </a:pPr>
            <a:endParaRPr lang="en-US" dirty="0"/>
          </a:p>
          <a:p>
            <a:pPr>
              <a:defRPr/>
            </a:pPr>
            <a:endParaRPr lang="en-US" b="0" dirty="0">
              <a:latin typeface="Tahoma" pitchFamily="34" charset="0"/>
            </a:endParaRPr>
          </a:p>
          <a:p>
            <a:pPr>
              <a:defRPr/>
            </a:pPr>
            <a:endParaRPr lang="en-US" dirty="0">
              <a:latin typeface="Tahoma" pitchFamily="34" charset="0"/>
            </a:endParaRPr>
          </a:p>
          <a:p>
            <a:pPr>
              <a:defRPr/>
            </a:pPr>
            <a:r>
              <a:rPr lang="en-US" dirty="0">
                <a:latin typeface="Tahoma" pitchFamily="34" charset="0"/>
              </a:rPr>
              <a:t>© A+ Computer Science  -  www.apluscompsci.com</a:t>
            </a:r>
          </a:p>
        </p:txBody>
      </p:sp>
      <p:sp>
        <p:nvSpPr>
          <p:cNvPr id="20483" name="Text Box 2">
            <a:extLst>
              <a:ext uri="{FF2B5EF4-FFF2-40B4-BE49-F238E27FC236}">
                <a16:creationId xmlns:a16="http://schemas.microsoft.com/office/drawing/2014/main" id="{B24D60AD-5D3C-42AC-BE15-3B1D8DB87A63}"/>
              </a:ext>
            </a:extLst>
          </p:cNvPr>
          <p:cNvSpPr txBox="1">
            <a:spLocks noChangeArrowheads="1"/>
          </p:cNvSpPr>
          <p:nvPr/>
        </p:nvSpPr>
        <p:spPr bwMode="auto">
          <a:xfrm>
            <a:off x="609600" y="1676400"/>
            <a:ext cx="8158003"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Reserved words that you need to know to use </a:t>
            </a:r>
          </a:p>
          <a:p>
            <a:pPr>
              <a:spcBef>
                <a:spcPct val="0"/>
              </a:spcBef>
              <a:buFontTx/>
              <a:buNone/>
            </a:pPr>
            <a:r>
              <a:rPr lang="en-US" altLang="en-US" sz="2400" dirty="0">
                <a:latin typeface="Arial" panose="020B0604020202020204" pitchFamily="34" charset="0"/>
              </a:rPr>
              <a:t>exception handling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latin typeface="Consolas" panose="020B0609020204030204" pitchFamily="49" charset="0"/>
              </a:rPr>
              <a:t>try</a:t>
            </a:r>
            <a:r>
              <a:rPr lang="en-US" altLang="en-US" sz="2400" dirty="0">
                <a:latin typeface="Arial" panose="020B0604020202020204" pitchFamily="34" charset="0"/>
              </a:rPr>
              <a:t>  -  try unsafe code and see what happens</a:t>
            </a:r>
          </a:p>
          <a:p>
            <a:pPr>
              <a:spcBef>
                <a:spcPct val="0"/>
              </a:spcBef>
              <a:buFontTx/>
              <a:buNone/>
            </a:pPr>
            <a:endParaRPr lang="en-US" altLang="en-US" sz="2400" dirty="0">
              <a:latin typeface="Arial" panose="020B0604020202020204" pitchFamily="34" charset="0"/>
            </a:endParaRPr>
          </a:p>
          <a:p>
            <a:pPr marL="1257300" indent="-1257300">
              <a:spcBef>
                <a:spcPct val="0"/>
              </a:spcBef>
              <a:buFontTx/>
              <a:buNone/>
            </a:pPr>
            <a:r>
              <a:rPr lang="en-US" altLang="en-US" sz="2400" dirty="0">
                <a:latin typeface="Consolas" panose="020B0609020204030204" pitchFamily="49" charset="0"/>
              </a:rPr>
              <a:t>catch</a:t>
            </a:r>
            <a:r>
              <a:rPr lang="en-US" altLang="en-US" sz="2400" dirty="0">
                <a:latin typeface="Arial" panose="020B0604020202020204" pitchFamily="34" charset="0"/>
              </a:rPr>
              <a:t>  -  if the try blew up, catch the exception thrown</a:t>
            </a:r>
            <a:br>
              <a:rPr lang="en-US" altLang="en-US" sz="2400" dirty="0">
                <a:latin typeface="Arial" panose="020B0604020202020204" pitchFamily="34" charset="0"/>
              </a:rPr>
            </a:br>
            <a:r>
              <a:rPr lang="en-US" altLang="en-US" sz="2400" dirty="0">
                <a:latin typeface="Arial" panose="020B0604020202020204" pitchFamily="34" charset="0"/>
              </a:rPr>
              <a:t>and handle it (i.e. resolve the issue).</a:t>
            </a:r>
          </a:p>
          <a:p>
            <a:pPr>
              <a:spcBef>
                <a:spcPct val="0"/>
              </a:spcBef>
              <a:buFontTx/>
              <a:buNone/>
            </a:pPr>
            <a:endParaRPr lang="en-US" altLang="en-US" sz="2400" dirty="0">
              <a:latin typeface="Arial" panose="020B0604020202020204" pitchFamily="34" charset="0"/>
            </a:endParaRPr>
          </a:p>
          <a:p>
            <a:pPr marL="1485900" indent="-1485900">
              <a:spcBef>
                <a:spcPct val="0"/>
              </a:spcBef>
              <a:buFontTx/>
              <a:buNone/>
            </a:pPr>
            <a:r>
              <a:rPr lang="en-US" altLang="en-US" sz="2400" dirty="0">
                <a:latin typeface="Consolas" panose="020B0609020204030204" pitchFamily="49" charset="0"/>
              </a:rPr>
              <a:t>finally</a:t>
            </a:r>
            <a:r>
              <a:rPr lang="en-US" altLang="en-US" sz="2400" dirty="0">
                <a:latin typeface="Arial" panose="020B0604020202020204" pitchFamily="34" charset="0"/>
              </a:rPr>
              <a:t> -  this section always happens no matter what</a:t>
            </a:r>
            <a:br>
              <a:rPr lang="en-US" altLang="en-US" sz="2400" dirty="0">
                <a:latin typeface="Arial" panose="020B0604020202020204" pitchFamily="34" charset="0"/>
              </a:rPr>
            </a:br>
            <a:r>
              <a:rPr lang="en-US" altLang="en-US" sz="2400" dirty="0">
                <a:latin typeface="Arial" panose="020B0604020202020204" pitchFamily="34" charset="0"/>
              </a:rPr>
              <a:t>and is used to release resources.</a:t>
            </a:r>
          </a:p>
        </p:txBody>
      </p:sp>
      <p:sp>
        <p:nvSpPr>
          <p:cNvPr id="2" name="Rectangle 1">
            <a:extLst>
              <a:ext uri="{FF2B5EF4-FFF2-40B4-BE49-F238E27FC236}">
                <a16:creationId xmlns:a16="http://schemas.microsoft.com/office/drawing/2014/main" id="{740A9185-18A7-DAB6-2A2B-A9E6ABEA372D}"/>
              </a:ext>
            </a:extLst>
          </p:cNvPr>
          <p:cNvSpPr/>
          <p:nvPr/>
        </p:nvSpPr>
        <p:spPr>
          <a:xfrm>
            <a:off x="1480834" y="465676"/>
            <a:ext cx="6282489" cy="830997"/>
          </a:xfrm>
          <a:prstGeom prst="rect">
            <a:avLst/>
          </a:prstGeom>
          <a:noFill/>
        </p:spPr>
        <p:txBody>
          <a:bodyPr wrap="none" lIns="91440" tIns="45720" rIns="91440" bIns="45720">
            <a:spAutoFit/>
          </a:bodyPr>
          <a:lstStyle/>
          <a:p>
            <a:pPr algn="ctr"/>
            <a:r>
              <a:rPr lang="en-US" sz="48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Handling Exceptions</a:t>
            </a:r>
          </a:p>
        </p:txBody>
      </p:sp>
      <p:sp>
        <p:nvSpPr>
          <p:cNvPr id="4" name="TextBox 3">
            <a:extLst>
              <a:ext uri="{FF2B5EF4-FFF2-40B4-BE49-F238E27FC236}">
                <a16:creationId xmlns:a16="http://schemas.microsoft.com/office/drawing/2014/main" id="{69923C5E-98F7-4619-9FEA-8A7923C8AE61}"/>
              </a:ext>
            </a:extLst>
          </p:cNvPr>
          <p:cNvSpPr txBox="1"/>
          <p:nvPr/>
        </p:nvSpPr>
        <p:spPr>
          <a:xfrm>
            <a:off x="0" y="5725180"/>
            <a:ext cx="9144000" cy="523220"/>
          </a:xfrm>
          <a:prstGeom prst="rect">
            <a:avLst/>
          </a:prstGeom>
          <a:noFill/>
        </p:spPr>
        <p:txBody>
          <a:bodyPr wrap="square">
            <a:spAutoFit/>
          </a:bodyPr>
          <a:lstStyle/>
          <a:p>
            <a:pPr algn="ctr">
              <a:spcBef>
                <a:spcPct val="0"/>
              </a:spcBef>
              <a:buFontTx/>
              <a:buNone/>
            </a:pPr>
            <a:r>
              <a:rPr lang="en-US" altLang="en-US" sz="2800" dirty="0">
                <a:solidFill>
                  <a:schemeClr val="accent2">
                    <a:lumMod val="75000"/>
                  </a:schemeClr>
                </a:solidFill>
                <a:highlight>
                  <a:srgbClr val="00FFFF"/>
                </a:highlight>
                <a:latin typeface="Arial" panose="020B0604020202020204" pitchFamily="34" charset="0"/>
              </a:rPr>
              <a:t>Every </a:t>
            </a:r>
            <a:r>
              <a:rPr lang="en-US" altLang="en-US" sz="2800" dirty="0">
                <a:solidFill>
                  <a:schemeClr val="accent2">
                    <a:lumMod val="75000"/>
                  </a:schemeClr>
                </a:solidFill>
                <a:highlight>
                  <a:srgbClr val="00FFFF"/>
                </a:highlight>
                <a:latin typeface="Consolas" panose="020B0609020204030204" pitchFamily="49" charset="0"/>
              </a:rPr>
              <a:t>try</a:t>
            </a:r>
            <a:r>
              <a:rPr lang="en-US" altLang="en-US" sz="2800" dirty="0">
                <a:solidFill>
                  <a:schemeClr val="accent2">
                    <a:lumMod val="75000"/>
                  </a:schemeClr>
                </a:solidFill>
                <a:highlight>
                  <a:srgbClr val="00FFFF"/>
                </a:highlight>
                <a:latin typeface="Arial" panose="020B0604020202020204" pitchFamily="34" charset="0"/>
              </a:rPr>
              <a:t> block must have a </a:t>
            </a:r>
            <a:r>
              <a:rPr lang="en-US" altLang="en-US" sz="2800" dirty="0">
                <a:solidFill>
                  <a:schemeClr val="accent2">
                    <a:lumMod val="75000"/>
                  </a:schemeClr>
                </a:solidFill>
                <a:highlight>
                  <a:srgbClr val="00FFFF"/>
                </a:highlight>
                <a:latin typeface="Consolas" panose="020B0609020204030204" pitchFamily="49" charset="0"/>
              </a:rPr>
              <a:t>catch</a:t>
            </a:r>
            <a:r>
              <a:rPr lang="en-US" altLang="en-US" sz="2800" dirty="0">
                <a:solidFill>
                  <a:schemeClr val="accent2">
                    <a:lumMod val="75000"/>
                  </a:schemeClr>
                </a:solidFill>
                <a:highlight>
                  <a:srgbClr val="00FFFF"/>
                </a:highlight>
                <a:latin typeface="Arial" panose="020B0604020202020204" pitchFamily="34" charset="0"/>
              </a:rPr>
              <a:t> OR finally </a:t>
            </a:r>
            <a:r>
              <a:rPr lang="en-US" altLang="en-US" sz="2800" dirty="0">
                <a:solidFill>
                  <a:schemeClr val="accent2">
                    <a:lumMod val="75000"/>
                  </a:schemeClr>
                </a:solidFill>
                <a:highlight>
                  <a:srgbClr val="00FFFF"/>
                </a:highlight>
                <a:latin typeface="Consolas" panose="020B0609020204030204" pitchFamily="49" charset="0"/>
              </a:rPr>
              <a:t>block</a:t>
            </a:r>
            <a:r>
              <a:rPr lang="en-US" altLang="en-US" sz="2800" dirty="0">
                <a:solidFill>
                  <a:schemeClr val="accent2">
                    <a:lumMod val="75000"/>
                  </a:schemeClr>
                </a:solidFill>
                <a:highlight>
                  <a:srgbClr val="00FFFF"/>
                </a:highlight>
                <a:latin typeface="Arial" panose="020B0604020202020204" pitchFamily="34" charset="0"/>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ABBBA-8F58-3EE5-5352-47548B830AE6}"/>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EF5B02D5-1122-D0D3-5949-DCC46D2010AF}"/>
              </a:ext>
            </a:extLst>
          </p:cNvPr>
          <p:cNvSpPr>
            <a:spLocks noGrp="1"/>
          </p:cNvSpPr>
          <p:nvPr>
            <p:ph type="ftr" sz="quarter" idx="12"/>
          </p:nvPr>
        </p:nvSpPr>
        <p:spPr>
          <a:xfrm>
            <a:off x="6171252" y="6320415"/>
            <a:ext cx="2895600" cy="457200"/>
          </a:xfrm>
        </p:spPr>
        <p:txBody>
          <a:bodyPr/>
          <a:lstStyle/>
          <a:p>
            <a:pPr>
              <a:defRPr/>
            </a:pPr>
            <a:endParaRPr lang="en-US" dirty="0"/>
          </a:p>
          <a:p>
            <a:pPr>
              <a:defRPr/>
            </a:pPr>
            <a:endParaRPr lang="en-US" b="0" dirty="0">
              <a:latin typeface="Tahoma" pitchFamily="34" charset="0"/>
            </a:endParaRPr>
          </a:p>
          <a:p>
            <a:pPr>
              <a:defRPr/>
            </a:pPr>
            <a:endParaRPr lang="en-US" dirty="0">
              <a:latin typeface="Tahoma" pitchFamily="34" charset="0"/>
            </a:endParaRPr>
          </a:p>
          <a:p>
            <a:pPr>
              <a:defRPr/>
            </a:pPr>
            <a:r>
              <a:rPr lang="en-US" dirty="0">
                <a:latin typeface="Tahoma" pitchFamily="34" charset="0"/>
              </a:rPr>
              <a:t>© A+ Computer Science  -  www.apluscompsci.com</a:t>
            </a:r>
          </a:p>
        </p:txBody>
      </p:sp>
      <p:sp>
        <p:nvSpPr>
          <p:cNvPr id="20483" name="Text Box 2">
            <a:extLst>
              <a:ext uri="{FF2B5EF4-FFF2-40B4-BE49-F238E27FC236}">
                <a16:creationId xmlns:a16="http://schemas.microsoft.com/office/drawing/2014/main" id="{EC3B4D29-73C7-5CEF-B9DA-D518F3E30162}"/>
              </a:ext>
            </a:extLst>
          </p:cNvPr>
          <p:cNvSpPr txBox="1">
            <a:spLocks noChangeArrowheads="1"/>
          </p:cNvSpPr>
          <p:nvPr/>
        </p:nvSpPr>
        <p:spPr bwMode="auto">
          <a:xfrm>
            <a:off x="457200" y="914400"/>
            <a:ext cx="8686799"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Arial" panose="020B0604020202020204" pitchFamily="34" charset="0"/>
              </a:rPr>
              <a:t>Scanner </a:t>
            </a:r>
            <a:r>
              <a:rPr lang="en-US" altLang="en-US" sz="2400" b="0" dirty="0" err="1">
                <a:latin typeface="Arial" panose="020B0604020202020204" pitchFamily="34" charset="0"/>
              </a:rPr>
              <a:t>scanner</a:t>
            </a:r>
            <a:r>
              <a:rPr lang="en-US" altLang="en-US" sz="2400" b="0" dirty="0">
                <a:latin typeface="Arial" panose="020B0604020202020204" pitchFamily="34" charset="0"/>
              </a:rPr>
              <a:t> = new Scanner(System.in);</a:t>
            </a:r>
          </a:p>
          <a:p>
            <a:pPr>
              <a:spcBef>
                <a:spcPct val="0"/>
              </a:spcBef>
              <a:buFontTx/>
              <a:buNone/>
            </a:pPr>
            <a:r>
              <a:rPr lang="en-US" altLang="en-US" sz="2400" dirty="0" err="1">
                <a:latin typeface="Arial" panose="020B0604020202020204" pitchFamily="34" charset="0"/>
              </a:rPr>
              <a:t>boolean</a:t>
            </a:r>
            <a:r>
              <a:rPr lang="en-US" altLang="en-US" sz="2400" dirty="0">
                <a:latin typeface="Arial" panose="020B0604020202020204" pitchFamily="34" charset="0"/>
              </a:rPr>
              <a:t> </a:t>
            </a:r>
            <a:r>
              <a:rPr lang="en-US" altLang="en-US" sz="2400" dirty="0" err="1">
                <a:latin typeface="Arial" panose="020B0604020202020204" pitchFamily="34" charset="0"/>
              </a:rPr>
              <a:t>fileFound</a:t>
            </a:r>
            <a:r>
              <a:rPr lang="en-US" altLang="en-US" sz="2400" dirty="0">
                <a:latin typeface="Arial" panose="020B0604020202020204" pitchFamily="34" charset="0"/>
              </a:rPr>
              <a:t> = false;</a:t>
            </a:r>
          </a:p>
          <a:p>
            <a:pPr>
              <a:spcBef>
                <a:spcPct val="0"/>
              </a:spcBef>
              <a:buFontTx/>
              <a:buNone/>
            </a:pPr>
            <a:r>
              <a:rPr lang="en-US" altLang="en-US" sz="2400" b="0" i="1" dirty="0">
                <a:latin typeface="Arial" panose="020B0604020202020204" pitchFamily="34" charset="0"/>
              </a:rPr>
              <a:t>&lt;&lt; code to get letters &gt;&gt;</a:t>
            </a:r>
          </a:p>
          <a:p>
            <a:pPr>
              <a:spcBef>
                <a:spcPct val="0"/>
              </a:spcBef>
              <a:buFontTx/>
              <a:buNone/>
            </a:pPr>
            <a:r>
              <a:rPr lang="en-US" altLang="en-US" sz="2400" b="0" dirty="0">
                <a:latin typeface="Arial" panose="020B0604020202020204" pitchFamily="34" charset="0"/>
              </a:rPr>
              <a:t>Histogram test = new Histogram(letters);</a:t>
            </a:r>
          </a:p>
          <a:p>
            <a:pPr>
              <a:spcBef>
                <a:spcPct val="0"/>
              </a:spcBef>
              <a:buFontTx/>
              <a:buNone/>
            </a:pPr>
            <a:r>
              <a:rPr lang="en-US" altLang="en-US" sz="2400" dirty="0">
                <a:latin typeface="Arial" panose="020B0604020202020204" pitchFamily="34" charset="0"/>
              </a:rPr>
              <a:t>while ( ! </a:t>
            </a:r>
            <a:r>
              <a:rPr lang="en-US" altLang="en-US" sz="2400" dirty="0" err="1">
                <a:latin typeface="Arial" panose="020B0604020202020204" pitchFamily="34" charset="0"/>
              </a:rPr>
              <a:t>fileFound</a:t>
            </a:r>
            <a:r>
              <a:rPr lang="en-US" altLang="en-US" sz="2400" dirty="0">
                <a:latin typeface="Arial" panose="020B0604020202020204" pitchFamily="34" charset="0"/>
              </a:rPr>
              <a:t> ) {</a:t>
            </a:r>
          </a:p>
          <a:p>
            <a:pPr>
              <a:spcBef>
                <a:spcPct val="0"/>
              </a:spcBef>
              <a:buFontTx/>
              <a:buNone/>
            </a:pPr>
            <a:r>
              <a:rPr lang="en-US" altLang="en-US" sz="2400" dirty="0">
                <a:latin typeface="Arial" panose="020B0604020202020204" pitchFamily="34" charset="0"/>
              </a:rPr>
              <a:t>   try {</a:t>
            </a:r>
          </a:p>
          <a:p>
            <a:pPr>
              <a:spcBef>
                <a:spcPct val="0"/>
              </a:spcBef>
              <a:buFontTx/>
              <a:buNone/>
            </a:pPr>
            <a:r>
              <a:rPr lang="en-US" altLang="en-US" sz="2400" b="0" dirty="0">
                <a:latin typeface="Arial" panose="020B0604020202020204" pitchFamily="34" charset="0"/>
              </a:rPr>
              <a:t>      print("Enter the file name: ");</a:t>
            </a:r>
          </a:p>
          <a:p>
            <a:pPr>
              <a:spcBef>
                <a:spcPct val="0"/>
              </a:spcBef>
              <a:buFontTx/>
              <a:buNone/>
            </a:pPr>
            <a:r>
              <a:rPr lang="en-US" altLang="en-US" sz="2400" b="0" dirty="0">
                <a:latin typeface="Arial" panose="020B0604020202020204" pitchFamily="34" charset="0"/>
              </a:rPr>
              <a:t>      String </a:t>
            </a:r>
            <a:r>
              <a:rPr lang="en-US" altLang="en-US" sz="2400" b="0" dirty="0" err="1">
                <a:latin typeface="Arial" panose="020B0604020202020204" pitchFamily="34" charset="0"/>
              </a:rPr>
              <a:t>fileName</a:t>
            </a:r>
            <a:r>
              <a:rPr lang="en-US" altLang="en-US" sz="2400" b="0" dirty="0">
                <a:latin typeface="Arial" panose="020B0604020202020204" pitchFamily="34" charset="0"/>
              </a:rPr>
              <a:t> = </a:t>
            </a:r>
            <a:r>
              <a:rPr lang="en-US" altLang="en-US" sz="2400" b="0" dirty="0" err="1">
                <a:latin typeface="Arial" panose="020B0604020202020204" pitchFamily="34" charset="0"/>
              </a:rPr>
              <a:t>scanner.next</a:t>
            </a:r>
            <a:r>
              <a:rPr lang="en-US" altLang="en-US" sz="2400" b="0" dirty="0">
                <a:latin typeface="Arial" panose="020B0604020202020204" pitchFamily="34" charset="0"/>
              </a:rPr>
              <a:t>();</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test.loadAndAnalyzeFile</a:t>
            </a:r>
            <a:r>
              <a:rPr lang="en-US" altLang="en-US" sz="2400" dirty="0">
                <a:latin typeface="Arial" panose="020B0604020202020204" pitchFamily="34" charset="0"/>
              </a:rPr>
              <a:t>(</a:t>
            </a:r>
            <a:r>
              <a:rPr lang="en-US" altLang="en-US" sz="2400" dirty="0" err="1">
                <a:latin typeface="Arial" panose="020B0604020202020204" pitchFamily="34" charset="0"/>
              </a:rPr>
              <a:t>fileName</a:t>
            </a:r>
            <a:r>
              <a:rPr lang="en-US" altLang="en-US" sz="2400" dirty="0">
                <a:latin typeface="Arial" panose="020B0604020202020204" pitchFamily="34" charset="0"/>
              </a:rPr>
              <a:t>);</a:t>
            </a:r>
          </a:p>
          <a:p>
            <a:pPr>
              <a:spcBef>
                <a:spcPct val="0"/>
              </a:spcBef>
              <a:buFontTx/>
              <a:buNone/>
            </a:pPr>
            <a:r>
              <a:rPr lang="en-US" altLang="en-US" sz="2400" b="0" dirty="0">
                <a:latin typeface="Arial" panose="020B0604020202020204" pitchFamily="34" charset="0"/>
              </a:rPr>
              <a:t>      </a:t>
            </a:r>
            <a:r>
              <a:rPr lang="en-US" altLang="en-US" sz="2400" b="0" dirty="0" err="1">
                <a:latin typeface="Arial" panose="020B0604020202020204" pitchFamily="34" charset="0"/>
              </a:rPr>
              <a:t>fileFound</a:t>
            </a:r>
            <a:r>
              <a:rPr lang="en-US" altLang="en-US" sz="2400" b="0" dirty="0">
                <a:latin typeface="Arial" panose="020B0604020202020204" pitchFamily="34" charset="0"/>
              </a:rPr>
              <a:t> = true; </a:t>
            </a:r>
          </a:p>
          <a:p>
            <a:pPr>
              <a:spcBef>
                <a:spcPct val="0"/>
              </a:spcBef>
              <a:buFontTx/>
              <a:buNone/>
            </a:pPr>
            <a:r>
              <a:rPr lang="en-US" altLang="en-US" sz="2400" b="0" dirty="0">
                <a:latin typeface="Arial" panose="020B0604020202020204" pitchFamily="34" charset="0"/>
              </a:rPr>
              <a:t>   }</a:t>
            </a:r>
          </a:p>
          <a:p>
            <a:pPr>
              <a:spcBef>
                <a:spcPct val="0"/>
              </a:spcBef>
              <a:buFontTx/>
              <a:buNone/>
            </a:pPr>
            <a:r>
              <a:rPr lang="en-US" altLang="en-US" sz="2400" dirty="0">
                <a:latin typeface="Arial" panose="020B0604020202020204" pitchFamily="34" charset="0"/>
              </a:rPr>
              <a:t>   catch(</a:t>
            </a:r>
            <a:r>
              <a:rPr lang="en-US" altLang="en-US" sz="2400" dirty="0" err="1">
                <a:latin typeface="Arial" panose="020B0604020202020204" pitchFamily="34" charset="0"/>
              </a:rPr>
              <a:t>FileNotFoundException</a:t>
            </a:r>
            <a:r>
              <a:rPr lang="en-US" altLang="en-US" sz="2400" dirty="0">
                <a:latin typeface="Arial" panose="020B0604020202020204" pitchFamily="34" charset="0"/>
              </a:rPr>
              <a:t> e)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out.println</a:t>
            </a:r>
            <a:r>
              <a:rPr lang="en-US" altLang="en-US" sz="2400" dirty="0">
                <a:latin typeface="Arial" panose="020B0604020202020204" pitchFamily="34" charset="0"/>
              </a:rPr>
              <a:t>("*** Error: " + </a:t>
            </a:r>
            <a:r>
              <a:rPr lang="en-US" altLang="en-US" sz="2400" dirty="0" err="1">
                <a:latin typeface="Arial" panose="020B0604020202020204" pitchFamily="34" charset="0"/>
              </a:rPr>
              <a:t>e.getMessage</a:t>
            </a: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out.println</a:t>
            </a:r>
            <a:r>
              <a:rPr lang="en-US" altLang="en-US" sz="2400" dirty="0">
                <a:latin typeface="Arial" panose="020B0604020202020204" pitchFamily="34" charset="0"/>
              </a:rPr>
              <a:t>("*** Please try again.");</a:t>
            </a:r>
          </a:p>
          <a:p>
            <a:pPr>
              <a:spcBef>
                <a:spcPct val="0"/>
              </a:spcBef>
              <a:buFontTx/>
              <a:buNone/>
            </a:pPr>
            <a:r>
              <a:rPr lang="en-US" altLang="en-US" sz="2400" b="0" dirty="0">
                <a:latin typeface="Arial" panose="020B0604020202020204" pitchFamily="34" charset="0"/>
              </a:rPr>
              <a:t>   } </a:t>
            </a:r>
          </a:p>
          <a:p>
            <a:pPr>
              <a:spcBef>
                <a:spcPct val="0"/>
              </a:spcBef>
              <a:buFontTx/>
              <a:buNone/>
            </a:pPr>
            <a:r>
              <a:rPr lang="en-US" altLang="en-US" sz="2400" b="0" dirty="0">
                <a:latin typeface="Arial" panose="020B0604020202020204" pitchFamily="34" charset="0"/>
              </a:rPr>
              <a:t>} </a:t>
            </a:r>
          </a:p>
        </p:txBody>
      </p:sp>
      <p:sp>
        <p:nvSpPr>
          <p:cNvPr id="2" name="Rectangle 1">
            <a:extLst>
              <a:ext uri="{FF2B5EF4-FFF2-40B4-BE49-F238E27FC236}">
                <a16:creationId xmlns:a16="http://schemas.microsoft.com/office/drawing/2014/main" id="{C5847E5A-0FC6-2094-1097-36EED365F608}"/>
              </a:ext>
            </a:extLst>
          </p:cNvPr>
          <p:cNvSpPr/>
          <p:nvPr/>
        </p:nvSpPr>
        <p:spPr>
          <a:xfrm>
            <a:off x="1430755" y="80385"/>
            <a:ext cx="6282489" cy="830997"/>
          </a:xfrm>
          <a:prstGeom prst="rect">
            <a:avLst/>
          </a:prstGeom>
          <a:noFill/>
        </p:spPr>
        <p:txBody>
          <a:bodyPr wrap="none" lIns="91440" tIns="45720" rIns="91440" bIns="45720">
            <a:spAutoFit/>
          </a:bodyPr>
          <a:lstStyle/>
          <a:p>
            <a:pPr algn="ctr"/>
            <a:r>
              <a:rPr lang="en-US" sz="48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Handling Exceptions</a:t>
            </a:r>
          </a:p>
        </p:txBody>
      </p:sp>
      <p:sp>
        <p:nvSpPr>
          <p:cNvPr id="3" name="Rectangle 2">
            <a:extLst>
              <a:ext uri="{FF2B5EF4-FFF2-40B4-BE49-F238E27FC236}">
                <a16:creationId xmlns:a16="http://schemas.microsoft.com/office/drawing/2014/main" id="{70103509-E914-0B18-82A0-B5651AA3211D}"/>
              </a:ext>
            </a:extLst>
          </p:cNvPr>
          <p:cNvSpPr/>
          <p:nvPr/>
        </p:nvSpPr>
        <p:spPr>
          <a:xfrm>
            <a:off x="5943600" y="1905000"/>
            <a:ext cx="2999826" cy="2308324"/>
          </a:xfrm>
          <a:prstGeom prst="rect">
            <a:avLst/>
          </a:prstGeom>
          <a:noFill/>
        </p:spPr>
        <p:txBody>
          <a:bodyPr wrap="square" lIns="91440" tIns="45720" rIns="91440" bIns="45720">
            <a:spAutoFit/>
          </a:bodyPr>
          <a:lstStyle/>
          <a:p>
            <a:pPr algn="ctr"/>
            <a:r>
              <a:rPr lang="en-US" sz="48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An alternate main</a:t>
            </a:r>
          </a:p>
        </p:txBody>
      </p:sp>
    </p:spTree>
    <p:extLst>
      <p:ext uri="{BB962C8B-B14F-4D97-AF65-F5344CB8AC3E}">
        <p14:creationId xmlns:p14="http://schemas.microsoft.com/office/powerpoint/2010/main" val="42643855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AutoShape 2">
            <a:extLst>
              <a:ext uri="{FF2B5EF4-FFF2-40B4-BE49-F238E27FC236}">
                <a16:creationId xmlns:a16="http://schemas.microsoft.com/office/drawing/2014/main" id="{EEAD4788-E65E-1C3A-0B04-CCD6D0C0D57A}"/>
              </a:ext>
            </a:extLst>
          </p:cNvPr>
          <p:cNvSpPr>
            <a:spLocks noGrp="1" noChangeArrowheads="1"/>
          </p:cNvSpPr>
          <p:nvPr>
            <p:ph type="title"/>
          </p:nvPr>
        </p:nvSpPr>
        <p:spPr>
          <a:xfrm>
            <a:off x="685800" y="76200"/>
            <a:ext cx="7772400" cy="1143000"/>
          </a:xfrm>
        </p:spPr>
        <p:txBody>
          <a:bodyPr/>
          <a:lstStyle/>
          <a:p>
            <a:pPr eaLnBrk="1" hangingPunct="1"/>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ea typeface="+mn-ea"/>
                <a:cs typeface="+mn-cs"/>
              </a:rPr>
              <a:t>Handling an exception</a:t>
            </a:r>
          </a:p>
        </p:txBody>
      </p:sp>
      <p:sp>
        <p:nvSpPr>
          <p:cNvPr id="57347" name="Rectangle 3">
            <a:extLst>
              <a:ext uri="{FF2B5EF4-FFF2-40B4-BE49-F238E27FC236}">
                <a16:creationId xmlns:a16="http://schemas.microsoft.com/office/drawing/2014/main" id="{6A18B408-1014-4A6C-4F7B-DC296F8EC00F}"/>
              </a:ext>
            </a:extLst>
          </p:cNvPr>
          <p:cNvSpPr>
            <a:spLocks noGrp="1" noChangeArrowheads="1"/>
          </p:cNvSpPr>
          <p:nvPr>
            <p:ph idx="1"/>
          </p:nvPr>
        </p:nvSpPr>
        <p:spPr>
          <a:xfrm>
            <a:off x="685800" y="1295400"/>
            <a:ext cx="8458200" cy="4800600"/>
          </a:xfrm>
        </p:spPr>
        <p:txBody>
          <a:bodyPr/>
          <a:lstStyle/>
          <a:p>
            <a:pPr eaLnBrk="1" hangingPunct="1">
              <a:lnSpc>
                <a:spcPct val="80000"/>
              </a:lnSpc>
              <a:buFont typeface="Wingdings" panose="05000000000000000000" pitchFamily="2" charset="2"/>
              <a:buNone/>
            </a:pPr>
            <a:r>
              <a:rPr lang="en-US" altLang="en-US" sz="2200" b="1" dirty="0">
                <a:latin typeface="Courier New" panose="02070309020205020404" pitchFamily="49" charset="0"/>
              </a:rPr>
              <a:t>try</a:t>
            </a:r>
            <a:r>
              <a:rPr lang="en-US" altLang="en-US" sz="2200" dirty="0">
                <a:latin typeface="Courier New" panose="02070309020205020404" pitchFamily="49" charset="0"/>
              </a:rPr>
              <a:t> {  </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   // Code that could </a:t>
            </a:r>
            <a:r>
              <a:rPr lang="en-US" altLang="en-US" sz="2200" b="1" dirty="0">
                <a:solidFill>
                  <a:schemeClr val="accent2">
                    <a:lumMod val="75000"/>
                  </a:schemeClr>
                </a:solidFill>
                <a:latin typeface="Courier New" panose="02070309020205020404" pitchFamily="49" charset="0"/>
              </a:rPr>
              <a:t>throw</a:t>
            </a:r>
            <a:r>
              <a:rPr lang="en-US" altLang="en-US" sz="2200" dirty="0">
                <a:latin typeface="Courier New" panose="02070309020205020404" pitchFamily="49" charset="0"/>
              </a:rPr>
              <a:t> an exception</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200" b="1" dirty="0">
                <a:latin typeface="Courier New" panose="02070309020205020404" pitchFamily="49" charset="0"/>
              </a:rPr>
              <a:t>catch (&lt;exception type 1&gt; e) </a:t>
            </a:r>
            <a:r>
              <a:rPr lang="en-US" altLang="en-US" sz="22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	// code that </a:t>
            </a:r>
            <a:r>
              <a:rPr lang="en-US" altLang="en-US" sz="2200" b="1" dirty="0">
                <a:solidFill>
                  <a:schemeClr val="accent2">
                    <a:lumMod val="75000"/>
                  </a:schemeClr>
                </a:solidFill>
                <a:latin typeface="Courier New" panose="02070309020205020404" pitchFamily="49" charset="0"/>
              </a:rPr>
              <a:t>handles</a:t>
            </a:r>
            <a:r>
              <a:rPr lang="en-US" altLang="en-US" sz="2200" dirty="0">
                <a:latin typeface="Courier New" panose="02070309020205020404" pitchFamily="49" charset="0"/>
              </a:rPr>
              <a:t> one type of exception</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200" b="1" dirty="0">
                <a:latin typeface="Courier New" panose="02070309020205020404" pitchFamily="49" charset="0"/>
              </a:rPr>
              <a:t>catch (&lt;exception type 2&gt; e) </a:t>
            </a:r>
            <a:r>
              <a:rPr lang="en-US" altLang="en-US" sz="2200" dirty="0">
                <a:latin typeface="Courier New" panose="02070309020205020404" pitchFamily="49" charset="0"/>
              </a:rPr>
              <a:t>{ </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	// code that </a:t>
            </a:r>
            <a:r>
              <a:rPr lang="en-US" altLang="en-US" sz="2200" b="1" dirty="0">
                <a:solidFill>
                  <a:schemeClr val="accent2">
                    <a:lumMod val="75000"/>
                  </a:schemeClr>
                </a:solidFill>
                <a:latin typeface="Courier New" panose="02070309020205020404" pitchFamily="49" charset="0"/>
              </a:rPr>
              <a:t>handles</a:t>
            </a:r>
            <a:r>
              <a:rPr lang="en-US" altLang="en-US" sz="2200" dirty="0">
                <a:latin typeface="Courier New" panose="02070309020205020404" pitchFamily="49" charset="0"/>
              </a:rPr>
              <a:t> other exceptions</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200" b="1" dirty="0">
                <a:latin typeface="Courier New" panose="02070309020205020404" pitchFamily="49" charset="0"/>
              </a:rPr>
              <a:t>finally</a:t>
            </a:r>
            <a:r>
              <a:rPr lang="en-US" altLang="en-US" sz="2200" dirty="0">
                <a:latin typeface="Courier New" panose="02070309020205020404" pitchFamily="49" charset="0"/>
              </a:rPr>
              <a:t> {</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	// Always executes. Use to release resources</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200" b="1" dirty="0">
                <a:latin typeface="Courier New" panose="02070309020205020404" pitchFamily="49" charset="0"/>
              </a:rPr>
              <a:t>//other statements</a:t>
            </a:r>
          </a:p>
          <a:p>
            <a:pPr eaLnBrk="1" hangingPunct="1">
              <a:lnSpc>
                <a:spcPct val="80000"/>
              </a:lnSpc>
              <a:buFont typeface="Wingdings" panose="05000000000000000000" pitchFamily="2" charset="2"/>
              <a:buNone/>
            </a:pPr>
            <a:endParaRPr lang="en-US" altLang="en-US" sz="2200" dirty="0">
              <a:latin typeface="Courier New" panose="02070309020205020404" pitchFamily="49" charset="0"/>
            </a:endParaRPr>
          </a:p>
          <a:p>
            <a:pPr marL="0" indent="0" algn="ctr" eaLnBrk="1" hangingPunct="1">
              <a:lnSpc>
                <a:spcPct val="80000"/>
              </a:lnSpc>
              <a:buNone/>
            </a:pPr>
            <a:r>
              <a:rPr lang="en-US" altLang="en-US" dirty="0">
                <a:solidFill>
                  <a:schemeClr val="accent6">
                    <a:lumMod val="75000"/>
                  </a:schemeClr>
                </a:solidFill>
                <a:latin typeface="Abadi" panose="020B0604020104020204" pitchFamily="34" charset="0"/>
              </a:rPr>
              <a:t>At most one catch block executes.</a:t>
            </a:r>
          </a:p>
        </p:txBody>
      </p:sp>
    </p:spTree>
    <p:extLst>
      <p:ext uri="{BB962C8B-B14F-4D97-AF65-F5344CB8AC3E}">
        <p14:creationId xmlns:p14="http://schemas.microsoft.com/office/powerpoint/2010/main" val="2942366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03CE32D-B531-4E18-9FA4-B1288CA58BD8}"/>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8915" name="Text Box 2">
            <a:extLst>
              <a:ext uri="{FF2B5EF4-FFF2-40B4-BE49-F238E27FC236}">
                <a16:creationId xmlns:a16="http://schemas.microsoft.com/office/drawing/2014/main" id="{141D607A-FB98-40C8-9C84-0F7396B88FDD}"/>
              </a:ext>
            </a:extLst>
          </p:cNvPr>
          <p:cNvSpPr txBox="1">
            <a:spLocks noChangeArrowheads="1"/>
          </p:cNvSpPr>
          <p:nvPr/>
        </p:nvSpPr>
        <p:spPr bwMode="auto">
          <a:xfrm>
            <a:off x="1295400" y="3048000"/>
            <a:ext cx="65532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dirty="0">
                <a:latin typeface="Arial" panose="020B0604020202020204" pitchFamily="34" charset="0"/>
              </a:rPr>
              <a:t>Catch blocks are checked for a match in the order that they’re listed.</a:t>
            </a:r>
          </a:p>
        </p:txBody>
      </p:sp>
      <p:sp>
        <p:nvSpPr>
          <p:cNvPr id="38916" name="WordArt 4">
            <a:extLst>
              <a:ext uri="{FF2B5EF4-FFF2-40B4-BE49-F238E27FC236}">
                <a16:creationId xmlns:a16="http://schemas.microsoft.com/office/drawing/2014/main" id="{49FF6424-513D-48B8-8B90-CDBCFF61AF21}"/>
              </a:ext>
            </a:extLst>
          </p:cNvPr>
          <p:cNvSpPr>
            <a:spLocks noChangeArrowheads="1" noChangeShapeType="1" noTextEdit="1"/>
          </p:cNvSpPr>
          <p:nvPr/>
        </p:nvSpPr>
        <p:spPr bwMode="auto">
          <a:xfrm>
            <a:off x="685800" y="685800"/>
            <a:ext cx="7772400" cy="15240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Multi[</a:t>
            </a:r>
            <a:r>
              <a:rPr lang="en-US" sz="3600" kern="10" dirty="0" err="1">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ple</a:t>
            </a: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 Catch Blocks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02" name="Text Box 32">
            <a:extLst>
              <a:ext uri="{FF2B5EF4-FFF2-40B4-BE49-F238E27FC236}">
                <a16:creationId xmlns:a16="http://schemas.microsoft.com/office/drawing/2014/main" id="{6A234CCF-413F-9BB9-E67E-924BB9781DFA}"/>
              </a:ext>
            </a:extLst>
          </p:cNvPr>
          <p:cNvSpPr txBox="1">
            <a:spLocks noChangeArrowheads="1"/>
          </p:cNvSpPr>
          <p:nvPr/>
        </p:nvSpPr>
        <p:spPr bwMode="auto">
          <a:xfrm>
            <a:off x="332593" y="393157"/>
            <a:ext cx="8153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ctr" eaLnBrk="1" hangingPunct="1"/>
            <a:r>
              <a:rPr lang="en-US" altLang="en-US" sz="3600" b="1" dirty="0"/>
              <a:t>Input / Output Exceptions</a:t>
            </a:r>
          </a:p>
        </p:txBody>
      </p:sp>
      <p:grpSp>
        <p:nvGrpSpPr>
          <p:cNvPr id="5" name="Group 4" descr="IOException extends Exception&#10;FileNotFound, MalformedURLException, and UnknownHostException extend IOException">
            <a:extLst>
              <a:ext uri="{FF2B5EF4-FFF2-40B4-BE49-F238E27FC236}">
                <a16:creationId xmlns:a16="http://schemas.microsoft.com/office/drawing/2014/main" id="{2B7E64FC-0E0B-069E-9817-2D2C2632082A}"/>
              </a:ext>
            </a:extLst>
          </p:cNvPr>
          <p:cNvGrpSpPr/>
          <p:nvPr/>
        </p:nvGrpSpPr>
        <p:grpSpPr>
          <a:xfrm>
            <a:off x="691188" y="1767516"/>
            <a:ext cx="7538412" cy="4760859"/>
            <a:chOff x="691188" y="1767516"/>
            <a:chExt cx="7538412" cy="4760859"/>
          </a:xfrm>
        </p:grpSpPr>
        <p:grpSp>
          <p:nvGrpSpPr>
            <p:cNvPr id="21" name="Group 20">
              <a:extLst>
                <a:ext uri="{FF2B5EF4-FFF2-40B4-BE49-F238E27FC236}">
                  <a16:creationId xmlns:a16="http://schemas.microsoft.com/office/drawing/2014/main" id="{5EBB754B-6FE2-AA3F-F496-5FE38A9915D8}"/>
                </a:ext>
              </a:extLst>
            </p:cNvPr>
            <p:cNvGrpSpPr/>
            <p:nvPr/>
          </p:nvGrpSpPr>
          <p:grpSpPr>
            <a:xfrm>
              <a:off x="691188" y="1767516"/>
              <a:ext cx="7538412" cy="3830935"/>
              <a:chOff x="691188" y="1767516"/>
              <a:chExt cx="7538412" cy="3830935"/>
            </a:xfrm>
          </p:grpSpPr>
          <p:sp>
            <p:nvSpPr>
              <p:cNvPr id="58373" name="Text Box 3">
                <a:extLst>
                  <a:ext uri="{FF2B5EF4-FFF2-40B4-BE49-F238E27FC236}">
                    <a16:creationId xmlns:a16="http://schemas.microsoft.com/office/drawing/2014/main" id="{B4ABCCB7-D2EF-A67D-1042-CBB84F656E17}"/>
                  </a:ext>
                </a:extLst>
              </p:cNvPr>
              <p:cNvSpPr txBox="1">
                <a:spLocks noChangeArrowheads="1"/>
              </p:cNvSpPr>
              <p:nvPr/>
            </p:nvSpPr>
            <p:spPr bwMode="auto">
              <a:xfrm>
                <a:off x="3338327" y="1767516"/>
                <a:ext cx="2141933"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eaLnBrk="1" hangingPunct="1"/>
                <a:r>
                  <a:rPr lang="en-US" altLang="en-US" sz="3200" b="1" dirty="0">
                    <a:latin typeface="Arial" panose="020B0604020202020204" pitchFamily="34" charset="0"/>
                  </a:rPr>
                  <a:t>Exception</a:t>
                </a:r>
              </a:p>
            </p:txBody>
          </p:sp>
          <p:sp>
            <p:nvSpPr>
              <p:cNvPr id="58377" name="Text Box 7">
                <a:extLst>
                  <a:ext uri="{FF2B5EF4-FFF2-40B4-BE49-F238E27FC236}">
                    <a16:creationId xmlns:a16="http://schemas.microsoft.com/office/drawing/2014/main" id="{F4E4CE26-9B09-7B67-349C-77F4D9321DE0}"/>
                  </a:ext>
                </a:extLst>
              </p:cNvPr>
              <p:cNvSpPr txBox="1">
                <a:spLocks noChangeArrowheads="1"/>
              </p:cNvSpPr>
              <p:nvPr/>
            </p:nvSpPr>
            <p:spPr bwMode="auto">
              <a:xfrm>
                <a:off x="3063690" y="2895600"/>
                <a:ext cx="2691206"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ctr" eaLnBrk="1" hangingPunct="1"/>
                <a:r>
                  <a:rPr lang="en-US" altLang="en-US" sz="3200" b="1" dirty="0" err="1">
                    <a:latin typeface="Arial" panose="020B0604020202020204" pitchFamily="34" charset="0"/>
                  </a:rPr>
                  <a:t>IOException</a:t>
                </a:r>
                <a:endParaRPr lang="en-US" altLang="en-US" sz="3200" b="1" dirty="0">
                  <a:latin typeface="Arial" panose="020B0604020202020204" pitchFamily="34" charset="0"/>
                </a:endParaRPr>
              </a:p>
            </p:txBody>
          </p:sp>
          <p:cxnSp>
            <p:nvCxnSpPr>
              <p:cNvPr id="6" name="Straight Arrow Connector 5">
                <a:extLst>
                  <a:ext uri="{FF2B5EF4-FFF2-40B4-BE49-F238E27FC236}">
                    <a16:creationId xmlns:a16="http://schemas.microsoft.com/office/drawing/2014/main" id="{9A057659-CF63-2A66-FF4B-0B3AF96C2DC8}"/>
                  </a:ext>
                </a:extLst>
              </p:cNvPr>
              <p:cNvCxnSpPr>
                <a:cxnSpLocks/>
                <a:stCxn id="58377" idx="0"/>
              </p:cNvCxnSpPr>
              <p:nvPr/>
            </p:nvCxnSpPr>
            <p:spPr bwMode="auto">
              <a:xfrm flipV="1">
                <a:off x="4409293" y="2352291"/>
                <a:ext cx="1" cy="543309"/>
              </a:xfrm>
              <a:prstGeom prst="straightConnector1">
                <a:avLst/>
              </a:prstGeom>
              <a:solidFill>
                <a:schemeClr val="accent1"/>
              </a:solidFill>
              <a:ln w="28575" cap="flat" cmpd="sng" algn="ctr">
                <a:solidFill>
                  <a:schemeClr val="tx1"/>
                </a:solidFill>
                <a:prstDash val="solid"/>
                <a:round/>
                <a:headEnd type="none" w="sm" len="sm"/>
                <a:tailEnd type="triangle" w="lg" len="lg"/>
              </a:ln>
              <a:effectLst/>
            </p:spPr>
          </p:cxnSp>
          <p:grpSp>
            <p:nvGrpSpPr>
              <p:cNvPr id="14" name="Group 13">
                <a:extLst>
                  <a:ext uri="{FF2B5EF4-FFF2-40B4-BE49-F238E27FC236}">
                    <a16:creationId xmlns:a16="http://schemas.microsoft.com/office/drawing/2014/main" id="{A35C4652-CEAA-CAB1-A75D-5DCD61744EB6}"/>
                  </a:ext>
                </a:extLst>
              </p:cNvPr>
              <p:cNvGrpSpPr/>
              <p:nvPr/>
            </p:nvGrpSpPr>
            <p:grpSpPr>
              <a:xfrm>
                <a:off x="691188" y="3520137"/>
                <a:ext cx="7538412" cy="2078314"/>
                <a:chOff x="640087" y="3765223"/>
                <a:chExt cx="7538412" cy="2078314"/>
              </a:xfrm>
            </p:grpSpPr>
            <p:grpSp>
              <p:nvGrpSpPr>
                <p:cNvPr id="11" name="Group 10">
                  <a:extLst>
                    <a:ext uri="{FF2B5EF4-FFF2-40B4-BE49-F238E27FC236}">
                      <a16:creationId xmlns:a16="http://schemas.microsoft.com/office/drawing/2014/main" id="{5A2D1B10-EDCC-CEB1-1CF6-F771F7522E45}"/>
                    </a:ext>
                  </a:extLst>
                </p:cNvPr>
                <p:cNvGrpSpPr/>
                <p:nvPr/>
              </p:nvGrpSpPr>
              <p:grpSpPr>
                <a:xfrm>
                  <a:off x="640087" y="4461519"/>
                  <a:ext cx="7538412" cy="1382018"/>
                  <a:chOff x="640087" y="4461519"/>
                  <a:chExt cx="7538412" cy="1382018"/>
                </a:xfrm>
              </p:grpSpPr>
              <p:grpSp>
                <p:nvGrpSpPr>
                  <p:cNvPr id="4" name="Group 3">
                    <a:extLst>
                      <a:ext uri="{FF2B5EF4-FFF2-40B4-BE49-F238E27FC236}">
                        <a16:creationId xmlns:a16="http://schemas.microsoft.com/office/drawing/2014/main" id="{E32B9B03-C55B-DC0A-3022-3B26181867DA}"/>
                      </a:ext>
                    </a:extLst>
                  </p:cNvPr>
                  <p:cNvGrpSpPr/>
                  <p:nvPr/>
                </p:nvGrpSpPr>
                <p:grpSpPr>
                  <a:xfrm>
                    <a:off x="640087" y="4766319"/>
                    <a:ext cx="7538412" cy="1077218"/>
                    <a:chOff x="640087" y="4766319"/>
                    <a:chExt cx="7538412" cy="1077218"/>
                  </a:xfrm>
                </p:grpSpPr>
                <p:sp>
                  <p:nvSpPr>
                    <p:cNvPr id="2" name="Text Box 7">
                      <a:extLst>
                        <a:ext uri="{FF2B5EF4-FFF2-40B4-BE49-F238E27FC236}">
                          <a16:creationId xmlns:a16="http://schemas.microsoft.com/office/drawing/2014/main" id="{0588443C-0BE3-6281-0C01-BF1FAE219740}"/>
                        </a:ext>
                      </a:extLst>
                    </p:cNvPr>
                    <p:cNvSpPr txBox="1">
                      <a:spLocks noChangeArrowheads="1"/>
                    </p:cNvSpPr>
                    <p:nvPr/>
                  </p:nvSpPr>
                  <p:spPr bwMode="auto">
                    <a:xfrm>
                      <a:off x="640087" y="4766319"/>
                      <a:ext cx="2971798" cy="107721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ctr" eaLnBrk="1" hangingPunct="1"/>
                      <a:r>
                        <a:rPr lang="en-US" altLang="en-US" sz="3200" b="1" dirty="0" err="1">
                          <a:latin typeface="Arial" panose="020B0604020202020204" pitchFamily="34" charset="0"/>
                        </a:rPr>
                        <a:t>FileNotFound</a:t>
                      </a:r>
                      <a:endParaRPr lang="en-US" altLang="en-US" sz="3200" b="1" dirty="0">
                        <a:latin typeface="Arial" panose="020B0604020202020204" pitchFamily="34" charset="0"/>
                      </a:endParaRPr>
                    </a:p>
                    <a:p>
                      <a:pPr algn="ctr" eaLnBrk="1" hangingPunct="1"/>
                      <a:r>
                        <a:rPr lang="en-US" altLang="en-US" sz="3200" b="1" dirty="0">
                          <a:latin typeface="Arial" panose="020B0604020202020204" pitchFamily="34" charset="0"/>
                        </a:rPr>
                        <a:t>Exception</a:t>
                      </a:r>
                    </a:p>
                  </p:txBody>
                </p:sp>
                <p:sp>
                  <p:nvSpPr>
                    <p:cNvPr id="3" name="Text Box 7">
                      <a:extLst>
                        <a:ext uri="{FF2B5EF4-FFF2-40B4-BE49-F238E27FC236}">
                          <a16:creationId xmlns:a16="http://schemas.microsoft.com/office/drawing/2014/main" id="{76056F12-5ACD-1B1D-6A98-469B2C1E1C7C}"/>
                        </a:ext>
                      </a:extLst>
                    </p:cNvPr>
                    <p:cNvSpPr txBox="1">
                      <a:spLocks noChangeArrowheads="1"/>
                    </p:cNvSpPr>
                    <p:nvPr/>
                  </p:nvSpPr>
                  <p:spPr bwMode="auto">
                    <a:xfrm>
                      <a:off x="5080300" y="4766319"/>
                      <a:ext cx="3098199" cy="107721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ctr" eaLnBrk="1" hangingPunct="1"/>
                      <a:r>
                        <a:rPr lang="en-US" altLang="en-US" sz="3200" b="1" dirty="0" err="1">
                          <a:latin typeface="Arial" panose="020B0604020202020204" pitchFamily="34" charset="0"/>
                        </a:rPr>
                        <a:t>MalformedURL</a:t>
                      </a:r>
                      <a:endParaRPr lang="en-US" altLang="en-US" sz="3200" b="1" dirty="0">
                        <a:latin typeface="Arial" panose="020B0604020202020204" pitchFamily="34" charset="0"/>
                      </a:endParaRPr>
                    </a:p>
                    <a:p>
                      <a:pPr algn="ctr" eaLnBrk="1" hangingPunct="1"/>
                      <a:r>
                        <a:rPr lang="en-US" altLang="en-US" sz="3200" b="1" dirty="0">
                          <a:latin typeface="Arial" panose="020B0604020202020204" pitchFamily="34" charset="0"/>
                        </a:rPr>
                        <a:t>Exception</a:t>
                      </a:r>
                    </a:p>
                  </p:txBody>
                </p:sp>
              </p:grpSp>
              <p:grpSp>
                <p:nvGrpSpPr>
                  <p:cNvPr id="7" name="Group 6">
                    <a:extLst>
                      <a:ext uri="{FF2B5EF4-FFF2-40B4-BE49-F238E27FC236}">
                        <a16:creationId xmlns:a16="http://schemas.microsoft.com/office/drawing/2014/main" id="{3C1B09EA-1C7B-8E1A-42A9-1F3B8A61FC24}"/>
                      </a:ext>
                    </a:extLst>
                  </p:cNvPr>
                  <p:cNvGrpSpPr/>
                  <p:nvPr/>
                </p:nvGrpSpPr>
                <p:grpSpPr>
                  <a:xfrm>
                    <a:off x="1932793" y="4461519"/>
                    <a:ext cx="4953000" cy="304800"/>
                    <a:chOff x="1600200" y="1550988"/>
                    <a:chExt cx="4953000" cy="304800"/>
                  </a:xfrm>
                </p:grpSpPr>
                <p:sp>
                  <p:nvSpPr>
                    <p:cNvPr id="8" name="Line 12">
                      <a:extLst>
                        <a:ext uri="{FF2B5EF4-FFF2-40B4-BE49-F238E27FC236}">
                          <a16:creationId xmlns:a16="http://schemas.microsoft.com/office/drawing/2014/main" id="{72937808-BEA3-FF8B-A006-12ADA7716771}"/>
                        </a:ext>
                      </a:extLst>
                    </p:cNvPr>
                    <p:cNvSpPr>
                      <a:spLocks noChangeShapeType="1"/>
                    </p:cNvSpPr>
                    <p:nvPr/>
                  </p:nvSpPr>
                  <p:spPr bwMode="auto">
                    <a:xfrm>
                      <a:off x="1600200" y="1550988"/>
                      <a:ext cx="495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3">
                      <a:extLst>
                        <a:ext uri="{FF2B5EF4-FFF2-40B4-BE49-F238E27FC236}">
                          <a16:creationId xmlns:a16="http://schemas.microsoft.com/office/drawing/2014/main" id="{0A55D463-F3B5-B7D5-3039-F42ECB0CCDDA}"/>
                        </a:ext>
                      </a:extLst>
                    </p:cNvPr>
                    <p:cNvSpPr>
                      <a:spLocks noChangeShapeType="1"/>
                    </p:cNvSpPr>
                    <p:nvPr/>
                  </p:nvSpPr>
                  <p:spPr bwMode="auto">
                    <a:xfrm>
                      <a:off x="1600200" y="1550988"/>
                      <a:ext cx="0" cy="304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14">
                      <a:extLst>
                        <a:ext uri="{FF2B5EF4-FFF2-40B4-BE49-F238E27FC236}">
                          <a16:creationId xmlns:a16="http://schemas.microsoft.com/office/drawing/2014/main" id="{60613159-30E6-5AA1-5A80-BBA8AE352309}"/>
                        </a:ext>
                      </a:extLst>
                    </p:cNvPr>
                    <p:cNvSpPr>
                      <a:spLocks noChangeShapeType="1"/>
                    </p:cNvSpPr>
                    <p:nvPr/>
                  </p:nvSpPr>
                  <p:spPr bwMode="auto">
                    <a:xfrm>
                      <a:off x="6553200" y="1550988"/>
                      <a:ext cx="0" cy="304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cxnSp>
              <p:nvCxnSpPr>
                <p:cNvPr id="12" name="Straight Arrow Connector 11">
                  <a:extLst>
                    <a:ext uri="{FF2B5EF4-FFF2-40B4-BE49-F238E27FC236}">
                      <a16:creationId xmlns:a16="http://schemas.microsoft.com/office/drawing/2014/main" id="{B9330EE0-3396-DD71-D3B0-9D0440914E75}"/>
                    </a:ext>
                  </a:extLst>
                </p:cNvPr>
                <p:cNvCxnSpPr>
                  <a:cxnSpLocks/>
                </p:cNvCxnSpPr>
                <p:nvPr/>
              </p:nvCxnSpPr>
              <p:spPr bwMode="auto">
                <a:xfrm flipV="1">
                  <a:off x="4346092" y="3765223"/>
                  <a:ext cx="0" cy="696296"/>
                </a:xfrm>
                <a:prstGeom prst="straightConnector1">
                  <a:avLst/>
                </a:prstGeom>
                <a:solidFill>
                  <a:schemeClr val="accent1"/>
                </a:solidFill>
                <a:ln w="28575" cap="flat" cmpd="sng" algn="ctr">
                  <a:solidFill>
                    <a:schemeClr val="tx1"/>
                  </a:solidFill>
                  <a:prstDash val="solid"/>
                  <a:round/>
                  <a:headEnd type="none" w="sm" len="sm"/>
                  <a:tailEnd type="triangle" w="lg" len="lg"/>
                </a:ln>
                <a:effectLst/>
              </p:spPr>
            </p:cxnSp>
          </p:grpSp>
        </p:grpSp>
        <p:sp>
          <p:nvSpPr>
            <p:cNvPr id="18" name="Text Box 7">
              <a:extLst>
                <a:ext uri="{FF2B5EF4-FFF2-40B4-BE49-F238E27FC236}">
                  <a16:creationId xmlns:a16="http://schemas.microsoft.com/office/drawing/2014/main" id="{B5C4D084-2D69-88D6-961D-8C3F68E26392}"/>
                </a:ext>
              </a:extLst>
            </p:cNvPr>
            <p:cNvSpPr txBox="1">
              <a:spLocks noChangeArrowheads="1"/>
            </p:cNvSpPr>
            <p:nvPr/>
          </p:nvSpPr>
          <p:spPr bwMode="auto">
            <a:xfrm>
              <a:off x="1983894" y="5943600"/>
              <a:ext cx="4953000"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ctr" eaLnBrk="1" hangingPunct="1"/>
              <a:r>
                <a:rPr lang="en-US" altLang="en-US" sz="3200" b="1" dirty="0" err="1">
                  <a:latin typeface="Arial" panose="020B0604020202020204" pitchFamily="34" charset="0"/>
                </a:rPr>
                <a:t>UnknownHostException</a:t>
              </a:r>
              <a:endParaRPr lang="en-US" altLang="en-US" sz="3200" b="1" dirty="0">
                <a:latin typeface="Arial" panose="020B0604020202020204" pitchFamily="34" charset="0"/>
              </a:endParaRPr>
            </a:p>
          </p:txBody>
        </p:sp>
        <p:cxnSp>
          <p:nvCxnSpPr>
            <p:cNvPr id="20" name="Straight Arrow Connector 19">
              <a:extLst>
                <a:ext uri="{FF2B5EF4-FFF2-40B4-BE49-F238E27FC236}">
                  <a16:creationId xmlns:a16="http://schemas.microsoft.com/office/drawing/2014/main" id="{0FE7E2F4-B32C-06B9-88B6-AD56A1C203A5}"/>
                </a:ext>
              </a:extLst>
            </p:cNvPr>
            <p:cNvCxnSpPr>
              <a:cxnSpLocks/>
            </p:cNvCxnSpPr>
            <p:nvPr/>
          </p:nvCxnSpPr>
          <p:spPr bwMode="auto">
            <a:xfrm flipV="1">
              <a:off x="4393158" y="4216433"/>
              <a:ext cx="4035" cy="1723612"/>
            </a:xfrm>
            <a:prstGeom prst="straightConnector1">
              <a:avLst/>
            </a:prstGeom>
            <a:solidFill>
              <a:schemeClr val="accent1"/>
            </a:solidFill>
            <a:ln w="28575" cap="flat" cmpd="sng" algn="ctr">
              <a:solidFill>
                <a:schemeClr val="tx1"/>
              </a:solidFill>
              <a:prstDash val="solid"/>
              <a:round/>
              <a:headEnd type="none" w="med" len="med"/>
              <a:tailEnd type="none" w="med" len="med"/>
            </a:ln>
            <a:effectLst/>
          </p:spPr>
        </p:cxnSp>
      </p:grpSp>
    </p:spTree>
  </p:cSld>
  <p:clrMapOvr>
    <a:masterClrMapping/>
  </p:clrMapOvr>
  <mc:AlternateContent xmlns:mc="http://schemas.openxmlformats.org/markup-compatibility/2006" xmlns:p14="http://schemas.microsoft.com/office/powerpoint/2010/main">
    <mc:Choice Requires="p14">
      <p:transition spd="slow" p14:dur="2000" advTm="1000"/>
    </mc:Choice>
    <mc:Fallback xmlns="">
      <p:transition spd="slow" advTm="1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a:extLst>
              <a:ext uri="{FF2B5EF4-FFF2-40B4-BE49-F238E27FC236}">
                <a16:creationId xmlns:a16="http://schemas.microsoft.com/office/drawing/2014/main" id="{141D607A-FB98-40C8-9C84-0F7396B88FDD}"/>
              </a:ext>
            </a:extLst>
          </p:cNvPr>
          <p:cNvSpPr txBox="1">
            <a:spLocks noChangeArrowheads="1"/>
          </p:cNvSpPr>
          <p:nvPr/>
        </p:nvSpPr>
        <p:spPr bwMode="auto">
          <a:xfrm>
            <a:off x="549729" y="1145269"/>
            <a:ext cx="79248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try{</a:t>
            </a:r>
          </a:p>
          <a:p>
            <a:pPr>
              <a:spcBef>
                <a:spcPct val="0"/>
              </a:spcBef>
              <a:buFontTx/>
              <a:buNone/>
            </a:pPr>
            <a:r>
              <a:rPr lang="en-US" altLang="en-US" sz="2400" dirty="0">
                <a:latin typeface="Arial" panose="020B0604020202020204" pitchFamily="34" charset="0"/>
              </a:rPr>
              <a:t>   //code would go here</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7030A0"/>
                </a:solidFill>
                <a:latin typeface="Arial" panose="020B0604020202020204" pitchFamily="34" charset="0"/>
              </a:rPr>
              <a:t>FileNotFoundException</a:t>
            </a:r>
            <a:r>
              <a:rPr lang="en-US" altLang="en-US" sz="2400" dirty="0">
                <a:latin typeface="Arial" panose="020B0604020202020204" pitchFamily="34" charset="0"/>
              </a:rPr>
              <a:t> e){</a:t>
            </a:r>
          </a:p>
          <a:p>
            <a:pPr>
              <a:spcBef>
                <a:spcPct val="0"/>
              </a:spcBef>
              <a:buFontTx/>
              <a:buNone/>
            </a:pPr>
            <a:r>
              <a:rPr lang="en-US" altLang="en-US" sz="2400" dirty="0">
                <a:solidFill>
                  <a:srgbClr val="7030A0"/>
                </a:solidFill>
                <a:latin typeface="Arial" panose="020B0604020202020204" pitchFamily="34" charset="0"/>
              </a:rPr>
              <a:t>	// Code to handle not finding the specified file.</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7030A0"/>
                </a:solidFill>
                <a:latin typeface="Arial" panose="020B0604020202020204" pitchFamily="34" charset="0"/>
              </a:rPr>
              <a:t>IOException</a:t>
            </a:r>
            <a:r>
              <a:rPr lang="en-US" altLang="en-US" sz="2400" dirty="0">
                <a:latin typeface="Arial" panose="020B0604020202020204" pitchFamily="34" charset="0"/>
              </a:rPr>
              <a:t> e){</a:t>
            </a:r>
          </a:p>
          <a:p>
            <a:pPr>
              <a:spcBef>
                <a:spcPct val="0"/>
              </a:spcBef>
              <a:buFontTx/>
              <a:buNone/>
            </a:pPr>
            <a:r>
              <a:rPr lang="en-US" altLang="en-US" sz="2400" dirty="0">
                <a:solidFill>
                  <a:srgbClr val="7030A0"/>
                </a:solidFill>
                <a:latin typeface="Arial" panose="020B0604020202020204" pitchFamily="34" charset="0"/>
              </a:rPr>
              <a:t>	 // Code to handle any other IO Exception</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a:solidFill>
                  <a:srgbClr val="7030A0"/>
                </a:solidFill>
                <a:latin typeface="Arial" panose="020B0604020202020204" pitchFamily="34" charset="0"/>
              </a:rPr>
              <a:t>Exception</a:t>
            </a:r>
            <a:r>
              <a:rPr lang="en-US" altLang="en-US" sz="2400" dirty="0">
                <a:latin typeface="Arial" panose="020B0604020202020204" pitchFamily="34" charset="0"/>
              </a:rPr>
              <a:t> e){</a:t>
            </a:r>
          </a:p>
          <a:p>
            <a:pPr>
              <a:spcBef>
                <a:spcPct val="0"/>
              </a:spcBef>
              <a:buFontTx/>
              <a:buNone/>
            </a:pPr>
            <a:r>
              <a:rPr lang="en-US" altLang="en-US" sz="2400" dirty="0">
                <a:solidFill>
                  <a:srgbClr val="7030A0"/>
                </a:solidFill>
                <a:latin typeface="Arial" panose="020B0604020202020204" pitchFamily="34" charset="0"/>
              </a:rPr>
              <a:t>	 // Code to handle all other Exceptions</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finally{</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System.out.println</a:t>
            </a:r>
            <a:r>
              <a:rPr lang="en-US" altLang="en-US" sz="2400" dirty="0">
                <a:latin typeface="Arial" panose="020B0604020202020204" pitchFamily="34" charset="0"/>
              </a:rPr>
              <a:t>("this always happens");</a:t>
            </a:r>
          </a:p>
          <a:p>
            <a:pPr>
              <a:spcBef>
                <a:spcPct val="0"/>
              </a:spcBef>
              <a:buFontTx/>
              <a:buNone/>
            </a:pPr>
            <a:r>
              <a:rPr lang="en-US" altLang="en-US" sz="2400" dirty="0">
                <a:latin typeface="Arial" panose="020B0604020202020204" pitchFamily="34" charset="0"/>
              </a:rPr>
              <a:t>}		</a:t>
            </a:r>
          </a:p>
        </p:txBody>
      </p:sp>
      <p:sp>
        <p:nvSpPr>
          <p:cNvPr id="38916" name="WordArt 4">
            <a:extLst>
              <a:ext uri="{FF2B5EF4-FFF2-40B4-BE49-F238E27FC236}">
                <a16:creationId xmlns:a16="http://schemas.microsoft.com/office/drawing/2014/main" id="{49FF6424-513D-48B8-8B90-CDBCFF61AF21}"/>
              </a:ext>
            </a:extLst>
          </p:cNvPr>
          <p:cNvSpPr>
            <a:spLocks noChangeArrowheads="1" noChangeShapeType="1" noTextEdit="1"/>
          </p:cNvSpPr>
          <p:nvPr/>
        </p:nvSpPr>
        <p:spPr bwMode="auto">
          <a:xfrm>
            <a:off x="838200" y="314099"/>
            <a:ext cx="7467600" cy="798513"/>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Multi[</a:t>
            </a:r>
            <a:r>
              <a:rPr lang="en-US" sz="3600" kern="10" dirty="0" err="1">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ple</a:t>
            </a: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 Catch Blocks – ORDER MATTERS!</a:t>
            </a:r>
          </a:p>
        </p:txBody>
      </p:sp>
    </p:spTree>
    <p:extLst>
      <p:ext uri="{BB962C8B-B14F-4D97-AF65-F5344CB8AC3E}">
        <p14:creationId xmlns:p14="http://schemas.microsoft.com/office/powerpoint/2010/main" val="29704419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2">
            <a:extLst>
              <a:ext uri="{FF2B5EF4-FFF2-40B4-BE49-F238E27FC236}">
                <a16:creationId xmlns:a16="http://schemas.microsoft.com/office/drawing/2014/main" id="{F9AEAF20-8B69-48E9-AB01-1DC395F094B6}"/>
              </a:ext>
            </a:extLst>
          </p:cNvPr>
          <p:cNvSpPr txBox="1">
            <a:spLocks noChangeArrowheads="1"/>
          </p:cNvSpPr>
          <p:nvPr/>
        </p:nvSpPr>
        <p:spPr bwMode="auto">
          <a:xfrm>
            <a:off x="838200" y="1149350"/>
            <a:ext cx="79248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try{</a:t>
            </a:r>
          </a:p>
          <a:p>
            <a:pPr>
              <a:spcBef>
                <a:spcPct val="0"/>
              </a:spcBef>
              <a:buFontTx/>
              <a:buNone/>
            </a:pPr>
            <a:r>
              <a:rPr lang="en-US" altLang="en-US" sz="2400" dirty="0">
                <a:latin typeface="Arial" panose="020B0604020202020204" pitchFamily="34" charset="0"/>
              </a:rPr>
              <a:t>    //code would go here</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a:solidFill>
                  <a:srgbClr val="FF0000"/>
                </a:solidFill>
                <a:latin typeface="Arial" panose="020B0604020202020204" pitchFamily="34" charset="0"/>
              </a:rPr>
              <a:t>Exception</a:t>
            </a:r>
            <a:r>
              <a:rPr lang="en-US" altLang="en-US" sz="2400" dirty="0">
                <a:latin typeface="Arial" panose="020B0604020202020204" pitchFamily="34" charset="0"/>
              </a:rPr>
              <a:t> e){</a:t>
            </a:r>
          </a:p>
          <a:p>
            <a:pPr>
              <a:spcBef>
                <a:spcPct val="0"/>
              </a:spcBef>
              <a:buFontTx/>
              <a:buNone/>
            </a:pPr>
            <a:r>
              <a:rPr lang="en-US" altLang="en-US" sz="2400" dirty="0">
                <a:solidFill>
                  <a:srgbClr val="0066FF"/>
                </a:solidFill>
                <a:latin typeface="Arial" panose="020B0604020202020204" pitchFamily="34" charset="0"/>
              </a:rPr>
              <a:t>	 </a:t>
            </a:r>
            <a:r>
              <a:rPr lang="en-US" altLang="en-US" sz="2400" dirty="0">
                <a:solidFill>
                  <a:srgbClr val="FF0000"/>
                </a:solidFill>
                <a:latin typeface="Arial" panose="020B0604020202020204" pitchFamily="34" charset="0"/>
              </a:rPr>
              <a:t>// Code to handle all other Exceptions</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FF0000"/>
                </a:solidFill>
                <a:latin typeface="Arial" panose="020B0604020202020204" pitchFamily="34" charset="0"/>
              </a:rPr>
              <a:t>IOException</a:t>
            </a:r>
            <a:r>
              <a:rPr lang="en-US" altLang="en-US" sz="2400" dirty="0">
                <a:latin typeface="Arial" panose="020B0604020202020204" pitchFamily="34" charset="0"/>
              </a:rPr>
              <a:t> e){</a:t>
            </a:r>
          </a:p>
          <a:p>
            <a:pPr>
              <a:spcBef>
                <a:spcPct val="0"/>
              </a:spcBef>
              <a:buFontTx/>
              <a:buNone/>
            </a:pPr>
            <a:r>
              <a:rPr lang="en-US" altLang="en-US" sz="2400" dirty="0">
                <a:solidFill>
                  <a:srgbClr val="7030A0"/>
                </a:solidFill>
                <a:latin typeface="Arial" panose="020B0604020202020204" pitchFamily="34" charset="0"/>
              </a:rPr>
              <a:t>	 </a:t>
            </a:r>
            <a:r>
              <a:rPr lang="en-US" altLang="en-US" sz="2400" dirty="0">
                <a:solidFill>
                  <a:srgbClr val="FF0000"/>
                </a:solidFill>
                <a:latin typeface="Arial" panose="020B0604020202020204" pitchFamily="34" charset="0"/>
              </a:rPr>
              <a:t>// Code to handle any other IO Exception</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FF0000"/>
                </a:solidFill>
                <a:latin typeface="Arial" panose="020B0604020202020204" pitchFamily="34" charset="0"/>
              </a:rPr>
              <a:t>FileNotFoundException</a:t>
            </a:r>
            <a:r>
              <a:rPr lang="en-US" altLang="en-US" sz="2400" dirty="0">
                <a:latin typeface="Arial" panose="020B0604020202020204" pitchFamily="34" charset="0"/>
              </a:rPr>
              <a:t> e){</a:t>
            </a:r>
          </a:p>
          <a:p>
            <a:pPr>
              <a:spcBef>
                <a:spcPct val="0"/>
              </a:spcBef>
              <a:buFontTx/>
              <a:buNone/>
            </a:pPr>
            <a:r>
              <a:rPr lang="en-US" altLang="en-US" sz="2400" dirty="0">
                <a:solidFill>
                  <a:srgbClr val="7030A0"/>
                </a:solidFill>
                <a:latin typeface="Arial" panose="020B0604020202020204" pitchFamily="34" charset="0"/>
              </a:rPr>
              <a:t>	</a:t>
            </a:r>
            <a:r>
              <a:rPr lang="en-US" altLang="en-US" sz="2400" dirty="0">
                <a:solidFill>
                  <a:srgbClr val="FF0000"/>
                </a:solidFill>
                <a:latin typeface="Arial" panose="020B0604020202020204" pitchFamily="34" charset="0"/>
              </a:rPr>
              <a:t>// Code to handle not finding the specified file</a:t>
            </a:r>
            <a:endParaRPr lang="en-US" altLang="en-US" sz="2400" dirty="0">
              <a:solidFill>
                <a:srgbClr val="7030A0"/>
              </a:solidFill>
              <a:latin typeface="Arial" panose="020B0604020202020204" pitchFamily="34" charset="0"/>
            </a:endParaRP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finally{</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System.out.println</a:t>
            </a:r>
            <a:r>
              <a:rPr lang="en-US" altLang="en-US" sz="2400" dirty="0">
                <a:latin typeface="Arial" panose="020B0604020202020204" pitchFamily="34" charset="0"/>
              </a:rPr>
              <a:t>("this always happens");</a:t>
            </a:r>
          </a:p>
          <a:p>
            <a:pPr>
              <a:spcBef>
                <a:spcPct val="0"/>
              </a:spcBef>
              <a:buFontTx/>
              <a:buNone/>
            </a:pPr>
            <a:r>
              <a:rPr lang="en-US" altLang="en-US" sz="2400" dirty="0">
                <a:latin typeface="Arial" panose="020B0604020202020204" pitchFamily="34" charset="0"/>
              </a:rPr>
              <a:t>}		</a:t>
            </a:r>
          </a:p>
        </p:txBody>
      </p:sp>
      <p:sp>
        <p:nvSpPr>
          <p:cNvPr id="6" name="WordArt 4">
            <a:extLst>
              <a:ext uri="{FF2B5EF4-FFF2-40B4-BE49-F238E27FC236}">
                <a16:creationId xmlns:a16="http://schemas.microsoft.com/office/drawing/2014/main" id="{72A14621-919A-4378-8EDE-E7737E866B55}"/>
              </a:ext>
            </a:extLst>
          </p:cNvPr>
          <p:cNvSpPr>
            <a:spLocks noChangeArrowheads="1" noChangeShapeType="1" noTextEdit="1"/>
          </p:cNvSpPr>
          <p:nvPr/>
        </p:nvSpPr>
        <p:spPr bwMode="auto">
          <a:xfrm>
            <a:off x="838200" y="314099"/>
            <a:ext cx="7467600" cy="798513"/>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Multi[</a:t>
            </a:r>
            <a:r>
              <a:rPr lang="en-US" sz="3600" kern="10" dirty="0" err="1">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ple</a:t>
            </a: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 Catch Blocks – ORDER MATTERS!</a:t>
            </a:r>
          </a:p>
        </p:txBody>
      </p:sp>
      <p:sp>
        <p:nvSpPr>
          <p:cNvPr id="2" name="TextBox 1">
            <a:extLst>
              <a:ext uri="{FF2B5EF4-FFF2-40B4-BE49-F238E27FC236}">
                <a16:creationId xmlns:a16="http://schemas.microsoft.com/office/drawing/2014/main" id="{833E9610-7C29-2223-BF8E-B29EF65145C9}"/>
              </a:ext>
            </a:extLst>
          </p:cNvPr>
          <p:cNvSpPr txBox="1"/>
          <p:nvPr/>
        </p:nvSpPr>
        <p:spPr>
          <a:xfrm>
            <a:off x="5334000" y="1447800"/>
            <a:ext cx="3365024" cy="646331"/>
          </a:xfrm>
          <a:prstGeom prst="rect">
            <a:avLst/>
          </a:prstGeom>
          <a:solidFill>
            <a:srgbClr val="FF0000"/>
          </a:solidFill>
        </p:spPr>
        <p:txBody>
          <a:bodyPr wrap="none" rtlCol="0">
            <a:spAutoFit/>
          </a:bodyPr>
          <a:lstStyle/>
          <a:p>
            <a:r>
              <a:rPr lang="en-US" sz="3600" dirty="0">
                <a:solidFill>
                  <a:schemeClr val="bg1"/>
                </a:solidFill>
              </a:rPr>
              <a:t>Syntax error!!!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0F5AF8-4F46-0171-D330-682776864D1E}"/>
              </a:ext>
            </a:extLst>
          </p:cNvPr>
          <p:cNvSpPr/>
          <p:nvPr/>
        </p:nvSpPr>
        <p:spPr>
          <a:xfrm>
            <a:off x="228600" y="457200"/>
            <a:ext cx="8686800" cy="646331"/>
          </a:xfrm>
          <a:prstGeom prst="rect">
            <a:avLst/>
          </a:prstGeom>
          <a:noFill/>
        </p:spPr>
        <p:txBody>
          <a:bodyPr wrap="square" lIns="91440" tIns="45720" rIns="91440" bIns="45720">
            <a:spAutoFit/>
          </a:bodyPr>
          <a:lstStyle/>
          <a:p>
            <a:pPr algn="ctr"/>
            <a:r>
              <a:rPr lang="en-US" sz="3600" b="1" cap="none" spc="0" dirty="0">
                <a:ln w="12700">
                  <a:solidFill>
                    <a:schemeClr val="accent1"/>
                  </a:solidFill>
                  <a:prstDash val="solid"/>
                </a:ln>
                <a:solidFill>
                  <a:schemeClr val="accent1">
                    <a:lumMod val="50000"/>
                  </a:schemeClr>
                </a:solidFill>
                <a:effectLst>
                  <a:outerShdw dist="38100" dir="2640000" algn="bl" rotWithShape="0">
                    <a:schemeClr val="accent1"/>
                  </a:outerShdw>
                </a:effectLst>
              </a:rPr>
              <a:t>Multiple Exceptions, </a:t>
            </a:r>
            <a:r>
              <a:rPr lang="en-US" sz="3600" dirty="0">
                <a:ln w="12700">
                  <a:solidFill>
                    <a:schemeClr val="accent1"/>
                  </a:solidFill>
                  <a:prstDash val="solid"/>
                </a:ln>
                <a:solidFill>
                  <a:schemeClr val="accent1">
                    <a:lumMod val="50000"/>
                  </a:schemeClr>
                </a:solidFill>
                <a:effectLst>
                  <a:outerShdw dist="38100" dir="2640000" algn="bl" rotWithShape="0">
                    <a:schemeClr val="accent1"/>
                  </a:outerShdw>
                </a:effectLst>
              </a:rPr>
              <a:t>One Catch Block</a:t>
            </a:r>
            <a:endParaRPr lang="en-US" sz="3600" b="1" cap="none" spc="0" dirty="0">
              <a:ln w="12700">
                <a:solidFill>
                  <a:schemeClr val="accent1"/>
                </a:solidFill>
                <a:prstDash val="solid"/>
              </a:ln>
              <a:solidFill>
                <a:schemeClr val="accent1">
                  <a:lumMod val="50000"/>
                </a:schemeClr>
              </a:solidFill>
              <a:effectLst>
                <a:outerShdw dist="38100" dir="2640000" algn="bl" rotWithShape="0">
                  <a:schemeClr val="accent1"/>
                </a:outerShdw>
              </a:effectLst>
            </a:endParaRPr>
          </a:p>
        </p:txBody>
      </p:sp>
      <p:sp>
        <p:nvSpPr>
          <p:cNvPr id="4" name="Rectangle 2">
            <a:extLst>
              <a:ext uri="{FF2B5EF4-FFF2-40B4-BE49-F238E27FC236}">
                <a16:creationId xmlns:a16="http://schemas.microsoft.com/office/drawing/2014/main" id="{00F4F2DB-904D-0014-CA99-50A45333660C}"/>
              </a:ext>
            </a:extLst>
          </p:cNvPr>
          <p:cNvSpPr>
            <a:spLocks noChangeArrowheads="1"/>
          </p:cNvSpPr>
          <p:nvPr/>
        </p:nvSpPr>
        <p:spPr bwMode="auto">
          <a:xfrm>
            <a:off x="457200" y="1057366"/>
            <a:ext cx="8458200" cy="5221829"/>
          </a:xfrm>
          <a:prstGeom prst="rect">
            <a:avLst/>
          </a:prstGeom>
          <a:noFill/>
          <a:ln>
            <a:noFill/>
          </a:ln>
          <a:effectLst/>
        </p:spPr>
        <p:txBody>
          <a:bodyPr vert="horz" wrap="square" lIns="0" tIns="355488"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ts val="1200"/>
              </a:spcAft>
              <a:buClrTx/>
              <a:buSzTx/>
              <a:buFontTx/>
              <a:buNone/>
              <a:tabLst/>
            </a:pPr>
            <a:r>
              <a:rPr lang="en-US" altLang="en-US" sz="3000" b="0" dirty="0">
                <a:solidFill>
                  <a:srgbClr val="242424"/>
                </a:solidFill>
                <a:latin typeface="source-serif-pro"/>
              </a:rPr>
              <a:t>S</a:t>
            </a:r>
            <a:r>
              <a:rPr kumimoji="0" lang="en-US" altLang="en-US" sz="3000" b="0" i="0" u="none" strike="noStrike" cap="none" normalizeH="0" baseline="0" dirty="0">
                <a:ln>
                  <a:noFill/>
                </a:ln>
                <a:solidFill>
                  <a:srgbClr val="242424"/>
                </a:solidFill>
                <a:effectLst/>
                <a:latin typeface="source-serif-pro"/>
              </a:rPr>
              <a:t>eparate each exception type with a vertical bar (</a:t>
            </a:r>
            <a:r>
              <a:rPr kumimoji="0" lang="en-US" altLang="en-US" sz="3000" b="0" i="0" u="none" strike="noStrike" cap="none" normalizeH="0" baseline="0" dirty="0">
                <a:ln>
                  <a:noFill/>
                </a:ln>
                <a:solidFill>
                  <a:srgbClr val="242424"/>
                </a:solidFill>
                <a:effectLst/>
                <a:latin typeface="source-code-pro"/>
              </a:rPr>
              <a:t>|</a:t>
            </a:r>
            <a:r>
              <a:rPr kumimoji="0" lang="en-US" altLang="en-US" sz="3000" b="0" i="0" u="none" strike="noStrike" cap="none" normalizeH="0" baseline="0" dirty="0">
                <a:ln>
                  <a:noFill/>
                </a:ln>
                <a:solidFill>
                  <a:srgbClr val="242424"/>
                </a:solidFill>
                <a:effectLst/>
                <a:latin typeface="source-serif-pro"/>
              </a:rPr>
              <a:t>):</a:t>
            </a:r>
            <a:endParaRPr kumimoji="0" lang="en-US" altLang="en-US" sz="3000" b="0" i="0" u="none" strike="noStrike" cap="none" normalizeH="0" baseline="0" dirty="0">
              <a:ln>
                <a:noFill/>
              </a:ln>
              <a:solidFill>
                <a:srgbClr val="AA0D91"/>
              </a:solidFill>
              <a:effectLst/>
              <a:latin typeface="source-code-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rgbClr val="AA0D91"/>
                </a:solidFill>
                <a:effectLst/>
                <a:latin typeface="source-code-pro"/>
              </a:rPr>
              <a:t>try</a:t>
            </a:r>
            <a:r>
              <a:rPr kumimoji="0" lang="en-US" altLang="en-US" sz="3600" b="0" i="0" u="none" strike="noStrike" cap="none" normalizeH="0" baseline="0" dirty="0">
                <a:ln>
                  <a:noFill/>
                </a:ln>
                <a:solidFill>
                  <a:srgbClr val="242424"/>
                </a:solidFill>
                <a:effectLst/>
                <a:latin typeface="source-code-pro"/>
              </a:rPr>
              <a:t> {</a:t>
            </a:r>
            <a:br>
              <a:rPr kumimoji="0" lang="en-US" altLang="en-US" sz="3600" b="0" i="0" u="none" strike="noStrike" cap="none" normalizeH="0" baseline="0" dirty="0">
                <a:ln>
                  <a:noFill/>
                </a:ln>
                <a:solidFill>
                  <a:srgbClr val="242424"/>
                </a:solidFill>
                <a:effectLst/>
                <a:latin typeface="source-code-pro"/>
              </a:rPr>
            </a:br>
            <a:r>
              <a:rPr kumimoji="0" lang="en-US" altLang="en-US" sz="3600" b="0" i="0" u="none" strike="noStrike" cap="none" normalizeH="0" baseline="0" dirty="0">
                <a:ln>
                  <a:noFill/>
                </a:ln>
                <a:solidFill>
                  <a:srgbClr val="242424"/>
                </a:solidFill>
                <a:effectLst/>
                <a:latin typeface="source-code-pro"/>
              </a:rPr>
              <a:t>   </a:t>
            </a:r>
            <a:r>
              <a:rPr kumimoji="0" lang="en-US" altLang="en-US" sz="3600" b="0" i="0" u="none" strike="noStrike" cap="none" normalizeH="0" baseline="0" dirty="0">
                <a:ln>
                  <a:noFill/>
                </a:ln>
                <a:solidFill>
                  <a:srgbClr val="007400"/>
                </a:solidFill>
                <a:effectLst/>
                <a:latin typeface="source-code-pro"/>
              </a:rPr>
              <a:t>// code</a:t>
            </a:r>
            <a:br>
              <a:rPr kumimoji="0" lang="en-US" altLang="en-US" sz="3600" b="0" i="0" u="none" strike="noStrike" cap="none" normalizeH="0" baseline="0" dirty="0">
                <a:ln>
                  <a:noFill/>
                </a:ln>
                <a:solidFill>
                  <a:srgbClr val="242424"/>
                </a:solidFill>
                <a:effectLst/>
                <a:latin typeface="source-code-pro"/>
              </a:rPr>
            </a:br>
            <a:r>
              <a:rPr kumimoji="0" lang="en-US" altLang="en-US" sz="3600" b="0" i="0" u="none" strike="noStrike" cap="none" normalizeH="0" baseline="0" dirty="0">
                <a:ln>
                  <a:noFill/>
                </a:ln>
                <a:solidFill>
                  <a:srgbClr val="242424"/>
                </a:solidFill>
                <a:effectLst/>
                <a:latin typeface="source-code-pro"/>
              </a:rPr>
              <a:t>} </a:t>
            </a:r>
            <a:r>
              <a:rPr kumimoji="0" lang="en-US" altLang="en-US" sz="3600" b="0" i="0" u="none" strike="noStrike" cap="none" normalizeH="0" baseline="0" dirty="0">
                <a:ln>
                  <a:noFill/>
                </a:ln>
                <a:solidFill>
                  <a:srgbClr val="AA0D91"/>
                </a:solidFill>
                <a:effectLst/>
                <a:latin typeface="source-code-pro"/>
              </a:rPr>
              <a:t>catch</a:t>
            </a:r>
            <a:r>
              <a:rPr kumimoji="0" lang="en-US" altLang="en-US" sz="3600" b="0" i="0" u="none" strike="noStrike" cap="none" normalizeH="0" baseline="0" dirty="0">
                <a:ln>
                  <a:noFill/>
                </a:ln>
                <a:solidFill>
                  <a:srgbClr val="242424"/>
                </a:solidFill>
                <a:effectLst/>
                <a:latin typeface="source-code-pro"/>
              </a:rPr>
              <a:t> (ExceptionType1 </a:t>
            </a:r>
            <a:r>
              <a:rPr kumimoji="0" lang="en-US" altLang="en-US" sz="3600" b="0" i="0" u="none" strike="noStrike" cap="none" normalizeH="0" baseline="0" dirty="0">
                <a:ln>
                  <a:noFill/>
                </a:ln>
                <a:solidFill>
                  <a:srgbClr val="0000CC"/>
                </a:solidFill>
                <a:effectLst/>
                <a:latin typeface="source-code-pro"/>
              </a:rPr>
              <a:t>|</a:t>
            </a:r>
            <a:r>
              <a:rPr kumimoji="0" lang="en-US" altLang="en-US" sz="3600" b="0" i="0" u="none" strike="noStrike" cap="none" normalizeH="0" baseline="0" dirty="0">
                <a:ln>
                  <a:noFill/>
                </a:ln>
                <a:solidFill>
                  <a:srgbClr val="242424"/>
                </a:solidFill>
                <a:effectLst/>
                <a:latin typeface="source-code-pro"/>
              </a:rPr>
              <a:t> Exceptiontype2 ex) { </a:t>
            </a:r>
            <a:br>
              <a:rPr kumimoji="0" lang="en-US" altLang="en-US" sz="3600" b="0" i="0" u="none" strike="noStrike" cap="none" normalizeH="0" baseline="0" dirty="0">
                <a:ln>
                  <a:noFill/>
                </a:ln>
                <a:solidFill>
                  <a:srgbClr val="242424"/>
                </a:solidFill>
                <a:effectLst/>
                <a:latin typeface="source-code-pro"/>
              </a:rPr>
            </a:br>
            <a:r>
              <a:rPr kumimoji="0" lang="en-US" altLang="en-US" sz="3600" b="0" i="0" u="none" strike="noStrike" cap="none" normalizeH="0" baseline="0" dirty="0">
                <a:ln>
                  <a:noFill/>
                </a:ln>
                <a:solidFill>
                  <a:srgbClr val="242424"/>
                </a:solidFill>
                <a:effectLst/>
                <a:latin typeface="source-code-pro"/>
              </a:rPr>
              <a:t>   </a:t>
            </a:r>
            <a:r>
              <a:rPr kumimoji="0" lang="en-US" altLang="en-US" sz="3600" b="0" i="0" u="none" strike="noStrike" cap="none" normalizeH="0" baseline="0" dirty="0">
                <a:ln>
                  <a:noFill/>
                </a:ln>
                <a:solidFill>
                  <a:srgbClr val="007400"/>
                </a:solidFill>
                <a:effectLst/>
                <a:latin typeface="source-code-pro"/>
              </a:rPr>
              <a:t>// catch block</a:t>
            </a:r>
            <a:br>
              <a:rPr kumimoji="0" lang="en-US" altLang="en-US" sz="3600" b="0" i="0" u="none" strike="noStrike" cap="none" normalizeH="0" baseline="0" dirty="0">
                <a:ln>
                  <a:noFill/>
                </a:ln>
                <a:solidFill>
                  <a:srgbClr val="242424"/>
                </a:solidFill>
                <a:effectLst/>
                <a:latin typeface="source-code-pro"/>
              </a:rPr>
            </a:br>
            <a:r>
              <a:rPr kumimoji="0" lang="en-US" altLang="en-US" sz="3600" b="0" i="0" u="none" strike="noStrike" cap="none" normalizeH="0" baseline="0" dirty="0">
                <a:ln>
                  <a:noFill/>
                </a:ln>
                <a:solidFill>
                  <a:srgbClr val="242424"/>
                </a:solidFill>
                <a:effectLst/>
                <a:latin typeface="source-code-pro"/>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a:ln>
                  <a:noFill/>
                </a:ln>
                <a:solidFill>
                  <a:srgbClr val="242424"/>
                </a:solidFill>
                <a:effectLst/>
                <a:latin typeface="source-serif-pro"/>
              </a:rPr>
              <a:t>The pipe symbol (|) can be used to divide up a catch block that handles numerous exceptions</a:t>
            </a:r>
            <a:endParaRPr kumimoji="0" lang="en-US" altLang="en-US" sz="3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6738313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a:extLst>
              <a:ext uri="{FF2B5EF4-FFF2-40B4-BE49-F238E27FC236}">
                <a16:creationId xmlns:a16="http://schemas.microsoft.com/office/drawing/2014/main" id="{D5EA9C64-301C-B12B-90F7-1BC2D570AFBE}"/>
              </a:ext>
            </a:extLst>
          </p:cNvPr>
          <p:cNvSpPr>
            <a:spLocks noGrp="1" noChangeArrowheads="1"/>
          </p:cNvSpPr>
          <p:nvPr>
            <p:ph type="title"/>
          </p:nvPr>
        </p:nvSpPr>
        <p:spPr>
          <a:xfrm>
            <a:off x="122237" y="0"/>
            <a:ext cx="8793163" cy="660400"/>
          </a:xfrm>
        </p:spPr>
        <p:txBody>
          <a:bodyPr/>
          <a:lstStyle/>
          <a:p>
            <a:pPr eaLnBrk="1" hangingPunct="1"/>
            <a:r>
              <a:rPr lang="en-GB" altLang="en-US" sz="3600" dirty="0">
                <a:solidFill>
                  <a:schemeClr val="tx1"/>
                </a:solidFill>
              </a:rPr>
              <a:t>Multiple Catch Statements</a:t>
            </a:r>
          </a:p>
        </p:txBody>
      </p:sp>
      <p:sp>
        <p:nvSpPr>
          <p:cNvPr id="24580" name="Rectangle 3">
            <a:extLst>
              <a:ext uri="{FF2B5EF4-FFF2-40B4-BE49-F238E27FC236}">
                <a16:creationId xmlns:a16="http://schemas.microsoft.com/office/drawing/2014/main" id="{9B4EF0F6-185B-AC52-0E3A-E3CE49D6D765}"/>
              </a:ext>
            </a:extLst>
          </p:cNvPr>
          <p:cNvSpPr>
            <a:spLocks noGrp="1" noChangeArrowheads="1"/>
          </p:cNvSpPr>
          <p:nvPr>
            <p:ph type="body" idx="1"/>
          </p:nvPr>
        </p:nvSpPr>
        <p:spPr>
          <a:xfrm>
            <a:off x="304800" y="876300"/>
            <a:ext cx="8610600" cy="5981700"/>
          </a:xfrm>
        </p:spPr>
        <p:txBody>
          <a:bodyPr/>
          <a:lstStyle/>
          <a:p>
            <a:pPr marL="0" lvl="1" indent="0" algn="ctr" eaLnBrk="1" hangingPunct="1">
              <a:lnSpc>
                <a:spcPct val="80000"/>
              </a:lnSpc>
              <a:spcAft>
                <a:spcPts val="600"/>
              </a:spcAft>
              <a:buFont typeface="Wingdings" panose="05000000000000000000" pitchFamily="2" charset="2"/>
              <a:buNone/>
              <a:defRPr/>
            </a:pPr>
            <a:r>
              <a:rPr lang="en-GB" b="1" dirty="0"/>
              <a:t>Are the exceptions listed in the proper order?</a:t>
            </a:r>
          </a:p>
          <a:p>
            <a:pPr marL="285750" lvl="1" eaLnBrk="1" hangingPunct="1">
              <a:lnSpc>
                <a:spcPct val="80000"/>
              </a:lnSpc>
              <a:buFont typeface="Wingdings" panose="05000000000000000000" pitchFamily="2" charset="2"/>
              <a:buNone/>
              <a:defRPr/>
            </a:pPr>
            <a:endParaRPr lang="en-GB" sz="1600" dirty="0"/>
          </a:p>
          <a:p>
            <a:pPr marL="285750" lvl="1" eaLnBrk="1" hangingPunct="1">
              <a:lnSpc>
                <a:spcPct val="80000"/>
              </a:lnSpc>
              <a:buFont typeface="Wingdings" panose="05000000000000000000" pitchFamily="2" charset="2"/>
              <a:buNone/>
              <a:defRPr/>
            </a:pPr>
            <a:r>
              <a:rPr lang="en-GB" sz="2600" dirty="0"/>
              <a:t>try {</a:t>
            </a:r>
          </a:p>
          <a:p>
            <a:pPr marL="285750" lvl="1" eaLnBrk="1" hangingPunct="1">
              <a:lnSpc>
                <a:spcPct val="80000"/>
              </a:lnSpc>
              <a:buNone/>
              <a:defRPr/>
            </a:pPr>
            <a:r>
              <a:rPr lang="en-GB" sz="2600" dirty="0"/>
              <a:t>    URL </a:t>
            </a:r>
            <a:r>
              <a:rPr lang="en-GB" sz="2600" dirty="0" err="1"/>
              <a:t>url</a:t>
            </a:r>
            <a:r>
              <a:rPr lang="en-GB" sz="2600" dirty="0"/>
              <a:t> = new URL(</a:t>
            </a:r>
            <a:r>
              <a:rPr lang="en-GB" sz="2600" dirty="0" err="1"/>
              <a:t>urlStr</a:t>
            </a:r>
            <a:r>
              <a:rPr lang="en-GB" sz="2600" dirty="0"/>
              <a:t>);  // Get the image</a:t>
            </a:r>
          </a:p>
          <a:p>
            <a:pPr marL="285750" lvl="1" eaLnBrk="1" hangingPunct="1">
              <a:lnSpc>
                <a:spcPct val="80000"/>
              </a:lnSpc>
              <a:buFont typeface="Wingdings" panose="05000000000000000000" pitchFamily="2" charset="2"/>
              <a:buNone/>
              <a:defRPr/>
            </a:pPr>
            <a:r>
              <a:rPr lang="en-GB" sz="2600" dirty="0"/>
              <a:t>    </a:t>
            </a:r>
            <a:r>
              <a:rPr lang="en-GB" sz="2600" dirty="0" err="1"/>
              <a:t>InputStream</a:t>
            </a:r>
            <a:r>
              <a:rPr lang="en-GB" sz="2600" dirty="0"/>
              <a:t> is = </a:t>
            </a:r>
            <a:r>
              <a:rPr lang="en-GB" sz="2600" dirty="0" err="1"/>
              <a:t>url.openStream</a:t>
            </a:r>
            <a:r>
              <a:rPr lang="en-GB" sz="2600" dirty="0"/>
              <a:t>();</a:t>
            </a:r>
          </a:p>
          <a:p>
            <a:pPr marL="285750" lvl="1" eaLnBrk="1" hangingPunct="1">
              <a:lnSpc>
                <a:spcPct val="80000"/>
              </a:lnSpc>
              <a:buFont typeface="Wingdings" panose="05000000000000000000" pitchFamily="2" charset="2"/>
              <a:buNone/>
              <a:defRPr/>
            </a:pPr>
            <a:r>
              <a:rPr lang="en-GB" sz="2600" dirty="0"/>
              <a:t>} </a:t>
            </a:r>
          </a:p>
          <a:p>
            <a:pPr marL="285750" lvl="1" eaLnBrk="1" hangingPunct="1">
              <a:lnSpc>
                <a:spcPct val="80000"/>
              </a:lnSpc>
              <a:buFont typeface="Wingdings" panose="05000000000000000000" pitchFamily="2" charset="2"/>
              <a:buNone/>
              <a:defRPr/>
            </a:pPr>
            <a:r>
              <a:rPr lang="en-GB" sz="2600" dirty="0"/>
              <a:t>catch (</a:t>
            </a:r>
            <a:r>
              <a:rPr lang="en-GB" sz="2600" b="1" dirty="0" err="1"/>
              <a:t>MalformedURLException</a:t>
            </a:r>
            <a:r>
              <a:rPr lang="en-GB" sz="2600" b="1" dirty="0"/>
              <a:t> e</a:t>
            </a:r>
            <a:r>
              <a:rPr lang="en-GB" sz="2600" dirty="0"/>
              <a:t>) {</a:t>
            </a:r>
          </a:p>
          <a:p>
            <a:pPr marL="285750" lvl="1" eaLnBrk="1" hangingPunct="1">
              <a:lnSpc>
                <a:spcPct val="80000"/>
              </a:lnSpc>
              <a:buFont typeface="Wingdings" panose="05000000000000000000" pitchFamily="2" charset="2"/>
              <a:buNone/>
              <a:defRPr/>
            </a:pPr>
            <a:r>
              <a:rPr lang="en-GB" sz="2600" dirty="0"/>
              <a:t>    // code to handle the wrongly written URL</a:t>
            </a:r>
          </a:p>
          <a:p>
            <a:pPr marL="285750" lvl="1" eaLnBrk="1" hangingPunct="1">
              <a:lnSpc>
                <a:spcPct val="80000"/>
              </a:lnSpc>
              <a:buFont typeface="Wingdings" panose="05000000000000000000" pitchFamily="2" charset="2"/>
              <a:buNone/>
              <a:defRPr/>
            </a:pPr>
            <a:r>
              <a:rPr lang="en-GB" sz="2600" dirty="0"/>
              <a:t>} </a:t>
            </a:r>
          </a:p>
          <a:p>
            <a:pPr marL="285750" lvl="1" eaLnBrk="1" hangingPunct="1">
              <a:lnSpc>
                <a:spcPct val="80000"/>
              </a:lnSpc>
              <a:buFont typeface="Wingdings" panose="05000000000000000000" pitchFamily="2" charset="2"/>
              <a:buNone/>
              <a:defRPr/>
            </a:pPr>
            <a:r>
              <a:rPr lang="en-GB" sz="2600" dirty="0"/>
              <a:t>catch (</a:t>
            </a:r>
            <a:r>
              <a:rPr lang="en-GB" sz="2600" b="1" dirty="0" err="1"/>
              <a:t>IOException</a:t>
            </a:r>
            <a:r>
              <a:rPr lang="en-GB" sz="2600" b="1" dirty="0"/>
              <a:t> e</a:t>
            </a:r>
            <a:r>
              <a:rPr lang="en-GB" sz="2600" dirty="0"/>
              <a:t>) {</a:t>
            </a:r>
          </a:p>
          <a:p>
            <a:pPr marL="285750" lvl="1" eaLnBrk="1" hangingPunct="1">
              <a:lnSpc>
                <a:spcPct val="80000"/>
              </a:lnSpc>
              <a:buNone/>
              <a:defRPr/>
            </a:pPr>
            <a:r>
              <a:rPr lang="en-GB" sz="2600" dirty="0"/>
              <a:t>    // code to handle the non-existent web page;</a:t>
            </a:r>
          </a:p>
          <a:p>
            <a:pPr marL="285750" lvl="1" eaLnBrk="1" hangingPunct="1">
              <a:lnSpc>
                <a:spcPct val="80000"/>
              </a:lnSpc>
              <a:buNone/>
              <a:defRPr/>
            </a:pPr>
            <a:r>
              <a:rPr lang="en-GB" sz="2600" dirty="0"/>
              <a:t>} </a:t>
            </a:r>
          </a:p>
          <a:p>
            <a:pPr marL="285750" lvl="1" eaLnBrk="1" hangingPunct="1">
              <a:lnSpc>
                <a:spcPct val="80000"/>
              </a:lnSpc>
              <a:buNone/>
              <a:defRPr/>
            </a:pPr>
            <a:r>
              <a:rPr lang="en-GB" altLang="en-US" sz="2600" dirty="0"/>
              <a:t>finally {</a:t>
            </a:r>
          </a:p>
          <a:p>
            <a:pPr marL="285750" lvl="1" eaLnBrk="1" hangingPunct="1">
              <a:lnSpc>
                <a:spcPct val="80000"/>
              </a:lnSpc>
              <a:buNone/>
            </a:pPr>
            <a:r>
              <a:rPr lang="en-GB" altLang="en-US" sz="2600" dirty="0"/>
              <a:t>    </a:t>
            </a:r>
            <a:r>
              <a:rPr lang="en-GB" altLang="en-US" sz="2600" dirty="0" err="1"/>
              <a:t>is.close</a:t>
            </a:r>
            <a:r>
              <a:rPr lang="en-GB" altLang="en-US" sz="2600" dirty="0"/>
              <a:t>(); </a:t>
            </a:r>
          </a:p>
          <a:p>
            <a:pPr marL="285750" lvl="1" eaLnBrk="1" hangingPunct="1">
              <a:lnSpc>
                <a:spcPct val="80000"/>
              </a:lnSpc>
              <a:buNone/>
            </a:pPr>
            <a:r>
              <a:rPr lang="en-GB" altLang="en-US" sz="2600" dirty="0"/>
              <a:t>}</a:t>
            </a:r>
          </a:p>
        </p:txBody>
      </p:sp>
    </p:spTree>
  </p:cSld>
  <p:clrMapOvr>
    <a:masterClrMapping/>
  </p:clrMapOvr>
  <p:transition advTm="100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D2234-A5D5-F06F-4889-475D3B9022AD}"/>
            </a:ext>
          </a:extLst>
        </p:cNvPr>
        <p:cNvGrpSpPr/>
        <p:nvPr/>
      </p:nvGrpSpPr>
      <p:grpSpPr>
        <a:xfrm>
          <a:off x="0" y="0"/>
          <a:ext cx="0" cy="0"/>
          <a:chOff x="0" y="0"/>
          <a:chExt cx="0" cy="0"/>
        </a:xfrm>
      </p:grpSpPr>
      <p:sp>
        <p:nvSpPr>
          <p:cNvPr id="73731" name="Rectangle 2">
            <a:extLst>
              <a:ext uri="{FF2B5EF4-FFF2-40B4-BE49-F238E27FC236}">
                <a16:creationId xmlns:a16="http://schemas.microsoft.com/office/drawing/2014/main" id="{03FAE4D8-B5EC-371F-D001-52CA2FCB5F89}"/>
              </a:ext>
            </a:extLst>
          </p:cNvPr>
          <p:cNvSpPr>
            <a:spLocks noGrp="1" noChangeArrowheads="1"/>
          </p:cNvSpPr>
          <p:nvPr>
            <p:ph type="title"/>
          </p:nvPr>
        </p:nvSpPr>
        <p:spPr>
          <a:xfrm>
            <a:off x="122237" y="38100"/>
            <a:ext cx="8793163" cy="660400"/>
          </a:xfrm>
        </p:spPr>
        <p:txBody>
          <a:bodyPr/>
          <a:lstStyle/>
          <a:p>
            <a:pPr eaLnBrk="1" hangingPunct="1"/>
            <a:r>
              <a:rPr lang="en-GB" altLang="en-US" sz="3600" dirty="0">
                <a:solidFill>
                  <a:schemeClr val="tx1"/>
                </a:solidFill>
              </a:rPr>
              <a:t>Multiple Catch Statements</a:t>
            </a:r>
          </a:p>
        </p:txBody>
      </p:sp>
      <p:sp>
        <p:nvSpPr>
          <p:cNvPr id="24580" name="Rectangle 3">
            <a:extLst>
              <a:ext uri="{FF2B5EF4-FFF2-40B4-BE49-F238E27FC236}">
                <a16:creationId xmlns:a16="http://schemas.microsoft.com/office/drawing/2014/main" id="{EF56C16D-9239-BB2A-BCB7-75FE0CCE5294}"/>
              </a:ext>
            </a:extLst>
          </p:cNvPr>
          <p:cNvSpPr>
            <a:spLocks noGrp="1" noChangeArrowheads="1"/>
          </p:cNvSpPr>
          <p:nvPr>
            <p:ph type="body" idx="1"/>
          </p:nvPr>
        </p:nvSpPr>
        <p:spPr>
          <a:xfrm>
            <a:off x="122237" y="914400"/>
            <a:ext cx="8793163" cy="5715000"/>
          </a:xfrm>
        </p:spPr>
        <p:txBody>
          <a:bodyPr/>
          <a:lstStyle/>
          <a:p>
            <a:pPr marL="228600" lvl="1" indent="-228600" eaLnBrk="1" hangingPunct="1">
              <a:lnSpc>
                <a:spcPct val="80000"/>
              </a:lnSpc>
              <a:spcAft>
                <a:spcPts val="600"/>
              </a:spcAft>
              <a:buFont typeface="Wingdings" panose="05000000000000000000" pitchFamily="2" charset="2"/>
              <a:buNone/>
              <a:defRPr/>
            </a:pPr>
            <a:r>
              <a:rPr lang="en-GB" sz="2400" b="1" dirty="0"/>
              <a:t>If the URL is written wrong, the first catch runs, </a:t>
            </a:r>
          </a:p>
          <a:p>
            <a:pPr marL="228600" lvl="1" indent="-228600" eaLnBrk="1" hangingPunct="1">
              <a:lnSpc>
                <a:spcPct val="80000"/>
              </a:lnSpc>
              <a:spcAft>
                <a:spcPts val="600"/>
              </a:spcAft>
              <a:buFont typeface="Wingdings" panose="05000000000000000000" pitchFamily="2" charset="2"/>
              <a:buNone/>
              <a:defRPr/>
            </a:pPr>
            <a:r>
              <a:rPr lang="en-GB" sz="2400" b="1" dirty="0"/>
              <a:t>then the finally block runs:</a:t>
            </a:r>
          </a:p>
          <a:p>
            <a:pPr marL="228600" lvl="1" indent="-228600" eaLnBrk="1" hangingPunct="1">
              <a:lnSpc>
                <a:spcPct val="80000"/>
              </a:lnSpc>
              <a:spcAft>
                <a:spcPts val="600"/>
              </a:spcAft>
              <a:buFont typeface="Wingdings" panose="05000000000000000000" pitchFamily="2" charset="2"/>
              <a:buNone/>
              <a:defRPr/>
            </a:pPr>
            <a:endParaRPr lang="en-GB" sz="1050" b="1" dirty="0"/>
          </a:p>
          <a:p>
            <a:pPr marL="285750" lvl="1" eaLnBrk="1" hangingPunct="1">
              <a:lnSpc>
                <a:spcPct val="80000"/>
              </a:lnSpc>
              <a:buFont typeface="Wingdings" panose="05000000000000000000" pitchFamily="2" charset="2"/>
              <a:buNone/>
              <a:defRPr/>
            </a:pPr>
            <a:r>
              <a:rPr lang="en-GB" sz="2400" b="1" dirty="0"/>
              <a:t>try {</a:t>
            </a:r>
          </a:p>
          <a:p>
            <a:pPr marL="285750" lvl="1" eaLnBrk="1" hangingPunct="1">
              <a:lnSpc>
                <a:spcPct val="80000"/>
              </a:lnSpc>
              <a:buNone/>
              <a:defRPr/>
            </a:pPr>
            <a:r>
              <a:rPr lang="en-GB" sz="2400" dirty="0"/>
              <a:t>    </a:t>
            </a:r>
            <a:r>
              <a:rPr lang="en-GB" sz="2400" b="1" dirty="0"/>
              <a:t>URL </a:t>
            </a:r>
            <a:r>
              <a:rPr lang="en-GB" sz="2400" b="1" dirty="0" err="1"/>
              <a:t>url</a:t>
            </a:r>
            <a:r>
              <a:rPr lang="en-GB" sz="2400" b="1" dirty="0"/>
              <a:t> = new URL(</a:t>
            </a:r>
            <a:r>
              <a:rPr lang="en-GB" sz="2400" b="1" dirty="0" err="1"/>
              <a:t>urlStr</a:t>
            </a:r>
            <a:r>
              <a:rPr lang="en-GB" sz="2400" b="1" dirty="0"/>
              <a:t>);  </a:t>
            </a:r>
            <a:endParaRPr lang="en-GB" sz="2400" dirty="0"/>
          </a:p>
          <a:p>
            <a:pPr marL="285750" lvl="1" eaLnBrk="1" hangingPunct="1">
              <a:lnSpc>
                <a:spcPct val="80000"/>
              </a:lnSpc>
              <a:buFont typeface="Wingdings" panose="05000000000000000000" pitchFamily="2" charset="2"/>
              <a:buNone/>
              <a:defRPr/>
            </a:pPr>
            <a:r>
              <a:rPr lang="en-GB" sz="2400" dirty="0"/>
              <a:t>    </a:t>
            </a:r>
            <a:r>
              <a:rPr lang="en-GB" sz="2400" dirty="0" err="1"/>
              <a:t>InputStream</a:t>
            </a:r>
            <a:r>
              <a:rPr lang="en-GB" sz="2400" dirty="0"/>
              <a:t> is = </a:t>
            </a:r>
            <a:r>
              <a:rPr lang="en-GB" sz="2400" dirty="0" err="1"/>
              <a:t>url.openStream</a:t>
            </a:r>
            <a:r>
              <a:rPr lang="en-GB" sz="2400" dirty="0"/>
              <a:t>();</a:t>
            </a:r>
          </a:p>
          <a:p>
            <a:pPr marL="285750" lvl="1" eaLnBrk="1" hangingPunct="1">
              <a:lnSpc>
                <a:spcPct val="80000"/>
              </a:lnSpc>
              <a:buFont typeface="Wingdings" panose="05000000000000000000" pitchFamily="2" charset="2"/>
              <a:buNone/>
              <a:defRPr/>
            </a:pPr>
            <a:r>
              <a:rPr lang="en-GB" sz="2400" dirty="0"/>
              <a:t>} </a:t>
            </a:r>
          </a:p>
          <a:p>
            <a:pPr marL="285750" lvl="1" eaLnBrk="1" hangingPunct="1">
              <a:lnSpc>
                <a:spcPct val="80000"/>
              </a:lnSpc>
              <a:buFont typeface="Wingdings" panose="05000000000000000000" pitchFamily="2" charset="2"/>
              <a:buNone/>
              <a:defRPr/>
            </a:pPr>
            <a:r>
              <a:rPr lang="en-GB" sz="2400" b="1" dirty="0"/>
              <a:t>catch (</a:t>
            </a:r>
            <a:r>
              <a:rPr lang="en-GB" sz="2400" b="1" dirty="0" err="1"/>
              <a:t>MalformedURLException</a:t>
            </a:r>
            <a:r>
              <a:rPr lang="en-GB" sz="2400" b="1" dirty="0"/>
              <a:t> e) {</a:t>
            </a:r>
          </a:p>
          <a:p>
            <a:pPr marL="285750" lvl="1" eaLnBrk="1" hangingPunct="1">
              <a:lnSpc>
                <a:spcPct val="80000"/>
              </a:lnSpc>
              <a:buFont typeface="Wingdings" panose="05000000000000000000" pitchFamily="2" charset="2"/>
              <a:buNone/>
              <a:defRPr/>
            </a:pPr>
            <a:r>
              <a:rPr lang="en-GB" sz="2400" b="1" dirty="0"/>
              <a:t>    // code to handle the wrongly written URL</a:t>
            </a:r>
          </a:p>
          <a:p>
            <a:pPr marL="285750" lvl="1" eaLnBrk="1" hangingPunct="1">
              <a:lnSpc>
                <a:spcPct val="80000"/>
              </a:lnSpc>
              <a:buFont typeface="Wingdings" panose="05000000000000000000" pitchFamily="2" charset="2"/>
              <a:buNone/>
              <a:defRPr/>
            </a:pPr>
            <a:r>
              <a:rPr lang="en-GB" sz="2400" b="1" dirty="0"/>
              <a:t>}</a:t>
            </a:r>
            <a:r>
              <a:rPr lang="en-GB" sz="2400" dirty="0"/>
              <a:t> </a:t>
            </a:r>
          </a:p>
          <a:p>
            <a:pPr marL="285750" lvl="1" eaLnBrk="1" hangingPunct="1">
              <a:lnSpc>
                <a:spcPct val="80000"/>
              </a:lnSpc>
              <a:buFont typeface="Wingdings" panose="05000000000000000000" pitchFamily="2" charset="2"/>
              <a:buNone/>
              <a:defRPr/>
            </a:pPr>
            <a:r>
              <a:rPr lang="en-GB" sz="2400" dirty="0"/>
              <a:t>catch (</a:t>
            </a:r>
            <a:r>
              <a:rPr lang="en-GB" sz="2400" dirty="0" err="1"/>
              <a:t>IOException</a:t>
            </a:r>
            <a:r>
              <a:rPr lang="en-GB" sz="2400" dirty="0"/>
              <a:t> e) {</a:t>
            </a:r>
          </a:p>
          <a:p>
            <a:pPr marL="285750" lvl="1" eaLnBrk="1" hangingPunct="1">
              <a:lnSpc>
                <a:spcPct val="80000"/>
              </a:lnSpc>
              <a:buNone/>
              <a:defRPr/>
            </a:pPr>
            <a:r>
              <a:rPr lang="en-GB" sz="2400" dirty="0"/>
              <a:t>     // code to handle the non-existent web page;</a:t>
            </a:r>
          </a:p>
          <a:p>
            <a:pPr marL="285750" lvl="1" eaLnBrk="1" hangingPunct="1">
              <a:lnSpc>
                <a:spcPct val="80000"/>
              </a:lnSpc>
              <a:buFont typeface="Wingdings" panose="05000000000000000000" pitchFamily="2" charset="2"/>
              <a:buNone/>
              <a:defRPr/>
            </a:pPr>
            <a:r>
              <a:rPr lang="en-GB" sz="2400" dirty="0"/>
              <a:t>} </a:t>
            </a:r>
          </a:p>
          <a:p>
            <a:pPr marL="285750" lvl="1" eaLnBrk="1" hangingPunct="1">
              <a:lnSpc>
                <a:spcPct val="80000"/>
              </a:lnSpc>
              <a:buFont typeface="Wingdings" panose="05000000000000000000" pitchFamily="2" charset="2"/>
              <a:buNone/>
              <a:defRPr/>
            </a:pPr>
            <a:r>
              <a:rPr lang="en-GB" altLang="en-US" sz="2400" b="1" dirty="0"/>
              <a:t>finally {</a:t>
            </a:r>
          </a:p>
          <a:p>
            <a:pPr marL="285750" lvl="1" eaLnBrk="1" hangingPunct="1">
              <a:lnSpc>
                <a:spcPct val="80000"/>
              </a:lnSpc>
              <a:buNone/>
            </a:pPr>
            <a:r>
              <a:rPr lang="en-GB" altLang="en-US" sz="2400" b="1" dirty="0"/>
              <a:t>    </a:t>
            </a:r>
            <a:r>
              <a:rPr lang="en-GB" altLang="en-US" sz="2400" b="1" dirty="0" err="1"/>
              <a:t>is.close</a:t>
            </a:r>
            <a:r>
              <a:rPr lang="en-GB" altLang="en-US" sz="2400" b="1" dirty="0"/>
              <a:t>(); </a:t>
            </a:r>
          </a:p>
          <a:p>
            <a:pPr marL="285750" lvl="1" eaLnBrk="1" hangingPunct="1">
              <a:lnSpc>
                <a:spcPct val="80000"/>
              </a:lnSpc>
              <a:buNone/>
            </a:pPr>
            <a:r>
              <a:rPr lang="en-GB" altLang="en-US" sz="2400" b="1" dirty="0"/>
              <a:t>}</a:t>
            </a:r>
          </a:p>
        </p:txBody>
      </p:sp>
      <p:sp>
        <p:nvSpPr>
          <p:cNvPr id="2" name="Freeform: Shape 1">
            <a:extLst>
              <a:ext uri="{FF2B5EF4-FFF2-40B4-BE49-F238E27FC236}">
                <a16:creationId xmlns:a16="http://schemas.microsoft.com/office/drawing/2014/main" id="{53878D2E-6861-0A1C-7023-57D8A4AC2AAE}"/>
              </a:ext>
            </a:extLst>
          </p:cNvPr>
          <p:cNvSpPr/>
          <p:nvPr/>
        </p:nvSpPr>
        <p:spPr bwMode="auto">
          <a:xfrm>
            <a:off x="4887557" y="2603352"/>
            <a:ext cx="2792686" cy="1055144"/>
          </a:xfrm>
          <a:custGeom>
            <a:avLst/>
            <a:gdLst>
              <a:gd name="connsiteX0" fmla="*/ 2033195 w 2804409"/>
              <a:gd name="connsiteY0" fmla="*/ 0 h 1185373"/>
              <a:gd name="connsiteX1" fmla="*/ 2592593 w 2804409"/>
              <a:gd name="connsiteY1" fmla="*/ 193637 h 1185373"/>
              <a:gd name="connsiteX2" fmla="*/ 2786231 w 2804409"/>
              <a:gd name="connsiteY2" fmla="*/ 537882 h 1185373"/>
              <a:gd name="connsiteX3" fmla="*/ 2775473 w 2804409"/>
              <a:gd name="connsiteY3" fmla="*/ 925157 h 1185373"/>
              <a:gd name="connsiteX4" fmla="*/ 2603351 w 2804409"/>
              <a:gd name="connsiteY4" fmla="*/ 1086522 h 1185373"/>
              <a:gd name="connsiteX5" fmla="*/ 1796527 w 2804409"/>
              <a:gd name="connsiteY5" fmla="*/ 1172583 h 1185373"/>
              <a:gd name="connsiteX6" fmla="*/ 0 w 2804409"/>
              <a:gd name="connsiteY6" fmla="*/ 1183341 h 1185373"/>
              <a:gd name="connsiteX0" fmla="*/ 0 w 3821439"/>
              <a:gd name="connsiteY0" fmla="*/ 280524 h 991980"/>
              <a:gd name="connsiteX1" fmla="*/ 3496236 w 3821439"/>
              <a:gd name="connsiteY1" fmla="*/ 244 h 991980"/>
              <a:gd name="connsiteX2" fmla="*/ 3689874 w 3821439"/>
              <a:gd name="connsiteY2" fmla="*/ 344489 h 991980"/>
              <a:gd name="connsiteX3" fmla="*/ 3679116 w 3821439"/>
              <a:gd name="connsiteY3" fmla="*/ 731764 h 991980"/>
              <a:gd name="connsiteX4" fmla="*/ 3506994 w 3821439"/>
              <a:gd name="connsiteY4" fmla="*/ 893129 h 991980"/>
              <a:gd name="connsiteX5" fmla="*/ 2700170 w 3821439"/>
              <a:gd name="connsiteY5" fmla="*/ 979190 h 991980"/>
              <a:gd name="connsiteX6" fmla="*/ 903643 w 3821439"/>
              <a:gd name="connsiteY6" fmla="*/ 989948 h 991980"/>
              <a:gd name="connsiteX0" fmla="*/ 0 w 3821431"/>
              <a:gd name="connsiteY0" fmla="*/ 0 h 711456"/>
              <a:gd name="connsiteX1" fmla="*/ 1957892 w 3821431"/>
              <a:gd name="connsiteY1" fmla="*/ 33342 h 711456"/>
              <a:gd name="connsiteX2" fmla="*/ 3689874 w 3821431"/>
              <a:gd name="connsiteY2" fmla="*/ 63965 h 711456"/>
              <a:gd name="connsiteX3" fmla="*/ 3679116 w 3821431"/>
              <a:gd name="connsiteY3" fmla="*/ 451240 h 711456"/>
              <a:gd name="connsiteX4" fmla="*/ 3506994 w 3821431"/>
              <a:gd name="connsiteY4" fmla="*/ 612605 h 711456"/>
              <a:gd name="connsiteX5" fmla="*/ 2700170 w 3821431"/>
              <a:gd name="connsiteY5" fmla="*/ 698666 h 711456"/>
              <a:gd name="connsiteX6" fmla="*/ 903643 w 3821431"/>
              <a:gd name="connsiteY6" fmla="*/ 709424 h 711456"/>
              <a:gd name="connsiteX0" fmla="*/ 0 w 3726155"/>
              <a:gd name="connsiteY0" fmla="*/ 0 h 711456"/>
              <a:gd name="connsiteX1" fmla="*/ 1957892 w 3726155"/>
              <a:gd name="connsiteY1" fmla="*/ 33342 h 711456"/>
              <a:gd name="connsiteX2" fmla="*/ 2786232 w 3726155"/>
              <a:gd name="connsiteY2" fmla="*/ 321832 h 711456"/>
              <a:gd name="connsiteX3" fmla="*/ 3679116 w 3726155"/>
              <a:gd name="connsiteY3" fmla="*/ 451240 h 711456"/>
              <a:gd name="connsiteX4" fmla="*/ 3506994 w 3726155"/>
              <a:gd name="connsiteY4" fmla="*/ 612605 h 711456"/>
              <a:gd name="connsiteX5" fmla="*/ 2700170 w 3726155"/>
              <a:gd name="connsiteY5" fmla="*/ 698666 h 711456"/>
              <a:gd name="connsiteX6" fmla="*/ 903643 w 3726155"/>
              <a:gd name="connsiteY6" fmla="*/ 709424 h 711456"/>
              <a:gd name="connsiteX0" fmla="*/ 0 w 3509018"/>
              <a:gd name="connsiteY0" fmla="*/ 0 h 711456"/>
              <a:gd name="connsiteX1" fmla="*/ 1957892 w 3509018"/>
              <a:gd name="connsiteY1" fmla="*/ 33342 h 711456"/>
              <a:gd name="connsiteX2" fmla="*/ 2786232 w 3509018"/>
              <a:gd name="connsiteY2" fmla="*/ 321832 h 711456"/>
              <a:gd name="connsiteX3" fmla="*/ 2926080 w 3509018"/>
              <a:gd name="connsiteY3" fmla="*/ 520933 h 711456"/>
              <a:gd name="connsiteX4" fmla="*/ 3506994 w 3509018"/>
              <a:gd name="connsiteY4" fmla="*/ 612605 h 711456"/>
              <a:gd name="connsiteX5" fmla="*/ 2700170 w 3509018"/>
              <a:gd name="connsiteY5" fmla="*/ 698666 h 711456"/>
              <a:gd name="connsiteX6" fmla="*/ 903643 w 3509018"/>
              <a:gd name="connsiteY6" fmla="*/ 709424 h 711456"/>
              <a:gd name="connsiteX0" fmla="*/ 0 w 3540496"/>
              <a:gd name="connsiteY0" fmla="*/ 0 h 711456"/>
              <a:gd name="connsiteX1" fmla="*/ 1957892 w 3540496"/>
              <a:gd name="connsiteY1" fmla="*/ 33342 h 711456"/>
              <a:gd name="connsiteX2" fmla="*/ 2786232 w 3540496"/>
              <a:gd name="connsiteY2" fmla="*/ 321832 h 711456"/>
              <a:gd name="connsiteX3" fmla="*/ 2926080 w 3540496"/>
              <a:gd name="connsiteY3" fmla="*/ 520933 h 711456"/>
              <a:gd name="connsiteX4" fmla="*/ 3506994 w 3540496"/>
              <a:gd name="connsiteY4" fmla="*/ 612605 h 711456"/>
              <a:gd name="connsiteX5" fmla="*/ 1807286 w 3540496"/>
              <a:gd name="connsiteY5" fmla="*/ 698666 h 711456"/>
              <a:gd name="connsiteX6" fmla="*/ 903643 w 3540496"/>
              <a:gd name="connsiteY6" fmla="*/ 709424 h 711456"/>
              <a:gd name="connsiteX0" fmla="*/ 0 w 2998444"/>
              <a:gd name="connsiteY0" fmla="*/ 0 h 711456"/>
              <a:gd name="connsiteX1" fmla="*/ 1957892 w 2998444"/>
              <a:gd name="connsiteY1" fmla="*/ 33342 h 711456"/>
              <a:gd name="connsiteX2" fmla="*/ 2786232 w 2998444"/>
              <a:gd name="connsiteY2" fmla="*/ 321832 h 711456"/>
              <a:gd name="connsiteX3" fmla="*/ 2926080 w 2998444"/>
              <a:gd name="connsiteY3" fmla="*/ 520933 h 711456"/>
              <a:gd name="connsiteX4" fmla="*/ 1807286 w 2998444"/>
              <a:gd name="connsiteY4" fmla="*/ 698666 h 711456"/>
              <a:gd name="connsiteX5" fmla="*/ 903643 w 2998444"/>
              <a:gd name="connsiteY5" fmla="*/ 709424 h 711456"/>
              <a:gd name="connsiteX0" fmla="*/ 0 w 2831401"/>
              <a:gd name="connsiteY0" fmla="*/ 0 h 711456"/>
              <a:gd name="connsiteX1" fmla="*/ 1957892 w 2831401"/>
              <a:gd name="connsiteY1" fmla="*/ 33342 h 711456"/>
              <a:gd name="connsiteX2" fmla="*/ 2786232 w 2831401"/>
              <a:gd name="connsiteY2" fmla="*/ 321832 h 711456"/>
              <a:gd name="connsiteX3" fmla="*/ 2624866 w 2831401"/>
              <a:gd name="connsiteY3" fmla="*/ 555780 h 711456"/>
              <a:gd name="connsiteX4" fmla="*/ 1807286 w 2831401"/>
              <a:gd name="connsiteY4" fmla="*/ 698666 h 711456"/>
              <a:gd name="connsiteX5" fmla="*/ 903643 w 2831401"/>
              <a:gd name="connsiteY5" fmla="*/ 709424 h 711456"/>
              <a:gd name="connsiteX0" fmla="*/ 0 w 2736235"/>
              <a:gd name="connsiteY0" fmla="*/ 0 h 711456"/>
              <a:gd name="connsiteX1" fmla="*/ 1957892 w 2736235"/>
              <a:gd name="connsiteY1" fmla="*/ 33342 h 711456"/>
              <a:gd name="connsiteX2" fmla="*/ 2657140 w 2736235"/>
              <a:gd name="connsiteY2" fmla="*/ 126690 h 711456"/>
              <a:gd name="connsiteX3" fmla="*/ 2624866 w 2736235"/>
              <a:gd name="connsiteY3" fmla="*/ 555780 h 711456"/>
              <a:gd name="connsiteX4" fmla="*/ 1807286 w 2736235"/>
              <a:gd name="connsiteY4" fmla="*/ 698666 h 711456"/>
              <a:gd name="connsiteX5" fmla="*/ 903643 w 2736235"/>
              <a:gd name="connsiteY5" fmla="*/ 709424 h 711456"/>
              <a:gd name="connsiteX0" fmla="*/ 0 w 2771159"/>
              <a:gd name="connsiteY0" fmla="*/ 5374 h 716830"/>
              <a:gd name="connsiteX1" fmla="*/ 1452282 w 2771159"/>
              <a:gd name="connsiteY1" fmla="*/ 3869 h 716830"/>
              <a:gd name="connsiteX2" fmla="*/ 2657140 w 2771159"/>
              <a:gd name="connsiteY2" fmla="*/ 132064 h 716830"/>
              <a:gd name="connsiteX3" fmla="*/ 2624866 w 2771159"/>
              <a:gd name="connsiteY3" fmla="*/ 561154 h 716830"/>
              <a:gd name="connsiteX4" fmla="*/ 1807286 w 2771159"/>
              <a:gd name="connsiteY4" fmla="*/ 704040 h 716830"/>
              <a:gd name="connsiteX5" fmla="*/ 903643 w 2771159"/>
              <a:gd name="connsiteY5" fmla="*/ 714798 h 716830"/>
              <a:gd name="connsiteX0" fmla="*/ 0 w 2792686"/>
              <a:gd name="connsiteY0" fmla="*/ 0 h 711456"/>
              <a:gd name="connsiteX1" fmla="*/ 1151068 w 2792686"/>
              <a:gd name="connsiteY1" fmla="*/ 33342 h 711456"/>
              <a:gd name="connsiteX2" fmla="*/ 2657140 w 2792686"/>
              <a:gd name="connsiteY2" fmla="*/ 126690 h 711456"/>
              <a:gd name="connsiteX3" fmla="*/ 2624866 w 2792686"/>
              <a:gd name="connsiteY3" fmla="*/ 555780 h 711456"/>
              <a:gd name="connsiteX4" fmla="*/ 1807286 w 2792686"/>
              <a:gd name="connsiteY4" fmla="*/ 698666 h 711456"/>
              <a:gd name="connsiteX5" fmla="*/ 903643 w 2792686"/>
              <a:gd name="connsiteY5" fmla="*/ 709424 h 711456"/>
              <a:gd name="connsiteX0" fmla="*/ 0 w 2792686"/>
              <a:gd name="connsiteY0" fmla="*/ 0 h 683578"/>
              <a:gd name="connsiteX1" fmla="*/ 1151068 w 2792686"/>
              <a:gd name="connsiteY1" fmla="*/ 5464 h 683578"/>
              <a:gd name="connsiteX2" fmla="*/ 2657140 w 2792686"/>
              <a:gd name="connsiteY2" fmla="*/ 98812 h 683578"/>
              <a:gd name="connsiteX3" fmla="*/ 2624866 w 2792686"/>
              <a:gd name="connsiteY3" fmla="*/ 527902 h 683578"/>
              <a:gd name="connsiteX4" fmla="*/ 1807286 w 2792686"/>
              <a:gd name="connsiteY4" fmla="*/ 670788 h 683578"/>
              <a:gd name="connsiteX5" fmla="*/ 903643 w 2792686"/>
              <a:gd name="connsiteY5" fmla="*/ 681546 h 683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92686" h="683578">
                <a:moveTo>
                  <a:pt x="0" y="0"/>
                </a:moveTo>
                <a:cubicBezTo>
                  <a:pt x="216946" y="51995"/>
                  <a:pt x="708211" y="-11005"/>
                  <a:pt x="1151068" y="5464"/>
                </a:cubicBezTo>
                <a:cubicBezTo>
                  <a:pt x="1593925" y="21933"/>
                  <a:pt x="2411507" y="11739"/>
                  <a:pt x="2657140" y="98812"/>
                </a:cubicBezTo>
                <a:cubicBezTo>
                  <a:pt x="2902773" y="185885"/>
                  <a:pt x="2766508" y="432573"/>
                  <a:pt x="2624866" y="527902"/>
                </a:cubicBezTo>
                <a:cubicBezTo>
                  <a:pt x="2483224" y="623231"/>
                  <a:pt x="2144359" y="639373"/>
                  <a:pt x="1807286" y="670788"/>
                </a:cubicBezTo>
                <a:cubicBezTo>
                  <a:pt x="1373394" y="686924"/>
                  <a:pt x="1584960" y="684235"/>
                  <a:pt x="903643" y="681546"/>
                </a:cubicBezTo>
              </a:path>
            </a:pathLst>
          </a:custGeom>
          <a:noFill/>
          <a:ln w="57150" cap="flat" cmpd="sng" algn="ctr">
            <a:solidFill>
              <a:srgbClr val="7030A0"/>
            </a:solidFill>
            <a:prstDash val="solid"/>
            <a:miter lim="800000"/>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ahoma" pitchFamily="34" charset="0"/>
              <a:ea typeface="SimSun" pitchFamily="2" charset="-122"/>
            </a:endParaRPr>
          </a:p>
        </p:txBody>
      </p:sp>
      <p:sp>
        <p:nvSpPr>
          <p:cNvPr id="3" name="Freeform: Shape 2">
            <a:extLst>
              <a:ext uri="{FF2B5EF4-FFF2-40B4-BE49-F238E27FC236}">
                <a16:creationId xmlns:a16="http://schemas.microsoft.com/office/drawing/2014/main" id="{B8123445-2DF9-BCCF-739B-59E2B8BD3838}"/>
              </a:ext>
            </a:extLst>
          </p:cNvPr>
          <p:cNvSpPr/>
          <p:nvPr/>
        </p:nvSpPr>
        <p:spPr bwMode="auto">
          <a:xfrm>
            <a:off x="1893346" y="4078453"/>
            <a:ext cx="7066183" cy="1783121"/>
          </a:xfrm>
          <a:custGeom>
            <a:avLst/>
            <a:gdLst>
              <a:gd name="connsiteX0" fmla="*/ 2033195 w 2804409"/>
              <a:gd name="connsiteY0" fmla="*/ 0 h 1185373"/>
              <a:gd name="connsiteX1" fmla="*/ 2592593 w 2804409"/>
              <a:gd name="connsiteY1" fmla="*/ 193637 h 1185373"/>
              <a:gd name="connsiteX2" fmla="*/ 2786231 w 2804409"/>
              <a:gd name="connsiteY2" fmla="*/ 537882 h 1185373"/>
              <a:gd name="connsiteX3" fmla="*/ 2775473 w 2804409"/>
              <a:gd name="connsiteY3" fmla="*/ 925157 h 1185373"/>
              <a:gd name="connsiteX4" fmla="*/ 2603351 w 2804409"/>
              <a:gd name="connsiteY4" fmla="*/ 1086522 h 1185373"/>
              <a:gd name="connsiteX5" fmla="*/ 1796527 w 2804409"/>
              <a:gd name="connsiteY5" fmla="*/ 1172583 h 1185373"/>
              <a:gd name="connsiteX6" fmla="*/ 0 w 2804409"/>
              <a:gd name="connsiteY6" fmla="*/ 1183341 h 1185373"/>
              <a:gd name="connsiteX0" fmla="*/ 0 w 3821439"/>
              <a:gd name="connsiteY0" fmla="*/ 280524 h 991980"/>
              <a:gd name="connsiteX1" fmla="*/ 3496236 w 3821439"/>
              <a:gd name="connsiteY1" fmla="*/ 244 h 991980"/>
              <a:gd name="connsiteX2" fmla="*/ 3689874 w 3821439"/>
              <a:gd name="connsiteY2" fmla="*/ 344489 h 991980"/>
              <a:gd name="connsiteX3" fmla="*/ 3679116 w 3821439"/>
              <a:gd name="connsiteY3" fmla="*/ 731764 h 991980"/>
              <a:gd name="connsiteX4" fmla="*/ 3506994 w 3821439"/>
              <a:gd name="connsiteY4" fmla="*/ 893129 h 991980"/>
              <a:gd name="connsiteX5" fmla="*/ 2700170 w 3821439"/>
              <a:gd name="connsiteY5" fmla="*/ 979190 h 991980"/>
              <a:gd name="connsiteX6" fmla="*/ 903643 w 3821439"/>
              <a:gd name="connsiteY6" fmla="*/ 989948 h 991980"/>
              <a:gd name="connsiteX0" fmla="*/ 0 w 3821431"/>
              <a:gd name="connsiteY0" fmla="*/ 0 h 711456"/>
              <a:gd name="connsiteX1" fmla="*/ 1957892 w 3821431"/>
              <a:gd name="connsiteY1" fmla="*/ 33342 h 711456"/>
              <a:gd name="connsiteX2" fmla="*/ 3689874 w 3821431"/>
              <a:gd name="connsiteY2" fmla="*/ 63965 h 711456"/>
              <a:gd name="connsiteX3" fmla="*/ 3679116 w 3821431"/>
              <a:gd name="connsiteY3" fmla="*/ 451240 h 711456"/>
              <a:gd name="connsiteX4" fmla="*/ 3506994 w 3821431"/>
              <a:gd name="connsiteY4" fmla="*/ 612605 h 711456"/>
              <a:gd name="connsiteX5" fmla="*/ 2700170 w 3821431"/>
              <a:gd name="connsiteY5" fmla="*/ 698666 h 711456"/>
              <a:gd name="connsiteX6" fmla="*/ 903643 w 3821431"/>
              <a:gd name="connsiteY6" fmla="*/ 709424 h 711456"/>
              <a:gd name="connsiteX0" fmla="*/ 0 w 3726155"/>
              <a:gd name="connsiteY0" fmla="*/ 0 h 711456"/>
              <a:gd name="connsiteX1" fmla="*/ 1957892 w 3726155"/>
              <a:gd name="connsiteY1" fmla="*/ 33342 h 711456"/>
              <a:gd name="connsiteX2" fmla="*/ 2786232 w 3726155"/>
              <a:gd name="connsiteY2" fmla="*/ 321832 h 711456"/>
              <a:gd name="connsiteX3" fmla="*/ 3679116 w 3726155"/>
              <a:gd name="connsiteY3" fmla="*/ 451240 h 711456"/>
              <a:gd name="connsiteX4" fmla="*/ 3506994 w 3726155"/>
              <a:gd name="connsiteY4" fmla="*/ 612605 h 711456"/>
              <a:gd name="connsiteX5" fmla="*/ 2700170 w 3726155"/>
              <a:gd name="connsiteY5" fmla="*/ 698666 h 711456"/>
              <a:gd name="connsiteX6" fmla="*/ 903643 w 3726155"/>
              <a:gd name="connsiteY6" fmla="*/ 709424 h 711456"/>
              <a:gd name="connsiteX0" fmla="*/ 0 w 3509018"/>
              <a:gd name="connsiteY0" fmla="*/ 0 h 711456"/>
              <a:gd name="connsiteX1" fmla="*/ 1957892 w 3509018"/>
              <a:gd name="connsiteY1" fmla="*/ 33342 h 711456"/>
              <a:gd name="connsiteX2" fmla="*/ 2786232 w 3509018"/>
              <a:gd name="connsiteY2" fmla="*/ 321832 h 711456"/>
              <a:gd name="connsiteX3" fmla="*/ 2926080 w 3509018"/>
              <a:gd name="connsiteY3" fmla="*/ 520933 h 711456"/>
              <a:gd name="connsiteX4" fmla="*/ 3506994 w 3509018"/>
              <a:gd name="connsiteY4" fmla="*/ 612605 h 711456"/>
              <a:gd name="connsiteX5" fmla="*/ 2700170 w 3509018"/>
              <a:gd name="connsiteY5" fmla="*/ 698666 h 711456"/>
              <a:gd name="connsiteX6" fmla="*/ 903643 w 3509018"/>
              <a:gd name="connsiteY6" fmla="*/ 709424 h 711456"/>
              <a:gd name="connsiteX0" fmla="*/ 0 w 3540496"/>
              <a:gd name="connsiteY0" fmla="*/ 0 h 711456"/>
              <a:gd name="connsiteX1" fmla="*/ 1957892 w 3540496"/>
              <a:gd name="connsiteY1" fmla="*/ 33342 h 711456"/>
              <a:gd name="connsiteX2" fmla="*/ 2786232 w 3540496"/>
              <a:gd name="connsiteY2" fmla="*/ 321832 h 711456"/>
              <a:gd name="connsiteX3" fmla="*/ 2926080 w 3540496"/>
              <a:gd name="connsiteY3" fmla="*/ 520933 h 711456"/>
              <a:gd name="connsiteX4" fmla="*/ 3506994 w 3540496"/>
              <a:gd name="connsiteY4" fmla="*/ 612605 h 711456"/>
              <a:gd name="connsiteX5" fmla="*/ 1807286 w 3540496"/>
              <a:gd name="connsiteY5" fmla="*/ 698666 h 711456"/>
              <a:gd name="connsiteX6" fmla="*/ 903643 w 3540496"/>
              <a:gd name="connsiteY6" fmla="*/ 709424 h 711456"/>
              <a:gd name="connsiteX0" fmla="*/ 0 w 2998444"/>
              <a:gd name="connsiteY0" fmla="*/ 0 h 711456"/>
              <a:gd name="connsiteX1" fmla="*/ 1957892 w 2998444"/>
              <a:gd name="connsiteY1" fmla="*/ 33342 h 711456"/>
              <a:gd name="connsiteX2" fmla="*/ 2786232 w 2998444"/>
              <a:gd name="connsiteY2" fmla="*/ 321832 h 711456"/>
              <a:gd name="connsiteX3" fmla="*/ 2926080 w 2998444"/>
              <a:gd name="connsiteY3" fmla="*/ 520933 h 711456"/>
              <a:gd name="connsiteX4" fmla="*/ 1807286 w 2998444"/>
              <a:gd name="connsiteY4" fmla="*/ 698666 h 711456"/>
              <a:gd name="connsiteX5" fmla="*/ 903643 w 2998444"/>
              <a:gd name="connsiteY5" fmla="*/ 709424 h 711456"/>
              <a:gd name="connsiteX0" fmla="*/ 0 w 2831401"/>
              <a:gd name="connsiteY0" fmla="*/ 0 h 711456"/>
              <a:gd name="connsiteX1" fmla="*/ 1957892 w 2831401"/>
              <a:gd name="connsiteY1" fmla="*/ 33342 h 711456"/>
              <a:gd name="connsiteX2" fmla="*/ 2786232 w 2831401"/>
              <a:gd name="connsiteY2" fmla="*/ 321832 h 711456"/>
              <a:gd name="connsiteX3" fmla="*/ 2624866 w 2831401"/>
              <a:gd name="connsiteY3" fmla="*/ 555780 h 711456"/>
              <a:gd name="connsiteX4" fmla="*/ 1807286 w 2831401"/>
              <a:gd name="connsiteY4" fmla="*/ 698666 h 711456"/>
              <a:gd name="connsiteX5" fmla="*/ 903643 w 2831401"/>
              <a:gd name="connsiteY5" fmla="*/ 709424 h 711456"/>
              <a:gd name="connsiteX0" fmla="*/ 0 w 2736235"/>
              <a:gd name="connsiteY0" fmla="*/ 0 h 711456"/>
              <a:gd name="connsiteX1" fmla="*/ 1957892 w 2736235"/>
              <a:gd name="connsiteY1" fmla="*/ 33342 h 711456"/>
              <a:gd name="connsiteX2" fmla="*/ 2657140 w 2736235"/>
              <a:gd name="connsiteY2" fmla="*/ 126690 h 711456"/>
              <a:gd name="connsiteX3" fmla="*/ 2624866 w 2736235"/>
              <a:gd name="connsiteY3" fmla="*/ 555780 h 711456"/>
              <a:gd name="connsiteX4" fmla="*/ 1807286 w 2736235"/>
              <a:gd name="connsiteY4" fmla="*/ 698666 h 711456"/>
              <a:gd name="connsiteX5" fmla="*/ 903643 w 2736235"/>
              <a:gd name="connsiteY5" fmla="*/ 709424 h 711456"/>
              <a:gd name="connsiteX0" fmla="*/ 0 w 2771159"/>
              <a:gd name="connsiteY0" fmla="*/ 5374 h 716830"/>
              <a:gd name="connsiteX1" fmla="*/ 1452282 w 2771159"/>
              <a:gd name="connsiteY1" fmla="*/ 3869 h 716830"/>
              <a:gd name="connsiteX2" fmla="*/ 2657140 w 2771159"/>
              <a:gd name="connsiteY2" fmla="*/ 132064 h 716830"/>
              <a:gd name="connsiteX3" fmla="*/ 2624866 w 2771159"/>
              <a:gd name="connsiteY3" fmla="*/ 561154 h 716830"/>
              <a:gd name="connsiteX4" fmla="*/ 1807286 w 2771159"/>
              <a:gd name="connsiteY4" fmla="*/ 704040 h 716830"/>
              <a:gd name="connsiteX5" fmla="*/ 903643 w 2771159"/>
              <a:gd name="connsiteY5" fmla="*/ 714798 h 716830"/>
              <a:gd name="connsiteX0" fmla="*/ 0 w 2792686"/>
              <a:gd name="connsiteY0" fmla="*/ 0 h 711456"/>
              <a:gd name="connsiteX1" fmla="*/ 1151068 w 2792686"/>
              <a:gd name="connsiteY1" fmla="*/ 33342 h 711456"/>
              <a:gd name="connsiteX2" fmla="*/ 2657140 w 2792686"/>
              <a:gd name="connsiteY2" fmla="*/ 126690 h 711456"/>
              <a:gd name="connsiteX3" fmla="*/ 2624866 w 2792686"/>
              <a:gd name="connsiteY3" fmla="*/ 555780 h 711456"/>
              <a:gd name="connsiteX4" fmla="*/ 1807286 w 2792686"/>
              <a:gd name="connsiteY4" fmla="*/ 698666 h 711456"/>
              <a:gd name="connsiteX5" fmla="*/ 903643 w 2792686"/>
              <a:gd name="connsiteY5" fmla="*/ 709424 h 711456"/>
              <a:gd name="connsiteX0" fmla="*/ 0 w 2792686"/>
              <a:gd name="connsiteY0" fmla="*/ 0 h 683578"/>
              <a:gd name="connsiteX1" fmla="*/ 1151068 w 2792686"/>
              <a:gd name="connsiteY1" fmla="*/ 5464 h 683578"/>
              <a:gd name="connsiteX2" fmla="*/ 2657140 w 2792686"/>
              <a:gd name="connsiteY2" fmla="*/ 98812 h 683578"/>
              <a:gd name="connsiteX3" fmla="*/ 2624866 w 2792686"/>
              <a:gd name="connsiteY3" fmla="*/ 527902 h 683578"/>
              <a:gd name="connsiteX4" fmla="*/ 1807286 w 2792686"/>
              <a:gd name="connsiteY4" fmla="*/ 670788 h 683578"/>
              <a:gd name="connsiteX5" fmla="*/ 903643 w 2792686"/>
              <a:gd name="connsiteY5" fmla="*/ 681546 h 683578"/>
              <a:gd name="connsiteX0" fmla="*/ 5421853 w 8214539"/>
              <a:gd name="connsiteY0" fmla="*/ 0 h 1148506"/>
              <a:gd name="connsiteX1" fmla="*/ 6572921 w 8214539"/>
              <a:gd name="connsiteY1" fmla="*/ 5464 h 1148506"/>
              <a:gd name="connsiteX2" fmla="*/ 8078993 w 8214539"/>
              <a:gd name="connsiteY2" fmla="*/ 98812 h 1148506"/>
              <a:gd name="connsiteX3" fmla="*/ 8046719 w 8214539"/>
              <a:gd name="connsiteY3" fmla="*/ 527902 h 1148506"/>
              <a:gd name="connsiteX4" fmla="*/ 7229139 w 8214539"/>
              <a:gd name="connsiteY4" fmla="*/ 670788 h 1148506"/>
              <a:gd name="connsiteX5" fmla="*/ 0 w 8214539"/>
              <a:gd name="connsiteY5" fmla="*/ 1148495 h 1148506"/>
              <a:gd name="connsiteX0" fmla="*/ 5421853 w 8326298"/>
              <a:gd name="connsiteY0" fmla="*/ 0 h 1148495"/>
              <a:gd name="connsiteX1" fmla="*/ 6572921 w 8326298"/>
              <a:gd name="connsiteY1" fmla="*/ 5464 h 1148495"/>
              <a:gd name="connsiteX2" fmla="*/ 8078993 w 8326298"/>
              <a:gd name="connsiteY2" fmla="*/ 98812 h 1148495"/>
              <a:gd name="connsiteX3" fmla="*/ 8046719 w 8326298"/>
              <a:gd name="connsiteY3" fmla="*/ 527902 h 1148495"/>
              <a:gd name="connsiteX4" fmla="*/ 5378823 w 8326298"/>
              <a:gd name="connsiteY4" fmla="*/ 914717 h 1148495"/>
              <a:gd name="connsiteX5" fmla="*/ 0 w 8326298"/>
              <a:gd name="connsiteY5" fmla="*/ 1148495 h 1148495"/>
              <a:gd name="connsiteX0" fmla="*/ 5421853 w 8094704"/>
              <a:gd name="connsiteY0" fmla="*/ 6705 h 1155200"/>
              <a:gd name="connsiteX1" fmla="*/ 6572921 w 8094704"/>
              <a:gd name="connsiteY1" fmla="*/ 12169 h 1155200"/>
              <a:gd name="connsiteX2" fmla="*/ 7057017 w 8094704"/>
              <a:gd name="connsiteY2" fmla="*/ 265813 h 1155200"/>
              <a:gd name="connsiteX3" fmla="*/ 8046719 w 8094704"/>
              <a:gd name="connsiteY3" fmla="*/ 534607 h 1155200"/>
              <a:gd name="connsiteX4" fmla="*/ 5378823 w 8094704"/>
              <a:gd name="connsiteY4" fmla="*/ 921422 h 1155200"/>
              <a:gd name="connsiteX5" fmla="*/ 0 w 8094704"/>
              <a:gd name="connsiteY5" fmla="*/ 1155200 h 1155200"/>
              <a:gd name="connsiteX0" fmla="*/ 5421853 w 7066183"/>
              <a:gd name="connsiteY0" fmla="*/ 6705 h 1155200"/>
              <a:gd name="connsiteX1" fmla="*/ 6572921 w 7066183"/>
              <a:gd name="connsiteY1" fmla="*/ 12169 h 1155200"/>
              <a:gd name="connsiteX2" fmla="*/ 7057017 w 7066183"/>
              <a:gd name="connsiteY2" fmla="*/ 265813 h 1155200"/>
              <a:gd name="connsiteX3" fmla="*/ 6766559 w 7066183"/>
              <a:gd name="connsiteY3" fmla="*/ 757627 h 1155200"/>
              <a:gd name="connsiteX4" fmla="*/ 5378823 w 7066183"/>
              <a:gd name="connsiteY4" fmla="*/ 921422 h 1155200"/>
              <a:gd name="connsiteX5" fmla="*/ 0 w 7066183"/>
              <a:gd name="connsiteY5" fmla="*/ 1155200 h 115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66183" h="1155200">
                <a:moveTo>
                  <a:pt x="5421853" y="6705"/>
                </a:moveTo>
                <a:cubicBezTo>
                  <a:pt x="5638799" y="58700"/>
                  <a:pt x="6300394" y="-31016"/>
                  <a:pt x="6572921" y="12169"/>
                </a:cubicBezTo>
                <a:cubicBezTo>
                  <a:pt x="6845448" y="55354"/>
                  <a:pt x="7024744" y="141570"/>
                  <a:pt x="7057017" y="265813"/>
                </a:cubicBezTo>
                <a:cubicBezTo>
                  <a:pt x="7089290" y="390056"/>
                  <a:pt x="7046258" y="648359"/>
                  <a:pt x="6766559" y="757627"/>
                </a:cubicBezTo>
                <a:cubicBezTo>
                  <a:pt x="6486860" y="866895"/>
                  <a:pt x="5715896" y="890007"/>
                  <a:pt x="5378823" y="921422"/>
                </a:cubicBezTo>
                <a:lnTo>
                  <a:pt x="0" y="1155200"/>
                </a:lnTo>
              </a:path>
            </a:pathLst>
          </a:custGeom>
          <a:noFill/>
          <a:ln w="57150" cap="flat" cmpd="sng" algn="ctr">
            <a:solidFill>
              <a:srgbClr val="7030A0"/>
            </a:solidFill>
            <a:prstDash val="solid"/>
            <a:miter lim="800000"/>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ahoma" pitchFamily="34" charset="0"/>
              <a:ea typeface="SimSun" pitchFamily="2" charset="-122"/>
            </a:endParaRPr>
          </a:p>
        </p:txBody>
      </p:sp>
    </p:spTree>
    <p:extLst>
      <p:ext uri="{BB962C8B-B14F-4D97-AF65-F5344CB8AC3E}">
        <p14:creationId xmlns:p14="http://schemas.microsoft.com/office/powerpoint/2010/main" val="2946535662"/>
      </p:ext>
    </p:extLst>
  </p:cSld>
  <p:clrMapOvr>
    <a:masterClrMapping/>
  </p:clrMapOvr>
  <p:transition advTm="100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55D6A-1ABE-206A-657D-762B927EC2FB}"/>
            </a:ext>
          </a:extLst>
        </p:cNvPr>
        <p:cNvGrpSpPr/>
        <p:nvPr/>
      </p:nvGrpSpPr>
      <p:grpSpPr>
        <a:xfrm>
          <a:off x="0" y="0"/>
          <a:ext cx="0" cy="0"/>
          <a:chOff x="0" y="0"/>
          <a:chExt cx="0" cy="0"/>
        </a:xfrm>
      </p:grpSpPr>
      <p:sp>
        <p:nvSpPr>
          <p:cNvPr id="73731" name="Rectangle 2">
            <a:extLst>
              <a:ext uri="{FF2B5EF4-FFF2-40B4-BE49-F238E27FC236}">
                <a16:creationId xmlns:a16="http://schemas.microsoft.com/office/drawing/2014/main" id="{86F4AD5D-B9AE-97EF-D047-679DAA5C66C3}"/>
              </a:ext>
            </a:extLst>
          </p:cNvPr>
          <p:cNvSpPr>
            <a:spLocks noGrp="1" noChangeArrowheads="1"/>
          </p:cNvSpPr>
          <p:nvPr>
            <p:ph type="title"/>
          </p:nvPr>
        </p:nvSpPr>
        <p:spPr>
          <a:xfrm>
            <a:off x="122237" y="38100"/>
            <a:ext cx="8793163" cy="660400"/>
          </a:xfrm>
        </p:spPr>
        <p:txBody>
          <a:bodyPr/>
          <a:lstStyle/>
          <a:p>
            <a:pPr eaLnBrk="1" hangingPunct="1"/>
            <a:r>
              <a:rPr lang="en-GB" altLang="en-US" sz="3600" dirty="0">
                <a:solidFill>
                  <a:schemeClr val="tx1"/>
                </a:solidFill>
              </a:rPr>
              <a:t>Multiple Catch Statements</a:t>
            </a:r>
          </a:p>
        </p:txBody>
      </p:sp>
      <p:sp>
        <p:nvSpPr>
          <p:cNvPr id="24580" name="Rectangle 3">
            <a:extLst>
              <a:ext uri="{FF2B5EF4-FFF2-40B4-BE49-F238E27FC236}">
                <a16:creationId xmlns:a16="http://schemas.microsoft.com/office/drawing/2014/main" id="{1996C655-C0FA-5589-2DA2-0F3E520D55D6}"/>
              </a:ext>
            </a:extLst>
          </p:cNvPr>
          <p:cNvSpPr>
            <a:spLocks noGrp="1" noChangeArrowheads="1"/>
          </p:cNvSpPr>
          <p:nvPr>
            <p:ph type="body" idx="1"/>
          </p:nvPr>
        </p:nvSpPr>
        <p:spPr>
          <a:xfrm>
            <a:off x="304800" y="914400"/>
            <a:ext cx="8610600" cy="4953000"/>
          </a:xfrm>
        </p:spPr>
        <p:txBody>
          <a:bodyPr/>
          <a:lstStyle/>
          <a:p>
            <a:pPr marL="0" lvl="1" indent="0" algn="ctr" eaLnBrk="1" hangingPunct="1">
              <a:lnSpc>
                <a:spcPct val="80000"/>
              </a:lnSpc>
              <a:spcAft>
                <a:spcPts val="600"/>
              </a:spcAft>
              <a:buFont typeface="Wingdings" panose="05000000000000000000" pitchFamily="2" charset="2"/>
              <a:buNone/>
              <a:defRPr/>
            </a:pPr>
            <a:r>
              <a:rPr lang="en-GB" sz="2400" b="1" dirty="0"/>
              <a:t>If the URL is in the correct format, but refers to a </a:t>
            </a:r>
            <a:br>
              <a:rPr lang="en-GB" sz="2400" b="1" dirty="0"/>
            </a:br>
            <a:r>
              <a:rPr lang="en-GB" sz="2400" b="1" dirty="0"/>
              <a:t>non-existent web page, the second catch runs, </a:t>
            </a:r>
            <a:br>
              <a:rPr lang="en-GB" sz="2400" b="1" dirty="0"/>
            </a:br>
            <a:r>
              <a:rPr lang="en-GB" sz="2400" b="1" dirty="0"/>
              <a:t>then the finally block runs:</a:t>
            </a:r>
          </a:p>
          <a:p>
            <a:pPr marL="285750" lvl="1" eaLnBrk="1" hangingPunct="1">
              <a:lnSpc>
                <a:spcPct val="80000"/>
              </a:lnSpc>
              <a:buFont typeface="Wingdings" panose="05000000000000000000" pitchFamily="2" charset="2"/>
              <a:buNone/>
              <a:defRPr/>
            </a:pPr>
            <a:r>
              <a:rPr lang="en-GB" sz="2400" b="1" dirty="0"/>
              <a:t>try {</a:t>
            </a:r>
          </a:p>
          <a:p>
            <a:pPr marL="285750" lvl="1" eaLnBrk="1" hangingPunct="1">
              <a:lnSpc>
                <a:spcPct val="80000"/>
              </a:lnSpc>
              <a:buNone/>
              <a:defRPr/>
            </a:pPr>
            <a:r>
              <a:rPr lang="en-GB" sz="2400" b="1" dirty="0"/>
              <a:t>    URL </a:t>
            </a:r>
            <a:r>
              <a:rPr lang="en-GB" sz="2400" b="1" dirty="0" err="1"/>
              <a:t>url</a:t>
            </a:r>
            <a:r>
              <a:rPr lang="en-GB" sz="2400" b="1" dirty="0"/>
              <a:t> = new URL(</a:t>
            </a:r>
            <a:r>
              <a:rPr lang="en-GB" sz="2400" b="1" dirty="0" err="1"/>
              <a:t>urlStr</a:t>
            </a:r>
            <a:r>
              <a:rPr lang="en-GB" sz="2400" b="1" dirty="0"/>
              <a:t>);  </a:t>
            </a:r>
          </a:p>
          <a:p>
            <a:pPr marL="285750" lvl="1" eaLnBrk="1" hangingPunct="1">
              <a:lnSpc>
                <a:spcPct val="80000"/>
              </a:lnSpc>
              <a:buFont typeface="Wingdings" panose="05000000000000000000" pitchFamily="2" charset="2"/>
              <a:buNone/>
              <a:defRPr/>
            </a:pPr>
            <a:r>
              <a:rPr lang="en-GB" sz="2400" b="1" dirty="0"/>
              <a:t>    </a:t>
            </a:r>
            <a:r>
              <a:rPr lang="en-GB" sz="2400" b="1" dirty="0" err="1"/>
              <a:t>InputStream</a:t>
            </a:r>
            <a:r>
              <a:rPr lang="en-GB" sz="2400" b="1" dirty="0"/>
              <a:t> is = </a:t>
            </a:r>
            <a:r>
              <a:rPr lang="en-GB" sz="2400" b="1" dirty="0" err="1"/>
              <a:t>url.openStream</a:t>
            </a:r>
            <a:r>
              <a:rPr lang="en-GB" sz="2400" b="1" dirty="0"/>
              <a:t>();</a:t>
            </a:r>
          </a:p>
          <a:p>
            <a:pPr marL="285750" lvl="1" eaLnBrk="1" hangingPunct="1">
              <a:lnSpc>
                <a:spcPct val="80000"/>
              </a:lnSpc>
              <a:buFont typeface="Wingdings" panose="05000000000000000000" pitchFamily="2" charset="2"/>
              <a:buNone/>
              <a:defRPr/>
            </a:pPr>
            <a:r>
              <a:rPr lang="en-GB" sz="2400" b="1" dirty="0"/>
              <a:t>}</a:t>
            </a:r>
            <a:r>
              <a:rPr lang="en-GB" sz="2400" dirty="0"/>
              <a:t> </a:t>
            </a:r>
          </a:p>
          <a:p>
            <a:pPr marL="285750" lvl="1" eaLnBrk="1" hangingPunct="1">
              <a:lnSpc>
                <a:spcPct val="80000"/>
              </a:lnSpc>
              <a:buFont typeface="Wingdings" panose="05000000000000000000" pitchFamily="2" charset="2"/>
              <a:buNone/>
              <a:defRPr/>
            </a:pPr>
            <a:r>
              <a:rPr lang="en-GB" sz="2400" dirty="0"/>
              <a:t>catch (</a:t>
            </a:r>
            <a:r>
              <a:rPr lang="en-GB" sz="2400" dirty="0" err="1"/>
              <a:t>MalformedURLException</a:t>
            </a:r>
            <a:r>
              <a:rPr lang="en-GB" sz="2400" dirty="0"/>
              <a:t> e) {</a:t>
            </a:r>
          </a:p>
          <a:p>
            <a:pPr marL="285750" lvl="1" eaLnBrk="1" hangingPunct="1">
              <a:lnSpc>
                <a:spcPct val="80000"/>
              </a:lnSpc>
              <a:buFont typeface="Wingdings" panose="05000000000000000000" pitchFamily="2" charset="2"/>
              <a:buNone/>
              <a:defRPr/>
            </a:pPr>
            <a:r>
              <a:rPr lang="en-GB" sz="2400" dirty="0"/>
              <a:t>    // code to handle the wrongly written URL</a:t>
            </a:r>
          </a:p>
          <a:p>
            <a:pPr marL="285750" lvl="1" eaLnBrk="1" hangingPunct="1">
              <a:lnSpc>
                <a:spcPct val="80000"/>
              </a:lnSpc>
              <a:buFont typeface="Wingdings" panose="05000000000000000000" pitchFamily="2" charset="2"/>
              <a:buNone/>
              <a:defRPr/>
            </a:pPr>
            <a:r>
              <a:rPr lang="en-GB" sz="2400" dirty="0"/>
              <a:t>} </a:t>
            </a:r>
          </a:p>
          <a:p>
            <a:pPr marL="285750" lvl="1" eaLnBrk="1" hangingPunct="1">
              <a:lnSpc>
                <a:spcPct val="80000"/>
              </a:lnSpc>
              <a:buFont typeface="Wingdings" panose="05000000000000000000" pitchFamily="2" charset="2"/>
              <a:buNone/>
              <a:defRPr/>
            </a:pPr>
            <a:r>
              <a:rPr lang="en-GB" sz="2400" b="1" dirty="0"/>
              <a:t>catch (</a:t>
            </a:r>
            <a:r>
              <a:rPr lang="en-GB" sz="2400" b="1" dirty="0" err="1"/>
              <a:t>IOException</a:t>
            </a:r>
            <a:r>
              <a:rPr lang="en-GB" sz="2400" b="1" dirty="0"/>
              <a:t> e) {</a:t>
            </a:r>
          </a:p>
          <a:p>
            <a:pPr marL="285750" lvl="1" eaLnBrk="1" hangingPunct="1">
              <a:lnSpc>
                <a:spcPct val="80000"/>
              </a:lnSpc>
              <a:buNone/>
              <a:defRPr/>
            </a:pPr>
            <a:r>
              <a:rPr lang="en-GB" sz="2400" b="1" dirty="0"/>
              <a:t>     // code to handle the wrongly written URL;</a:t>
            </a:r>
          </a:p>
          <a:p>
            <a:pPr marL="285750" lvl="1" eaLnBrk="1" hangingPunct="1">
              <a:lnSpc>
                <a:spcPct val="80000"/>
              </a:lnSpc>
              <a:buFont typeface="Wingdings" panose="05000000000000000000" pitchFamily="2" charset="2"/>
              <a:buNone/>
              <a:defRPr/>
            </a:pPr>
            <a:r>
              <a:rPr lang="en-GB" sz="2400" b="1" dirty="0"/>
              <a:t>} </a:t>
            </a:r>
          </a:p>
          <a:p>
            <a:pPr marL="285750" lvl="1" eaLnBrk="1" hangingPunct="1">
              <a:lnSpc>
                <a:spcPct val="80000"/>
              </a:lnSpc>
              <a:buFont typeface="Wingdings" panose="05000000000000000000" pitchFamily="2" charset="2"/>
              <a:buNone/>
              <a:defRPr/>
            </a:pPr>
            <a:r>
              <a:rPr lang="en-GB" altLang="en-US" sz="2400" b="1" dirty="0"/>
              <a:t>finally {</a:t>
            </a:r>
          </a:p>
          <a:p>
            <a:pPr marL="285750" lvl="1" eaLnBrk="1" hangingPunct="1">
              <a:lnSpc>
                <a:spcPct val="80000"/>
              </a:lnSpc>
              <a:buNone/>
            </a:pPr>
            <a:r>
              <a:rPr lang="en-GB" altLang="en-US" sz="2400" b="1" dirty="0"/>
              <a:t>    </a:t>
            </a:r>
            <a:r>
              <a:rPr lang="en-GB" altLang="en-US" sz="2400" b="1" dirty="0" err="1"/>
              <a:t>is.close</a:t>
            </a:r>
            <a:r>
              <a:rPr lang="en-GB" altLang="en-US" sz="2400" b="1" dirty="0"/>
              <a:t>(); </a:t>
            </a:r>
          </a:p>
          <a:p>
            <a:pPr marL="285750" lvl="1" eaLnBrk="1" hangingPunct="1">
              <a:lnSpc>
                <a:spcPct val="80000"/>
              </a:lnSpc>
              <a:buNone/>
            </a:pPr>
            <a:r>
              <a:rPr lang="en-GB" altLang="en-US" sz="2400" b="1" dirty="0"/>
              <a:t>}</a:t>
            </a:r>
          </a:p>
        </p:txBody>
      </p:sp>
      <p:sp>
        <p:nvSpPr>
          <p:cNvPr id="2" name="Freeform: Shape 1">
            <a:extLst>
              <a:ext uri="{FF2B5EF4-FFF2-40B4-BE49-F238E27FC236}">
                <a16:creationId xmlns:a16="http://schemas.microsoft.com/office/drawing/2014/main" id="{27E57431-6F6F-3625-A78B-7109B15B0F08}"/>
              </a:ext>
            </a:extLst>
          </p:cNvPr>
          <p:cNvSpPr/>
          <p:nvPr/>
        </p:nvSpPr>
        <p:spPr bwMode="auto">
          <a:xfrm>
            <a:off x="4267200" y="2894705"/>
            <a:ext cx="2804409" cy="1829695"/>
          </a:xfrm>
          <a:custGeom>
            <a:avLst/>
            <a:gdLst>
              <a:gd name="connsiteX0" fmla="*/ 2033195 w 2804409"/>
              <a:gd name="connsiteY0" fmla="*/ 0 h 1185373"/>
              <a:gd name="connsiteX1" fmla="*/ 2592593 w 2804409"/>
              <a:gd name="connsiteY1" fmla="*/ 193637 h 1185373"/>
              <a:gd name="connsiteX2" fmla="*/ 2786231 w 2804409"/>
              <a:gd name="connsiteY2" fmla="*/ 537882 h 1185373"/>
              <a:gd name="connsiteX3" fmla="*/ 2775473 w 2804409"/>
              <a:gd name="connsiteY3" fmla="*/ 925157 h 1185373"/>
              <a:gd name="connsiteX4" fmla="*/ 2603351 w 2804409"/>
              <a:gd name="connsiteY4" fmla="*/ 1086522 h 1185373"/>
              <a:gd name="connsiteX5" fmla="*/ 1796527 w 2804409"/>
              <a:gd name="connsiteY5" fmla="*/ 1172583 h 1185373"/>
              <a:gd name="connsiteX6" fmla="*/ 0 w 2804409"/>
              <a:gd name="connsiteY6" fmla="*/ 1183341 h 1185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4409" h="1185373">
                <a:moveTo>
                  <a:pt x="2033195" y="0"/>
                </a:moveTo>
                <a:cubicBezTo>
                  <a:pt x="2250141" y="51995"/>
                  <a:pt x="2467087" y="103990"/>
                  <a:pt x="2592593" y="193637"/>
                </a:cubicBezTo>
                <a:cubicBezTo>
                  <a:pt x="2718099" y="283284"/>
                  <a:pt x="2755751" y="415962"/>
                  <a:pt x="2786231" y="537882"/>
                </a:cubicBezTo>
                <a:cubicBezTo>
                  <a:pt x="2816711" y="659802"/>
                  <a:pt x="2805953" y="833717"/>
                  <a:pt x="2775473" y="925157"/>
                </a:cubicBezTo>
                <a:cubicBezTo>
                  <a:pt x="2744993" y="1016597"/>
                  <a:pt x="2766509" y="1045284"/>
                  <a:pt x="2603351" y="1086522"/>
                </a:cubicBezTo>
                <a:cubicBezTo>
                  <a:pt x="2440193" y="1127760"/>
                  <a:pt x="2230419" y="1156447"/>
                  <a:pt x="1796527" y="1172583"/>
                </a:cubicBezTo>
                <a:cubicBezTo>
                  <a:pt x="1362635" y="1188719"/>
                  <a:pt x="681317" y="1186030"/>
                  <a:pt x="0" y="1183341"/>
                </a:cubicBezTo>
              </a:path>
            </a:pathLst>
          </a:custGeom>
          <a:noFill/>
          <a:ln w="57150" cap="flat" cmpd="sng" algn="ctr">
            <a:solidFill>
              <a:srgbClr val="7030A0"/>
            </a:solidFill>
            <a:prstDash val="solid"/>
            <a:miter lim="800000"/>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ahoma" pitchFamily="34" charset="0"/>
              <a:ea typeface="SimSun" pitchFamily="2" charset="-122"/>
            </a:endParaRPr>
          </a:p>
        </p:txBody>
      </p:sp>
      <p:sp>
        <p:nvSpPr>
          <p:cNvPr id="3" name="Freeform: Shape 2">
            <a:extLst>
              <a:ext uri="{FF2B5EF4-FFF2-40B4-BE49-F238E27FC236}">
                <a16:creationId xmlns:a16="http://schemas.microsoft.com/office/drawing/2014/main" id="{3F823FB9-FF42-33B1-23B8-1845F090D577}"/>
              </a:ext>
            </a:extLst>
          </p:cNvPr>
          <p:cNvSpPr/>
          <p:nvPr/>
        </p:nvSpPr>
        <p:spPr bwMode="auto">
          <a:xfrm>
            <a:off x="1770551" y="4980571"/>
            <a:ext cx="6789416" cy="767598"/>
          </a:xfrm>
          <a:custGeom>
            <a:avLst/>
            <a:gdLst>
              <a:gd name="connsiteX0" fmla="*/ 2033195 w 2804409"/>
              <a:gd name="connsiteY0" fmla="*/ 0 h 1185373"/>
              <a:gd name="connsiteX1" fmla="*/ 2592593 w 2804409"/>
              <a:gd name="connsiteY1" fmla="*/ 193637 h 1185373"/>
              <a:gd name="connsiteX2" fmla="*/ 2786231 w 2804409"/>
              <a:gd name="connsiteY2" fmla="*/ 537882 h 1185373"/>
              <a:gd name="connsiteX3" fmla="*/ 2775473 w 2804409"/>
              <a:gd name="connsiteY3" fmla="*/ 925157 h 1185373"/>
              <a:gd name="connsiteX4" fmla="*/ 2603351 w 2804409"/>
              <a:gd name="connsiteY4" fmla="*/ 1086522 h 1185373"/>
              <a:gd name="connsiteX5" fmla="*/ 1796527 w 2804409"/>
              <a:gd name="connsiteY5" fmla="*/ 1172583 h 1185373"/>
              <a:gd name="connsiteX6" fmla="*/ 0 w 2804409"/>
              <a:gd name="connsiteY6" fmla="*/ 1183341 h 1185373"/>
              <a:gd name="connsiteX0" fmla="*/ 0 w 3821439"/>
              <a:gd name="connsiteY0" fmla="*/ 280524 h 991980"/>
              <a:gd name="connsiteX1" fmla="*/ 3496236 w 3821439"/>
              <a:gd name="connsiteY1" fmla="*/ 244 h 991980"/>
              <a:gd name="connsiteX2" fmla="*/ 3689874 w 3821439"/>
              <a:gd name="connsiteY2" fmla="*/ 344489 h 991980"/>
              <a:gd name="connsiteX3" fmla="*/ 3679116 w 3821439"/>
              <a:gd name="connsiteY3" fmla="*/ 731764 h 991980"/>
              <a:gd name="connsiteX4" fmla="*/ 3506994 w 3821439"/>
              <a:gd name="connsiteY4" fmla="*/ 893129 h 991980"/>
              <a:gd name="connsiteX5" fmla="*/ 2700170 w 3821439"/>
              <a:gd name="connsiteY5" fmla="*/ 979190 h 991980"/>
              <a:gd name="connsiteX6" fmla="*/ 903643 w 3821439"/>
              <a:gd name="connsiteY6" fmla="*/ 989948 h 991980"/>
              <a:gd name="connsiteX0" fmla="*/ 0 w 3821431"/>
              <a:gd name="connsiteY0" fmla="*/ 0 h 711456"/>
              <a:gd name="connsiteX1" fmla="*/ 1957892 w 3821431"/>
              <a:gd name="connsiteY1" fmla="*/ 33342 h 711456"/>
              <a:gd name="connsiteX2" fmla="*/ 3689874 w 3821431"/>
              <a:gd name="connsiteY2" fmla="*/ 63965 h 711456"/>
              <a:gd name="connsiteX3" fmla="*/ 3679116 w 3821431"/>
              <a:gd name="connsiteY3" fmla="*/ 451240 h 711456"/>
              <a:gd name="connsiteX4" fmla="*/ 3506994 w 3821431"/>
              <a:gd name="connsiteY4" fmla="*/ 612605 h 711456"/>
              <a:gd name="connsiteX5" fmla="*/ 2700170 w 3821431"/>
              <a:gd name="connsiteY5" fmla="*/ 698666 h 711456"/>
              <a:gd name="connsiteX6" fmla="*/ 903643 w 3821431"/>
              <a:gd name="connsiteY6" fmla="*/ 709424 h 711456"/>
              <a:gd name="connsiteX0" fmla="*/ 0 w 3726155"/>
              <a:gd name="connsiteY0" fmla="*/ 0 h 711456"/>
              <a:gd name="connsiteX1" fmla="*/ 1957892 w 3726155"/>
              <a:gd name="connsiteY1" fmla="*/ 33342 h 711456"/>
              <a:gd name="connsiteX2" fmla="*/ 2786232 w 3726155"/>
              <a:gd name="connsiteY2" fmla="*/ 321832 h 711456"/>
              <a:gd name="connsiteX3" fmla="*/ 3679116 w 3726155"/>
              <a:gd name="connsiteY3" fmla="*/ 451240 h 711456"/>
              <a:gd name="connsiteX4" fmla="*/ 3506994 w 3726155"/>
              <a:gd name="connsiteY4" fmla="*/ 612605 h 711456"/>
              <a:gd name="connsiteX5" fmla="*/ 2700170 w 3726155"/>
              <a:gd name="connsiteY5" fmla="*/ 698666 h 711456"/>
              <a:gd name="connsiteX6" fmla="*/ 903643 w 3726155"/>
              <a:gd name="connsiteY6" fmla="*/ 709424 h 711456"/>
              <a:gd name="connsiteX0" fmla="*/ 0 w 3509018"/>
              <a:gd name="connsiteY0" fmla="*/ 0 h 711456"/>
              <a:gd name="connsiteX1" fmla="*/ 1957892 w 3509018"/>
              <a:gd name="connsiteY1" fmla="*/ 33342 h 711456"/>
              <a:gd name="connsiteX2" fmla="*/ 2786232 w 3509018"/>
              <a:gd name="connsiteY2" fmla="*/ 321832 h 711456"/>
              <a:gd name="connsiteX3" fmla="*/ 2926080 w 3509018"/>
              <a:gd name="connsiteY3" fmla="*/ 520933 h 711456"/>
              <a:gd name="connsiteX4" fmla="*/ 3506994 w 3509018"/>
              <a:gd name="connsiteY4" fmla="*/ 612605 h 711456"/>
              <a:gd name="connsiteX5" fmla="*/ 2700170 w 3509018"/>
              <a:gd name="connsiteY5" fmla="*/ 698666 h 711456"/>
              <a:gd name="connsiteX6" fmla="*/ 903643 w 3509018"/>
              <a:gd name="connsiteY6" fmla="*/ 709424 h 711456"/>
              <a:gd name="connsiteX0" fmla="*/ 0 w 3540496"/>
              <a:gd name="connsiteY0" fmla="*/ 0 h 711456"/>
              <a:gd name="connsiteX1" fmla="*/ 1957892 w 3540496"/>
              <a:gd name="connsiteY1" fmla="*/ 33342 h 711456"/>
              <a:gd name="connsiteX2" fmla="*/ 2786232 w 3540496"/>
              <a:gd name="connsiteY2" fmla="*/ 321832 h 711456"/>
              <a:gd name="connsiteX3" fmla="*/ 2926080 w 3540496"/>
              <a:gd name="connsiteY3" fmla="*/ 520933 h 711456"/>
              <a:gd name="connsiteX4" fmla="*/ 3506994 w 3540496"/>
              <a:gd name="connsiteY4" fmla="*/ 612605 h 711456"/>
              <a:gd name="connsiteX5" fmla="*/ 1807286 w 3540496"/>
              <a:gd name="connsiteY5" fmla="*/ 698666 h 711456"/>
              <a:gd name="connsiteX6" fmla="*/ 903643 w 3540496"/>
              <a:gd name="connsiteY6" fmla="*/ 709424 h 711456"/>
              <a:gd name="connsiteX0" fmla="*/ 0 w 2998444"/>
              <a:gd name="connsiteY0" fmla="*/ 0 h 711456"/>
              <a:gd name="connsiteX1" fmla="*/ 1957892 w 2998444"/>
              <a:gd name="connsiteY1" fmla="*/ 33342 h 711456"/>
              <a:gd name="connsiteX2" fmla="*/ 2786232 w 2998444"/>
              <a:gd name="connsiteY2" fmla="*/ 321832 h 711456"/>
              <a:gd name="connsiteX3" fmla="*/ 2926080 w 2998444"/>
              <a:gd name="connsiteY3" fmla="*/ 520933 h 711456"/>
              <a:gd name="connsiteX4" fmla="*/ 1807286 w 2998444"/>
              <a:gd name="connsiteY4" fmla="*/ 698666 h 711456"/>
              <a:gd name="connsiteX5" fmla="*/ 903643 w 2998444"/>
              <a:gd name="connsiteY5" fmla="*/ 709424 h 711456"/>
              <a:gd name="connsiteX0" fmla="*/ 0 w 2831401"/>
              <a:gd name="connsiteY0" fmla="*/ 0 h 711456"/>
              <a:gd name="connsiteX1" fmla="*/ 1957892 w 2831401"/>
              <a:gd name="connsiteY1" fmla="*/ 33342 h 711456"/>
              <a:gd name="connsiteX2" fmla="*/ 2786232 w 2831401"/>
              <a:gd name="connsiteY2" fmla="*/ 321832 h 711456"/>
              <a:gd name="connsiteX3" fmla="*/ 2624866 w 2831401"/>
              <a:gd name="connsiteY3" fmla="*/ 555780 h 711456"/>
              <a:gd name="connsiteX4" fmla="*/ 1807286 w 2831401"/>
              <a:gd name="connsiteY4" fmla="*/ 698666 h 711456"/>
              <a:gd name="connsiteX5" fmla="*/ 903643 w 2831401"/>
              <a:gd name="connsiteY5" fmla="*/ 709424 h 711456"/>
              <a:gd name="connsiteX0" fmla="*/ 0 w 2736235"/>
              <a:gd name="connsiteY0" fmla="*/ 0 h 711456"/>
              <a:gd name="connsiteX1" fmla="*/ 1957892 w 2736235"/>
              <a:gd name="connsiteY1" fmla="*/ 33342 h 711456"/>
              <a:gd name="connsiteX2" fmla="*/ 2657140 w 2736235"/>
              <a:gd name="connsiteY2" fmla="*/ 126690 h 711456"/>
              <a:gd name="connsiteX3" fmla="*/ 2624866 w 2736235"/>
              <a:gd name="connsiteY3" fmla="*/ 555780 h 711456"/>
              <a:gd name="connsiteX4" fmla="*/ 1807286 w 2736235"/>
              <a:gd name="connsiteY4" fmla="*/ 698666 h 711456"/>
              <a:gd name="connsiteX5" fmla="*/ 903643 w 2736235"/>
              <a:gd name="connsiteY5" fmla="*/ 709424 h 711456"/>
              <a:gd name="connsiteX0" fmla="*/ 0 w 2771159"/>
              <a:gd name="connsiteY0" fmla="*/ 5374 h 716830"/>
              <a:gd name="connsiteX1" fmla="*/ 1452282 w 2771159"/>
              <a:gd name="connsiteY1" fmla="*/ 3869 h 716830"/>
              <a:gd name="connsiteX2" fmla="*/ 2657140 w 2771159"/>
              <a:gd name="connsiteY2" fmla="*/ 132064 h 716830"/>
              <a:gd name="connsiteX3" fmla="*/ 2624866 w 2771159"/>
              <a:gd name="connsiteY3" fmla="*/ 561154 h 716830"/>
              <a:gd name="connsiteX4" fmla="*/ 1807286 w 2771159"/>
              <a:gd name="connsiteY4" fmla="*/ 704040 h 716830"/>
              <a:gd name="connsiteX5" fmla="*/ 903643 w 2771159"/>
              <a:gd name="connsiteY5" fmla="*/ 714798 h 716830"/>
              <a:gd name="connsiteX0" fmla="*/ 0 w 2792686"/>
              <a:gd name="connsiteY0" fmla="*/ 0 h 711456"/>
              <a:gd name="connsiteX1" fmla="*/ 1151068 w 2792686"/>
              <a:gd name="connsiteY1" fmla="*/ 33342 h 711456"/>
              <a:gd name="connsiteX2" fmla="*/ 2657140 w 2792686"/>
              <a:gd name="connsiteY2" fmla="*/ 126690 h 711456"/>
              <a:gd name="connsiteX3" fmla="*/ 2624866 w 2792686"/>
              <a:gd name="connsiteY3" fmla="*/ 555780 h 711456"/>
              <a:gd name="connsiteX4" fmla="*/ 1807286 w 2792686"/>
              <a:gd name="connsiteY4" fmla="*/ 698666 h 711456"/>
              <a:gd name="connsiteX5" fmla="*/ 903643 w 2792686"/>
              <a:gd name="connsiteY5" fmla="*/ 709424 h 711456"/>
              <a:gd name="connsiteX0" fmla="*/ 0 w 2792686"/>
              <a:gd name="connsiteY0" fmla="*/ 0 h 683578"/>
              <a:gd name="connsiteX1" fmla="*/ 1151068 w 2792686"/>
              <a:gd name="connsiteY1" fmla="*/ 5464 h 683578"/>
              <a:gd name="connsiteX2" fmla="*/ 2657140 w 2792686"/>
              <a:gd name="connsiteY2" fmla="*/ 98812 h 683578"/>
              <a:gd name="connsiteX3" fmla="*/ 2624866 w 2792686"/>
              <a:gd name="connsiteY3" fmla="*/ 527902 h 683578"/>
              <a:gd name="connsiteX4" fmla="*/ 1807286 w 2792686"/>
              <a:gd name="connsiteY4" fmla="*/ 670788 h 683578"/>
              <a:gd name="connsiteX5" fmla="*/ 903643 w 2792686"/>
              <a:gd name="connsiteY5" fmla="*/ 681546 h 683578"/>
              <a:gd name="connsiteX0" fmla="*/ 5421853 w 8214539"/>
              <a:gd name="connsiteY0" fmla="*/ 0 h 1148506"/>
              <a:gd name="connsiteX1" fmla="*/ 6572921 w 8214539"/>
              <a:gd name="connsiteY1" fmla="*/ 5464 h 1148506"/>
              <a:gd name="connsiteX2" fmla="*/ 8078993 w 8214539"/>
              <a:gd name="connsiteY2" fmla="*/ 98812 h 1148506"/>
              <a:gd name="connsiteX3" fmla="*/ 8046719 w 8214539"/>
              <a:gd name="connsiteY3" fmla="*/ 527902 h 1148506"/>
              <a:gd name="connsiteX4" fmla="*/ 7229139 w 8214539"/>
              <a:gd name="connsiteY4" fmla="*/ 670788 h 1148506"/>
              <a:gd name="connsiteX5" fmla="*/ 0 w 8214539"/>
              <a:gd name="connsiteY5" fmla="*/ 1148495 h 1148506"/>
              <a:gd name="connsiteX0" fmla="*/ 5421853 w 8326298"/>
              <a:gd name="connsiteY0" fmla="*/ 0 h 1148495"/>
              <a:gd name="connsiteX1" fmla="*/ 6572921 w 8326298"/>
              <a:gd name="connsiteY1" fmla="*/ 5464 h 1148495"/>
              <a:gd name="connsiteX2" fmla="*/ 8078993 w 8326298"/>
              <a:gd name="connsiteY2" fmla="*/ 98812 h 1148495"/>
              <a:gd name="connsiteX3" fmla="*/ 8046719 w 8326298"/>
              <a:gd name="connsiteY3" fmla="*/ 527902 h 1148495"/>
              <a:gd name="connsiteX4" fmla="*/ 5378823 w 8326298"/>
              <a:gd name="connsiteY4" fmla="*/ 914717 h 1148495"/>
              <a:gd name="connsiteX5" fmla="*/ 0 w 8326298"/>
              <a:gd name="connsiteY5" fmla="*/ 1148495 h 1148495"/>
              <a:gd name="connsiteX0" fmla="*/ 5421853 w 8094704"/>
              <a:gd name="connsiteY0" fmla="*/ 6705 h 1155200"/>
              <a:gd name="connsiteX1" fmla="*/ 6572921 w 8094704"/>
              <a:gd name="connsiteY1" fmla="*/ 12169 h 1155200"/>
              <a:gd name="connsiteX2" fmla="*/ 7057017 w 8094704"/>
              <a:gd name="connsiteY2" fmla="*/ 265813 h 1155200"/>
              <a:gd name="connsiteX3" fmla="*/ 8046719 w 8094704"/>
              <a:gd name="connsiteY3" fmla="*/ 534607 h 1155200"/>
              <a:gd name="connsiteX4" fmla="*/ 5378823 w 8094704"/>
              <a:gd name="connsiteY4" fmla="*/ 921422 h 1155200"/>
              <a:gd name="connsiteX5" fmla="*/ 0 w 8094704"/>
              <a:gd name="connsiteY5" fmla="*/ 1155200 h 1155200"/>
              <a:gd name="connsiteX0" fmla="*/ 5421853 w 7066183"/>
              <a:gd name="connsiteY0" fmla="*/ 6705 h 1155200"/>
              <a:gd name="connsiteX1" fmla="*/ 6572921 w 7066183"/>
              <a:gd name="connsiteY1" fmla="*/ 12169 h 1155200"/>
              <a:gd name="connsiteX2" fmla="*/ 7057017 w 7066183"/>
              <a:gd name="connsiteY2" fmla="*/ 265813 h 1155200"/>
              <a:gd name="connsiteX3" fmla="*/ 6766559 w 7066183"/>
              <a:gd name="connsiteY3" fmla="*/ 757627 h 1155200"/>
              <a:gd name="connsiteX4" fmla="*/ 5378823 w 7066183"/>
              <a:gd name="connsiteY4" fmla="*/ 921422 h 1155200"/>
              <a:gd name="connsiteX5" fmla="*/ 0 w 7066183"/>
              <a:gd name="connsiteY5" fmla="*/ 1155200 h 1155200"/>
              <a:gd name="connsiteX0" fmla="*/ 5787613 w 7431943"/>
              <a:gd name="connsiteY0" fmla="*/ 6705 h 1094234"/>
              <a:gd name="connsiteX1" fmla="*/ 6938681 w 7431943"/>
              <a:gd name="connsiteY1" fmla="*/ 12169 h 1094234"/>
              <a:gd name="connsiteX2" fmla="*/ 7422777 w 7431943"/>
              <a:gd name="connsiteY2" fmla="*/ 265813 h 1094234"/>
              <a:gd name="connsiteX3" fmla="*/ 7132319 w 7431943"/>
              <a:gd name="connsiteY3" fmla="*/ 757627 h 1094234"/>
              <a:gd name="connsiteX4" fmla="*/ 5744583 w 7431943"/>
              <a:gd name="connsiteY4" fmla="*/ 921422 h 1094234"/>
              <a:gd name="connsiteX5" fmla="*/ 0 w 7431943"/>
              <a:gd name="connsiteY5" fmla="*/ 1094234 h 1094234"/>
              <a:gd name="connsiteX0" fmla="*/ 5787613 w 7424852"/>
              <a:gd name="connsiteY0" fmla="*/ 6705 h 1094234"/>
              <a:gd name="connsiteX1" fmla="*/ 6938681 w 7424852"/>
              <a:gd name="connsiteY1" fmla="*/ 12169 h 1094234"/>
              <a:gd name="connsiteX2" fmla="*/ 7422777 w 7424852"/>
              <a:gd name="connsiteY2" fmla="*/ 265813 h 1094234"/>
              <a:gd name="connsiteX3" fmla="*/ 6777317 w 7424852"/>
              <a:gd name="connsiteY3" fmla="*/ 772869 h 1094234"/>
              <a:gd name="connsiteX4" fmla="*/ 5744583 w 7424852"/>
              <a:gd name="connsiteY4" fmla="*/ 921422 h 1094234"/>
              <a:gd name="connsiteX5" fmla="*/ 0 w 7424852"/>
              <a:gd name="connsiteY5" fmla="*/ 1094234 h 1094234"/>
              <a:gd name="connsiteX0" fmla="*/ 5787613 w 6990021"/>
              <a:gd name="connsiteY0" fmla="*/ 17026 h 1104555"/>
              <a:gd name="connsiteX1" fmla="*/ 6938681 w 6990021"/>
              <a:gd name="connsiteY1" fmla="*/ 22490 h 1104555"/>
              <a:gd name="connsiteX2" fmla="*/ 6788076 w 6990021"/>
              <a:gd name="connsiteY2" fmla="*/ 428548 h 1104555"/>
              <a:gd name="connsiteX3" fmla="*/ 6777317 w 6990021"/>
              <a:gd name="connsiteY3" fmla="*/ 783190 h 1104555"/>
              <a:gd name="connsiteX4" fmla="*/ 5744583 w 6990021"/>
              <a:gd name="connsiteY4" fmla="*/ 931743 h 1104555"/>
              <a:gd name="connsiteX5" fmla="*/ 0 w 6990021"/>
              <a:gd name="connsiteY5" fmla="*/ 1104555 h 1104555"/>
              <a:gd name="connsiteX0" fmla="*/ 5787613 w 6870694"/>
              <a:gd name="connsiteY0" fmla="*/ 0 h 1087529"/>
              <a:gd name="connsiteX1" fmla="*/ 6476103 w 6870694"/>
              <a:gd name="connsiteY1" fmla="*/ 127395 h 1087529"/>
              <a:gd name="connsiteX2" fmla="*/ 6788076 w 6870694"/>
              <a:gd name="connsiteY2" fmla="*/ 411522 h 1087529"/>
              <a:gd name="connsiteX3" fmla="*/ 6777317 w 6870694"/>
              <a:gd name="connsiteY3" fmla="*/ 766164 h 1087529"/>
              <a:gd name="connsiteX4" fmla="*/ 5744583 w 6870694"/>
              <a:gd name="connsiteY4" fmla="*/ 914717 h 1087529"/>
              <a:gd name="connsiteX5" fmla="*/ 0 w 6870694"/>
              <a:gd name="connsiteY5" fmla="*/ 1087529 h 1087529"/>
              <a:gd name="connsiteX0" fmla="*/ 5787613 w 6789416"/>
              <a:gd name="connsiteY0" fmla="*/ 0 h 1087529"/>
              <a:gd name="connsiteX1" fmla="*/ 6476103 w 6789416"/>
              <a:gd name="connsiteY1" fmla="*/ 127395 h 1087529"/>
              <a:gd name="connsiteX2" fmla="*/ 6788076 w 6789416"/>
              <a:gd name="connsiteY2" fmla="*/ 411522 h 1087529"/>
              <a:gd name="connsiteX3" fmla="*/ 6551406 w 6789416"/>
              <a:gd name="connsiteY3" fmla="*/ 842371 h 1087529"/>
              <a:gd name="connsiteX4" fmla="*/ 5744583 w 6789416"/>
              <a:gd name="connsiteY4" fmla="*/ 914717 h 1087529"/>
              <a:gd name="connsiteX5" fmla="*/ 0 w 6789416"/>
              <a:gd name="connsiteY5" fmla="*/ 1087529 h 1087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89416" h="1087529">
                <a:moveTo>
                  <a:pt x="5787613" y="0"/>
                </a:moveTo>
                <a:cubicBezTo>
                  <a:pt x="6004559" y="51995"/>
                  <a:pt x="6309359" y="58808"/>
                  <a:pt x="6476103" y="127395"/>
                </a:cubicBezTo>
                <a:cubicBezTo>
                  <a:pt x="6642847" y="195982"/>
                  <a:pt x="6775526" y="292359"/>
                  <a:pt x="6788076" y="411522"/>
                </a:cubicBezTo>
                <a:cubicBezTo>
                  <a:pt x="6800626" y="530685"/>
                  <a:pt x="6725321" y="758505"/>
                  <a:pt x="6551406" y="842371"/>
                </a:cubicBezTo>
                <a:cubicBezTo>
                  <a:pt x="6377491" y="926237"/>
                  <a:pt x="6081656" y="883302"/>
                  <a:pt x="5744583" y="914717"/>
                </a:cubicBezTo>
                <a:lnTo>
                  <a:pt x="0" y="1087529"/>
                </a:lnTo>
              </a:path>
            </a:pathLst>
          </a:custGeom>
          <a:noFill/>
          <a:ln w="57150" cap="flat" cmpd="sng" algn="ctr">
            <a:solidFill>
              <a:srgbClr val="7030A0"/>
            </a:solidFill>
            <a:prstDash val="solid"/>
            <a:miter lim="800000"/>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ahoma" pitchFamily="34" charset="0"/>
              <a:ea typeface="SimSun" pitchFamily="2" charset="-122"/>
            </a:endParaRPr>
          </a:p>
        </p:txBody>
      </p:sp>
    </p:spTree>
    <p:extLst>
      <p:ext uri="{BB962C8B-B14F-4D97-AF65-F5344CB8AC3E}">
        <p14:creationId xmlns:p14="http://schemas.microsoft.com/office/powerpoint/2010/main" val="3344899116"/>
      </p:ext>
    </p:extLst>
  </p:cSld>
  <p:clrMapOvr>
    <a:masterClrMapping/>
  </p:clrMapOvr>
  <p:transition advTm="100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E1B13-5C6E-7552-6D5B-A83B3DA6DC70}"/>
            </a:ext>
          </a:extLst>
        </p:cNvPr>
        <p:cNvGrpSpPr/>
        <p:nvPr/>
      </p:nvGrpSpPr>
      <p:grpSpPr>
        <a:xfrm>
          <a:off x="0" y="0"/>
          <a:ext cx="0" cy="0"/>
          <a:chOff x="0" y="0"/>
          <a:chExt cx="0" cy="0"/>
        </a:xfrm>
      </p:grpSpPr>
      <p:sp>
        <p:nvSpPr>
          <p:cNvPr id="73731" name="Rectangle 2">
            <a:extLst>
              <a:ext uri="{FF2B5EF4-FFF2-40B4-BE49-F238E27FC236}">
                <a16:creationId xmlns:a16="http://schemas.microsoft.com/office/drawing/2014/main" id="{15320E5B-AF7F-7447-AC47-92FFF627A045}"/>
              </a:ext>
            </a:extLst>
          </p:cNvPr>
          <p:cNvSpPr>
            <a:spLocks noGrp="1" noChangeArrowheads="1"/>
          </p:cNvSpPr>
          <p:nvPr>
            <p:ph type="title"/>
          </p:nvPr>
        </p:nvSpPr>
        <p:spPr>
          <a:xfrm>
            <a:off x="122237" y="254000"/>
            <a:ext cx="8793163" cy="660400"/>
          </a:xfrm>
        </p:spPr>
        <p:txBody>
          <a:bodyPr/>
          <a:lstStyle/>
          <a:p>
            <a:pPr eaLnBrk="1" hangingPunct="1"/>
            <a:r>
              <a:rPr lang="en-GB" sz="3600" b="1" dirty="0">
                <a:solidFill>
                  <a:srgbClr val="C00000"/>
                </a:solidFill>
              </a:rPr>
              <a:t>Why would this be bad?</a:t>
            </a:r>
            <a:endParaRPr lang="en-GB" altLang="en-US" sz="3600" dirty="0">
              <a:solidFill>
                <a:schemeClr val="tx1"/>
              </a:solidFill>
            </a:endParaRPr>
          </a:p>
        </p:txBody>
      </p:sp>
      <p:sp>
        <p:nvSpPr>
          <p:cNvPr id="24580" name="Rectangle 3">
            <a:extLst>
              <a:ext uri="{FF2B5EF4-FFF2-40B4-BE49-F238E27FC236}">
                <a16:creationId xmlns:a16="http://schemas.microsoft.com/office/drawing/2014/main" id="{968A36D3-1A74-3415-6A73-113D608DD01C}"/>
              </a:ext>
            </a:extLst>
          </p:cNvPr>
          <p:cNvSpPr>
            <a:spLocks noGrp="1" noChangeArrowheads="1"/>
          </p:cNvSpPr>
          <p:nvPr>
            <p:ph type="body" idx="1"/>
          </p:nvPr>
        </p:nvSpPr>
        <p:spPr>
          <a:xfrm>
            <a:off x="304800" y="1295400"/>
            <a:ext cx="8610600" cy="5562600"/>
          </a:xfrm>
        </p:spPr>
        <p:txBody>
          <a:bodyPr/>
          <a:lstStyle/>
          <a:p>
            <a:pPr marL="285750" lvl="1" eaLnBrk="1" hangingPunct="1">
              <a:lnSpc>
                <a:spcPct val="80000"/>
              </a:lnSpc>
              <a:buFont typeface="Wingdings" panose="05000000000000000000" pitchFamily="2" charset="2"/>
              <a:buNone/>
              <a:defRPr/>
            </a:pPr>
            <a:r>
              <a:rPr lang="en-GB" sz="3200" dirty="0"/>
              <a:t>try {</a:t>
            </a:r>
          </a:p>
          <a:p>
            <a:pPr marL="285750" lvl="1" eaLnBrk="1" hangingPunct="1">
              <a:lnSpc>
                <a:spcPct val="80000"/>
              </a:lnSpc>
              <a:buNone/>
              <a:defRPr/>
            </a:pPr>
            <a:r>
              <a:rPr lang="en-GB" sz="3200" dirty="0"/>
              <a:t>    URL </a:t>
            </a:r>
            <a:r>
              <a:rPr lang="en-GB" sz="3200" dirty="0" err="1"/>
              <a:t>url</a:t>
            </a:r>
            <a:r>
              <a:rPr lang="en-GB" sz="3200" dirty="0"/>
              <a:t> = new URL(</a:t>
            </a:r>
            <a:r>
              <a:rPr lang="en-GB" sz="3200" dirty="0" err="1"/>
              <a:t>urlStr</a:t>
            </a:r>
            <a:r>
              <a:rPr lang="en-GB" sz="3200" dirty="0"/>
              <a:t>);  </a:t>
            </a:r>
          </a:p>
          <a:p>
            <a:pPr marL="285750" lvl="1" eaLnBrk="1" hangingPunct="1">
              <a:lnSpc>
                <a:spcPct val="80000"/>
              </a:lnSpc>
              <a:buFont typeface="Wingdings" panose="05000000000000000000" pitchFamily="2" charset="2"/>
              <a:buNone/>
              <a:defRPr/>
            </a:pPr>
            <a:r>
              <a:rPr lang="en-GB" sz="3200" dirty="0"/>
              <a:t>    </a:t>
            </a:r>
            <a:r>
              <a:rPr lang="en-GB" sz="3200" dirty="0" err="1"/>
              <a:t>InputStream</a:t>
            </a:r>
            <a:r>
              <a:rPr lang="en-GB" sz="3200" dirty="0"/>
              <a:t> is = </a:t>
            </a:r>
            <a:r>
              <a:rPr lang="en-GB" sz="3200" dirty="0" err="1"/>
              <a:t>url.openStream</a:t>
            </a:r>
            <a:r>
              <a:rPr lang="en-GB" sz="3200" dirty="0"/>
              <a:t>();</a:t>
            </a:r>
          </a:p>
          <a:p>
            <a:pPr marL="285750" lvl="1" eaLnBrk="1" hangingPunct="1">
              <a:lnSpc>
                <a:spcPct val="80000"/>
              </a:lnSpc>
              <a:buFont typeface="Wingdings" panose="05000000000000000000" pitchFamily="2" charset="2"/>
              <a:buNone/>
              <a:defRPr/>
            </a:pPr>
            <a:r>
              <a:rPr lang="en-GB" sz="3200" b="1" dirty="0">
                <a:solidFill>
                  <a:srgbClr val="C00000"/>
                </a:solidFill>
              </a:rPr>
              <a:t>    </a:t>
            </a:r>
            <a:r>
              <a:rPr lang="en-GB" sz="3200" b="1" dirty="0" err="1">
                <a:solidFill>
                  <a:srgbClr val="C00000"/>
                </a:solidFill>
              </a:rPr>
              <a:t>is.close</a:t>
            </a:r>
            <a:r>
              <a:rPr lang="en-GB" sz="3200" b="1" dirty="0">
                <a:solidFill>
                  <a:srgbClr val="C00000"/>
                </a:solidFill>
              </a:rPr>
              <a:t>();</a:t>
            </a:r>
          </a:p>
          <a:p>
            <a:pPr marL="285750" lvl="1" eaLnBrk="1" hangingPunct="1">
              <a:lnSpc>
                <a:spcPct val="80000"/>
              </a:lnSpc>
              <a:buFont typeface="Wingdings" panose="05000000000000000000" pitchFamily="2" charset="2"/>
              <a:buNone/>
              <a:defRPr/>
            </a:pPr>
            <a:r>
              <a:rPr lang="en-GB" sz="3200" dirty="0"/>
              <a:t>} </a:t>
            </a:r>
          </a:p>
          <a:p>
            <a:pPr marL="285750" lvl="1" eaLnBrk="1" hangingPunct="1">
              <a:lnSpc>
                <a:spcPct val="80000"/>
              </a:lnSpc>
              <a:buFont typeface="Wingdings" panose="05000000000000000000" pitchFamily="2" charset="2"/>
              <a:buNone/>
              <a:defRPr/>
            </a:pPr>
            <a:r>
              <a:rPr lang="en-GB" sz="3200" dirty="0"/>
              <a:t>catch (</a:t>
            </a:r>
            <a:r>
              <a:rPr lang="en-GB" sz="3200" dirty="0" err="1"/>
              <a:t>MalformedURLException</a:t>
            </a:r>
            <a:r>
              <a:rPr lang="en-GB" sz="3200" dirty="0"/>
              <a:t> e) {</a:t>
            </a:r>
          </a:p>
          <a:p>
            <a:pPr marL="285750" lvl="1" eaLnBrk="1" hangingPunct="1">
              <a:lnSpc>
                <a:spcPct val="80000"/>
              </a:lnSpc>
              <a:buFont typeface="Wingdings" panose="05000000000000000000" pitchFamily="2" charset="2"/>
              <a:buNone/>
              <a:defRPr/>
            </a:pPr>
            <a:r>
              <a:rPr lang="en-GB" sz="3200" dirty="0"/>
              <a:t>    // code to handle the wrongly written URL</a:t>
            </a:r>
          </a:p>
          <a:p>
            <a:pPr marL="285750" lvl="1" eaLnBrk="1" hangingPunct="1">
              <a:lnSpc>
                <a:spcPct val="80000"/>
              </a:lnSpc>
              <a:buFont typeface="Wingdings" panose="05000000000000000000" pitchFamily="2" charset="2"/>
              <a:buNone/>
              <a:defRPr/>
            </a:pPr>
            <a:r>
              <a:rPr lang="en-GB" sz="3200" dirty="0"/>
              <a:t>} </a:t>
            </a:r>
          </a:p>
          <a:p>
            <a:pPr marL="285750" lvl="1" eaLnBrk="1" hangingPunct="1">
              <a:lnSpc>
                <a:spcPct val="80000"/>
              </a:lnSpc>
              <a:buFont typeface="Wingdings" panose="05000000000000000000" pitchFamily="2" charset="2"/>
              <a:buNone/>
              <a:defRPr/>
            </a:pPr>
            <a:r>
              <a:rPr lang="en-GB" sz="3200" dirty="0"/>
              <a:t>catch (</a:t>
            </a:r>
            <a:r>
              <a:rPr lang="en-GB" sz="3200" dirty="0" err="1"/>
              <a:t>IOException</a:t>
            </a:r>
            <a:r>
              <a:rPr lang="en-GB" sz="3200" dirty="0"/>
              <a:t> e) {</a:t>
            </a:r>
          </a:p>
          <a:p>
            <a:pPr marL="285750" lvl="1" eaLnBrk="1" hangingPunct="1">
              <a:lnSpc>
                <a:spcPct val="80000"/>
              </a:lnSpc>
              <a:buNone/>
              <a:defRPr/>
            </a:pPr>
            <a:r>
              <a:rPr lang="en-GB" sz="3200" dirty="0"/>
              <a:t>     // code to handle the wrongly written URL;</a:t>
            </a:r>
          </a:p>
          <a:p>
            <a:pPr marL="285750" lvl="1" eaLnBrk="1" hangingPunct="1">
              <a:lnSpc>
                <a:spcPct val="80000"/>
              </a:lnSpc>
              <a:buFont typeface="Wingdings" panose="05000000000000000000" pitchFamily="2" charset="2"/>
              <a:buNone/>
              <a:defRPr/>
            </a:pPr>
            <a:r>
              <a:rPr lang="en-GB" sz="3200" dirty="0"/>
              <a:t>}</a:t>
            </a:r>
          </a:p>
        </p:txBody>
      </p:sp>
    </p:spTree>
    <p:extLst>
      <p:ext uri="{BB962C8B-B14F-4D97-AF65-F5344CB8AC3E}">
        <p14:creationId xmlns:p14="http://schemas.microsoft.com/office/powerpoint/2010/main" val="4045397177"/>
      </p:ext>
    </p:extLst>
  </p:cSld>
  <p:clrMapOvr>
    <a:masterClrMapping/>
  </p:clrMapOvr>
  <p:transition advTm="100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9F595-DD9D-DE8F-E203-968ED43D9606}"/>
            </a:ext>
          </a:extLst>
        </p:cNvPr>
        <p:cNvGrpSpPr/>
        <p:nvPr/>
      </p:nvGrpSpPr>
      <p:grpSpPr>
        <a:xfrm>
          <a:off x="0" y="0"/>
          <a:ext cx="0" cy="0"/>
          <a:chOff x="0" y="0"/>
          <a:chExt cx="0" cy="0"/>
        </a:xfrm>
      </p:grpSpPr>
      <p:sp>
        <p:nvSpPr>
          <p:cNvPr id="24580" name="Rectangle 3">
            <a:extLst>
              <a:ext uri="{FF2B5EF4-FFF2-40B4-BE49-F238E27FC236}">
                <a16:creationId xmlns:a16="http://schemas.microsoft.com/office/drawing/2014/main" id="{1C2A0425-3557-56BD-EA2B-2175192EBD8F}"/>
              </a:ext>
            </a:extLst>
          </p:cNvPr>
          <p:cNvSpPr>
            <a:spLocks noGrp="1" noChangeArrowheads="1"/>
          </p:cNvSpPr>
          <p:nvPr>
            <p:ph type="body" idx="1"/>
          </p:nvPr>
        </p:nvSpPr>
        <p:spPr>
          <a:xfrm>
            <a:off x="304800" y="1219200"/>
            <a:ext cx="8610600" cy="5638800"/>
          </a:xfrm>
        </p:spPr>
        <p:txBody>
          <a:bodyPr/>
          <a:lstStyle/>
          <a:p>
            <a:pPr marL="285750" lvl="1" eaLnBrk="1" hangingPunct="1">
              <a:lnSpc>
                <a:spcPct val="80000"/>
              </a:lnSpc>
              <a:buFont typeface="Wingdings" panose="05000000000000000000" pitchFamily="2" charset="2"/>
              <a:buNone/>
              <a:defRPr/>
            </a:pPr>
            <a:r>
              <a:rPr lang="en-GB" sz="3200" dirty="0"/>
              <a:t>try {</a:t>
            </a:r>
          </a:p>
          <a:p>
            <a:pPr marL="285750" lvl="1" eaLnBrk="1" hangingPunct="1">
              <a:lnSpc>
                <a:spcPct val="80000"/>
              </a:lnSpc>
              <a:buNone/>
              <a:defRPr/>
            </a:pPr>
            <a:r>
              <a:rPr lang="en-GB" sz="3200" dirty="0"/>
              <a:t>    URL </a:t>
            </a:r>
            <a:r>
              <a:rPr lang="en-GB" sz="3200" dirty="0" err="1"/>
              <a:t>url</a:t>
            </a:r>
            <a:r>
              <a:rPr lang="en-GB" sz="3200" dirty="0"/>
              <a:t> = new URL(</a:t>
            </a:r>
            <a:r>
              <a:rPr lang="en-GB" sz="3200" dirty="0" err="1"/>
              <a:t>urlStr</a:t>
            </a:r>
            <a:r>
              <a:rPr lang="en-GB" sz="3200" dirty="0"/>
              <a:t>);  </a:t>
            </a:r>
          </a:p>
          <a:p>
            <a:pPr marL="285750" lvl="1" eaLnBrk="1" hangingPunct="1">
              <a:lnSpc>
                <a:spcPct val="80000"/>
              </a:lnSpc>
              <a:buFont typeface="Wingdings" panose="05000000000000000000" pitchFamily="2" charset="2"/>
              <a:buNone/>
              <a:defRPr/>
            </a:pPr>
            <a:r>
              <a:rPr lang="en-GB" sz="3200" dirty="0"/>
              <a:t>    </a:t>
            </a:r>
            <a:r>
              <a:rPr lang="en-GB" sz="3200" dirty="0" err="1"/>
              <a:t>InputStream</a:t>
            </a:r>
            <a:r>
              <a:rPr lang="en-GB" sz="3200" dirty="0"/>
              <a:t> is = </a:t>
            </a:r>
            <a:r>
              <a:rPr lang="en-GB" sz="3200" dirty="0" err="1"/>
              <a:t>url.openStream</a:t>
            </a:r>
            <a:r>
              <a:rPr lang="en-GB" sz="3200" dirty="0"/>
              <a:t>();</a:t>
            </a:r>
          </a:p>
          <a:p>
            <a:pPr marL="285750" lvl="1" eaLnBrk="1" hangingPunct="1">
              <a:lnSpc>
                <a:spcPct val="80000"/>
              </a:lnSpc>
              <a:buFont typeface="Wingdings" panose="05000000000000000000" pitchFamily="2" charset="2"/>
              <a:buNone/>
              <a:defRPr/>
            </a:pPr>
            <a:r>
              <a:rPr lang="en-GB" sz="3200" dirty="0"/>
              <a:t>} </a:t>
            </a:r>
          </a:p>
          <a:p>
            <a:pPr marL="285750" lvl="1" eaLnBrk="1" hangingPunct="1">
              <a:lnSpc>
                <a:spcPct val="80000"/>
              </a:lnSpc>
              <a:buFont typeface="Wingdings" panose="05000000000000000000" pitchFamily="2" charset="2"/>
              <a:buNone/>
              <a:defRPr/>
            </a:pPr>
            <a:r>
              <a:rPr lang="en-GB" sz="3200" dirty="0"/>
              <a:t>catch (</a:t>
            </a:r>
            <a:r>
              <a:rPr lang="en-GB" sz="3200" dirty="0" err="1"/>
              <a:t>MalformedURLException</a:t>
            </a:r>
            <a:r>
              <a:rPr lang="en-GB" sz="3200" dirty="0"/>
              <a:t> e) {</a:t>
            </a:r>
          </a:p>
          <a:p>
            <a:pPr marL="285750" lvl="1" eaLnBrk="1" hangingPunct="1">
              <a:lnSpc>
                <a:spcPct val="80000"/>
              </a:lnSpc>
              <a:buFont typeface="Wingdings" panose="05000000000000000000" pitchFamily="2" charset="2"/>
              <a:buNone/>
              <a:defRPr/>
            </a:pPr>
            <a:r>
              <a:rPr lang="en-GB" sz="3200" dirty="0"/>
              <a:t>    // code to handle the wrongly written URL</a:t>
            </a:r>
          </a:p>
          <a:p>
            <a:pPr marL="285750" lvl="1" eaLnBrk="1" hangingPunct="1">
              <a:lnSpc>
                <a:spcPct val="80000"/>
              </a:lnSpc>
              <a:buFont typeface="Wingdings" panose="05000000000000000000" pitchFamily="2" charset="2"/>
              <a:buNone/>
              <a:defRPr/>
            </a:pPr>
            <a:r>
              <a:rPr lang="en-GB" sz="3200" dirty="0"/>
              <a:t>} </a:t>
            </a:r>
          </a:p>
          <a:p>
            <a:pPr marL="285750" lvl="1" eaLnBrk="1" hangingPunct="1">
              <a:lnSpc>
                <a:spcPct val="80000"/>
              </a:lnSpc>
              <a:buFont typeface="Wingdings" panose="05000000000000000000" pitchFamily="2" charset="2"/>
              <a:buNone/>
              <a:defRPr/>
            </a:pPr>
            <a:r>
              <a:rPr lang="en-GB" sz="3200" dirty="0"/>
              <a:t>catch (</a:t>
            </a:r>
            <a:r>
              <a:rPr lang="en-GB" sz="3200" dirty="0" err="1"/>
              <a:t>IOException</a:t>
            </a:r>
            <a:r>
              <a:rPr lang="en-GB" sz="3200" dirty="0"/>
              <a:t> e) {</a:t>
            </a:r>
          </a:p>
          <a:p>
            <a:pPr marL="285750" lvl="1" eaLnBrk="1" hangingPunct="1">
              <a:lnSpc>
                <a:spcPct val="80000"/>
              </a:lnSpc>
              <a:buNone/>
              <a:defRPr/>
            </a:pPr>
            <a:r>
              <a:rPr lang="en-GB" sz="3200" dirty="0"/>
              <a:t>     // code to handle the wrongly written URL;</a:t>
            </a:r>
          </a:p>
          <a:p>
            <a:pPr marL="285750" lvl="1" eaLnBrk="1" hangingPunct="1">
              <a:lnSpc>
                <a:spcPct val="80000"/>
              </a:lnSpc>
              <a:buFont typeface="Wingdings" panose="05000000000000000000" pitchFamily="2" charset="2"/>
              <a:buNone/>
              <a:defRPr/>
            </a:pPr>
            <a:r>
              <a:rPr lang="en-GB" sz="3200" dirty="0"/>
              <a:t>} </a:t>
            </a:r>
          </a:p>
          <a:p>
            <a:pPr marL="285750" lvl="1" eaLnBrk="1" hangingPunct="1">
              <a:lnSpc>
                <a:spcPct val="80000"/>
              </a:lnSpc>
              <a:buFont typeface="Wingdings" panose="05000000000000000000" pitchFamily="2" charset="2"/>
              <a:buNone/>
              <a:defRPr/>
            </a:pPr>
            <a:r>
              <a:rPr lang="en-GB" sz="3200" b="1" dirty="0" err="1">
                <a:solidFill>
                  <a:srgbClr val="C00000"/>
                </a:solidFill>
              </a:rPr>
              <a:t>is.close</a:t>
            </a:r>
            <a:r>
              <a:rPr lang="en-GB" sz="3200" b="1" dirty="0">
                <a:solidFill>
                  <a:srgbClr val="C00000"/>
                </a:solidFill>
              </a:rPr>
              <a:t>();</a:t>
            </a:r>
            <a:endParaRPr lang="en-GB" altLang="en-US" sz="3200" b="1" dirty="0"/>
          </a:p>
        </p:txBody>
      </p:sp>
      <p:sp>
        <p:nvSpPr>
          <p:cNvPr id="2" name="Title 1">
            <a:extLst>
              <a:ext uri="{FF2B5EF4-FFF2-40B4-BE49-F238E27FC236}">
                <a16:creationId xmlns:a16="http://schemas.microsoft.com/office/drawing/2014/main" id="{188F9F4D-21F0-F927-6CB2-FE2D99611C2D}"/>
              </a:ext>
            </a:extLst>
          </p:cNvPr>
          <p:cNvSpPr>
            <a:spLocks noGrp="1"/>
          </p:cNvSpPr>
          <p:nvPr>
            <p:ph type="title"/>
          </p:nvPr>
        </p:nvSpPr>
        <p:spPr/>
        <p:txBody>
          <a:bodyPr/>
          <a:lstStyle/>
          <a:p>
            <a:r>
              <a:rPr lang="en-GB" sz="4000" b="1" dirty="0">
                <a:solidFill>
                  <a:srgbClr val="C00000"/>
                </a:solidFill>
              </a:rPr>
              <a:t>Why would this be bad?</a:t>
            </a:r>
            <a:endParaRPr lang="en-US" sz="4000" dirty="0">
              <a:solidFill>
                <a:srgbClr val="C00000"/>
              </a:solidFill>
            </a:endParaRPr>
          </a:p>
        </p:txBody>
      </p:sp>
    </p:spTree>
    <p:extLst>
      <p:ext uri="{BB962C8B-B14F-4D97-AF65-F5344CB8AC3E}">
        <p14:creationId xmlns:p14="http://schemas.microsoft.com/office/powerpoint/2010/main" val="1231287032"/>
      </p:ext>
    </p:extLst>
  </p:cSld>
  <p:clrMapOvr>
    <a:masterClrMapping/>
  </p:clrMapOvr>
  <p:transition advTm="1000"/>
</p:sld>
</file>

<file path=ppt/slides/slide49.xml><?xml version="1.0" encoding="utf-8"?>
<p:sld xmlns:a="http://schemas.openxmlformats.org/drawingml/2006/main" xmlns:r="http://schemas.openxmlformats.org/officeDocument/2006/relationships" xmlns:p="http://schemas.openxmlformats.org/presentationml/2006/main" showMasterPhAnim="0">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61442" name="AutoShape 2">
            <a:extLst>
              <a:ext uri="{FF2B5EF4-FFF2-40B4-BE49-F238E27FC236}">
                <a16:creationId xmlns:a16="http://schemas.microsoft.com/office/drawing/2014/main" id="{3CF3877A-1EB1-AD12-D78C-7A2712F8DFBA}"/>
              </a:ext>
            </a:extLst>
          </p:cNvPr>
          <p:cNvSpPr>
            <a:spLocks noGrp="1" noChangeArrowheads="1"/>
          </p:cNvSpPr>
          <p:nvPr>
            <p:ph type="title"/>
          </p:nvPr>
        </p:nvSpPr>
        <p:spPr>
          <a:xfrm>
            <a:off x="0" y="838200"/>
            <a:ext cx="9144000" cy="2590800"/>
          </a:xfrm>
        </p:spPr>
        <p:txBody>
          <a:bodyPr anchor="t">
            <a:noAutofit/>
          </a:bodyPr>
          <a:lstStyle/>
          <a:p>
            <a:pPr eaLnBrk="1" hangingPunct="1"/>
            <a:r>
              <a:rPr lang="en-US" altLang="en-US" sz="8800" b="1" cap="small" dirty="0">
                <a:solidFill>
                  <a:schemeClr val="tx1"/>
                </a:solidFill>
                <a:latin typeface="Abadi" panose="020B0604020104020204" pitchFamily="34" charset="0"/>
              </a:rPr>
              <a:t>To Handle or</a:t>
            </a:r>
            <a:br>
              <a:rPr lang="en-US" altLang="en-US" sz="8800" b="1" cap="small" dirty="0">
                <a:solidFill>
                  <a:schemeClr val="tx1"/>
                </a:solidFill>
                <a:latin typeface="Abadi" panose="020B0604020104020204" pitchFamily="34" charset="0"/>
              </a:rPr>
            </a:br>
            <a:r>
              <a:rPr lang="en-US" altLang="en-US" sz="8800" b="1" cap="small" dirty="0">
                <a:solidFill>
                  <a:schemeClr val="tx1"/>
                </a:solidFill>
                <a:latin typeface="Abadi" panose="020B0604020104020204" pitchFamily="34" charset="0"/>
              </a:rPr>
              <a:t>Not To Handle, That is the Question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56BCAD49-B898-2E65-A948-422B7282001B}"/>
            </a:ext>
          </a:extLst>
        </p:cNvPr>
        <p:cNvGrpSpPr/>
        <p:nvPr/>
      </p:nvGrpSpPr>
      <p:grpSpPr>
        <a:xfrm>
          <a:off x="0" y="0"/>
          <a:ext cx="0" cy="0"/>
          <a:chOff x="0" y="0"/>
          <a:chExt cx="0" cy="0"/>
        </a:xfrm>
      </p:grpSpPr>
      <p:sp>
        <p:nvSpPr>
          <p:cNvPr id="61442" name="AutoShape 2">
            <a:extLst>
              <a:ext uri="{FF2B5EF4-FFF2-40B4-BE49-F238E27FC236}">
                <a16:creationId xmlns:a16="http://schemas.microsoft.com/office/drawing/2014/main" id="{E8D28393-4398-71C8-7F8F-FD40F2642213}"/>
              </a:ext>
            </a:extLst>
          </p:cNvPr>
          <p:cNvSpPr>
            <a:spLocks noGrp="1" noChangeArrowheads="1"/>
          </p:cNvSpPr>
          <p:nvPr>
            <p:ph type="title"/>
          </p:nvPr>
        </p:nvSpPr>
        <p:spPr>
          <a:xfrm>
            <a:off x="228600" y="137284"/>
            <a:ext cx="8458200" cy="657638"/>
          </a:xfrm>
        </p:spPr>
        <p:txBody>
          <a:bodyPr anchor="t">
            <a:normAutofit fontScale="90000"/>
          </a:bodyPr>
          <a:lstStyle/>
          <a:p>
            <a:pPr eaLnBrk="1" hangingPunct="1"/>
            <a:r>
              <a:rPr lang="en-US" altLang="en-US" sz="4000" b="1" cap="small" dirty="0">
                <a:solidFill>
                  <a:schemeClr val="tx1"/>
                </a:solidFill>
                <a:latin typeface="Abadi" panose="020B0604020104020204" pitchFamily="34" charset="0"/>
              </a:rPr>
              <a:t>Possibilities</a:t>
            </a:r>
          </a:p>
        </p:txBody>
      </p:sp>
      <p:sp>
        <p:nvSpPr>
          <p:cNvPr id="4" name="Rectangle 3">
            <a:extLst>
              <a:ext uri="{FF2B5EF4-FFF2-40B4-BE49-F238E27FC236}">
                <a16:creationId xmlns:a16="http://schemas.microsoft.com/office/drawing/2014/main" id="{260DFFEA-2EFA-9734-0ECC-3026286656C6}"/>
              </a:ext>
            </a:extLst>
          </p:cNvPr>
          <p:cNvSpPr txBox="1">
            <a:spLocks noChangeArrowheads="1"/>
          </p:cNvSpPr>
          <p:nvPr/>
        </p:nvSpPr>
        <p:spPr bwMode="auto">
          <a:xfrm>
            <a:off x="152400" y="941656"/>
            <a:ext cx="8763000" cy="591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eaLnBrk="1" hangingPunct="1">
              <a:lnSpc>
                <a:spcPct val="90000"/>
              </a:lnSpc>
              <a:buFontTx/>
              <a:buNone/>
            </a:pPr>
            <a:r>
              <a:rPr lang="en-US" altLang="en-US" sz="2800" kern="0" dirty="0">
                <a:latin typeface="Abadi" panose="020B0604020104020204" pitchFamily="34" charset="0"/>
              </a:rPr>
              <a:t>1.  Normal execution:</a:t>
            </a:r>
          </a:p>
          <a:p>
            <a:pPr marL="457200" lvl="1" indent="0" eaLnBrk="1" hangingPunct="1">
              <a:lnSpc>
                <a:spcPct val="90000"/>
              </a:lnSpc>
              <a:buNone/>
            </a:pPr>
            <a:r>
              <a:rPr lang="en-US" altLang="en-US" b="0" kern="0" dirty="0">
                <a:latin typeface="Abadi" panose="020B0604020104020204" pitchFamily="34" charset="0"/>
              </a:rPr>
              <a:t>No exception thrown. Nothing needs to be caught.</a:t>
            </a:r>
          </a:p>
          <a:p>
            <a:pPr marL="0" indent="0" eaLnBrk="1" hangingPunct="1">
              <a:lnSpc>
                <a:spcPct val="90000"/>
              </a:lnSpc>
              <a:buFontTx/>
              <a:buNone/>
            </a:pPr>
            <a:r>
              <a:rPr lang="en-US" altLang="en-US" sz="2800" kern="0" dirty="0">
                <a:latin typeface="Abadi" panose="020B0604020104020204" pitchFamily="34" charset="0"/>
              </a:rPr>
              <a:t>2. The current level can handle the exception:</a:t>
            </a:r>
          </a:p>
          <a:p>
            <a:pPr marL="457200" lvl="1" indent="0" eaLnBrk="1" hangingPunct="1">
              <a:lnSpc>
                <a:spcPct val="90000"/>
              </a:lnSpc>
              <a:buNone/>
            </a:pPr>
            <a:r>
              <a:rPr lang="en-US" altLang="en-US" b="0" kern="0" dirty="0">
                <a:latin typeface="Abadi" panose="020B0604020104020204" pitchFamily="34" charset="0"/>
              </a:rPr>
              <a:t>It’s possible to handle the exceptional situation at this level of abstraction. </a:t>
            </a:r>
          </a:p>
          <a:p>
            <a:pPr marL="0" indent="0" eaLnBrk="1" hangingPunct="1">
              <a:lnSpc>
                <a:spcPct val="90000"/>
              </a:lnSpc>
              <a:buFontTx/>
              <a:buNone/>
            </a:pPr>
            <a:r>
              <a:rPr lang="en-US" altLang="en-US" sz="2800" kern="0" dirty="0">
                <a:latin typeface="Abadi" panose="020B0604020104020204" pitchFamily="34" charset="0"/>
              </a:rPr>
              <a:t>3. Can’t handle and no new info need be added:</a:t>
            </a:r>
          </a:p>
          <a:p>
            <a:pPr marL="463550" indent="0" eaLnBrk="1" hangingPunct="1">
              <a:lnSpc>
                <a:spcPct val="90000"/>
              </a:lnSpc>
              <a:buNone/>
            </a:pPr>
            <a:r>
              <a:rPr lang="en-US" altLang="en-US" sz="2800" b="0" kern="0" dirty="0">
                <a:latin typeface="Abadi" panose="020B0604020104020204" pitchFamily="34" charset="0"/>
              </a:rPr>
              <a:t>It’s not possible to handle the exceptional situation at this level and the original error message is fine.</a:t>
            </a:r>
            <a:endParaRPr lang="en-US" altLang="en-US" sz="2800" kern="0" dirty="0">
              <a:latin typeface="Abadi" panose="020B0604020104020204" pitchFamily="34" charset="0"/>
            </a:endParaRPr>
          </a:p>
          <a:p>
            <a:pPr marL="0" indent="0" eaLnBrk="1" hangingPunct="1">
              <a:lnSpc>
                <a:spcPct val="90000"/>
              </a:lnSpc>
              <a:buFontTx/>
              <a:buNone/>
            </a:pPr>
            <a:r>
              <a:rPr lang="en-US" altLang="en-US" sz="2800" kern="0" dirty="0">
                <a:latin typeface="Abadi" panose="020B0604020104020204" pitchFamily="34" charset="0"/>
              </a:rPr>
              <a:t>4. Can’t handle and more info needs to be added:</a:t>
            </a:r>
          </a:p>
          <a:p>
            <a:pPr marL="457200" lvl="1" indent="0" eaLnBrk="1" hangingPunct="1">
              <a:lnSpc>
                <a:spcPct val="90000"/>
              </a:lnSpc>
              <a:buNone/>
            </a:pPr>
            <a:r>
              <a:rPr lang="en-US" altLang="en-US" b="0" kern="0" dirty="0">
                <a:latin typeface="Abadi" panose="020B0604020104020204" pitchFamily="34" charset="0"/>
              </a:rPr>
              <a:t>It’s not possible to handle the exceptional situation at this level, but you want to add information to the error message. </a:t>
            </a:r>
          </a:p>
        </p:txBody>
      </p:sp>
    </p:spTree>
    <p:extLst>
      <p:ext uri="{BB962C8B-B14F-4D97-AF65-F5344CB8AC3E}">
        <p14:creationId xmlns:p14="http://schemas.microsoft.com/office/powerpoint/2010/main" val="26942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61442" name="AutoShape 2">
            <a:extLst>
              <a:ext uri="{FF2B5EF4-FFF2-40B4-BE49-F238E27FC236}">
                <a16:creationId xmlns:a16="http://schemas.microsoft.com/office/drawing/2014/main" id="{3CF3877A-1EB1-AD12-D78C-7A2712F8DFBA}"/>
              </a:ext>
            </a:extLst>
          </p:cNvPr>
          <p:cNvSpPr>
            <a:spLocks noGrp="1" noChangeArrowheads="1"/>
          </p:cNvSpPr>
          <p:nvPr>
            <p:ph type="title"/>
          </p:nvPr>
        </p:nvSpPr>
        <p:spPr>
          <a:xfrm>
            <a:off x="867638" y="137284"/>
            <a:ext cx="7416372" cy="657638"/>
          </a:xfrm>
        </p:spPr>
        <p:txBody>
          <a:bodyPr anchor="t">
            <a:normAutofit/>
          </a:bodyPr>
          <a:lstStyle/>
          <a:p>
            <a:pPr eaLnBrk="1" hangingPunct="1"/>
            <a:r>
              <a:rPr lang="en-US" altLang="en-US" sz="3600" b="1" cap="small" dirty="0">
                <a:solidFill>
                  <a:schemeClr val="tx1"/>
                </a:solidFill>
                <a:latin typeface="Abadi" panose="020B0604020104020204" pitchFamily="34" charset="0"/>
              </a:rPr>
              <a:t>Execution of try and catch blocks</a:t>
            </a:r>
          </a:p>
        </p:txBody>
      </p:sp>
      <p:sp>
        <p:nvSpPr>
          <p:cNvPr id="4" name="Rectangle 3">
            <a:extLst>
              <a:ext uri="{FF2B5EF4-FFF2-40B4-BE49-F238E27FC236}">
                <a16:creationId xmlns:a16="http://schemas.microsoft.com/office/drawing/2014/main" id="{49730982-C786-8484-70B1-1282EFA37AE7}"/>
              </a:ext>
            </a:extLst>
          </p:cNvPr>
          <p:cNvSpPr txBox="1">
            <a:spLocks noChangeArrowheads="1"/>
          </p:cNvSpPr>
          <p:nvPr/>
        </p:nvSpPr>
        <p:spPr bwMode="auto">
          <a:xfrm>
            <a:off x="228600" y="941656"/>
            <a:ext cx="8839200" cy="591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eaLnBrk="1" hangingPunct="1">
              <a:lnSpc>
                <a:spcPct val="90000"/>
              </a:lnSpc>
              <a:buFontTx/>
              <a:buNone/>
            </a:pPr>
            <a:r>
              <a:rPr lang="en-US" altLang="en-US" sz="2800" kern="0" dirty="0">
                <a:latin typeface="Abadi" panose="020B0604020104020204" pitchFamily="34" charset="0"/>
              </a:rPr>
              <a:t>1) Normal execution:</a:t>
            </a:r>
          </a:p>
          <a:p>
            <a:pPr marL="1028700" lvl="1" indent="-571500" eaLnBrk="1" hangingPunct="1">
              <a:lnSpc>
                <a:spcPct val="90000"/>
              </a:lnSpc>
              <a:buAutoNum type="romanLcParenR"/>
            </a:pPr>
            <a:r>
              <a:rPr lang="en-US" altLang="en-US" sz="3000" b="0" kern="0" dirty="0">
                <a:latin typeface="Abadi" panose="020B0604020104020204" pitchFamily="34" charset="0"/>
              </a:rPr>
              <a:t>try block executes</a:t>
            </a:r>
          </a:p>
          <a:p>
            <a:pPr marL="1028700" lvl="1" indent="-571500" eaLnBrk="1" hangingPunct="1">
              <a:lnSpc>
                <a:spcPct val="90000"/>
              </a:lnSpc>
              <a:buAutoNum type="romanLcParenR"/>
            </a:pPr>
            <a:r>
              <a:rPr lang="en-US" altLang="en-US" sz="3000" b="0" kern="0" dirty="0">
                <a:latin typeface="Abadi" panose="020B0604020104020204" pitchFamily="34" charset="0"/>
              </a:rPr>
              <a:t>finally block executes</a:t>
            </a:r>
          </a:p>
          <a:p>
            <a:pPr marL="1028700" lvl="1" indent="-571500" eaLnBrk="1" hangingPunct="1">
              <a:lnSpc>
                <a:spcPct val="90000"/>
              </a:lnSpc>
              <a:buAutoNum type="romanLcParenR"/>
            </a:pPr>
            <a:r>
              <a:rPr lang="en-US" altLang="en-US" sz="3000" b="0" kern="0" dirty="0">
                <a:solidFill>
                  <a:srgbClr val="006600"/>
                </a:solidFill>
                <a:latin typeface="Abadi" panose="020B0604020104020204" pitchFamily="34" charset="0"/>
              </a:rPr>
              <a:t>other statements after the try/catch/finally block execute</a:t>
            </a:r>
          </a:p>
          <a:p>
            <a:pPr marL="1028700" lvl="1" indent="-571500" eaLnBrk="1" hangingPunct="1">
              <a:lnSpc>
                <a:spcPct val="90000"/>
              </a:lnSpc>
              <a:buAutoNum type="romanLcParenR"/>
            </a:pPr>
            <a:endParaRPr lang="en-US" altLang="en-US" b="0" kern="0" dirty="0">
              <a:latin typeface="Abadi" panose="020B0604020104020204" pitchFamily="34" charset="0"/>
            </a:endParaRPr>
          </a:p>
          <a:p>
            <a:pPr marL="400050" indent="-400050" eaLnBrk="1" hangingPunct="1">
              <a:lnSpc>
                <a:spcPct val="90000"/>
              </a:lnSpc>
              <a:buFontTx/>
              <a:buNone/>
            </a:pPr>
            <a:r>
              <a:rPr lang="en-US" altLang="en-US" sz="2800" kern="0" dirty="0">
                <a:latin typeface="Abadi" panose="020B0604020104020204" pitchFamily="34" charset="0"/>
              </a:rPr>
              <a:t>2) When an exception is thrown by the try block and a catch block handles it:</a:t>
            </a:r>
          </a:p>
          <a:p>
            <a:pPr marL="1028700" lvl="1" indent="-571500" eaLnBrk="1" hangingPunct="1">
              <a:lnSpc>
                <a:spcPct val="90000"/>
              </a:lnSpc>
              <a:buAutoNum type="romanLcParenR"/>
            </a:pPr>
            <a:r>
              <a:rPr lang="en-US" altLang="en-US" sz="3000" b="0" kern="0" dirty="0">
                <a:latin typeface="Abadi" panose="020B0604020104020204" pitchFamily="34" charset="0"/>
              </a:rPr>
              <a:t>try block is interrupted</a:t>
            </a:r>
          </a:p>
          <a:p>
            <a:pPr marL="1028700" lvl="1" indent="-571500" eaLnBrk="1" hangingPunct="1">
              <a:lnSpc>
                <a:spcPct val="90000"/>
              </a:lnSpc>
              <a:buAutoNum type="romanLcParenR"/>
            </a:pPr>
            <a:r>
              <a:rPr lang="en-US" altLang="en-US" sz="3000" b="0" kern="0" dirty="0">
                <a:latin typeface="Abadi" panose="020B0604020104020204" pitchFamily="34" charset="0"/>
              </a:rPr>
              <a:t>catch block executes</a:t>
            </a:r>
          </a:p>
          <a:p>
            <a:pPr marL="1028700" lvl="1" indent="-571500" eaLnBrk="1" hangingPunct="1">
              <a:lnSpc>
                <a:spcPct val="90000"/>
              </a:lnSpc>
              <a:buAutoNum type="romanLcParenR"/>
            </a:pPr>
            <a:r>
              <a:rPr lang="en-US" altLang="en-US" sz="3000" b="0" kern="0" dirty="0">
                <a:latin typeface="Abadi" panose="020B0604020104020204" pitchFamily="34" charset="0"/>
              </a:rPr>
              <a:t>finally block executes</a:t>
            </a:r>
          </a:p>
          <a:p>
            <a:pPr marL="1028700" lvl="1" indent="-571500" eaLnBrk="1" hangingPunct="1">
              <a:lnSpc>
                <a:spcPct val="90000"/>
              </a:lnSpc>
              <a:buAutoNum type="romanLcParenR"/>
            </a:pPr>
            <a:r>
              <a:rPr lang="en-US" altLang="en-US" sz="3000" b="0" kern="0" dirty="0">
                <a:solidFill>
                  <a:srgbClr val="006600"/>
                </a:solidFill>
                <a:latin typeface="Abadi" panose="020B0604020104020204" pitchFamily="34" charset="0"/>
              </a:rPr>
              <a:t>other statements execute</a:t>
            </a:r>
          </a:p>
        </p:txBody>
      </p:sp>
    </p:spTree>
    <p:extLst>
      <p:ext uri="{BB962C8B-B14F-4D97-AF65-F5344CB8AC3E}">
        <p14:creationId xmlns:p14="http://schemas.microsoft.com/office/powerpoint/2010/main" val="28193750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D4780B35-D3A2-85A1-E9AF-EAD1BA4C912C}"/>
            </a:ext>
          </a:extLst>
        </p:cNvPr>
        <p:cNvGrpSpPr/>
        <p:nvPr/>
      </p:nvGrpSpPr>
      <p:grpSpPr>
        <a:xfrm>
          <a:off x="0" y="0"/>
          <a:ext cx="0" cy="0"/>
          <a:chOff x="0" y="0"/>
          <a:chExt cx="0" cy="0"/>
        </a:xfrm>
      </p:grpSpPr>
      <p:sp>
        <p:nvSpPr>
          <p:cNvPr id="61442" name="AutoShape 2">
            <a:extLst>
              <a:ext uri="{FF2B5EF4-FFF2-40B4-BE49-F238E27FC236}">
                <a16:creationId xmlns:a16="http://schemas.microsoft.com/office/drawing/2014/main" id="{80203A21-9CA5-5C6A-127B-AC93A87ADF87}"/>
              </a:ext>
            </a:extLst>
          </p:cNvPr>
          <p:cNvSpPr>
            <a:spLocks noGrp="1" noChangeArrowheads="1"/>
          </p:cNvSpPr>
          <p:nvPr>
            <p:ph type="title"/>
          </p:nvPr>
        </p:nvSpPr>
        <p:spPr>
          <a:xfrm>
            <a:off x="867638" y="137284"/>
            <a:ext cx="7416372" cy="657638"/>
          </a:xfrm>
        </p:spPr>
        <p:txBody>
          <a:bodyPr anchor="t">
            <a:normAutofit/>
          </a:bodyPr>
          <a:lstStyle/>
          <a:p>
            <a:pPr eaLnBrk="1" hangingPunct="1"/>
            <a:r>
              <a:rPr lang="en-US" altLang="en-US" sz="3600" b="1" cap="small" dirty="0">
                <a:solidFill>
                  <a:schemeClr val="tx1"/>
                </a:solidFill>
                <a:latin typeface="Abadi" panose="020B0604020104020204" pitchFamily="34" charset="0"/>
              </a:rPr>
              <a:t>Execution of try and catch blocks</a:t>
            </a:r>
          </a:p>
        </p:txBody>
      </p:sp>
      <p:sp>
        <p:nvSpPr>
          <p:cNvPr id="4" name="Rectangle 3">
            <a:extLst>
              <a:ext uri="{FF2B5EF4-FFF2-40B4-BE49-F238E27FC236}">
                <a16:creationId xmlns:a16="http://schemas.microsoft.com/office/drawing/2014/main" id="{4B2534F3-8A1A-4999-2689-B612FD77C9C9}"/>
              </a:ext>
            </a:extLst>
          </p:cNvPr>
          <p:cNvSpPr txBox="1">
            <a:spLocks noChangeArrowheads="1"/>
          </p:cNvSpPr>
          <p:nvPr/>
        </p:nvSpPr>
        <p:spPr bwMode="auto">
          <a:xfrm>
            <a:off x="228600" y="1066800"/>
            <a:ext cx="8839200" cy="5687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eaLnBrk="1" hangingPunct="1">
              <a:lnSpc>
                <a:spcPct val="90000"/>
              </a:lnSpc>
              <a:buFontTx/>
              <a:buNone/>
            </a:pPr>
            <a:r>
              <a:rPr lang="en-US" altLang="en-US" sz="2800" kern="0" dirty="0">
                <a:latin typeface="Abadi" panose="020B0604020104020204" pitchFamily="34" charset="0"/>
              </a:rPr>
              <a:t>3) When an error occurs that is not caught:</a:t>
            </a:r>
          </a:p>
          <a:p>
            <a:pPr marL="1028700" lvl="1" indent="-571500" eaLnBrk="1" hangingPunct="1">
              <a:lnSpc>
                <a:spcPct val="90000"/>
              </a:lnSpc>
              <a:buAutoNum type="romanLcParenR"/>
            </a:pPr>
            <a:r>
              <a:rPr lang="en-US" altLang="en-US" sz="3000" b="0" kern="0" dirty="0">
                <a:latin typeface="Abadi" panose="020B0604020104020204" pitchFamily="34" charset="0"/>
              </a:rPr>
              <a:t>try block is interrupted</a:t>
            </a:r>
          </a:p>
          <a:p>
            <a:pPr marL="1028700" lvl="1" indent="-571500" eaLnBrk="1" hangingPunct="1">
              <a:lnSpc>
                <a:spcPct val="90000"/>
              </a:lnSpc>
              <a:buAutoNum type="romanLcParenR"/>
            </a:pPr>
            <a:r>
              <a:rPr lang="en-US" altLang="en-US" sz="3000" b="0" kern="0" dirty="0">
                <a:latin typeface="Abadi" panose="020B0604020104020204" pitchFamily="34" charset="0"/>
              </a:rPr>
              <a:t>finally block executes</a:t>
            </a:r>
          </a:p>
          <a:p>
            <a:pPr marL="1028700" lvl="1" indent="-571500" eaLnBrk="1" hangingPunct="1">
              <a:lnSpc>
                <a:spcPct val="90000"/>
              </a:lnSpc>
              <a:buAutoNum type="romanLcParenR"/>
            </a:pPr>
            <a:r>
              <a:rPr lang="en-US" altLang="en-US" sz="3000" b="0" kern="0" dirty="0">
                <a:solidFill>
                  <a:srgbClr val="C00000"/>
                </a:solidFill>
                <a:latin typeface="Abadi" panose="020B0604020104020204" pitchFamily="34" charset="0"/>
              </a:rPr>
              <a:t>exception is thrown</a:t>
            </a:r>
          </a:p>
          <a:p>
            <a:pPr marL="400050" indent="-400050" eaLnBrk="1" hangingPunct="1">
              <a:lnSpc>
                <a:spcPct val="90000"/>
              </a:lnSpc>
              <a:buFontTx/>
              <a:buNone/>
            </a:pPr>
            <a:endParaRPr lang="en-US" altLang="en-US" sz="2800" kern="0" dirty="0">
              <a:latin typeface="Abadi" panose="020B0604020104020204" pitchFamily="34" charset="0"/>
            </a:endParaRPr>
          </a:p>
          <a:p>
            <a:pPr marL="400050" indent="-400050" eaLnBrk="1" hangingPunct="1">
              <a:lnSpc>
                <a:spcPct val="90000"/>
              </a:lnSpc>
              <a:buFontTx/>
              <a:buNone/>
            </a:pPr>
            <a:r>
              <a:rPr lang="en-US" altLang="en-US" sz="2800" kern="0" dirty="0">
                <a:latin typeface="Abadi" panose="020B0604020104020204" pitchFamily="34" charset="0"/>
              </a:rPr>
              <a:t>4) When an exception is thrown by the try block and the catch block throws a new exception or returns:</a:t>
            </a:r>
          </a:p>
          <a:p>
            <a:pPr marL="1028700" lvl="1" indent="-571500" eaLnBrk="1" hangingPunct="1">
              <a:lnSpc>
                <a:spcPct val="90000"/>
              </a:lnSpc>
              <a:buAutoNum type="romanLcParenR"/>
            </a:pPr>
            <a:r>
              <a:rPr lang="en-US" altLang="en-US" sz="3000" b="0" kern="0" dirty="0">
                <a:latin typeface="Abadi" panose="020B0604020104020204" pitchFamily="34" charset="0"/>
              </a:rPr>
              <a:t>try block is interrupted</a:t>
            </a:r>
          </a:p>
          <a:p>
            <a:pPr marL="1028700" lvl="1" indent="-571500" eaLnBrk="1" hangingPunct="1">
              <a:lnSpc>
                <a:spcPct val="90000"/>
              </a:lnSpc>
              <a:buAutoNum type="romanLcParenR"/>
            </a:pPr>
            <a:r>
              <a:rPr lang="en-US" altLang="en-US" sz="3000" b="0" kern="0" dirty="0">
                <a:latin typeface="Abadi" panose="020B0604020104020204" pitchFamily="34" charset="0"/>
              </a:rPr>
              <a:t>catch block executes</a:t>
            </a:r>
          </a:p>
          <a:p>
            <a:pPr marL="1028700" lvl="1" indent="-571500" eaLnBrk="1" hangingPunct="1">
              <a:lnSpc>
                <a:spcPct val="90000"/>
              </a:lnSpc>
              <a:buAutoNum type="romanLcParenR"/>
            </a:pPr>
            <a:r>
              <a:rPr lang="en-US" altLang="en-US" sz="3000" b="0" kern="0" dirty="0">
                <a:latin typeface="Abadi" panose="020B0604020104020204" pitchFamily="34" charset="0"/>
              </a:rPr>
              <a:t>finally block executes</a:t>
            </a:r>
          </a:p>
          <a:p>
            <a:pPr marL="1028700" lvl="1" indent="-571500" eaLnBrk="1" hangingPunct="1">
              <a:lnSpc>
                <a:spcPct val="90000"/>
              </a:lnSpc>
              <a:buAutoNum type="romanLcParenR"/>
            </a:pPr>
            <a:r>
              <a:rPr lang="en-US" altLang="en-US" sz="3000" b="0" kern="0" dirty="0">
                <a:solidFill>
                  <a:srgbClr val="C00000"/>
                </a:solidFill>
                <a:latin typeface="Abadi" panose="020B0604020104020204" pitchFamily="34" charset="0"/>
              </a:rPr>
              <a:t>method ends and exception is thrown </a:t>
            </a:r>
            <a:br>
              <a:rPr lang="en-US" altLang="en-US" sz="3000" b="0" kern="0" dirty="0">
                <a:solidFill>
                  <a:srgbClr val="C00000"/>
                </a:solidFill>
                <a:latin typeface="Abadi" panose="020B0604020104020204" pitchFamily="34" charset="0"/>
              </a:rPr>
            </a:br>
            <a:r>
              <a:rPr lang="en-US" altLang="en-US" sz="3000" b="0" kern="0" dirty="0">
                <a:solidFill>
                  <a:srgbClr val="C00000"/>
                </a:solidFill>
                <a:latin typeface="Abadi" panose="020B0604020104020204" pitchFamily="34" charset="0"/>
              </a:rPr>
              <a:t>(or value is returned)</a:t>
            </a:r>
          </a:p>
        </p:txBody>
      </p:sp>
    </p:spTree>
    <p:extLst>
      <p:ext uri="{BB962C8B-B14F-4D97-AF65-F5344CB8AC3E}">
        <p14:creationId xmlns:p14="http://schemas.microsoft.com/office/powerpoint/2010/main" val="4622261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CF702A8F-72DE-B49B-688C-B9D612DAB84F}"/>
            </a:ext>
          </a:extLst>
        </p:cNvPr>
        <p:cNvGrpSpPr/>
        <p:nvPr/>
      </p:nvGrpSpPr>
      <p:grpSpPr>
        <a:xfrm>
          <a:off x="0" y="0"/>
          <a:ext cx="0" cy="0"/>
          <a:chOff x="0" y="0"/>
          <a:chExt cx="0" cy="0"/>
        </a:xfrm>
      </p:grpSpPr>
      <p:sp>
        <p:nvSpPr>
          <p:cNvPr id="61442" name="AutoShape 2">
            <a:extLst>
              <a:ext uri="{FF2B5EF4-FFF2-40B4-BE49-F238E27FC236}">
                <a16:creationId xmlns:a16="http://schemas.microsoft.com/office/drawing/2014/main" id="{55AD0FB5-6D10-9901-25B7-A24B03819CB7}"/>
              </a:ext>
            </a:extLst>
          </p:cNvPr>
          <p:cNvSpPr>
            <a:spLocks noGrp="1" noChangeArrowheads="1"/>
          </p:cNvSpPr>
          <p:nvPr>
            <p:ph type="title"/>
          </p:nvPr>
        </p:nvSpPr>
        <p:spPr>
          <a:xfrm>
            <a:off x="867638" y="137284"/>
            <a:ext cx="7416372" cy="657638"/>
          </a:xfrm>
        </p:spPr>
        <p:txBody>
          <a:bodyPr anchor="t">
            <a:normAutofit/>
          </a:bodyPr>
          <a:lstStyle/>
          <a:p>
            <a:pPr eaLnBrk="1" hangingPunct="1"/>
            <a:r>
              <a:rPr lang="en-US" altLang="en-US" sz="3600" b="1" cap="small" dirty="0">
                <a:solidFill>
                  <a:schemeClr val="tx1"/>
                </a:solidFill>
                <a:latin typeface="Abadi" panose="020B0604020104020204" pitchFamily="34" charset="0"/>
              </a:rPr>
              <a:t>Execution of try and catch blocks</a:t>
            </a:r>
          </a:p>
        </p:txBody>
      </p:sp>
      <p:sp>
        <p:nvSpPr>
          <p:cNvPr id="4" name="Rectangle 3">
            <a:extLst>
              <a:ext uri="{FF2B5EF4-FFF2-40B4-BE49-F238E27FC236}">
                <a16:creationId xmlns:a16="http://schemas.microsoft.com/office/drawing/2014/main" id="{145FCE3A-7192-B1DD-CB38-9798CC0231A5}"/>
              </a:ext>
            </a:extLst>
          </p:cNvPr>
          <p:cNvSpPr txBox="1">
            <a:spLocks noChangeArrowheads="1"/>
          </p:cNvSpPr>
          <p:nvPr/>
        </p:nvSpPr>
        <p:spPr bwMode="auto">
          <a:xfrm>
            <a:off x="0" y="789256"/>
            <a:ext cx="9144000" cy="591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eaLnBrk="1" hangingPunct="1">
              <a:lnSpc>
                <a:spcPct val="90000"/>
              </a:lnSpc>
              <a:buFontTx/>
              <a:buNone/>
            </a:pPr>
            <a:r>
              <a:rPr lang="en-US" altLang="en-US" sz="2800" kern="0" dirty="0">
                <a:solidFill>
                  <a:srgbClr val="006600"/>
                </a:solidFill>
                <a:latin typeface="Abadi" panose="020B0604020104020204" pitchFamily="34" charset="0"/>
              </a:rPr>
              <a:t>1) Normal execution:</a:t>
            </a:r>
          </a:p>
          <a:p>
            <a:pPr marL="457200" lvl="1" indent="0" eaLnBrk="1" hangingPunct="1">
              <a:lnSpc>
                <a:spcPct val="90000"/>
              </a:lnSpc>
              <a:buNone/>
            </a:pPr>
            <a:r>
              <a:rPr lang="en-US" altLang="en-US" b="0" kern="0" dirty="0" err="1">
                <a:solidFill>
                  <a:srgbClr val="006600"/>
                </a:solidFill>
                <a:latin typeface="Abadi" panose="020B0604020104020204" pitchFamily="34" charset="0"/>
              </a:rPr>
              <a:t>i</a:t>
            </a:r>
            <a:r>
              <a:rPr lang="en-US" altLang="en-US" b="0" kern="0" dirty="0">
                <a:solidFill>
                  <a:srgbClr val="006600"/>
                </a:solidFill>
                <a:latin typeface="Abadi" panose="020B0604020104020204" pitchFamily="34" charset="0"/>
              </a:rPr>
              <a:t>) try block executes, ii) finally block executes, </a:t>
            </a:r>
            <a:br>
              <a:rPr lang="en-US" altLang="en-US" b="0" kern="0" dirty="0">
                <a:solidFill>
                  <a:srgbClr val="006600"/>
                </a:solidFill>
                <a:latin typeface="Abadi" panose="020B0604020104020204" pitchFamily="34" charset="0"/>
              </a:rPr>
            </a:br>
            <a:r>
              <a:rPr lang="en-US" altLang="en-US" b="0" kern="0" dirty="0">
                <a:solidFill>
                  <a:srgbClr val="006600"/>
                </a:solidFill>
                <a:latin typeface="Abadi" panose="020B0604020104020204" pitchFamily="34" charset="0"/>
              </a:rPr>
              <a:t>iii) statements after the try/catch block execute</a:t>
            </a:r>
          </a:p>
          <a:p>
            <a:pPr marL="0" indent="0" eaLnBrk="1" hangingPunct="1">
              <a:lnSpc>
                <a:spcPct val="90000"/>
              </a:lnSpc>
              <a:buFontTx/>
              <a:buNone/>
            </a:pPr>
            <a:r>
              <a:rPr lang="en-US" altLang="en-US" sz="2800" kern="0" dirty="0">
                <a:latin typeface="Abadi" panose="020B0604020104020204" pitchFamily="34" charset="0"/>
              </a:rPr>
              <a:t>When an error is caught …</a:t>
            </a:r>
          </a:p>
          <a:p>
            <a:pPr marL="0" indent="0" eaLnBrk="1" hangingPunct="1">
              <a:lnSpc>
                <a:spcPct val="90000"/>
              </a:lnSpc>
              <a:buFontTx/>
              <a:buNone/>
            </a:pPr>
            <a:r>
              <a:rPr lang="en-US" altLang="en-US" sz="2800" kern="0" dirty="0">
                <a:solidFill>
                  <a:srgbClr val="006600"/>
                </a:solidFill>
                <a:latin typeface="Abadi" panose="020B0604020104020204" pitchFamily="34" charset="0"/>
              </a:rPr>
              <a:t>2) and catch block doesn’t throw an exception or return:</a:t>
            </a:r>
          </a:p>
          <a:p>
            <a:pPr marL="457200" lvl="1" indent="0" eaLnBrk="1" hangingPunct="1">
              <a:lnSpc>
                <a:spcPct val="90000"/>
              </a:lnSpc>
              <a:buNone/>
            </a:pPr>
            <a:r>
              <a:rPr lang="en-US" altLang="en-US" b="0" kern="0" dirty="0" err="1">
                <a:solidFill>
                  <a:srgbClr val="006600"/>
                </a:solidFill>
                <a:latin typeface="Abadi" panose="020B0604020104020204" pitchFamily="34" charset="0"/>
              </a:rPr>
              <a:t>i</a:t>
            </a:r>
            <a:r>
              <a:rPr lang="en-US" altLang="en-US" b="0" kern="0" dirty="0">
                <a:solidFill>
                  <a:srgbClr val="006600"/>
                </a:solidFill>
                <a:latin typeface="Abadi" panose="020B0604020104020204" pitchFamily="34" charset="0"/>
              </a:rPr>
              <a:t>) try block is interrupted, ii) catch block executes, </a:t>
            </a:r>
            <a:br>
              <a:rPr lang="en-US" altLang="en-US" b="0" kern="0" dirty="0">
                <a:solidFill>
                  <a:srgbClr val="006600"/>
                </a:solidFill>
                <a:latin typeface="Abadi" panose="020B0604020104020204" pitchFamily="34" charset="0"/>
              </a:rPr>
            </a:br>
            <a:r>
              <a:rPr lang="en-US" altLang="en-US" b="0" kern="0" dirty="0">
                <a:solidFill>
                  <a:srgbClr val="006600"/>
                </a:solidFill>
                <a:latin typeface="Abadi" panose="020B0604020104020204" pitchFamily="34" charset="0"/>
              </a:rPr>
              <a:t>iii) finally block executes, iv) other statements execute</a:t>
            </a:r>
          </a:p>
          <a:p>
            <a:pPr marL="0" indent="0" eaLnBrk="1" hangingPunct="1">
              <a:lnSpc>
                <a:spcPct val="90000"/>
              </a:lnSpc>
              <a:buFontTx/>
              <a:buNone/>
            </a:pPr>
            <a:r>
              <a:rPr lang="en-US" altLang="en-US" sz="2800" kern="0" dirty="0">
                <a:solidFill>
                  <a:srgbClr val="C00000"/>
                </a:solidFill>
                <a:latin typeface="Abadi" panose="020B0604020104020204" pitchFamily="34" charset="0"/>
              </a:rPr>
              <a:t>3) and the catch block throws an exception or returns:</a:t>
            </a:r>
          </a:p>
          <a:p>
            <a:pPr marL="457200" lvl="1" indent="0" eaLnBrk="1" hangingPunct="1">
              <a:lnSpc>
                <a:spcPct val="90000"/>
              </a:lnSpc>
              <a:buNone/>
            </a:pPr>
            <a:r>
              <a:rPr lang="en-US" altLang="en-US" b="0" kern="0" dirty="0" err="1">
                <a:solidFill>
                  <a:srgbClr val="C00000"/>
                </a:solidFill>
                <a:latin typeface="Abadi" panose="020B0604020104020204" pitchFamily="34" charset="0"/>
              </a:rPr>
              <a:t>i</a:t>
            </a:r>
            <a:r>
              <a:rPr lang="en-US" altLang="en-US" b="0" kern="0" dirty="0">
                <a:solidFill>
                  <a:srgbClr val="C00000"/>
                </a:solidFill>
                <a:latin typeface="Abadi" panose="020B0604020104020204" pitchFamily="34" charset="0"/>
              </a:rPr>
              <a:t>) try block is interrupted, ii) catch block executes (until throw or return statement), iii) finally block executes</a:t>
            </a:r>
          </a:p>
          <a:p>
            <a:pPr marL="0" indent="0" eaLnBrk="1" hangingPunct="1">
              <a:lnSpc>
                <a:spcPct val="90000"/>
              </a:lnSpc>
              <a:buFontTx/>
              <a:buNone/>
            </a:pPr>
            <a:r>
              <a:rPr lang="en-US" altLang="en-US" sz="2800" kern="0" dirty="0">
                <a:solidFill>
                  <a:srgbClr val="C00000"/>
                </a:solidFill>
                <a:latin typeface="Abadi" panose="020B0604020104020204" pitchFamily="34" charset="0"/>
              </a:rPr>
              <a:t>4) When an error occurs that is not caught:</a:t>
            </a:r>
          </a:p>
          <a:p>
            <a:pPr marL="457200" lvl="1" indent="0" eaLnBrk="1" hangingPunct="1">
              <a:lnSpc>
                <a:spcPct val="90000"/>
              </a:lnSpc>
              <a:buNone/>
            </a:pPr>
            <a:r>
              <a:rPr lang="en-US" altLang="en-US" b="0" kern="0" dirty="0" err="1">
                <a:solidFill>
                  <a:srgbClr val="C00000"/>
                </a:solidFill>
                <a:latin typeface="Abadi" panose="020B0604020104020204" pitchFamily="34" charset="0"/>
              </a:rPr>
              <a:t>i</a:t>
            </a:r>
            <a:r>
              <a:rPr lang="en-US" altLang="en-US" b="0" kern="0" dirty="0">
                <a:solidFill>
                  <a:srgbClr val="C00000"/>
                </a:solidFill>
                <a:latin typeface="Abadi" panose="020B0604020104020204" pitchFamily="34" charset="0"/>
              </a:rPr>
              <a:t>) try block is interrupted, ii) finally block executes</a:t>
            </a:r>
          </a:p>
        </p:txBody>
      </p:sp>
    </p:spTree>
    <p:extLst>
      <p:ext uri="{BB962C8B-B14F-4D97-AF65-F5344CB8AC3E}">
        <p14:creationId xmlns:p14="http://schemas.microsoft.com/office/powerpoint/2010/main" val="8164083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AD77BF86-6636-B96D-922E-5C70B36D5F07}"/>
              </a:ext>
            </a:extLst>
          </p:cNvPr>
          <p:cNvSpPr>
            <a:spLocks noGrp="1" noChangeArrowheads="1"/>
          </p:cNvSpPr>
          <p:nvPr>
            <p:ph type="title"/>
          </p:nvPr>
        </p:nvSpPr>
        <p:spPr>
          <a:xfrm>
            <a:off x="0" y="277091"/>
            <a:ext cx="9116291" cy="1143000"/>
          </a:xfrm>
          <a:noFill/>
        </p:spPr>
        <p:txBody>
          <a:bodyPr/>
          <a:lstStyle/>
          <a:p>
            <a:pPr eaLnBrk="1" hangingPunct="1"/>
            <a:r>
              <a:rPr lang="en-US" altLang="en-US" dirty="0">
                <a:latin typeface="Bahnschrift" panose="020B0502040204020203" pitchFamily="34" charset="0"/>
              </a:rPr>
              <a:t>Replacing Exceptions</a:t>
            </a:r>
          </a:p>
        </p:txBody>
      </p:sp>
      <p:sp>
        <p:nvSpPr>
          <p:cNvPr id="23555" name="Rectangle 5">
            <a:extLst>
              <a:ext uri="{FF2B5EF4-FFF2-40B4-BE49-F238E27FC236}">
                <a16:creationId xmlns:a16="http://schemas.microsoft.com/office/drawing/2014/main" id="{507924F2-6D87-FF24-5A25-B7B45FFFD1FD}"/>
              </a:ext>
            </a:extLst>
          </p:cNvPr>
          <p:cNvSpPr>
            <a:spLocks noGrp="1" noChangeArrowheads="1"/>
          </p:cNvSpPr>
          <p:nvPr>
            <p:ph idx="1"/>
          </p:nvPr>
        </p:nvSpPr>
        <p:spPr>
          <a:xfrm>
            <a:off x="381000" y="1752600"/>
            <a:ext cx="8686800" cy="3657600"/>
          </a:xfrm>
          <a:noFill/>
        </p:spPr>
        <p:txBody>
          <a:bodyPr/>
          <a:lstStyle/>
          <a:p>
            <a:r>
              <a:rPr lang="en-US" sz="4000" dirty="0">
                <a:solidFill>
                  <a:srgbClr val="000000"/>
                </a:solidFill>
                <a:latin typeface="Arial" panose="020B0604020202020204" pitchFamily="34" charset="0"/>
              </a:rPr>
              <a:t>If we can’t handle an exception at our level of the program, we might replace it.</a:t>
            </a:r>
          </a:p>
          <a:p>
            <a:r>
              <a:rPr lang="en-US" sz="4000" dirty="0">
                <a:solidFill>
                  <a:srgbClr val="000000"/>
                </a:solidFill>
                <a:latin typeface="Arial" panose="020B0604020202020204" pitchFamily="34" charset="0"/>
              </a:rPr>
              <a:t>Why? To add information to the original error message.</a:t>
            </a:r>
          </a:p>
        </p:txBody>
      </p:sp>
    </p:spTree>
    <p:extLst>
      <p:ext uri="{BB962C8B-B14F-4D97-AF65-F5344CB8AC3E}">
        <p14:creationId xmlns:p14="http://schemas.microsoft.com/office/powerpoint/2010/main" val="7030844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AD77BF86-6636-B96D-922E-5C70B36D5F07}"/>
              </a:ext>
            </a:extLst>
          </p:cNvPr>
          <p:cNvSpPr>
            <a:spLocks noGrp="1" noChangeArrowheads="1"/>
          </p:cNvSpPr>
          <p:nvPr>
            <p:ph type="title"/>
          </p:nvPr>
        </p:nvSpPr>
        <p:spPr>
          <a:xfrm>
            <a:off x="2057400" y="533400"/>
            <a:ext cx="6629400" cy="1143000"/>
          </a:xfrm>
          <a:noFill/>
        </p:spPr>
        <p:txBody>
          <a:bodyPr/>
          <a:lstStyle/>
          <a:p>
            <a:pPr eaLnBrk="1" hangingPunct="1"/>
            <a:r>
              <a:rPr lang="en-US" altLang="en-US" dirty="0">
                <a:latin typeface="Bahnschrift" panose="020B0502040204020203" pitchFamily="34" charset="0"/>
              </a:rPr>
              <a:t>The Right Way to Replace Exceptions</a:t>
            </a:r>
          </a:p>
        </p:txBody>
      </p:sp>
      <p:sp>
        <p:nvSpPr>
          <p:cNvPr id="23555" name="Rectangle 5">
            <a:extLst>
              <a:ext uri="{FF2B5EF4-FFF2-40B4-BE49-F238E27FC236}">
                <a16:creationId xmlns:a16="http://schemas.microsoft.com/office/drawing/2014/main" id="{507924F2-6D87-FF24-5A25-B7B45FFFD1FD}"/>
              </a:ext>
            </a:extLst>
          </p:cNvPr>
          <p:cNvSpPr>
            <a:spLocks noGrp="1" noChangeArrowheads="1"/>
          </p:cNvSpPr>
          <p:nvPr>
            <p:ph idx="1"/>
          </p:nvPr>
        </p:nvSpPr>
        <p:spPr>
          <a:xfrm>
            <a:off x="457200" y="1447800"/>
            <a:ext cx="8686800" cy="5257800"/>
          </a:xfrm>
          <a:noFill/>
        </p:spPr>
        <p:txBody>
          <a:bodyPr/>
          <a:lstStyle/>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try{</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}catch(Exception e</a:t>
            </a:r>
            <a:r>
              <a:rPr lang="en-US" altLang="en-US" b="1" dirty="0">
                <a:solidFill>
                  <a:srgbClr val="006600"/>
                </a:solidFill>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b="1" dirty="0">
                <a:solidFill>
                  <a:srgbClr val="006600"/>
                </a:solidFill>
                <a:latin typeface="Courier New" panose="02070309020205020404" pitchFamily="49" charset="0"/>
                <a:cs typeface="Courier New" panose="02070309020205020404" pitchFamily="49" charset="0"/>
              </a:rPr>
              <a:t>  throw new </a:t>
            </a:r>
            <a:r>
              <a:rPr lang="en-US" altLang="en-US" b="1" dirty="0" err="1">
                <a:solidFill>
                  <a:srgbClr val="006600"/>
                </a:solidFill>
                <a:latin typeface="Courier New" panose="02070309020205020404" pitchFamily="49" charset="0"/>
                <a:cs typeface="Courier New" panose="02070309020205020404" pitchFamily="49" charset="0"/>
              </a:rPr>
              <a:t>MyException</a:t>
            </a:r>
            <a:r>
              <a:rPr lang="en-US" altLang="en-US" b="1" dirty="0">
                <a:solidFill>
                  <a:srgbClr val="006600"/>
                </a:solidFill>
                <a:latin typeface="Courier New" panose="02070309020205020404" pitchFamily="49" charset="0"/>
                <a:cs typeface="Courier New" panose="02070309020205020404" pitchFamily="49" charset="0"/>
              </a:rPr>
              <a:t>("new error</a:t>
            </a:r>
          </a:p>
          <a:p>
            <a:pPr eaLnBrk="1" hangingPunct="1">
              <a:lnSpc>
                <a:spcPct val="90000"/>
              </a:lnSpc>
              <a:buFont typeface="Wingdings" panose="05000000000000000000" pitchFamily="2" charset="2"/>
              <a:buNone/>
            </a:pPr>
            <a:r>
              <a:rPr lang="en-US" altLang="en-US" b="1" dirty="0">
                <a:solidFill>
                  <a:srgbClr val="006600"/>
                </a:solidFill>
                <a:latin typeface="Courier New" panose="02070309020205020404" pitchFamily="49" charset="0"/>
                <a:cs typeface="Courier New" panose="02070309020205020404" pitchFamily="49" charset="0"/>
              </a:rPr>
              <a:t>  </a:t>
            </a:r>
            <a:r>
              <a:rPr lang="en-US" altLang="en-US" sz="1100" b="1" dirty="0">
                <a:solidFill>
                  <a:srgbClr val="006600"/>
                </a:solidFill>
                <a:latin typeface="Courier New" panose="02070309020205020404" pitchFamily="49" charset="0"/>
                <a:cs typeface="Courier New" panose="02070309020205020404" pitchFamily="49" charset="0"/>
              </a:rPr>
              <a:t> </a:t>
            </a:r>
            <a:r>
              <a:rPr lang="en-US" altLang="en-US" sz="3200" b="1" dirty="0">
                <a:solidFill>
                  <a:srgbClr val="006600"/>
                </a:solidFill>
                <a:latin typeface="Courier New" panose="02070309020205020404" pitchFamily="49" charset="0"/>
                <a:cs typeface="Courier New" panose="02070309020205020404" pitchFamily="49" charset="0"/>
              </a:rPr>
              <a:t> </a:t>
            </a:r>
            <a:r>
              <a:rPr lang="en-US" altLang="en-US" b="1" dirty="0">
                <a:solidFill>
                  <a:srgbClr val="006600"/>
                </a:solidFill>
                <a:latin typeface="Courier New" panose="02070309020205020404" pitchFamily="49" charset="0"/>
                <a:cs typeface="Courier New" panose="02070309020205020404" pitchFamily="49" charset="0"/>
              </a:rPr>
              <a:t> message“ + </a:t>
            </a:r>
            <a:r>
              <a:rPr lang="en-US" altLang="en-US" b="1" dirty="0" err="1">
                <a:solidFill>
                  <a:srgbClr val="006600"/>
                </a:solidFill>
                <a:latin typeface="Courier New" panose="02070309020205020404" pitchFamily="49" charset="0"/>
                <a:cs typeface="Courier New" panose="02070309020205020404" pitchFamily="49" charset="0"/>
              </a:rPr>
              <a:t>e.getMessage</a:t>
            </a:r>
            <a:r>
              <a:rPr lang="en-US" altLang="en-US" b="1" dirty="0">
                <a:solidFill>
                  <a:srgbClr val="006600"/>
                </a:solidFill>
                <a:latin typeface="Courier New" panose="02070309020205020404" pitchFamily="49" charset="0"/>
                <a:cs typeface="Courier New" panose="02070309020205020404" pitchFamily="49" charset="0"/>
              </a:rPr>
              <a:t>()</a:t>
            </a:r>
            <a:r>
              <a:rPr lang="en-US" altLang="en-US" b="1" dirty="0">
                <a:solidFill>
                  <a:srgbClr val="006600"/>
                </a:solidFill>
                <a:highlight>
                  <a:srgbClr val="FFFF00"/>
                </a:highlight>
                <a:latin typeface="Courier New" panose="02070309020205020404" pitchFamily="49" charset="0"/>
                <a:cs typeface="Courier New" panose="02070309020205020404" pitchFamily="49" charset="0"/>
              </a:rPr>
              <a:t>, e)</a:t>
            </a:r>
            <a:r>
              <a:rPr lang="en-US" altLang="en-US" b="1" dirty="0">
                <a:solidFill>
                  <a:srgbClr val="0066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b="1" dirty="0">
                <a:solidFill>
                  <a:srgbClr val="006600"/>
                </a:solidFill>
                <a:latin typeface="Courier New" panose="02070309020205020404" pitchFamily="49" charset="0"/>
                <a:cs typeface="Courier New" panose="02070309020205020404" pitchFamily="49" charset="0"/>
              </a:rPr>
              <a:t> } </a:t>
            </a:r>
          </a:p>
          <a:p>
            <a:pPr eaLnBrk="1" hangingPunct="1">
              <a:lnSpc>
                <a:spcPct val="90000"/>
              </a:lnSpc>
              <a:buFont typeface="Wingdings" panose="05000000000000000000" pitchFamily="2" charset="2"/>
              <a:buNone/>
            </a:pPr>
            <a:endParaRPr lang="en-US" altLang="en-US" sz="1400" dirty="0">
              <a:solidFill>
                <a:srgbClr val="006666"/>
              </a:solidFill>
              <a:latin typeface="Courier New" panose="02070309020205020404" pitchFamily="49" charset="0"/>
              <a:cs typeface="Courier New" panose="02070309020205020404" pitchFamily="49" charset="0"/>
            </a:endParaRPr>
          </a:p>
          <a:p>
            <a:pPr marL="0" indent="0" algn="ctr"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Pass the caught exception object as </a:t>
            </a:r>
            <a:br>
              <a:rPr lang="en-US" altLang="en-US" dirty="0">
                <a:solidFill>
                  <a:srgbClr val="006666"/>
                </a:solidFill>
                <a:latin typeface="Bahnschrift" panose="020B0502040204020203" pitchFamily="34" charset="0"/>
                <a:cs typeface="Courier New" panose="02070309020205020404" pitchFamily="49" charset="0"/>
              </a:rPr>
            </a:br>
            <a:r>
              <a:rPr lang="en-US" altLang="en-US" dirty="0">
                <a:solidFill>
                  <a:srgbClr val="006666"/>
                </a:solidFill>
                <a:latin typeface="Bahnschrift" panose="020B0502040204020203" pitchFamily="34" charset="0"/>
                <a:cs typeface="Courier New" panose="02070309020205020404" pitchFamily="49" charset="0"/>
              </a:rPr>
              <a:t>the "root cause" to the constructor </a:t>
            </a:r>
            <a:br>
              <a:rPr lang="en-US" altLang="en-US" dirty="0">
                <a:solidFill>
                  <a:srgbClr val="006666"/>
                </a:solidFill>
                <a:latin typeface="Bahnschrift" panose="020B0502040204020203" pitchFamily="34" charset="0"/>
                <a:cs typeface="Courier New" panose="02070309020205020404" pitchFamily="49" charset="0"/>
              </a:rPr>
            </a:br>
            <a:r>
              <a:rPr lang="en-US" altLang="en-US" dirty="0">
                <a:solidFill>
                  <a:srgbClr val="006666"/>
                </a:solidFill>
                <a:latin typeface="Bahnschrift" panose="020B0502040204020203" pitchFamily="34" charset="0"/>
                <a:cs typeface="Courier New" panose="02070309020205020404" pitchFamily="49" charset="0"/>
              </a:rPr>
              <a:t>of the new exception</a:t>
            </a:r>
          </a:p>
        </p:txBody>
      </p:sp>
      <p:cxnSp>
        <p:nvCxnSpPr>
          <p:cNvPr id="3" name="Straight Arrow Connector 2">
            <a:extLst>
              <a:ext uri="{FF2B5EF4-FFF2-40B4-BE49-F238E27FC236}">
                <a16:creationId xmlns:a16="http://schemas.microsoft.com/office/drawing/2014/main" id="{D0ADB6E0-BB7E-A8FC-A677-8CF36B4F2AF9}"/>
              </a:ext>
            </a:extLst>
          </p:cNvPr>
          <p:cNvCxnSpPr/>
          <p:nvPr/>
        </p:nvCxnSpPr>
        <p:spPr bwMode="auto">
          <a:xfrm flipV="1">
            <a:off x="6934200" y="4114800"/>
            <a:ext cx="1143000" cy="685800"/>
          </a:xfrm>
          <a:prstGeom prst="straightConnector1">
            <a:avLst/>
          </a:prstGeom>
          <a:solidFill>
            <a:schemeClr val="accent1"/>
          </a:solidFill>
          <a:ln w="38100" cap="flat" cmpd="sng" algn="ctr">
            <a:solidFill>
              <a:srgbClr val="006666"/>
            </a:solidFill>
            <a:prstDash val="solid"/>
            <a:round/>
            <a:headEnd type="none" w="sm" len="sm"/>
            <a:tailEnd type="triangle"/>
          </a:ln>
          <a:effectLst/>
        </p:spPr>
      </p:cxnSp>
    </p:spTree>
    <p:extLst>
      <p:ext uri="{BB962C8B-B14F-4D97-AF65-F5344CB8AC3E}">
        <p14:creationId xmlns:p14="http://schemas.microsoft.com/office/powerpoint/2010/main" val="36399823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A21B1-88AF-8930-1C61-AC6696B40BC8}"/>
            </a:ext>
          </a:extLst>
        </p:cNvPr>
        <p:cNvGrpSpPr/>
        <p:nvPr/>
      </p:nvGrpSpPr>
      <p:grpSpPr>
        <a:xfrm>
          <a:off x="0" y="0"/>
          <a:ext cx="0" cy="0"/>
          <a:chOff x="0" y="0"/>
          <a:chExt cx="0" cy="0"/>
        </a:xfrm>
      </p:grpSpPr>
      <p:sp>
        <p:nvSpPr>
          <p:cNvPr id="23554" name="Rectangle 4">
            <a:extLst>
              <a:ext uri="{FF2B5EF4-FFF2-40B4-BE49-F238E27FC236}">
                <a16:creationId xmlns:a16="http://schemas.microsoft.com/office/drawing/2014/main" id="{6FACB923-7C8E-C70D-976E-AB852430C6FF}"/>
              </a:ext>
            </a:extLst>
          </p:cNvPr>
          <p:cNvSpPr>
            <a:spLocks noGrp="1" noChangeArrowheads="1"/>
          </p:cNvSpPr>
          <p:nvPr>
            <p:ph type="title"/>
          </p:nvPr>
        </p:nvSpPr>
        <p:spPr>
          <a:xfrm>
            <a:off x="2161309" y="457200"/>
            <a:ext cx="6677891" cy="1143000"/>
          </a:xfrm>
          <a:noFill/>
        </p:spPr>
        <p:txBody>
          <a:bodyPr/>
          <a:lstStyle/>
          <a:p>
            <a:pPr eaLnBrk="1" hangingPunct="1"/>
            <a:r>
              <a:rPr lang="en-US" altLang="en-US" dirty="0">
                <a:latin typeface="Bahnschrift" panose="020B0502040204020203" pitchFamily="34" charset="0"/>
              </a:rPr>
              <a:t>The Wrong Way to Replace Exceptions</a:t>
            </a:r>
          </a:p>
        </p:txBody>
      </p:sp>
      <p:sp>
        <p:nvSpPr>
          <p:cNvPr id="23555" name="Rectangle 5">
            <a:extLst>
              <a:ext uri="{FF2B5EF4-FFF2-40B4-BE49-F238E27FC236}">
                <a16:creationId xmlns:a16="http://schemas.microsoft.com/office/drawing/2014/main" id="{99BC8C0E-BDBE-B7D5-649F-031BFB4C67A3}"/>
              </a:ext>
            </a:extLst>
          </p:cNvPr>
          <p:cNvSpPr>
            <a:spLocks noGrp="1" noChangeArrowheads="1"/>
          </p:cNvSpPr>
          <p:nvPr>
            <p:ph idx="1"/>
          </p:nvPr>
        </p:nvSpPr>
        <p:spPr>
          <a:xfrm>
            <a:off x="304800" y="1447800"/>
            <a:ext cx="8839200" cy="5257800"/>
          </a:xfrm>
          <a:noFill/>
        </p:spPr>
        <p:txBody>
          <a:bodyPr/>
          <a:lstStyle/>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try{</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}catch(Exception e)</a:t>
            </a:r>
            <a:r>
              <a:rPr lang="en-US" altLang="en-US" b="1" dirty="0">
                <a:solidFill>
                  <a:srgbClr val="C00000"/>
                </a:solidFill>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b="1" dirty="0">
                <a:solidFill>
                  <a:srgbClr val="C00000"/>
                </a:solidFill>
                <a:latin typeface="Courier New" panose="02070309020205020404" pitchFamily="49" charset="0"/>
                <a:cs typeface="Courier New" panose="02070309020205020404" pitchFamily="49" charset="0"/>
              </a:rPr>
              <a:t>  throw new </a:t>
            </a:r>
            <a:r>
              <a:rPr lang="en-US" altLang="en-US" b="1" dirty="0" err="1">
                <a:solidFill>
                  <a:srgbClr val="C00000"/>
                </a:solidFill>
                <a:latin typeface="Courier New" panose="02070309020205020404" pitchFamily="49" charset="0"/>
                <a:cs typeface="Courier New" panose="02070309020205020404" pitchFamily="49" charset="0"/>
              </a:rPr>
              <a:t>MyException</a:t>
            </a:r>
            <a:r>
              <a:rPr lang="en-US" altLang="en-US" b="1" dirty="0">
                <a:solidFill>
                  <a:srgbClr val="C00000"/>
                </a:solidFill>
                <a:latin typeface="Courier New" panose="02070309020205020404" pitchFamily="49" charset="0"/>
                <a:cs typeface="Courier New" panose="02070309020205020404" pitchFamily="49" charset="0"/>
              </a:rPr>
              <a:t>("new error message" + </a:t>
            </a:r>
            <a:r>
              <a:rPr lang="en-US" altLang="en-US" b="1" dirty="0" err="1">
                <a:solidFill>
                  <a:srgbClr val="C00000"/>
                </a:solidFill>
                <a:latin typeface="Courier New" panose="02070309020205020404" pitchFamily="49" charset="0"/>
                <a:cs typeface="Courier New" panose="02070309020205020404" pitchFamily="49" charset="0"/>
              </a:rPr>
              <a:t>e.getMessage</a:t>
            </a:r>
            <a:r>
              <a:rPr lang="en-US" altLang="en-US" b="1" dirty="0">
                <a:solidFill>
                  <a:srgbClr val="C000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 </a:t>
            </a:r>
            <a:r>
              <a:rPr lang="en-US" altLang="en-US" b="1" dirty="0">
                <a:solidFill>
                  <a:srgbClr val="C00000"/>
                </a:solidFill>
                <a:latin typeface="Courier New" panose="02070309020205020404" pitchFamily="49" charset="0"/>
                <a:cs typeface="Courier New" panose="02070309020205020404" pitchFamily="49" charset="0"/>
              </a:rPr>
              <a:t>}</a:t>
            </a:r>
            <a:r>
              <a:rPr lang="en-US" altLang="en-US" b="1" dirty="0">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endParaRPr lang="en-US" altLang="en-US" sz="1400" dirty="0">
              <a:solidFill>
                <a:srgbClr val="006666"/>
              </a:solidFill>
              <a:latin typeface="Courier New" panose="02070309020205020404" pitchFamily="49" charset="0"/>
              <a:cs typeface="Courier New" panose="02070309020205020404" pitchFamily="49" charset="0"/>
            </a:endParaRPr>
          </a:p>
          <a:p>
            <a:pPr marL="0" indent="0" algn="ctr" eaLnBrk="1" hangingPunct="1">
              <a:lnSpc>
                <a:spcPct val="90000"/>
              </a:lnSpc>
              <a:buFont typeface="Wingdings" panose="05000000000000000000" pitchFamily="2" charset="2"/>
              <a:buNone/>
            </a:pPr>
            <a:r>
              <a:rPr lang="en-US" altLang="en-US" sz="4000" dirty="0">
                <a:solidFill>
                  <a:srgbClr val="006666"/>
                </a:solidFill>
                <a:latin typeface="Bahnschrift" panose="020B0502040204020203" pitchFamily="34" charset="0"/>
                <a:cs typeface="Courier New" panose="02070309020205020404" pitchFamily="49" charset="0"/>
              </a:rPr>
              <a:t>Good: Does add info to error message</a:t>
            </a:r>
          </a:p>
          <a:p>
            <a:pPr marL="0" indent="0" algn="ctr" eaLnBrk="1" hangingPunct="1">
              <a:lnSpc>
                <a:spcPct val="90000"/>
              </a:lnSpc>
              <a:buFont typeface="Wingdings" panose="05000000000000000000" pitchFamily="2" charset="2"/>
              <a:buNone/>
            </a:pPr>
            <a:r>
              <a:rPr lang="en-US" altLang="en-US" sz="4000" dirty="0">
                <a:solidFill>
                  <a:srgbClr val="C00000"/>
                </a:solidFill>
                <a:latin typeface="Bahnschrift" panose="020B0502040204020203" pitchFamily="34" charset="0"/>
                <a:cs typeface="Courier New" panose="02070309020205020404" pitchFamily="49" charset="0"/>
              </a:rPr>
              <a:t>Bad: The stack trace of the original exception is lost.</a:t>
            </a:r>
          </a:p>
        </p:txBody>
      </p:sp>
    </p:spTree>
    <p:extLst>
      <p:ext uri="{BB962C8B-B14F-4D97-AF65-F5344CB8AC3E}">
        <p14:creationId xmlns:p14="http://schemas.microsoft.com/office/powerpoint/2010/main" val="26588817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84C093-F663-F78D-2926-FAD1F5D143C9}"/>
              </a:ext>
            </a:extLst>
          </p:cNvPr>
          <p:cNvSpPr/>
          <p:nvPr/>
        </p:nvSpPr>
        <p:spPr>
          <a:xfrm>
            <a:off x="2140788" y="1219200"/>
            <a:ext cx="4682051" cy="3416320"/>
          </a:xfrm>
          <a:prstGeom prst="rect">
            <a:avLst/>
          </a:prstGeom>
          <a:noFill/>
        </p:spPr>
        <p:txBody>
          <a:bodyPr wrap="none" lIns="91440" tIns="45720" rIns="91440" bIns="45720">
            <a:spAutoFit/>
          </a:bodyPr>
          <a:lstStyle/>
          <a:p>
            <a:pPr algn="ctr"/>
            <a:r>
              <a:rPr lang="en-US" sz="72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Best</a:t>
            </a:r>
          </a:p>
          <a:p>
            <a:pPr algn="ctr"/>
            <a:r>
              <a:rPr lang="en-US" sz="72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and Worst</a:t>
            </a:r>
          </a:p>
          <a:p>
            <a:pPr algn="ctr"/>
            <a:r>
              <a:rPr lang="en-US" sz="72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Practices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a:extLst>
              <a:ext uri="{FF2B5EF4-FFF2-40B4-BE49-F238E27FC236}">
                <a16:creationId xmlns:a16="http://schemas.microsoft.com/office/drawing/2014/main" id="{BA5B7ECE-ABCE-4AFC-B2B2-79289A30159C}"/>
              </a:ext>
            </a:extLst>
          </p:cNvPr>
          <p:cNvSpPr txBox="1">
            <a:spLocks noChangeArrowheads="1"/>
          </p:cNvSpPr>
          <p:nvPr/>
        </p:nvSpPr>
        <p:spPr bwMode="auto">
          <a:xfrm>
            <a:off x="381000" y="152400"/>
            <a:ext cx="73152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try{</a:t>
            </a:r>
          </a:p>
          <a:p>
            <a:pPr>
              <a:spcBef>
                <a:spcPct val="0"/>
              </a:spcBef>
              <a:buFontTx/>
              <a:buNone/>
            </a:pPr>
            <a:r>
              <a:rPr lang="en-US" altLang="en-US" sz="2400" dirty="0">
                <a:latin typeface="Arial" panose="020B0604020202020204" pitchFamily="34" charset="0"/>
              </a:rPr>
              <a:t>    //code would go here</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C00000"/>
                </a:solidFill>
                <a:latin typeface="Arial" panose="020B0604020202020204" pitchFamily="34" charset="0"/>
              </a:rPr>
              <a:t>NullPointerException</a:t>
            </a:r>
            <a:r>
              <a:rPr lang="en-US" altLang="en-US" sz="2400" dirty="0">
                <a:latin typeface="Arial" panose="020B0604020202020204" pitchFamily="34" charset="0"/>
              </a:rPr>
              <a:t> e){</a:t>
            </a:r>
          </a:p>
          <a:p>
            <a:pPr>
              <a:spcBef>
                <a:spcPct val="0"/>
              </a:spcBef>
              <a:buFontTx/>
              <a:buNone/>
            </a:pPr>
            <a:r>
              <a:rPr lang="en-US" altLang="en-US" sz="2400" dirty="0">
                <a:latin typeface="Arial" panose="020B0604020202020204" pitchFamily="34" charset="0"/>
              </a:rPr>
              <a:t>	</a:t>
            </a:r>
            <a:r>
              <a:rPr lang="en-US" altLang="en-US" sz="2400" dirty="0">
                <a:solidFill>
                  <a:srgbClr val="C00000"/>
                </a:solidFill>
                <a:latin typeface="Arial" panose="020B0604020202020204" pitchFamily="34" charset="0"/>
              </a:rPr>
              <a:t> // Code to handle the lack of a constructor</a:t>
            </a:r>
          </a:p>
          <a:p>
            <a:pPr>
              <a:spcBef>
                <a:spcPct val="0"/>
              </a:spcBef>
              <a:buFontTx/>
              <a:buNone/>
            </a:pPr>
            <a:r>
              <a:rPr lang="en-US" altLang="en-US" sz="2400" dirty="0">
                <a:solidFill>
                  <a:srgbClr val="C00000"/>
                </a:solidFill>
                <a:latin typeface="Arial" panose="020B0604020202020204" pitchFamily="34" charset="0"/>
              </a:rPr>
              <a:t>            // being called.</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C00000"/>
                </a:solidFill>
                <a:latin typeface="Arial" panose="020B0604020202020204" pitchFamily="34" charset="0"/>
              </a:rPr>
              <a:t>ClassCastException</a:t>
            </a:r>
            <a:r>
              <a:rPr lang="en-US" altLang="en-US" sz="2400" dirty="0">
                <a:latin typeface="Arial" panose="020B0604020202020204" pitchFamily="34" charset="0"/>
              </a:rPr>
              <a:t> e){</a:t>
            </a:r>
          </a:p>
          <a:p>
            <a:pPr>
              <a:spcBef>
                <a:spcPct val="0"/>
              </a:spcBef>
              <a:buFontTx/>
              <a:buNone/>
            </a:pPr>
            <a:r>
              <a:rPr lang="en-US" altLang="en-US" sz="2400" dirty="0">
                <a:latin typeface="Arial" panose="020B0604020202020204" pitchFamily="34" charset="0"/>
              </a:rPr>
              <a:t>	</a:t>
            </a:r>
            <a:r>
              <a:rPr lang="en-US" altLang="en-US" sz="2400" dirty="0">
                <a:solidFill>
                  <a:srgbClr val="C00000"/>
                </a:solidFill>
                <a:latin typeface="Arial" panose="020B0604020202020204" pitchFamily="34" charset="0"/>
              </a:rPr>
              <a:t>// Code to handle the fact that your object</a:t>
            </a:r>
          </a:p>
          <a:p>
            <a:pPr>
              <a:spcBef>
                <a:spcPct val="0"/>
              </a:spcBef>
              <a:buFontTx/>
              <a:buNone/>
            </a:pPr>
            <a:r>
              <a:rPr lang="en-US" altLang="en-US" sz="2400" dirty="0">
                <a:solidFill>
                  <a:srgbClr val="C00000"/>
                </a:solidFill>
                <a:latin typeface="Arial" panose="020B0604020202020204" pitchFamily="34" charset="0"/>
              </a:rPr>
              <a:t>           // is the wrong type.</a:t>
            </a:r>
          </a:p>
          <a:p>
            <a:pPr>
              <a:spcBef>
                <a:spcPct val="0"/>
              </a:spcBef>
              <a:buFontTx/>
              <a:buNone/>
            </a:pPr>
            <a:r>
              <a:rPr lang="en-US" altLang="en-US" sz="2400" dirty="0">
                <a:latin typeface="Arial" panose="020B0604020202020204" pitchFamily="34" charset="0"/>
              </a:rPr>
              <a:t>finally{</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System.out.println</a:t>
            </a:r>
            <a:r>
              <a:rPr lang="en-US" altLang="en-US" sz="2400" dirty="0">
                <a:latin typeface="Arial" panose="020B0604020202020204" pitchFamily="34" charset="0"/>
              </a:rPr>
              <a:t>("this always happens");</a:t>
            </a:r>
          </a:p>
          <a:p>
            <a:pPr>
              <a:spcBef>
                <a:spcPct val="0"/>
              </a:spcBef>
              <a:buFontTx/>
              <a:buNone/>
            </a:pPr>
            <a:r>
              <a:rPr lang="en-US" altLang="en-US" sz="2400" dirty="0">
                <a:latin typeface="Arial" panose="020B0604020202020204" pitchFamily="34" charset="0"/>
              </a:rPr>
              <a:t>}		</a:t>
            </a:r>
          </a:p>
        </p:txBody>
      </p:sp>
      <p:sp>
        <p:nvSpPr>
          <p:cNvPr id="3" name="TextBox 2">
            <a:extLst>
              <a:ext uri="{FF2B5EF4-FFF2-40B4-BE49-F238E27FC236}">
                <a16:creationId xmlns:a16="http://schemas.microsoft.com/office/drawing/2014/main" id="{2E2677C8-E17B-E462-36B6-7753FFABD186}"/>
              </a:ext>
            </a:extLst>
          </p:cNvPr>
          <p:cNvSpPr txBox="1"/>
          <p:nvPr/>
        </p:nvSpPr>
        <p:spPr>
          <a:xfrm>
            <a:off x="381000" y="5303569"/>
            <a:ext cx="8534400" cy="1292662"/>
          </a:xfrm>
          <a:prstGeom prst="rect">
            <a:avLst/>
          </a:prstGeom>
          <a:noFill/>
        </p:spPr>
        <p:txBody>
          <a:bodyPr wrap="square">
            <a:spAutoFit/>
          </a:bodyPr>
          <a:lstStyle/>
          <a:p>
            <a:r>
              <a:rPr lang="en-US" altLang="en-US" sz="2600" dirty="0">
                <a:solidFill>
                  <a:schemeClr val="accent6">
                    <a:lumMod val="75000"/>
                  </a:schemeClr>
                </a:solidFill>
              </a:rPr>
              <a:t>Runtime exceptions generally shouldn’t be caught. They represent programming errors and should be fixed when you’re writing the code.</a:t>
            </a:r>
          </a:p>
        </p:txBody>
      </p:sp>
      <p:sp>
        <p:nvSpPr>
          <p:cNvPr id="4" name="Freeform: Shape 3">
            <a:extLst>
              <a:ext uri="{FF2B5EF4-FFF2-40B4-BE49-F238E27FC236}">
                <a16:creationId xmlns:a16="http://schemas.microsoft.com/office/drawing/2014/main" id="{804A00DB-8FD5-00B0-9AA0-8D7726BA0B2C}"/>
              </a:ext>
            </a:extLst>
          </p:cNvPr>
          <p:cNvSpPr/>
          <p:nvPr/>
        </p:nvSpPr>
        <p:spPr bwMode="auto">
          <a:xfrm>
            <a:off x="4168588" y="820271"/>
            <a:ext cx="766483" cy="470647"/>
          </a:xfrm>
          <a:custGeom>
            <a:avLst/>
            <a:gdLst>
              <a:gd name="connsiteX0" fmla="*/ 766483 w 766483"/>
              <a:gd name="connsiteY0" fmla="*/ 0 h 470647"/>
              <a:gd name="connsiteX1" fmla="*/ 430306 w 766483"/>
              <a:gd name="connsiteY1" fmla="*/ 228600 h 470647"/>
              <a:gd name="connsiteX2" fmla="*/ 0 w 766483"/>
              <a:gd name="connsiteY2" fmla="*/ 470647 h 470647"/>
            </a:gdLst>
            <a:ahLst/>
            <a:cxnLst>
              <a:cxn ang="0">
                <a:pos x="connsiteX0" y="connsiteY0"/>
              </a:cxn>
              <a:cxn ang="0">
                <a:pos x="connsiteX1" y="connsiteY1"/>
              </a:cxn>
              <a:cxn ang="0">
                <a:pos x="connsiteX2" y="connsiteY2"/>
              </a:cxn>
            </a:cxnLst>
            <a:rect l="l" t="t" r="r" b="b"/>
            <a:pathLst>
              <a:path w="766483" h="470647">
                <a:moveTo>
                  <a:pt x="766483" y="0"/>
                </a:moveTo>
                <a:cubicBezTo>
                  <a:pt x="662268" y="75079"/>
                  <a:pt x="558053" y="150159"/>
                  <a:pt x="430306" y="228600"/>
                </a:cubicBezTo>
                <a:cubicBezTo>
                  <a:pt x="302559" y="307041"/>
                  <a:pt x="151279" y="388844"/>
                  <a:pt x="0" y="470647"/>
                </a:cubicBezTo>
              </a:path>
            </a:pathLst>
          </a:custGeom>
          <a:noFill/>
          <a:ln w="22225" cap="flat" cmpd="sng" algn="ctr">
            <a:solidFill>
              <a:srgbClr val="C00000"/>
            </a:solidFill>
            <a:prstDash val="solid"/>
            <a:round/>
            <a:headEnd type="none" w="sm" len="sm"/>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charset="0"/>
            </a:endParaRPr>
          </a:p>
        </p:txBody>
      </p:sp>
      <p:sp>
        <p:nvSpPr>
          <p:cNvPr id="5" name="Freeform: Shape 4">
            <a:extLst>
              <a:ext uri="{FF2B5EF4-FFF2-40B4-BE49-F238E27FC236}">
                <a16:creationId xmlns:a16="http://schemas.microsoft.com/office/drawing/2014/main" id="{78B1B4CA-49D7-0458-20E6-267D24E7B50D}"/>
              </a:ext>
            </a:extLst>
          </p:cNvPr>
          <p:cNvSpPr/>
          <p:nvPr/>
        </p:nvSpPr>
        <p:spPr bwMode="auto">
          <a:xfrm>
            <a:off x="4034118" y="748755"/>
            <a:ext cx="3908534" cy="2034785"/>
          </a:xfrm>
          <a:custGeom>
            <a:avLst/>
            <a:gdLst>
              <a:gd name="connsiteX0" fmla="*/ 3818964 w 3916985"/>
              <a:gd name="connsiteY0" fmla="*/ 0 h 1775012"/>
              <a:gd name="connsiteX1" fmla="*/ 3899647 w 3916985"/>
              <a:gd name="connsiteY1" fmla="*/ 806824 h 1775012"/>
              <a:gd name="connsiteX2" fmla="*/ 3523129 w 3916985"/>
              <a:gd name="connsiteY2" fmla="*/ 1479177 h 1775012"/>
              <a:gd name="connsiteX3" fmla="*/ 2554941 w 3916985"/>
              <a:gd name="connsiteY3" fmla="*/ 1573306 h 1775012"/>
              <a:gd name="connsiteX4" fmla="*/ 1021976 w 3916985"/>
              <a:gd name="connsiteY4" fmla="*/ 1465730 h 1775012"/>
              <a:gd name="connsiteX5" fmla="*/ 0 w 3916985"/>
              <a:gd name="connsiteY5" fmla="*/ 1775012 h 1775012"/>
              <a:gd name="connsiteX0" fmla="*/ 3767010 w 3908534"/>
              <a:gd name="connsiteY0" fmla="*/ 0 h 2034785"/>
              <a:gd name="connsiteX1" fmla="*/ 3899647 w 3908534"/>
              <a:gd name="connsiteY1" fmla="*/ 1066597 h 2034785"/>
              <a:gd name="connsiteX2" fmla="*/ 3523129 w 3908534"/>
              <a:gd name="connsiteY2" fmla="*/ 1738950 h 2034785"/>
              <a:gd name="connsiteX3" fmla="*/ 2554941 w 3908534"/>
              <a:gd name="connsiteY3" fmla="*/ 1833079 h 2034785"/>
              <a:gd name="connsiteX4" fmla="*/ 1021976 w 3908534"/>
              <a:gd name="connsiteY4" fmla="*/ 1725503 h 2034785"/>
              <a:gd name="connsiteX5" fmla="*/ 0 w 3908534"/>
              <a:gd name="connsiteY5" fmla="*/ 2034785 h 203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8534" h="2034785">
                <a:moveTo>
                  <a:pt x="3767010" y="0"/>
                </a:moveTo>
                <a:cubicBezTo>
                  <a:pt x="3832004" y="280147"/>
                  <a:pt x="3940294" y="776772"/>
                  <a:pt x="3899647" y="1066597"/>
                </a:cubicBezTo>
                <a:cubicBezTo>
                  <a:pt x="3859000" y="1356422"/>
                  <a:pt x="3747247" y="1611203"/>
                  <a:pt x="3523129" y="1738950"/>
                </a:cubicBezTo>
                <a:cubicBezTo>
                  <a:pt x="3299011" y="1866697"/>
                  <a:pt x="2971800" y="1835320"/>
                  <a:pt x="2554941" y="1833079"/>
                </a:cubicBezTo>
                <a:cubicBezTo>
                  <a:pt x="2138082" y="1830838"/>
                  <a:pt x="1447799" y="1691885"/>
                  <a:pt x="1021976" y="1725503"/>
                </a:cubicBezTo>
                <a:cubicBezTo>
                  <a:pt x="596152" y="1759121"/>
                  <a:pt x="298076" y="1896953"/>
                  <a:pt x="0" y="2034785"/>
                </a:cubicBezTo>
              </a:path>
            </a:pathLst>
          </a:custGeom>
          <a:noFill/>
          <a:ln w="22225" cap="flat" cmpd="sng" algn="ctr">
            <a:solidFill>
              <a:srgbClr val="C00000"/>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C284C093-F663-F78D-2926-FAD1F5D143C9}"/>
              </a:ext>
            </a:extLst>
          </p:cNvPr>
          <p:cNvSpPr/>
          <p:nvPr/>
        </p:nvSpPr>
        <p:spPr>
          <a:xfrm>
            <a:off x="4029142" y="85199"/>
            <a:ext cx="4857420" cy="769441"/>
          </a:xfrm>
          <a:prstGeom prst="rect">
            <a:avLst/>
          </a:prstGeom>
          <a:noFill/>
        </p:spPr>
        <p:txBody>
          <a:bodyPr wrap="none" lIns="91440" tIns="45720" rIns="91440" bIns="45720">
            <a:spAutoFit/>
          </a:bodyPr>
          <a:lstStyle/>
          <a:p>
            <a:pPr algn="ctr"/>
            <a:r>
              <a:rPr lang="en-US" sz="4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Don’t catch RTEs</a:t>
            </a:r>
          </a:p>
        </p:txBody>
      </p:sp>
    </p:spTree>
    <p:extLst>
      <p:ext uri="{BB962C8B-B14F-4D97-AF65-F5344CB8AC3E}">
        <p14:creationId xmlns:p14="http://schemas.microsoft.com/office/powerpoint/2010/main" val="34414968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a:extLst>
              <a:ext uri="{FF2B5EF4-FFF2-40B4-BE49-F238E27FC236}">
                <a16:creationId xmlns:a16="http://schemas.microsoft.com/office/drawing/2014/main" id="{BA5B7ECE-ABCE-4AFC-B2B2-79289A30159C}"/>
              </a:ext>
            </a:extLst>
          </p:cNvPr>
          <p:cNvSpPr txBox="1">
            <a:spLocks noChangeArrowheads="1"/>
          </p:cNvSpPr>
          <p:nvPr/>
        </p:nvSpPr>
        <p:spPr bwMode="auto">
          <a:xfrm>
            <a:off x="1295400" y="1828800"/>
            <a:ext cx="7848600" cy="3334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try{ </a:t>
            </a:r>
          </a:p>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   int i=0;</a:t>
            </a:r>
          </a:p>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   while (true) {</a:t>
            </a:r>
          </a:p>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      range[i++].climb(); }</a:t>
            </a:r>
          </a:p>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}catch(</a:t>
            </a:r>
            <a:r>
              <a:rPr lang="en-US" altLang="en-US" sz="2800" dirty="0" err="1">
                <a:solidFill>
                  <a:srgbClr val="C00000"/>
                </a:solidFill>
                <a:latin typeface="Courier New" panose="02070309020205020404" pitchFamily="49" charset="0"/>
                <a:cs typeface="Courier New" panose="02070309020205020404" pitchFamily="49" charset="0"/>
              </a:rPr>
              <a:t>IndexOutOfBoundsException</a:t>
            </a:r>
            <a:r>
              <a:rPr lang="en-US" altLang="en-US" sz="2800" dirty="0">
                <a:solidFill>
                  <a:srgbClr val="C00000"/>
                </a:solidFill>
                <a:latin typeface="Courier New" panose="02070309020205020404" pitchFamily="49" charset="0"/>
                <a:cs typeface="Courier New" panose="02070309020205020404" pitchFamily="49" charset="0"/>
              </a:rPr>
              <a:t> e){ </a:t>
            </a:r>
          </a:p>
          <a:p>
            <a:pPr eaLnBrk="1" hangingPunct="1">
              <a:lnSpc>
                <a:spcPct val="90000"/>
              </a:lnSpc>
              <a:buFont typeface="Wingdings" panose="05000000000000000000" pitchFamily="2" charset="2"/>
              <a:buNone/>
            </a:pPr>
            <a:endParaRPr lang="en-US" altLang="en-US" sz="2800" dirty="0">
              <a:solidFill>
                <a:srgbClr val="C00000"/>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 </a:t>
            </a:r>
          </a:p>
        </p:txBody>
      </p:sp>
      <p:sp>
        <p:nvSpPr>
          <p:cNvPr id="2" name="TextBox 1">
            <a:extLst>
              <a:ext uri="{FF2B5EF4-FFF2-40B4-BE49-F238E27FC236}">
                <a16:creationId xmlns:a16="http://schemas.microsoft.com/office/drawing/2014/main" id="{F8699190-B5F5-297B-68DC-50667D6B3484}"/>
              </a:ext>
            </a:extLst>
          </p:cNvPr>
          <p:cNvSpPr txBox="1"/>
          <p:nvPr/>
        </p:nvSpPr>
        <p:spPr>
          <a:xfrm>
            <a:off x="990600" y="184232"/>
            <a:ext cx="6746380" cy="1323439"/>
          </a:xfrm>
          <a:prstGeom prst="rect">
            <a:avLst/>
          </a:prstGeom>
          <a:noFill/>
        </p:spPr>
        <p:txBody>
          <a:bodyPr wrap="square" rtlCol="0">
            <a:spAutoFit/>
          </a:bodyPr>
          <a:lstStyle/>
          <a:p>
            <a:pPr algn="ctr"/>
            <a:r>
              <a:rPr lang="en-US" sz="4000" dirty="0"/>
              <a:t>Don’t use exceptions for normal flow control!</a:t>
            </a:r>
          </a:p>
        </p:txBody>
      </p:sp>
      <p:sp>
        <p:nvSpPr>
          <p:cNvPr id="4" name="TextBox 3">
            <a:extLst>
              <a:ext uri="{FF2B5EF4-FFF2-40B4-BE49-F238E27FC236}">
                <a16:creationId xmlns:a16="http://schemas.microsoft.com/office/drawing/2014/main" id="{7DAFDE2D-8CC6-CFF4-B986-0BEF4D4DDAE8}"/>
              </a:ext>
            </a:extLst>
          </p:cNvPr>
          <p:cNvSpPr txBox="1"/>
          <p:nvPr/>
        </p:nvSpPr>
        <p:spPr>
          <a:xfrm>
            <a:off x="1219200" y="5407267"/>
            <a:ext cx="7924800" cy="1266501"/>
          </a:xfrm>
          <a:prstGeom prst="rect">
            <a:avLst/>
          </a:prstGeom>
          <a:noFill/>
        </p:spPr>
        <p:txBody>
          <a:bodyPr wrap="square">
            <a:spAutoFit/>
          </a:bodyPr>
          <a:lstStyle/>
          <a:p>
            <a:pPr eaLnBrk="1" hangingPunct="1">
              <a:lnSpc>
                <a:spcPct val="90000"/>
              </a:lnSpc>
              <a:buFont typeface="Wingdings" panose="05000000000000000000" pitchFamily="2" charset="2"/>
              <a:buNone/>
            </a:pPr>
            <a:r>
              <a:rPr lang="en-US" altLang="en-US" sz="2800" dirty="0">
                <a:solidFill>
                  <a:srgbClr val="006600"/>
                </a:solidFill>
                <a:latin typeface="Courier New" panose="02070309020205020404" pitchFamily="49" charset="0"/>
                <a:cs typeface="Courier New" panose="02070309020205020404" pitchFamily="49" charset="0"/>
              </a:rPr>
              <a:t>for (int </a:t>
            </a:r>
            <a:r>
              <a:rPr lang="en-US" altLang="en-US" sz="2800" dirty="0" err="1">
                <a:solidFill>
                  <a:srgbClr val="006600"/>
                </a:solidFill>
                <a:latin typeface="Courier New" panose="02070309020205020404" pitchFamily="49" charset="0"/>
                <a:cs typeface="Courier New" panose="02070309020205020404" pitchFamily="49" charset="0"/>
              </a:rPr>
              <a:t>i</a:t>
            </a:r>
            <a:r>
              <a:rPr lang="en-US" altLang="en-US" sz="2800" dirty="0">
                <a:solidFill>
                  <a:srgbClr val="006600"/>
                </a:solidFill>
                <a:latin typeface="Courier New" panose="02070309020205020404" pitchFamily="49" charset="0"/>
                <a:cs typeface="Courier New" panose="02070309020205020404" pitchFamily="49" charset="0"/>
              </a:rPr>
              <a:t>=0; </a:t>
            </a:r>
            <a:r>
              <a:rPr lang="en-US" altLang="en-US" sz="2800" dirty="0" err="1">
                <a:solidFill>
                  <a:srgbClr val="006600"/>
                </a:solidFill>
                <a:latin typeface="Courier New" panose="02070309020205020404" pitchFamily="49" charset="0"/>
                <a:cs typeface="Courier New" panose="02070309020205020404" pitchFamily="49" charset="0"/>
              </a:rPr>
              <a:t>i</a:t>
            </a:r>
            <a:r>
              <a:rPr lang="en-US" altLang="en-US" sz="2800" dirty="0">
                <a:solidFill>
                  <a:srgbClr val="006600"/>
                </a:solidFill>
                <a:latin typeface="Courier New" panose="02070309020205020404" pitchFamily="49" charset="0"/>
                <a:cs typeface="Courier New" panose="02070309020205020404" pitchFamily="49" charset="0"/>
              </a:rPr>
              <a:t>&lt;</a:t>
            </a:r>
            <a:r>
              <a:rPr lang="en-US" altLang="en-US" sz="2800" dirty="0" err="1">
                <a:solidFill>
                  <a:srgbClr val="006600"/>
                </a:solidFill>
                <a:latin typeface="Courier New" panose="02070309020205020404" pitchFamily="49" charset="0"/>
                <a:cs typeface="Courier New" panose="02070309020205020404" pitchFamily="49" charset="0"/>
              </a:rPr>
              <a:t>range.length</a:t>
            </a:r>
            <a:r>
              <a:rPr lang="en-US" altLang="en-US" sz="2800" dirty="0">
                <a:solidFill>
                  <a:srgbClr val="006600"/>
                </a:solidFill>
                <a:latin typeface="Courier New" panose="02070309020205020404" pitchFamily="49" charset="0"/>
                <a:cs typeface="Courier New" panose="02070309020205020404" pitchFamily="49" charset="0"/>
              </a:rPr>
              <a:t>; </a:t>
            </a:r>
            <a:r>
              <a:rPr lang="en-US" altLang="en-US" sz="2800" dirty="0" err="1">
                <a:solidFill>
                  <a:srgbClr val="006600"/>
                </a:solidFill>
                <a:latin typeface="Courier New" panose="02070309020205020404" pitchFamily="49" charset="0"/>
                <a:cs typeface="Courier New" panose="02070309020205020404" pitchFamily="49" charset="0"/>
              </a:rPr>
              <a:t>i</a:t>
            </a:r>
            <a:r>
              <a:rPr lang="en-US" altLang="en-US" sz="2800" dirty="0">
                <a:solidFill>
                  <a:srgbClr val="0066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sz="2800" dirty="0">
                <a:solidFill>
                  <a:srgbClr val="006600"/>
                </a:solidFill>
                <a:latin typeface="Courier New" panose="02070309020205020404" pitchFamily="49" charset="0"/>
                <a:cs typeface="Courier New" panose="02070309020205020404" pitchFamily="49" charset="0"/>
              </a:rPr>
              <a:t>   range[</a:t>
            </a:r>
            <a:r>
              <a:rPr lang="en-US" altLang="en-US" sz="2800" dirty="0" err="1">
                <a:solidFill>
                  <a:srgbClr val="006600"/>
                </a:solidFill>
                <a:latin typeface="Courier New" panose="02070309020205020404" pitchFamily="49" charset="0"/>
                <a:cs typeface="Courier New" panose="02070309020205020404" pitchFamily="49" charset="0"/>
              </a:rPr>
              <a:t>i</a:t>
            </a:r>
            <a:r>
              <a:rPr lang="en-US" altLang="en-US" sz="2800" dirty="0">
                <a:solidFill>
                  <a:srgbClr val="006600"/>
                </a:solidFill>
                <a:latin typeface="Courier New" panose="02070309020205020404" pitchFamily="49" charset="0"/>
                <a:cs typeface="Courier New" panose="02070309020205020404" pitchFamily="49" charset="0"/>
              </a:rPr>
              <a:t>].climb();</a:t>
            </a:r>
          </a:p>
          <a:p>
            <a:pPr eaLnBrk="1" hangingPunct="1">
              <a:lnSpc>
                <a:spcPct val="90000"/>
              </a:lnSpc>
              <a:buFont typeface="Wingdings" panose="05000000000000000000" pitchFamily="2" charset="2"/>
              <a:buNone/>
            </a:pPr>
            <a:r>
              <a:rPr lang="en-US" altLang="en-US" sz="2800" dirty="0">
                <a:solidFill>
                  <a:srgbClr val="006600"/>
                </a:solidFill>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E46B9609-1D18-224D-17A5-BF4969FC4D88}"/>
              </a:ext>
            </a:extLst>
          </p:cNvPr>
          <p:cNvSpPr txBox="1"/>
          <p:nvPr/>
        </p:nvSpPr>
        <p:spPr>
          <a:xfrm>
            <a:off x="-114300" y="2438400"/>
            <a:ext cx="1447800" cy="707886"/>
          </a:xfrm>
          <a:prstGeom prst="rect">
            <a:avLst/>
          </a:prstGeom>
          <a:noFill/>
        </p:spPr>
        <p:txBody>
          <a:bodyPr wrap="square" rtlCol="0">
            <a:spAutoFit/>
          </a:bodyPr>
          <a:lstStyle/>
          <a:p>
            <a:pPr algn="ctr"/>
            <a:r>
              <a:rPr lang="en-US" sz="4000" dirty="0">
                <a:solidFill>
                  <a:srgbClr val="FF0000"/>
                </a:solidFill>
              </a:rPr>
              <a:t>No!</a:t>
            </a:r>
          </a:p>
        </p:txBody>
      </p:sp>
      <p:sp>
        <p:nvSpPr>
          <p:cNvPr id="5" name="TextBox 4">
            <a:extLst>
              <a:ext uri="{FF2B5EF4-FFF2-40B4-BE49-F238E27FC236}">
                <a16:creationId xmlns:a16="http://schemas.microsoft.com/office/drawing/2014/main" id="{E96F477F-024A-EEDE-8198-D38A3D5E98B4}"/>
              </a:ext>
            </a:extLst>
          </p:cNvPr>
          <p:cNvSpPr txBox="1"/>
          <p:nvPr/>
        </p:nvSpPr>
        <p:spPr>
          <a:xfrm>
            <a:off x="-114300" y="5172959"/>
            <a:ext cx="1447800" cy="646331"/>
          </a:xfrm>
          <a:prstGeom prst="rect">
            <a:avLst/>
          </a:prstGeom>
          <a:noFill/>
        </p:spPr>
        <p:txBody>
          <a:bodyPr wrap="square" rtlCol="0">
            <a:spAutoFit/>
          </a:bodyPr>
          <a:lstStyle/>
          <a:p>
            <a:pPr algn="ctr"/>
            <a:r>
              <a:rPr lang="en-US" sz="3600" dirty="0">
                <a:solidFill>
                  <a:srgbClr val="006600"/>
                </a:solidFill>
              </a:rPr>
              <a:t>Yes!</a:t>
            </a:r>
          </a:p>
        </p:txBody>
      </p:sp>
    </p:spTree>
    <p:extLst>
      <p:ext uri="{BB962C8B-B14F-4D97-AF65-F5344CB8AC3E}">
        <p14:creationId xmlns:p14="http://schemas.microsoft.com/office/powerpoint/2010/main" val="13401635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a:extLst>
              <a:ext uri="{FF2B5EF4-FFF2-40B4-BE49-F238E27FC236}">
                <a16:creationId xmlns:a16="http://schemas.microsoft.com/office/drawing/2014/main" id="{BA5B7ECE-ABCE-4AFC-B2B2-79289A30159C}"/>
              </a:ext>
            </a:extLst>
          </p:cNvPr>
          <p:cNvSpPr txBox="1">
            <a:spLocks noChangeArrowheads="1"/>
          </p:cNvSpPr>
          <p:nvPr/>
        </p:nvSpPr>
        <p:spPr bwMode="auto">
          <a:xfrm>
            <a:off x="1040130" y="1685041"/>
            <a:ext cx="8103870" cy="246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try{</a:t>
            </a:r>
          </a:p>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   Iterator&lt;Foo&gt; i = </a:t>
            </a:r>
            <a:r>
              <a:rPr lang="en-US" altLang="en-US" sz="2400" dirty="0" err="1">
                <a:solidFill>
                  <a:srgbClr val="C00000"/>
                </a:solidFill>
                <a:latin typeface="Courier New" panose="02070309020205020404" pitchFamily="49" charset="0"/>
                <a:cs typeface="Courier New" panose="02070309020205020404" pitchFamily="49" charset="0"/>
              </a:rPr>
              <a:t>collection.iterator</a:t>
            </a:r>
            <a:r>
              <a:rPr lang="en-US" altLang="en-US" sz="2400" dirty="0">
                <a:solidFill>
                  <a:srgbClr val="C00000"/>
                </a:solidFill>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   while (true) {</a:t>
            </a:r>
          </a:p>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       Foo </a:t>
            </a:r>
            <a:r>
              <a:rPr lang="en-US" altLang="en-US" sz="2400" dirty="0" err="1">
                <a:solidFill>
                  <a:srgbClr val="C00000"/>
                </a:solidFill>
                <a:latin typeface="Courier New" panose="02070309020205020404" pitchFamily="49" charset="0"/>
                <a:cs typeface="Courier New" panose="02070309020205020404" pitchFamily="49" charset="0"/>
              </a:rPr>
              <a:t>foo</a:t>
            </a:r>
            <a:r>
              <a:rPr lang="en-US" altLang="en-US" sz="2400" dirty="0">
                <a:solidFill>
                  <a:srgbClr val="C00000"/>
                </a:solidFill>
                <a:latin typeface="Courier New" panose="02070309020205020404" pitchFamily="49" charset="0"/>
                <a:cs typeface="Courier New" panose="02070309020205020404" pitchFamily="49" charset="0"/>
              </a:rPr>
              <a:t> = </a:t>
            </a:r>
            <a:r>
              <a:rPr lang="en-US" altLang="en-US" sz="2400" dirty="0" err="1">
                <a:solidFill>
                  <a:srgbClr val="C00000"/>
                </a:solidFill>
                <a:latin typeface="Courier New" panose="02070309020205020404" pitchFamily="49" charset="0"/>
                <a:cs typeface="Courier New" panose="02070309020205020404" pitchFamily="49" charset="0"/>
              </a:rPr>
              <a:t>i.next</a:t>
            </a:r>
            <a:r>
              <a:rPr lang="en-US" altLang="en-US" sz="2400" dirty="0">
                <a:solidFill>
                  <a:srgbClr val="C000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}catch(</a:t>
            </a:r>
            <a:r>
              <a:rPr lang="en-US" altLang="en-US" sz="2400" dirty="0" err="1">
                <a:solidFill>
                  <a:srgbClr val="C00000"/>
                </a:solidFill>
                <a:latin typeface="Courier New" panose="02070309020205020404" pitchFamily="49" charset="0"/>
                <a:cs typeface="Courier New" panose="02070309020205020404" pitchFamily="49" charset="0"/>
              </a:rPr>
              <a:t>NoSuchElementException</a:t>
            </a:r>
            <a:r>
              <a:rPr lang="en-US" altLang="en-US" sz="2400" dirty="0">
                <a:solidFill>
                  <a:srgbClr val="C00000"/>
                </a:solidFill>
                <a:latin typeface="Courier New" panose="02070309020205020404" pitchFamily="49" charset="0"/>
                <a:cs typeface="Courier New" panose="02070309020205020404" pitchFamily="49" charset="0"/>
              </a:rPr>
              <a:t> e){}</a:t>
            </a:r>
          </a:p>
        </p:txBody>
      </p:sp>
      <p:sp>
        <p:nvSpPr>
          <p:cNvPr id="2" name="TextBox 1">
            <a:extLst>
              <a:ext uri="{FF2B5EF4-FFF2-40B4-BE49-F238E27FC236}">
                <a16:creationId xmlns:a16="http://schemas.microsoft.com/office/drawing/2014/main" id="{F8699190-B5F5-297B-68DC-50667D6B3484}"/>
              </a:ext>
            </a:extLst>
          </p:cNvPr>
          <p:cNvSpPr txBox="1"/>
          <p:nvPr/>
        </p:nvSpPr>
        <p:spPr>
          <a:xfrm>
            <a:off x="-114300" y="2438400"/>
            <a:ext cx="1447800" cy="707886"/>
          </a:xfrm>
          <a:prstGeom prst="rect">
            <a:avLst/>
          </a:prstGeom>
          <a:noFill/>
        </p:spPr>
        <p:txBody>
          <a:bodyPr wrap="square" rtlCol="0">
            <a:spAutoFit/>
          </a:bodyPr>
          <a:lstStyle/>
          <a:p>
            <a:pPr algn="ctr"/>
            <a:r>
              <a:rPr lang="en-US" sz="4000" dirty="0">
                <a:solidFill>
                  <a:srgbClr val="FF0000"/>
                </a:solidFill>
              </a:rPr>
              <a:t>No!</a:t>
            </a:r>
          </a:p>
        </p:txBody>
      </p:sp>
      <p:sp>
        <p:nvSpPr>
          <p:cNvPr id="3" name="Text Box 2">
            <a:extLst>
              <a:ext uri="{FF2B5EF4-FFF2-40B4-BE49-F238E27FC236}">
                <a16:creationId xmlns:a16="http://schemas.microsoft.com/office/drawing/2014/main" id="{65463DAF-BDA5-1E6C-47D4-6D126D5171CD}"/>
              </a:ext>
            </a:extLst>
          </p:cNvPr>
          <p:cNvSpPr txBox="1">
            <a:spLocks noChangeArrowheads="1"/>
          </p:cNvSpPr>
          <p:nvPr/>
        </p:nvSpPr>
        <p:spPr bwMode="auto">
          <a:xfrm>
            <a:off x="1116330" y="4749174"/>
            <a:ext cx="7696200" cy="1652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buFont typeface="Wingdings" panose="05000000000000000000" pitchFamily="2" charset="2"/>
              <a:buNone/>
            </a:pPr>
            <a:r>
              <a:rPr lang="en-US" altLang="en-US" sz="2400" dirty="0">
                <a:solidFill>
                  <a:srgbClr val="006600"/>
                </a:solidFill>
                <a:latin typeface="Courier New" panose="02070309020205020404" pitchFamily="49" charset="0"/>
                <a:cs typeface="Courier New" panose="02070309020205020404" pitchFamily="49" charset="0"/>
              </a:rPr>
              <a:t>Iterator&lt;Foo&gt; i = </a:t>
            </a:r>
            <a:r>
              <a:rPr lang="en-US" altLang="en-US" sz="2400" dirty="0" err="1">
                <a:solidFill>
                  <a:srgbClr val="006600"/>
                </a:solidFill>
                <a:latin typeface="Courier New" panose="02070309020205020404" pitchFamily="49" charset="0"/>
                <a:cs typeface="Courier New" panose="02070309020205020404" pitchFamily="49" charset="0"/>
              </a:rPr>
              <a:t>collection.iterator</a:t>
            </a:r>
            <a:r>
              <a:rPr lang="en-US" altLang="en-US" sz="2400" dirty="0">
                <a:solidFill>
                  <a:srgbClr val="006600"/>
                </a:solidFill>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sz="2400" dirty="0">
                <a:solidFill>
                  <a:srgbClr val="006600"/>
                </a:solidFill>
                <a:latin typeface="Courier New" panose="02070309020205020404" pitchFamily="49" charset="0"/>
                <a:cs typeface="Courier New" panose="02070309020205020404" pitchFamily="49" charset="0"/>
              </a:rPr>
              <a:t>while (</a:t>
            </a:r>
            <a:r>
              <a:rPr lang="en-US" altLang="en-US" sz="2400" dirty="0" err="1">
                <a:solidFill>
                  <a:srgbClr val="006600"/>
                </a:solidFill>
                <a:latin typeface="Courier New" panose="02070309020205020404" pitchFamily="49" charset="0"/>
                <a:cs typeface="Courier New" panose="02070309020205020404" pitchFamily="49" charset="0"/>
              </a:rPr>
              <a:t>i.hasNext</a:t>
            </a:r>
            <a:r>
              <a:rPr lang="en-US" altLang="en-US" sz="2400" dirty="0">
                <a:solidFill>
                  <a:srgbClr val="006600"/>
                </a:solidFill>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sz="2400" dirty="0">
                <a:solidFill>
                  <a:srgbClr val="006600"/>
                </a:solidFill>
                <a:latin typeface="Courier New" panose="02070309020205020404" pitchFamily="49" charset="0"/>
                <a:cs typeface="Courier New" panose="02070309020205020404" pitchFamily="49" charset="0"/>
              </a:rPr>
              <a:t>   Foo </a:t>
            </a:r>
            <a:r>
              <a:rPr lang="en-US" altLang="en-US" sz="2400" dirty="0" err="1">
                <a:solidFill>
                  <a:srgbClr val="006600"/>
                </a:solidFill>
                <a:latin typeface="Courier New" panose="02070309020205020404" pitchFamily="49" charset="0"/>
                <a:cs typeface="Courier New" panose="02070309020205020404" pitchFamily="49" charset="0"/>
              </a:rPr>
              <a:t>foo</a:t>
            </a:r>
            <a:r>
              <a:rPr lang="en-US" altLang="en-US" sz="2400" dirty="0">
                <a:solidFill>
                  <a:srgbClr val="006600"/>
                </a:solidFill>
                <a:latin typeface="Courier New" panose="02070309020205020404" pitchFamily="49" charset="0"/>
                <a:cs typeface="Courier New" panose="02070309020205020404" pitchFamily="49" charset="0"/>
              </a:rPr>
              <a:t> = </a:t>
            </a:r>
            <a:r>
              <a:rPr lang="en-US" altLang="en-US" sz="2400" dirty="0" err="1">
                <a:solidFill>
                  <a:srgbClr val="006600"/>
                </a:solidFill>
                <a:latin typeface="Courier New" panose="02070309020205020404" pitchFamily="49" charset="0"/>
                <a:cs typeface="Courier New" panose="02070309020205020404" pitchFamily="49" charset="0"/>
              </a:rPr>
              <a:t>i.next</a:t>
            </a:r>
            <a:r>
              <a:rPr lang="en-US" altLang="en-US" sz="2400" dirty="0">
                <a:solidFill>
                  <a:srgbClr val="0066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sz="2400" dirty="0">
                <a:solidFill>
                  <a:srgbClr val="006600"/>
                </a:solidFill>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594D720D-0D7F-B79B-82A8-E642153C746C}"/>
              </a:ext>
            </a:extLst>
          </p:cNvPr>
          <p:cNvSpPr txBox="1"/>
          <p:nvPr/>
        </p:nvSpPr>
        <p:spPr>
          <a:xfrm>
            <a:off x="-114300" y="5172959"/>
            <a:ext cx="1447800" cy="707886"/>
          </a:xfrm>
          <a:prstGeom prst="rect">
            <a:avLst/>
          </a:prstGeom>
          <a:noFill/>
        </p:spPr>
        <p:txBody>
          <a:bodyPr wrap="square" rtlCol="0">
            <a:spAutoFit/>
          </a:bodyPr>
          <a:lstStyle/>
          <a:p>
            <a:pPr algn="ctr"/>
            <a:r>
              <a:rPr lang="en-US" sz="4000" dirty="0">
                <a:solidFill>
                  <a:srgbClr val="006600"/>
                </a:solidFill>
              </a:rPr>
              <a:t>Yes!</a:t>
            </a:r>
          </a:p>
        </p:txBody>
      </p:sp>
      <p:sp>
        <p:nvSpPr>
          <p:cNvPr id="5" name="TextBox 4">
            <a:extLst>
              <a:ext uri="{FF2B5EF4-FFF2-40B4-BE49-F238E27FC236}">
                <a16:creationId xmlns:a16="http://schemas.microsoft.com/office/drawing/2014/main" id="{CBFD8FAA-9B02-8349-019E-EE5723A7DB43}"/>
              </a:ext>
            </a:extLst>
          </p:cNvPr>
          <p:cNvSpPr txBox="1"/>
          <p:nvPr/>
        </p:nvSpPr>
        <p:spPr>
          <a:xfrm>
            <a:off x="152400" y="456066"/>
            <a:ext cx="8686800" cy="553998"/>
          </a:xfrm>
          <a:prstGeom prst="rect">
            <a:avLst/>
          </a:prstGeom>
          <a:noFill/>
        </p:spPr>
        <p:txBody>
          <a:bodyPr wrap="square" rtlCol="0">
            <a:spAutoFit/>
          </a:bodyPr>
          <a:lstStyle/>
          <a:p>
            <a:pPr algn="ctr"/>
            <a:r>
              <a:rPr lang="en-US" sz="3000" dirty="0"/>
              <a:t>Don’t use exceptions for normal flow control!</a:t>
            </a:r>
          </a:p>
        </p:txBody>
      </p:sp>
    </p:spTree>
    <p:extLst>
      <p:ext uri="{BB962C8B-B14F-4D97-AF65-F5344CB8AC3E}">
        <p14:creationId xmlns:p14="http://schemas.microsoft.com/office/powerpoint/2010/main" val="39627273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AD77BF86-6636-B96D-922E-5C70B36D5F07}"/>
              </a:ext>
            </a:extLst>
          </p:cNvPr>
          <p:cNvSpPr>
            <a:spLocks noGrp="1" noChangeArrowheads="1"/>
          </p:cNvSpPr>
          <p:nvPr>
            <p:ph type="title"/>
          </p:nvPr>
        </p:nvSpPr>
        <p:spPr>
          <a:xfrm>
            <a:off x="685800" y="76200"/>
            <a:ext cx="7772400" cy="1143000"/>
          </a:xfrm>
          <a:noFill/>
        </p:spPr>
        <p:txBody>
          <a:bodyPr/>
          <a:lstStyle/>
          <a:p>
            <a:pPr eaLnBrk="1" hangingPunct="1"/>
            <a:r>
              <a:rPr lang="en-US" altLang="en-US" dirty="0">
                <a:latin typeface="Bahnschrift" panose="020B0502040204020203" pitchFamily="34" charset="0"/>
              </a:rPr>
              <a:t>Don’t Eat Exceptions</a:t>
            </a:r>
          </a:p>
        </p:txBody>
      </p:sp>
      <p:sp>
        <p:nvSpPr>
          <p:cNvPr id="23555" name="Rectangle 5">
            <a:extLst>
              <a:ext uri="{FF2B5EF4-FFF2-40B4-BE49-F238E27FC236}">
                <a16:creationId xmlns:a16="http://schemas.microsoft.com/office/drawing/2014/main" id="{507924F2-6D87-FF24-5A25-B7B45FFFD1FD}"/>
              </a:ext>
            </a:extLst>
          </p:cNvPr>
          <p:cNvSpPr>
            <a:spLocks noGrp="1" noChangeArrowheads="1"/>
          </p:cNvSpPr>
          <p:nvPr>
            <p:ph idx="1"/>
          </p:nvPr>
        </p:nvSpPr>
        <p:spPr>
          <a:xfrm>
            <a:off x="457200" y="1447800"/>
            <a:ext cx="8229600" cy="5257800"/>
          </a:xfrm>
          <a:noFill/>
        </p:spPr>
        <p:txBody>
          <a:bodyPr/>
          <a:lstStyle/>
          <a:p>
            <a:pPr marL="0" indent="0" algn="ctr" eaLnBrk="1" hangingPunct="1">
              <a:lnSpc>
                <a:spcPct val="90000"/>
              </a:lnSpc>
              <a:buNone/>
            </a:pPr>
            <a:r>
              <a:rPr lang="en-US" altLang="en-US" sz="3600" b="1" dirty="0">
                <a:solidFill>
                  <a:schemeClr val="accent6">
                    <a:lumMod val="75000"/>
                  </a:schemeClr>
                </a:solidFill>
                <a:latin typeface="Bahnschrift" panose="020B0502040204020203" pitchFamily="34" charset="0"/>
              </a:rPr>
              <a:t>Never leave a catch block empty</a:t>
            </a:r>
          </a:p>
          <a:p>
            <a:pPr marL="0" indent="0" eaLnBrk="1" hangingPunct="1">
              <a:lnSpc>
                <a:spcPct val="90000"/>
              </a:lnSpc>
              <a:buNone/>
            </a:pPr>
            <a:endParaRPr lang="en-US" altLang="en-US" sz="3600" dirty="0"/>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try{</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}catch(Exception e)</a:t>
            </a:r>
            <a:r>
              <a:rPr lang="en-US" altLang="en-US" b="1" dirty="0">
                <a:solidFill>
                  <a:srgbClr val="C00000"/>
                </a:solidFill>
                <a:latin typeface="Courier New" panose="02070309020205020404" pitchFamily="49" charset="0"/>
                <a:cs typeface="Courier New" panose="02070309020205020404" pitchFamily="49" charset="0"/>
              </a:rPr>
              <a:t>{</a:t>
            </a:r>
            <a:r>
              <a:rPr lang="en-US" altLang="en-US" b="1" dirty="0">
                <a:latin typeface="Courier New" panose="02070309020205020404" pitchFamily="49" charset="0"/>
                <a:cs typeface="Courier New" panose="02070309020205020404" pitchFamily="49" charset="0"/>
              </a:rPr>
              <a:t> </a:t>
            </a:r>
            <a:r>
              <a:rPr lang="en-US" altLang="en-US" b="1" dirty="0">
                <a:solidFill>
                  <a:srgbClr val="C00000"/>
                </a:solidFill>
                <a:latin typeface="Courier New" panose="02070309020205020404" pitchFamily="49" charset="0"/>
                <a:cs typeface="Courier New" panose="02070309020205020404" pitchFamily="49" charset="0"/>
              </a:rPr>
              <a:t>}</a:t>
            </a:r>
            <a:r>
              <a:rPr lang="en-US" altLang="en-US" b="1" dirty="0">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endParaRPr lang="en-US" altLang="en-US" dirty="0">
              <a:solidFill>
                <a:srgbClr val="006666"/>
              </a:solidFill>
              <a:latin typeface="Courier New" panose="02070309020205020404" pitchFamily="49" charset="0"/>
              <a:cs typeface="Courier New" panose="02070309020205020404" pitchFamily="49" charset="0"/>
            </a:endParaRPr>
          </a:p>
          <a:p>
            <a:pPr marL="0" indent="0" algn="ctr" eaLnBrk="1" hangingPunct="1">
              <a:lnSpc>
                <a:spcPct val="90000"/>
              </a:lnSpc>
              <a:buFont typeface="Wingdings" panose="05000000000000000000" pitchFamily="2" charset="2"/>
              <a:buNone/>
            </a:pPr>
            <a:r>
              <a:rPr lang="en-US" altLang="en-US" dirty="0">
                <a:solidFill>
                  <a:srgbClr val="C00000"/>
                </a:solidFill>
                <a:latin typeface="Bahnschrift" panose="020B0502040204020203" pitchFamily="34" charset="0"/>
                <a:cs typeface="Courier New" panose="02070309020205020404" pitchFamily="49" charset="0"/>
              </a:rPr>
              <a:t>There’s no indication that an exception occurred, and processing continues as if nothing happened!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AD77BF86-6636-B96D-922E-5C70B36D5F07}"/>
              </a:ext>
            </a:extLst>
          </p:cNvPr>
          <p:cNvSpPr>
            <a:spLocks noGrp="1" noChangeArrowheads="1"/>
          </p:cNvSpPr>
          <p:nvPr>
            <p:ph type="title"/>
          </p:nvPr>
        </p:nvSpPr>
        <p:spPr>
          <a:xfrm>
            <a:off x="0" y="76200"/>
            <a:ext cx="9144000" cy="1143000"/>
          </a:xfrm>
          <a:noFill/>
        </p:spPr>
        <p:txBody>
          <a:bodyPr/>
          <a:lstStyle/>
          <a:p>
            <a:pPr eaLnBrk="1" hangingPunct="1"/>
            <a:r>
              <a:rPr lang="en-US" altLang="en-US" dirty="0">
                <a:latin typeface="Bahnschrift" panose="020B0502040204020203" pitchFamily="34" charset="0"/>
              </a:rPr>
              <a:t>Still Eats the x, Just Not Silently</a:t>
            </a:r>
          </a:p>
        </p:txBody>
      </p:sp>
      <p:sp>
        <p:nvSpPr>
          <p:cNvPr id="23555" name="Rectangle 5">
            <a:extLst>
              <a:ext uri="{FF2B5EF4-FFF2-40B4-BE49-F238E27FC236}">
                <a16:creationId xmlns:a16="http://schemas.microsoft.com/office/drawing/2014/main" id="{507924F2-6D87-FF24-5A25-B7B45FFFD1FD}"/>
              </a:ext>
            </a:extLst>
          </p:cNvPr>
          <p:cNvSpPr>
            <a:spLocks noGrp="1" noChangeArrowheads="1"/>
          </p:cNvSpPr>
          <p:nvPr>
            <p:ph idx="1"/>
          </p:nvPr>
        </p:nvSpPr>
        <p:spPr>
          <a:xfrm>
            <a:off x="457200" y="1447800"/>
            <a:ext cx="8686800" cy="5257800"/>
          </a:xfrm>
          <a:noFill/>
        </p:spPr>
        <p:txBody>
          <a:bodyPr/>
          <a:lstStyle/>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try{</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}catch(Exception e)</a:t>
            </a:r>
            <a:r>
              <a:rPr lang="en-US" altLang="en-US" b="1" dirty="0">
                <a:solidFill>
                  <a:srgbClr val="C00000"/>
                </a:solidFill>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b="1" dirty="0">
                <a:solidFill>
                  <a:srgbClr val="C00000"/>
                </a:solidFill>
                <a:latin typeface="Courier New" panose="02070309020205020404" pitchFamily="49" charset="0"/>
                <a:cs typeface="Courier New" panose="02070309020205020404" pitchFamily="49" charset="0"/>
              </a:rPr>
              <a:t>  </a:t>
            </a:r>
            <a:r>
              <a:rPr lang="en-US" altLang="en-US" b="1" dirty="0" err="1">
                <a:solidFill>
                  <a:srgbClr val="C00000"/>
                </a:solidFill>
                <a:latin typeface="Courier New" panose="02070309020205020404" pitchFamily="49" charset="0"/>
                <a:cs typeface="Courier New" panose="02070309020205020404" pitchFamily="49" charset="0"/>
              </a:rPr>
              <a:t>err.println</a:t>
            </a:r>
            <a:r>
              <a:rPr lang="en-US" altLang="en-US" b="1" dirty="0">
                <a:solidFill>
                  <a:srgbClr val="C00000"/>
                </a:solidFill>
                <a:latin typeface="Courier New" panose="02070309020205020404" pitchFamily="49" charset="0"/>
                <a:cs typeface="Courier New" panose="02070309020205020404" pitchFamily="49" charset="0"/>
              </a:rPr>
              <a:t>("Error: " +</a:t>
            </a:r>
          </a:p>
          <a:p>
            <a:pPr eaLnBrk="1" hangingPunct="1">
              <a:lnSpc>
                <a:spcPct val="90000"/>
              </a:lnSpc>
              <a:buFont typeface="Wingdings" panose="05000000000000000000" pitchFamily="2" charset="2"/>
              <a:buNone/>
            </a:pPr>
            <a:r>
              <a:rPr lang="en-US" altLang="en-US" b="1" dirty="0">
                <a:solidFill>
                  <a:srgbClr val="C00000"/>
                </a:solidFill>
                <a:latin typeface="Courier New" panose="02070309020205020404" pitchFamily="49" charset="0"/>
                <a:cs typeface="Courier New" panose="02070309020205020404" pitchFamily="49" charset="0"/>
              </a:rPr>
              <a:t>                  </a:t>
            </a:r>
            <a:r>
              <a:rPr lang="en-US" altLang="en-US" b="1" dirty="0" err="1">
                <a:solidFill>
                  <a:srgbClr val="C00000"/>
                </a:solidFill>
                <a:latin typeface="Courier New" panose="02070309020205020404" pitchFamily="49" charset="0"/>
                <a:cs typeface="Courier New" panose="02070309020205020404" pitchFamily="49" charset="0"/>
              </a:rPr>
              <a:t>e.getMessage</a:t>
            </a:r>
            <a:r>
              <a:rPr lang="en-US" altLang="en-US" b="1" dirty="0">
                <a:solidFill>
                  <a:srgbClr val="C000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 </a:t>
            </a:r>
            <a:r>
              <a:rPr lang="en-US" altLang="en-US" b="1" dirty="0">
                <a:solidFill>
                  <a:srgbClr val="C00000"/>
                </a:solidFill>
                <a:latin typeface="Courier New" panose="02070309020205020404" pitchFamily="49" charset="0"/>
                <a:cs typeface="Courier New" panose="02070309020205020404" pitchFamily="49" charset="0"/>
              </a:rPr>
              <a:t>}</a:t>
            </a:r>
            <a:r>
              <a:rPr lang="en-US" altLang="en-US" b="1" dirty="0">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endParaRPr lang="en-US" altLang="en-US" sz="1400" dirty="0">
              <a:solidFill>
                <a:srgbClr val="006666"/>
              </a:solidFill>
              <a:latin typeface="Courier New" panose="02070309020205020404" pitchFamily="49" charset="0"/>
              <a:cs typeface="Courier New" panose="02070309020205020404" pitchFamily="49" charset="0"/>
            </a:endParaRPr>
          </a:p>
          <a:p>
            <a:pPr marL="0" indent="0" algn="ctr" eaLnBrk="1" hangingPunct="1">
              <a:lnSpc>
                <a:spcPct val="90000"/>
              </a:lnSpc>
              <a:buFont typeface="Wingdings" panose="05000000000000000000" pitchFamily="2" charset="2"/>
              <a:buNone/>
            </a:pPr>
            <a:r>
              <a:rPr lang="en-US" altLang="en-US" dirty="0">
                <a:solidFill>
                  <a:srgbClr val="CC3300"/>
                </a:solidFill>
                <a:latin typeface="Bahnschrift" panose="020B0502040204020203" pitchFamily="34" charset="0"/>
                <a:cs typeface="Courier New" panose="02070309020205020404" pitchFamily="49" charset="0"/>
              </a:rPr>
              <a:t>There </a:t>
            </a:r>
            <a:r>
              <a:rPr lang="en-US" altLang="en-US" u="sng" dirty="0">
                <a:solidFill>
                  <a:srgbClr val="CC3300"/>
                </a:solidFill>
                <a:latin typeface="Bahnschrift" panose="020B0502040204020203" pitchFamily="34" charset="0"/>
                <a:cs typeface="Courier New" panose="02070309020205020404" pitchFamily="49" charset="0"/>
              </a:rPr>
              <a:t>is</a:t>
            </a:r>
            <a:r>
              <a:rPr lang="en-US" altLang="en-US" dirty="0">
                <a:solidFill>
                  <a:srgbClr val="CC3300"/>
                </a:solidFill>
                <a:latin typeface="Bahnschrift" panose="020B0502040204020203" pitchFamily="34" charset="0"/>
                <a:cs typeface="Courier New" panose="02070309020205020404" pitchFamily="49" charset="0"/>
              </a:rPr>
              <a:t> an indication that an exception occurred, but there’s no stack trace, and processing continues.</a:t>
            </a:r>
          </a:p>
        </p:txBody>
      </p:sp>
    </p:spTree>
    <p:extLst>
      <p:ext uri="{BB962C8B-B14F-4D97-AF65-F5344CB8AC3E}">
        <p14:creationId xmlns:p14="http://schemas.microsoft.com/office/powerpoint/2010/main" val="17797493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a:extLst>
              <a:ext uri="{FF2B5EF4-FFF2-40B4-BE49-F238E27FC236}">
                <a16:creationId xmlns:a16="http://schemas.microsoft.com/office/drawing/2014/main" id="{23DADFDF-C9D8-76AD-9304-FE52C70D8A82}"/>
              </a:ext>
            </a:extLst>
          </p:cNvPr>
          <p:cNvSpPr>
            <a:spLocks noGrp="1" noChangeArrowheads="1"/>
          </p:cNvSpPr>
          <p:nvPr>
            <p:ph type="title"/>
          </p:nvPr>
        </p:nvSpPr>
        <p:spPr>
          <a:xfrm>
            <a:off x="304800" y="228601"/>
            <a:ext cx="8534400" cy="838200"/>
          </a:xfrm>
          <a:noFill/>
        </p:spPr>
        <p:txBody>
          <a:bodyPr/>
          <a:lstStyle/>
          <a:p>
            <a:pPr eaLnBrk="1" hangingPunct="1"/>
            <a:r>
              <a:rPr lang="en-US" altLang="en-US" sz="4000" b="1" dirty="0">
                <a:latin typeface="Bahnschrift" panose="020B0502040204020203" pitchFamily="34" charset="0"/>
              </a:rPr>
              <a:t>Document</a:t>
            </a:r>
            <a:r>
              <a:rPr lang="en-US" altLang="en-US" sz="4000" dirty="0">
                <a:latin typeface="Bahnschrift" panose="020B0502040204020203" pitchFamily="34" charset="0"/>
              </a:rPr>
              <a:t> Exceptions</a:t>
            </a:r>
          </a:p>
        </p:txBody>
      </p:sp>
      <p:sp>
        <p:nvSpPr>
          <p:cNvPr id="17411" name="Rectangle 5">
            <a:extLst>
              <a:ext uri="{FF2B5EF4-FFF2-40B4-BE49-F238E27FC236}">
                <a16:creationId xmlns:a16="http://schemas.microsoft.com/office/drawing/2014/main" id="{8D4C4A30-8FB0-912C-BC8D-91422E0B8C5B}"/>
              </a:ext>
            </a:extLst>
          </p:cNvPr>
          <p:cNvSpPr>
            <a:spLocks noGrp="1" noChangeArrowheads="1"/>
          </p:cNvSpPr>
          <p:nvPr>
            <p:ph idx="1"/>
          </p:nvPr>
        </p:nvSpPr>
        <p:spPr>
          <a:xfrm>
            <a:off x="381000" y="1219199"/>
            <a:ext cx="8534400" cy="5410199"/>
          </a:xfrm>
          <a:noFill/>
        </p:spPr>
        <p:txBody>
          <a:bodyPr/>
          <a:lstStyle/>
          <a:p>
            <a:pPr marL="0" indent="0" eaLnBrk="1" hangingPunct="1">
              <a:lnSpc>
                <a:spcPct val="90000"/>
              </a:lnSpc>
              <a:buNone/>
            </a:pPr>
            <a:r>
              <a:rPr lang="en-US" altLang="en-US" sz="2800" dirty="0">
                <a:latin typeface="Bahnschrift" panose="020B0502040204020203" pitchFamily="34" charset="0"/>
              </a:rPr>
              <a:t>Checked Exceptions:</a:t>
            </a:r>
          </a:p>
          <a:p>
            <a:pPr marL="514350" lvl="1" eaLnBrk="1" hangingPunct="1">
              <a:lnSpc>
                <a:spcPct val="90000"/>
              </a:lnSpc>
            </a:pPr>
            <a:r>
              <a:rPr lang="en-US" altLang="en-US" sz="2400" dirty="0">
                <a:latin typeface="Bahnschrift" panose="020B0502040204020203" pitchFamily="34" charset="0"/>
              </a:rPr>
              <a:t>Declare or Catch (required by compiler), and</a:t>
            </a:r>
          </a:p>
          <a:p>
            <a:pPr marL="514350" lvl="1" eaLnBrk="1" hangingPunct="1">
              <a:lnSpc>
                <a:spcPct val="90000"/>
              </a:lnSpc>
              <a:spcAft>
                <a:spcPts val="1200"/>
              </a:spcAft>
            </a:pPr>
            <a:r>
              <a:rPr lang="en-US" altLang="en-US" sz="2400" dirty="0">
                <a:latin typeface="Bahnschrift" panose="020B0502040204020203" pitchFamily="34" charset="0"/>
              </a:rPr>
              <a:t>Document with @throws tag in </a:t>
            </a:r>
            <a:r>
              <a:rPr lang="en-US" altLang="en-US" sz="2400" dirty="0" err="1">
                <a:latin typeface="Bahnschrift" panose="020B0502040204020203" pitchFamily="34" charset="0"/>
              </a:rPr>
              <a:t>JavaDoc</a:t>
            </a:r>
            <a:endParaRPr lang="en-US" altLang="en-US" sz="2400" dirty="0">
              <a:latin typeface="Bahnschrift" panose="020B0502040204020203" pitchFamily="34" charset="0"/>
            </a:endParaRPr>
          </a:p>
          <a:p>
            <a:pPr marL="0" indent="0" eaLnBrk="1" hangingPunct="1">
              <a:lnSpc>
                <a:spcPct val="90000"/>
              </a:lnSpc>
              <a:buNone/>
            </a:pPr>
            <a:r>
              <a:rPr lang="en-US" altLang="en-US" sz="2800" dirty="0">
                <a:latin typeface="Bahnschrift" panose="020B0502040204020203" pitchFamily="34" charset="0"/>
              </a:rPr>
              <a:t>Unchecked Exceptions: </a:t>
            </a:r>
          </a:p>
          <a:p>
            <a:pPr marL="514350" lvl="1" eaLnBrk="1" hangingPunct="1">
              <a:lnSpc>
                <a:spcPct val="90000"/>
              </a:lnSpc>
              <a:spcAft>
                <a:spcPts val="1200"/>
              </a:spcAft>
            </a:pPr>
            <a:r>
              <a:rPr lang="en-US" altLang="en-US" sz="2400" dirty="0">
                <a:latin typeface="Bahnschrift" panose="020B0502040204020203" pitchFamily="34" charset="0"/>
              </a:rPr>
              <a:t>Document with @throws tag in </a:t>
            </a:r>
            <a:r>
              <a:rPr lang="en-US" altLang="en-US" sz="2400" dirty="0" err="1">
                <a:latin typeface="Bahnschrift" panose="020B0502040204020203" pitchFamily="34" charset="0"/>
              </a:rPr>
              <a:t>JavaDoc</a:t>
            </a:r>
            <a:endParaRPr lang="en-US" altLang="en-US" sz="2400" dirty="0">
              <a:latin typeface="Bahnschrift" panose="020B0502040204020203" pitchFamily="34" charset="0"/>
            </a:endParaRPr>
          </a:p>
          <a:p>
            <a:pPr marL="0" indent="0" eaLnBrk="1" hangingPunct="1">
              <a:lnSpc>
                <a:spcPct val="90000"/>
              </a:lnSpc>
              <a:buNone/>
            </a:pPr>
            <a:r>
              <a:rPr lang="en-US" altLang="en-US" sz="2800" dirty="0">
                <a:latin typeface="Bahnschrift" panose="020B0502040204020203" pitchFamily="34" charset="0"/>
              </a:rPr>
              <a:t>Don’t shortcut with superclass exceptions</a:t>
            </a:r>
          </a:p>
          <a:p>
            <a:pPr marL="514350" lvl="1" eaLnBrk="1" hangingPunct="1">
              <a:lnSpc>
                <a:spcPct val="90000"/>
              </a:lnSpc>
              <a:spcAft>
                <a:spcPts val="1200"/>
              </a:spcAft>
            </a:pPr>
            <a:r>
              <a:rPr lang="en-US" altLang="en-US" sz="2400" dirty="0">
                <a:latin typeface="Bahnschrift" panose="020B0502040204020203" pitchFamily="34" charset="0"/>
              </a:rPr>
              <a:t>Example: Don’t catch “Exception” instead of </a:t>
            </a:r>
            <a:r>
              <a:rPr lang="en-US" altLang="en-US" sz="2400" dirty="0" err="1">
                <a:latin typeface="Bahnschrift" panose="020B0502040204020203" pitchFamily="34" charset="0"/>
              </a:rPr>
              <a:t>NullPointerException</a:t>
            </a:r>
            <a:endParaRPr lang="en-US" altLang="en-US" sz="2400" dirty="0">
              <a:latin typeface="Bahnschrift" panose="020B0502040204020203" pitchFamily="34" charset="0"/>
            </a:endParaRPr>
          </a:p>
          <a:p>
            <a:pPr marL="0" indent="0" eaLnBrk="1" hangingPunct="1">
              <a:lnSpc>
                <a:spcPct val="90000"/>
              </a:lnSpc>
              <a:buNone/>
            </a:pPr>
            <a:r>
              <a:rPr lang="en-US" altLang="en-US" sz="2800" dirty="0">
                <a:latin typeface="Bahnschrift" panose="020B0502040204020203" pitchFamily="34" charset="0"/>
              </a:rPr>
              <a:t>Ok to document common exceptions at class level</a:t>
            </a:r>
          </a:p>
          <a:p>
            <a:pPr marL="514350" lvl="1" eaLnBrk="1" hangingPunct="1">
              <a:lnSpc>
                <a:spcPct val="90000"/>
              </a:lnSpc>
            </a:pPr>
            <a:r>
              <a:rPr lang="en-US" altLang="en-US" sz="2400" dirty="0">
                <a:latin typeface="Bahnschrift" panose="020B0502040204020203" pitchFamily="34" charset="0"/>
              </a:rPr>
              <a:t>Example: “All methods in class throw </a:t>
            </a:r>
            <a:r>
              <a:rPr lang="en-US" altLang="en-US" sz="2400" dirty="0" err="1">
                <a:latin typeface="Bahnschrift" panose="020B0502040204020203" pitchFamily="34" charset="0"/>
              </a:rPr>
              <a:t>NullPointerException</a:t>
            </a:r>
            <a:r>
              <a:rPr lang="en-US" altLang="en-US" sz="2400" dirty="0">
                <a:latin typeface="Bahnschrift" panose="020B0502040204020203" pitchFamily="34" charset="0"/>
              </a:rPr>
              <a:t> if a null object reference </a:t>
            </a:r>
            <a:br>
              <a:rPr lang="en-US" altLang="en-US" sz="2400" dirty="0">
                <a:latin typeface="Bahnschrift" panose="020B0502040204020203" pitchFamily="34" charset="0"/>
              </a:rPr>
            </a:br>
            <a:r>
              <a:rPr lang="en-US" altLang="en-US" sz="2400" dirty="0">
                <a:latin typeface="Bahnschrift" panose="020B0502040204020203" pitchFamily="34" charset="0"/>
              </a:rPr>
              <a:t>is passed in any parameter”</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3">
            <a:extLst>
              <a:ext uri="{FF2B5EF4-FFF2-40B4-BE49-F238E27FC236}">
                <a16:creationId xmlns:a16="http://schemas.microsoft.com/office/drawing/2014/main" id="{EF8417FE-B7D1-9590-3041-6A26FEEA9F44}"/>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8BABFC0-9C03-499D-A6D8-AAB9DBC9504C}"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69635" name="Rectangle 9">
            <a:extLst>
              <a:ext uri="{FF2B5EF4-FFF2-40B4-BE49-F238E27FC236}">
                <a16:creationId xmlns:a16="http://schemas.microsoft.com/office/drawing/2014/main" id="{A2B86597-4A71-3D7A-483F-5E005E619DD3}"/>
              </a:ext>
            </a:extLst>
          </p:cNvPr>
          <p:cNvSpPr>
            <a:spLocks noGrp="1" noChangeArrowheads="1"/>
          </p:cNvSpPr>
          <p:nvPr>
            <p:ph type="title"/>
          </p:nvPr>
        </p:nvSpPr>
        <p:spPr>
          <a:xfrm>
            <a:off x="175418" y="1981200"/>
            <a:ext cx="8793163" cy="990600"/>
          </a:xfrm>
        </p:spPr>
        <p:txBody>
          <a:bodyPr/>
          <a:lstStyle/>
          <a:p>
            <a:pPr eaLnBrk="1" hangingPunct="1"/>
            <a:r>
              <a:rPr lang="en-GB" altLang="en-US" sz="4800" dirty="0">
                <a:solidFill>
                  <a:schemeClr val="tx1"/>
                </a:solidFill>
              </a:rPr>
              <a:t>Appropriate or Inappropriate use of Exceptions?</a:t>
            </a:r>
          </a:p>
        </p:txBody>
      </p:sp>
    </p:spTree>
    <p:extLst>
      <p:ext uri="{BB962C8B-B14F-4D97-AF65-F5344CB8AC3E}">
        <p14:creationId xmlns:p14="http://schemas.microsoft.com/office/powerpoint/2010/main" val="3039320948"/>
      </p:ext>
    </p:extLst>
  </p:cSld>
  <p:clrMapOvr>
    <a:masterClrMapping/>
  </p:clrMapOvr>
  <p:transition advTm="1000"/>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3A4E1-5B08-B401-505F-E64180050ACF}"/>
            </a:ext>
          </a:extLst>
        </p:cNvPr>
        <p:cNvGrpSpPr/>
        <p:nvPr/>
      </p:nvGrpSpPr>
      <p:grpSpPr>
        <a:xfrm>
          <a:off x="0" y="0"/>
          <a:ext cx="0" cy="0"/>
          <a:chOff x="0" y="0"/>
          <a:chExt cx="0" cy="0"/>
        </a:xfrm>
      </p:grpSpPr>
      <p:sp>
        <p:nvSpPr>
          <p:cNvPr id="69634" name="Slide Number Placeholder 3">
            <a:extLst>
              <a:ext uri="{FF2B5EF4-FFF2-40B4-BE49-F238E27FC236}">
                <a16:creationId xmlns:a16="http://schemas.microsoft.com/office/drawing/2014/main" id="{155B02BB-FCBB-61EC-0D7F-68D7788B9424}"/>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8BABFC0-9C03-499D-A6D8-AAB9DBC9504C}"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69635" name="Rectangle 9">
            <a:extLst>
              <a:ext uri="{FF2B5EF4-FFF2-40B4-BE49-F238E27FC236}">
                <a16:creationId xmlns:a16="http://schemas.microsoft.com/office/drawing/2014/main" id="{6AE88E6C-7B2F-110B-D34F-32505DF8361D}"/>
              </a:ext>
            </a:extLst>
          </p:cNvPr>
          <p:cNvSpPr>
            <a:spLocks noGrp="1" noChangeArrowheads="1"/>
          </p:cNvSpPr>
          <p:nvPr>
            <p:ph type="title"/>
          </p:nvPr>
        </p:nvSpPr>
        <p:spPr/>
        <p:txBody>
          <a:bodyPr/>
          <a:lstStyle/>
          <a:p>
            <a:pPr eaLnBrk="1" hangingPunct="1"/>
            <a:r>
              <a:rPr lang="en-GB" altLang="en-US" sz="3600" dirty="0">
                <a:solidFill>
                  <a:schemeClr val="tx1"/>
                </a:solidFill>
              </a:rPr>
              <a:t>Using try-catch w/Runtime Exceptions</a:t>
            </a:r>
          </a:p>
        </p:txBody>
      </p:sp>
      <p:sp>
        <p:nvSpPr>
          <p:cNvPr id="69636" name="Rectangle 13">
            <a:extLst>
              <a:ext uri="{FF2B5EF4-FFF2-40B4-BE49-F238E27FC236}">
                <a16:creationId xmlns:a16="http://schemas.microsoft.com/office/drawing/2014/main" id="{E3E0530C-5A89-11BF-B596-6E2ABF184731}"/>
              </a:ext>
            </a:extLst>
          </p:cNvPr>
          <p:cNvSpPr>
            <a:spLocks noGrp="1" noChangeArrowheads="1"/>
          </p:cNvSpPr>
          <p:nvPr>
            <p:ph type="body" idx="1"/>
          </p:nvPr>
        </p:nvSpPr>
        <p:spPr>
          <a:xfrm>
            <a:off x="76200" y="1371600"/>
            <a:ext cx="9067800" cy="5181600"/>
          </a:xfrm>
        </p:spPr>
        <p:txBody>
          <a:bodyPr/>
          <a:lstStyle/>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public void </a:t>
            </a:r>
            <a:r>
              <a:rPr lang="en-GB" altLang="en-US" sz="2300" dirty="0" err="1">
                <a:solidFill>
                  <a:schemeClr val="tx1"/>
                </a:solidFill>
                <a:latin typeface="Courier New" panose="02070309020205020404" pitchFamily="49" charset="0"/>
                <a:cs typeface="Courier New" panose="02070309020205020404" pitchFamily="49" charset="0"/>
              </a:rPr>
              <a:t>sumArray</a:t>
            </a:r>
            <a:r>
              <a:rPr lang="en-GB" altLang="en-US" sz="2300" dirty="0">
                <a:solidFill>
                  <a:schemeClr val="tx1"/>
                </a:solidFill>
                <a:latin typeface="Courier New" panose="02070309020205020404" pitchFamily="49" charset="0"/>
                <a:cs typeface="Courier New" panose="02070309020205020404" pitchFamily="49" charset="0"/>
              </a:rPr>
              <a:t>(String[] </a:t>
            </a:r>
            <a:r>
              <a:rPr lang="en-GB" altLang="en-US" sz="2300" dirty="0" err="1">
                <a:solidFill>
                  <a:schemeClr val="tx1"/>
                </a:solidFill>
                <a:latin typeface="Courier New" panose="02070309020205020404" pitchFamily="49" charset="0"/>
                <a:cs typeface="Courier New" panose="02070309020205020404" pitchFamily="49" charset="0"/>
              </a:rPr>
              <a:t>nums</a:t>
            </a:r>
            <a:r>
              <a:rPr lang="en-GB" altLang="en-US" sz="2300" dirty="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int </a:t>
            </a:r>
            <a:r>
              <a:rPr lang="en-GB" altLang="en-US" sz="2300" dirty="0" err="1">
                <a:solidFill>
                  <a:schemeClr val="tx1"/>
                </a:solidFill>
                <a:latin typeface="Courier New" panose="02070309020205020404" pitchFamily="49" charset="0"/>
                <a:cs typeface="Courier New" panose="02070309020205020404" pitchFamily="49" charset="0"/>
              </a:rPr>
              <a:t>InvalidCount</a:t>
            </a:r>
            <a:r>
              <a:rPr lang="en-GB" altLang="en-US" sz="2300" dirty="0">
                <a:solidFill>
                  <a:schemeClr val="tx1"/>
                </a:solidFill>
                <a:latin typeface="Courier New" panose="02070309020205020404" pitchFamily="49" charset="0"/>
                <a:cs typeface="Courier New" panose="02070309020205020404" pitchFamily="49" charset="0"/>
              </a:rPr>
              <a:t> = 0;</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int number, sum = 0;</a:t>
            </a:r>
          </a:p>
          <a:p>
            <a:pPr eaLnBrk="1" hangingPunct="1">
              <a:lnSpc>
                <a:spcPct val="80000"/>
              </a:lnSpc>
              <a:buFont typeface="Wingdings" panose="05000000000000000000" pitchFamily="2" charset="2"/>
              <a:buNone/>
            </a:pPr>
            <a:endParaRPr lang="en-GB" altLang="en-US" sz="2300" dirty="0">
              <a:solidFill>
                <a:schemeClr val="tx1"/>
              </a:solidFill>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for( int </a:t>
            </a:r>
            <a:r>
              <a:rPr lang="en-GB" altLang="en-US" sz="2300" dirty="0" err="1">
                <a:solidFill>
                  <a:schemeClr val="tx1"/>
                </a:solidFill>
                <a:latin typeface="Courier New" panose="02070309020205020404" pitchFamily="49" charset="0"/>
                <a:cs typeface="Courier New" panose="02070309020205020404" pitchFamily="49" charset="0"/>
              </a:rPr>
              <a:t>i</a:t>
            </a:r>
            <a:r>
              <a:rPr lang="en-GB" altLang="en-US" sz="2300" dirty="0">
                <a:solidFill>
                  <a:schemeClr val="tx1"/>
                </a:solidFill>
                <a:latin typeface="Courier New" panose="02070309020205020404" pitchFamily="49" charset="0"/>
                <a:cs typeface="Courier New" panose="02070309020205020404" pitchFamily="49" charset="0"/>
              </a:rPr>
              <a:t> = 0; </a:t>
            </a:r>
            <a:r>
              <a:rPr lang="en-GB" altLang="en-US" sz="2300" dirty="0" err="1">
                <a:solidFill>
                  <a:schemeClr val="tx1"/>
                </a:solidFill>
                <a:latin typeface="Courier New" panose="02070309020205020404" pitchFamily="49" charset="0"/>
                <a:cs typeface="Courier New" panose="02070309020205020404" pitchFamily="49" charset="0"/>
              </a:rPr>
              <a:t>i</a:t>
            </a:r>
            <a:r>
              <a:rPr lang="en-GB" altLang="en-US" sz="2300" dirty="0">
                <a:solidFill>
                  <a:schemeClr val="tx1"/>
                </a:solidFill>
                <a:latin typeface="Courier New" panose="02070309020205020404" pitchFamily="49" charset="0"/>
                <a:cs typeface="Courier New" panose="02070309020205020404" pitchFamily="49" charset="0"/>
              </a:rPr>
              <a:t> &lt; </a:t>
            </a:r>
            <a:r>
              <a:rPr lang="en-GB" altLang="en-US" sz="2300" dirty="0" err="1">
                <a:solidFill>
                  <a:schemeClr val="tx1"/>
                </a:solidFill>
                <a:latin typeface="Courier New" panose="02070309020205020404" pitchFamily="49" charset="0"/>
                <a:cs typeface="Courier New" panose="02070309020205020404" pitchFamily="49" charset="0"/>
              </a:rPr>
              <a:t>nums.length</a:t>
            </a:r>
            <a:r>
              <a:rPr lang="en-GB" altLang="en-US" sz="2300" dirty="0">
                <a:solidFill>
                  <a:schemeClr val="tx1"/>
                </a:solidFill>
                <a:latin typeface="Courier New" panose="02070309020205020404" pitchFamily="49" charset="0"/>
                <a:cs typeface="Courier New" panose="02070309020205020404" pitchFamily="49" charset="0"/>
              </a:rPr>
              <a:t>; </a:t>
            </a:r>
            <a:r>
              <a:rPr lang="en-GB" altLang="en-US" sz="2300" dirty="0" err="1">
                <a:solidFill>
                  <a:schemeClr val="tx1"/>
                </a:solidFill>
                <a:latin typeface="Courier New" panose="02070309020205020404" pitchFamily="49" charset="0"/>
                <a:cs typeface="Courier New" panose="02070309020205020404" pitchFamily="49" charset="0"/>
              </a:rPr>
              <a:t>i</a:t>
            </a:r>
            <a:r>
              <a:rPr lang="en-GB" altLang="en-US" sz="2300" dirty="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r>
              <a:rPr lang="en-GB" altLang="en-US" sz="2300" b="1" dirty="0">
                <a:solidFill>
                  <a:schemeClr val="tx1"/>
                </a:solidFill>
                <a:latin typeface="Courier New" panose="02070309020205020404" pitchFamily="49" charset="0"/>
                <a:cs typeface="Courier New" panose="02070309020205020404" pitchFamily="49" charset="0"/>
              </a:rPr>
              <a:t>try</a:t>
            </a:r>
            <a:r>
              <a:rPr lang="en-GB" altLang="en-US" sz="2300" dirty="0">
                <a:solidFill>
                  <a:schemeClr val="tx1"/>
                </a:solidFill>
                <a:latin typeface="Courier New" panose="02070309020205020404" pitchFamily="49" charset="0"/>
                <a:cs typeface="Courier New" panose="02070309020205020404" pitchFamily="49" charset="0"/>
              </a:rPr>
              <a:t> </a:t>
            </a:r>
            <a:r>
              <a:rPr lang="en-GB" altLang="en-US" sz="2300" b="1" dirty="0">
                <a:solidFill>
                  <a:schemeClr val="tx1"/>
                </a:solidFill>
                <a:latin typeface="Courier New" panose="02070309020205020404" pitchFamily="49" charset="0"/>
                <a:cs typeface="Courier New" panose="02070309020205020404" pitchFamily="49" charset="0"/>
              </a:rPr>
              <a:t>{</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number = </a:t>
            </a:r>
            <a:r>
              <a:rPr lang="en-GB" altLang="en-US" sz="2300" b="1" dirty="0" err="1">
                <a:solidFill>
                  <a:schemeClr val="tx1"/>
                </a:solidFill>
                <a:latin typeface="Courier New" panose="02070309020205020404" pitchFamily="49" charset="0"/>
                <a:cs typeface="Courier New" panose="02070309020205020404" pitchFamily="49" charset="0"/>
              </a:rPr>
              <a:t>Integer.parseInt</a:t>
            </a:r>
            <a:r>
              <a:rPr lang="en-GB" altLang="en-US" sz="2300" b="1" dirty="0">
                <a:solidFill>
                  <a:schemeClr val="tx1"/>
                </a:solidFill>
                <a:latin typeface="Courier New" panose="02070309020205020404" pitchFamily="49" charset="0"/>
                <a:cs typeface="Courier New" panose="02070309020205020404" pitchFamily="49" charset="0"/>
              </a:rPr>
              <a:t>(</a:t>
            </a:r>
            <a:r>
              <a:rPr lang="en-GB" altLang="en-US" sz="2300" b="1" dirty="0" err="1">
                <a:solidFill>
                  <a:schemeClr val="tx1"/>
                </a:solidFill>
                <a:latin typeface="Courier New" panose="02070309020205020404" pitchFamily="49" charset="0"/>
                <a:cs typeface="Courier New" panose="02070309020205020404" pitchFamily="49" charset="0"/>
              </a:rPr>
              <a:t>nums</a:t>
            </a:r>
            <a:r>
              <a:rPr lang="en-GB" altLang="en-US" sz="2300" b="1" dirty="0">
                <a:solidFill>
                  <a:schemeClr val="tx1"/>
                </a:solidFill>
                <a:latin typeface="Courier New" panose="02070309020205020404" pitchFamily="49" charset="0"/>
                <a:cs typeface="Courier New" panose="02070309020205020404" pitchFamily="49" charset="0"/>
              </a:rPr>
              <a:t>[</a:t>
            </a:r>
            <a:r>
              <a:rPr lang="en-GB" altLang="en-US" sz="2300" b="1" dirty="0" err="1">
                <a:solidFill>
                  <a:schemeClr val="tx1"/>
                </a:solidFill>
                <a:latin typeface="Courier New" panose="02070309020205020404" pitchFamily="49" charset="0"/>
                <a:cs typeface="Courier New" panose="02070309020205020404" pitchFamily="49" charset="0"/>
              </a:rPr>
              <a:t>i</a:t>
            </a:r>
            <a:r>
              <a:rPr lang="en-GB" altLang="en-US" sz="2300" b="1" dirty="0">
                <a:solidFill>
                  <a:schemeClr val="tx1"/>
                </a:solidFill>
                <a:latin typeface="Courier New" panose="02070309020205020404" pitchFamily="49" charset="0"/>
                <a:cs typeface="Courier New" panose="02070309020205020404" pitchFamily="49" charset="0"/>
              </a:rPr>
              <a:t>]);</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r>
              <a:rPr lang="en-GB" altLang="en-US" sz="2300" b="1" dirty="0">
                <a:solidFill>
                  <a:schemeClr val="tx1"/>
                </a:solidFill>
                <a:latin typeface="Courier New" panose="02070309020205020404" pitchFamily="49" charset="0"/>
                <a:cs typeface="Courier New" panose="02070309020205020404" pitchFamily="49" charset="0"/>
              </a:rPr>
              <a:t>}</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r>
              <a:rPr lang="en-GB" altLang="en-US" sz="2300" b="1" dirty="0">
                <a:solidFill>
                  <a:schemeClr val="tx1"/>
                </a:solidFill>
                <a:latin typeface="Courier New" panose="02070309020205020404" pitchFamily="49" charset="0"/>
                <a:cs typeface="Courier New" panose="02070309020205020404" pitchFamily="49" charset="0"/>
              </a:rPr>
              <a:t>catch(</a:t>
            </a:r>
            <a:r>
              <a:rPr lang="en-GB" altLang="en-US" sz="2300" b="1" dirty="0" err="1">
                <a:solidFill>
                  <a:schemeClr val="tx1"/>
                </a:solidFill>
                <a:latin typeface="Courier New" panose="02070309020205020404" pitchFamily="49" charset="0"/>
                <a:cs typeface="Courier New" panose="02070309020205020404" pitchFamily="49" charset="0"/>
              </a:rPr>
              <a:t>NumberFormatException</a:t>
            </a:r>
            <a:r>
              <a:rPr lang="en-GB" altLang="en-US" sz="2300" b="1" dirty="0">
                <a:solidFill>
                  <a:schemeClr val="tx1"/>
                </a:solidFill>
                <a:latin typeface="Courier New" panose="02070309020205020404" pitchFamily="49" charset="0"/>
                <a:cs typeface="Courier New" panose="02070309020205020404" pitchFamily="49" charset="0"/>
              </a:rPr>
              <a:t> e) </a:t>
            </a:r>
            <a:r>
              <a:rPr lang="en-GB" altLang="en-US" sz="2300" dirty="0">
                <a:solidFill>
                  <a:schemeClr val="tx1"/>
                </a:solidFill>
                <a:latin typeface="Courier New" panose="02070309020205020404" pitchFamily="49" charset="0"/>
                <a:cs typeface="Courier New" panose="02070309020205020404" pitchFamily="49" charset="0"/>
              </a:rPr>
              <a:t>{</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r>
              <a:rPr lang="en-GB" altLang="en-US" sz="2300" dirty="0" err="1">
                <a:solidFill>
                  <a:schemeClr val="tx1"/>
                </a:solidFill>
                <a:latin typeface="Courier New" panose="02070309020205020404" pitchFamily="49" charset="0"/>
                <a:cs typeface="Courier New" panose="02070309020205020404" pitchFamily="49" charset="0"/>
              </a:rPr>
              <a:t>InvalidCount</a:t>
            </a:r>
            <a:r>
              <a:rPr lang="en-GB" altLang="en-US" sz="2300" dirty="0">
                <a:solidFill>
                  <a:schemeClr val="tx1"/>
                </a:solidFill>
                <a:latin typeface="Courier New" panose="02070309020205020404" pitchFamily="49" charset="0"/>
                <a:cs typeface="Courier New" panose="02070309020205020404" pitchFamily="49" charset="0"/>
              </a:rPr>
              <a:t>++;</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r>
              <a:rPr lang="en-GB" altLang="en-US" sz="2300" dirty="0" err="1">
                <a:solidFill>
                  <a:schemeClr val="tx1"/>
                </a:solidFill>
                <a:latin typeface="Courier New" panose="02070309020205020404" pitchFamily="49" charset="0"/>
                <a:cs typeface="Courier New" panose="02070309020205020404" pitchFamily="49" charset="0"/>
              </a:rPr>
              <a:t>out.println</a:t>
            </a:r>
            <a:r>
              <a:rPr lang="en-GB" altLang="en-US" sz="2300" dirty="0">
                <a:solidFill>
                  <a:schemeClr val="tx1"/>
                </a:solidFill>
                <a:latin typeface="Courier New" panose="02070309020205020404" pitchFamily="49" charset="0"/>
                <a:cs typeface="Courier New" panose="02070309020205020404" pitchFamily="49" charset="0"/>
              </a:rPr>
              <a:t>("Invalid Number: "+ </a:t>
            </a:r>
            <a:r>
              <a:rPr lang="en-GB" altLang="en-US" sz="2300" dirty="0" err="1">
                <a:solidFill>
                  <a:schemeClr val="tx1"/>
                </a:solidFill>
                <a:latin typeface="Courier New" panose="02070309020205020404" pitchFamily="49" charset="0"/>
                <a:cs typeface="Courier New" panose="02070309020205020404" pitchFamily="49" charset="0"/>
              </a:rPr>
              <a:t>nums</a:t>
            </a:r>
            <a:r>
              <a:rPr lang="en-GB" altLang="en-US" sz="2300" dirty="0">
                <a:solidFill>
                  <a:schemeClr val="tx1"/>
                </a:solidFill>
                <a:latin typeface="Courier New" panose="02070309020205020404" pitchFamily="49" charset="0"/>
                <a:cs typeface="Courier New" panose="02070309020205020404" pitchFamily="49" charset="0"/>
              </a:rPr>
              <a:t>[</a:t>
            </a:r>
            <a:r>
              <a:rPr lang="en-GB" altLang="en-US" sz="2300" dirty="0" err="1">
                <a:solidFill>
                  <a:schemeClr val="tx1"/>
                </a:solidFill>
                <a:latin typeface="Courier New" panose="02070309020205020404" pitchFamily="49" charset="0"/>
                <a:cs typeface="Courier New" panose="02070309020205020404" pitchFamily="49" charset="0"/>
              </a:rPr>
              <a:t>i</a:t>
            </a:r>
            <a:r>
              <a:rPr lang="en-GB" altLang="en-US" sz="2300" dirty="0">
                <a:solidFill>
                  <a:schemeClr val="tx1"/>
                </a:solidFill>
                <a:latin typeface="Courier New" panose="02070309020205020404" pitchFamily="49" charset="0"/>
                <a:cs typeface="Courier New" panose="02070309020205020404" pitchFamily="49" charset="0"/>
              </a:rPr>
              <a:t>]);</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continue;//skip the remaining part of loop</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r>
              <a:rPr lang="en-GB" altLang="en-US" sz="2300" b="1" dirty="0">
                <a:solidFill>
                  <a:schemeClr val="tx1"/>
                </a:solidFill>
                <a:latin typeface="Courier New" panose="02070309020205020404" pitchFamily="49" charset="0"/>
                <a:cs typeface="Courier New" panose="02070309020205020404" pitchFamily="49" charset="0"/>
              </a:rPr>
              <a:t>}</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sum += number;</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064005309"/>
      </p:ext>
    </p:extLst>
  </p:cSld>
  <p:clrMapOvr>
    <a:masterClrMapping/>
  </p:clrMapOvr>
  <p:transition advTm="1000"/>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3">
            <a:extLst>
              <a:ext uri="{FF2B5EF4-FFF2-40B4-BE49-F238E27FC236}">
                <a16:creationId xmlns:a16="http://schemas.microsoft.com/office/drawing/2014/main" id="{B428CFC0-DFC1-1F1D-8A08-8179FC0D47DF}"/>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69496EB-7708-4FEE-BB87-619049AB512B}"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70659" name="Rectangle 2">
            <a:extLst>
              <a:ext uri="{FF2B5EF4-FFF2-40B4-BE49-F238E27FC236}">
                <a16:creationId xmlns:a16="http://schemas.microsoft.com/office/drawing/2014/main" id="{CB4B2244-BE9D-69E6-404B-15D00235B05B}"/>
              </a:ext>
            </a:extLst>
          </p:cNvPr>
          <p:cNvSpPr>
            <a:spLocks noGrp="1" noChangeArrowheads="1"/>
          </p:cNvSpPr>
          <p:nvPr>
            <p:ph type="title"/>
          </p:nvPr>
        </p:nvSpPr>
        <p:spPr/>
        <p:txBody>
          <a:bodyPr/>
          <a:lstStyle/>
          <a:p>
            <a:pPr eaLnBrk="1" hangingPunct="1"/>
            <a:r>
              <a:rPr lang="en-GB" altLang="en-US">
                <a:solidFill>
                  <a:schemeClr val="tx1"/>
                </a:solidFill>
              </a:rPr>
              <a:t>Sample Runs</a:t>
            </a:r>
          </a:p>
        </p:txBody>
      </p:sp>
      <p:sp>
        <p:nvSpPr>
          <p:cNvPr id="70660" name="Rectangle 3">
            <a:extLst>
              <a:ext uri="{FF2B5EF4-FFF2-40B4-BE49-F238E27FC236}">
                <a16:creationId xmlns:a16="http://schemas.microsoft.com/office/drawing/2014/main" id="{C2F96DF9-AFB6-4A2A-750B-FD0715BBB99A}"/>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GB" altLang="en-US" sz="2800">
                <a:solidFill>
                  <a:schemeClr val="tx1"/>
                </a:solidFill>
              </a:rPr>
              <a:t>Input:  1 2</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Number of Invalid Arguments = 0</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Number of Valid Arguments = 2</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Sum of Valid Arguments = 3</a:t>
            </a:r>
          </a:p>
          <a:p>
            <a:pPr eaLnBrk="1" hangingPunct="1">
              <a:lnSpc>
                <a:spcPct val="80000"/>
              </a:lnSpc>
              <a:buFont typeface="Wingdings" panose="05000000000000000000" pitchFamily="2" charset="2"/>
              <a:buNone/>
            </a:pPr>
            <a:endParaRPr lang="en-GB" altLang="en-US" sz="2800">
              <a:solidFill>
                <a:schemeClr val="tx1"/>
              </a:solidFill>
              <a:latin typeface="Courier New" panose="02070309020205020404" pitchFamily="49" charset="0"/>
            </a:endParaRPr>
          </a:p>
          <a:p>
            <a:pPr eaLnBrk="1" hangingPunct="1">
              <a:lnSpc>
                <a:spcPct val="80000"/>
              </a:lnSpc>
              <a:buFont typeface="Wingdings" panose="05000000000000000000" pitchFamily="2" charset="2"/>
              <a:buNone/>
            </a:pPr>
            <a:r>
              <a:rPr lang="en-GB" altLang="en-US" sz="2800">
                <a:solidFill>
                  <a:schemeClr val="tx1"/>
                </a:solidFill>
              </a:rPr>
              <a:t>Input:  1 2 abc</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Invalid Number: abc</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Number of Invalid Arguments = 1</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Number of Valid Arguments = 2</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Sum of Valid Arguments = 3</a:t>
            </a:r>
          </a:p>
        </p:txBody>
      </p:sp>
    </p:spTree>
  </p:cSld>
  <p:clrMapOvr>
    <a:masterClrMapping/>
  </p:clrMapOvr>
  <p:transition advTm="1000"/>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SimSun"/>
        <a:cs typeface=""/>
      </a:majorFont>
      <a:minorFont>
        <a:latin typeface="Tahoma"/>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Tahoma" pitchFamily="34" charset="0"/>
            <a:ea typeface="SimSun"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Tahoma" pitchFamily="34" charset="0"/>
            <a:ea typeface="SimSun"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C:\MSOffice\Templates\Blank Presentation.pot</Template>
  <TotalTime>3449</TotalTime>
  <Words>4644</Words>
  <Application>Microsoft Office PowerPoint</Application>
  <PresentationFormat>On-screen Show (4:3)</PresentationFormat>
  <Paragraphs>702</Paragraphs>
  <Slides>66</Slides>
  <Notes>54</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66</vt:i4>
      </vt:variant>
    </vt:vector>
  </HeadingPairs>
  <TitlesOfParts>
    <vt:vector size="84" baseType="lpstr">
      <vt:lpstr>Abadi</vt:lpstr>
      <vt:lpstr>Aptos</vt:lpstr>
      <vt:lpstr>Arial</vt:lpstr>
      <vt:lpstr>Arial Black</vt:lpstr>
      <vt:lpstr>Bahnschrift</vt:lpstr>
      <vt:lpstr>Cascadia Code</vt:lpstr>
      <vt:lpstr>Congenial</vt:lpstr>
      <vt:lpstr>Consolas</vt:lpstr>
      <vt:lpstr>Courier New</vt:lpstr>
      <vt:lpstr>Impact</vt:lpstr>
      <vt:lpstr>Inter</vt:lpstr>
      <vt:lpstr>source-code-pro</vt:lpstr>
      <vt:lpstr>source-serif-pro</vt:lpstr>
      <vt:lpstr>Tahoma</vt:lpstr>
      <vt:lpstr>Times New Roman</vt:lpstr>
      <vt:lpstr>Wingdings</vt:lpstr>
      <vt:lpstr>Blank Presentation</vt:lpstr>
      <vt:lpstr>Blends</vt:lpstr>
      <vt:lpstr>PowerPoint Presentation</vt:lpstr>
      <vt:lpstr>Why Exceptions?</vt:lpstr>
      <vt:lpstr>PowerPoint Presentation</vt:lpstr>
      <vt:lpstr>Exceptions Explained</vt:lpstr>
      <vt:lpstr>Goals of  Exception Handling</vt:lpstr>
      <vt:lpstr>Advantage of Exceptions</vt:lpstr>
      <vt:lpstr>Propagating Exceptions  up the Call Stack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Handling an exception</vt:lpstr>
      <vt:lpstr>Declaring an exception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Stack Trace</vt:lpstr>
      <vt:lpstr>Tracing an error to its source</vt:lpstr>
      <vt:lpstr>Tracing an error to its source</vt:lpstr>
      <vt:lpstr>Tracing an error to its source</vt:lpstr>
      <vt:lpstr>Tracing an error to its source</vt:lpstr>
      <vt:lpstr>Tracing an error to its source</vt:lpstr>
      <vt:lpstr>Tracing an error to its source</vt:lpstr>
      <vt:lpstr>Stack Trace</vt:lpstr>
      <vt:lpstr>PowerPoint Presentation</vt:lpstr>
      <vt:lpstr>PowerPoint Presentation</vt:lpstr>
      <vt:lpstr>PowerPoint Presentation</vt:lpstr>
      <vt:lpstr>Handling an exception</vt:lpstr>
      <vt:lpstr>PowerPoint Presentation</vt:lpstr>
      <vt:lpstr>PowerPoint Presentation</vt:lpstr>
      <vt:lpstr>PowerPoint Presentation</vt:lpstr>
      <vt:lpstr>PowerPoint Presentation</vt:lpstr>
      <vt:lpstr>PowerPoint Presentation</vt:lpstr>
      <vt:lpstr>Multiple Catch Statements</vt:lpstr>
      <vt:lpstr>Multiple Catch Statements</vt:lpstr>
      <vt:lpstr>Multiple Catch Statements</vt:lpstr>
      <vt:lpstr>Why would this be bad?</vt:lpstr>
      <vt:lpstr>Why would this be bad?</vt:lpstr>
      <vt:lpstr>To Handle or Not To Handle, That is the Question</vt:lpstr>
      <vt:lpstr>Possibilities</vt:lpstr>
      <vt:lpstr>Execution of try and catch blocks</vt:lpstr>
      <vt:lpstr>Execution of try and catch blocks</vt:lpstr>
      <vt:lpstr>Execution of try and catch blocks</vt:lpstr>
      <vt:lpstr>Replacing Exceptions</vt:lpstr>
      <vt:lpstr>The Right Way to Replace Exceptions</vt:lpstr>
      <vt:lpstr>The Wrong Way to Replace Exceptions</vt:lpstr>
      <vt:lpstr>PowerPoint Presentation</vt:lpstr>
      <vt:lpstr>PowerPoint Presentation</vt:lpstr>
      <vt:lpstr>PowerPoint Presentation</vt:lpstr>
      <vt:lpstr>PowerPoint Presentation</vt:lpstr>
      <vt:lpstr>Don’t Eat Exceptions</vt:lpstr>
      <vt:lpstr>Still Eats the x, Just Not Silently</vt:lpstr>
      <vt:lpstr>Document Exceptions</vt:lpstr>
      <vt:lpstr>Appropriate or Inappropriate use of Exceptions?</vt:lpstr>
      <vt:lpstr>Using try-catch w/Runtime Exceptions</vt:lpstr>
      <vt:lpstr>Sample Runs</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exceptions</dc:title>
  <dc:subject>Exceptions</dc:subject>
  <dc:creator>A+ Computer Science</dc:creator>
  <cp:keywords>www.apluscompsci.com</cp:keywords>
  <dc:description>Exceptions_x000d_
©A+ Computer Science_x000d_
www.apluscompsci.com</dc:description>
  <cp:lastModifiedBy>Weldon Jasik</cp:lastModifiedBy>
  <cp:revision>437</cp:revision>
  <cp:lastPrinted>2000-03-03T17:14:42Z</cp:lastPrinted>
  <dcterms:created xsi:type="dcterms:W3CDTF">1995-06-17T23:31:02Z</dcterms:created>
  <dcterms:modified xsi:type="dcterms:W3CDTF">2026-09-17T18:32:45Z</dcterms:modified>
  <cp:category>www.apluscompsci.com</cp:category>
</cp:coreProperties>
</file>