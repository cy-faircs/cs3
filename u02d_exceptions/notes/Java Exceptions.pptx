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70" r:id="rId2"/>
    <p:sldMasterId id="2147483782" r:id="rId3"/>
  </p:sldMasterIdLst>
  <p:notesMasterIdLst>
    <p:notesMasterId r:id="rId41"/>
  </p:notesMasterIdLst>
  <p:handoutMasterIdLst>
    <p:handoutMasterId r:id="rId42"/>
  </p:handoutMasterIdLst>
  <p:sldIdLst>
    <p:sldId id="256" r:id="rId4"/>
    <p:sldId id="615" r:id="rId5"/>
    <p:sldId id="429" r:id="rId6"/>
    <p:sldId id="372" r:id="rId7"/>
    <p:sldId id="293" r:id="rId8"/>
    <p:sldId id="649" r:id="rId9"/>
    <p:sldId id="658" r:id="rId10"/>
    <p:sldId id="410" r:id="rId11"/>
    <p:sldId id="436" r:id="rId12"/>
    <p:sldId id="659" r:id="rId13"/>
    <p:sldId id="411" r:id="rId14"/>
    <p:sldId id="413" r:id="rId15"/>
    <p:sldId id="432" r:id="rId16"/>
    <p:sldId id="422" r:id="rId17"/>
    <p:sldId id="419" r:id="rId18"/>
    <p:sldId id="420" r:id="rId19"/>
    <p:sldId id="417" r:id="rId20"/>
    <p:sldId id="418" r:id="rId21"/>
    <p:sldId id="421" r:id="rId22"/>
    <p:sldId id="277" r:id="rId23"/>
    <p:sldId id="281" r:id="rId24"/>
    <p:sldId id="286" r:id="rId25"/>
    <p:sldId id="424" r:id="rId26"/>
    <p:sldId id="631" r:id="rId27"/>
    <p:sldId id="425" r:id="rId28"/>
    <p:sldId id="426" r:id="rId29"/>
    <p:sldId id="414" r:id="rId30"/>
    <p:sldId id="430" r:id="rId31"/>
    <p:sldId id="431" r:id="rId32"/>
    <p:sldId id="265" r:id="rId33"/>
    <p:sldId id="266" r:id="rId34"/>
    <p:sldId id="415" r:id="rId35"/>
    <p:sldId id="433" r:id="rId36"/>
    <p:sldId id="434" r:id="rId37"/>
    <p:sldId id="435" r:id="rId38"/>
    <p:sldId id="263" r:id="rId39"/>
    <p:sldId id="423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66"/>
    <a:srgbClr val="006600"/>
    <a:srgbClr val="00CC99"/>
    <a:srgbClr val="0066FF"/>
    <a:srgbClr val="FF0000"/>
    <a:srgbClr val="FFFF00"/>
    <a:srgbClr val="336600"/>
    <a:srgbClr val="0000FF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235" autoAdjust="0"/>
    <p:restoredTop sz="70524" autoAdjust="0"/>
  </p:normalViewPr>
  <p:slideViewPr>
    <p:cSldViewPr>
      <p:cViewPr varScale="1">
        <p:scale>
          <a:sx n="57" d="100"/>
          <a:sy n="57" d="100"/>
        </p:scale>
        <p:origin x="7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205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473CF79-BB27-4E82-957A-B198CC0BAB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E008C48-E1E5-4FFE-B162-665A175417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0324BE96-8E67-415F-A668-012F347CBC7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5909AE81-4875-44D3-BDE0-11C4AF6FC3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E97F81-E293-4B35-BB31-8A3320B158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7E7F6BC-8344-4D76-AA61-65A2173C2B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DD7D4D5-DA8A-40D1-9998-4B2887F32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5E08FC3-4887-47C5-B179-E42C71670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EDF9074-F61B-4229-9C35-B34A9E47E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07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5E08FC3-4887-47C5-B179-E42C71670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EDF9074-F61B-4229-9C35-B34A9E47E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854182F-2941-F39A-42A4-E9DDAC9B0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FA23B5-DF3F-430E-B12C-F068B671026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510E7D0-EFDA-DA14-E94B-1DC8DF4934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E3E65DE-E5AE-157C-F67A-23F3C196E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388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2B4C0AE5-570A-4B43-3176-206596445AC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35438" y="9105900"/>
            <a:ext cx="3163887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97" tIns="48248" rIns="96497" bIns="48248"/>
          <a:lstStyle>
            <a:lvl1pPr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00F42E-007D-4A7C-8A40-0AF113F517FE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7DE72E54-5C30-3229-8C72-5F26C01A9D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83277D2-B036-1682-3497-EC7A9FE00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60AE535C-ADA3-DDF5-6128-B5797135742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35438" y="9105900"/>
            <a:ext cx="3163887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97" tIns="48248" rIns="96497" bIns="48248"/>
          <a:lstStyle>
            <a:lvl1pPr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B4F1DF-4E16-407C-B64C-F2F1C894302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5313DA7D-CFB6-44A2-26B6-329328A5D2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83A1B016-61D4-2290-1756-50D319F84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EE0458B-3D39-43F2-84A0-66833730DE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1B8DB7-EEE4-4BAA-8943-D21381DF9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EE0458B-3D39-43F2-84A0-66833730DE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1B8DB7-EEE4-4BAA-8943-D21381DF9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2356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EE0458B-3D39-43F2-84A0-66833730DE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1B8DB7-EEE4-4BAA-8943-D21381DF9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587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0FD4CDA-EE0F-4E36-83B5-CAC039737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A2D39AC-C151-495D-A783-17B789A58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EE9E362-5F03-41CC-BA5A-274A4D828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45518AB-661E-4FA8-B0C0-310BC4B9E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2A1071A-DCB3-42E4-B1D1-ADA0039B32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29D5083-972B-4325-9161-6BCB4DA5F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133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3533E5E-AB91-47CD-8618-08B8A2E3F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920164B-758D-4835-AF13-69962A775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579DD9E-A121-4748-85A9-8387C49AC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1D8212B-35F8-4C19-A0BF-7B71D8CD9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E3E1D88-0E88-4109-A9D9-322B5B3FF8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EB446D9-5C9F-465E-810E-1CDC80EF4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B6C7C45-4DB7-455D-8DF9-C6B048273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D13C30A-3185-429A-A86D-0CBD0B7D6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C979719-2E80-4EC3-9E43-4027D08F7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B15C9CE-CCD0-41AB-915C-CF5B536AE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246CE92-F462-434C-8A0F-238CBA719E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960E525-F30C-4B3A-BA09-92D78C068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B8B5E3F-C61C-4106-A878-DCA2C6C3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BC78E0E-0FB2-4DB5-9714-60B0AA0CC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2140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AD35B1B-2A8D-41A9-B08D-5D5BD6E1DC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DC6599B-EA54-4D31-928F-B6869684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The first catch block would catch ALL exceptions, so the others are never run.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B8B5E3F-C61C-4106-A878-DCA2C6C3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BC78E0E-0FB2-4DB5-9714-60B0AA0CC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702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0A43CC5-918D-47E0-BEE4-E8CA17808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5955AB8-F3B6-4E99-812F-D7B97F625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0A43CC5-918D-47E0-BEE4-E8CA17808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5955AB8-F3B6-4E99-812F-D7B97F625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Runtime exceptions generally shouldn’t be caught, because they represent are programming error and should be fixed when you’re writing the code.</a:t>
            </a:r>
          </a:p>
        </p:txBody>
      </p:sp>
    </p:spTree>
    <p:extLst>
      <p:ext uri="{BB962C8B-B14F-4D97-AF65-F5344CB8AC3E}">
        <p14:creationId xmlns:p14="http://schemas.microsoft.com/office/powerpoint/2010/main" val="27029247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0A43CC5-918D-47E0-BEE4-E8CA17808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5955AB8-F3B6-4E99-812F-D7B97F625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Runtime exceptions generally shouldn’t be caught, because they represent are programming error and should be fixed when you’re writing the code.</a:t>
            </a:r>
          </a:p>
        </p:txBody>
      </p:sp>
    </p:spTree>
    <p:extLst>
      <p:ext uri="{BB962C8B-B14F-4D97-AF65-F5344CB8AC3E}">
        <p14:creationId xmlns:p14="http://schemas.microsoft.com/office/powerpoint/2010/main" val="32277839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751BCEF-00EB-4F0D-859A-09EFAF270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809DC36-00B1-4A54-AEC6-3EEA44659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l"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Exceptions provide the means to separate the details of what to do when something out of the ordinary happens from the main logic of a program. In traditional programming, error detection, reporting, and handling often lead to confusing spaghetti code. </a:t>
            </a:r>
          </a:p>
          <a:p>
            <a:pPr marL="228600" indent="-228600" algn="l"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751BCEF-00EB-4F0D-859A-09EFAF270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809DC36-00B1-4A54-AEC6-3EEA44659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l"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Exceptions provide the means to separate the details of what to do when something out of the ordinary happens from the main logic of a program. In traditional programming, error detection, reporting, and handling often lead to confusing spaghetti code. </a:t>
            </a:r>
          </a:p>
          <a:p>
            <a:pPr marL="228600" indent="-228600" algn="l"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2450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751BCEF-00EB-4F0D-859A-09EFAF270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809DC36-00B1-4A54-AEC6-3EEA44659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l"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Exceptions provide the means to separate the details of what to do when something out of the ordinary happens from the main logic of a program. In traditional programming, error detection, reporting, and handling often lead to confusing spaghetti code. </a:t>
            </a:r>
          </a:p>
          <a:p>
            <a:pPr marL="228600" indent="-228600" algn="l"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65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751BCEF-00EB-4F0D-859A-09EFAF270F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809DC36-00B1-4A54-AEC6-3EEA44659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l"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5955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E298D07-7485-4AF6-9B75-CB04FB5FD6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BF032A1-0249-444B-BDBD-E5B7D1CCF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A22D8-7354-4816-864E-EE081205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FED4A-1DD3-4194-A0AE-42D9069E66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8F19C1-AC8C-4448-AE30-D40CB95168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BB53A-367D-41BA-8EF6-643310AFFB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9948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6097-BF5D-4B97-A8BC-F62702A8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20178-6E2C-4E7F-931B-5A389A23F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036799-4555-4C6C-80A3-5E57D8EE945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68839-8342-4ED3-87AA-73D5153F07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3510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D7C7C-6674-46CB-A17B-716CFD21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B958E-87D1-48FE-AC38-ECDD2AF2E4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B0B58F-5A69-41C6-A88A-E0C151F0FCE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21155-143C-46B0-8878-41EB3319499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8079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00EE6-15C0-4897-9088-6BC4780B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8B44-AD11-4DD5-ACDA-9975033CA1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185C97-BA49-4E5C-B40B-1633CA2612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CE763-9F64-41A8-851B-028E81C34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9091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DF4FF-ED35-4292-AA22-0EB8A611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6F33BE-CF5A-466F-8292-F743A0E414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FE120A1-226A-4DA8-A099-B35C4FD9AF3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690BE65-A35C-42C8-A29E-0E531A919E0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8180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1FEDE-04AA-48E1-860F-1D02A3AE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32E8-6544-4A1B-8048-B4CDB923D7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F426E0-A0CD-4FC4-850D-F6EAD2BEF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B59B9-C89C-44DB-8ADC-1280E7D8FD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2987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EADC2-6FE4-4C68-81E6-FFB54530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3C9E9-7A8E-40DB-B17E-390B0CF8F0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6A23195-76A1-4E41-B078-410DC29B28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40015-B0F2-44A6-9EAC-F855964659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7029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B116C-5EC4-4D6D-B6DD-6F470AC2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6358-770D-4C16-8723-DAE00AA11E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AAA51B-5F86-497F-84F7-5D66EE6472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1A40A8A-3A24-4C26-A3A0-AEF01390E6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84272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D4760-53A2-4465-8F9B-74274D5E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CA321-B86C-4A8F-B666-8EBDF56E3D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FE1A67-640C-4713-9160-0816BC503E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9EC66F-2A92-4446-B5EE-CB1FF0E013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6852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22CA8-60CB-43B1-99F2-D1D30C1D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17BDF-5949-45C3-9520-7F6C5CF230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6A3EF1-9EC9-453A-8B03-CC0DD58C4F9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1303A-1381-4CDE-BBE4-740231AF66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881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7D00-DD7F-4139-9259-8FC2DF9A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07E00-2465-4A56-A274-45CE2E5B5D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9DF65E-0F19-4D9A-8641-1198172E0AE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7EDD6-6B9B-4183-8332-88C25DBAE8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10112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5BCED5-BD4B-1EA7-A713-4444D03DEF5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18ED071-3750-DBC4-1F3C-A9A7A49B6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AEB211C8-3B21-4FB5-6781-291642887EE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8D93371-0BF0-205F-D213-F6066B34A251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1AD8AB0C-D687-CD25-7022-B92C2D3A2F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5C41D1B5-D1AE-2E89-27D9-ED7468AD4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380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3804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28D81C25-ADF6-BCAE-303D-DDC72EB8091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D7E0F38-0640-E844-7F44-4AFF9E3D9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DEE01F9-E2E5-33B4-96AA-2AF0BF088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318F13F3-6892-43EB-9416-7CDBBA3FFB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066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DD28DA0-F1A2-6DAA-3683-858621D06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317FC56-1DA1-EC07-40F0-DACED51F05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BDB3665-9168-7AAA-D3FB-C9BF57537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424D3D-5621-4189-B3BF-C074E041A9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873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F91DCF2-DD58-E31E-F5B3-3E38BAC3CF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39E187D-842A-9FA7-7E52-4F5435C7B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8B37E50-7D69-AE09-43AB-D1234D7409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2685E1-12AE-400F-AF1D-CDA18262B0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9118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7C04ED9-524D-D372-4CFA-08EC5C5DD4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05CA3A2-15AC-12C2-D43C-0AA2A4733E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DA1CA6B-581A-291A-D742-2772BA1C1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2D12F-676E-46BB-A03F-DDBAECE2B1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417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C7CF16F-075C-6EEB-A9B0-642B9D9C16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44C54F1-3D93-E9DD-CFAD-C6B3B2FE1D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B2CF296E-B7D2-D02A-6614-D06395D44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58DBE3-6187-4678-8E29-936A825CA4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172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8220F38-CB8D-8254-A30E-618F198A8F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691B5E6-5D08-AB35-CC7A-8D0874D90E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021F45E-4AE0-4DA0-2209-D7AC6DD0E5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1AD5B-4C80-48FB-B8E4-85F61B818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89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D564F84-32D9-22A6-EE8C-4088360087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8A0E72A3-6B4A-E39A-2E44-AEDFBD0805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0617856-1202-F261-CCDB-0159B644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15A80-F242-41A7-8A2A-A38F4D5F6B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9560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3008093-3773-A45D-861D-0087295355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4172FF-BB61-43CE-96D0-67F03868EE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1F6AD88-3895-6DFF-62E2-D6D6438B4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555EA-FD6C-4322-9CB9-3E97328AC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2069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D1667EB-77D4-C34F-AFE1-588CF22ECC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4FD0B31-5EB7-5EAA-6B12-65C61303BC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5FB22DE-5441-9AAA-DDAC-812AD6C987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617D0-D4A5-40E3-9EE3-F929347837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3877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DEC7355-C9E4-59DC-1C6C-FA656DC125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CB0C741-96F9-CC76-A9E1-A6860340B8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378440D-FACB-C2BB-5E75-85B40D5076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24E24F-426A-4F00-89CD-3B6402329E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4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0C9174B-2401-520C-ED29-90C7591C2F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A315BD5-FF22-0F05-6926-81FC958BBB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A2838DD-2652-C869-2717-415FC24CF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5F20C9-6D48-4242-BBB7-DB3EE76926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901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lIns="45720" tIns="0" rIns="45720" bIns="0" anchor="b">
            <a:scene3d>
              <a:camera prst="orthographicFront"/>
              <a:lightRig rig="soft" dir="t">
                <a:rot lat="0" lon="0" rev="17220000"/>
              </a:lightRig>
            </a:scene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0AA5830-C7C7-2D38-BA35-4E44736B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6D223-E11B-3F51-F229-768BE9FA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D654B156-6C5D-3C35-32C5-5FB5D010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C52C3F-DC71-413A-964D-6A6C14BCA3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747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2DE068C-E539-E747-259A-FC61D137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C12F511-17C3-4E9F-57DF-80CE564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BB0F8D2-B05D-F05A-711E-A0A80412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13EEE-2002-496B-8FBF-EBEAF7C034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697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44992-0BB3-8CB4-6696-ABD7CE2E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2FC28-9BC9-8DDA-E0E6-62B7C110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1C440-C4DA-CB02-EE57-5C929437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C400B-EB9D-42CA-8960-21922AC3FF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98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31121830-71E1-3DD9-7E85-B8E7835A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F77600E-1013-6129-C952-04474C58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D6F942AD-7551-5F25-36C5-37183836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9E936B-46E8-45D5-BFFD-29BE8B2836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0654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92A3ECA6-2728-A7B7-DEA9-EE42EB3C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C2DDD30-02BA-3BF1-81D7-56E1E768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C776CF56-4E1C-B4E5-170E-DD831136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147A98-C867-4604-BAD5-3FD5C3149E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837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92A2B2D-75C0-F159-2235-304EBD35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085DE51-8A0A-ED51-B350-BD069703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30F0E3-607F-1A8A-00D6-A061226C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71B69-3384-4DE1-B30F-0AC3F44E7E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976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AA6942F0-973C-2944-B3E4-B4592747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72527-63E8-0F91-5201-C92B2DAF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5F929434-26C2-DA99-76E9-6DA664BA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35390C-458A-48B1-B440-7CEED5553C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5200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09C6EAF4-AC39-8CF5-A61C-722723FE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51F2B79-55C4-FFE7-EF27-A913D52D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B835AC75-5EAE-46A8-BC39-80933C64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EC7AF-A0EF-4A5D-A25E-C113B55AA6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7711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rIns="45720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7D2390C0-BA0F-5299-59D3-E673D4C1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C8095AB-F6E7-7241-0D39-68584FB2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92862164-2666-FBA6-43E8-CEE19276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44F46-4050-4596-9694-97793CC9E5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301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B3DA11A-1BB1-F051-2D3A-441DC738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C1EC9E5-9928-D7DB-800A-8BD82135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6808A135-E433-1B54-4409-E1592523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841413-D338-4BFA-930F-97C8189A61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6909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2D5C077-41A4-2775-1FDF-CC9685D5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BF311AF-9357-7B79-2DB5-8A312B2B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35414A89-0587-3C0B-1300-9059EC66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FF6A5-0E35-4578-A105-89B369A683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098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78A8E04-0779-4CD6-B88F-B86B1077F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21F2296-1D75-4053-B9AF-F472CC760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E86540F-8A54-43DB-AF8D-089CB73740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A929E9-3314-4370-AB43-5A561D1CC6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53B8419D-7A5A-40EC-BC62-3FE8B05D4C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C0AC544-C5D1-490A-BAA8-28F8555566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CA19A7C-2E0D-5B04-902A-1675C3D7A33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C9E881FF-72A6-C602-718A-8014248BA15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7EC93399-CDA0-A0D3-B6C5-9F6DE64F75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CE7B689C-7F16-5836-673F-E5384E95F6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EE9C97CF-007B-5568-3F4E-D969C3443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9A35D05D-2B9B-C365-1223-A413BEA6A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61FFA5A8-C500-6919-CA46-8F821F7EB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F3883155-562D-1E28-B3FD-4A5D3CC53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6A47DC4E-E2CC-7EA7-66DD-9FCAE1866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A931B964-FAF6-43B8-C4E7-5A5328A81D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4A81A1C4-C7E8-DDD5-E4E8-94E869A7E3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81" name="Rectangle 13">
            <a:extLst>
              <a:ext uri="{FF2B5EF4-FFF2-40B4-BE49-F238E27FC236}">
                <a16:creationId xmlns:a16="http://schemas.microsoft.com/office/drawing/2014/main" id="{069D958A-B9C0-D81C-916D-C0894E0006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7756B3FE-CDEC-440D-A300-ADFD48F50A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22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0D7364E3-5376-410C-D4AC-11ECE7156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5F710BCD-AE9B-CAB0-F26B-6D935AA067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B2BA6BA-0DA6-DFC0-DC78-A66277E55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3FD63-D5E3-9E65-01C8-C01CC71F0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013C94C-9051-9ADA-36D8-5347DD38E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BCBCBC"/>
                </a:solidFill>
              </a:defRPr>
            </a:lvl1pPr>
          </a:lstStyle>
          <a:p>
            <a:fld id="{93C1023B-359A-42D0-92A2-000FE61D9B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679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100" b="1" kern="120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itchFamily="34" charset="0"/>
        </a:defRPr>
      </a:lvl9pPr>
    </p:titleStyle>
    <p:bodyStyle>
      <a:lvl1pPr marL="547688" indent="-411163" algn="l" rtl="0" eaLnBrk="0" fontAlgn="base" hangingPunct="0">
        <a:spcBef>
          <a:spcPct val="20000"/>
        </a:spcBef>
        <a:spcAft>
          <a:spcPct val="0"/>
        </a:spcAft>
        <a:buClr>
          <a:srgbClr val="F9F9F9"/>
        </a:buClr>
        <a:buSzPct val="65000"/>
        <a:buFont typeface="Wingdings 2" panose="05020102010507070707" pitchFamily="18" charset="2"/>
        <a:buChar char="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363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47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anose="05000000000000000000" pitchFamily="2" charset="2"/>
        <a:buChar char="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1825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 3" panose="050401020108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4638" indent="-1825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A6C5C22-38B9-4C89-AC59-59954554EF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14339" name="WordArt 3">
            <a:extLst>
              <a:ext uri="{FF2B5EF4-FFF2-40B4-BE49-F238E27FC236}">
                <a16:creationId xmlns:a16="http://schemas.microsoft.com/office/drawing/2014/main" id="{56EF31A3-FDC2-4EF8-A00D-A143F5BE09F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295400"/>
            <a:ext cx="8001000" cy="2895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Java Exception 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Handling</a:t>
            </a:r>
          </a:p>
        </p:txBody>
      </p:sp>
      <p:sp>
        <p:nvSpPr>
          <p:cNvPr id="14340" name="WordArt 6">
            <a:extLst>
              <a:ext uri="{FF2B5EF4-FFF2-40B4-BE49-F238E27FC236}">
                <a16:creationId xmlns:a16="http://schemas.microsoft.com/office/drawing/2014/main" id="{D4DD8CE2-79B6-48A5-9520-C4D3D39035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Lab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B5742F0B-9FF6-DB7F-B7AA-B922D61C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 sz="5400" b="1" dirty="0">
                <a:solidFill>
                  <a:schemeClr val="tx1"/>
                </a:solidFill>
                <a:latin typeface="Abadi" panose="020B0604020104020204" pitchFamily="34" charset="0"/>
              </a:rPr>
              <a:t>Why Exceptions?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C14B05C-ADF4-A308-FA9F-250677B0EC1A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914400" y="1828800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/>
              <a:t>We seek </a:t>
            </a:r>
            <a:r>
              <a:rPr lang="en-US" altLang="en-US" sz="2800" u="sng" dirty="0"/>
              <a:t>robust</a:t>
            </a:r>
            <a:r>
              <a:rPr lang="en-US" altLang="en-US" sz="2800" dirty="0"/>
              <a:t> programs</a:t>
            </a:r>
          </a:p>
          <a:p>
            <a:pPr algn="l"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/>
              <a:t>When something unexpected occurs</a:t>
            </a:r>
          </a:p>
          <a:p>
            <a:pPr lvl="1" algn="l" eaLnBrk="1" hangingPunct="1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/>
              <a:t>Ensure program detects the problem</a:t>
            </a:r>
          </a:p>
          <a:p>
            <a:pPr lvl="1" algn="l" eaLnBrk="1" hangingPunct="1"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/>
              <a:t>Then program must do something about it</a:t>
            </a:r>
          </a:p>
          <a:p>
            <a:pPr algn="l" eaLnBrk="1" hangingPunct="1"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/>
              <a:t>Extensive testing of special situations can result in "spaghetti code"</a:t>
            </a:r>
          </a:p>
          <a:p>
            <a:pPr algn="l"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/>
              <a:t>We need mechanism to check for problem where it could occur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9A6C653-60E8-42C5-B403-B4FC919726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16387" name="WordArt 2">
            <a:extLst>
              <a:ext uri="{FF2B5EF4-FFF2-40B4-BE49-F238E27FC236}">
                <a16:creationId xmlns:a16="http://schemas.microsoft.com/office/drawing/2014/main" id="{AF1AC4DA-EFC3-4DE6-B0B6-B38EC870575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7800" y="914400"/>
            <a:ext cx="60960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an Exception?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74527E50-AFA9-4CD4-8624-3E561BA0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306" y="2286000"/>
            <a:ext cx="78486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An exception is a class used to store error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6F56B-6E4A-0034-FC15-7CF31370CD22}"/>
              </a:ext>
            </a:extLst>
          </p:cNvPr>
          <p:cNvSpPr txBox="1"/>
          <p:nvPr/>
        </p:nvSpPr>
        <p:spPr>
          <a:xfrm>
            <a:off x="432547" y="4141782"/>
            <a:ext cx="82789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1200"/>
              </a:spcAft>
              <a:buClr>
                <a:schemeClr val="bg1"/>
              </a:buClr>
              <a:defRPr/>
            </a:pPr>
            <a:r>
              <a:rPr lang="en-US" sz="3600" dirty="0"/>
              <a:t>Exceptions are thrown in exceptional circumstances. If an exception is not caught / handled, the program terminates </a:t>
            </a:r>
          </a:p>
        </p:txBody>
      </p:sp>
    </p:spTree>
    <p:extLst>
      <p:ext uri="{BB962C8B-B14F-4D97-AF65-F5344CB8AC3E}">
        <p14:creationId xmlns:p14="http://schemas.microsoft.com/office/powerpoint/2010/main" val="2472769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3">
            <a:extLst>
              <a:ext uri="{FF2B5EF4-FFF2-40B4-BE49-F238E27FC236}">
                <a16:creationId xmlns:a16="http://schemas.microsoft.com/office/drawing/2014/main" id="{74527E50-AFA9-4CD4-8624-3E561BA0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14400"/>
            <a:ext cx="6857999" cy="5109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3600" i="0" dirty="0">
                <a:solidFill>
                  <a:srgbClr val="555555"/>
                </a:solidFill>
                <a:effectLst/>
                <a:latin typeface="Inter"/>
              </a:rPr>
              <a:t>Handling Exceptions </a:t>
            </a:r>
            <a:r>
              <a:rPr lang="en-US" sz="3600" b="0" i="0" dirty="0">
                <a:solidFill>
                  <a:srgbClr val="555555"/>
                </a:solidFill>
                <a:effectLst/>
                <a:latin typeface="Inter"/>
              </a:rPr>
              <a:t>is one of the most basic and fundamental things a developer should know by heart. 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buNone/>
            </a:pPr>
            <a:endParaRPr lang="en-US" sz="3600" b="0" i="0" dirty="0">
              <a:solidFill>
                <a:srgbClr val="555555"/>
              </a:solidFill>
              <a:effectLst/>
              <a:latin typeface="Inter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3600" b="0" i="0" dirty="0">
                <a:solidFill>
                  <a:srgbClr val="555555"/>
                </a:solidFill>
                <a:effectLst/>
                <a:latin typeface="Inter"/>
              </a:rPr>
              <a:t>Sadly, this is often overlooked, and the importance of exception handling is underestimated - it's as important as the rest of the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71DE404-EE23-D7AD-F3BD-AACB966B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2DD0F2-D4A6-4622-A0B2-831ECD5495F0}" type="slidenum">
              <a:rPr lang="en-US" altLang="en-US">
                <a:solidFill>
                  <a:srgbClr val="BCBCBC"/>
                </a:solidFill>
              </a:rPr>
              <a:pPr/>
              <a:t>5</a:t>
            </a:fld>
            <a:endParaRPr lang="en-US" altLang="en-US">
              <a:solidFill>
                <a:srgbClr val="BCBCBC"/>
              </a:solidFill>
            </a:endParaRPr>
          </a:p>
        </p:txBody>
      </p:sp>
      <p:pic>
        <p:nvPicPr>
          <p:cNvPr id="1026" name="Picture 2" descr="Throwable is the root&#10;Error and Exception extend Throwable&#10;IOException, SQLException, MalformedURLException, etc. extend Exception&#10;RuntimeException extends Exception &#10;NullPointerException, NumberFormatException, ClassCastException, and IndexOutOfBounds extned RuntimeException">
            <a:extLst>
              <a:ext uri="{FF2B5EF4-FFF2-40B4-BE49-F238E27FC236}">
                <a16:creationId xmlns:a16="http://schemas.microsoft.com/office/drawing/2014/main" id="{D51BBD14-DE3C-F282-CB72-37843C5B9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0"/>
            <a:ext cx="8036425" cy="683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11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E8DD03B7-0D98-F251-487F-205FBC8522B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Java Exception Hierarchy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5D0B880-25E5-07DD-ED0F-31FE2E93E692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228600" y="1600200"/>
            <a:ext cx="8915400" cy="4708525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en-US" altLang="en-US" sz="3600" dirty="0"/>
              <a:t>Superclass </a:t>
            </a:r>
            <a:r>
              <a:rPr lang="en-US" altLang="en-US" sz="3600" b="1" dirty="0">
                <a:solidFill>
                  <a:srgbClr val="FFFF99"/>
                </a:solidFill>
                <a:latin typeface="Courier New" panose="02070309020205020404" pitchFamily="49" charset="0"/>
              </a:rPr>
              <a:t>Throwable</a:t>
            </a:r>
            <a:endParaRPr lang="en-US" altLang="en-US" sz="3600" dirty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sz="3200" dirty="0"/>
              <a:t>Subclass </a:t>
            </a:r>
            <a:r>
              <a:rPr lang="en-US" altLang="en-US" sz="3200" b="1" dirty="0">
                <a:solidFill>
                  <a:srgbClr val="FFFF99"/>
                </a:solidFill>
                <a:latin typeface="Courier New" panose="02070309020205020404" pitchFamily="49" charset="0"/>
              </a:rPr>
              <a:t>Exception</a:t>
            </a:r>
            <a:endParaRPr lang="en-US" altLang="en-US" sz="32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altLang="en-US" sz="2800" dirty="0"/>
              <a:t>Exceptional situations</a:t>
            </a:r>
          </a:p>
          <a:p>
            <a:pPr lvl="2" eaLnBrk="1" hangingPunct="1">
              <a:spcAft>
                <a:spcPts val="1200"/>
              </a:spcAft>
            </a:pPr>
            <a:r>
              <a:rPr lang="en-US" altLang="en-US" sz="2800" dirty="0"/>
              <a:t>Should be caught by program</a:t>
            </a:r>
          </a:p>
          <a:p>
            <a:pPr lvl="1" eaLnBrk="1" hangingPunct="1"/>
            <a:r>
              <a:rPr lang="en-US" altLang="en-US" sz="3200" dirty="0"/>
              <a:t>Subclass </a:t>
            </a:r>
            <a:r>
              <a:rPr lang="en-US" altLang="en-US" sz="3200" b="1" dirty="0">
                <a:solidFill>
                  <a:srgbClr val="FFFF99"/>
                </a:solidFill>
                <a:latin typeface="Courier New" panose="02070309020205020404" pitchFamily="49" charset="0"/>
              </a:rPr>
              <a:t>Error</a:t>
            </a:r>
            <a:endParaRPr lang="en-US" altLang="en-US" sz="3200" dirty="0">
              <a:latin typeface="Courier New" panose="02070309020205020404" pitchFamily="49" charset="0"/>
            </a:endParaRPr>
          </a:p>
          <a:p>
            <a:pPr lvl="2" eaLnBrk="1" hangingPunct="1"/>
            <a:r>
              <a:rPr lang="en-US" sz="2800" dirty="0">
                <a:solidFill>
                  <a:prstClr val="black"/>
                </a:solidFill>
                <a:latin typeface="Book Antiqua" pitchFamily="18" charset="0"/>
                <a:ea typeface="SimSun" pitchFamily="2" charset="-122"/>
              </a:rPr>
              <a:t>Examples JVM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itchFamily="18" charset="0"/>
                <a:ea typeface="SimSun" pitchFamily="2" charset="-122"/>
                <a:cs typeface="+mn-cs"/>
              </a:rPr>
              <a:t> errors and resource exhaustion </a:t>
            </a:r>
          </a:p>
          <a:p>
            <a:pPr lvl="2" eaLnBrk="1" hangingPunct="1"/>
            <a:r>
              <a:rPr lang="en-US" altLang="en-US" sz="2800" dirty="0"/>
              <a:t>Typically not caught by program</a:t>
            </a:r>
          </a:p>
          <a:p>
            <a:pPr lvl="2" eaLnBrk="1" hangingPunct="1"/>
            <a:r>
              <a:rPr lang="en-US" altLang="en-US" sz="2800" dirty="0"/>
              <a:t>Program can’t usually recover from these</a:t>
            </a:r>
          </a:p>
        </p:txBody>
      </p:sp>
      <p:sp>
        <p:nvSpPr>
          <p:cNvPr id="47108" name="Slide Number Placeholder 5">
            <a:extLst>
              <a:ext uri="{FF2B5EF4-FFF2-40B4-BE49-F238E27FC236}">
                <a16:creationId xmlns:a16="http://schemas.microsoft.com/office/drawing/2014/main" id="{C9C0D1D2-B157-164F-8BEE-F9900EE3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835223-A9E5-4399-B02D-ABCF719A5F9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BCBCBC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BCBCBC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B811460-ACCF-59C1-6165-491AD5FA69C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31376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Java Exception Hierarchy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9910C16-7E4C-2601-2452-BEC858D1B716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342900" y="1174376"/>
            <a:ext cx="8458200" cy="4708525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/>
              <a:t>Unchecked exceptions</a:t>
            </a:r>
          </a:p>
          <a:p>
            <a:pPr lvl="1" eaLnBrk="1" hangingPunct="1">
              <a:defRPr/>
            </a:pPr>
            <a:r>
              <a:rPr lang="en-US" altLang="en-US" kern="0" dirty="0"/>
              <a:t>I</a:t>
            </a:r>
            <a:r>
              <a:rPr lang="en-US" altLang="en-US" b="0" kern="0" dirty="0"/>
              <a:t>ndicate programming errors such as precondition violations</a:t>
            </a:r>
          </a:p>
          <a:p>
            <a:pPr lvl="1" eaLnBrk="1" hangingPunct="1">
              <a:defRPr/>
            </a:pPr>
            <a:r>
              <a:rPr lang="en-US" altLang="en-US" sz="2400" dirty="0"/>
              <a:t>It’s your fault. Fix it!</a:t>
            </a:r>
            <a:endParaRPr lang="en-US" altLang="en-US" b="0" kern="0" dirty="0"/>
          </a:p>
          <a:p>
            <a:pPr lvl="1" eaLnBrk="1" hangingPunct="1">
              <a:defRPr/>
            </a:pPr>
            <a:r>
              <a:rPr lang="en-US" dirty="0"/>
              <a:t>Don’t obey Catch or declare rule.  </a:t>
            </a:r>
          </a:p>
          <a:p>
            <a:pPr lvl="1" eaLnBrk="1" hangingPunct="1">
              <a:defRPr/>
            </a:pPr>
            <a:r>
              <a:rPr lang="en-US" dirty="0"/>
              <a:t>Extend </a:t>
            </a:r>
            <a:r>
              <a:rPr lang="en-US" b="1" dirty="0" err="1">
                <a:solidFill>
                  <a:srgbClr val="FFFF99"/>
                </a:solidFill>
                <a:latin typeface="Courier New" pitchFamily="49" charset="0"/>
              </a:rPr>
              <a:t>RunTimeException</a:t>
            </a:r>
            <a:br>
              <a:rPr lang="en-US" b="1" dirty="0">
                <a:solidFill>
                  <a:srgbClr val="FFFF99"/>
                </a:solidFill>
                <a:latin typeface="Courier New" pitchFamily="49" charset="0"/>
              </a:rPr>
            </a:br>
            <a:endParaRPr lang="en-US" b="1" dirty="0">
              <a:solidFill>
                <a:srgbClr val="FFFF99"/>
              </a:solidFill>
              <a:latin typeface="Courier New" pitchFamily="49" charset="0"/>
            </a:endParaRPr>
          </a:p>
          <a:p>
            <a:pPr eaLnBrk="1" hangingPunct="1">
              <a:defRPr/>
            </a:pPr>
            <a:r>
              <a:rPr lang="en-US" b="1" dirty="0"/>
              <a:t>Checked exceptions</a:t>
            </a:r>
          </a:p>
          <a:p>
            <a:pPr lvl="1" eaLnBrk="1" hangingPunct="1">
              <a:defRPr/>
            </a:pPr>
            <a:r>
              <a:rPr lang="en-US" dirty="0"/>
              <a:t>Must obey Catch or Declare rule.  </a:t>
            </a:r>
          </a:p>
          <a:p>
            <a:pPr lvl="1" eaLnBrk="1" hangingPunct="1">
              <a:defRPr/>
            </a:pPr>
            <a:r>
              <a:rPr lang="en-US" altLang="en-US" sz="2400" dirty="0"/>
              <a:t>Should be caught by some level of program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Includes </a:t>
            </a:r>
            <a:r>
              <a:rPr lang="en-US" b="1" dirty="0" err="1">
                <a:solidFill>
                  <a:srgbClr val="FFFF99"/>
                </a:solidFill>
                <a:latin typeface="Courier New" pitchFamily="49" charset="0"/>
              </a:rPr>
              <a:t>IOExceptions</a:t>
            </a:r>
            <a:r>
              <a:rPr lang="en-US" dirty="0"/>
              <a:t> and any other exceptions that extend </a:t>
            </a:r>
            <a:r>
              <a:rPr lang="en-US" b="1" dirty="0">
                <a:solidFill>
                  <a:srgbClr val="FFFF99"/>
                </a:solidFill>
                <a:latin typeface="Courier New" pitchFamily="49" charset="0"/>
              </a:rPr>
              <a:t>Exception</a:t>
            </a:r>
            <a:r>
              <a:rPr lang="en-US" dirty="0"/>
              <a:t> but not </a:t>
            </a:r>
            <a:r>
              <a:rPr lang="en-US" b="1" dirty="0" err="1">
                <a:solidFill>
                  <a:srgbClr val="FFFF99"/>
                </a:solidFill>
                <a:latin typeface="Courier New" pitchFamily="49" charset="0"/>
              </a:rPr>
              <a:t>RunTimeException</a:t>
            </a:r>
            <a:r>
              <a:rPr lang="en-US" dirty="0"/>
              <a:t>.</a:t>
            </a:r>
          </a:p>
        </p:txBody>
      </p:sp>
      <p:sp>
        <p:nvSpPr>
          <p:cNvPr id="48132" name="Slide Number Placeholder 5">
            <a:extLst>
              <a:ext uri="{FF2B5EF4-FFF2-40B4-BE49-F238E27FC236}">
                <a16:creationId xmlns:a16="http://schemas.microsoft.com/office/drawing/2014/main" id="{748958E5-2BDD-DB56-5FF8-8EC44922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E77844-0F94-413C-A2D9-04CD830F744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BCBCBC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BCBCBC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>
            <a:extLst>
              <a:ext uri="{FF2B5EF4-FFF2-40B4-BE49-F238E27FC236}">
                <a16:creationId xmlns:a16="http://schemas.microsoft.com/office/drawing/2014/main" id="{861942F2-1729-4891-B764-C916B7D94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28519"/>
            <a:ext cx="8270383" cy="5829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NullPointerException</a:t>
            </a:r>
            <a:r>
              <a:rPr lang="en-US" altLang="en-US" sz="2800" dirty="0">
                <a:latin typeface="Arial" panose="020B0604020202020204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ArrayIndexOutOfBoundsException</a:t>
            </a:r>
            <a:r>
              <a:rPr lang="en-US" altLang="en-US" sz="2800" dirty="0">
                <a:latin typeface="Arial" panose="020B0604020202020204" pitchFamily="34" charset="0"/>
              </a:rPr>
              <a:t>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IndexOutOfBoundsException</a:t>
            </a:r>
            <a:r>
              <a:rPr lang="en-US" altLang="en-US" sz="2800" dirty="0">
                <a:latin typeface="Arial" panose="020B0604020202020204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IllegalArgumentException</a:t>
            </a:r>
            <a:r>
              <a:rPr lang="en-US" altLang="en-US" sz="2800" dirty="0">
                <a:latin typeface="Arial" panose="020B0604020202020204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b="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ClassCastException</a:t>
            </a:r>
            <a:r>
              <a:rPr lang="en-US" altLang="en-US" sz="2800" dirty="0">
                <a:latin typeface="Arial" panose="020B0604020202020204" pitchFamily="34" charset="0"/>
              </a:rPr>
              <a:t>   	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ArithmeticException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fr-FR" altLang="en-US" sz="2800" b="0" dirty="0">
                <a:latin typeface="Arial" panose="020B0604020202020204" pitchFamily="34" charset="0"/>
              </a:rPr>
              <a:t>	</a:t>
            </a:r>
            <a:r>
              <a:rPr lang="fr-FR" altLang="en-US" sz="2800" b="0" dirty="0" err="1">
                <a:latin typeface="Arial" panose="020B0604020202020204" pitchFamily="34" charset="0"/>
              </a:rPr>
              <a:t>java.util</a:t>
            </a:r>
            <a:r>
              <a:rPr lang="fr-FR" altLang="en-US" sz="2800" b="0" dirty="0">
                <a:latin typeface="Arial" panose="020B0604020202020204" pitchFamily="34" charset="0"/>
              </a:rPr>
              <a:t>.</a:t>
            </a:r>
            <a:r>
              <a:rPr lang="fr-FR" altLang="en-US" sz="2800" dirty="0">
                <a:latin typeface="Arial" panose="020B0604020202020204" pitchFamily="34" charset="0"/>
              </a:rPr>
              <a:t>	</a:t>
            </a:r>
            <a:r>
              <a:rPr lang="fr-FR" altLang="en-US" sz="2800" dirty="0" err="1">
                <a:latin typeface="Arial" panose="020B0604020202020204" pitchFamily="34" charset="0"/>
              </a:rPr>
              <a:t>NoSuchElementException</a:t>
            </a:r>
            <a:r>
              <a:rPr lang="fr-FR" altLang="en-US" sz="2800" dirty="0">
                <a:latin typeface="Arial" panose="020B0604020202020204" pitchFamily="34" charset="0"/>
              </a:rPr>
              <a:t>	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546225" algn="r"/>
                <a:tab pos="1600200" algn="l"/>
              </a:tabLst>
            </a:pPr>
            <a:r>
              <a:rPr lang="fr-FR" altLang="en-US" sz="2800" b="0" dirty="0">
                <a:latin typeface="Arial" panose="020B0604020202020204" pitchFamily="34" charset="0"/>
              </a:rPr>
              <a:t>	</a:t>
            </a:r>
            <a:r>
              <a:rPr lang="fr-FR" altLang="en-US" sz="2800" b="0" dirty="0" err="1">
                <a:latin typeface="Arial" panose="020B0604020202020204" pitchFamily="34" charset="0"/>
              </a:rPr>
              <a:t>java.util</a:t>
            </a:r>
            <a:r>
              <a:rPr lang="fr-FR" altLang="en-US" sz="2800" b="0" dirty="0">
                <a:latin typeface="Arial" panose="020B0604020202020204" pitchFamily="34" charset="0"/>
              </a:rPr>
              <a:t>.</a:t>
            </a:r>
            <a:r>
              <a:rPr lang="fr-FR" altLang="en-US" sz="2800" dirty="0">
                <a:latin typeface="Arial" panose="020B0604020202020204" pitchFamily="34" charset="0"/>
              </a:rPr>
              <a:t>	</a:t>
            </a:r>
            <a:r>
              <a:rPr lang="fr-FR" altLang="en-US" sz="2800" dirty="0" err="1">
                <a:latin typeface="Arial" panose="020B0604020202020204" pitchFamily="34" charset="0"/>
              </a:rPr>
              <a:t>IllegalStateException</a:t>
            </a:r>
            <a:r>
              <a:rPr lang="fr-FR" altLang="en-US" sz="2800" dirty="0">
                <a:latin typeface="Arial" panose="020B0604020202020204" pitchFamily="34" charset="0"/>
              </a:rPr>
              <a:t>	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>
                <a:latin typeface="Arial" panose="020B0604020202020204" pitchFamily="34" charset="0"/>
              </a:rPr>
              <a:t>java.io.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ConcurrentModificationException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9AABE-51B6-243E-2169-EF37193A7136}"/>
              </a:ext>
            </a:extLst>
          </p:cNvPr>
          <p:cNvSpPr/>
          <p:nvPr/>
        </p:nvSpPr>
        <p:spPr>
          <a:xfrm>
            <a:off x="0" y="212108"/>
            <a:ext cx="910858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Common Runtime Exceptions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>
            <a:extLst>
              <a:ext uri="{FF2B5EF4-FFF2-40B4-BE49-F238E27FC236}">
                <a16:creationId xmlns:a16="http://schemas.microsoft.com/office/drawing/2014/main" id="{861942F2-1729-4891-B764-C916B7D94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7239000" cy="3890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492250" algn="r"/>
                <a:tab pos="1546225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>
                <a:latin typeface="Arial" panose="020B0604020202020204" pitchFamily="34" charset="0"/>
              </a:rPr>
              <a:t>java.io.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IOException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492250" algn="r"/>
                <a:tab pos="1546225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>
                <a:latin typeface="Arial" panose="020B0604020202020204" pitchFamily="34" charset="0"/>
              </a:rPr>
              <a:t>java.io.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FileNotFoundException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492250" algn="r"/>
                <a:tab pos="1546225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>
                <a:latin typeface="Arial" panose="020B0604020202020204" pitchFamily="34" charset="0"/>
              </a:rPr>
              <a:t>java.net.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SocketException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492250" algn="r"/>
                <a:tab pos="1546225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>
                <a:latin typeface="Arial" panose="020B0604020202020204" pitchFamily="34" charset="0"/>
              </a:rPr>
              <a:t>java.io.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MalformedURLException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492250" algn="r"/>
                <a:tab pos="1546225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>
                <a:latin typeface="Arial" panose="020B0604020202020204" pitchFamily="34" charset="0"/>
              </a:rPr>
              <a:t>java.io.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UnknownHostException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492250" algn="r"/>
                <a:tab pos="1546225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InterruptedException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4052D-C5F3-1860-72A2-E46799352F06}"/>
              </a:ext>
            </a:extLst>
          </p:cNvPr>
          <p:cNvSpPr txBox="1"/>
          <p:nvPr/>
        </p:nvSpPr>
        <p:spPr>
          <a:xfrm>
            <a:off x="0" y="59787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Common Checked Exceptions</a:t>
            </a:r>
          </a:p>
        </p:txBody>
      </p:sp>
    </p:spTree>
    <p:extLst>
      <p:ext uri="{BB962C8B-B14F-4D97-AF65-F5344CB8AC3E}">
        <p14:creationId xmlns:p14="http://schemas.microsoft.com/office/powerpoint/2010/main" val="241959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5B52FAC1-F317-411E-B70A-AB34595C4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828800"/>
            <a:ext cx="7239000" cy="195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OutOfMemoryError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StackOverflowError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tabLst>
                <a:tab pos="1546225" algn="r"/>
                <a:tab pos="1600200" algn="l"/>
              </a:tabLst>
            </a:pP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b="0" dirty="0" err="1">
                <a:latin typeface="Arial" panose="020B0604020202020204" pitchFamily="34" charset="0"/>
              </a:rPr>
              <a:t>java.lang</a:t>
            </a:r>
            <a:r>
              <a:rPr lang="en-US" altLang="en-US" sz="2800" b="0" dirty="0"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latin typeface="Arial" panose="020B0604020202020204" pitchFamily="34" charset="0"/>
              </a:rPr>
              <a:t>ThreadDeath</a:t>
            </a:r>
            <a:r>
              <a:rPr lang="en-US" altLang="en-US" sz="2800" dirty="0">
                <a:latin typeface="Arial" panose="020B0604020202020204" pitchFamily="34" charset="0"/>
              </a:rPr>
              <a:t> (deprecated)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AD0F4-D581-24EA-440C-1CAF481653E9}"/>
              </a:ext>
            </a:extLst>
          </p:cNvPr>
          <p:cNvSpPr txBox="1"/>
          <p:nvPr/>
        </p:nvSpPr>
        <p:spPr>
          <a:xfrm>
            <a:off x="560294" y="381000"/>
            <a:ext cx="7429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Errors</a:t>
            </a:r>
          </a:p>
        </p:txBody>
      </p:sp>
    </p:spTree>
    <p:extLst>
      <p:ext uri="{BB962C8B-B14F-4D97-AF65-F5344CB8AC3E}">
        <p14:creationId xmlns:p14="http://schemas.microsoft.com/office/powerpoint/2010/main" val="372177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>
            <a:extLst>
              <a:ext uri="{FF2B5EF4-FFF2-40B4-BE49-F238E27FC236}">
                <a16:creationId xmlns:a16="http://schemas.microsoft.com/office/drawing/2014/main" id="{83D7D9F4-4CDF-4F59-90AA-9315CD265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00200"/>
            <a:ext cx="853439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800" dirty="0" err="1">
                <a:latin typeface="Arial" panose="020B0604020202020204" pitchFamily="34" charset="0"/>
              </a:rPr>
              <a:t>RuntimeExceptions</a:t>
            </a:r>
            <a:r>
              <a:rPr lang="en-US" altLang="en-US" sz="2800" dirty="0">
                <a:latin typeface="Arial" panose="020B0604020202020204" pitchFamily="34" charset="0"/>
              </a:rPr>
              <a:t> are </a:t>
            </a:r>
            <a:r>
              <a:rPr lang="en-US" altLang="en-US" sz="2800" u="sng" dirty="0">
                <a:latin typeface="Arial" panose="020B0604020202020204" pitchFamily="34" charset="0"/>
              </a:rPr>
              <a:t>unchecked</a:t>
            </a:r>
            <a:r>
              <a:rPr lang="en-US" altLang="en-US" sz="2800" dirty="0">
                <a:latin typeface="Arial" panose="020B0604020202020204" pitchFamily="34" charset="0"/>
              </a:rPr>
              <a:t> exceptions. </a:t>
            </a:r>
          </a:p>
          <a:p>
            <a:pPr algn="ctr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All other Exceptions are </a:t>
            </a:r>
            <a:r>
              <a:rPr lang="en-US" altLang="en-US" sz="2800" u="sng" dirty="0">
                <a:latin typeface="Arial" panose="020B0604020202020204" pitchFamily="34" charset="0"/>
              </a:rPr>
              <a:t>checked</a:t>
            </a:r>
            <a:r>
              <a:rPr lang="en-US" altLang="en-US" sz="2800" dirty="0">
                <a:latin typeface="Arial" panose="020B0604020202020204" pitchFamily="34" charset="0"/>
              </a:rPr>
              <a:t> exceptions.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ADF03F-B0A6-EAB4-B8C1-2177B8B104BA}"/>
              </a:ext>
            </a:extLst>
          </p:cNvPr>
          <p:cNvSpPr/>
          <p:nvPr/>
        </p:nvSpPr>
        <p:spPr>
          <a:xfrm>
            <a:off x="865696" y="364153"/>
            <a:ext cx="741260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The Catch / Declare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93D48-67C3-F2CE-0D97-46706E62700A}"/>
              </a:ext>
            </a:extLst>
          </p:cNvPr>
          <p:cNvSpPr txBox="1"/>
          <p:nvPr/>
        </p:nvSpPr>
        <p:spPr>
          <a:xfrm>
            <a:off x="457200" y="3232934"/>
            <a:ext cx="8381999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If your method calls a </a:t>
            </a:r>
            <a:r>
              <a:rPr lang="en-US" altLang="en-US" sz="3200" u="sng" dirty="0">
                <a:latin typeface="Arial" panose="020B0604020202020204" pitchFamily="34" charset="0"/>
              </a:rPr>
              <a:t>checked</a:t>
            </a:r>
            <a:r>
              <a:rPr lang="en-US" altLang="en-US" sz="3200" dirty="0">
                <a:latin typeface="Arial" panose="020B0604020202020204" pitchFamily="34" charset="0"/>
              </a:rPr>
              <a:t> exception, </a:t>
            </a:r>
            <a:br>
              <a:rPr lang="en-US" altLang="en-US" sz="3200" dirty="0">
                <a:latin typeface="Arial" panose="020B0604020202020204" pitchFamily="34" charset="0"/>
              </a:rPr>
            </a:br>
            <a:r>
              <a:rPr lang="en-US" altLang="en-US" sz="3200" dirty="0">
                <a:latin typeface="Arial" panose="020B0604020202020204" pitchFamily="34" charset="0"/>
              </a:rPr>
              <a:t>you must either: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C</a:t>
            </a:r>
            <a:r>
              <a:rPr lang="en-US" altLang="en-US" sz="3200" dirty="0">
                <a:latin typeface="Arial" panose="020B0604020202020204" pitchFamily="34" charset="0"/>
              </a:rPr>
              <a:t>atch the exception and handle it, or</a:t>
            </a:r>
            <a:endParaRPr lang="en-US" sz="32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Declare it by adding a throws clause to your method’s header</a:t>
            </a:r>
            <a:r>
              <a:rPr lang="en-US" altLang="en-US" sz="3200" dirty="0"/>
              <a:t>.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90D7FC3-13CD-4A38-8E02-D269ED4099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B24D60AD-5D3C-42AC-BE15-3B1D8DB87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9812"/>
            <a:ext cx="802495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Reserved words that you need to know to use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exception handling ::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try  -  try this section and see what happens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  -  if the try blew up, catch the exception thrown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finally -  this section always happens no matter what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A9185-18A7-DAB6-2A2B-A9E6ABEA372D}"/>
              </a:ext>
            </a:extLst>
          </p:cNvPr>
          <p:cNvSpPr/>
          <p:nvPr/>
        </p:nvSpPr>
        <p:spPr>
          <a:xfrm>
            <a:off x="1625102" y="465676"/>
            <a:ext cx="5993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Using Exceptions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542A374-FCAC-469C-8A84-51F79E1768A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F065A5F0-50F9-4848-AE58-22F3D4F3F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52600"/>
            <a:ext cx="60023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public static void main(String args[ 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    int num=32;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    if(num==32)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         throw new Exception("num==32");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This code will not compile.  Why not?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4EB9CF-6067-80A0-050F-4AEF6BD3B3A0}"/>
              </a:ext>
            </a:extLst>
          </p:cNvPr>
          <p:cNvSpPr/>
          <p:nvPr/>
        </p:nvSpPr>
        <p:spPr>
          <a:xfrm>
            <a:off x="1625102" y="465676"/>
            <a:ext cx="5993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Using Exceptions</a:t>
            </a:r>
          </a:p>
        </p:txBody>
      </p:sp>
    </p:spTree>
    <p:extLst>
      <p:ext uri="{BB962C8B-B14F-4D97-AF65-F5344CB8AC3E}">
        <p14:creationId xmlns:p14="http://schemas.microsoft.com/office/powerpoint/2010/main" val="411680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2B7B6-5070-4286-B6CC-3D2BA2EC07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26627" name="WordArt 2">
            <a:extLst>
              <a:ext uri="{FF2B5EF4-FFF2-40B4-BE49-F238E27FC236}">
                <a16:creationId xmlns:a16="http://schemas.microsoft.com/office/drawing/2014/main" id="{B82D9386-F532-41F0-A416-E292A975603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1600" y="609600"/>
            <a:ext cx="6096000" cy="472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exceptionone.java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exceptiontwo.java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6D0787-427E-4CC5-8DA6-0EDC63DE373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E572E3FF-3519-4394-AA41-E02A1F20A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8265404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public static void main(String </a:t>
            </a:r>
            <a:r>
              <a:rPr lang="en-US" altLang="en-US" sz="2400" dirty="0" err="1">
                <a:latin typeface="Arial" panose="020B0604020202020204" pitchFamily="34" charset="0"/>
              </a:rPr>
              <a:t>args</a:t>
            </a:r>
            <a:r>
              <a:rPr lang="en-US" altLang="en-US" sz="2400" dirty="0">
                <a:latin typeface="Arial" panose="020B0604020202020204" pitchFamily="34" charset="0"/>
              </a:rPr>
              <a:t>[ ]) </a:t>
            </a: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throws Exception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int num=32;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if(num==32)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throw new Exception("num==32");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have to have </a:t>
            </a: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throws</a:t>
            </a:r>
            <a:r>
              <a:rPr lang="en-US" altLang="en-US" sz="2400" dirty="0">
                <a:latin typeface="Arial" panose="020B0604020202020204" pitchFamily="34" charset="0"/>
              </a:rPr>
              <a:t> because you are throwing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a </a:t>
            </a:r>
            <a:r>
              <a:rPr lang="en-US" altLang="en-US" sz="2400" u="sng" dirty="0">
                <a:latin typeface="Arial" panose="020B0604020202020204" pitchFamily="34" charset="0"/>
              </a:rPr>
              <a:t>checked</a:t>
            </a:r>
            <a:r>
              <a:rPr lang="en-US" altLang="en-US" sz="2400" dirty="0">
                <a:latin typeface="Arial" panose="020B0604020202020204" pitchFamily="34" charset="0"/>
              </a:rPr>
              <a:t> Exception.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3EE049-D47E-0A8E-5E0E-9B3161F24ED9}"/>
              </a:ext>
            </a:extLst>
          </p:cNvPr>
          <p:cNvSpPr/>
          <p:nvPr/>
        </p:nvSpPr>
        <p:spPr>
          <a:xfrm>
            <a:off x="1625102" y="465676"/>
            <a:ext cx="5993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Using Exceptions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02AFB3B-0B4B-40EB-8215-7159D7FCFA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820C0865-409D-417C-B1D6-D0A904AB9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52600"/>
            <a:ext cx="7848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public static void main(String </a:t>
            </a:r>
            <a:r>
              <a:rPr lang="en-US" altLang="en-US" sz="2400" dirty="0" err="1">
                <a:latin typeface="Arial" panose="020B0604020202020204" pitchFamily="34" charset="0"/>
              </a:rPr>
              <a:t>args</a:t>
            </a:r>
            <a:r>
              <a:rPr lang="en-US" altLang="en-US" sz="2400" dirty="0">
                <a:latin typeface="Arial" panose="020B0604020202020204" pitchFamily="34" charset="0"/>
              </a:rPr>
              <a:t>[ 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int num=32;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if(num==32)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throw new </a:t>
            </a:r>
            <a:r>
              <a:rPr lang="en-US" altLang="en-US" sz="2400" dirty="0" err="1">
                <a:latin typeface="Arial" panose="020B0604020202020204" pitchFamily="34" charset="0"/>
              </a:rPr>
              <a:t>RuntimeException</a:t>
            </a:r>
            <a:r>
              <a:rPr lang="en-US" altLang="en-US" sz="2400" dirty="0">
                <a:latin typeface="Arial" panose="020B0604020202020204" pitchFamily="34" charset="0"/>
              </a:rPr>
              <a:t>("num==32");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DO NOT have to have throws because you are throwing an </a:t>
            </a:r>
            <a:r>
              <a:rPr lang="en-US" altLang="en-US" sz="2400" u="sng" dirty="0">
                <a:latin typeface="Arial" panose="020B0604020202020204" pitchFamily="34" charset="0"/>
              </a:rPr>
              <a:t>unchecked</a:t>
            </a:r>
            <a:r>
              <a:rPr lang="en-US" altLang="en-US" sz="2400" dirty="0">
                <a:latin typeface="Arial" panose="020B0604020202020204" pitchFamily="34" charset="0"/>
              </a:rPr>
              <a:t> Exception.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F65C6-B646-77AC-0F88-A4BBB7BE9AA5}"/>
              </a:ext>
            </a:extLst>
          </p:cNvPr>
          <p:cNvSpPr/>
          <p:nvPr/>
        </p:nvSpPr>
        <p:spPr>
          <a:xfrm>
            <a:off x="1625102" y="465676"/>
            <a:ext cx="5993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Using Exceptions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11E46-DE41-437D-97C2-4E80EA9F71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32771" name="WordArt 2">
            <a:extLst>
              <a:ext uri="{FF2B5EF4-FFF2-40B4-BE49-F238E27FC236}">
                <a16:creationId xmlns:a16="http://schemas.microsoft.com/office/drawing/2014/main" id="{874C430E-3869-4347-BAF9-AB54A9028E8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1600" y="609600"/>
            <a:ext cx="6096000" cy="472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exceptionthree.java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exceptionfour.java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4A44AA-33DB-4567-BE64-44F5604185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A7B5225F-2BAB-4EBB-9B0B-CAD45F977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752600"/>
            <a:ext cx="65849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try{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  int num= 3/0;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//must have a catch or finally block	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System.out.println("compsci");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This will not compile!!!!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4D8D3-9BA7-59F9-0AC1-A3D116913D91}"/>
              </a:ext>
            </a:extLst>
          </p:cNvPr>
          <p:cNvSpPr/>
          <p:nvPr/>
        </p:nvSpPr>
        <p:spPr>
          <a:xfrm>
            <a:off x="1625102" y="465676"/>
            <a:ext cx="5993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Using Exceptions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189F3B2-DD47-4385-A057-7B44202931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41046804-E7D4-449A-8EB2-1519FAFC3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76400"/>
            <a:ext cx="4687888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try{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  int num=3/0;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//catch is optional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finally{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  System.out.println("divby0);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}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System.out.println("compsci");</a:t>
            </a:r>
          </a:p>
        </p:txBody>
      </p:sp>
      <p:sp>
        <p:nvSpPr>
          <p:cNvPr id="36868" name="WordArt 3">
            <a:extLst>
              <a:ext uri="{FF2B5EF4-FFF2-40B4-BE49-F238E27FC236}">
                <a16:creationId xmlns:a16="http://schemas.microsoft.com/office/drawing/2014/main" id="{78840E9C-EDAB-4730-8E1A-03A14DC4D6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7800" y="381000"/>
            <a:ext cx="60960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an Exception?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2">
            <a:extLst>
              <a:ext uri="{FF2B5EF4-FFF2-40B4-BE49-F238E27FC236}">
                <a16:creationId xmlns:a16="http://schemas.microsoft.com/office/drawing/2014/main" id="{EEAD4788-E65E-1C3A-0B04-CCD6D0C0D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Catching an exception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A18B408-1014-4A6C-4F7B-DC296F8EC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286000"/>
            <a:ext cx="83058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try {  // statement that could throw an exception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catch (&lt;exception type&gt; e)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// statements that handle the exception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catch (&lt;exception type&gt; e) { //e higher in hierarchy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// statements that handle the exception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finally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// release resources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//other statements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At most one catch block executes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latin typeface="Courier New" panose="02070309020205020404" pitchFamily="49" charset="0"/>
              </a:rPr>
              <a:t>finally </a:t>
            </a:r>
            <a:r>
              <a:rPr lang="en-US" altLang="en-US" sz="2000" dirty="0"/>
              <a:t>block always executes once, whether there’s an error or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AutoShape 2">
            <a:extLst>
              <a:ext uri="{FF2B5EF4-FFF2-40B4-BE49-F238E27FC236}">
                <a16:creationId xmlns:a16="http://schemas.microsoft.com/office/drawing/2014/main" id="{3CF3877A-1EB1-AD12-D78C-7A2712F8D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Execution of try catch blocks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9730982-C786-8484-70B1-1282EFA37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305800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For normal execution: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try block executes, then finally block executes, then other statements execute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When an error is caught and the catch block throws an exception or returns: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try block is interrupted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catch block executes (until throw or return statement)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finally block executes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When error is caught and catch block doesn’t throw an exception or return: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try block is interrupted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catch block executes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finally block executes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other statements execute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When an error occurs that is not caught: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try block is interrupted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finally block executes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AutoShape 2">
            <a:extLst>
              <a:ext uri="{FF2B5EF4-FFF2-40B4-BE49-F238E27FC236}">
                <a16:creationId xmlns:a16="http://schemas.microsoft.com/office/drawing/2014/main" id="{8E13E48F-368D-F9B3-C0C2-9FAF05CB9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Catch processing example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8D75DC5-B35B-560F-EDB0-B05F395E7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305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print("now"); 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try 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 print("is ");    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throw new </a:t>
            </a:r>
            <a:r>
              <a:rPr lang="en-US" altLang="en-US" sz="2000" dirty="0" err="1">
                <a:latin typeface="Courier New" panose="02070309020205020404" pitchFamily="49" charset="0"/>
              </a:rPr>
              <a:t>MyException</a:t>
            </a:r>
            <a:r>
              <a:rPr lang="en-US" altLang="en-US" sz="2000" dirty="0">
                <a:latin typeface="Courier New" panose="02070309020205020404" pitchFamily="49" charset="0"/>
              </a:rPr>
              <a:t>();   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print("a "); 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catch(</a:t>
            </a:r>
            <a:r>
              <a:rPr lang="en-US" altLang="en-US" sz="2000" dirty="0" err="1">
                <a:latin typeface="Courier New" panose="02070309020205020404" pitchFamily="49" charset="0"/>
              </a:rPr>
              <a:t>MyException</a:t>
            </a:r>
            <a:r>
              <a:rPr lang="en-US" altLang="en-US" sz="2000" dirty="0">
                <a:latin typeface="Courier New" panose="02070309020205020404" pitchFamily="49" charset="0"/>
              </a:rPr>
              <a:t> e)   { print("the ");   }  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print("time\n");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Prints "</a:t>
            </a:r>
            <a:r>
              <a:rPr lang="en-US" altLang="en-US" sz="2000" dirty="0">
                <a:latin typeface="Courier New" panose="02070309020205020404" pitchFamily="49" charset="0"/>
              </a:rPr>
              <a:t>now is the time</a:t>
            </a:r>
            <a:r>
              <a:rPr lang="en-US" altLang="en-US" sz="2000" dirty="0"/>
              <a:t>".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Note that exceptions don't have to be used only for error handling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Would it be a good idea to exceptions for non-error processing?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But any other use is likely to result in code that's hard to understand.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03CE32D-B531-4E18-9FA4-B1288CA58B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141D607A-FB98-40C8-9C84-0F7396B8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38400"/>
            <a:ext cx="5562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Catch blocks are checked for a match in the order that they’re listed.</a:t>
            </a:r>
          </a:p>
        </p:txBody>
      </p:sp>
      <p:sp>
        <p:nvSpPr>
          <p:cNvPr id="38916" name="WordArt 4">
            <a:extLst>
              <a:ext uri="{FF2B5EF4-FFF2-40B4-BE49-F238E27FC236}">
                <a16:creationId xmlns:a16="http://schemas.microsoft.com/office/drawing/2014/main" id="{49FF6424-513D-48B8-8B90-CDBCFF61AF2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533400"/>
            <a:ext cx="5867400" cy="798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Multi[</a:t>
            </a:r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ple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Catch Blocks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2" name="Text Box 32">
            <a:extLst>
              <a:ext uri="{FF2B5EF4-FFF2-40B4-BE49-F238E27FC236}">
                <a16:creationId xmlns:a16="http://schemas.microsoft.com/office/drawing/2014/main" id="{6A234CCF-413F-9BB9-E67E-924BB9781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93" y="393157"/>
            <a:ext cx="8153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en-US" altLang="en-US" sz="3600" b="1" dirty="0"/>
              <a:t>Input / Output Exceptions</a:t>
            </a:r>
          </a:p>
        </p:txBody>
      </p:sp>
      <p:grpSp>
        <p:nvGrpSpPr>
          <p:cNvPr id="5" name="Group 4" descr="IOException extends Exception&#10;FileNotFound, MalformedURLException, and UnknownHostException extend IOException">
            <a:extLst>
              <a:ext uri="{FF2B5EF4-FFF2-40B4-BE49-F238E27FC236}">
                <a16:creationId xmlns:a16="http://schemas.microsoft.com/office/drawing/2014/main" id="{2B7E64FC-0E0B-069E-9817-2D2C2632082A}"/>
              </a:ext>
            </a:extLst>
          </p:cNvPr>
          <p:cNvGrpSpPr/>
          <p:nvPr/>
        </p:nvGrpSpPr>
        <p:grpSpPr>
          <a:xfrm>
            <a:off x="691188" y="1767516"/>
            <a:ext cx="7538412" cy="4760859"/>
            <a:chOff x="691188" y="1767516"/>
            <a:chExt cx="7538412" cy="476085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EBB754B-6FE2-AA3F-F496-5FE38A9915D8}"/>
                </a:ext>
              </a:extLst>
            </p:cNvPr>
            <p:cNvGrpSpPr/>
            <p:nvPr/>
          </p:nvGrpSpPr>
          <p:grpSpPr>
            <a:xfrm>
              <a:off x="691188" y="1767516"/>
              <a:ext cx="7538412" cy="3830935"/>
              <a:chOff x="691188" y="1767516"/>
              <a:chExt cx="7538412" cy="3830935"/>
            </a:xfrm>
          </p:grpSpPr>
          <p:sp>
            <p:nvSpPr>
              <p:cNvPr id="58373" name="Text Box 3">
                <a:extLst>
                  <a:ext uri="{FF2B5EF4-FFF2-40B4-BE49-F238E27FC236}">
                    <a16:creationId xmlns:a16="http://schemas.microsoft.com/office/drawing/2014/main" id="{B4ABCCB7-D2EF-A67D-1042-CBB84F656E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8327" y="1767516"/>
                <a:ext cx="2141933" cy="5847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en-US" sz="3200" b="1" dirty="0">
                    <a:latin typeface="Arial" panose="020B0604020202020204" pitchFamily="34" charset="0"/>
                  </a:rPr>
                  <a:t>Exception</a:t>
                </a:r>
              </a:p>
            </p:txBody>
          </p:sp>
          <p:sp>
            <p:nvSpPr>
              <p:cNvPr id="58377" name="Text Box 7">
                <a:extLst>
                  <a:ext uri="{FF2B5EF4-FFF2-40B4-BE49-F238E27FC236}">
                    <a16:creationId xmlns:a16="http://schemas.microsoft.com/office/drawing/2014/main" id="{F4E4CE26-9B09-7B67-349C-77F4D9321D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3690" y="2895600"/>
                <a:ext cx="2691206" cy="5847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SimSun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en-US" sz="3200" b="1" dirty="0" err="1">
                    <a:latin typeface="Arial" panose="020B0604020202020204" pitchFamily="34" charset="0"/>
                  </a:rPr>
                  <a:t>IOException</a:t>
                </a:r>
                <a:endParaRPr lang="en-US" altLang="en-US" sz="3200" b="1" dirty="0">
                  <a:latin typeface="Arial" panose="020B0604020202020204" pitchFamily="34" charset="0"/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A057659-CF63-2A66-FF4B-0B3AF96C2DC8}"/>
                  </a:ext>
                </a:extLst>
              </p:cNvPr>
              <p:cNvCxnSpPr>
                <a:cxnSpLocks/>
                <a:stCxn id="58377" idx="0"/>
              </p:cNvCxnSpPr>
              <p:nvPr/>
            </p:nvCxnSpPr>
            <p:spPr bwMode="auto">
              <a:xfrm flipV="1">
                <a:off x="4409293" y="2352291"/>
                <a:ext cx="1" cy="543309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lg" len="lg"/>
              </a:ln>
              <a:effectLst/>
            </p:spPr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35C4652-CEAA-CAB1-A75D-5DCD61744EB6}"/>
                  </a:ext>
                </a:extLst>
              </p:cNvPr>
              <p:cNvGrpSpPr/>
              <p:nvPr/>
            </p:nvGrpSpPr>
            <p:grpSpPr>
              <a:xfrm>
                <a:off x="691188" y="3520137"/>
                <a:ext cx="7538412" cy="2078314"/>
                <a:chOff x="640087" y="3765223"/>
                <a:chExt cx="7538412" cy="2078314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5A2D1B10-EDCC-CEB1-1CF6-F771F7522E45}"/>
                    </a:ext>
                  </a:extLst>
                </p:cNvPr>
                <p:cNvGrpSpPr/>
                <p:nvPr/>
              </p:nvGrpSpPr>
              <p:grpSpPr>
                <a:xfrm>
                  <a:off x="640087" y="4461519"/>
                  <a:ext cx="7538412" cy="1382018"/>
                  <a:chOff x="640087" y="4461519"/>
                  <a:chExt cx="7538412" cy="1382018"/>
                </a:xfrm>
              </p:grpSpPr>
              <p:grpSp>
                <p:nvGrpSpPr>
                  <p:cNvPr id="4" name="Group 3">
                    <a:extLst>
                      <a:ext uri="{FF2B5EF4-FFF2-40B4-BE49-F238E27FC236}">
                        <a16:creationId xmlns:a16="http://schemas.microsoft.com/office/drawing/2014/main" id="{E32B9B03-C55B-DC0A-3022-3B26181867DA}"/>
                      </a:ext>
                    </a:extLst>
                  </p:cNvPr>
                  <p:cNvGrpSpPr/>
                  <p:nvPr/>
                </p:nvGrpSpPr>
                <p:grpSpPr>
                  <a:xfrm>
                    <a:off x="640087" y="4766319"/>
                    <a:ext cx="7538412" cy="1077218"/>
                    <a:chOff x="640087" y="4766319"/>
                    <a:chExt cx="7538412" cy="1077218"/>
                  </a:xfrm>
                </p:grpSpPr>
                <p:sp>
                  <p:nvSpPr>
                    <p:cNvPr id="2" name="Text Box 7">
                      <a:extLst>
                        <a:ext uri="{FF2B5EF4-FFF2-40B4-BE49-F238E27FC236}">
                          <a16:creationId xmlns:a16="http://schemas.microsoft.com/office/drawing/2014/main" id="{0588443C-0BE3-6281-0C01-BF1FAE21974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40087" y="4766319"/>
                      <a:ext cx="2971798" cy="1077218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en-US" sz="3200" b="1" dirty="0" err="1">
                          <a:latin typeface="Arial" panose="020B0604020202020204" pitchFamily="34" charset="0"/>
                        </a:rPr>
                        <a:t>FileNotFound</a:t>
                      </a:r>
                      <a:endParaRPr lang="en-US" altLang="en-US" sz="3200" b="1" dirty="0">
                        <a:latin typeface="Arial" panose="020B0604020202020204" pitchFamily="34" charset="0"/>
                      </a:endParaRPr>
                    </a:p>
                    <a:p>
                      <a:pPr algn="ctr" eaLnBrk="1" hangingPunct="1"/>
                      <a:r>
                        <a:rPr lang="en-US" altLang="en-US" sz="3200" b="1" dirty="0">
                          <a:latin typeface="Arial" panose="020B0604020202020204" pitchFamily="34" charset="0"/>
                        </a:rPr>
                        <a:t>Exception</a:t>
                      </a:r>
                    </a:p>
                  </p:txBody>
                </p:sp>
                <p:sp>
                  <p:nvSpPr>
                    <p:cNvPr id="3" name="Text Box 7">
                      <a:extLst>
                        <a:ext uri="{FF2B5EF4-FFF2-40B4-BE49-F238E27FC236}">
                          <a16:creationId xmlns:a16="http://schemas.microsoft.com/office/drawing/2014/main" id="{76056F12-5ACD-1B1D-6A98-469B2C1E1C7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080300" y="4766319"/>
                      <a:ext cx="3098199" cy="1077218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1pPr>
                      <a:lvl2pPr marL="742950" indent="-28575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2pPr>
                      <a:lvl3pPr marL="1143000" indent="-22860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3pPr>
                      <a:lvl4pPr marL="1600200" indent="-22860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4pPr>
                      <a:lvl5pPr marL="2057400" indent="-228600" eaLnBrk="0" hangingPunct="0"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SimSun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en-US" sz="3200" b="1" dirty="0" err="1">
                          <a:latin typeface="Arial" panose="020B0604020202020204" pitchFamily="34" charset="0"/>
                        </a:rPr>
                        <a:t>MalformedURL</a:t>
                      </a:r>
                      <a:endParaRPr lang="en-US" altLang="en-US" sz="3200" b="1" dirty="0">
                        <a:latin typeface="Arial" panose="020B0604020202020204" pitchFamily="34" charset="0"/>
                      </a:endParaRPr>
                    </a:p>
                    <a:p>
                      <a:pPr algn="ctr" eaLnBrk="1" hangingPunct="1"/>
                      <a:r>
                        <a:rPr lang="en-US" altLang="en-US" sz="3200" b="1" dirty="0">
                          <a:latin typeface="Arial" panose="020B0604020202020204" pitchFamily="34" charset="0"/>
                        </a:rPr>
                        <a:t>Exception</a:t>
                      </a:r>
                    </a:p>
                  </p:txBody>
                </p:sp>
              </p:grpSp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3C1B09EA-1C7B-8E1A-42A9-1F3B8A61FC24}"/>
                      </a:ext>
                    </a:extLst>
                  </p:cNvPr>
                  <p:cNvGrpSpPr/>
                  <p:nvPr/>
                </p:nvGrpSpPr>
                <p:grpSpPr>
                  <a:xfrm>
                    <a:off x="1932793" y="4461519"/>
                    <a:ext cx="4953000" cy="304800"/>
                    <a:chOff x="1600200" y="1550988"/>
                    <a:chExt cx="4953000" cy="304800"/>
                  </a:xfrm>
                </p:grpSpPr>
                <p:sp>
                  <p:nvSpPr>
                    <p:cNvPr id="8" name="Line 12">
                      <a:extLst>
                        <a:ext uri="{FF2B5EF4-FFF2-40B4-BE49-F238E27FC236}">
                          <a16:creationId xmlns:a16="http://schemas.microsoft.com/office/drawing/2014/main" id="{72937808-BEA3-FF8B-A006-12ADA771677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00200" y="1550988"/>
                      <a:ext cx="4953000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" name="Line 13">
                      <a:extLst>
                        <a:ext uri="{FF2B5EF4-FFF2-40B4-BE49-F238E27FC236}">
                          <a16:creationId xmlns:a16="http://schemas.microsoft.com/office/drawing/2014/main" id="{0A55D463-F3B5-B7D5-3039-F42ECB0CCDD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00200" y="1550988"/>
                      <a:ext cx="0" cy="30480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" name="Line 14">
                      <a:extLst>
                        <a:ext uri="{FF2B5EF4-FFF2-40B4-BE49-F238E27FC236}">
                          <a16:creationId xmlns:a16="http://schemas.microsoft.com/office/drawing/2014/main" id="{60613159-30E6-5AA1-5A80-BBA8AE35230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553200" y="1550988"/>
                      <a:ext cx="0" cy="30480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B9330EE0-3396-DD71-D3B0-9D0440914E7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346092" y="3765223"/>
                  <a:ext cx="0" cy="69629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lg" len="lg"/>
                </a:ln>
                <a:effectLst/>
              </p:spPr>
            </p:cxnSp>
          </p:grpSp>
        </p:grp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B5C4D084-2D69-88D6-961D-8C3F68E26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894" y="5943600"/>
              <a:ext cx="4953000" cy="5847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en-US" sz="3200" b="1" dirty="0" err="1">
                  <a:latin typeface="Arial" panose="020B0604020202020204" pitchFamily="34" charset="0"/>
                </a:rPr>
                <a:t>UnknownHostException</a:t>
              </a:r>
              <a:endParaRPr lang="en-US" altLang="en-US" sz="32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FE7E2F4-B32C-06B9-88B6-AD56A1C203A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393158" y="4216433"/>
              <a:ext cx="4035" cy="172361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2">
            <a:extLst>
              <a:ext uri="{FF2B5EF4-FFF2-40B4-BE49-F238E27FC236}">
                <a16:creationId xmlns:a16="http://schemas.microsoft.com/office/drawing/2014/main" id="{F9AEAF20-8B69-48E9-AB01-1DC395F09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49350"/>
            <a:ext cx="79248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try{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//code would go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66FF"/>
                </a:solidFill>
                <a:latin typeface="Arial" panose="020B0604020202020204" pitchFamily="34" charset="0"/>
              </a:rPr>
              <a:t>	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// Code to handle all other Exceptions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IOException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	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// Code to handle any other IO Exception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FileNotFoundException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// Code to handle not finding the specified file</a:t>
            </a:r>
            <a:endParaRPr lang="en-US" altLang="en-US" sz="2400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finally{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  <a:r>
              <a:rPr lang="en-US" altLang="en-US" sz="2400" dirty="0" err="1">
                <a:latin typeface="Arial" panose="020B0604020202020204" pitchFamily="34" charset="0"/>
              </a:rPr>
              <a:t>System.out.println</a:t>
            </a:r>
            <a:r>
              <a:rPr lang="en-US" altLang="en-US" sz="2400" dirty="0">
                <a:latin typeface="Arial" panose="020B0604020202020204" pitchFamily="34" charset="0"/>
              </a:rPr>
              <a:t>("this always happens");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		</a:t>
            </a:r>
          </a:p>
        </p:txBody>
      </p:sp>
      <p:sp>
        <p:nvSpPr>
          <p:cNvPr id="6" name="WordArt 4">
            <a:extLst>
              <a:ext uri="{FF2B5EF4-FFF2-40B4-BE49-F238E27FC236}">
                <a16:creationId xmlns:a16="http://schemas.microsoft.com/office/drawing/2014/main" id="{72A14621-919A-4378-8EDE-E7737E866B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314099"/>
            <a:ext cx="7467600" cy="798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Multi[</a:t>
            </a:r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ple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Catch Blocks – ORDER MATTERS!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2">
            <a:extLst>
              <a:ext uri="{FF2B5EF4-FFF2-40B4-BE49-F238E27FC236}">
                <a16:creationId xmlns:a16="http://schemas.microsoft.com/office/drawing/2014/main" id="{141D607A-FB98-40C8-9C84-0F7396B8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29" y="1145269"/>
            <a:ext cx="79248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try{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//code would go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 err="1">
                <a:solidFill>
                  <a:srgbClr val="7030A0"/>
                </a:solidFill>
                <a:latin typeface="Arial" panose="020B0604020202020204" pitchFamily="34" charset="0"/>
              </a:rPr>
              <a:t>FileNotFoundException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	// Code to handle not finding the specified file.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 err="1">
                <a:solidFill>
                  <a:srgbClr val="7030A0"/>
                </a:solidFill>
                <a:latin typeface="Arial" panose="020B0604020202020204" pitchFamily="34" charset="0"/>
              </a:rPr>
              <a:t>IOException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	 // Code to handle any other IO Exception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	 // Code to handle all other Exceptions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finally{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  <a:r>
              <a:rPr lang="en-US" altLang="en-US" sz="2400" dirty="0" err="1">
                <a:latin typeface="Arial" panose="020B0604020202020204" pitchFamily="34" charset="0"/>
              </a:rPr>
              <a:t>System.out.println</a:t>
            </a:r>
            <a:r>
              <a:rPr lang="en-US" altLang="en-US" sz="2400" dirty="0">
                <a:latin typeface="Arial" panose="020B0604020202020204" pitchFamily="34" charset="0"/>
              </a:rPr>
              <a:t>("this always happens");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		</a:t>
            </a:r>
          </a:p>
        </p:txBody>
      </p:sp>
      <p:sp>
        <p:nvSpPr>
          <p:cNvPr id="38916" name="WordArt 4">
            <a:extLst>
              <a:ext uri="{FF2B5EF4-FFF2-40B4-BE49-F238E27FC236}">
                <a16:creationId xmlns:a16="http://schemas.microsoft.com/office/drawing/2014/main" id="{49FF6424-513D-48B8-8B90-CDBCFF61AF2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314099"/>
            <a:ext cx="7467600" cy="7985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Multi[</a:t>
            </a:r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ple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Catch Blocks – ORDER MATTERS!</a:t>
            </a:r>
          </a:p>
        </p:txBody>
      </p:sp>
    </p:spTree>
    <p:extLst>
      <p:ext uri="{BB962C8B-B14F-4D97-AF65-F5344CB8AC3E}">
        <p14:creationId xmlns:p14="http://schemas.microsoft.com/office/powerpoint/2010/main" val="2970441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BA5B7ECE-ABCE-4AFC-B2B2-79289A301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73152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try{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//code would go 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</a:rPr>
              <a:t>NullPointerException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 // Code to handle the lack of a constructor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            // being called.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catch(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</a:rPr>
              <a:t>ClassCastException</a:t>
            </a:r>
            <a:r>
              <a:rPr lang="en-US" altLang="en-US" sz="2400" dirty="0">
                <a:latin typeface="Arial" panose="020B0604020202020204" pitchFamily="34" charset="0"/>
              </a:rPr>
              <a:t> e){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	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// Code to handle the fact that your object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           // is the wrong type.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finally{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  <a:r>
              <a:rPr lang="en-US" altLang="en-US" sz="2400" dirty="0" err="1">
                <a:latin typeface="Arial" panose="020B0604020202020204" pitchFamily="34" charset="0"/>
              </a:rPr>
              <a:t>System.out.println</a:t>
            </a:r>
            <a:r>
              <a:rPr lang="en-US" altLang="en-US" sz="2400" dirty="0">
                <a:latin typeface="Arial" panose="020B0604020202020204" pitchFamily="34" charset="0"/>
              </a:rPr>
              <a:t>("this always happens");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}		</a:t>
            </a:r>
          </a:p>
        </p:txBody>
      </p:sp>
      <p:sp>
        <p:nvSpPr>
          <p:cNvPr id="43011" name="WordArt 4">
            <a:extLst>
              <a:ext uri="{FF2B5EF4-FFF2-40B4-BE49-F238E27FC236}">
                <a16:creationId xmlns:a16="http://schemas.microsoft.com/office/drawing/2014/main" id="{CC0BF9B6-1AD5-41C1-8BA1-BE7104874E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84376" y="228600"/>
            <a:ext cx="3810000" cy="703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Why not do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677C8-E17B-E462-36B6-7753FFABD186}"/>
              </a:ext>
            </a:extLst>
          </p:cNvPr>
          <p:cNvSpPr txBox="1"/>
          <p:nvPr/>
        </p:nvSpPr>
        <p:spPr>
          <a:xfrm>
            <a:off x="381000" y="5303569"/>
            <a:ext cx="8534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600" dirty="0">
                <a:solidFill>
                  <a:schemeClr val="accent6">
                    <a:lumMod val="75000"/>
                  </a:schemeClr>
                </a:solidFill>
              </a:rPr>
              <a:t>Runtime exceptions generally shouldn’t be caught, because they represent are programming error and should be fixed when you’re writing the code.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04A00DB-8FD5-00B0-9AA0-8D7726BA0B2C}"/>
              </a:ext>
            </a:extLst>
          </p:cNvPr>
          <p:cNvSpPr/>
          <p:nvPr/>
        </p:nvSpPr>
        <p:spPr bwMode="auto">
          <a:xfrm>
            <a:off x="4168588" y="820271"/>
            <a:ext cx="766483" cy="470647"/>
          </a:xfrm>
          <a:custGeom>
            <a:avLst/>
            <a:gdLst>
              <a:gd name="connsiteX0" fmla="*/ 766483 w 766483"/>
              <a:gd name="connsiteY0" fmla="*/ 0 h 470647"/>
              <a:gd name="connsiteX1" fmla="*/ 430306 w 766483"/>
              <a:gd name="connsiteY1" fmla="*/ 228600 h 470647"/>
              <a:gd name="connsiteX2" fmla="*/ 0 w 766483"/>
              <a:gd name="connsiteY2" fmla="*/ 470647 h 4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6483" h="470647">
                <a:moveTo>
                  <a:pt x="766483" y="0"/>
                </a:moveTo>
                <a:cubicBezTo>
                  <a:pt x="662268" y="75079"/>
                  <a:pt x="558053" y="150159"/>
                  <a:pt x="430306" y="228600"/>
                </a:cubicBezTo>
                <a:cubicBezTo>
                  <a:pt x="302559" y="307041"/>
                  <a:pt x="151279" y="388844"/>
                  <a:pt x="0" y="470647"/>
                </a:cubicBezTo>
              </a:path>
            </a:pathLst>
          </a:custGeom>
          <a:noFill/>
          <a:ln w="22225" cap="flat" cmpd="sng" algn="ctr">
            <a:solidFill>
              <a:srgbClr val="C000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8B1B4CA-49D7-0458-20E6-267D24E7B50D}"/>
              </a:ext>
            </a:extLst>
          </p:cNvPr>
          <p:cNvSpPr/>
          <p:nvPr/>
        </p:nvSpPr>
        <p:spPr bwMode="auto">
          <a:xfrm>
            <a:off x="4034118" y="1008529"/>
            <a:ext cx="3916985" cy="1775012"/>
          </a:xfrm>
          <a:custGeom>
            <a:avLst/>
            <a:gdLst>
              <a:gd name="connsiteX0" fmla="*/ 3818964 w 3916985"/>
              <a:gd name="connsiteY0" fmla="*/ 0 h 1775012"/>
              <a:gd name="connsiteX1" fmla="*/ 3899647 w 3916985"/>
              <a:gd name="connsiteY1" fmla="*/ 806824 h 1775012"/>
              <a:gd name="connsiteX2" fmla="*/ 3523129 w 3916985"/>
              <a:gd name="connsiteY2" fmla="*/ 1479177 h 1775012"/>
              <a:gd name="connsiteX3" fmla="*/ 2554941 w 3916985"/>
              <a:gd name="connsiteY3" fmla="*/ 1573306 h 1775012"/>
              <a:gd name="connsiteX4" fmla="*/ 1021976 w 3916985"/>
              <a:gd name="connsiteY4" fmla="*/ 1465730 h 1775012"/>
              <a:gd name="connsiteX5" fmla="*/ 0 w 3916985"/>
              <a:gd name="connsiteY5" fmla="*/ 1775012 h 1775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6985" h="1775012">
                <a:moveTo>
                  <a:pt x="3818964" y="0"/>
                </a:moveTo>
                <a:cubicBezTo>
                  <a:pt x="3883958" y="280147"/>
                  <a:pt x="3948953" y="560295"/>
                  <a:pt x="3899647" y="806824"/>
                </a:cubicBezTo>
                <a:cubicBezTo>
                  <a:pt x="3850341" y="1053353"/>
                  <a:pt x="3747247" y="1351430"/>
                  <a:pt x="3523129" y="1479177"/>
                </a:cubicBezTo>
                <a:cubicBezTo>
                  <a:pt x="3299011" y="1606924"/>
                  <a:pt x="2971800" y="1575547"/>
                  <a:pt x="2554941" y="1573306"/>
                </a:cubicBezTo>
                <a:cubicBezTo>
                  <a:pt x="2138082" y="1571065"/>
                  <a:pt x="1447799" y="1432112"/>
                  <a:pt x="1021976" y="1465730"/>
                </a:cubicBezTo>
                <a:cubicBezTo>
                  <a:pt x="596152" y="1499348"/>
                  <a:pt x="298076" y="1637180"/>
                  <a:pt x="0" y="1775012"/>
                </a:cubicBezTo>
              </a:path>
            </a:pathLst>
          </a:custGeom>
          <a:noFill/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BA5B7ECE-ABCE-4AFC-B2B2-79289A301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07671"/>
            <a:ext cx="7315200" cy="287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try{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i=0;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range[i++].climb();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}catch(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IndexOutOfBoundsException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e){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3011" name="WordArt 4">
            <a:extLst>
              <a:ext uri="{FF2B5EF4-FFF2-40B4-BE49-F238E27FC236}">
                <a16:creationId xmlns:a16="http://schemas.microsoft.com/office/drawing/2014/main" id="{CC0BF9B6-1AD5-41C1-8BA1-BE7104874E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62200" y="456066"/>
            <a:ext cx="3810000" cy="703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Why not do this?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99190-B5F5-297B-68DC-50667D6B3484}"/>
              </a:ext>
            </a:extLst>
          </p:cNvPr>
          <p:cNvSpPr txBox="1"/>
          <p:nvPr/>
        </p:nvSpPr>
        <p:spPr>
          <a:xfrm>
            <a:off x="990600" y="4727568"/>
            <a:ext cx="67463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Don’t use exceptions for normal flow control!</a:t>
            </a:r>
          </a:p>
        </p:txBody>
      </p:sp>
    </p:spTree>
    <p:extLst>
      <p:ext uri="{BB962C8B-B14F-4D97-AF65-F5344CB8AC3E}">
        <p14:creationId xmlns:p14="http://schemas.microsoft.com/office/powerpoint/2010/main" val="1340163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BA5B7ECE-ABCE-4AFC-B2B2-79289A301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470" y="1685041"/>
            <a:ext cx="7315200" cy="246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try{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Iterator i =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collection.iterator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Foo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(Foo)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i.next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 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}catch(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NoSuchElementException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e){}</a:t>
            </a:r>
          </a:p>
        </p:txBody>
      </p:sp>
      <p:sp>
        <p:nvSpPr>
          <p:cNvPr id="43011" name="WordArt 4">
            <a:extLst>
              <a:ext uri="{FF2B5EF4-FFF2-40B4-BE49-F238E27FC236}">
                <a16:creationId xmlns:a16="http://schemas.microsoft.com/office/drawing/2014/main" id="{CC0BF9B6-1AD5-41C1-8BA1-BE7104874E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62200" y="456066"/>
            <a:ext cx="3810000" cy="703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Why not do this?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99190-B5F5-297B-68DC-50667D6B3484}"/>
              </a:ext>
            </a:extLst>
          </p:cNvPr>
          <p:cNvSpPr txBox="1"/>
          <p:nvPr/>
        </p:nvSpPr>
        <p:spPr>
          <a:xfrm>
            <a:off x="-30480" y="2209800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65463DAF-BDA5-1E6C-47D4-6D126D517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749174"/>
            <a:ext cx="7315200" cy="165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Iterator i =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collection.iterator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i.hasNext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Foo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(Foo)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i.next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 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D720D-0D7F-B79B-82A8-E642153C746C}"/>
              </a:ext>
            </a:extLst>
          </p:cNvPr>
          <p:cNvSpPr txBox="1"/>
          <p:nvPr/>
        </p:nvSpPr>
        <p:spPr>
          <a:xfrm>
            <a:off x="-3810" y="5023432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6600"/>
                </a:solidFill>
              </a:rPr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3962727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AD77BF86-6636-B96D-922E-5C70B36D5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Bahnschrift" panose="020B0502040204020203" pitchFamily="34" charset="0"/>
              </a:rPr>
              <a:t>Don’t Ignore Exceptions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507924F2-6D87-FF24-5A25-B7B45FFFD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257800"/>
          </a:xfrm>
          <a:noFill/>
        </p:spPr>
        <p:txBody>
          <a:bodyPr/>
          <a:lstStyle/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36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Never leave a catch block empty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36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try{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}catch(Exception e){ 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00666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6666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Tempting since an empty catch block won’t raise complaints from compiler.</a:t>
            </a:r>
          </a:p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6666"/>
                </a:solidFill>
                <a:latin typeface="Bahnschrift" panose="020B0502040204020203" pitchFamily="34" charset="0"/>
                <a:cs typeface="Courier New" panose="02070309020205020404" pitchFamily="49" charset="0"/>
              </a:rPr>
              <a:t>Don’t do this!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15281DB-9FCB-1874-4EAC-BC292A08E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Bahnschrift" panose="020B0502040204020203" pitchFamily="34" charset="0"/>
              </a:rPr>
              <a:t>Don’t Ignore Exceptions</a:t>
            </a:r>
            <a:endParaRPr lang="en-US" alt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7E50506-D65E-9AB8-FF2E-52596FD91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Bahnschrift" panose="020B0502040204020203" pitchFamily="34" charset="0"/>
              </a:rPr>
              <a:t>If its empty, its highly suspect</a:t>
            </a:r>
          </a:p>
          <a:p>
            <a:pPr lvl="1" eaLnBrk="1" hangingPunct="1">
              <a:spcAft>
                <a:spcPts val="1200"/>
              </a:spcAft>
            </a:pPr>
            <a:r>
              <a:rPr lang="en-US" altLang="en-US" dirty="0">
                <a:latin typeface="Bahnschrift" panose="020B0502040204020203" pitchFamily="34" charset="0"/>
              </a:rPr>
              <a:t>The purpose of exception is to force programmers handle exceptional conditions</a:t>
            </a:r>
          </a:p>
          <a:p>
            <a:pPr eaLnBrk="1" hangingPunct="1"/>
            <a:r>
              <a:rPr lang="en-US" altLang="en-US" dirty="0">
                <a:latin typeface="Bahnschrift" panose="020B0502040204020203" pitchFamily="34" charset="0"/>
              </a:rPr>
              <a:t>At least have a comment which explains why its ok to ignore this exception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4E06E7D-0D31-4773-A95E-35B658DE8BE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C60E9072-76D3-4878-B05C-DE3C7DF1F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"/>
            <a:ext cx="777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Advantages of Exceptions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37CC0-2ED8-60AA-BEC8-92CF82A06B7D}"/>
              </a:ext>
            </a:extLst>
          </p:cNvPr>
          <p:cNvSpPr txBox="1"/>
          <p:nvPr/>
        </p:nvSpPr>
        <p:spPr>
          <a:xfrm>
            <a:off x="533400" y="1920895"/>
            <a:ext cx="80772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Separating Error-Handling Code from "Regular" Code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Propagating Errors Up the Call Stack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Grouping and Differentiating Error Types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2">
            <a:extLst>
              <a:ext uri="{FF2B5EF4-FFF2-40B4-BE49-F238E27FC236}">
                <a16:creationId xmlns:a16="http://schemas.microsoft.com/office/drawing/2014/main" id="{C60E9072-76D3-4878-B05C-DE3C7DF1F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"/>
            <a:ext cx="777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Validating Method Arguments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37CC0-2ED8-60AA-BEC8-92CF82A06B7D}"/>
              </a:ext>
            </a:extLst>
          </p:cNvPr>
          <p:cNvSpPr txBox="1"/>
          <p:nvPr/>
        </p:nvSpPr>
        <p:spPr>
          <a:xfrm>
            <a:off x="304800" y="1676400"/>
            <a:ext cx="838200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Start a method with argument validation</a:t>
            </a:r>
          </a:p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333333"/>
                </a:solidFill>
              </a:rPr>
              <a:t>Throw an exception if a test fails</a:t>
            </a:r>
          </a:p>
          <a:p>
            <a:pPr marL="342900" indent="-3429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Usually unchecked exceptions are thrown:</a:t>
            </a: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333333"/>
                </a:solidFill>
              </a:rPr>
              <a:t>IllegalArgumentException</a:t>
            </a:r>
            <a:endParaRPr lang="en-US" sz="3200" dirty="0">
              <a:solidFill>
                <a:srgbClr val="333333"/>
              </a:solidFill>
            </a:endParaRP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NullPointerException</a:t>
            </a:r>
            <a:endParaRPr lang="en-US" sz="32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333333"/>
                </a:solidFill>
              </a:rPr>
              <a:t>IllegalStateException</a:t>
            </a:r>
            <a:endParaRPr lang="en-US" sz="32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69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2">
            <a:extLst>
              <a:ext uri="{FF2B5EF4-FFF2-40B4-BE49-F238E27FC236}">
                <a16:creationId xmlns:a16="http://schemas.microsoft.com/office/drawing/2014/main" id="{C60E9072-76D3-4878-B05C-DE3C7DF1F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"/>
            <a:ext cx="777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Validating Method Arguments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545DB6-0041-69A8-6CD5-B21EAD09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88895"/>
            <a:ext cx="8077200" cy="395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Some common validations: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check for a null reference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check that text has visible content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that a number is in some range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818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2">
            <a:extLst>
              <a:ext uri="{FF2B5EF4-FFF2-40B4-BE49-F238E27FC236}">
                <a16:creationId xmlns:a16="http://schemas.microsoft.com/office/drawing/2014/main" id="{C60E9072-76D3-4878-B05C-DE3C7DF1F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"/>
            <a:ext cx="777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Validating Method Arguments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CEA4FD-6104-60C5-191F-80EB3899D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82554"/>
            <a:ext cx="86868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Constructor (String name,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speed)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0" dirty="0">
                <a:solidFill>
                  <a:srgbClr val="00000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(name == null ||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name.trim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().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isEmpty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throw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IllegalArgumentException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0" dirty="0">
                <a:solidFill>
                  <a:srgbClr val="00000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  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"Name has no content."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);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0" dirty="0">
                <a:solidFill>
                  <a:srgbClr val="00000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(speed &lt;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0.0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|| speed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1.0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 {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0" dirty="0">
                <a:solidFill>
                  <a:srgbClr val="00000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throw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IllegalArgumentException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0" dirty="0">
                <a:solidFill>
                  <a:srgbClr val="00000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"Speed not in range [0..1]: 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+ speed);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0" dirty="0">
                <a:solidFill>
                  <a:srgbClr val="00000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}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b="0" dirty="0">
              <a:solidFill>
                <a:srgbClr val="00000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.name = name;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this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.speed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= speed;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7933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23DADFDF-C9D8-76AD-9304-FE52C70D8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1"/>
            <a:ext cx="8534400" cy="838200"/>
          </a:xfrm>
          <a:noFill/>
        </p:spPr>
        <p:txBody>
          <a:bodyPr/>
          <a:lstStyle/>
          <a:p>
            <a:pPr eaLnBrk="1" hangingPunct="1"/>
            <a:r>
              <a:rPr lang="en-US" altLang="en-US" sz="4000" dirty="0">
                <a:latin typeface="Bahnschrift" panose="020B0502040204020203" pitchFamily="34" charset="0"/>
              </a:rPr>
              <a:t>Document Exceptions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8D4C4A30-8FB0-912C-BC8D-91422E0B8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199"/>
            <a:ext cx="8534400" cy="5410199"/>
          </a:xfrm>
          <a:noFill/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latin typeface="Bahnschrift" panose="020B0502040204020203" pitchFamily="34" charset="0"/>
              </a:rPr>
              <a:t>Checked Exceptions:</a:t>
            </a:r>
          </a:p>
          <a:p>
            <a:pPr marL="514350" lvl="1" eaLnBrk="1" hangingPunct="1">
              <a:lnSpc>
                <a:spcPct val="90000"/>
              </a:lnSpc>
            </a:pPr>
            <a:r>
              <a:rPr lang="en-US" altLang="en-US" sz="2400" dirty="0">
                <a:latin typeface="Bahnschrift" panose="020B0502040204020203" pitchFamily="34" charset="0"/>
              </a:rPr>
              <a:t>Declare (required by compiler)</a:t>
            </a:r>
          </a:p>
          <a:p>
            <a:pPr marL="514350"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latin typeface="Bahnschrift" panose="020B0502040204020203" pitchFamily="34" charset="0"/>
              </a:rPr>
              <a:t>And Document (with @throws tag in </a:t>
            </a:r>
            <a:r>
              <a:rPr lang="en-US" altLang="en-US" sz="2400" dirty="0" err="1">
                <a:latin typeface="Bahnschrift" panose="020B0502040204020203" pitchFamily="34" charset="0"/>
              </a:rPr>
              <a:t>JavaDoc</a:t>
            </a:r>
            <a:r>
              <a:rPr lang="en-US" altLang="en-US" sz="2400" dirty="0">
                <a:latin typeface="Bahnschrift" panose="020B0502040204020203" pitchFamily="34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latin typeface="Bahnschrift" panose="020B0502040204020203" pitchFamily="34" charset="0"/>
              </a:rPr>
              <a:t>Unchecked Exceptions: </a:t>
            </a:r>
          </a:p>
          <a:p>
            <a:pPr marL="514350"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latin typeface="Bahnschrift" panose="020B0502040204020203" pitchFamily="34" charset="0"/>
              </a:rPr>
              <a:t>Document (with @throws tag in </a:t>
            </a:r>
            <a:r>
              <a:rPr lang="en-US" altLang="en-US" sz="2400" dirty="0" err="1">
                <a:latin typeface="Bahnschrift" panose="020B0502040204020203" pitchFamily="34" charset="0"/>
              </a:rPr>
              <a:t>JavaDoc</a:t>
            </a:r>
            <a:r>
              <a:rPr lang="en-US" altLang="en-US" sz="2400" dirty="0">
                <a:latin typeface="Bahnschrift" panose="020B0502040204020203" pitchFamily="34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latin typeface="Bahnschrift" panose="020B0502040204020203" pitchFamily="34" charset="0"/>
              </a:rPr>
              <a:t>Don’t shortcut with superclass exceptions</a:t>
            </a:r>
          </a:p>
          <a:p>
            <a:pPr marL="514350"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latin typeface="Bahnschrift" panose="020B0502040204020203" pitchFamily="34" charset="0"/>
              </a:rPr>
              <a:t>Example: Don’t catch “Exception” instead of </a:t>
            </a:r>
            <a:r>
              <a:rPr lang="en-US" altLang="en-US" sz="2400" dirty="0" err="1">
                <a:latin typeface="Bahnschrift" panose="020B0502040204020203" pitchFamily="34" charset="0"/>
              </a:rPr>
              <a:t>NullPointerException</a:t>
            </a:r>
            <a:endParaRPr lang="en-US" altLang="en-US" sz="2400" dirty="0">
              <a:latin typeface="Bahnschrift" panose="020B0502040204020203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latin typeface="Bahnschrift" panose="020B0502040204020203" pitchFamily="34" charset="0"/>
              </a:rPr>
              <a:t>Ok to document common exceptions at class level</a:t>
            </a:r>
          </a:p>
          <a:p>
            <a:pPr marL="514350" lvl="1" eaLnBrk="1" hangingPunct="1">
              <a:lnSpc>
                <a:spcPct val="90000"/>
              </a:lnSpc>
            </a:pPr>
            <a:r>
              <a:rPr lang="en-US" altLang="en-US" sz="2400" dirty="0">
                <a:latin typeface="Bahnschrift" panose="020B0502040204020203" pitchFamily="34" charset="0"/>
              </a:rPr>
              <a:t>Example: “All methods in class throw </a:t>
            </a:r>
            <a:r>
              <a:rPr lang="en-US" altLang="en-US" sz="2400" dirty="0" err="1">
                <a:latin typeface="Bahnschrift" panose="020B0502040204020203" pitchFamily="34" charset="0"/>
              </a:rPr>
              <a:t>NullPointerException</a:t>
            </a:r>
            <a:r>
              <a:rPr lang="en-US" altLang="en-US" sz="2400" dirty="0">
                <a:latin typeface="Bahnschrift" panose="020B0502040204020203" pitchFamily="34" charset="0"/>
              </a:rPr>
              <a:t> if a null object reference </a:t>
            </a:r>
            <a:br>
              <a:rPr lang="en-US" altLang="en-US" sz="2400" dirty="0">
                <a:latin typeface="Bahnschrift" panose="020B0502040204020203" pitchFamily="34" charset="0"/>
              </a:rPr>
            </a:br>
            <a:r>
              <a:rPr lang="en-US" altLang="en-US" sz="2400" dirty="0">
                <a:latin typeface="Bahnschrift" panose="020B0502040204020203" pitchFamily="34" charset="0"/>
              </a:rPr>
              <a:t>is passed in any parameter”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904A1-4FBB-464C-9E8D-D8AA2EA040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  <p:sp>
        <p:nvSpPr>
          <p:cNvPr id="47107" name="WordArt 2">
            <a:extLst>
              <a:ext uri="{FF2B5EF4-FFF2-40B4-BE49-F238E27FC236}">
                <a16:creationId xmlns:a16="http://schemas.microsoft.com/office/drawing/2014/main" id="{52436DCE-C824-4BC8-BC78-A8D4E339E86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1600" y="609600"/>
            <a:ext cx="6096000" cy="472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exceptionfive.java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exceptionsix.java</a:t>
            </a:r>
          </a:p>
        </p:txBody>
      </p:sp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1751</TotalTime>
  <Words>2016</Words>
  <Application>Microsoft Office PowerPoint</Application>
  <PresentationFormat>On-screen Show (4:3)</PresentationFormat>
  <Paragraphs>367</Paragraphs>
  <Slides>37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6" baseType="lpstr">
      <vt:lpstr>Abadi</vt:lpstr>
      <vt:lpstr>Arial</vt:lpstr>
      <vt:lpstr>Arial Black</vt:lpstr>
      <vt:lpstr>Arial Unicode MS</vt:lpstr>
      <vt:lpstr>Bahnschrift</vt:lpstr>
      <vt:lpstr>Book Antiqua</vt:lpstr>
      <vt:lpstr>Courier New</vt:lpstr>
      <vt:lpstr>Impact</vt:lpstr>
      <vt:lpstr>Inter</vt:lpstr>
      <vt:lpstr>Lucida Sans</vt:lpstr>
      <vt:lpstr>Tahoma</vt:lpstr>
      <vt:lpstr>Times New Roman</vt:lpstr>
      <vt:lpstr>Verdana</vt:lpstr>
      <vt:lpstr>Wingdings</vt:lpstr>
      <vt:lpstr>Wingdings 2</vt:lpstr>
      <vt:lpstr>Wingdings 3</vt:lpstr>
      <vt:lpstr>Blank Presentation</vt:lpstr>
      <vt:lpstr>Capsules</vt:lpstr>
      <vt:lpstr>Apex</vt:lpstr>
      <vt:lpstr>PowerPoint Presentation</vt:lpstr>
      <vt:lpstr>Why Exceptions?</vt:lpstr>
      <vt:lpstr>PowerPoint Presentation</vt:lpstr>
      <vt:lpstr>PowerPoint Presentation</vt:lpstr>
      <vt:lpstr>PowerPoint Presentation</vt:lpstr>
      <vt:lpstr>Java Exception Hierarchy</vt:lpstr>
      <vt:lpstr>Java Exception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Catching an exception</vt:lpstr>
      <vt:lpstr>Execution of try catch blocks</vt:lpstr>
      <vt:lpstr>Catch processing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Don’t Ignore Exceptions</vt:lpstr>
      <vt:lpstr>Don’t Ignore Exceptions</vt:lpstr>
      <vt:lpstr>PowerPoint Presentation</vt:lpstr>
      <vt:lpstr>PowerPoint Presentation</vt:lpstr>
      <vt:lpstr>PowerPoint Presentation</vt:lpstr>
      <vt:lpstr>PowerPoint Presentation</vt:lpstr>
      <vt:lpstr>Document Exceptions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</dc:title>
  <dc:subject>Exceptions</dc:subject>
  <dc:creator>A+ Computer Science</dc:creator>
  <cp:keywords>www.apluscompsci.com</cp:keywords>
  <dc:description>Exceptions_x000d_
©A+ Computer Science_x000d_
www.apluscompsci.com</dc:description>
  <cp:lastModifiedBy>Weldon Jasik</cp:lastModifiedBy>
  <cp:revision>318</cp:revision>
  <cp:lastPrinted>2000-03-03T17:14:42Z</cp:lastPrinted>
  <dcterms:created xsi:type="dcterms:W3CDTF">1995-06-17T23:31:02Z</dcterms:created>
  <dcterms:modified xsi:type="dcterms:W3CDTF">2024-09-23T17:34:24Z</dcterms:modified>
  <cp:category>www.apluscompsci.com</cp:category>
</cp:coreProperties>
</file>